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5" r:id="rId8"/>
    <p:sldId id="266" r:id="rId9"/>
    <p:sldId id="303" r:id="rId10"/>
    <p:sldId id="276" r:id="rId11"/>
    <p:sldId id="318" r:id="rId12"/>
    <p:sldId id="305" r:id="rId13"/>
    <p:sldId id="304" r:id="rId14"/>
    <p:sldId id="312" r:id="rId15"/>
    <p:sldId id="313" r:id="rId16"/>
    <p:sldId id="314" r:id="rId17"/>
    <p:sldId id="316" r:id="rId18"/>
    <p:sldId id="290" r:id="rId19"/>
    <p:sldId id="291" r:id="rId20"/>
    <p:sldId id="294"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37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C00000"/>
    <a:srgbClr val="AFABAB"/>
    <a:srgbClr val="A71D24"/>
    <a:srgbClr val="D1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14" autoAdjust="0"/>
  </p:normalViewPr>
  <p:slideViewPr>
    <p:cSldViewPr snapToGrid="0" showGuides="1">
      <p:cViewPr varScale="1">
        <p:scale>
          <a:sx n="108" d="100"/>
          <a:sy n="108" d="100"/>
        </p:scale>
        <p:origin x="714" y="114"/>
      </p:cViewPr>
      <p:guideLst>
        <p:guide orient="horz" pos="2169"/>
        <p:guide pos="3781"/>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2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FB8210-9348-4471-B997-6B786EDCAF3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8D4554-3933-441A-A21E-3F3758295A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48FF31-A6D1-4E65-A7A5-8D97D798EB3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48FF31-A6D1-4E65-A7A5-8D97D798EB3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48D4554-3933-441A-A21E-3F3758295A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FC05C35-80D8-4ADA-8743-957172EB84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94660264-7F3E-48E8-882C-E25615689CA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E280FFC-EA1A-41EC-B8B1-C8131574D66D}" type="slidenum">
              <a:rPr lang="zh-CN" altLang="en-US" smtClean="0"/>
            </a:fld>
            <a:endParaRPr lang="zh-CN" altLang="en-US"/>
          </a:p>
        </p:txBody>
      </p:sp>
    </p:spTree>
  </p:cSld>
  <p:clrMapOvr>
    <a:masterClrMapping/>
  </p:clrMapOvr>
  <p:transition spd="slow" advTm="0">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cSld>
  <p:clrMapOvr>
    <a:masterClrMapping/>
  </p:clrMapOvr>
  <p:transition spd="slow" advTm="0">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6_比较">
    <p:spTree>
      <p:nvGrpSpPr>
        <p:cNvPr id="1" name=""/>
        <p:cNvGrpSpPr/>
        <p:nvPr/>
      </p:nvGrpSpPr>
      <p:grpSpPr>
        <a:xfrm>
          <a:off x="0" y="0"/>
          <a:ext cx="0" cy="0"/>
          <a:chOff x="0" y="0"/>
          <a:chExt cx="0" cy="0"/>
        </a:xfrm>
      </p:grpSpPr>
      <p:sp>
        <p:nvSpPr>
          <p:cNvPr id="7" name="矩形 6"/>
          <p:cNvSpPr/>
          <p:nvPr userDrawn="1"/>
        </p:nvSpPr>
        <p:spPr>
          <a:xfrm flipV="1">
            <a:off x="1" y="11088"/>
            <a:ext cx="12192000" cy="880184"/>
          </a:xfrm>
          <a:prstGeom prst="rect">
            <a:avLst/>
          </a:prstGeom>
          <a:solidFill>
            <a:srgbClr val="D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p>
        </p:txBody>
      </p:sp>
      <p:sp>
        <p:nvSpPr>
          <p:cNvPr id="10" name="矩形 9"/>
          <p:cNvSpPr/>
          <p:nvPr userDrawn="1"/>
        </p:nvSpPr>
        <p:spPr>
          <a:xfrm>
            <a:off x="1" y="939202"/>
            <a:ext cx="12191999" cy="60959"/>
          </a:xfrm>
          <a:prstGeom prst="rect">
            <a:avLst/>
          </a:prstGeom>
          <a:pattFill prst="dkUpDiag">
            <a:fgClr>
              <a:srgbClr val="FF0000"/>
            </a:fgClr>
            <a:bgClr>
              <a:srgbClr val="C00000"/>
            </a:bgClr>
          </a:pattFill>
          <a:ln w="19050" cap="flat" cmpd="sng" algn="ctr">
            <a:noFill/>
            <a:prstDash val="solid"/>
          </a:ln>
          <a:effectLst/>
        </p:spPr>
        <p:txBody>
          <a:bodyPr rot="0" spcFirstLastPara="0" vertOverflow="overflow" horzOverflow="overflow" vert="horz" wrap="square" lIns="121920" tIns="60960" rIns="121920" bIns="60960" numCol="1" spcCol="0" rtlCol="0" fromWordArt="0" anchor="ctr" anchorCtr="0" forceAA="0" compatLnSpc="1">
            <a:noAutofit/>
          </a:bodyPr>
          <a:lstStyle/>
          <a:p>
            <a:pPr marL="0" marR="0" lvl="0" indent="0" algn="ctr" defTabSz="1218565"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srgbClr val="FFFFFF"/>
              </a:solidFill>
              <a:effectLst/>
              <a:uLnTx/>
              <a:uFillTx/>
              <a:latin typeface="Calibri" panose="020F0502020204030204"/>
              <a:ea typeface="微软雅黑" panose="020B0503020204020204" charset="-122"/>
              <a:cs typeface="+mn-cs"/>
            </a:endParaRPr>
          </a:p>
        </p:txBody>
      </p:sp>
      <p:pic>
        <p:nvPicPr>
          <p:cNvPr id="9" name="Picture 2" descr="E:\0000000我图PPT\00001PNG素材\01党委政府\天安门抽象.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46148" y="-7876"/>
            <a:ext cx="2145852" cy="8991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191344" y="86669"/>
            <a:ext cx="1226921" cy="7290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advTm="0">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lum/>
          </a:blip>
          <a:srcRect/>
          <a:stretch>
            <a:fillRect l="-6000" r="-6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660264-7F3E-48E8-882C-E25615689CA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280FFC-EA1A-41EC-B8B1-C8131574D66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Tm="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image" Target="../media/image6.png"/><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5" Type="http://schemas.openxmlformats.org/officeDocument/2006/relationships/notesSlide" Target="../notesSlides/notesSlide2.xml"/><Relationship Id="rId24" Type="http://schemas.openxmlformats.org/officeDocument/2006/relationships/slideLayout" Target="../slideLayouts/slideLayout12.xml"/><Relationship Id="rId23" Type="http://schemas.openxmlformats.org/officeDocument/2006/relationships/image" Target="../media/image5.png"/><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3.xml"/><Relationship Id="rId2" Type="http://schemas.openxmlformats.org/officeDocument/2006/relationships/image" Target="../media/image8.jpeg"/><Relationship Id="rId1" Type="http://schemas.openxmlformats.org/officeDocument/2006/relationships/tags" Target="../tags/tag2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10.jpeg"/><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image" Target="../media/image1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95420"/>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5"/>
          <p:cNvSpPr/>
          <p:nvPr/>
        </p:nvSpPr>
        <p:spPr bwMode="auto">
          <a:xfrm>
            <a:off x="5536416" y="836712"/>
            <a:ext cx="1119167" cy="1122924"/>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sp>
        <p:nvSpPr>
          <p:cNvPr id="3" name="矩形 2"/>
          <p:cNvSpPr/>
          <p:nvPr/>
        </p:nvSpPr>
        <p:spPr>
          <a:xfrm>
            <a:off x="-2540" y="2426970"/>
            <a:ext cx="12194540" cy="1753235"/>
          </a:xfrm>
          <a:prstGeom prst="rect">
            <a:avLst/>
          </a:prstGeom>
        </p:spPr>
        <p:txBody>
          <a:bodyPr wrap="square">
            <a:spAutoFit/>
          </a:bodyPr>
          <a:lstStyle/>
          <a:p>
            <a:pPr lvl="0" algn="ctr">
              <a:buClrTx/>
              <a:buSzTx/>
              <a:buFontTx/>
            </a:pPr>
            <a:r>
              <a:rPr lang="zh-CN" altLang="en-US" sz="5400" b="1" dirty="0">
                <a:solidFill>
                  <a:srgbClr val="C00000"/>
                </a:solidFill>
                <a:latin typeface="楷体" panose="02010609060101010101" charset="-122"/>
                <a:ea typeface="楷体" panose="02010609060101010101" charset="-122"/>
                <a:cs typeface="楷体" panose="02010609060101010101" charset="-122"/>
                <a:sym typeface="+mn-ea"/>
              </a:rPr>
              <a:t>党章为纲--从历次修订看</a:t>
            </a:r>
            <a:endParaRPr lang="zh-CN" altLang="en-US" sz="5400" b="1" dirty="0">
              <a:solidFill>
                <a:srgbClr val="C00000"/>
              </a:solidFill>
              <a:latin typeface="楷体" panose="02010609060101010101" charset="-122"/>
              <a:ea typeface="楷体" panose="02010609060101010101" charset="-122"/>
              <a:cs typeface="楷体" panose="02010609060101010101" charset="-122"/>
              <a:sym typeface="+mn-ea"/>
            </a:endParaRPr>
          </a:p>
          <a:p>
            <a:pPr lvl="0" algn="ctr">
              <a:buClrTx/>
              <a:buSzTx/>
              <a:buFontTx/>
            </a:pPr>
            <a:r>
              <a:rPr lang="zh-CN" altLang="en-US" sz="5400" b="1" dirty="0">
                <a:solidFill>
                  <a:srgbClr val="C00000"/>
                </a:solidFill>
                <a:latin typeface="楷体" panose="02010609060101010101" charset="-122"/>
                <a:ea typeface="楷体" panose="02010609060101010101" charset="-122"/>
                <a:cs typeface="楷体" panose="02010609060101010101" charset="-122"/>
                <a:sym typeface="+mn-ea"/>
              </a:rPr>
              <a:t>中国特色社会主义理论体系的生成路径</a:t>
            </a:r>
            <a:endParaRPr lang="zh-CN" altLang="en-US" sz="5400" b="1" dirty="0">
              <a:solidFill>
                <a:srgbClr val="C00000"/>
              </a:solidFill>
              <a:latin typeface="楷体" panose="02010609060101010101" charset="-122"/>
              <a:ea typeface="楷体" panose="02010609060101010101" charset="-122"/>
              <a:cs typeface="楷体" panose="02010609060101010101" charset="-122"/>
              <a:sym typeface="Arial" panose="020B0604020202020204"/>
            </a:endParaRPr>
          </a:p>
        </p:txBody>
      </p:sp>
      <p:pic>
        <p:nvPicPr>
          <p:cNvPr id="38" name="图片 37"/>
          <p:cNvPicPr/>
          <p:nvPr/>
        </p:nvPicPr>
        <p:blipFill>
          <a:blip r:embed="rId2"/>
          <a:srcRect/>
          <a:stretch>
            <a:fillRect/>
          </a:stretch>
        </p:blipFill>
        <p:spPr>
          <a:xfrm>
            <a:off x="1760220" y="2173605"/>
            <a:ext cx="720725" cy="906780"/>
          </a:xfrm>
          <a:prstGeom prst="rect">
            <a:avLst/>
          </a:prstGeom>
          <a:noFill/>
          <a:ln w="9525">
            <a:noFill/>
          </a:ln>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23" presetClass="entr" presetSubtype="3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strVal val="4*#ppt_w"/>
                                          </p:val>
                                        </p:tav>
                                        <p:tav tm="100000">
                                          <p:val>
                                            <p:strVal val="#ppt_w"/>
                                          </p:val>
                                        </p:tav>
                                      </p:tavLst>
                                    </p:anim>
                                    <p:anim calcmode="lin" valueType="num">
                                      <p:cBhvr>
                                        <p:cTn id="14" dur="500" fill="hold"/>
                                        <p:tgtEl>
                                          <p:spTgt spid="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95420"/>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p:nvPr>
            <p:custDataLst>
              <p:tags r:id="rId2"/>
            </p:custDataLst>
          </p:nvPr>
        </p:nvGrpSpPr>
        <p:grpSpPr>
          <a:xfrm>
            <a:off x="4703217" y="1655197"/>
            <a:ext cx="5479522" cy="537956"/>
            <a:chOff x="3672360" y="1818367"/>
            <a:chExt cx="7780304" cy="561592"/>
          </a:xfrm>
        </p:grpSpPr>
        <p:grpSp>
          <p:nvGrpSpPr>
            <p:cNvPr id="4" name="组合 3"/>
            <p:cNvGrpSpPr/>
            <p:nvPr/>
          </p:nvGrpSpPr>
          <p:grpSpPr>
            <a:xfrm>
              <a:off x="3672360" y="1818367"/>
              <a:ext cx="672522" cy="561592"/>
              <a:chOff x="5656078" y="2390367"/>
              <a:chExt cx="1001751" cy="836519"/>
            </a:xfrm>
            <a:solidFill>
              <a:schemeClr val="tx1"/>
            </a:solidFill>
          </p:grpSpPr>
          <p:sp>
            <p:nvSpPr>
              <p:cNvPr id="6" name="椭圆 5"/>
              <p:cNvSpPr/>
              <p:nvPr>
                <p:custDataLst>
                  <p:tags r:id="rId3"/>
                </p:custDataLst>
              </p:nvPr>
            </p:nvSpPr>
            <p:spPr>
              <a:xfrm flipH="1">
                <a:off x="5656078" y="2390367"/>
                <a:ext cx="1001751" cy="836519"/>
              </a:xfrm>
              <a:prstGeom prst="ellipse">
                <a:avLst/>
              </a:prstGeom>
              <a:solidFill>
                <a:srgbClr val="D10000"/>
              </a:solidFill>
              <a:ln w="25400" cap="flat" cmpd="sng" algn="ctr">
                <a:noFill/>
                <a:prstDash val="solid"/>
              </a:ln>
              <a:effectLst/>
            </p:spPr>
            <p:txBody>
              <a:bodyPr rtlCol="0" anchor="ctr"/>
              <a:lstStyle/>
              <a:p>
                <a:pPr algn="ctr" defTabSz="1218565">
                  <a:defRPr/>
                </a:pPr>
                <a:endParaRPr lang="zh-CN" altLang="en-US" sz="2665" b="1" kern="0">
                  <a:solidFill>
                    <a:srgbClr val="FFFFFF"/>
                  </a:solidFill>
                  <a:latin typeface="Arial" panose="020B0604020202020204"/>
                  <a:ea typeface="微软雅黑" panose="020B0503020204020204" charset="-122"/>
                  <a:sym typeface="Arial" panose="020B0604020202020204"/>
                </a:endParaRPr>
              </a:p>
            </p:txBody>
          </p:sp>
          <p:sp>
            <p:nvSpPr>
              <p:cNvPr id="7" name="TextBox 20"/>
              <p:cNvSpPr txBox="1"/>
              <p:nvPr>
                <p:custDataLst>
                  <p:tags r:id="rId4"/>
                </p:custDataLst>
              </p:nvPr>
            </p:nvSpPr>
            <p:spPr>
              <a:xfrm>
                <a:off x="5771571" y="2543814"/>
                <a:ext cx="725532" cy="573692"/>
              </a:xfrm>
              <a:prstGeom prst="rect">
                <a:avLst/>
              </a:prstGeom>
              <a:noFill/>
            </p:spPr>
            <p:txBody>
              <a:bodyPr wrap="square" lIns="0" tIns="0" rIns="0" bIns="0" rtlCol="0">
                <a:spAutoFit/>
              </a:bodyPr>
              <a:lstStyle/>
              <a:p>
                <a:pPr algn="ctr" defTabSz="1218565">
                  <a:defRPr/>
                </a:pPr>
                <a:r>
                  <a:rPr lang="en-US" altLang="zh-CN" sz="2400" kern="0" dirty="0">
                    <a:solidFill>
                      <a:srgbClr val="FFFFFF"/>
                    </a:solidFill>
                    <a:latin typeface="Arial" panose="020B0604020202020204"/>
                    <a:ea typeface="微软雅黑" panose="020B0503020204020204" charset="-122"/>
                    <a:sym typeface="Arial" panose="020B0604020202020204"/>
                  </a:rPr>
                  <a:t>01</a:t>
                </a:r>
                <a:endParaRPr lang="zh-CN" altLang="en-US" sz="2400" kern="0" dirty="0">
                  <a:solidFill>
                    <a:srgbClr val="FFFFFF"/>
                  </a:solidFill>
                  <a:latin typeface="Arial" panose="020B0604020202020204"/>
                  <a:ea typeface="微软雅黑" panose="020B0503020204020204" charset="-122"/>
                  <a:sym typeface="Arial" panose="020B0604020202020204"/>
                </a:endParaRPr>
              </a:p>
            </p:txBody>
          </p:sp>
        </p:grpSp>
        <p:sp>
          <p:nvSpPr>
            <p:cNvPr id="5" name="圆角矩形 4"/>
            <p:cNvSpPr/>
            <p:nvPr>
              <p:custDataLst>
                <p:tags r:id="rId5"/>
              </p:custDataLst>
            </p:nvPr>
          </p:nvSpPr>
          <p:spPr>
            <a:xfrm>
              <a:off x="4815491" y="1866569"/>
              <a:ext cx="6637173" cy="413968"/>
            </a:xfrm>
            <a:prstGeom prst="roundRect">
              <a:avLst>
                <a:gd name="adj" fmla="val 50000"/>
              </a:avLst>
            </a:prstGeom>
            <a:noFill/>
            <a:ln w="12700" cap="flat" cmpd="sng" algn="ctr">
              <a:noFill/>
              <a:prstDash val="solid"/>
            </a:ln>
            <a:effectLst/>
          </p:spPr>
          <p:txBody>
            <a:bodyPr rtlCol="0" anchor="ctr"/>
            <a:lstStyle/>
            <a:p>
              <a:r>
                <a:rPr lang="zh-CN" altLang="en-US" sz="2800" b="1" dirty="0">
                  <a:solidFill>
                    <a:srgbClr val="C00000"/>
                  </a:solidFill>
                  <a:latin typeface="楷体" panose="02010609060101010101" charset="-122"/>
                  <a:ea typeface="楷体" panose="02010609060101010101" charset="-122"/>
                </a:rPr>
                <a:t>为什么从党章看理论体系？</a:t>
              </a:r>
              <a:endParaRPr lang="zh-CN" altLang="en-US" sz="2800" b="1" dirty="0">
                <a:solidFill>
                  <a:srgbClr val="C00000"/>
                </a:solidFill>
                <a:latin typeface="楷体" panose="02010609060101010101" charset="-122"/>
                <a:ea typeface="楷体" panose="02010609060101010101" charset="-122"/>
              </a:endParaRPr>
            </a:p>
          </p:txBody>
        </p:sp>
      </p:grpSp>
      <p:sp>
        <p:nvSpPr>
          <p:cNvPr id="9" name="任意多边形 8"/>
          <p:cNvSpPr/>
          <p:nvPr>
            <p:custDataLst>
              <p:tags r:id="rId6"/>
            </p:custDataLst>
          </p:nvPr>
        </p:nvSpPr>
        <p:spPr>
          <a:xfrm rot="18900000" flipH="1">
            <a:off x="5150603" y="1812167"/>
            <a:ext cx="262284" cy="222852"/>
          </a:xfrm>
          <a:custGeom>
            <a:avLst/>
            <a:gdLst>
              <a:gd name="connsiteX0" fmla="*/ 0 w 304899"/>
              <a:gd name="connsiteY0" fmla="*/ 0 h 304899"/>
              <a:gd name="connsiteX1" fmla="*/ 3059 w 304899"/>
              <a:gd name="connsiteY1" fmla="*/ 10322 h 304899"/>
              <a:gd name="connsiteX2" fmla="*/ 119391 w 304899"/>
              <a:gd name="connsiteY2" fmla="*/ 185508 h 304899"/>
              <a:gd name="connsiteX3" fmla="*/ 294577 w 304899"/>
              <a:gd name="connsiteY3" fmla="*/ 301840 h 304899"/>
              <a:gd name="connsiteX4" fmla="*/ 304899 w 304899"/>
              <a:gd name="connsiteY4" fmla="*/ 304899 h 304899"/>
              <a:gd name="connsiteX5" fmla="*/ 0 w 304899"/>
              <a:gd name="connsiteY5" fmla="*/ 304899 h 30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99" h="304899">
                <a:moveTo>
                  <a:pt x="0" y="0"/>
                </a:moveTo>
                <a:lnTo>
                  <a:pt x="3059" y="10322"/>
                </a:lnTo>
                <a:cubicBezTo>
                  <a:pt x="28910" y="74072"/>
                  <a:pt x="67688" y="133805"/>
                  <a:pt x="119391" y="185508"/>
                </a:cubicBezTo>
                <a:cubicBezTo>
                  <a:pt x="171094" y="237211"/>
                  <a:pt x="230827" y="275989"/>
                  <a:pt x="294577" y="301840"/>
                </a:cubicBezTo>
                <a:lnTo>
                  <a:pt x="304899" y="304899"/>
                </a:lnTo>
                <a:lnTo>
                  <a:pt x="0" y="304899"/>
                </a:lnTo>
                <a:close/>
              </a:path>
            </a:pathLst>
          </a:custGeom>
          <a:solidFill>
            <a:schemeClr val="tx1">
              <a:lumMod val="85000"/>
              <a:lumOff val="15000"/>
            </a:schemeClr>
          </a:solidFill>
          <a:ln w="25400" cap="flat" cmpd="sng" algn="ctr">
            <a:noFill/>
            <a:prstDash val="solid"/>
          </a:ln>
          <a:effectLst/>
        </p:spPr>
        <p:txBody>
          <a:bodyPr lIns="91440" tIns="45720" rIns="91440" bIns="45720" rtlCol="0" anchor="ctr"/>
          <a:lstStyle/>
          <a:p>
            <a:pPr algn="ctr" defTabSz="1218565">
              <a:defRPr/>
            </a:pPr>
            <a:endParaRPr lang="zh-CN" altLang="en-US" sz="2400" b="1" kern="0" dirty="0">
              <a:solidFill>
                <a:srgbClr val="FFFFFF"/>
              </a:solidFill>
              <a:latin typeface="Arial" panose="020B0604020202020204"/>
              <a:ea typeface="微软雅黑" panose="020B0503020204020204" charset="-122"/>
              <a:sym typeface="Arial" panose="020B0604020202020204"/>
            </a:endParaRPr>
          </a:p>
        </p:txBody>
      </p:sp>
      <p:grpSp>
        <p:nvGrpSpPr>
          <p:cNvPr id="92" name="组合 91"/>
          <p:cNvGrpSpPr/>
          <p:nvPr/>
        </p:nvGrpSpPr>
        <p:grpSpPr>
          <a:xfrm>
            <a:off x="2758920" y="2684766"/>
            <a:ext cx="1179542" cy="1655197"/>
            <a:chOff x="916743" y="1342594"/>
            <a:chExt cx="940561" cy="1303467"/>
          </a:xfrm>
        </p:grpSpPr>
        <p:sp>
          <p:nvSpPr>
            <p:cNvPr id="93" name="TextBox 26"/>
            <p:cNvSpPr txBox="1"/>
            <p:nvPr/>
          </p:nvSpPr>
          <p:spPr>
            <a:xfrm>
              <a:off x="916743" y="1342594"/>
              <a:ext cx="801653" cy="1303467"/>
            </a:xfrm>
            <a:prstGeom prst="rect">
              <a:avLst/>
            </a:prstGeom>
            <a:noFill/>
          </p:spPr>
          <p:txBody>
            <a:bodyPr vert="eaVert" wrap="none" rtlCol="0">
              <a:spAutoFit/>
            </a:bodyPr>
            <a:lstStyle/>
            <a:p>
              <a:r>
                <a:rPr lang="zh-CN" altLang="en-US" sz="5335" b="1" spc="756" dirty="0">
                  <a:solidFill>
                    <a:srgbClr val="C00000"/>
                  </a:solidFill>
                  <a:latin typeface="Arial" panose="020B0604020202020204"/>
                  <a:ea typeface="微软雅黑" panose="020B0503020204020204" charset="-122"/>
                  <a:cs typeface="+mn-ea"/>
                  <a:sym typeface="Arial" panose="020B0604020202020204"/>
                </a:rPr>
                <a:t>目录</a:t>
              </a:r>
              <a:endParaRPr lang="zh-CN" altLang="en-US" sz="7200" b="1" spc="756" dirty="0">
                <a:solidFill>
                  <a:srgbClr val="C00000"/>
                </a:solidFill>
                <a:latin typeface="Arial" panose="020B0604020202020204"/>
                <a:ea typeface="微软雅黑" panose="020B0503020204020204" charset="-122"/>
                <a:cs typeface="+mn-ea"/>
                <a:sym typeface="Arial" panose="020B0604020202020204"/>
              </a:endParaRPr>
            </a:p>
          </p:txBody>
        </p:sp>
        <p:sp>
          <p:nvSpPr>
            <p:cNvPr id="94" name="TextBox 27"/>
            <p:cNvSpPr txBox="1"/>
            <p:nvPr/>
          </p:nvSpPr>
          <p:spPr>
            <a:xfrm>
              <a:off x="1515521" y="1745392"/>
              <a:ext cx="341783" cy="172021"/>
            </a:xfrm>
            <a:prstGeom prst="rect">
              <a:avLst/>
            </a:prstGeom>
            <a:noFill/>
          </p:spPr>
          <p:txBody>
            <a:bodyPr vert="eaVert" wrap="none" rtlCol="0">
              <a:spAutoFit/>
            </a:bodyPr>
            <a:lstStyle/>
            <a:p>
              <a:endParaRPr lang="zh-CN" altLang="en-US" sz="1600" b="1" spc="-189" dirty="0">
                <a:solidFill>
                  <a:srgbClr val="C00000"/>
                </a:solidFill>
                <a:latin typeface="Arial" panose="020B0604020202020204"/>
                <a:ea typeface="微软雅黑" panose="020B0503020204020204" charset="-122"/>
                <a:cs typeface="+mn-ea"/>
                <a:sym typeface="Arial" panose="020B0604020202020204"/>
              </a:endParaRPr>
            </a:p>
          </p:txBody>
        </p:sp>
      </p:grpSp>
      <p:sp>
        <p:nvSpPr>
          <p:cNvPr id="95" name="Freeform 29"/>
          <p:cNvSpPr/>
          <p:nvPr/>
        </p:nvSpPr>
        <p:spPr bwMode="auto">
          <a:xfrm>
            <a:off x="2618585" y="1432367"/>
            <a:ext cx="1145707" cy="1023799"/>
          </a:xfrm>
          <a:custGeom>
            <a:avLst/>
            <a:gdLst>
              <a:gd name="T0" fmla="*/ 803 w 1880"/>
              <a:gd name="T1" fmla="*/ 15 h 1680"/>
              <a:gd name="T2" fmla="*/ 1253 w 1880"/>
              <a:gd name="T3" fmla="*/ 1067 h 1680"/>
              <a:gd name="T4" fmla="*/ 728 w 1880"/>
              <a:gd name="T5" fmla="*/ 540 h 1680"/>
              <a:gd name="T6" fmla="*/ 928 w 1880"/>
              <a:gd name="T7" fmla="*/ 339 h 1680"/>
              <a:gd name="T8" fmla="*/ 803 w 1880"/>
              <a:gd name="T9" fmla="*/ 215 h 1680"/>
              <a:gd name="T10" fmla="*/ 549 w 1880"/>
              <a:gd name="T11" fmla="*/ 267 h 1680"/>
              <a:gd name="T12" fmla="*/ 150 w 1880"/>
              <a:gd name="T13" fmla="*/ 666 h 1680"/>
              <a:gd name="T14" fmla="*/ 376 w 1880"/>
              <a:gd name="T15" fmla="*/ 890 h 1680"/>
              <a:gd name="T16" fmla="*/ 527 w 1880"/>
              <a:gd name="T17" fmla="*/ 741 h 1680"/>
              <a:gd name="T18" fmla="*/ 1052 w 1880"/>
              <a:gd name="T19" fmla="*/ 1266 h 1680"/>
              <a:gd name="T20" fmla="*/ 176 w 1880"/>
              <a:gd name="T21" fmla="*/ 1090 h 1680"/>
              <a:gd name="T22" fmla="*/ 49 w 1880"/>
              <a:gd name="T23" fmla="*/ 1217 h 1680"/>
              <a:gd name="T24" fmla="*/ 159 w 1880"/>
              <a:gd name="T25" fmla="*/ 1357 h 1680"/>
              <a:gd name="T26" fmla="*/ 144 w 1880"/>
              <a:gd name="T27" fmla="*/ 1371 h 1680"/>
              <a:gd name="T28" fmla="*/ 122 w 1880"/>
              <a:gd name="T29" fmla="*/ 1367 h 1680"/>
              <a:gd name="T30" fmla="*/ 0 w 1880"/>
              <a:gd name="T31" fmla="*/ 1494 h 1680"/>
              <a:gd name="T32" fmla="*/ 123 w 1880"/>
              <a:gd name="T33" fmla="*/ 1616 h 1680"/>
              <a:gd name="T34" fmla="*/ 249 w 1880"/>
              <a:gd name="T35" fmla="*/ 1493 h 1680"/>
              <a:gd name="T36" fmla="*/ 245 w 1880"/>
              <a:gd name="T37" fmla="*/ 1470 h 1680"/>
              <a:gd name="T38" fmla="*/ 265 w 1880"/>
              <a:gd name="T39" fmla="*/ 1451 h 1680"/>
              <a:gd name="T40" fmla="*/ 1255 w 1880"/>
              <a:gd name="T41" fmla="*/ 1467 h 1680"/>
              <a:gd name="T42" fmla="*/ 1402 w 1880"/>
              <a:gd name="T43" fmla="*/ 1615 h 1680"/>
              <a:gd name="T44" fmla="*/ 1603 w 1880"/>
              <a:gd name="T45" fmla="*/ 1416 h 1680"/>
              <a:gd name="T46" fmla="*/ 1455 w 1880"/>
              <a:gd name="T47" fmla="*/ 1267 h 1680"/>
              <a:gd name="T48" fmla="*/ 803 w 1880"/>
              <a:gd name="T49" fmla="*/ 15 h 16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80" h="1680">
                <a:moveTo>
                  <a:pt x="803" y="15"/>
                </a:moveTo>
                <a:cubicBezTo>
                  <a:pt x="1217" y="170"/>
                  <a:pt x="1468" y="665"/>
                  <a:pt x="1253" y="1067"/>
                </a:cubicBezTo>
                <a:cubicBezTo>
                  <a:pt x="728" y="540"/>
                  <a:pt x="728" y="540"/>
                  <a:pt x="728" y="540"/>
                </a:cubicBezTo>
                <a:cubicBezTo>
                  <a:pt x="928" y="339"/>
                  <a:pt x="928" y="339"/>
                  <a:pt x="928" y="339"/>
                </a:cubicBezTo>
                <a:cubicBezTo>
                  <a:pt x="803" y="215"/>
                  <a:pt x="803" y="215"/>
                  <a:pt x="803" y="215"/>
                </a:cubicBezTo>
                <a:cubicBezTo>
                  <a:pt x="733" y="282"/>
                  <a:pt x="623" y="297"/>
                  <a:pt x="549" y="267"/>
                </a:cubicBezTo>
                <a:cubicBezTo>
                  <a:pt x="150" y="666"/>
                  <a:pt x="150" y="666"/>
                  <a:pt x="150" y="666"/>
                </a:cubicBezTo>
                <a:cubicBezTo>
                  <a:pt x="376" y="890"/>
                  <a:pt x="376" y="890"/>
                  <a:pt x="376" y="890"/>
                </a:cubicBezTo>
                <a:cubicBezTo>
                  <a:pt x="527" y="741"/>
                  <a:pt x="527" y="741"/>
                  <a:pt x="527" y="741"/>
                </a:cubicBezTo>
                <a:cubicBezTo>
                  <a:pt x="1052" y="1266"/>
                  <a:pt x="1052" y="1266"/>
                  <a:pt x="1052" y="1266"/>
                </a:cubicBezTo>
                <a:cubicBezTo>
                  <a:pt x="795" y="1407"/>
                  <a:pt x="439" y="1363"/>
                  <a:pt x="176" y="1090"/>
                </a:cubicBezTo>
                <a:cubicBezTo>
                  <a:pt x="49" y="1217"/>
                  <a:pt x="49" y="1217"/>
                  <a:pt x="49" y="1217"/>
                </a:cubicBezTo>
                <a:cubicBezTo>
                  <a:pt x="87" y="1270"/>
                  <a:pt x="119" y="1317"/>
                  <a:pt x="159" y="1357"/>
                </a:cubicBezTo>
                <a:cubicBezTo>
                  <a:pt x="155" y="1362"/>
                  <a:pt x="144" y="1371"/>
                  <a:pt x="144" y="1371"/>
                </a:cubicBezTo>
                <a:cubicBezTo>
                  <a:pt x="137" y="1370"/>
                  <a:pt x="129" y="1367"/>
                  <a:pt x="122" y="1367"/>
                </a:cubicBezTo>
                <a:cubicBezTo>
                  <a:pt x="55" y="1367"/>
                  <a:pt x="0" y="1426"/>
                  <a:pt x="0" y="1494"/>
                </a:cubicBezTo>
                <a:cubicBezTo>
                  <a:pt x="0" y="1561"/>
                  <a:pt x="55" y="1616"/>
                  <a:pt x="123" y="1616"/>
                </a:cubicBezTo>
                <a:cubicBezTo>
                  <a:pt x="191" y="1616"/>
                  <a:pt x="249" y="1561"/>
                  <a:pt x="249" y="1493"/>
                </a:cubicBezTo>
                <a:cubicBezTo>
                  <a:pt x="249" y="1485"/>
                  <a:pt x="247" y="1478"/>
                  <a:pt x="245" y="1470"/>
                </a:cubicBezTo>
                <a:cubicBezTo>
                  <a:pt x="265" y="1451"/>
                  <a:pt x="265" y="1451"/>
                  <a:pt x="265" y="1451"/>
                </a:cubicBezTo>
                <a:cubicBezTo>
                  <a:pt x="567" y="1655"/>
                  <a:pt x="898" y="1680"/>
                  <a:pt x="1255" y="1467"/>
                </a:cubicBezTo>
                <a:cubicBezTo>
                  <a:pt x="1402" y="1615"/>
                  <a:pt x="1402" y="1615"/>
                  <a:pt x="1402" y="1615"/>
                </a:cubicBezTo>
                <a:cubicBezTo>
                  <a:pt x="1603" y="1416"/>
                  <a:pt x="1603" y="1416"/>
                  <a:pt x="1603" y="1416"/>
                </a:cubicBezTo>
                <a:cubicBezTo>
                  <a:pt x="1455" y="1267"/>
                  <a:pt x="1455" y="1267"/>
                  <a:pt x="1455" y="1267"/>
                </a:cubicBezTo>
                <a:cubicBezTo>
                  <a:pt x="1880" y="628"/>
                  <a:pt x="1313" y="0"/>
                  <a:pt x="803" y="15"/>
                </a:cubicBezTo>
                <a:close/>
              </a:path>
            </a:pathLst>
          </a:custGeom>
          <a:solidFill>
            <a:srgbClr val="C00000"/>
          </a:solidFill>
          <a:ln>
            <a:noFill/>
          </a:ln>
        </p:spPr>
        <p:txBody>
          <a:bodyPr vert="horz" wrap="square" lIns="91440" tIns="45720" rIns="91440" bIns="45720" numCol="1" anchor="t" anchorCtr="0" compatLnSpc="1"/>
          <a:lstStyle/>
          <a:p>
            <a:endParaRPr lang="zh-CN" altLang="en-US" sz="1800">
              <a:latin typeface="Arial" panose="020B0604020202020204"/>
              <a:ea typeface="微软雅黑" panose="020B0503020204020204" charset="-122"/>
              <a:cs typeface="+mn-ea"/>
              <a:sym typeface="Arial" panose="020B0604020202020204"/>
            </a:endParaRPr>
          </a:p>
        </p:txBody>
      </p:sp>
      <p:pic>
        <p:nvPicPr>
          <p:cNvPr id="28" name="图片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38" y="0"/>
            <a:ext cx="4695651" cy="1655197"/>
          </a:xfrm>
          <a:prstGeom prst="rect">
            <a:avLst/>
          </a:prstGeom>
        </p:spPr>
      </p:pic>
      <p:grpSp>
        <p:nvGrpSpPr>
          <p:cNvPr id="33" name="组合 32"/>
          <p:cNvGrpSpPr/>
          <p:nvPr>
            <p:custDataLst>
              <p:tags r:id="rId8"/>
            </p:custDataLst>
          </p:nvPr>
        </p:nvGrpSpPr>
        <p:grpSpPr>
          <a:xfrm>
            <a:off x="4703217" y="2538259"/>
            <a:ext cx="5479522" cy="537956"/>
            <a:chOff x="3672360" y="1818367"/>
            <a:chExt cx="7780304" cy="561592"/>
          </a:xfrm>
        </p:grpSpPr>
        <p:grpSp>
          <p:nvGrpSpPr>
            <p:cNvPr id="34" name="组合 33"/>
            <p:cNvGrpSpPr/>
            <p:nvPr/>
          </p:nvGrpSpPr>
          <p:grpSpPr>
            <a:xfrm>
              <a:off x="3672360" y="1818367"/>
              <a:ext cx="672522" cy="561592"/>
              <a:chOff x="5656078" y="2390367"/>
              <a:chExt cx="1001751" cy="836519"/>
            </a:xfrm>
            <a:solidFill>
              <a:schemeClr val="tx1"/>
            </a:solidFill>
          </p:grpSpPr>
          <p:sp>
            <p:nvSpPr>
              <p:cNvPr id="36" name="椭圆 35"/>
              <p:cNvSpPr/>
              <p:nvPr>
                <p:custDataLst>
                  <p:tags r:id="rId9"/>
                </p:custDataLst>
              </p:nvPr>
            </p:nvSpPr>
            <p:spPr>
              <a:xfrm flipH="1">
                <a:off x="5656078" y="2390367"/>
                <a:ext cx="1001751" cy="836519"/>
              </a:xfrm>
              <a:prstGeom prst="ellipse">
                <a:avLst/>
              </a:prstGeom>
              <a:solidFill>
                <a:srgbClr val="D10000"/>
              </a:solidFill>
              <a:ln w="25400" cap="flat" cmpd="sng" algn="ctr">
                <a:noFill/>
                <a:prstDash val="solid"/>
              </a:ln>
              <a:effectLst/>
            </p:spPr>
            <p:txBody>
              <a:bodyPr rtlCol="0" anchor="ctr"/>
              <a:lstStyle/>
              <a:p>
                <a:pPr algn="ctr" defTabSz="1218565">
                  <a:defRPr/>
                </a:pPr>
                <a:endParaRPr lang="zh-CN" altLang="en-US" sz="2665" b="1" kern="0">
                  <a:solidFill>
                    <a:srgbClr val="FFFFFF"/>
                  </a:solidFill>
                  <a:latin typeface="Arial" panose="020B0604020202020204"/>
                  <a:ea typeface="微软雅黑" panose="020B0503020204020204" charset="-122"/>
                  <a:sym typeface="Arial" panose="020B0604020202020204"/>
                </a:endParaRPr>
              </a:p>
            </p:txBody>
          </p:sp>
          <p:sp>
            <p:nvSpPr>
              <p:cNvPr id="37" name="TextBox 20"/>
              <p:cNvSpPr txBox="1"/>
              <p:nvPr>
                <p:custDataLst>
                  <p:tags r:id="rId10"/>
                </p:custDataLst>
              </p:nvPr>
            </p:nvSpPr>
            <p:spPr>
              <a:xfrm>
                <a:off x="5771571" y="2543814"/>
                <a:ext cx="725532" cy="573692"/>
              </a:xfrm>
              <a:prstGeom prst="rect">
                <a:avLst/>
              </a:prstGeom>
              <a:noFill/>
            </p:spPr>
            <p:txBody>
              <a:bodyPr wrap="square" lIns="0" tIns="0" rIns="0" bIns="0" rtlCol="0">
                <a:spAutoFit/>
              </a:bodyPr>
              <a:lstStyle/>
              <a:p>
                <a:pPr algn="ctr" defTabSz="1218565">
                  <a:defRPr/>
                </a:pPr>
                <a:r>
                  <a:rPr lang="en-US" altLang="zh-CN" sz="2400" kern="0" dirty="0">
                    <a:solidFill>
                      <a:srgbClr val="FFFFFF"/>
                    </a:solidFill>
                    <a:latin typeface="Arial" panose="020B0604020202020204"/>
                    <a:ea typeface="微软雅黑" panose="020B0503020204020204" charset="-122"/>
                    <a:sym typeface="Arial" panose="020B0604020202020204"/>
                  </a:rPr>
                  <a:t>02</a:t>
                </a:r>
                <a:endParaRPr lang="zh-CN" altLang="en-US" sz="2400" kern="0" dirty="0">
                  <a:solidFill>
                    <a:srgbClr val="FFFFFF"/>
                  </a:solidFill>
                  <a:latin typeface="Arial" panose="020B0604020202020204"/>
                  <a:ea typeface="微软雅黑" panose="020B0503020204020204" charset="-122"/>
                  <a:sym typeface="Arial" panose="020B0604020202020204"/>
                </a:endParaRPr>
              </a:p>
            </p:txBody>
          </p:sp>
        </p:grpSp>
        <p:sp>
          <p:nvSpPr>
            <p:cNvPr id="35" name="圆角矩形 4"/>
            <p:cNvSpPr/>
            <p:nvPr>
              <p:custDataLst>
                <p:tags r:id="rId11"/>
              </p:custDataLst>
            </p:nvPr>
          </p:nvSpPr>
          <p:spPr>
            <a:xfrm>
              <a:off x="4815491" y="1866569"/>
              <a:ext cx="6637173" cy="413968"/>
            </a:xfrm>
            <a:prstGeom prst="roundRect">
              <a:avLst>
                <a:gd name="adj" fmla="val 50000"/>
              </a:avLst>
            </a:prstGeom>
            <a:noFill/>
            <a:ln w="12700" cap="flat" cmpd="sng" algn="ctr">
              <a:noFill/>
              <a:prstDash val="solid"/>
            </a:ln>
            <a:effectLst/>
          </p:spPr>
          <p:txBody>
            <a:bodyPr rtlCol="0" anchor="ctr"/>
            <a:lstStyle/>
            <a:p>
              <a:r>
                <a:rPr lang="zh-CN" altLang="en-US" sz="2800" b="1" dirty="0">
                  <a:solidFill>
                    <a:srgbClr val="C00000"/>
                  </a:solidFill>
                  <a:latin typeface="楷体" panose="02010609060101010101" charset="-122"/>
                  <a:ea typeface="楷体" panose="02010609060101010101" charset="-122"/>
                </a:rPr>
                <a:t>党章的起源与性质功能</a:t>
              </a:r>
              <a:endParaRPr lang="zh-CN" altLang="en-US" sz="2800" b="1" dirty="0">
                <a:solidFill>
                  <a:srgbClr val="C00000"/>
                </a:solidFill>
                <a:latin typeface="楷体" panose="02010609060101010101" charset="-122"/>
                <a:ea typeface="楷体" panose="02010609060101010101" charset="-122"/>
              </a:endParaRPr>
            </a:p>
          </p:txBody>
        </p:sp>
      </p:grpSp>
      <p:sp>
        <p:nvSpPr>
          <p:cNvPr id="38" name="任意多边形 8"/>
          <p:cNvSpPr/>
          <p:nvPr>
            <p:custDataLst>
              <p:tags r:id="rId12"/>
            </p:custDataLst>
          </p:nvPr>
        </p:nvSpPr>
        <p:spPr>
          <a:xfrm rot="18900000" flipH="1">
            <a:off x="5150603" y="2695229"/>
            <a:ext cx="262284" cy="222852"/>
          </a:xfrm>
          <a:custGeom>
            <a:avLst/>
            <a:gdLst>
              <a:gd name="connsiteX0" fmla="*/ 0 w 304899"/>
              <a:gd name="connsiteY0" fmla="*/ 0 h 304899"/>
              <a:gd name="connsiteX1" fmla="*/ 3059 w 304899"/>
              <a:gd name="connsiteY1" fmla="*/ 10322 h 304899"/>
              <a:gd name="connsiteX2" fmla="*/ 119391 w 304899"/>
              <a:gd name="connsiteY2" fmla="*/ 185508 h 304899"/>
              <a:gd name="connsiteX3" fmla="*/ 294577 w 304899"/>
              <a:gd name="connsiteY3" fmla="*/ 301840 h 304899"/>
              <a:gd name="connsiteX4" fmla="*/ 304899 w 304899"/>
              <a:gd name="connsiteY4" fmla="*/ 304899 h 304899"/>
              <a:gd name="connsiteX5" fmla="*/ 0 w 304899"/>
              <a:gd name="connsiteY5" fmla="*/ 304899 h 30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99" h="304899">
                <a:moveTo>
                  <a:pt x="0" y="0"/>
                </a:moveTo>
                <a:lnTo>
                  <a:pt x="3059" y="10322"/>
                </a:lnTo>
                <a:cubicBezTo>
                  <a:pt x="28910" y="74072"/>
                  <a:pt x="67688" y="133805"/>
                  <a:pt x="119391" y="185508"/>
                </a:cubicBezTo>
                <a:cubicBezTo>
                  <a:pt x="171094" y="237211"/>
                  <a:pt x="230827" y="275989"/>
                  <a:pt x="294577" y="301840"/>
                </a:cubicBezTo>
                <a:lnTo>
                  <a:pt x="304899" y="304899"/>
                </a:lnTo>
                <a:lnTo>
                  <a:pt x="0" y="304899"/>
                </a:lnTo>
                <a:close/>
              </a:path>
            </a:pathLst>
          </a:custGeom>
          <a:solidFill>
            <a:schemeClr val="tx1">
              <a:lumMod val="85000"/>
              <a:lumOff val="15000"/>
            </a:schemeClr>
          </a:solidFill>
          <a:ln w="25400" cap="flat" cmpd="sng" algn="ctr">
            <a:noFill/>
            <a:prstDash val="solid"/>
          </a:ln>
          <a:effectLst/>
        </p:spPr>
        <p:txBody>
          <a:bodyPr lIns="91440" tIns="45720" rIns="91440" bIns="45720" rtlCol="0" anchor="ctr"/>
          <a:lstStyle/>
          <a:p>
            <a:pPr algn="ctr" defTabSz="1218565">
              <a:defRPr/>
            </a:pPr>
            <a:endParaRPr lang="zh-CN" altLang="en-US" sz="2400" b="1" kern="0">
              <a:solidFill>
                <a:srgbClr val="FFFFFF"/>
              </a:solidFill>
              <a:latin typeface="Arial" panose="020B0604020202020204"/>
              <a:ea typeface="微软雅黑" panose="020B0503020204020204" charset="-122"/>
              <a:sym typeface="Arial" panose="020B0604020202020204"/>
            </a:endParaRPr>
          </a:p>
        </p:txBody>
      </p:sp>
      <p:grpSp>
        <p:nvGrpSpPr>
          <p:cNvPr id="39" name="组合 38"/>
          <p:cNvGrpSpPr/>
          <p:nvPr>
            <p:custDataLst>
              <p:tags r:id="rId13"/>
            </p:custDataLst>
          </p:nvPr>
        </p:nvGrpSpPr>
        <p:grpSpPr>
          <a:xfrm>
            <a:off x="4703383" y="4402261"/>
            <a:ext cx="6981190" cy="537956"/>
            <a:chOff x="3672360" y="1818367"/>
            <a:chExt cx="9912504" cy="561592"/>
          </a:xfrm>
        </p:grpSpPr>
        <p:grpSp>
          <p:nvGrpSpPr>
            <p:cNvPr id="40" name="组合 39"/>
            <p:cNvGrpSpPr/>
            <p:nvPr/>
          </p:nvGrpSpPr>
          <p:grpSpPr>
            <a:xfrm>
              <a:off x="3672360" y="1818367"/>
              <a:ext cx="672522" cy="561592"/>
              <a:chOff x="5656078" y="2390367"/>
              <a:chExt cx="1001751" cy="836519"/>
            </a:xfrm>
            <a:solidFill>
              <a:schemeClr val="tx1"/>
            </a:solidFill>
          </p:grpSpPr>
          <p:sp>
            <p:nvSpPr>
              <p:cNvPr id="42" name="椭圆 41"/>
              <p:cNvSpPr/>
              <p:nvPr>
                <p:custDataLst>
                  <p:tags r:id="rId14"/>
                </p:custDataLst>
              </p:nvPr>
            </p:nvSpPr>
            <p:spPr>
              <a:xfrm flipH="1">
                <a:off x="5656078" y="2390367"/>
                <a:ext cx="1001751" cy="836519"/>
              </a:xfrm>
              <a:prstGeom prst="ellipse">
                <a:avLst/>
              </a:prstGeom>
              <a:solidFill>
                <a:srgbClr val="D10000"/>
              </a:solidFill>
              <a:ln w="25400" cap="flat" cmpd="sng" algn="ctr">
                <a:noFill/>
                <a:prstDash val="solid"/>
              </a:ln>
              <a:effectLst/>
            </p:spPr>
            <p:txBody>
              <a:bodyPr rtlCol="0" anchor="ctr"/>
              <a:lstStyle/>
              <a:p>
                <a:pPr algn="ctr" defTabSz="1218565">
                  <a:defRPr/>
                </a:pPr>
                <a:endParaRPr lang="zh-CN" altLang="en-US" sz="2665" b="1" kern="0">
                  <a:solidFill>
                    <a:srgbClr val="FFFFFF"/>
                  </a:solidFill>
                  <a:latin typeface="Arial" panose="020B0604020202020204"/>
                  <a:ea typeface="微软雅黑" panose="020B0503020204020204" charset="-122"/>
                  <a:sym typeface="Arial" panose="020B0604020202020204"/>
                </a:endParaRPr>
              </a:p>
            </p:txBody>
          </p:sp>
          <p:sp>
            <p:nvSpPr>
              <p:cNvPr id="43" name="TextBox 20"/>
              <p:cNvSpPr txBox="1"/>
              <p:nvPr>
                <p:custDataLst>
                  <p:tags r:id="rId15"/>
                </p:custDataLst>
              </p:nvPr>
            </p:nvSpPr>
            <p:spPr>
              <a:xfrm>
                <a:off x="5771571" y="2543814"/>
                <a:ext cx="725532" cy="573692"/>
              </a:xfrm>
              <a:prstGeom prst="rect">
                <a:avLst/>
              </a:prstGeom>
              <a:noFill/>
            </p:spPr>
            <p:txBody>
              <a:bodyPr wrap="square" lIns="0" tIns="0" rIns="0" bIns="0" rtlCol="0">
                <a:spAutoFit/>
              </a:bodyPr>
              <a:lstStyle/>
              <a:p>
                <a:pPr algn="ctr" defTabSz="1218565">
                  <a:defRPr/>
                </a:pPr>
                <a:r>
                  <a:rPr lang="en-US" altLang="zh-CN" sz="2400" kern="0" dirty="0">
                    <a:solidFill>
                      <a:srgbClr val="FFFFFF"/>
                    </a:solidFill>
                    <a:latin typeface="Arial" panose="020B0604020202020204"/>
                    <a:ea typeface="微软雅黑" panose="020B0503020204020204" charset="-122"/>
                    <a:sym typeface="Arial" panose="020B0604020202020204"/>
                  </a:rPr>
                  <a:t>04</a:t>
                </a:r>
                <a:endParaRPr lang="zh-CN" altLang="en-US" sz="2400" kern="0" dirty="0">
                  <a:solidFill>
                    <a:srgbClr val="FFFFFF"/>
                  </a:solidFill>
                  <a:latin typeface="Arial" panose="020B0604020202020204"/>
                  <a:ea typeface="微软雅黑" panose="020B0503020204020204" charset="-122"/>
                  <a:sym typeface="Arial" panose="020B0604020202020204"/>
                </a:endParaRPr>
              </a:p>
            </p:txBody>
          </p:sp>
        </p:grpSp>
        <p:sp>
          <p:nvSpPr>
            <p:cNvPr id="41" name="圆角矩形 4"/>
            <p:cNvSpPr/>
            <p:nvPr>
              <p:custDataLst>
                <p:tags r:id="rId16"/>
              </p:custDataLst>
            </p:nvPr>
          </p:nvSpPr>
          <p:spPr>
            <a:xfrm>
              <a:off x="4815625" y="1866759"/>
              <a:ext cx="8769239" cy="413649"/>
            </a:xfrm>
            <a:prstGeom prst="roundRect">
              <a:avLst>
                <a:gd name="adj" fmla="val 50000"/>
              </a:avLst>
            </a:prstGeom>
            <a:noFill/>
            <a:ln w="12700" cap="flat" cmpd="sng" algn="ctr">
              <a:noFill/>
              <a:prstDash val="solid"/>
            </a:ln>
            <a:effectLst/>
          </p:spPr>
          <p:txBody>
            <a:bodyPr rtlCol="0" anchor="ctr"/>
            <a:lstStyle/>
            <a:p>
              <a:pPr algn="l">
                <a:buClrTx/>
                <a:buSzTx/>
                <a:buFontTx/>
              </a:pPr>
              <a:r>
                <a:rPr lang="en-US" altLang="zh-CN" sz="2800" b="1" dirty="0">
                  <a:solidFill>
                    <a:srgbClr val="C00000"/>
                  </a:solidFill>
                  <a:latin typeface="楷体" panose="02010609060101010101" charset="-122"/>
                  <a:ea typeface="楷体" panose="02010609060101010101" charset="-122"/>
                  <a:sym typeface="+mn-ea"/>
                </a:rPr>
                <a:t>“</a:t>
              </a:r>
              <a:r>
                <a:rPr lang="zh-CN" altLang="en-US" sz="2800" b="1" dirty="0">
                  <a:solidFill>
                    <a:srgbClr val="C00000"/>
                  </a:solidFill>
                  <a:latin typeface="楷体" panose="02010609060101010101" charset="-122"/>
                  <a:ea typeface="楷体" panose="02010609060101010101" charset="-122"/>
                  <a:sym typeface="+mn-ea"/>
                </a:rPr>
                <a:t>党章为纲</a:t>
              </a:r>
              <a:r>
                <a:rPr lang="en-US" altLang="zh-CN" sz="2800" b="1" dirty="0">
                  <a:solidFill>
                    <a:srgbClr val="C00000"/>
                  </a:solidFill>
                  <a:latin typeface="楷体" panose="02010609060101010101" charset="-122"/>
                  <a:ea typeface="楷体" panose="02010609060101010101" charset="-122"/>
                  <a:sym typeface="+mn-ea"/>
                </a:rPr>
                <a:t>”</a:t>
              </a:r>
              <a:r>
                <a:rPr lang="zh-CN" altLang="en-US" sz="2800" b="1" dirty="0">
                  <a:solidFill>
                    <a:srgbClr val="C00000"/>
                  </a:solidFill>
                  <a:latin typeface="楷体" panose="02010609060101010101" charset="-122"/>
                  <a:ea typeface="楷体" panose="02010609060101010101" charset="-122"/>
                  <a:sym typeface="+mn-ea"/>
                </a:rPr>
                <a:t>的制度逻辑与时代意义</a:t>
              </a:r>
              <a:endParaRPr lang="zh-CN" altLang="en-US" sz="2800" b="1" dirty="0">
                <a:solidFill>
                  <a:srgbClr val="C00000"/>
                </a:solidFill>
                <a:latin typeface="楷体" panose="02010609060101010101" charset="-122"/>
                <a:ea typeface="楷体" panose="02010609060101010101" charset="-122"/>
                <a:sym typeface="+mn-ea"/>
              </a:endParaRPr>
            </a:p>
          </p:txBody>
        </p:sp>
      </p:grpSp>
      <p:sp>
        <p:nvSpPr>
          <p:cNvPr id="44" name="任意多边形 8"/>
          <p:cNvSpPr/>
          <p:nvPr>
            <p:custDataLst>
              <p:tags r:id="rId17"/>
            </p:custDataLst>
          </p:nvPr>
        </p:nvSpPr>
        <p:spPr>
          <a:xfrm rot="18900000" flipH="1">
            <a:off x="5150769" y="4561136"/>
            <a:ext cx="262284" cy="222852"/>
          </a:xfrm>
          <a:custGeom>
            <a:avLst/>
            <a:gdLst>
              <a:gd name="connsiteX0" fmla="*/ 0 w 304899"/>
              <a:gd name="connsiteY0" fmla="*/ 0 h 304899"/>
              <a:gd name="connsiteX1" fmla="*/ 3059 w 304899"/>
              <a:gd name="connsiteY1" fmla="*/ 10322 h 304899"/>
              <a:gd name="connsiteX2" fmla="*/ 119391 w 304899"/>
              <a:gd name="connsiteY2" fmla="*/ 185508 h 304899"/>
              <a:gd name="connsiteX3" fmla="*/ 294577 w 304899"/>
              <a:gd name="connsiteY3" fmla="*/ 301840 h 304899"/>
              <a:gd name="connsiteX4" fmla="*/ 304899 w 304899"/>
              <a:gd name="connsiteY4" fmla="*/ 304899 h 304899"/>
              <a:gd name="connsiteX5" fmla="*/ 0 w 304899"/>
              <a:gd name="connsiteY5" fmla="*/ 304899 h 30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99" h="304899">
                <a:moveTo>
                  <a:pt x="0" y="0"/>
                </a:moveTo>
                <a:lnTo>
                  <a:pt x="3059" y="10322"/>
                </a:lnTo>
                <a:cubicBezTo>
                  <a:pt x="28910" y="74072"/>
                  <a:pt x="67688" y="133805"/>
                  <a:pt x="119391" y="185508"/>
                </a:cubicBezTo>
                <a:cubicBezTo>
                  <a:pt x="171094" y="237211"/>
                  <a:pt x="230827" y="275989"/>
                  <a:pt x="294577" y="301840"/>
                </a:cubicBezTo>
                <a:lnTo>
                  <a:pt x="304899" y="304899"/>
                </a:lnTo>
                <a:lnTo>
                  <a:pt x="0" y="304899"/>
                </a:lnTo>
                <a:close/>
              </a:path>
            </a:pathLst>
          </a:custGeom>
          <a:solidFill>
            <a:schemeClr val="tx1">
              <a:lumMod val="85000"/>
              <a:lumOff val="15000"/>
            </a:schemeClr>
          </a:solidFill>
          <a:ln w="25400" cap="flat" cmpd="sng" algn="ctr">
            <a:noFill/>
            <a:prstDash val="solid"/>
          </a:ln>
          <a:effectLst/>
        </p:spPr>
        <p:txBody>
          <a:bodyPr lIns="91440" tIns="45720" rIns="91440" bIns="45720" rtlCol="0" anchor="ctr"/>
          <a:lstStyle/>
          <a:p>
            <a:pPr algn="ctr" defTabSz="1218565">
              <a:defRPr/>
            </a:pPr>
            <a:endParaRPr lang="zh-CN" altLang="en-US" sz="2400" b="1" kern="0">
              <a:solidFill>
                <a:srgbClr val="FFFFFF"/>
              </a:solidFill>
              <a:latin typeface="Arial" panose="020B0604020202020204"/>
              <a:ea typeface="微软雅黑" panose="020B0503020204020204" charset="-122"/>
              <a:sym typeface="Arial" panose="020B0604020202020204"/>
            </a:endParaRPr>
          </a:p>
        </p:txBody>
      </p:sp>
      <p:grpSp>
        <p:nvGrpSpPr>
          <p:cNvPr id="64" name="组合 63"/>
          <p:cNvGrpSpPr/>
          <p:nvPr/>
        </p:nvGrpSpPr>
        <p:grpSpPr>
          <a:xfrm>
            <a:off x="3652983" y="3443305"/>
            <a:ext cx="1062121" cy="1881862"/>
            <a:chOff x="1010375" y="1420008"/>
            <a:chExt cx="846929" cy="1481967"/>
          </a:xfrm>
        </p:grpSpPr>
        <p:sp>
          <p:nvSpPr>
            <p:cNvPr id="65" name="TextBox 26"/>
            <p:cNvSpPr txBox="1"/>
            <p:nvPr/>
          </p:nvSpPr>
          <p:spPr>
            <a:xfrm>
              <a:off x="1010375" y="1420008"/>
              <a:ext cx="441755" cy="1481967"/>
            </a:xfrm>
            <a:prstGeom prst="rect">
              <a:avLst/>
            </a:prstGeom>
            <a:noFill/>
          </p:spPr>
          <p:txBody>
            <a:bodyPr vert="eaVert" wrap="none" rtlCol="0">
              <a:spAutoFit/>
            </a:bodyPr>
            <a:lstStyle/>
            <a:p>
              <a:r>
                <a:rPr lang="en-US" altLang="zh-CN" sz="2400" b="1" spc="756" dirty="0">
                  <a:solidFill>
                    <a:srgbClr val="C00000"/>
                  </a:solidFill>
                  <a:latin typeface="Arial" panose="020B0604020202020204"/>
                  <a:ea typeface="微软雅黑" panose="020B0503020204020204" charset="-122"/>
                  <a:cs typeface="+mn-ea"/>
                  <a:sym typeface="Arial" panose="020B0604020202020204"/>
                </a:rPr>
                <a:t>content</a:t>
              </a:r>
              <a:endParaRPr lang="zh-CN" altLang="en-US" sz="3600" b="1" spc="756" dirty="0">
                <a:solidFill>
                  <a:srgbClr val="C00000"/>
                </a:solidFill>
                <a:latin typeface="Arial" panose="020B0604020202020204"/>
                <a:ea typeface="微软雅黑" panose="020B0503020204020204" charset="-122"/>
                <a:cs typeface="+mn-ea"/>
                <a:sym typeface="Arial" panose="020B0604020202020204"/>
              </a:endParaRPr>
            </a:p>
          </p:txBody>
        </p:sp>
        <p:sp>
          <p:nvSpPr>
            <p:cNvPr id="66" name="TextBox 27"/>
            <p:cNvSpPr txBox="1"/>
            <p:nvPr/>
          </p:nvSpPr>
          <p:spPr>
            <a:xfrm>
              <a:off x="1515521" y="1745392"/>
              <a:ext cx="341783" cy="172021"/>
            </a:xfrm>
            <a:prstGeom prst="rect">
              <a:avLst/>
            </a:prstGeom>
            <a:noFill/>
          </p:spPr>
          <p:txBody>
            <a:bodyPr vert="eaVert" wrap="none" rtlCol="0">
              <a:spAutoFit/>
            </a:bodyPr>
            <a:lstStyle/>
            <a:p>
              <a:endParaRPr lang="zh-CN" altLang="en-US" sz="1600" b="1" spc="-189" dirty="0">
                <a:solidFill>
                  <a:srgbClr val="C00000"/>
                </a:solidFill>
                <a:latin typeface="Arial" panose="020B0604020202020204"/>
                <a:ea typeface="微软雅黑" panose="020B0503020204020204" charset="-122"/>
                <a:cs typeface="+mn-ea"/>
                <a:sym typeface="Arial" panose="020B0604020202020204"/>
              </a:endParaRPr>
            </a:p>
          </p:txBody>
        </p:sp>
      </p:grpSp>
      <p:grpSp>
        <p:nvGrpSpPr>
          <p:cNvPr id="3" name="组合 2"/>
          <p:cNvGrpSpPr/>
          <p:nvPr>
            <p:custDataLst>
              <p:tags r:id="rId18"/>
            </p:custDataLst>
          </p:nvPr>
        </p:nvGrpSpPr>
        <p:grpSpPr>
          <a:xfrm>
            <a:off x="4703217" y="3420909"/>
            <a:ext cx="7077075" cy="537956"/>
            <a:chOff x="3672360" y="1818367"/>
            <a:chExt cx="10048649" cy="561592"/>
          </a:xfrm>
        </p:grpSpPr>
        <p:grpSp>
          <p:nvGrpSpPr>
            <p:cNvPr id="8" name="组合 7"/>
            <p:cNvGrpSpPr/>
            <p:nvPr/>
          </p:nvGrpSpPr>
          <p:grpSpPr>
            <a:xfrm>
              <a:off x="3672360" y="1818367"/>
              <a:ext cx="672522" cy="561592"/>
              <a:chOff x="5656078" y="2390367"/>
              <a:chExt cx="1001751" cy="836519"/>
            </a:xfrm>
            <a:solidFill>
              <a:schemeClr val="tx1"/>
            </a:solidFill>
          </p:grpSpPr>
          <p:sp>
            <p:nvSpPr>
              <p:cNvPr id="10" name="椭圆 9"/>
              <p:cNvSpPr/>
              <p:nvPr>
                <p:custDataLst>
                  <p:tags r:id="rId19"/>
                </p:custDataLst>
              </p:nvPr>
            </p:nvSpPr>
            <p:spPr>
              <a:xfrm flipH="1">
                <a:off x="5656078" y="2390367"/>
                <a:ext cx="1001751" cy="836519"/>
              </a:xfrm>
              <a:prstGeom prst="ellipse">
                <a:avLst/>
              </a:prstGeom>
              <a:solidFill>
                <a:srgbClr val="D10000"/>
              </a:solidFill>
              <a:ln w="25400" cap="flat" cmpd="sng" algn="ctr">
                <a:noFill/>
                <a:prstDash val="solid"/>
              </a:ln>
              <a:effectLst/>
            </p:spPr>
            <p:txBody>
              <a:bodyPr rtlCol="0" anchor="ctr"/>
              <a:p>
                <a:pPr algn="ctr" defTabSz="1218565">
                  <a:defRPr/>
                </a:pPr>
                <a:endParaRPr lang="zh-CN" altLang="en-US" sz="2665" b="1" kern="0">
                  <a:solidFill>
                    <a:srgbClr val="FFFFFF"/>
                  </a:solidFill>
                  <a:latin typeface="Arial" panose="020B0604020202020204"/>
                  <a:ea typeface="微软雅黑" panose="020B0503020204020204" charset="-122"/>
                  <a:sym typeface="Arial" panose="020B0604020202020204"/>
                </a:endParaRPr>
              </a:p>
            </p:txBody>
          </p:sp>
          <p:sp>
            <p:nvSpPr>
              <p:cNvPr id="11" name="TextBox 20"/>
              <p:cNvSpPr txBox="1"/>
              <p:nvPr>
                <p:custDataLst>
                  <p:tags r:id="rId20"/>
                </p:custDataLst>
              </p:nvPr>
            </p:nvSpPr>
            <p:spPr>
              <a:xfrm>
                <a:off x="5771571" y="2543814"/>
                <a:ext cx="725532" cy="573692"/>
              </a:xfrm>
              <a:prstGeom prst="rect">
                <a:avLst/>
              </a:prstGeom>
              <a:noFill/>
            </p:spPr>
            <p:txBody>
              <a:bodyPr wrap="square" lIns="0" tIns="0" rIns="0" bIns="0" rtlCol="0">
                <a:spAutoFit/>
              </a:bodyPr>
              <a:p>
                <a:pPr algn="ctr" defTabSz="1218565">
                  <a:defRPr/>
                </a:pPr>
                <a:r>
                  <a:rPr lang="en-US" altLang="zh-CN" sz="2400" kern="0" dirty="0">
                    <a:solidFill>
                      <a:srgbClr val="FFFFFF"/>
                    </a:solidFill>
                    <a:latin typeface="Arial" panose="020B0604020202020204"/>
                    <a:ea typeface="微软雅黑" panose="020B0503020204020204" charset="-122"/>
                    <a:sym typeface="Arial" panose="020B0604020202020204"/>
                  </a:rPr>
                  <a:t>03</a:t>
                </a:r>
                <a:endParaRPr lang="zh-CN" altLang="en-US" sz="2400" kern="0" dirty="0">
                  <a:solidFill>
                    <a:srgbClr val="FFFFFF"/>
                  </a:solidFill>
                  <a:latin typeface="Arial" panose="020B0604020202020204"/>
                  <a:ea typeface="微软雅黑" panose="020B0503020204020204" charset="-122"/>
                  <a:sym typeface="Arial" panose="020B0604020202020204"/>
                </a:endParaRPr>
              </a:p>
            </p:txBody>
          </p:sp>
        </p:grpSp>
        <p:sp>
          <p:nvSpPr>
            <p:cNvPr id="12" name="圆角矩形 4"/>
            <p:cNvSpPr/>
            <p:nvPr>
              <p:custDataLst>
                <p:tags r:id="rId21"/>
              </p:custDataLst>
            </p:nvPr>
          </p:nvSpPr>
          <p:spPr>
            <a:xfrm>
              <a:off x="4815625" y="1866759"/>
              <a:ext cx="8905384" cy="413649"/>
            </a:xfrm>
            <a:prstGeom prst="roundRect">
              <a:avLst>
                <a:gd name="adj" fmla="val 50000"/>
              </a:avLst>
            </a:prstGeom>
            <a:noFill/>
            <a:ln w="12700" cap="flat" cmpd="sng" algn="ctr">
              <a:noFill/>
              <a:prstDash val="solid"/>
            </a:ln>
            <a:effectLst/>
          </p:spPr>
          <p:txBody>
            <a:bodyPr rtlCol="0" anchor="ctr"/>
            <a:p>
              <a:pPr algn="l">
                <a:buClrTx/>
                <a:buSzTx/>
                <a:buFontTx/>
              </a:pPr>
              <a:r>
                <a:rPr lang="zh-CN" altLang="en-US" sz="2800" b="1" dirty="0">
                  <a:solidFill>
                    <a:srgbClr val="C00000"/>
                  </a:solidFill>
                  <a:latin typeface="楷体" panose="02010609060101010101" charset="-122"/>
                  <a:ea typeface="楷体" panose="02010609060101010101" charset="-122"/>
                </a:rPr>
                <a:t>党章历次</a:t>
              </a:r>
              <a:r>
                <a:rPr lang="zh-CN" altLang="en-US" sz="2800" b="1" dirty="0">
                  <a:solidFill>
                    <a:srgbClr val="C00000"/>
                  </a:solidFill>
                  <a:latin typeface="楷体" panose="02010609060101010101" charset="-122"/>
                  <a:ea typeface="楷体" panose="02010609060101010101" charset="-122"/>
                </a:rPr>
                <a:t>主要修订</a:t>
              </a:r>
              <a:endParaRPr lang="zh-CN" altLang="en-US" sz="2800" b="1" dirty="0">
                <a:solidFill>
                  <a:srgbClr val="C00000"/>
                </a:solidFill>
                <a:latin typeface="楷体" panose="02010609060101010101" charset="-122"/>
                <a:ea typeface="楷体" panose="02010609060101010101" charset="-122"/>
              </a:endParaRPr>
            </a:p>
          </p:txBody>
        </p:sp>
      </p:grpSp>
      <p:sp>
        <p:nvSpPr>
          <p:cNvPr id="13" name="任意多边形 8"/>
          <p:cNvSpPr/>
          <p:nvPr>
            <p:custDataLst>
              <p:tags r:id="rId22"/>
            </p:custDataLst>
          </p:nvPr>
        </p:nvSpPr>
        <p:spPr>
          <a:xfrm rot="18900000" flipH="1">
            <a:off x="5150769" y="3550851"/>
            <a:ext cx="262284" cy="222852"/>
          </a:xfrm>
          <a:custGeom>
            <a:avLst/>
            <a:gdLst>
              <a:gd name="connsiteX0" fmla="*/ 0 w 304899"/>
              <a:gd name="connsiteY0" fmla="*/ 0 h 304899"/>
              <a:gd name="connsiteX1" fmla="*/ 3059 w 304899"/>
              <a:gd name="connsiteY1" fmla="*/ 10322 h 304899"/>
              <a:gd name="connsiteX2" fmla="*/ 119391 w 304899"/>
              <a:gd name="connsiteY2" fmla="*/ 185508 h 304899"/>
              <a:gd name="connsiteX3" fmla="*/ 294577 w 304899"/>
              <a:gd name="connsiteY3" fmla="*/ 301840 h 304899"/>
              <a:gd name="connsiteX4" fmla="*/ 304899 w 304899"/>
              <a:gd name="connsiteY4" fmla="*/ 304899 h 304899"/>
              <a:gd name="connsiteX5" fmla="*/ 0 w 304899"/>
              <a:gd name="connsiteY5" fmla="*/ 304899 h 30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99" h="304899">
                <a:moveTo>
                  <a:pt x="0" y="0"/>
                </a:moveTo>
                <a:lnTo>
                  <a:pt x="3059" y="10322"/>
                </a:lnTo>
                <a:cubicBezTo>
                  <a:pt x="28910" y="74072"/>
                  <a:pt x="67688" y="133805"/>
                  <a:pt x="119391" y="185508"/>
                </a:cubicBezTo>
                <a:cubicBezTo>
                  <a:pt x="171094" y="237211"/>
                  <a:pt x="230827" y="275989"/>
                  <a:pt x="294577" y="301840"/>
                </a:cubicBezTo>
                <a:lnTo>
                  <a:pt x="304899" y="304899"/>
                </a:lnTo>
                <a:lnTo>
                  <a:pt x="0" y="304899"/>
                </a:lnTo>
                <a:close/>
              </a:path>
            </a:pathLst>
          </a:custGeom>
          <a:solidFill>
            <a:schemeClr val="tx1">
              <a:lumMod val="85000"/>
              <a:lumOff val="15000"/>
            </a:schemeClr>
          </a:solidFill>
          <a:ln w="25400" cap="flat" cmpd="sng" algn="ctr">
            <a:noFill/>
            <a:prstDash val="solid"/>
          </a:ln>
          <a:effectLst/>
        </p:spPr>
        <p:txBody>
          <a:bodyPr lIns="91440" tIns="45720" rIns="91440" bIns="45720" rtlCol="0" anchor="ctr"/>
          <a:p>
            <a:pPr algn="ctr" defTabSz="1218565">
              <a:defRPr/>
            </a:pPr>
            <a:endParaRPr lang="zh-CN" altLang="en-US" sz="2400" b="1" kern="0">
              <a:solidFill>
                <a:srgbClr val="FFFFFF"/>
              </a:solidFill>
              <a:latin typeface="Arial" panose="020B0604020202020204"/>
              <a:ea typeface="微软雅黑" panose="020B0503020204020204" charset="-122"/>
              <a:sym typeface="Arial" panose="020B0604020202020204"/>
            </a:endParaRPr>
          </a:p>
        </p:txBody>
      </p:sp>
      <p:pic>
        <p:nvPicPr>
          <p:cNvPr id="14" name="图片 13"/>
          <p:cNvPicPr/>
          <p:nvPr/>
        </p:nvPicPr>
        <p:blipFill>
          <a:blip r:embed="rId23"/>
          <a:srcRect/>
          <a:stretch>
            <a:fillRect/>
          </a:stretch>
        </p:blipFill>
        <p:spPr>
          <a:xfrm>
            <a:off x="11318875" y="0"/>
            <a:ext cx="720725" cy="906780"/>
          </a:xfrm>
          <a:prstGeom prst="rect">
            <a:avLst/>
          </a:prstGeom>
          <a:noFill/>
          <a:ln w="9525">
            <a:noFill/>
          </a:ln>
        </p:spPr>
      </p:pic>
    </p:spTree>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 name="Freeform 5"/>
          <p:cNvSpPr/>
          <p:nvPr/>
        </p:nvSpPr>
        <p:spPr bwMode="auto">
          <a:xfrm>
            <a:off x="3737123" y="1758270"/>
            <a:ext cx="1008112" cy="1011496"/>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cxnSp>
        <p:nvCxnSpPr>
          <p:cNvPr id="102" name="直接连接符 101"/>
          <p:cNvCxnSpPr/>
          <p:nvPr/>
        </p:nvCxnSpPr>
        <p:spPr bwMode="auto">
          <a:xfrm>
            <a:off x="5231904" y="2799898"/>
            <a:ext cx="3761803" cy="0"/>
          </a:xfrm>
          <a:prstGeom prst="line">
            <a:avLst/>
          </a:prstGeom>
          <a:solidFill>
            <a:schemeClr val="accent1"/>
          </a:solidFill>
          <a:ln w="9525" cap="flat" cmpd="sng" algn="ctr">
            <a:solidFill>
              <a:srgbClr val="D1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Box 9"/>
          <p:cNvSpPr txBox="1"/>
          <p:nvPr/>
        </p:nvSpPr>
        <p:spPr>
          <a:xfrm>
            <a:off x="5231904" y="1793890"/>
            <a:ext cx="3185740" cy="920750"/>
          </a:xfrm>
          <a:prstGeom prst="rect">
            <a:avLst/>
          </a:prstGeom>
          <a:noFill/>
        </p:spPr>
        <p:txBody>
          <a:bodyPr wrap="square" lIns="91388" tIns="45693" rIns="91388" bIns="45693" rtlCol="0">
            <a:spAutoFit/>
          </a:bodyPr>
          <a:lstStyle/>
          <a:p>
            <a:pPr>
              <a:defRPr/>
            </a:pPr>
            <a:r>
              <a:rPr lang="zh-CN" altLang="en-US" sz="5400" b="1" dirty="0">
                <a:solidFill>
                  <a:srgbClr val="C00000"/>
                </a:solidFill>
                <a:latin typeface="Arial" panose="020B0604020202020204"/>
                <a:ea typeface="微软雅黑" panose="020B0503020204020204" charset="-122"/>
                <a:cs typeface="+mn-ea"/>
                <a:sym typeface="Arial" panose="020B0604020202020204"/>
              </a:rPr>
              <a:t>第一章</a:t>
            </a:r>
            <a:endParaRPr lang="zh-CN" altLang="en-US" sz="5400" b="1" dirty="0">
              <a:solidFill>
                <a:srgbClr val="C00000"/>
              </a:solidFill>
              <a:latin typeface="Arial" panose="020B0604020202020204"/>
              <a:ea typeface="微软雅黑" panose="020B0503020204020204" charset="-122"/>
              <a:cs typeface="+mn-ea"/>
              <a:sym typeface="Arial" panose="020B0604020202020204"/>
            </a:endParaRPr>
          </a:p>
        </p:txBody>
      </p:sp>
      <p:sp>
        <p:nvSpPr>
          <p:cNvPr id="105" name="TextBox 9"/>
          <p:cNvSpPr txBox="1"/>
          <p:nvPr/>
        </p:nvSpPr>
        <p:spPr>
          <a:xfrm>
            <a:off x="-1905" y="3137535"/>
            <a:ext cx="12193270" cy="767080"/>
          </a:xfrm>
          <a:prstGeom prst="rect">
            <a:avLst/>
          </a:prstGeom>
          <a:noFill/>
        </p:spPr>
        <p:txBody>
          <a:bodyPr wrap="square" lIns="91388" tIns="45693" rIns="91388" bIns="45693" rtlCol="0">
            <a:spAutoFit/>
          </a:bodyPr>
          <a:lstStyle/>
          <a:p>
            <a:pPr algn="ctr">
              <a:buClrTx/>
              <a:buSzTx/>
              <a:buFontTx/>
            </a:pPr>
            <a:r>
              <a:rPr lang="en-US" altLang="zh-CN" sz="4400" b="1" dirty="0">
                <a:solidFill>
                  <a:srgbClr val="C00000"/>
                </a:solidFill>
                <a:latin typeface="楷体" panose="02010609060101010101" charset="-122"/>
                <a:ea typeface="楷体" panose="02010609060101010101" charset="-122"/>
                <a:sym typeface="+mn-ea"/>
              </a:rPr>
              <a:t>  </a:t>
            </a:r>
            <a:r>
              <a:rPr lang="zh-CN" altLang="en-US" sz="4400" b="1" dirty="0">
                <a:solidFill>
                  <a:srgbClr val="C00000"/>
                </a:solidFill>
                <a:latin typeface="微软雅黑" panose="020B0503020204020204" charset="-122"/>
                <a:ea typeface="微软雅黑" panose="020B0503020204020204" charset="-122"/>
                <a:sym typeface="+mn-ea"/>
              </a:rPr>
              <a:t>为什么从党章看理论体系？</a:t>
            </a:r>
            <a:endParaRPr lang="zh-CN" altLang="en-US" sz="4400" b="1" dirty="0">
              <a:solidFill>
                <a:srgbClr val="C00000"/>
              </a:solidFill>
              <a:latin typeface="微软雅黑" panose="020B0503020204020204" charset="-122"/>
              <a:ea typeface="微软雅黑" panose="020B0503020204020204" charset="-122"/>
              <a:sym typeface="+mn-ea"/>
            </a:endParaRPr>
          </a:p>
        </p:txBody>
      </p:sp>
      <p:pic>
        <p:nvPicPr>
          <p:cNvPr id="2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95420"/>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1000" fill="hold"/>
                                        <p:tgtEl>
                                          <p:spTgt spid="101"/>
                                        </p:tgtEl>
                                        <p:attrNameLst>
                                          <p:attrName>ppt_w</p:attrName>
                                        </p:attrNameLst>
                                      </p:cBhvr>
                                      <p:tavLst>
                                        <p:tav tm="0">
                                          <p:val>
                                            <p:fltVal val="0"/>
                                          </p:val>
                                        </p:tav>
                                        <p:tav tm="100000">
                                          <p:val>
                                            <p:strVal val="#ppt_w"/>
                                          </p:val>
                                        </p:tav>
                                      </p:tavLst>
                                    </p:anim>
                                    <p:anim calcmode="lin" valueType="num">
                                      <p:cBhvr>
                                        <p:cTn id="8" dur="1000" fill="hold"/>
                                        <p:tgtEl>
                                          <p:spTgt spid="101"/>
                                        </p:tgtEl>
                                        <p:attrNameLst>
                                          <p:attrName>ppt_h</p:attrName>
                                        </p:attrNameLst>
                                      </p:cBhvr>
                                      <p:tavLst>
                                        <p:tav tm="0">
                                          <p:val>
                                            <p:fltVal val="0"/>
                                          </p:val>
                                        </p:tav>
                                        <p:tav tm="100000">
                                          <p:val>
                                            <p:strVal val="#ppt_h"/>
                                          </p:val>
                                        </p:tav>
                                      </p:tavLst>
                                    </p:anim>
                                    <p:animEffect transition="in" filter="fade">
                                      <p:cBhvr>
                                        <p:cTn id="9" dur="1000"/>
                                        <p:tgtEl>
                                          <p:spTgt spid="101"/>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barn(inVertical)">
                                      <p:cBhvr>
                                        <p:cTn id="13" dur="500"/>
                                        <p:tgtEl>
                                          <p:spTgt spid="102"/>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4"/>
                                        </p:tgtEl>
                                        <p:attrNameLst>
                                          <p:attrName>style.visibility</p:attrName>
                                        </p:attrNameLst>
                                      </p:cBhvr>
                                      <p:to>
                                        <p:strVal val="visible"/>
                                      </p:to>
                                    </p:set>
                                    <p:anim calcmode="lin" valueType="num">
                                      <p:cBhvr>
                                        <p:cTn id="17" dur="500" fill="hold"/>
                                        <p:tgtEl>
                                          <p:spTgt spid="10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4"/>
                                        </p:tgtEl>
                                        <p:attrNameLst>
                                          <p:attrName>ppt_y</p:attrName>
                                        </p:attrNameLst>
                                      </p:cBhvr>
                                      <p:tavLst>
                                        <p:tav tm="0">
                                          <p:val>
                                            <p:strVal val="#ppt_y"/>
                                          </p:val>
                                        </p:tav>
                                        <p:tav tm="100000">
                                          <p:val>
                                            <p:strVal val="#ppt_y"/>
                                          </p:val>
                                        </p:tav>
                                      </p:tavLst>
                                    </p:anim>
                                    <p:anim calcmode="lin" valueType="num">
                                      <p:cBhvr>
                                        <p:cTn id="19" dur="500" fill="hold"/>
                                        <p:tgtEl>
                                          <p:spTgt spid="10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4"/>
                                        </p:tgtEl>
                                      </p:cBhvr>
                                    </p:animEffect>
                                  </p:childTnLst>
                                </p:cTn>
                              </p:par>
                            </p:childTnLst>
                          </p:cTn>
                        </p:par>
                        <p:par>
                          <p:cTn id="22" fill="hold">
                            <p:stCondLst>
                              <p:cond delay="2099"/>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05"/>
                                        </p:tgtEl>
                                        <p:attrNameLst>
                                          <p:attrName>style.visibility</p:attrName>
                                        </p:attrNameLst>
                                      </p:cBhvr>
                                      <p:to>
                                        <p:strVal val="visible"/>
                                      </p:to>
                                    </p:set>
                                    <p:anim calcmode="lin" valueType="num">
                                      <p:cBhvr>
                                        <p:cTn id="25" dur="500" fill="hold"/>
                                        <p:tgtEl>
                                          <p:spTgt spid="10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05"/>
                                        </p:tgtEl>
                                        <p:attrNameLst>
                                          <p:attrName>ppt_y</p:attrName>
                                        </p:attrNameLst>
                                      </p:cBhvr>
                                      <p:tavLst>
                                        <p:tav tm="0">
                                          <p:val>
                                            <p:strVal val="#ppt_y"/>
                                          </p:val>
                                        </p:tav>
                                        <p:tav tm="100000">
                                          <p:val>
                                            <p:strVal val="#ppt_y"/>
                                          </p:val>
                                        </p:tav>
                                      </p:tavLst>
                                    </p:anim>
                                    <p:anim calcmode="lin" valueType="num">
                                      <p:cBhvr>
                                        <p:cTn id="27" dur="500" fill="hold"/>
                                        <p:tgtEl>
                                          <p:spTgt spid="10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0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4" grpId="0"/>
      <p:bldP spid="10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287145" y="2444115"/>
            <a:ext cx="9557385" cy="3735070"/>
          </a:xfrm>
          <a:prstGeom prst="rect">
            <a:avLst/>
          </a:prstGeom>
          <a:solidFill>
            <a:schemeClr val="bg1">
              <a:alpha val="2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a:ea typeface="微软雅黑" panose="020B0503020204020204" charset="-122"/>
              <a:sym typeface="Arial" panose="020B0604020202020204"/>
            </a:endParaRPr>
          </a:p>
        </p:txBody>
      </p:sp>
      <p:sp>
        <p:nvSpPr>
          <p:cNvPr id="6" name="TextBox 4"/>
          <p:cNvSpPr txBox="1"/>
          <p:nvPr/>
        </p:nvSpPr>
        <p:spPr>
          <a:xfrm>
            <a:off x="1731710" y="281512"/>
            <a:ext cx="3840480" cy="460375"/>
          </a:xfrm>
          <a:prstGeom prst="rect">
            <a:avLst/>
          </a:prstGeom>
          <a:noFill/>
        </p:spPr>
        <p:txBody>
          <a:bodyPr wrap="none" lIns="91440" tIns="45720" rIns="91440" bIns="45720" rtlCol="0">
            <a:spAutoFit/>
          </a:bodyPr>
          <a:lstStyle/>
          <a:p>
            <a:pPr algn="ctr">
              <a:buClrTx/>
              <a:buSzTx/>
              <a:buFontTx/>
            </a:pPr>
            <a:r>
              <a:rPr lang="zh-CN" altLang="en-US" sz="2400" b="1" dirty="0">
                <a:solidFill>
                  <a:schemeClr val="bg1"/>
                </a:solidFill>
                <a:latin typeface="微软雅黑" panose="020B0503020204020204" charset="-122"/>
                <a:ea typeface="微软雅黑" panose="020B0503020204020204" charset="-122"/>
                <a:sym typeface="+mn-ea"/>
              </a:rPr>
              <a:t>为什么从党章看理论体系？</a:t>
            </a:r>
            <a:endParaRPr lang="zh-CN" altLang="en-US" sz="2400" b="1" dirty="0">
              <a:solidFill>
                <a:schemeClr val="bg1"/>
              </a:solidFill>
              <a:latin typeface="微软雅黑" panose="020B0503020204020204" charset="-122"/>
              <a:ea typeface="微软雅黑" panose="020B0503020204020204" charset="-122"/>
            </a:endParaRPr>
          </a:p>
        </p:txBody>
      </p:sp>
      <p:grpSp>
        <p:nvGrpSpPr>
          <p:cNvPr id="7" name="组合 6"/>
          <p:cNvGrpSpPr/>
          <p:nvPr/>
        </p:nvGrpSpPr>
        <p:grpSpPr>
          <a:xfrm>
            <a:off x="3169888" y="1266469"/>
            <a:ext cx="5263516" cy="1424940"/>
            <a:chOff x="1187624" y="810840"/>
            <a:chExt cx="3312966" cy="896887"/>
          </a:xfrm>
        </p:grpSpPr>
        <p:pic>
          <p:nvPicPr>
            <p:cNvPr id="8" name="图片 7"/>
            <p:cNvPicPr>
              <a:picLocks noChangeAspect="1"/>
            </p:cNvPicPr>
            <p:nvPr/>
          </p:nvPicPr>
          <p:blipFill>
            <a:blip r:embed="rId1" cstate="screen">
              <a:extLst>
                <a:ext uri="{28A0092B-C50C-407E-A947-70E740481C1C}">
                  <a14:useLocalDpi xmlns:a14="http://schemas.microsoft.com/office/drawing/2010/main" val="0"/>
                </a:ext>
              </a:extLst>
            </a:blip>
            <a:stretch>
              <a:fillRect/>
            </a:stretch>
          </p:blipFill>
          <p:spPr>
            <a:xfrm>
              <a:off x="1187624" y="810840"/>
              <a:ext cx="3312966" cy="896887"/>
            </a:xfrm>
            <a:prstGeom prst="rect">
              <a:avLst/>
            </a:prstGeom>
          </p:spPr>
        </p:pic>
        <p:sp>
          <p:nvSpPr>
            <p:cNvPr id="9" name="矩形 8"/>
            <p:cNvSpPr/>
            <p:nvPr/>
          </p:nvSpPr>
          <p:spPr>
            <a:xfrm>
              <a:off x="2025357" y="1237701"/>
              <a:ext cx="1637898" cy="328539"/>
            </a:xfrm>
            <a:prstGeom prst="rect">
              <a:avLst/>
            </a:prstGeom>
            <a:noFill/>
          </p:spPr>
          <p:txBody>
            <a:bodyPr wrap="square">
              <a:spAutoFit/>
            </a:bodyPr>
            <a:lstStyle/>
            <a:p>
              <a:pPr algn="ctr"/>
              <a:r>
                <a:rPr lang="zh-CN" altLang="en-US" sz="2800" b="1" dirty="0">
                  <a:solidFill>
                    <a:schemeClr val="bg1"/>
                  </a:solidFill>
                  <a:latin typeface="楷体" panose="02010609060101010101" charset="-122"/>
                  <a:ea typeface="楷体" panose="02010609060101010101" charset="-122"/>
                </a:rPr>
                <a:t>什么是党章？</a:t>
              </a:r>
              <a:endParaRPr lang="zh-CN" altLang="en-US" sz="2800" b="1" dirty="0">
                <a:solidFill>
                  <a:schemeClr val="bg1"/>
                </a:solidFill>
                <a:latin typeface="楷体" panose="02010609060101010101" charset="-122"/>
                <a:ea typeface="楷体" panose="02010609060101010101" charset="-122"/>
              </a:endParaRPr>
            </a:p>
          </p:txBody>
        </p:sp>
      </p:grpSp>
      <p:sp>
        <p:nvSpPr>
          <p:cNvPr id="11" name="文本框 3"/>
          <p:cNvSpPr txBox="1"/>
          <p:nvPr/>
        </p:nvSpPr>
        <p:spPr>
          <a:xfrm>
            <a:off x="1731645" y="2690495"/>
            <a:ext cx="9693275" cy="3380740"/>
          </a:xfrm>
          <a:prstGeom prst="rect">
            <a:avLst/>
          </a:prstGeom>
          <a:noFill/>
        </p:spPr>
        <p:txBody>
          <a:bodyPr wrap="square" rtlCol="0">
            <a:noAutofit/>
          </a:bodyPr>
          <a:lstStyle/>
          <a:p>
            <a:pPr indent="457200" algn="just">
              <a:lnSpc>
                <a:spcPct val="200000"/>
              </a:lnSpc>
            </a:pP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《中国共产党章程》</a:t>
            </a:r>
            <a:endParaRPr lang="en-US" altLang="zh-CN" sz="2000" b="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457200" algn="just">
              <a:lnSpc>
                <a:spcPct val="200000"/>
              </a:lnSpc>
            </a:pP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党章是党的根本大法，是全党必须遵循的总规矩</a:t>
            </a:r>
            <a:endPar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457200" algn="just">
              <a:lnSpc>
                <a:spcPct val="200000"/>
              </a:lnSpc>
            </a:pP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党章集中体现党的理论创新成果、路线方针政策</a:t>
            </a:r>
            <a:endPar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457200" algn="just">
              <a:lnSpc>
                <a:spcPct val="200000"/>
              </a:lnSpc>
            </a:pP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每一次党章修订都与党的历史任务变迁密切相关</a:t>
            </a:r>
            <a:endPar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457200" algn="just">
              <a:lnSpc>
                <a:spcPct val="200000"/>
              </a:lnSpc>
            </a:pP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党章的变化，是观察中国特色社会主义理论体系生成与发展的</a:t>
            </a: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r>
              <a:rPr lang="zh-CN" altLang="en-US" sz="2000" dirty="0">
                <a:solidFill>
                  <a:schemeClr val="tx1"/>
                </a:solidFill>
                <a:latin typeface="宋体" panose="02010600030101010101" pitchFamily="2" charset="-122"/>
                <a:ea typeface="宋体" panose="02010600030101010101" pitchFamily="2" charset="-122"/>
                <a:cs typeface="宋体" panose="02010600030101010101" pitchFamily="2" charset="-122"/>
              </a:rPr>
              <a:t>窗口</a:t>
            </a:r>
            <a:r>
              <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rPr>
              <a:t>”</a:t>
            </a:r>
            <a:endParaRPr lang="en-US" altLang="zh-CN" sz="20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5717219" y="281512"/>
            <a:ext cx="2317072" cy="338554"/>
          </a:xfrm>
          <a:prstGeom prst="rect">
            <a:avLst/>
          </a:prstGeom>
          <a:noFill/>
        </p:spPr>
        <p:txBody>
          <a:bodyPr wrap="square" rtlCol="0">
            <a:spAutoFit/>
          </a:bodyPr>
          <a:lstStyle/>
          <a:p>
            <a:r>
              <a:rPr lang="en-US" altLang="zh-CN" sz="1600" dirty="0">
                <a:solidFill>
                  <a:srgbClr val="D10000"/>
                </a:solidFill>
              </a:rPr>
              <a:t>https://www.ypppt.com/</a:t>
            </a:r>
            <a:endParaRPr lang="zh-CN" altLang="en-US" sz="1600" dirty="0">
              <a:solidFill>
                <a:srgbClr val="D10000"/>
              </a:solidFill>
            </a:endParaRPr>
          </a:p>
        </p:txBody>
      </p:sp>
      <p:pic>
        <p:nvPicPr>
          <p:cNvPr id="14" name="图片 13"/>
          <p:cNvPicPr/>
          <p:nvPr/>
        </p:nvPicPr>
        <p:blipFill>
          <a:blip r:embed="rId2"/>
          <a:srcRect/>
          <a:stretch>
            <a:fillRect/>
          </a:stretch>
        </p:blipFill>
        <p:spPr>
          <a:xfrm>
            <a:off x="462915" y="5795645"/>
            <a:ext cx="720725" cy="906780"/>
          </a:xfrm>
          <a:prstGeom prst="rect">
            <a:avLst/>
          </a:prstGeom>
          <a:noFill/>
          <a:ln w="9525">
            <a:noFill/>
          </a:ln>
        </p:spPr>
      </p:pic>
    </p:spTree>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 name="Freeform 5"/>
          <p:cNvSpPr/>
          <p:nvPr/>
        </p:nvSpPr>
        <p:spPr bwMode="auto">
          <a:xfrm>
            <a:off x="3719736" y="1734260"/>
            <a:ext cx="1008112" cy="1011496"/>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cxnSp>
        <p:nvCxnSpPr>
          <p:cNvPr id="102" name="直接连接符 101"/>
          <p:cNvCxnSpPr/>
          <p:nvPr/>
        </p:nvCxnSpPr>
        <p:spPr bwMode="auto">
          <a:xfrm>
            <a:off x="5214517" y="2775888"/>
            <a:ext cx="3761803" cy="0"/>
          </a:xfrm>
          <a:prstGeom prst="line">
            <a:avLst/>
          </a:prstGeom>
          <a:solidFill>
            <a:schemeClr val="accent1"/>
          </a:solidFill>
          <a:ln w="9525" cap="flat" cmpd="sng" algn="ctr">
            <a:solidFill>
              <a:srgbClr val="D1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Box 9"/>
          <p:cNvSpPr txBox="1"/>
          <p:nvPr/>
        </p:nvSpPr>
        <p:spPr>
          <a:xfrm>
            <a:off x="5214517" y="1769880"/>
            <a:ext cx="3185740" cy="920750"/>
          </a:xfrm>
          <a:prstGeom prst="rect">
            <a:avLst/>
          </a:prstGeom>
          <a:noFill/>
        </p:spPr>
        <p:txBody>
          <a:bodyPr wrap="square" lIns="91388" tIns="45693" rIns="91388" bIns="45693" rtlCol="0">
            <a:spAutoFit/>
          </a:bodyPr>
          <a:lstStyle/>
          <a:p>
            <a:pPr>
              <a:defRPr/>
            </a:pPr>
            <a:r>
              <a:rPr lang="zh-CN" altLang="en-US" sz="5400" b="1" dirty="0">
                <a:solidFill>
                  <a:srgbClr val="C00000"/>
                </a:solidFill>
                <a:latin typeface="Arial" panose="020B0604020202020204"/>
                <a:ea typeface="微软雅黑" panose="020B0503020204020204" charset="-122"/>
                <a:cs typeface="+mn-ea"/>
                <a:sym typeface="Arial" panose="020B0604020202020204"/>
              </a:rPr>
              <a:t>第二章</a:t>
            </a:r>
            <a:endParaRPr lang="zh-CN" altLang="en-US" sz="5400" b="1" dirty="0">
              <a:solidFill>
                <a:srgbClr val="C00000"/>
              </a:solidFill>
              <a:latin typeface="Arial" panose="020B0604020202020204"/>
              <a:ea typeface="微软雅黑" panose="020B0503020204020204" charset="-122"/>
              <a:cs typeface="+mn-ea"/>
              <a:sym typeface="Arial" panose="020B0604020202020204"/>
            </a:endParaRPr>
          </a:p>
        </p:txBody>
      </p:sp>
      <p:sp>
        <p:nvSpPr>
          <p:cNvPr id="105" name="TextBox 9"/>
          <p:cNvSpPr txBox="1"/>
          <p:nvPr/>
        </p:nvSpPr>
        <p:spPr>
          <a:xfrm>
            <a:off x="-1905" y="3208020"/>
            <a:ext cx="12193905" cy="767080"/>
          </a:xfrm>
          <a:prstGeom prst="rect">
            <a:avLst/>
          </a:prstGeom>
          <a:noFill/>
        </p:spPr>
        <p:txBody>
          <a:bodyPr wrap="square" lIns="91388" tIns="45693" rIns="91388" bIns="45693" rtlCol="0">
            <a:spAutoFit/>
          </a:bodyPr>
          <a:lstStyle/>
          <a:p>
            <a:pPr algn="ctr"/>
            <a:r>
              <a:rPr lang="zh-CN" altLang="en-US" sz="4400" b="1" dirty="0">
                <a:solidFill>
                  <a:srgbClr val="C00000"/>
                </a:solidFill>
                <a:latin typeface="微软雅黑" panose="020B0503020204020204" charset="-122"/>
                <a:ea typeface="微软雅黑" panose="020B0503020204020204" charset="-122"/>
                <a:sym typeface="+mn-ea"/>
              </a:rPr>
              <a:t>党章的起源与性质功能</a:t>
            </a:r>
            <a:endParaRPr lang="zh-CN" altLang="en-US" sz="4400" b="1" dirty="0">
              <a:solidFill>
                <a:srgbClr val="C00000"/>
              </a:solidFill>
              <a:latin typeface="微软雅黑" panose="020B0503020204020204" charset="-122"/>
              <a:ea typeface="微软雅黑" panose="020B0503020204020204" charset="-122"/>
              <a:sym typeface="+mn-ea"/>
            </a:endParaRPr>
          </a:p>
        </p:txBody>
      </p:sp>
      <p:pic>
        <p:nvPicPr>
          <p:cNvPr id="2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95420"/>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1000" fill="hold"/>
                                        <p:tgtEl>
                                          <p:spTgt spid="101"/>
                                        </p:tgtEl>
                                        <p:attrNameLst>
                                          <p:attrName>ppt_w</p:attrName>
                                        </p:attrNameLst>
                                      </p:cBhvr>
                                      <p:tavLst>
                                        <p:tav tm="0">
                                          <p:val>
                                            <p:fltVal val="0"/>
                                          </p:val>
                                        </p:tav>
                                        <p:tav tm="100000">
                                          <p:val>
                                            <p:strVal val="#ppt_w"/>
                                          </p:val>
                                        </p:tav>
                                      </p:tavLst>
                                    </p:anim>
                                    <p:anim calcmode="lin" valueType="num">
                                      <p:cBhvr>
                                        <p:cTn id="8" dur="1000" fill="hold"/>
                                        <p:tgtEl>
                                          <p:spTgt spid="101"/>
                                        </p:tgtEl>
                                        <p:attrNameLst>
                                          <p:attrName>ppt_h</p:attrName>
                                        </p:attrNameLst>
                                      </p:cBhvr>
                                      <p:tavLst>
                                        <p:tav tm="0">
                                          <p:val>
                                            <p:fltVal val="0"/>
                                          </p:val>
                                        </p:tav>
                                        <p:tav tm="100000">
                                          <p:val>
                                            <p:strVal val="#ppt_h"/>
                                          </p:val>
                                        </p:tav>
                                      </p:tavLst>
                                    </p:anim>
                                    <p:animEffect transition="in" filter="fade">
                                      <p:cBhvr>
                                        <p:cTn id="9" dur="1000"/>
                                        <p:tgtEl>
                                          <p:spTgt spid="101"/>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barn(inVertical)">
                                      <p:cBhvr>
                                        <p:cTn id="13" dur="500"/>
                                        <p:tgtEl>
                                          <p:spTgt spid="102"/>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4"/>
                                        </p:tgtEl>
                                        <p:attrNameLst>
                                          <p:attrName>style.visibility</p:attrName>
                                        </p:attrNameLst>
                                      </p:cBhvr>
                                      <p:to>
                                        <p:strVal val="visible"/>
                                      </p:to>
                                    </p:set>
                                    <p:anim calcmode="lin" valueType="num">
                                      <p:cBhvr>
                                        <p:cTn id="17" dur="500" fill="hold"/>
                                        <p:tgtEl>
                                          <p:spTgt spid="10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4"/>
                                        </p:tgtEl>
                                        <p:attrNameLst>
                                          <p:attrName>ppt_y</p:attrName>
                                        </p:attrNameLst>
                                      </p:cBhvr>
                                      <p:tavLst>
                                        <p:tav tm="0">
                                          <p:val>
                                            <p:strVal val="#ppt_y"/>
                                          </p:val>
                                        </p:tav>
                                        <p:tav tm="100000">
                                          <p:val>
                                            <p:strVal val="#ppt_y"/>
                                          </p:val>
                                        </p:tav>
                                      </p:tavLst>
                                    </p:anim>
                                    <p:anim calcmode="lin" valueType="num">
                                      <p:cBhvr>
                                        <p:cTn id="19" dur="500" fill="hold"/>
                                        <p:tgtEl>
                                          <p:spTgt spid="10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4"/>
                                        </p:tgtEl>
                                      </p:cBhvr>
                                    </p:animEffect>
                                  </p:childTnLst>
                                </p:cTn>
                              </p:par>
                            </p:childTnLst>
                          </p:cTn>
                        </p:par>
                        <p:par>
                          <p:cTn id="22" fill="hold">
                            <p:stCondLst>
                              <p:cond delay="2099"/>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05"/>
                                        </p:tgtEl>
                                        <p:attrNameLst>
                                          <p:attrName>style.visibility</p:attrName>
                                        </p:attrNameLst>
                                      </p:cBhvr>
                                      <p:to>
                                        <p:strVal val="visible"/>
                                      </p:to>
                                    </p:set>
                                    <p:anim calcmode="lin" valueType="num">
                                      <p:cBhvr>
                                        <p:cTn id="25" dur="500" fill="hold"/>
                                        <p:tgtEl>
                                          <p:spTgt spid="10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05"/>
                                        </p:tgtEl>
                                        <p:attrNameLst>
                                          <p:attrName>ppt_y</p:attrName>
                                        </p:attrNameLst>
                                      </p:cBhvr>
                                      <p:tavLst>
                                        <p:tav tm="0">
                                          <p:val>
                                            <p:strVal val="#ppt_y"/>
                                          </p:val>
                                        </p:tav>
                                        <p:tav tm="100000">
                                          <p:val>
                                            <p:strVal val="#ppt_y"/>
                                          </p:val>
                                        </p:tav>
                                      </p:tavLst>
                                    </p:anim>
                                    <p:anim calcmode="lin" valueType="num">
                                      <p:cBhvr>
                                        <p:cTn id="27" dur="500" fill="hold"/>
                                        <p:tgtEl>
                                          <p:spTgt spid="10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0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4" grpId="0"/>
      <p:bldP spid="10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
          <p:cNvSpPr txBox="1"/>
          <p:nvPr/>
        </p:nvSpPr>
        <p:spPr>
          <a:xfrm>
            <a:off x="1349151" y="270498"/>
            <a:ext cx="3840480" cy="460375"/>
          </a:xfrm>
          <a:prstGeom prst="rect">
            <a:avLst/>
          </a:prstGeom>
          <a:noFill/>
        </p:spPr>
        <p:txBody>
          <a:bodyPr wrap="none" lIns="91440" tIns="45720" rIns="91440" bIns="45720" rtlCol="0">
            <a:spAutoFit/>
          </a:bodyPr>
          <a:lstStyle/>
          <a:p>
            <a:pPr algn="ctr">
              <a:buClrTx/>
              <a:buSzTx/>
              <a:buFontTx/>
            </a:pPr>
            <a:r>
              <a:rPr lang="zh-CN" altLang="en-US" sz="2400" b="1" dirty="0">
                <a:solidFill>
                  <a:schemeClr val="bg1"/>
                </a:solidFill>
                <a:latin typeface="微软雅黑" panose="020B0503020204020204" charset="-122"/>
                <a:ea typeface="微软雅黑" panose="020B0503020204020204" charset="-122"/>
                <a:sym typeface="+mn-ea"/>
              </a:rPr>
              <a:t>党章的起源：</a:t>
            </a:r>
            <a:r>
              <a:rPr lang="zh-CN" altLang="en-US" sz="2400" b="1" dirty="0">
                <a:solidFill>
                  <a:schemeClr val="bg1"/>
                </a:solidFill>
                <a:latin typeface="微软雅黑" panose="020B0503020204020204" charset="-122"/>
                <a:ea typeface="微软雅黑" panose="020B0503020204020204" charset="-122"/>
              </a:rPr>
              <a:t>从纲领到章程</a:t>
            </a:r>
            <a:endParaRPr lang="zh-CN" altLang="en-US" sz="2400" b="1" dirty="0">
              <a:solidFill>
                <a:schemeClr val="bg1"/>
              </a:solidFill>
              <a:latin typeface="微软雅黑" panose="020B0503020204020204" charset="-122"/>
              <a:ea typeface="微软雅黑" panose="020B0503020204020204" charset="-122"/>
            </a:endParaRPr>
          </a:p>
        </p:txBody>
      </p:sp>
      <p:sp>
        <p:nvSpPr>
          <p:cNvPr id="7" name="矩形: 圆角 6"/>
          <p:cNvSpPr/>
          <p:nvPr/>
        </p:nvSpPr>
        <p:spPr bwMode="auto">
          <a:xfrm>
            <a:off x="1038225" y="2104390"/>
            <a:ext cx="9801225" cy="3986530"/>
          </a:xfrm>
          <a:prstGeom prst="roundRect">
            <a:avLst/>
          </a:prstGeom>
          <a:noFill/>
          <a:ln w="38100" cap="flat" cmpd="sng" algn="ctr">
            <a:solidFill>
              <a:srgbClr val="C00000"/>
            </a:solidFill>
            <a:prstDash val="lgDashDot"/>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9" name="矩形 8"/>
          <p:cNvSpPr/>
          <p:nvPr/>
        </p:nvSpPr>
        <p:spPr>
          <a:xfrm>
            <a:off x="1262433" y="2390347"/>
            <a:ext cx="9217024" cy="3415030"/>
          </a:xfrm>
          <a:prstGeom prst="rect">
            <a:avLst/>
          </a:prstGeom>
          <a:noFill/>
        </p:spPr>
        <p:txBody>
          <a:bodyPr wrap="square">
            <a:spAutoFit/>
          </a:bodyPr>
          <a:lstStyle/>
          <a:p>
            <a:pPr indent="457200" algn="l" fontAlgn="auto">
              <a:lnSpc>
                <a:spcPct val="150000"/>
              </a:lnSpc>
              <a:buClrTx/>
              <a:buSzTx/>
              <a:buFontTx/>
            </a:pPr>
            <a:r>
              <a:rPr lang="en-US" altLang="zh-CN" dirty="0">
                <a:latin typeface="楷体" panose="02010609060101010101" charset="-122"/>
                <a:ea typeface="楷体" panose="02010609060101010101" charset="-122"/>
                <a:cs typeface="楷体" panose="02010609060101010101" charset="-122"/>
              </a:rPr>
              <a:t>1921</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7</a:t>
            </a:r>
            <a:r>
              <a:rPr lang="zh-CN" altLang="en-US" dirty="0">
                <a:latin typeface="楷体" panose="02010609060101010101" charset="-122"/>
                <a:ea typeface="楷体" panose="02010609060101010101" charset="-122"/>
                <a:cs typeface="楷体" panose="02010609060101010101" charset="-122"/>
              </a:rPr>
              <a:t>月在上海召开的中国共产党</a:t>
            </a:r>
            <a:r>
              <a:rPr lang="zh-CN" altLang="en-US" dirty="0">
                <a:solidFill>
                  <a:srgbClr val="A71D24"/>
                </a:solidFill>
                <a:latin typeface="楷体" panose="02010609060101010101" charset="-122"/>
                <a:ea typeface="楷体" panose="02010609060101010101" charset="-122"/>
                <a:cs typeface="楷体" panose="02010609060101010101" charset="-122"/>
              </a:rPr>
              <a:t>第一次全国代表大会</a:t>
            </a:r>
            <a:r>
              <a:rPr lang="zh-CN" altLang="en-US" dirty="0">
                <a:latin typeface="楷体" panose="02010609060101010101" charset="-122"/>
                <a:ea typeface="楷体" panose="02010609060101010101" charset="-122"/>
                <a:cs typeface="楷体" panose="02010609060101010101" charset="-122"/>
              </a:rPr>
              <a:t>，讨论和通过了</a:t>
            </a:r>
            <a:r>
              <a:rPr lang="zh-CN" altLang="en-US" dirty="0">
                <a:solidFill>
                  <a:srgbClr val="A71D24"/>
                </a:solidFill>
                <a:latin typeface="楷体" panose="02010609060101010101" charset="-122"/>
                <a:ea typeface="楷体" panose="02010609060101010101" charset="-122"/>
                <a:cs typeface="楷体" panose="02010609060101010101" charset="-122"/>
              </a:rPr>
              <a:t>《中国共产党纲领》</a:t>
            </a:r>
            <a:r>
              <a:rPr lang="zh-CN" altLang="en-US" dirty="0">
                <a:latin typeface="楷体" panose="02010609060101010101" charset="-122"/>
                <a:ea typeface="楷体" panose="02010609060101010101" charset="-122"/>
                <a:cs typeface="楷体" panose="02010609060101010101" charset="-122"/>
              </a:rPr>
              <a:t>。这是党的历史上关于党的建设的</a:t>
            </a:r>
            <a:r>
              <a:rPr lang="zh-CN" altLang="en-US" dirty="0">
                <a:solidFill>
                  <a:srgbClr val="C00000"/>
                </a:solidFill>
                <a:latin typeface="楷体" panose="02010609060101010101" charset="-122"/>
                <a:ea typeface="楷体" panose="02010609060101010101" charset="-122"/>
                <a:cs typeface="楷体" panose="02010609060101010101" charset="-122"/>
              </a:rPr>
              <a:t>第一个</a:t>
            </a:r>
            <a:r>
              <a:rPr lang="zh-CN" altLang="en-US" dirty="0">
                <a:latin typeface="楷体" panose="02010609060101010101" charset="-122"/>
                <a:ea typeface="楷体" panose="02010609060101010101" charset="-122"/>
                <a:cs typeface="楷体" panose="02010609060101010101" charset="-122"/>
              </a:rPr>
              <a:t>马克思主义的光辉文献。《纲领》共十五条，规定了党的名称、性质和纲领，提出了党的最终奋斗目标。《纲领》宣布</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我党定名为</a:t>
            </a:r>
            <a:r>
              <a:rPr lang="en-US" altLang="zh-CN" dirty="0">
                <a:solidFill>
                  <a:srgbClr val="A71D24"/>
                </a:solidFill>
                <a:latin typeface="楷体" panose="02010609060101010101" charset="-122"/>
                <a:ea typeface="楷体" panose="02010609060101010101" charset="-122"/>
                <a:cs typeface="楷体" panose="02010609060101010101" charset="-122"/>
              </a:rPr>
              <a:t>‘</a:t>
            </a:r>
            <a:r>
              <a:rPr lang="zh-CN" altLang="en-US" dirty="0">
                <a:solidFill>
                  <a:srgbClr val="A71D24"/>
                </a:solidFill>
                <a:latin typeface="楷体" panose="02010609060101010101" charset="-122"/>
                <a:ea typeface="楷体" panose="02010609060101010101" charset="-122"/>
                <a:cs typeface="楷体" panose="02010609060101010101" charset="-122"/>
              </a:rPr>
              <a:t>中国共产党</a:t>
            </a:r>
            <a:r>
              <a:rPr lang="en-US" altLang="zh-CN" dirty="0">
                <a:solidFill>
                  <a:srgbClr val="A71D24"/>
                </a:solidFill>
                <a:latin typeface="楷体" panose="02010609060101010101" charset="-122"/>
                <a:ea typeface="楷体" panose="02010609060101010101" charset="-122"/>
                <a:cs typeface="楷体" panose="02010609060101010101" charset="-122"/>
              </a:rPr>
              <a:t>’</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；规定了党的纲领是</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以无产阶级革命军队推翻资产阶级，由劳动阶级重建国家，直至消灭阶级差别；采用无产阶级专政，以达到阶级斗争的目的</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消灭阶级；废除资本私有制，没收一切生产资料，如机器、土地、厂房、半成品等，归社会所有；联合第三国际</a:t>
            </a:r>
            <a:r>
              <a:rPr lang="en-US" altLang="zh-CN" dirty="0">
                <a:latin typeface="楷体" panose="02010609060101010101" charset="-122"/>
                <a:ea typeface="楷体" panose="02010609060101010101" charset="-122"/>
                <a:cs typeface="楷体" panose="02010609060101010101" charset="-122"/>
              </a:rPr>
              <a:t>”</a:t>
            </a:r>
            <a:r>
              <a:rPr lang="zh-CN" altLang="en-US" dirty="0">
                <a:latin typeface="楷体" panose="02010609060101010101" charset="-122"/>
                <a:ea typeface="楷体" panose="02010609060101010101" charset="-122"/>
                <a:cs typeface="楷体" panose="02010609060101010101" charset="-122"/>
              </a:rPr>
              <a:t>。《纲领》也对党的组织章程、党的组织原则、组织机构和发展党员作了明确的规定。</a:t>
            </a:r>
            <a:endParaRPr lang="zh-CN" altLang="en-US" dirty="0">
              <a:latin typeface="楷体" panose="02010609060101010101" charset="-122"/>
              <a:ea typeface="楷体" panose="02010609060101010101" charset="-122"/>
              <a:cs typeface="楷体" panose="02010609060101010101" charset="-122"/>
            </a:endParaRPr>
          </a:p>
        </p:txBody>
      </p:sp>
      <p:sp>
        <p:nvSpPr>
          <p:cNvPr id="13" name="矩形 12"/>
          <p:cNvSpPr/>
          <p:nvPr/>
        </p:nvSpPr>
        <p:spPr>
          <a:xfrm>
            <a:off x="1038103" y="1151251"/>
            <a:ext cx="5187950" cy="521970"/>
          </a:xfrm>
          <a:prstGeom prst="rect">
            <a:avLst/>
          </a:prstGeom>
          <a:noFill/>
        </p:spPr>
        <p:txBody>
          <a:bodyPr wrap="none">
            <a:spAutoFit/>
          </a:bodyPr>
          <a:lstStyle/>
          <a:p>
            <a:pPr algn="l"/>
            <a:r>
              <a:rPr lang="zh-CN" altLang="en-US" sz="2800" b="1" dirty="0">
                <a:solidFill>
                  <a:srgbClr val="C00000"/>
                </a:solidFill>
                <a:latin typeface="楷体" panose="02010609060101010101" charset="-122"/>
                <a:ea typeface="楷体" panose="02010609060101010101" charset="-122"/>
                <a:sym typeface="+mn-ea"/>
              </a:rPr>
              <a:t>党章</a:t>
            </a:r>
            <a:r>
              <a:rPr lang="zh-CN" altLang="en-US" sz="2800" b="1" dirty="0">
                <a:solidFill>
                  <a:srgbClr val="C00000"/>
                </a:solidFill>
                <a:latin typeface="楷体" panose="02010609060101010101" charset="-122"/>
                <a:ea typeface="楷体" panose="02010609060101010101" charset="-122"/>
                <a:sym typeface="+mn-ea"/>
              </a:rPr>
              <a:t>前身：《中国共产党纲领》</a:t>
            </a:r>
            <a:endParaRPr lang="zh-CN" altLang="en-US" sz="2800" b="1" dirty="0">
              <a:solidFill>
                <a:srgbClr val="C00000"/>
              </a:solidFill>
              <a:latin typeface="楷体" panose="02010609060101010101" charset="-122"/>
              <a:ea typeface="楷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 grpId="0"/>
      <p:bldP spid="7" grpId="0" animBg="1"/>
      <p:bldP spid="13" grpId="1"/>
      <p:bldP spid="9" grpId="1"/>
      <p:bldP spid="7"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
          <p:cNvSpPr txBox="1"/>
          <p:nvPr/>
        </p:nvSpPr>
        <p:spPr>
          <a:xfrm>
            <a:off x="1653951" y="270498"/>
            <a:ext cx="3230880" cy="460375"/>
          </a:xfrm>
          <a:prstGeom prst="rect">
            <a:avLst/>
          </a:prstGeom>
          <a:noFill/>
        </p:spPr>
        <p:txBody>
          <a:bodyPr wrap="none" lIns="91440" tIns="45720" rIns="91440" bIns="45720" rtlCol="0">
            <a:spAutoFit/>
          </a:bodyPr>
          <a:lstStyle/>
          <a:p>
            <a:pPr algn="ctr">
              <a:buClrTx/>
              <a:buSzTx/>
              <a:buFontTx/>
            </a:pPr>
            <a:r>
              <a:rPr lang="zh-CN" altLang="en-US" sz="2400" b="1" dirty="0">
                <a:solidFill>
                  <a:schemeClr val="bg1"/>
                </a:solidFill>
                <a:latin typeface="微软雅黑" panose="020B0503020204020204" charset="-122"/>
                <a:ea typeface="微软雅黑" panose="020B0503020204020204" charset="-122"/>
                <a:sym typeface="+mn-ea"/>
              </a:rPr>
              <a:t>党章的起源与性质功能</a:t>
            </a:r>
            <a:endParaRPr lang="zh-CN" altLang="en-US" sz="2400" b="1" dirty="0">
              <a:solidFill>
                <a:schemeClr val="bg1"/>
              </a:solidFill>
              <a:latin typeface="微软雅黑" panose="020B0503020204020204" charset="-122"/>
              <a:ea typeface="微软雅黑" panose="020B0503020204020204" charset="-122"/>
            </a:endParaRPr>
          </a:p>
        </p:txBody>
      </p:sp>
      <p:sp>
        <p:nvSpPr>
          <p:cNvPr id="7" name="矩形: 圆角 6"/>
          <p:cNvSpPr/>
          <p:nvPr/>
        </p:nvSpPr>
        <p:spPr bwMode="auto">
          <a:xfrm>
            <a:off x="549910" y="1949450"/>
            <a:ext cx="4738370" cy="4599305"/>
          </a:xfrm>
          <a:prstGeom prst="roundRect">
            <a:avLst/>
          </a:prstGeom>
          <a:noFill/>
          <a:ln w="38100" cap="flat" cmpd="sng" algn="ctr">
            <a:solidFill>
              <a:srgbClr val="C00000"/>
            </a:solidFill>
            <a:prstDash val="lgDashDot"/>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9" name="矩形 8"/>
          <p:cNvSpPr/>
          <p:nvPr>
            <p:custDataLst>
              <p:tags r:id="rId1"/>
            </p:custDataLst>
          </p:nvPr>
        </p:nvSpPr>
        <p:spPr>
          <a:xfrm>
            <a:off x="776605" y="2208530"/>
            <a:ext cx="4319270" cy="4180840"/>
          </a:xfrm>
          <a:prstGeom prst="rect">
            <a:avLst/>
          </a:prstGeom>
          <a:noFill/>
        </p:spPr>
        <p:txBody>
          <a:bodyPr wrap="square">
            <a:noAutofit/>
          </a:bodyPr>
          <a:lstStyle/>
          <a:p>
            <a:pPr indent="457200" algn="l" fontAlgn="auto">
              <a:lnSpc>
                <a:spcPct val="150000"/>
              </a:lnSpc>
              <a:buClrTx/>
              <a:buSzTx/>
              <a:buFontTx/>
            </a:pPr>
            <a:r>
              <a:rPr lang="en-US" altLang="zh-CN" dirty="0">
                <a:latin typeface="楷体" panose="02010609060101010101" charset="-122"/>
                <a:ea typeface="楷体" panose="02010609060101010101" charset="-122"/>
                <a:cs typeface="楷体" panose="02010609060101010101" charset="-122"/>
              </a:rPr>
              <a:t>1922</a:t>
            </a:r>
            <a:r>
              <a:rPr lang="zh-CN" altLang="en-US" dirty="0">
                <a:latin typeface="楷体" panose="02010609060101010101" charset="-122"/>
                <a:ea typeface="楷体" panose="02010609060101010101" charset="-122"/>
                <a:cs typeface="楷体" panose="02010609060101010101" charset="-122"/>
              </a:rPr>
              <a:t>年</a:t>
            </a:r>
            <a:r>
              <a:rPr lang="en-US" altLang="zh-CN" dirty="0">
                <a:latin typeface="楷体" panose="02010609060101010101" charset="-122"/>
                <a:ea typeface="楷体" panose="02010609060101010101" charset="-122"/>
                <a:cs typeface="楷体" panose="02010609060101010101" charset="-122"/>
              </a:rPr>
              <a:t>7</a:t>
            </a:r>
            <a:r>
              <a:rPr lang="zh-CN" altLang="en-US" dirty="0">
                <a:latin typeface="楷体" panose="02010609060101010101" charset="-122"/>
                <a:ea typeface="楷体" panose="02010609060101010101" charset="-122"/>
                <a:cs typeface="楷体" panose="02010609060101010101" charset="-122"/>
              </a:rPr>
              <a:t>月在上海召开的中国共产党</a:t>
            </a:r>
            <a:r>
              <a:rPr lang="zh-CN" altLang="en-US" dirty="0">
                <a:solidFill>
                  <a:srgbClr val="A71D24"/>
                </a:solidFill>
                <a:latin typeface="楷体" panose="02010609060101010101" charset="-122"/>
                <a:ea typeface="楷体" panose="02010609060101010101" charset="-122"/>
                <a:cs typeface="楷体" panose="02010609060101010101" charset="-122"/>
              </a:rPr>
              <a:t>第二次全国代表大会</a:t>
            </a:r>
            <a:r>
              <a:rPr lang="zh-CN" altLang="en-US" dirty="0">
                <a:latin typeface="楷体" panose="02010609060101010101" charset="-122"/>
                <a:ea typeface="楷体" panose="02010609060101010101" charset="-122"/>
                <a:cs typeface="楷体" panose="02010609060101010101" charset="-122"/>
              </a:rPr>
              <a:t>，讨论和通过了</a:t>
            </a:r>
            <a:r>
              <a:rPr lang="zh-CN" altLang="en-US" dirty="0">
                <a:solidFill>
                  <a:srgbClr val="A71D24"/>
                </a:solidFill>
                <a:latin typeface="楷体" panose="02010609060101010101" charset="-122"/>
                <a:ea typeface="楷体" panose="02010609060101010101" charset="-122"/>
                <a:cs typeface="楷体" panose="02010609060101010101" charset="-122"/>
              </a:rPr>
              <a:t>《中国共产党章程》</a:t>
            </a:r>
            <a:r>
              <a:rPr lang="zh-CN" altLang="en-US" dirty="0">
                <a:latin typeface="楷体" panose="02010609060101010101" charset="-122"/>
                <a:ea typeface="楷体" panose="02010609060101010101" charset="-122"/>
                <a:cs typeface="楷体" panose="02010609060101010101" charset="-122"/>
              </a:rPr>
              <a:t>。这部章程是中国共产党</a:t>
            </a:r>
            <a:r>
              <a:rPr lang="zh-CN" altLang="en-US" dirty="0">
                <a:solidFill>
                  <a:srgbClr val="A71D24"/>
                </a:solidFill>
                <a:latin typeface="楷体" panose="02010609060101010101" charset="-122"/>
                <a:ea typeface="楷体" panose="02010609060101010101" charset="-122"/>
                <a:cs typeface="楷体" panose="02010609060101010101" charset="-122"/>
              </a:rPr>
              <a:t>第一部</a:t>
            </a:r>
            <a:r>
              <a:rPr lang="zh-CN" altLang="en-US" dirty="0">
                <a:latin typeface="楷体" panose="02010609060101010101" charset="-122"/>
                <a:ea typeface="楷体" panose="02010609060101010101" charset="-122"/>
                <a:cs typeface="楷体" panose="02010609060101010101" charset="-122"/>
              </a:rPr>
              <a:t>比较完整的章程，共六章，二十九条。章程第一次明确提出了彻底地反对帝国主义和反对封建主义的民主革命纲领，即党的最低纲领；第一次详尽地规定了党员条件和入党手续，对党的组织原则、组织机构、党的纪律和制度，也都作了具体的规定。</a:t>
            </a:r>
            <a:endParaRPr lang="zh-CN" altLang="en-US" dirty="0">
              <a:latin typeface="楷体" panose="02010609060101010101" charset="-122"/>
              <a:ea typeface="楷体" panose="02010609060101010101" charset="-122"/>
              <a:cs typeface="楷体" panose="02010609060101010101" charset="-122"/>
            </a:endParaRPr>
          </a:p>
        </p:txBody>
      </p:sp>
      <p:sp>
        <p:nvSpPr>
          <p:cNvPr id="13" name="矩形 12"/>
          <p:cNvSpPr/>
          <p:nvPr/>
        </p:nvSpPr>
        <p:spPr>
          <a:xfrm>
            <a:off x="1038103" y="1151251"/>
            <a:ext cx="5902960" cy="521970"/>
          </a:xfrm>
          <a:prstGeom prst="rect">
            <a:avLst/>
          </a:prstGeom>
          <a:noFill/>
        </p:spPr>
        <p:txBody>
          <a:bodyPr wrap="none">
            <a:spAutoFit/>
          </a:bodyPr>
          <a:lstStyle/>
          <a:p>
            <a:pPr algn="l"/>
            <a:r>
              <a:rPr lang="zh-CN" altLang="en-US" sz="2800" b="1" dirty="0">
                <a:solidFill>
                  <a:srgbClr val="C00000"/>
                </a:solidFill>
                <a:latin typeface="楷体" panose="02010609060101010101" charset="-122"/>
                <a:ea typeface="楷体" panose="02010609060101010101" charset="-122"/>
                <a:sym typeface="+mn-ea"/>
              </a:rPr>
              <a:t>党章起源：第二次全国人民代表</a:t>
            </a:r>
            <a:r>
              <a:rPr lang="zh-CN" altLang="en-US" sz="2800" b="1" dirty="0">
                <a:solidFill>
                  <a:srgbClr val="C00000"/>
                </a:solidFill>
                <a:latin typeface="楷体" panose="02010609060101010101" charset="-122"/>
                <a:ea typeface="楷体" panose="02010609060101010101" charset="-122"/>
                <a:sym typeface="+mn-ea"/>
              </a:rPr>
              <a:t>大会</a:t>
            </a:r>
            <a:endParaRPr lang="zh-CN" altLang="en-US" sz="2800" b="1" dirty="0">
              <a:solidFill>
                <a:srgbClr val="C00000"/>
              </a:solidFill>
              <a:latin typeface="楷体" panose="02010609060101010101" charset="-122"/>
              <a:ea typeface="楷体" panose="02010609060101010101" charset="-122"/>
              <a:sym typeface="+mn-ea"/>
            </a:endParaRPr>
          </a:p>
        </p:txBody>
      </p:sp>
      <p:sp>
        <p:nvSpPr>
          <p:cNvPr id="2" name="矩形: 圆角 6"/>
          <p:cNvSpPr/>
          <p:nvPr/>
        </p:nvSpPr>
        <p:spPr bwMode="auto">
          <a:xfrm>
            <a:off x="5648325" y="1948815"/>
            <a:ext cx="6269990" cy="3709670"/>
          </a:xfrm>
          <a:prstGeom prst="roundRect">
            <a:avLst/>
          </a:prstGeom>
          <a:noFill/>
          <a:ln w="38100" cap="flat" cmpd="sng" algn="ctr">
            <a:solidFill>
              <a:srgbClr val="C00000"/>
            </a:solidFill>
            <a:prstDash val="lgDashDot"/>
            <a:round/>
            <a:headEnd type="none" w="med" len="med"/>
            <a:tailEnd type="none" w="med" len="med"/>
          </a:ln>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pic>
        <p:nvPicPr>
          <p:cNvPr id="31" name="图片 30"/>
          <p:cNvPicPr/>
          <p:nvPr/>
        </p:nvPicPr>
        <p:blipFill>
          <a:blip r:embed="rId2"/>
          <a:stretch>
            <a:fillRect/>
          </a:stretch>
        </p:blipFill>
        <p:spPr>
          <a:xfrm>
            <a:off x="6069330" y="2140585"/>
            <a:ext cx="5428615" cy="2576830"/>
          </a:xfrm>
          <a:prstGeom prst="rect">
            <a:avLst/>
          </a:prstGeom>
        </p:spPr>
      </p:pic>
      <p:sp>
        <p:nvSpPr>
          <p:cNvPr id="3" name="文本框 2"/>
          <p:cNvSpPr txBox="1"/>
          <p:nvPr/>
        </p:nvSpPr>
        <p:spPr>
          <a:xfrm>
            <a:off x="5648325" y="4912995"/>
            <a:ext cx="6269990" cy="706755"/>
          </a:xfrm>
          <a:prstGeom prst="rect">
            <a:avLst/>
          </a:prstGeom>
          <a:noFill/>
        </p:spPr>
        <p:txBody>
          <a:bodyPr wrap="square" rtlCol="0">
            <a:spAutoFit/>
          </a:bodyPr>
          <a:p>
            <a:pPr algn="ctr"/>
            <a:r>
              <a:rPr lang="zh-CN" altLang="en-US" sz="2000" dirty="0">
                <a:latin typeface="华文楷体" panose="02010600040101010101" charset="-122"/>
                <a:ea typeface="华文楷体" panose="02010600040101010101" charset="-122"/>
                <a:sym typeface="+mn-ea"/>
              </a:rPr>
              <a:t>现存</a:t>
            </a:r>
            <a:r>
              <a:rPr lang="zh-CN" altLang="en-US" sz="2000" dirty="0">
                <a:solidFill>
                  <a:srgbClr val="A82E19"/>
                </a:solidFill>
                <a:latin typeface="华文楷体" panose="02010600040101010101" charset="-122"/>
                <a:ea typeface="华文楷体" panose="02010600040101010101" charset="-122"/>
                <a:sym typeface="+mn-ea"/>
              </a:rPr>
              <a:t>唯一</a:t>
            </a:r>
            <a:r>
              <a:rPr lang="zh-CN" altLang="en-US" sz="2000" dirty="0">
                <a:latin typeface="华文楷体" panose="02010600040101010101" charset="-122"/>
                <a:ea typeface="华文楷体" panose="02010600040101010101" charset="-122"/>
                <a:sym typeface="+mn-ea"/>
              </a:rPr>
              <a:t>一份</a:t>
            </a:r>
            <a:endParaRPr lang="zh-CN" altLang="en-US" sz="2000" dirty="0">
              <a:latin typeface="华文楷体" panose="02010600040101010101" charset="-122"/>
              <a:ea typeface="华文楷体" panose="02010600040101010101" charset="-122"/>
            </a:endParaRPr>
          </a:p>
          <a:p>
            <a:pPr algn="ctr">
              <a:buClrTx/>
              <a:buSzTx/>
              <a:buFontTx/>
            </a:pPr>
            <a:r>
              <a:rPr lang="zh-CN" altLang="en-US" sz="2000" dirty="0">
                <a:latin typeface="华文楷体" panose="02010600040101010101" charset="-122"/>
                <a:ea typeface="华文楷体" panose="02010600040101010101" charset="-122"/>
                <a:sym typeface="+mn-ea"/>
              </a:rPr>
              <a:t>存于北京中央档案管</a:t>
            </a:r>
            <a:endParaRPr lang="zh-CN" altLang="en-US" sz="2000"/>
          </a:p>
        </p:txBody>
      </p:sp>
      <p:sp>
        <p:nvSpPr>
          <p:cNvPr id="4" name="文本框 3"/>
          <p:cNvSpPr txBox="1"/>
          <p:nvPr/>
        </p:nvSpPr>
        <p:spPr>
          <a:xfrm>
            <a:off x="6751320" y="5934075"/>
            <a:ext cx="4064000" cy="521970"/>
          </a:xfrm>
          <a:prstGeom prst="rect">
            <a:avLst/>
          </a:prstGeom>
          <a:noFill/>
        </p:spPr>
        <p:txBody>
          <a:bodyPr wrap="square" rtlCol="0">
            <a:spAutoFit/>
          </a:bodyPr>
          <a:p>
            <a:pPr algn="ctr"/>
            <a:r>
              <a:rPr lang="zh-CN" altLang="en-US" sz="2800">
                <a:solidFill>
                  <a:srgbClr val="A71D24"/>
                </a:solidFill>
                <a:latin typeface="楷体" panose="02010609060101010101" charset="-122"/>
                <a:ea typeface="楷体" panose="02010609060101010101" charset="-122"/>
              </a:rPr>
              <a:t>人亚同志究竟是谁？</a:t>
            </a:r>
            <a:endParaRPr lang="zh-CN" altLang="en-US" sz="2800">
              <a:solidFill>
                <a:srgbClr val="A71D24"/>
              </a:solidFill>
              <a:latin typeface="楷体" panose="02010609060101010101" charset="-122"/>
              <a:ea typeface="楷体" panose="02010609060101010101" charset="-122"/>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par>
                                <p:cTn id="13" presetID="14" presetClass="entr" presetSubtype="1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randombar(horizontal)">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randombar(horizontal)">
                                      <p:cBhvr>
                                        <p:cTn id="20" dur="500"/>
                                        <p:tgtEl>
                                          <p:spTgt spid="31"/>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randombar(horizontal)">
                                      <p:cBhvr>
                                        <p:cTn id="23" dur="500"/>
                                        <p:tgtEl>
                                          <p:spTgt spid="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randombar(horizontal)">
                                      <p:cBhvr>
                                        <p:cTn id="26" dur="500"/>
                                        <p:tgtEl>
                                          <p:spTgt spid="2"/>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randombar(horizontal)">
                                      <p:cBhvr>
                                        <p:cTn id="2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 grpId="0"/>
      <p:bldP spid="7" grpId="0" animBg="1"/>
      <p:bldP spid="9" grpId="1"/>
      <p:bldP spid="7" grpId="1" animBg="1"/>
      <p:bldP spid="3" grpId="0"/>
      <p:bldP spid="2" grpId="0" animBg="1"/>
      <p:bldP spid="4" grpId="0"/>
      <p:bldP spid="3" grpId="1"/>
      <p:bldP spid="2" grpId="1" animBg="1"/>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 name="Freeform 5"/>
          <p:cNvSpPr/>
          <p:nvPr/>
        </p:nvSpPr>
        <p:spPr bwMode="auto">
          <a:xfrm>
            <a:off x="3719736" y="1854910"/>
            <a:ext cx="1008112" cy="1011496"/>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cxnSp>
        <p:nvCxnSpPr>
          <p:cNvPr id="102" name="直接连接符 101"/>
          <p:cNvCxnSpPr/>
          <p:nvPr/>
        </p:nvCxnSpPr>
        <p:spPr bwMode="auto">
          <a:xfrm>
            <a:off x="5214517" y="2896538"/>
            <a:ext cx="3761803" cy="0"/>
          </a:xfrm>
          <a:prstGeom prst="line">
            <a:avLst/>
          </a:prstGeom>
          <a:solidFill>
            <a:schemeClr val="accent1"/>
          </a:solidFill>
          <a:ln w="9525" cap="flat" cmpd="sng" algn="ctr">
            <a:solidFill>
              <a:srgbClr val="D1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4" name="TextBox 9"/>
          <p:cNvSpPr txBox="1"/>
          <p:nvPr/>
        </p:nvSpPr>
        <p:spPr>
          <a:xfrm>
            <a:off x="5214517" y="1890530"/>
            <a:ext cx="3185740" cy="920750"/>
          </a:xfrm>
          <a:prstGeom prst="rect">
            <a:avLst/>
          </a:prstGeom>
          <a:noFill/>
        </p:spPr>
        <p:txBody>
          <a:bodyPr wrap="square" lIns="91388" tIns="45693" rIns="91388" bIns="45693" rtlCol="0">
            <a:spAutoFit/>
          </a:bodyPr>
          <a:lstStyle/>
          <a:p>
            <a:pPr>
              <a:defRPr/>
            </a:pPr>
            <a:r>
              <a:rPr lang="zh-CN" altLang="en-US" sz="5400" b="1" dirty="0">
                <a:solidFill>
                  <a:srgbClr val="C00000"/>
                </a:solidFill>
                <a:latin typeface="Arial" panose="020B0604020202020204"/>
                <a:ea typeface="微软雅黑" panose="020B0503020204020204" charset="-122"/>
                <a:cs typeface="+mn-ea"/>
                <a:sym typeface="Arial" panose="020B0604020202020204"/>
              </a:rPr>
              <a:t>第</a:t>
            </a:r>
            <a:r>
              <a:rPr lang="zh-CN" altLang="en-US" sz="5400" b="1" dirty="0">
                <a:solidFill>
                  <a:srgbClr val="C00000"/>
                </a:solidFill>
                <a:latin typeface="Arial" panose="020B0604020202020204"/>
                <a:ea typeface="微软雅黑" panose="020B0503020204020204" charset="-122"/>
                <a:cs typeface="+mn-ea"/>
                <a:sym typeface="Arial" panose="020B0604020202020204"/>
              </a:rPr>
              <a:t>三章</a:t>
            </a:r>
            <a:endParaRPr lang="zh-CN" altLang="en-US" sz="5400" b="1" dirty="0">
              <a:solidFill>
                <a:srgbClr val="C00000"/>
              </a:solidFill>
              <a:latin typeface="Arial" panose="020B0604020202020204"/>
              <a:ea typeface="微软雅黑" panose="020B0503020204020204" charset="-122"/>
              <a:cs typeface="+mn-ea"/>
              <a:sym typeface="Arial" panose="020B0604020202020204"/>
            </a:endParaRPr>
          </a:p>
        </p:txBody>
      </p:sp>
      <p:sp>
        <p:nvSpPr>
          <p:cNvPr id="105" name="TextBox 9"/>
          <p:cNvSpPr txBox="1"/>
          <p:nvPr/>
        </p:nvSpPr>
        <p:spPr>
          <a:xfrm>
            <a:off x="0" y="3148965"/>
            <a:ext cx="12192000" cy="767080"/>
          </a:xfrm>
          <a:prstGeom prst="rect">
            <a:avLst/>
          </a:prstGeom>
          <a:noFill/>
        </p:spPr>
        <p:txBody>
          <a:bodyPr wrap="square" lIns="91388" tIns="45693" rIns="91388" bIns="45693" rtlCol="0">
            <a:spAutoFit/>
          </a:bodyPr>
          <a:lstStyle/>
          <a:p>
            <a:pPr algn="ctr"/>
            <a:r>
              <a:rPr lang="zh-CN" altLang="en-US" sz="4400" b="1" dirty="0">
                <a:solidFill>
                  <a:srgbClr val="C00000"/>
                </a:solidFill>
                <a:latin typeface="微软雅黑" panose="020B0503020204020204" charset="-122"/>
                <a:ea typeface="微软雅黑" panose="020B0503020204020204" charset="-122"/>
              </a:rPr>
              <a:t>党章历次</a:t>
            </a:r>
            <a:r>
              <a:rPr lang="zh-CN" altLang="en-US" sz="4400" b="1" dirty="0">
                <a:solidFill>
                  <a:srgbClr val="C00000"/>
                </a:solidFill>
                <a:latin typeface="微软雅黑" panose="020B0503020204020204" charset="-122"/>
                <a:ea typeface="微软雅黑" panose="020B0503020204020204" charset="-122"/>
              </a:rPr>
              <a:t>主要修订</a:t>
            </a:r>
            <a:endParaRPr lang="zh-CN" altLang="en-US" sz="4400" b="1" dirty="0">
              <a:solidFill>
                <a:srgbClr val="C00000"/>
              </a:solidFill>
              <a:latin typeface="微软雅黑" panose="020B0503020204020204" charset="-122"/>
              <a:ea typeface="微软雅黑" panose="020B0503020204020204" charset="-122"/>
            </a:endParaRPr>
          </a:p>
        </p:txBody>
      </p:sp>
      <p:pic>
        <p:nvPicPr>
          <p:cNvPr id="2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83355"/>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 calcmode="lin" valueType="num">
                                      <p:cBhvr>
                                        <p:cTn id="7" dur="1000" fill="hold"/>
                                        <p:tgtEl>
                                          <p:spTgt spid="101"/>
                                        </p:tgtEl>
                                        <p:attrNameLst>
                                          <p:attrName>ppt_w</p:attrName>
                                        </p:attrNameLst>
                                      </p:cBhvr>
                                      <p:tavLst>
                                        <p:tav tm="0">
                                          <p:val>
                                            <p:fltVal val="0"/>
                                          </p:val>
                                        </p:tav>
                                        <p:tav tm="100000">
                                          <p:val>
                                            <p:strVal val="#ppt_w"/>
                                          </p:val>
                                        </p:tav>
                                      </p:tavLst>
                                    </p:anim>
                                    <p:anim calcmode="lin" valueType="num">
                                      <p:cBhvr>
                                        <p:cTn id="8" dur="1000" fill="hold"/>
                                        <p:tgtEl>
                                          <p:spTgt spid="101"/>
                                        </p:tgtEl>
                                        <p:attrNameLst>
                                          <p:attrName>ppt_h</p:attrName>
                                        </p:attrNameLst>
                                      </p:cBhvr>
                                      <p:tavLst>
                                        <p:tav tm="0">
                                          <p:val>
                                            <p:fltVal val="0"/>
                                          </p:val>
                                        </p:tav>
                                        <p:tav tm="100000">
                                          <p:val>
                                            <p:strVal val="#ppt_h"/>
                                          </p:val>
                                        </p:tav>
                                      </p:tavLst>
                                    </p:anim>
                                    <p:animEffect transition="in" filter="fade">
                                      <p:cBhvr>
                                        <p:cTn id="9" dur="1000"/>
                                        <p:tgtEl>
                                          <p:spTgt spid="101"/>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barn(inVertical)">
                                      <p:cBhvr>
                                        <p:cTn id="13" dur="500"/>
                                        <p:tgtEl>
                                          <p:spTgt spid="102"/>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104"/>
                                        </p:tgtEl>
                                        <p:attrNameLst>
                                          <p:attrName>style.visibility</p:attrName>
                                        </p:attrNameLst>
                                      </p:cBhvr>
                                      <p:to>
                                        <p:strVal val="visible"/>
                                      </p:to>
                                    </p:set>
                                    <p:anim calcmode="lin" valueType="num">
                                      <p:cBhvr>
                                        <p:cTn id="17" dur="500" fill="hold"/>
                                        <p:tgtEl>
                                          <p:spTgt spid="10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104"/>
                                        </p:tgtEl>
                                        <p:attrNameLst>
                                          <p:attrName>ppt_y</p:attrName>
                                        </p:attrNameLst>
                                      </p:cBhvr>
                                      <p:tavLst>
                                        <p:tav tm="0">
                                          <p:val>
                                            <p:strVal val="#ppt_y"/>
                                          </p:val>
                                        </p:tav>
                                        <p:tav tm="100000">
                                          <p:val>
                                            <p:strVal val="#ppt_y"/>
                                          </p:val>
                                        </p:tav>
                                      </p:tavLst>
                                    </p:anim>
                                    <p:anim calcmode="lin" valueType="num">
                                      <p:cBhvr>
                                        <p:cTn id="19" dur="500" fill="hold"/>
                                        <p:tgtEl>
                                          <p:spTgt spid="10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10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104"/>
                                        </p:tgtEl>
                                      </p:cBhvr>
                                    </p:animEffect>
                                  </p:childTnLst>
                                </p:cTn>
                              </p:par>
                            </p:childTnLst>
                          </p:cTn>
                        </p:par>
                        <p:par>
                          <p:cTn id="22" fill="hold">
                            <p:stCondLst>
                              <p:cond delay="2099"/>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105"/>
                                        </p:tgtEl>
                                        <p:attrNameLst>
                                          <p:attrName>style.visibility</p:attrName>
                                        </p:attrNameLst>
                                      </p:cBhvr>
                                      <p:to>
                                        <p:strVal val="visible"/>
                                      </p:to>
                                    </p:set>
                                    <p:anim calcmode="lin" valueType="num">
                                      <p:cBhvr>
                                        <p:cTn id="25" dur="500" fill="hold"/>
                                        <p:tgtEl>
                                          <p:spTgt spid="10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105"/>
                                        </p:tgtEl>
                                        <p:attrNameLst>
                                          <p:attrName>ppt_y</p:attrName>
                                        </p:attrNameLst>
                                      </p:cBhvr>
                                      <p:tavLst>
                                        <p:tav tm="0">
                                          <p:val>
                                            <p:strVal val="#ppt_y"/>
                                          </p:val>
                                        </p:tav>
                                        <p:tav tm="100000">
                                          <p:val>
                                            <p:strVal val="#ppt_y"/>
                                          </p:val>
                                        </p:tav>
                                      </p:tavLst>
                                    </p:anim>
                                    <p:anim calcmode="lin" valueType="num">
                                      <p:cBhvr>
                                        <p:cTn id="27" dur="500" fill="hold"/>
                                        <p:tgtEl>
                                          <p:spTgt spid="10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10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bldLvl="0" animBg="1"/>
      <p:bldP spid="104" grpId="0"/>
      <p:bldP spid="10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91590" y="1473200"/>
            <a:ext cx="9670415" cy="2343150"/>
          </a:xfrm>
          <a:prstGeom prst="rect">
            <a:avLst/>
          </a:prstGeom>
          <a:noFill/>
          <a:ln w="12700" cap="flat" cmpd="sng" algn="ctr">
            <a:solidFill>
              <a:srgbClr val="C00000"/>
            </a:solidFill>
            <a:prstDash val="solid"/>
          </a:ln>
          <a:effectLst/>
        </p:spPr>
        <p:txBody>
          <a:bodyPr rtlCol="0" anchor="ctr"/>
          <a:lstStyle/>
          <a:p>
            <a:pPr>
              <a:lnSpc>
                <a:spcPct val="150000"/>
              </a:lnSpc>
            </a:pPr>
            <a:endParaRPr lang="zh-CN" altLang="en-US" dirty="0">
              <a:solidFill>
                <a:srgbClr val="C00000"/>
              </a:solidFill>
              <a:latin typeface="华文楷体" panose="02010600040101010101" charset="-122"/>
              <a:ea typeface="华文楷体" panose="02010600040101010101" charset="-122"/>
              <a:cs typeface="华文楷体" panose="02010600040101010101" charset="-122"/>
            </a:endParaRPr>
          </a:p>
        </p:txBody>
      </p:sp>
      <p:sp>
        <p:nvSpPr>
          <p:cNvPr id="9" name="TextBox 4"/>
          <p:cNvSpPr txBox="1"/>
          <p:nvPr/>
        </p:nvSpPr>
        <p:spPr>
          <a:xfrm>
            <a:off x="1415480" y="321704"/>
            <a:ext cx="47548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这些思想何时被确定为指导</a:t>
            </a:r>
            <a:r>
              <a:rPr lang="zh-CN" altLang="en-US" sz="2400" b="1" dirty="0">
                <a:solidFill>
                  <a:schemeClr val="bg1"/>
                </a:solidFill>
                <a:latin typeface="Arial" panose="020B0604020202020204"/>
                <a:ea typeface="微软雅黑" panose="020B0503020204020204" charset="-122"/>
                <a:sym typeface="+mn-ea"/>
              </a:rPr>
              <a:t>思想？</a:t>
            </a:r>
            <a:endParaRPr lang="zh-CN" altLang="en-US" sz="2400" b="1" dirty="0">
              <a:solidFill>
                <a:schemeClr val="bg1"/>
              </a:solidFill>
              <a:latin typeface="Arial" panose="020B0604020202020204"/>
              <a:ea typeface="微软雅黑" panose="020B0503020204020204" charset="-122"/>
              <a:sym typeface="+mn-ea"/>
            </a:endParaRPr>
          </a:p>
        </p:txBody>
      </p:sp>
      <p:pic>
        <p:nvPicPr>
          <p:cNvPr id="2" name="图片 1"/>
          <p:cNvPicPr>
            <a:picLocks noChangeAspect="1"/>
          </p:cNvPicPr>
          <p:nvPr/>
        </p:nvPicPr>
        <p:blipFill>
          <a:blip r:embed="rId1"/>
          <a:srcRect b="33416"/>
          <a:stretch>
            <a:fillRect/>
          </a:stretch>
        </p:blipFill>
        <p:spPr>
          <a:xfrm>
            <a:off x="1415415" y="1590040"/>
            <a:ext cx="9401810" cy="2043430"/>
          </a:xfrm>
          <a:prstGeom prst="rect">
            <a:avLst/>
          </a:prstGeom>
        </p:spPr>
      </p:pic>
      <p:sp>
        <p:nvSpPr>
          <p:cNvPr id="4" name="矩形 3"/>
          <p:cNvSpPr/>
          <p:nvPr/>
        </p:nvSpPr>
        <p:spPr>
          <a:xfrm>
            <a:off x="1435735" y="2668905"/>
            <a:ext cx="9382125" cy="660400"/>
          </a:xfrm>
          <a:prstGeom prst="rect">
            <a:avLst/>
          </a:prstGeom>
          <a:ln w="38100">
            <a:solidFill>
              <a:srgbClr val="FF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pic>
        <p:nvPicPr>
          <p:cNvPr id="10" name="图片 9" descr="view"/>
          <p:cNvPicPr>
            <a:picLocks noChangeAspect="1"/>
          </p:cNvPicPr>
          <p:nvPr/>
        </p:nvPicPr>
        <p:blipFill>
          <a:blip r:embed="rId2"/>
          <a:srcRect t="54037" b="7000"/>
          <a:stretch>
            <a:fillRect/>
          </a:stretch>
        </p:blipFill>
        <p:spPr>
          <a:xfrm>
            <a:off x="0" y="4182110"/>
            <a:ext cx="12191365" cy="231965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20775" y="2402205"/>
            <a:ext cx="9813925" cy="4291965"/>
          </a:xfrm>
          <a:prstGeom prst="rect">
            <a:avLst/>
          </a:prstGeom>
          <a:noFill/>
          <a:ln w="12700" cap="flat" cmpd="sng" algn="ctr">
            <a:solidFill>
              <a:srgbClr val="C00000"/>
            </a:solidFill>
            <a:prstDash val="solid"/>
          </a:ln>
          <a:effectLst/>
        </p:spPr>
        <p:txBody>
          <a:bodyPr rtlCol="0" anchor="ctr"/>
          <a:lstStyle/>
          <a:p>
            <a:pPr indent="457200">
              <a:lnSpc>
                <a:spcPct val="150000"/>
              </a:lnSpc>
            </a:pPr>
            <a:r>
              <a:rPr lang="en-US" altLang="zh-CN" sz="1800" dirty="0">
                <a:latin typeface="楷体" panose="02010609060101010101" charset="-122"/>
                <a:ea typeface="楷体" panose="02010609060101010101" charset="-122"/>
                <a:cs typeface="楷体" panose="02010609060101010101" charset="-122"/>
              </a:rPr>
              <a:t>1945</a:t>
            </a:r>
            <a:r>
              <a:rPr lang="zh-CN" altLang="en-US" sz="1800" dirty="0">
                <a:latin typeface="楷体" panose="02010609060101010101" charset="-122"/>
                <a:ea typeface="楷体" panose="02010609060101010101" charset="-122"/>
                <a:cs typeface="楷体" panose="02010609060101010101" charset="-122"/>
              </a:rPr>
              <a:t>年</a:t>
            </a:r>
            <a:r>
              <a:rPr lang="en-US" altLang="zh-CN" sz="1800" dirty="0">
                <a:latin typeface="楷体" panose="02010609060101010101" charset="-122"/>
                <a:ea typeface="楷体" panose="02010609060101010101" charset="-122"/>
                <a:cs typeface="楷体" panose="02010609060101010101" charset="-122"/>
              </a:rPr>
              <a:t>4</a:t>
            </a:r>
            <a:r>
              <a:rPr lang="zh-CN" altLang="en-US" sz="1800" dirty="0">
                <a:latin typeface="楷体" panose="02010609060101010101" charset="-122"/>
                <a:ea typeface="楷体" panose="02010609060101010101" charset="-122"/>
                <a:cs typeface="楷体" panose="02010609060101010101" charset="-122"/>
              </a:rPr>
              <a:t>月至</a:t>
            </a:r>
            <a:r>
              <a:rPr lang="en-US" altLang="zh-CN" sz="1800" dirty="0">
                <a:latin typeface="楷体" panose="02010609060101010101" charset="-122"/>
                <a:ea typeface="楷体" panose="02010609060101010101" charset="-122"/>
                <a:cs typeface="楷体" panose="02010609060101010101" charset="-122"/>
              </a:rPr>
              <a:t>6</a:t>
            </a:r>
            <a:r>
              <a:rPr lang="zh-CN" altLang="en-US" sz="1800" dirty="0">
                <a:latin typeface="楷体" panose="02010609060101010101" charset="-122"/>
                <a:ea typeface="楷体" panose="02010609060101010101" charset="-122"/>
                <a:cs typeface="楷体" panose="02010609060101010101" charset="-122"/>
              </a:rPr>
              <a:t>月在延安召开的中国共产党第七次全国代表大会，通过了《中国共产党党章》，是我党</a:t>
            </a:r>
            <a:r>
              <a:rPr lang="zh-CN" altLang="en-US" sz="1800" dirty="0">
                <a:solidFill>
                  <a:srgbClr val="A71D24"/>
                </a:solidFill>
                <a:latin typeface="楷体" panose="02010609060101010101" charset="-122"/>
                <a:ea typeface="楷体" panose="02010609060101010101" charset="-122"/>
                <a:cs typeface="楷体" panose="02010609060101010101" charset="-122"/>
              </a:rPr>
              <a:t>独立自主制定的第一部党章</a:t>
            </a:r>
            <a:r>
              <a:rPr lang="zh-CN" altLang="en-US" sz="1800" dirty="0">
                <a:latin typeface="楷体" panose="02010609060101010101" charset="-122"/>
                <a:ea typeface="楷体" panose="02010609060101010101" charset="-122"/>
                <a:cs typeface="楷体" panose="02010609060101010101" charset="-122"/>
              </a:rPr>
              <a:t>。七大党章共有十一章七十条。它的主要特点是：</a:t>
            </a:r>
            <a:endParaRPr lang="zh-CN" altLang="en-US" sz="1800" dirty="0">
              <a:latin typeface="楷体" panose="02010609060101010101" charset="-122"/>
              <a:ea typeface="楷体" panose="02010609060101010101" charset="-122"/>
              <a:cs typeface="楷体" panose="02010609060101010101" charset="-122"/>
            </a:endParaRPr>
          </a:p>
          <a:p>
            <a:pPr indent="457200">
              <a:lnSpc>
                <a:spcPct val="150000"/>
              </a:lnSpc>
            </a:pP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第一，在党章发展史上第一次增加了党章的</a:t>
            </a:r>
            <a:r>
              <a:rPr lang="zh-CN" altLang="en-US" sz="1800" dirty="0">
                <a:solidFill>
                  <a:srgbClr val="A71D24"/>
                </a:solidFill>
                <a:latin typeface="楷体" panose="02010609060101010101" charset="-122"/>
                <a:ea typeface="楷体" panose="02010609060101010101" charset="-122"/>
                <a:cs typeface="楷体" panose="02010609060101010101" charset="-122"/>
              </a:rPr>
              <a:t>总纲</a:t>
            </a:r>
            <a:r>
              <a:rPr lang="zh-CN" altLang="en-US" sz="1800" dirty="0">
                <a:latin typeface="楷体" panose="02010609060101010101" charset="-122"/>
                <a:ea typeface="楷体" panose="02010609060101010101" charset="-122"/>
                <a:cs typeface="楷体" panose="02010609060101010101" charset="-122"/>
              </a:rPr>
              <a:t>部分。总纲是党的最基本的政治纲领和组织纲领，是党章的前提和总则，是每一个党员</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一切活动的准则</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。总纲总结了党成立二十四年来的斗争经验，以简洁的文字阐明了党的性质与理论，中国革命的性质、动力、任务和特点，党领导中国革命的基本方针和必须具备的条件。</a:t>
            </a:r>
            <a:endParaRPr lang="zh-CN" altLang="en-US" sz="1800" dirty="0">
              <a:latin typeface="楷体" panose="02010609060101010101" charset="-122"/>
              <a:ea typeface="楷体" panose="02010609060101010101" charset="-122"/>
              <a:cs typeface="楷体" panose="02010609060101010101" charset="-122"/>
            </a:endParaRPr>
          </a:p>
          <a:p>
            <a:pPr indent="457200">
              <a:lnSpc>
                <a:spcPct val="150000"/>
              </a:lnSpc>
            </a:pP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第二，确定了</a:t>
            </a:r>
            <a:r>
              <a:rPr lang="zh-CN" altLang="en-US" sz="1800" dirty="0">
                <a:solidFill>
                  <a:srgbClr val="A71D24"/>
                </a:solidFill>
                <a:latin typeface="楷体" panose="02010609060101010101" charset="-122"/>
                <a:ea typeface="楷体" panose="02010609060101010101" charset="-122"/>
                <a:cs typeface="楷体" panose="02010609060101010101" charset="-122"/>
              </a:rPr>
              <a:t>毛泽东思想为全党的指导思想</a:t>
            </a:r>
            <a:r>
              <a:rPr lang="zh-CN" altLang="en-US" sz="1800" dirty="0">
                <a:latin typeface="楷体" panose="02010609060101010101" charset="-122"/>
                <a:ea typeface="楷体" panose="02010609060101010101" charset="-122"/>
                <a:cs typeface="楷体" panose="02010609060101010101" charset="-122"/>
              </a:rPr>
              <a:t>。</a:t>
            </a:r>
            <a:endParaRPr lang="zh-CN" altLang="en-US" sz="1800" dirty="0">
              <a:latin typeface="楷体" panose="02010609060101010101" charset="-122"/>
              <a:ea typeface="楷体" panose="02010609060101010101" charset="-122"/>
              <a:cs typeface="楷体" panose="02010609060101010101" charset="-122"/>
            </a:endParaRPr>
          </a:p>
          <a:p>
            <a:pPr indent="457200">
              <a:lnSpc>
                <a:spcPct val="150000"/>
              </a:lnSpc>
            </a:pP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第三，特别强调了</a:t>
            </a:r>
            <a:r>
              <a:rPr lang="zh-CN" altLang="en-US" sz="1800" dirty="0">
                <a:solidFill>
                  <a:srgbClr val="A71D24"/>
                </a:solidFill>
                <a:latin typeface="楷体" panose="02010609060101010101" charset="-122"/>
                <a:ea typeface="楷体" panose="02010609060101010101" charset="-122"/>
                <a:cs typeface="楷体" panose="02010609060101010101" charset="-122"/>
              </a:rPr>
              <a:t>党的群众路线</a:t>
            </a:r>
            <a:r>
              <a:rPr lang="zh-CN" altLang="en-US" sz="1800" dirty="0">
                <a:latin typeface="楷体" panose="02010609060101010101" charset="-122"/>
                <a:ea typeface="楷体" panose="02010609060101010101" charset="-122"/>
                <a:cs typeface="楷体" panose="02010609060101010101" charset="-122"/>
              </a:rPr>
              <a:t>。</a:t>
            </a:r>
            <a:endParaRPr lang="zh-CN" altLang="en-US" sz="1800" dirty="0">
              <a:latin typeface="楷体" panose="02010609060101010101" charset="-122"/>
              <a:ea typeface="楷体" panose="02010609060101010101" charset="-122"/>
              <a:cs typeface="楷体" panose="02010609060101010101" charset="-122"/>
            </a:endParaRPr>
          </a:p>
          <a:p>
            <a:pPr indent="457200">
              <a:lnSpc>
                <a:spcPct val="150000"/>
              </a:lnSpc>
            </a:pP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第四，更加</a:t>
            </a:r>
            <a:r>
              <a:rPr lang="zh-CN" altLang="en-US" sz="1800" dirty="0">
                <a:solidFill>
                  <a:srgbClr val="A71D24"/>
                </a:solidFill>
                <a:latin typeface="楷体" panose="02010609060101010101" charset="-122"/>
                <a:ea typeface="楷体" panose="02010609060101010101" charset="-122"/>
                <a:cs typeface="楷体" panose="02010609060101010101" charset="-122"/>
              </a:rPr>
              <a:t>完善了党的民主集中制的原则</a:t>
            </a:r>
            <a:r>
              <a:rPr lang="zh-CN" altLang="en-US" sz="1800" dirty="0">
                <a:latin typeface="楷体" panose="02010609060101010101" charset="-122"/>
                <a:ea typeface="楷体" panose="02010609060101010101" charset="-122"/>
                <a:cs typeface="楷体" panose="02010609060101010101" charset="-122"/>
              </a:rPr>
              <a:t>，对扩大党内民主和实行集中统一领导作了详细的规定。</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TextBox 4"/>
          <p:cNvSpPr txBox="1"/>
          <p:nvPr/>
        </p:nvSpPr>
        <p:spPr>
          <a:xfrm>
            <a:off x="1415480" y="327419"/>
            <a:ext cx="17068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毛泽东</a:t>
            </a:r>
            <a:r>
              <a:rPr lang="zh-CN" altLang="en-US" sz="2400" b="1" dirty="0">
                <a:solidFill>
                  <a:schemeClr val="bg1"/>
                </a:solidFill>
                <a:latin typeface="Arial" panose="020B0604020202020204"/>
                <a:ea typeface="微软雅黑" panose="020B0503020204020204" charset="-122"/>
                <a:sym typeface="+mn-ea"/>
              </a:rPr>
              <a:t>思想</a:t>
            </a:r>
            <a:endParaRPr lang="zh-CN" altLang="en-US" sz="2400" b="1" dirty="0">
              <a:solidFill>
                <a:schemeClr val="bg1"/>
              </a:solidFill>
              <a:latin typeface="Arial" panose="020B0604020202020204"/>
              <a:ea typeface="微软雅黑" panose="020B0503020204020204" charset="-122"/>
              <a:sym typeface="+mn-ea"/>
            </a:endParaRPr>
          </a:p>
        </p:txBody>
      </p:sp>
      <p:grpSp>
        <p:nvGrpSpPr>
          <p:cNvPr id="10" name="组合 9"/>
          <p:cNvGrpSpPr/>
          <p:nvPr/>
        </p:nvGrpSpPr>
        <p:grpSpPr>
          <a:xfrm>
            <a:off x="0" y="788035"/>
            <a:ext cx="6332855" cy="1719580"/>
            <a:chOff x="0" y="699542"/>
            <a:chExt cx="3617243" cy="1289806"/>
          </a:xfrm>
        </p:grpSpPr>
        <p:grpSp>
          <p:nvGrpSpPr>
            <p:cNvPr id="11" name="组合 10"/>
            <p:cNvGrpSpPr/>
            <p:nvPr/>
          </p:nvGrpSpPr>
          <p:grpSpPr>
            <a:xfrm>
              <a:off x="0" y="699542"/>
              <a:ext cx="3617243" cy="1289806"/>
              <a:chOff x="2267744" y="777888"/>
              <a:chExt cx="3617243" cy="1289806"/>
            </a:xfrm>
          </p:grpSpPr>
          <p:sp>
            <p:nvSpPr>
              <p:cNvPr id="12" name="流程图: 可选过程 11"/>
              <p:cNvSpPr/>
              <p:nvPr/>
            </p:nvSpPr>
            <p:spPr>
              <a:xfrm>
                <a:off x="2267744" y="1353952"/>
                <a:ext cx="3617243" cy="576064"/>
              </a:xfrm>
              <a:prstGeom prst="flowChartAlternateProcess">
                <a:avLst/>
              </a:prstGeom>
              <a:solidFill>
                <a:srgbClr val="C00000"/>
              </a:solidFill>
              <a:ln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latin typeface="Arial" panose="020B0604020202020204"/>
                  <a:ea typeface="微软雅黑" panose="020B0503020204020204" charset="-122"/>
                  <a:sym typeface="Arial" panose="020B0604020202020204"/>
                </a:endParaRPr>
              </a:p>
            </p:txBody>
          </p:sp>
          <p:pic>
            <p:nvPicPr>
              <p:cNvPr id="13" name="Picture 3" descr="C:\Users\Administrator\Desktop\36894.pn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12304"/>
              <a:stretch>
                <a:fillRect/>
              </a:stretch>
            </p:blipFill>
            <p:spPr bwMode="auto">
              <a:xfrm>
                <a:off x="2267744" y="777888"/>
                <a:ext cx="1691680" cy="1289806"/>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2" descr="E:\0000000我图PPT\00001PNG素材\01党委政府\天安门抽象.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2472" y="1419622"/>
              <a:ext cx="1064771" cy="446157"/>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9"/>
          <p:cNvSpPr txBox="1"/>
          <p:nvPr/>
        </p:nvSpPr>
        <p:spPr>
          <a:xfrm>
            <a:off x="1032510" y="1748155"/>
            <a:ext cx="4032885" cy="459105"/>
          </a:xfrm>
          <a:prstGeom prst="rect">
            <a:avLst/>
          </a:prstGeom>
          <a:noFill/>
        </p:spPr>
        <p:txBody>
          <a:bodyPr wrap="square" lIns="91388" tIns="45693" rIns="91388" bIns="45693" rtlCol="0">
            <a:spAutoFit/>
          </a:bodyPr>
          <a:p>
            <a:pPr algn="ctr">
              <a:buClrTx/>
              <a:buSzTx/>
              <a:buFontTx/>
              <a:defRPr/>
            </a:pPr>
            <a:r>
              <a:rPr lang="zh-CN" altLang="en-US" sz="2400" b="1" dirty="0">
                <a:solidFill>
                  <a:schemeClr val="bg1"/>
                </a:solidFill>
                <a:latin typeface="楷体" panose="02010609060101010101" charset="-122"/>
                <a:ea typeface="楷体" panose="02010609060101010101" charset="-122"/>
                <a:cs typeface="+mn-ea"/>
                <a:sym typeface="+mn-ea"/>
              </a:rPr>
              <a:t>独立自主制定的第一部党章</a:t>
            </a:r>
            <a:endParaRPr lang="zh-CN" altLang="en-US" sz="2400" b="1" dirty="0">
              <a:solidFill>
                <a:schemeClr val="bg1"/>
              </a:solidFill>
              <a:latin typeface="楷体" panose="02010609060101010101" charset="-122"/>
              <a:ea typeface="楷体" panose="02010609060101010101" charset="-122"/>
              <a:cs typeface="+mn-ea"/>
              <a:sym typeface="Arial" panose="020B0604020202020204"/>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20775" y="2507615"/>
            <a:ext cx="9813925" cy="3761740"/>
          </a:xfrm>
          <a:prstGeom prst="rect">
            <a:avLst/>
          </a:prstGeom>
          <a:noFill/>
          <a:ln w="12700" cap="flat" cmpd="sng" algn="ctr">
            <a:solidFill>
              <a:srgbClr val="C00000"/>
            </a:solidFill>
            <a:prstDash val="solid"/>
          </a:ln>
          <a:effectLst/>
        </p:spPr>
        <p:txBody>
          <a:bodyPr rtlCol="0" anchor="ctr"/>
          <a:lstStyle/>
          <a:p>
            <a:pPr indent="457200" algn="l">
              <a:lnSpc>
                <a:spcPct val="150000"/>
              </a:lnSpc>
              <a:buClrTx/>
              <a:buSzTx/>
              <a:buFontTx/>
            </a:pPr>
            <a:r>
              <a:rPr lang="en-US" altLang="zh-CN" sz="1800" dirty="0">
                <a:latin typeface="楷体" panose="02010609060101010101" charset="-122"/>
                <a:ea typeface="楷体" panose="02010609060101010101" charset="-122"/>
                <a:cs typeface="楷体" panose="02010609060101010101" charset="-122"/>
              </a:rPr>
              <a:t>1956</a:t>
            </a:r>
            <a:r>
              <a:rPr lang="zh-CN" altLang="en-US" sz="1800" dirty="0">
                <a:latin typeface="楷体" panose="02010609060101010101" charset="-122"/>
                <a:ea typeface="楷体" panose="02010609060101010101" charset="-122"/>
                <a:cs typeface="楷体" panose="02010609060101010101" charset="-122"/>
              </a:rPr>
              <a:t>年</a:t>
            </a:r>
            <a:r>
              <a:rPr lang="en-US" altLang="zh-CN" sz="1800" dirty="0">
                <a:latin typeface="楷体" panose="02010609060101010101" charset="-122"/>
                <a:ea typeface="楷体" panose="02010609060101010101" charset="-122"/>
                <a:cs typeface="楷体" panose="02010609060101010101" charset="-122"/>
              </a:rPr>
              <a:t>9</a:t>
            </a:r>
            <a:r>
              <a:rPr lang="zh-CN" altLang="en-US" sz="1800" dirty="0">
                <a:latin typeface="楷体" panose="02010609060101010101" charset="-122"/>
                <a:ea typeface="楷体" panose="02010609060101010101" charset="-122"/>
                <a:cs typeface="楷体" panose="02010609060101010101" charset="-122"/>
              </a:rPr>
              <a:t>月</a:t>
            </a:r>
            <a:r>
              <a:rPr lang="en-US" altLang="zh-CN" sz="1800" dirty="0">
                <a:latin typeface="楷体" panose="02010609060101010101" charset="-122"/>
                <a:ea typeface="楷体" panose="02010609060101010101" charset="-122"/>
                <a:cs typeface="楷体" panose="02010609060101010101" charset="-122"/>
              </a:rPr>
              <a:t>26</a:t>
            </a:r>
            <a:r>
              <a:rPr lang="zh-CN" altLang="en-US" sz="1800" dirty="0">
                <a:latin typeface="楷体" panose="02010609060101010101" charset="-122"/>
                <a:ea typeface="楷体" panose="02010609060101010101" charset="-122"/>
                <a:cs typeface="楷体" panose="02010609060101010101" charset="-122"/>
              </a:rPr>
              <a:t>日，中国共产党第八次全国代表大会通过的《中国共产党章程》，是中国共产党</a:t>
            </a:r>
            <a:r>
              <a:rPr lang="zh-CN" altLang="en-US" sz="1800" dirty="0">
                <a:solidFill>
                  <a:srgbClr val="C00000"/>
                </a:solidFill>
                <a:latin typeface="楷体" panose="02010609060101010101" charset="-122"/>
                <a:ea typeface="楷体" panose="02010609060101010101" charset="-122"/>
                <a:cs typeface="楷体" panose="02010609060101010101" charset="-122"/>
              </a:rPr>
              <a:t>执政以后</a:t>
            </a:r>
            <a:r>
              <a:rPr lang="zh-CN" altLang="en-US" sz="1800" dirty="0">
                <a:latin typeface="楷体" panose="02010609060101010101" charset="-122"/>
                <a:ea typeface="楷体" panose="02010609060101010101" charset="-122"/>
                <a:cs typeface="楷体" panose="02010609060101010101" charset="-122"/>
              </a:rPr>
              <a:t>制定的</a:t>
            </a:r>
            <a:r>
              <a:rPr lang="zh-CN" altLang="en-US" sz="1800" dirty="0">
                <a:solidFill>
                  <a:srgbClr val="C00000"/>
                </a:solidFill>
                <a:latin typeface="楷体" panose="02010609060101010101" charset="-122"/>
                <a:ea typeface="楷体" panose="02010609060101010101" charset="-122"/>
                <a:cs typeface="楷体" panose="02010609060101010101" charset="-122"/>
              </a:rPr>
              <a:t>第一部</a:t>
            </a:r>
            <a:r>
              <a:rPr lang="zh-CN" altLang="en-US" sz="1800" dirty="0">
                <a:latin typeface="楷体" panose="02010609060101010101" charset="-122"/>
                <a:ea typeface="楷体" panose="02010609060101010101" charset="-122"/>
                <a:cs typeface="楷体" panose="02010609060101010101" charset="-122"/>
              </a:rPr>
              <a:t>党章。新党章根据执政党的特点，提出了</a:t>
            </a:r>
            <a:r>
              <a:rPr lang="zh-CN" altLang="en-US" sz="1800" dirty="0">
                <a:solidFill>
                  <a:srgbClr val="C00000"/>
                </a:solidFill>
                <a:latin typeface="楷体" panose="02010609060101010101" charset="-122"/>
                <a:ea typeface="楷体" panose="02010609060101010101" charset="-122"/>
                <a:cs typeface="楷体" panose="02010609060101010101" charset="-122"/>
              </a:rPr>
              <a:t>全面开展社会主义建设</a:t>
            </a:r>
            <a:r>
              <a:rPr lang="zh-CN" altLang="en-US" sz="1800" dirty="0">
                <a:latin typeface="楷体" panose="02010609060101010101" charset="-122"/>
                <a:ea typeface="楷体" panose="02010609060101010101" charset="-122"/>
                <a:cs typeface="楷体" panose="02010609060101010101" charset="-122"/>
              </a:rPr>
              <a:t>的任务。</a:t>
            </a:r>
            <a:endParaRPr lang="zh-CN" altLang="en-US" sz="1800" dirty="0">
              <a:latin typeface="楷体" panose="02010609060101010101" charset="-122"/>
              <a:ea typeface="楷体" panose="02010609060101010101" charset="-122"/>
              <a:cs typeface="楷体" panose="02010609060101010101" charset="-122"/>
            </a:endParaRPr>
          </a:p>
          <a:p>
            <a:pPr indent="457200" algn="l">
              <a:lnSpc>
                <a:spcPct val="150000"/>
              </a:lnSpc>
              <a:buClrTx/>
              <a:buSzTx/>
              <a:buFontTx/>
            </a:pPr>
            <a:r>
              <a:rPr lang="zh-CN" altLang="en-US" sz="1800" dirty="0">
                <a:latin typeface="楷体" panose="02010609060101010101" charset="-122"/>
                <a:ea typeface="楷体" panose="02010609060101010101" charset="-122"/>
                <a:cs typeface="楷体" panose="02010609060101010101" charset="-122"/>
              </a:rPr>
              <a:t>总纲规定：</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中国共产党的任务，就是有计划地发展国民经济，尽可能迅速地实现国家工业化，有系统、有步骤地进行国民经济的技术改造，使中国具有强大的现代化的工业、现代化的农业、现代化的交通运输业和现代化的国防。</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党章对贯彻党的民主集中制的根本原则作出了许多新规定。针对党处于执政党地位的情况，强调</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必须不断地发扬党的工作中的群众路线的传统</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。此外，八大党章对党的组织机构也作了一些新的规定。八大党章还首次把</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各尽所能，按劳取酬</a:t>
            </a:r>
            <a:r>
              <a:rPr lang="en-US" altLang="zh-CN" sz="1800" dirty="0">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的分配原则写进党章。</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TextBox 4"/>
          <p:cNvSpPr txBox="1"/>
          <p:nvPr/>
        </p:nvSpPr>
        <p:spPr>
          <a:xfrm>
            <a:off x="1415480" y="327419"/>
            <a:ext cx="23926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革命党</a:t>
            </a:r>
            <a:r>
              <a:rPr lang="en-US" altLang="zh-CN" sz="2400" b="1" dirty="0">
                <a:solidFill>
                  <a:schemeClr val="bg1"/>
                </a:solidFill>
                <a:latin typeface="Arial" panose="020B0604020202020204"/>
                <a:ea typeface="微软雅黑" panose="020B0503020204020204" charset="-122"/>
                <a:sym typeface="+mn-ea"/>
              </a:rPr>
              <a:t>--&gt;</a:t>
            </a:r>
            <a:r>
              <a:rPr lang="zh-CN" altLang="en-US" sz="2400" b="1" dirty="0">
                <a:solidFill>
                  <a:schemeClr val="bg1"/>
                </a:solidFill>
                <a:latin typeface="Arial" panose="020B0604020202020204"/>
                <a:ea typeface="微软雅黑" panose="020B0503020204020204" charset="-122"/>
                <a:sym typeface="+mn-ea"/>
              </a:rPr>
              <a:t>执政党</a:t>
            </a:r>
            <a:endParaRPr lang="zh-CN" altLang="en-US" sz="2400" b="1" dirty="0">
              <a:solidFill>
                <a:schemeClr val="bg1"/>
              </a:solidFill>
              <a:latin typeface="Arial" panose="020B0604020202020204"/>
              <a:ea typeface="微软雅黑" panose="020B0503020204020204" charset="-122"/>
              <a:sym typeface="+mn-ea"/>
            </a:endParaRPr>
          </a:p>
        </p:txBody>
      </p:sp>
      <p:grpSp>
        <p:nvGrpSpPr>
          <p:cNvPr id="10" name="组合 9"/>
          <p:cNvGrpSpPr/>
          <p:nvPr/>
        </p:nvGrpSpPr>
        <p:grpSpPr>
          <a:xfrm>
            <a:off x="0" y="788035"/>
            <a:ext cx="6332855" cy="1719580"/>
            <a:chOff x="0" y="699542"/>
            <a:chExt cx="3617243" cy="1289806"/>
          </a:xfrm>
        </p:grpSpPr>
        <p:grpSp>
          <p:nvGrpSpPr>
            <p:cNvPr id="11" name="组合 10"/>
            <p:cNvGrpSpPr/>
            <p:nvPr/>
          </p:nvGrpSpPr>
          <p:grpSpPr>
            <a:xfrm>
              <a:off x="0" y="699542"/>
              <a:ext cx="3617243" cy="1289806"/>
              <a:chOff x="2267744" y="777888"/>
              <a:chExt cx="3617243" cy="1289806"/>
            </a:xfrm>
          </p:grpSpPr>
          <p:sp>
            <p:nvSpPr>
              <p:cNvPr id="12" name="流程图: 可选过程 11"/>
              <p:cNvSpPr/>
              <p:nvPr/>
            </p:nvSpPr>
            <p:spPr>
              <a:xfrm>
                <a:off x="2267744" y="1353952"/>
                <a:ext cx="3617243" cy="576064"/>
              </a:xfrm>
              <a:prstGeom prst="flowChartAlternateProcess">
                <a:avLst/>
              </a:prstGeom>
              <a:solidFill>
                <a:srgbClr val="C00000"/>
              </a:solidFill>
              <a:ln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3200">
                  <a:latin typeface="Arial" panose="020B0604020202020204"/>
                  <a:ea typeface="微软雅黑" panose="020B0503020204020204" charset="-122"/>
                  <a:sym typeface="Arial" panose="020B0604020202020204"/>
                </a:endParaRPr>
              </a:p>
            </p:txBody>
          </p:sp>
          <p:pic>
            <p:nvPicPr>
              <p:cNvPr id="13" name="Picture 3" descr="C:\Users\Administrator\Desktop\36894.png"/>
              <p:cNvPicPr>
                <a:picLocks noChangeAspect="1" noChangeArrowheads="1"/>
              </p:cNvPicPr>
              <p:nvPr/>
            </p:nvPicPr>
            <p:blipFill rotWithShape="1">
              <a:blip r:embed="rId1" cstate="print">
                <a:extLst>
                  <a:ext uri="{28A0092B-C50C-407E-A947-70E740481C1C}">
                    <a14:useLocalDpi xmlns:a14="http://schemas.microsoft.com/office/drawing/2010/main" val="0"/>
                  </a:ext>
                </a:extLst>
              </a:blip>
              <a:srcRect l="12304"/>
              <a:stretch>
                <a:fillRect/>
              </a:stretch>
            </p:blipFill>
            <p:spPr bwMode="auto">
              <a:xfrm>
                <a:off x="2267744" y="777888"/>
                <a:ext cx="1691680" cy="1289806"/>
              </a:xfrm>
              <a:prstGeom prst="rect">
                <a:avLst/>
              </a:prstGeom>
              <a:noFill/>
              <a:extLst>
                <a:ext uri="{909E8E84-426E-40DD-AFC4-6F175D3DCCD1}">
                  <a14:hiddenFill xmlns:a14="http://schemas.microsoft.com/office/drawing/2010/main">
                    <a:solidFill>
                      <a:srgbClr val="FFFFFF"/>
                    </a:solidFill>
                  </a14:hiddenFill>
                </a:ext>
              </a:extLst>
            </p:spPr>
          </p:pic>
        </p:grpSp>
        <p:pic>
          <p:nvPicPr>
            <p:cNvPr id="14" name="Picture 2" descr="E:\0000000我图PPT\00001PNG素材\01党委政府\天安门抽象.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2472" y="1419622"/>
              <a:ext cx="1064771" cy="446157"/>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TextBox 9"/>
          <p:cNvSpPr txBox="1"/>
          <p:nvPr/>
        </p:nvSpPr>
        <p:spPr>
          <a:xfrm>
            <a:off x="1032510" y="1748155"/>
            <a:ext cx="4032885" cy="459105"/>
          </a:xfrm>
          <a:prstGeom prst="rect">
            <a:avLst/>
          </a:prstGeom>
          <a:noFill/>
        </p:spPr>
        <p:txBody>
          <a:bodyPr wrap="square" lIns="91388" tIns="45693" rIns="91388" bIns="45693" rtlCol="0">
            <a:spAutoFit/>
          </a:bodyPr>
          <a:p>
            <a:pPr algn="ctr">
              <a:buClrTx/>
              <a:buSzTx/>
              <a:buFontTx/>
              <a:defRPr/>
            </a:pPr>
            <a:r>
              <a:rPr lang="zh-CN" altLang="en-US" sz="2400" b="1" dirty="0">
                <a:solidFill>
                  <a:schemeClr val="bg1"/>
                </a:solidFill>
                <a:latin typeface="楷体" panose="02010609060101010101" charset="-122"/>
                <a:ea typeface="楷体" panose="02010609060101010101" charset="-122"/>
                <a:cs typeface="+mn-ea"/>
                <a:sym typeface="+mn-ea"/>
              </a:rPr>
              <a:t>执政</a:t>
            </a:r>
            <a:r>
              <a:rPr lang="zh-CN" altLang="en-US" sz="2400" b="1" dirty="0">
                <a:solidFill>
                  <a:schemeClr val="bg1"/>
                </a:solidFill>
                <a:latin typeface="楷体" panose="02010609060101010101" charset="-122"/>
                <a:ea typeface="楷体" panose="02010609060101010101" charset="-122"/>
                <a:cs typeface="+mn-ea"/>
                <a:sym typeface="+mn-ea"/>
              </a:rPr>
              <a:t>后的第一部党章</a:t>
            </a:r>
            <a:endParaRPr lang="zh-CN" altLang="en-US" sz="2400" b="1" dirty="0">
              <a:solidFill>
                <a:schemeClr val="bg1"/>
              </a:solidFill>
              <a:latin typeface="楷体" panose="02010609060101010101" charset="-122"/>
              <a:ea typeface="楷体" panose="02010609060101010101" charset="-122"/>
              <a:cs typeface="+mn-ea"/>
              <a:sym typeface="Arial" panose="020B0604020202020204"/>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20775" y="1358265"/>
            <a:ext cx="4469130" cy="4869180"/>
          </a:xfrm>
          <a:prstGeom prst="rect">
            <a:avLst/>
          </a:prstGeom>
          <a:noFill/>
          <a:ln w="12700" cap="flat" cmpd="sng" algn="ctr">
            <a:solidFill>
              <a:srgbClr val="C00000"/>
            </a:solidFill>
            <a:prstDash val="solid"/>
          </a:ln>
          <a:effectLst/>
        </p:spPr>
        <p:txBody>
          <a:bodyPr rtlCol="0" anchor="ctr"/>
          <a:lstStyle/>
          <a:p>
            <a:pPr indent="457200" algn="l">
              <a:lnSpc>
                <a:spcPct val="150000"/>
              </a:lnSpc>
              <a:buClrTx/>
              <a:buSzTx/>
              <a:buFontTx/>
            </a:pPr>
            <a:r>
              <a:rPr lang="zh-CN" altLang="en-US" sz="1800" dirty="0">
                <a:latin typeface="楷体" panose="02010609060101010101" charset="-122"/>
                <a:ea typeface="楷体" panose="02010609060101010101" charset="-122"/>
                <a:cs typeface="楷体" panose="02010609060101010101" charset="-122"/>
              </a:rPr>
              <a:t>改革开放新时期，党突破传统社会主义模式束缚，在</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solidFill>
                  <a:srgbClr val="C00000"/>
                </a:solidFill>
                <a:latin typeface="楷体" panose="02010609060101010101" charset="-122"/>
                <a:ea typeface="楷体" panose="02010609060101010101" charset="-122"/>
                <a:cs typeface="楷体" panose="02010609060101010101" charset="-122"/>
              </a:rPr>
              <a:t>什么是社会主义、怎样建设社会主义</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的探索中形成系列科学认识。</a:t>
            </a:r>
            <a:r>
              <a:rPr lang="en-US" altLang="zh-CN" sz="1800" dirty="0">
                <a:latin typeface="楷体" panose="02010609060101010101" charset="-122"/>
                <a:ea typeface="楷体" panose="02010609060101010101" charset="-122"/>
                <a:cs typeface="楷体" panose="02010609060101010101" charset="-122"/>
              </a:rPr>
              <a:t>1997 </a:t>
            </a:r>
            <a:r>
              <a:rPr lang="zh-CN" altLang="en-US" sz="1800" dirty="0">
                <a:latin typeface="楷体" panose="02010609060101010101" charset="-122"/>
                <a:ea typeface="楷体" panose="02010609060101010101" charset="-122"/>
                <a:cs typeface="楷体" panose="02010609060101010101" charset="-122"/>
              </a:rPr>
              <a:t>年</a:t>
            </a:r>
            <a:r>
              <a:rPr lang="zh-CN" altLang="en-US" sz="1800" dirty="0">
                <a:solidFill>
                  <a:srgbClr val="C00000"/>
                </a:solidFill>
                <a:latin typeface="楷体" panose="02010609060101010101" charset="-122"/>
                <a:ea typeface="楷体" panose="02010609060101010101" charset="-122"/>
                <a:cs typeface="楷体" panose="02010609060101010101" charset="-122"/>
              </a:rPr>
              <a:t>中共十五大</a:t>
            </a:r>
            <a:r>
              <a:rPr lang="zh-CN" altLang="en-US" sz="1800" dirty="0">
                <a:latin typeface="楷体" panose="02010609060101010101" charset="-122"/>
                <a:ea typeface="楷体" panose="02010609060101010101" charset="-122"/>
                <a:cs typeface="楷体" panose="02010609060101010101" charset="-122"/>
              </a:rPr>
              <a:t>党章的核心贡献，是正式将</a:t>
            </a:r>
            <a:r>
              <a:rPr lang="zh-CN" altLang="en-US" sz="1800" dirty="0">
                <a:solidFill>
                  <a:srgbClr val="C00000"/>
                </a:solidFill>
                <a:latin typeface="楷体" panose="02010609060101010101" charset="-122"/>
                <a:ea typeface="楷体" panose="02010609060101010101" charset="-122"/>
                <a:cs typeface="楷体" panose="02010609060101010101" charset="-122"/>
              </a:rPr>
              <a:t>邓小平理论确立为党的指导思想</a:t>
            </a:r>
            <a:r>
              <a:rPr lang="zh-CN" altLang="en-US" sz="1800" dirty="0">
                <a:latin typeface="楷体" panose="02010609060101010101" charset="-122"/>
                <a:ea typeface="楷体" panose="02010609060101010101" charset="-122"/>
                <a:cs typeface="楷体" panose="02010609060101010101" charset="-122"/>
              </a:rPr>
              <a:t>，与马克思列宁主义、毛泽东思想共同作为行动指南。这一修订凝练了改革开放的理论成果，巩固了中国特色社会主义的理论根基，标志着中国特色社会主义理论体系初步成型。</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TextBox 4"/>
          <p:cNvSpPr txBox="1"/>
          <p:nvPr/>
        </p:nvSpPr>
        <p:spPr>
          <a:xfrm>
            <a:off x="1415480" y="327419"/>
            <a:ext cx="17068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邓小平</a:t>
            </a:r>
            <a:r>
              <a:rPr lang="zh-CN" altLang="en-US" sz="2400" b="1" dirty="0">
                <a:solidFill>
                  <a:schemeClr val="bg1"/>
                </a:solidFill>
                <a:latin typeface="Arial" panose="020B0604020202020204"/>
                <a:ea typeface="微软雅黑" panose="020B0503020204020204" charset="-122"/>
                <a:sym typeface="+mn-ea"/>
              </a:rPr>
              <a:t>理论</a:t>
            </a:r>
            <a:endParaRPr lang="zh-CN" altLang="en-US" sz="2400" b="1" dirty="0">
              <a:solidFill>
                <a:schemeClr val="bg1"/>
              </a:solidFill>
              <a:latin typeface="Arial" panose="020B0604020202020204"/>
              <a:ea typeface="微软雅黑" panose="020B0503020204020204" charset="-122"/>
              <a:sym typeface="+mn-ea"/>
            </a:endParaRPr>
          </a:p>
        </p:txBody>
      </p:sp>
      <p:pic>
        <p:nvPicPr>
          <p:cNvPr id="2" name="图片 1"/>
          <p:cNvPicPr/>
          <p:nvPr/>
        </p:nvPicPr>
        <p:blipFill>
          <a:blip r:embed="rId1"/>
          <a:stretch>
            <a:fillRect/>
          </a:stretch>
        </p:blipFill>
        <p:spPr>
          <a:xfrm>
            <a:off x="6113780" y="1358265"/>
            <a:ext cx="5781675" cy="39668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753225" y="1463675"/>
            <a:ext cx="4429125" cy="4580255"/>
          </a:xfrm>
          <a:prstGeom prst="rect">
            <a:avLst/>
          </a:prstGeom>
          <a:noFill/>
          <a:ln w="12700" cap="flat" cmpd="sng" algn="ctr">
            <a:solidFill>
              <a:srgbClr val="C00000"/>
            </a:solidFill>
            <a:prstDash val="solid"/>
          </a:ln>
          <a:effectLst/>
        </p:spPr>
        <p:txBody>
          <a:bodyPr rtlCol="0" anchor="ctr"/>
          <a:lstStyle/>
          <a:p>
            <a:pPr indent="457200" algn="l">
              <a:lnSpc>
                <a:spcPct val="150000"/>
              </a:lnSpc>
              <a:buClrTx/>
              <a:buSzTx/>
              <a:buFontTx/>
            </a:pPr>
            <a:r>
              <a:rPr lang="zh-CN" altLang="en-US" sz="1800" dirty="0">
                <a:latin typeface="楷体" panose="02010609060101010101" charset="-122"/>
                <a:ea typeface="楷体" panose="02010609060101010101" charset="-122"/>
                <a:cs typeface="楷体" panose="02010609060101010101" charset="-122"/>
              </a:rPr>
              <a:t>世纪之交，国际社会主义运动遭遇挫折，国内市场经济发展带来新考验，</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solidFill>
                  <a:srgbClr val="C00000"/>
                </a:solidFill>
                <a:latin typeface="楷体" panose="02010609060101010101" charset="-122"/>
                <a:ea typeface="楷体" panose="02010609060101010101" charset="-122"/>
                <a:cs typeface="楷体" panose="02010609060101010101" charset="-122"/>
              </a:rPr>
              <a:t>建设什么样的党、怎样建设党</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en-US" altLang="zh-CN" sz="1800" dirty="0">
                <a:latin typeface="楷体" panose="02010609060101010101" charset="-122"/>
                <a:ea typeface="楷体" panose="02010609060101010101" charset="-122"/>
                <a:cs typeface="楷体" panose="02010609060101010101" charset="-122"/>
              </a:rPr>
              <a:t> </a:t>
            </a:r>
            <a:r>
              <a:rPr lang="zh-CN" altLang="en-US" sz="1800" dirty="0">
                <a:latin typeface="楷体" panose="02010609060101010101" charset="-122"/>
                <a:ea typeface="楷体" panose="02010609060101010101" charset="-122"/>
                <a:cs typeface="楷体" panose="02010609060101010101" charset="-122"/>
              </a:rPr>
              <a:t>成为重大课题。</a:t>
            </a:r>
            <a:r>
              <a:rPr lang="en-US" altLang="zh-CN" sz="1800" dirty="0">
                <a:latin typeface="楷体" panose="02010609060101010101" charset="-122"/>
                <a:ea typeface="楷体" panose="02010609060101010101" charset="-122"/>
                <a:cs typeface="楷体" panose="02010609060101010101" charset="-122"/>
              </a:rPr>
              <a:t>2002 </a:t>
            </a:r>
            <a:r>
              <a:rPr lang="zh-CN" altLang="en-US" sz="1800" dirty="0">
                <a:latin typeface="楷体" panose="02010609060101010101" charset="-122"/>
                <a:ea typeface="楷体" panose="02010609060101010101" charset="-122"/>
                <a:cs typeface="楷体" panose="02010609060101010101" charset="-122"/>
              </a:rPr>
              <a:t>年中共十六大党章将</a:t>
            </a:r>
            <a:r>
              <a:rPr lang="en-US" altLang="zh-CN" sz="1800" dirty="0">
                <a:latin typeface="楷体" panose="02010609060101010101" charset="-122"/>
                <a:ea typeface="楷体" panose="02010609060101010101" charset="-122"/>
                <a:cs typeface="楷体" panose="02010609060101010101" charset="-122"/>
              </a:rPr>
              <a:t> </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solidFill>
                  <a:srgbClr val="C00000"/>
                </a:solidFill>
                <a:latin typeface="楷体" panose="02010609060101010101" charset="-122"/>
                <a:ea typeface="楷体" panose="02010609060101010101" charset="-122"/>
                <a:cs typeface="楷体" panose="02010609060101010101" charset="-122"/>
              </a:rPr>
              <a:t>三个代表</a:t>
            </a:r>
            <a:r>
              <a:rPr lang="en-US" altLang="zh-CN" sz="1800" dirty="0">
                <a:solidFill>
                  <a:srgbClr val="C00000"/>
                </a:solidFill>
                <a:latin typeface="楷体" panose="02010609060101010101" charset="-122"/>
                <a:ea typeface="楷体" panose="02010609060101010101" charset="-122"/>
                <a:cs typeface="楷体" panose="02010609060101010101" charset="-122"/>
              </a:rPr>
              <a:t>” </a:t>
            </a:r>
            <a:r>
              <a:rPr lang="zh-CN" altLang="en-US" sz="1800" dirty="0">
                <a:solidFill>
                  <a:srgbClr val="C00000"/>
                </a:solidFill>
                <a:latin typeface="楷体" panose="02010609060101010101" charset="-122"/>
                <a:ea typeface="楷体" panose="02010609060101010101" charset="-122"/>
                <a:cs typeface="楷体" panose="02010609060101010101" charset="-122"/>
              </a:rPr>
              <a:t>重要思想确立为指导思想</a:t>
            </a:r>
            <a:r>
              <a:rPr lang="zh-CN" altLang="en-US" sz="1800" dirty="0">
                <a:latin typeface="楷体" panose="02010609060101010101" charset="-122"/>
                <a:ea typeface="楷体" panose="02010609060101010101" charset="-122"/>
                <a:cs typeface="楷体" panose="02010609060101010101" charset="-122"/>
              </a:rPr>
              <a:t>，深刻回答了新形势下党的建设核心问题，明确党的先进性与</a:t>
            </a:r>
            <a:r>
              <a:rPr lang="zh-CN" altLang="en-US" sz="1800" dirty="0">
                <a:solidFill>
                  <a:srgbClr val="C00000"/>
                </a:solidFill>
                <a:latin typeface="楷体" panose="02010609060101010101" charset="-122"/>
                <a:ea typeface="楷体" panose="02010609060101010101" charset="-122"/>
                <a:cs typeface="楷体" panose="02010609060101010101" charset="-122"/>
              </a:rPr>
              <a:t>立党为公、执政为民</a:t>
            </a:r>
            <a:r>
              <a:rPr lang="zh-CN" altLang="en-US" sz="1800" dirty="0">
                <a:latin typeface="楷体" panose="02010609060101010101" charset="-122"/>
                <a:ea typeface="楷体" panose="02010609060101010101" charset="-122"/>
                <a:cs typeface="楷体" panose="02010609060101010101" charset="-122"/>
              </a:rPr>
              <a:t>的本质要求，拓展了中国特色社会主义理论体系的内涵，实现了指导思想的与时俱进。</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TextBox 4"/>
          <p:cNvSpPr txBox="1"/>
          <p:nvPr/>
        </p:nvSpPr>
        <p:spPr>
          <a:xfrm>
            <a:off x="1415480" y="327419"/>
            <a:ext cx="2926080" cy="460375"/>
          </a:xfrm>
          <a:prstGeom prst="rect">
            <a:avLst/>
          </a:prstGeom>
          <a:noFill/>
        </p:spPr>
        <p:txBody>
          <a:bodyPr wrap="none" lIns="91440" tIns="45720" rIns="91440" bIns="45720" rtlCol="0">
            <a:spAutoFit/>
          </a:bodyPr>
          <a:lstStyle/>
          <a:p>
            <a:pPr algn="l">
              <a:buClrTx/>
              <a:buSzTx/>
              <a:buFontTx/>
            </a:pPr>
            <a:r>
              <a:rPr lang="en-US" altLang="zh-CN" sz="2400" b="1" dirty="0">
                <a:solidFill>
                  <a:schemeClr val="bg1"/>
                </a:solidFill>
                <a:latin typeface="Arial" panose="020B0604020202020204"/>
                <a:ea typeface="微软雅黑" panose="020B0503020204020204" charset="-122"/>
                <a:sym typeface="+mn-ea"/>
              </a:rPr>
              <a:t>“</a:t>
            </a:r>
            <a:r>
              <a:rPr lang="zh-CN" altLang="en-US" sz="2400" b="1" dirty="0">
                <a:solidFill>
                  <a:schemeClr val="bg1"/>
                </a:solidFill>
                <a:latin typeface="Arial" panose="020B0604020202020204"/>
                <a:ea typeface="微软雅黑" panose="020B0503020204020204" charset="-122"/>
                <a:sym typeface="+mn-ea"/>
              </a:rPr>
              <a:t>三个代表</a:t>
            </a:r>
            <a:r>
              <a:rPr lang="en-US" altLang="zh-CN" sz="2400" b="1" dirty="0">
                <a:solidFill>
                  <a:schemeClr val="bg1"/>
                </a:solidFill>
                <a:latin typeface="Arial" panose="020B0604020202020204"/>
                <a:ea typeface="微软雅黑" panose="020B0503020204020204" charset="-122"/>
                <a:sym typeface="+mn-ea"/>
              </a:rPr>
              <a:t>”</a:t>
            </a:r>
            <a:r>
              <a:rPr lang="zh-CN" altLang="en-US" sz="2400" b="1" dirty="0">
                <a:solidFill>
                  <a:schemeClr val="bg1"/>
                </a:solidFill>
                <a:latin typeface="Arial" panose="020B0604020202020204"/>
                <a:ea typeface="微软雅黑" panose="020B0503020204020204" charset="-122"/>
                <a:sym typeface="+mn-ea"/>
              </a:rPr>
              <a:t>重要</a:t>
            </a:r>
            <a:r>
              <a:rPr lang="zh-CN" altLang="en-US" sz="2400" b="1" dirty="0">
                <a:solidFill>
                  <a:schemeClr val="bg1"/>
                </a:solidFill>
                <a:latin typeface="Arial" panose="020B0604020202020204"/>
                <a:ea typeface="微软雅黑" panose="020B0503020204020204" charset="-122"/>
                <a:sym typeface="+mn-ea"/>
              </a:rPr>
              <a:t>思想</a:t>
            </a:r>
            <a:endParaRPr lang="zh-CN" altLang="en-US" sz="2400" b="1" dirty="0">
              <a:solidFill>
                <a:schemeClr val="bg1"/>
              </a:solidFill>
              <a:latin typeface="Arial" panose="020B0604020202020204"/>
              <a:ea typeface="微软雅黑" panose="020B0503020204020204" charset="-122"/>
              <a:sym typeface="+mn-ea"/>
            </a:endParaRPr>
          </a:p>
        </p:txBody>
      </p:sp>
      <p:pic>
        <p:nvPicPr>
          <p:cNvPr id="3" name="图片 2"/>
          <p:cNvPicPr/>
          <p:nvPr/>
        </p:nvPicPr>
        <p:blipFill>
          <a:blip r:embed="rId1"/>
          <a:stretch>
            <a:fillRect/>
          </a:stretch>
        </p:blipFill>
        <p:spPr>
          <a:xfrm>
            <a:off x="838835" y="1463675"/>
            <a:ext cx="4780280" cy="424561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120775" y="1445260"/>
            <a:ext cx="5226050" cy="4387215"/>
          </a:xfrm>
          <a:prstGeom prst="rect">
            <a:avLst/>
          </a:prstGeom>
          <a:noFill/>
          <a:ln w="12700" cap="flat" cmpd="sng" algn="ctr">
            <a:solidFill>
              <a:srgbClr val="C00000"/>
            </a:solidFill>
            <a:prstDash val="solid"/>
          </a:ln>
          <a:effectLst/>
        </p:spPr>
        <p:txBody>
          <a:bodyPr rtlCol="0" anchor="ctr"/>
          <a:lstStyle/>
          <a:p>
            <a:pPr indent="457200" algn="l">
              <a:lnSpc>
                <a:spcPct val="150000"/>
              </a:lnSpc>
              <a:buClrTx/>
              <a:buSzTx/>
              <a:buFontTx/>
            </a:pPr>
            <a:r>
              <a:rPr lang="zh-CN" altLang="en-US" sz="1800" dirty="0">
                <a:latin typeface="楷体" panose="02010609060101010101" charset="-122"/>
                <a:ea typeface="楷体" panose="02010609060101010101" charset="-122"/>
                <a:cs typeface="楷体" panose="02010609060101010101" charset="-122"/>
              </a:rPr>
              <a:t>随着经济社会快速发展，城乡差距、区域失衡、人与自然不协调等问题凸显</a:t>
            </a:r>
            <a:r>
              <a:rPr lang="en-US" altLang="zh-CN" sz="1800" dirty="0">
                <a:latin typeface="楷体" panose="02010609060101010101" charset="-122"/>
                <a:ea typeface="楷体" panose="02010609060101010101" charset="-122"/>
                <a:cs typeface="楷体" panose="02010609060101010101" charset="-122"/>
              </a:rPr>
              <a:t>,</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solidFill>
                  <a:srgbClr val="C00000"/>
                </a:solidFill>
                <a:latin typeface="楷体" panose="02010609060101010101" charset="-122"/>
                <a:ea typeface="楷体" panose="02010609060101010101" charset="-122"/>
                <a:cs typeface="楷体" panose="02010609060101010101" charset="-122"/>
              </a:rPr>
              <a:t>实现什么样的发展、怎样发展</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成为时代关切。</a:t>
            </a:r>
            <a:r>
              <a:rPr lang="en-US" altLang="zh-CN" sz="1800" dirty="0">
                <a:latin typeface="楷体" panose="02010609060101010101" charset="-122"/>
                <a:ea typeface="楷体" panose="02010609060101010101" charset="-122"/>
                <a:cs typeface="楷体" panose="02010609060101010101" charset="-122"/>
              </a:rPr>
              <a:t>2007 </a:t>
            </a:r>
            <a:r>
              <a:rPr lang="zh-CN" altLang="en-US" sz="1800" dirty="0">
                <a:latin typeface="楷体" panose="02010609060101010101" charset="-122"/>
                <a:ea typeface="楷体" panose="02010609060101010101" charset="-122"/>
                <a:cs typeface="楷体" panose="02010609060101010101" charset="-122"/>
              </a:rPr>
              <a:t>年十七大将科学发展观写入党章，</a:t>
            </a:r>
            <a:r>
              <a:rPr lang="en-US" altLang="zh-CN" sz="1800" dirty="0">
                <a:latin typeface="楷体" panose="02010609060101010101" charset="-122"/>
                <a:ea typeface="楷体" panose="02010609060101010101" charset="-122"/>
                <a:cs typeface="楷体" panose="02010609060101010101" charset="-122"/>
              </a:rPr>
              <a:t>2012 </a:t>
            </a:r>
            <a:r>
              <a:rPr lang="zh-CN" altLang="en-US" sz="1800" dirty="0">
                <a:latin typeface="楷体" panose="02010609060101010101" charset="-122"/>
                <a:ea typeface="楷体" panose="02010609060101010101" charset="-122"/>
                <a:cs typeface="楷体" panose="02010609060101010101" charset="-122"/>
              </a:rPr>
              <a:t>年十八大进一步将其</a:t>
            </a:r>
            <a:r>
              <a:rPr lang="zh-CN" altLang="en-US" sz="1800" dirty="0">
                <a:solidFill>
                  <a:srgbClr val="C00000"/>
                </a:solidFill>
                <a:latin typeface="楷体" panose="02010609060101010101" charset="-122"/>
                <a:ea typeface="楷体" panose="02010609060101010101" charset="-122"/>
                <a:cs typeface="楷体" panose="02010609060101010101" charset="-122"/>
              </a:rPr>
              <a:t>确立为指导思想</a:t>
            </a:r>
            <a:r>
              <a:rPr lang="zh-CN" altLang="en-US" sz="1800" dirty="0">
                <a:latin typeface="楷体" panose="02010609060101010101" charset="-122"/>
                <a:ea typeface="楷体" panose="02010609060101010101" charset="-122"/>
                <a:cs typeface="楷体" panose="02010609060101010101" charset="-122"/>
              </a:rPr>
              <a:t>。科学发展观以</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solidFill>
                  <a:srgbClr val="C00000"/>
                </a:solidFill>
                <a:latin typeface="楷体" panose="02010609060101010101" charset="-122"/>
                <a:ea typeface="楷体" panose="02010609060101010101" charset="-122"/>
                <a:cs typeface="楷体" panose="02010609060101010101" charset="-122"/>
              </a:rPr>
              <a:t>以人为本、全面协调可持续</a:t>
            </a:r>
            <a:r>
              <a:rPr lang="en-US" altLang="zh-CN" sz="1800" dirty="0">
                <a:solidFill>
                  <a:srgbClr val="C00000"/>
                </a:solidFill>
                <a:latin typeface="楷体" panose="02010609060101010101" charset="-122"/>
                <a:ea typeface="楷体" panose="02010609060101010101" charset="-122"/>
                <a:cs typeface="楷体" panose="02010609060101010101" charset="-122"/>
              </a:rPr>
              <a:t>”</a:t>
            </a:r>
            <a:r>
              <a:rPr lang="zh-CN" altLang="en-US" sz="1800" dirty="0">
                <a:latin typeface="楷体" panose="02010609060101010101" charset="-122"/>
                <a:ea typeface="楷体" panose="02010609060101010101" charset="-122"/>
                <a:cs typeface="楷体" panose="02010609060101010101" charset="-122"/>
              </a:rPr>
              <a:t>为核心，系统回答了发展课题；同时十八大党章将中国特色社会主义道路、理论体系、制度三者统一写入党章，完善了理论体系的整体架构，增强了其系统性与实践性。</a:t>
            </a:r>
            <a:endParaRPr lang="zh-CN" altLang="en-US" sz="1800" dirty="0">
              <a:latin typeface="楷体" panose="02010609060101010101" charset="-122"/>
              <a:ea typeface="楷体" panose="02010609060101010101" charset="-122"/>
              <a:cs typeface="楷体" panose="02010609060101010101" charset="-122"/>
            </a:endParaRPr>
          </a:p>
        </p:txBody>
      </p:sp>
      <p:sp>
        <p:nvSpPr>
          <p:cNvPr id="9" name="TextBox 4"/>
          <p:cNvSpPr txBox="1"/>
          <p:nvPr/>
        </p:nvSpPr>
        <p:spPr>
          <a:xfrm>
            <a:off x="1415480" y="327419"/>
            <a:ext cx="17068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科学</a:t>
            </a:r>
            <a:r>
              <a:rPr lang="zh-CN" altLang="en-US" sz="2400" b="1" dirty="0">
                <a:solidFill>
                  <a:schemeClr val="bg1"/>
                </a:solidFill>
                <a:latin typeface="Arial" panose="020B0604020202020204"/>
                <a:ea typeface="微软雅黑" panose="020B0503020204020204" charset="-122"/>
                <a:sym typeface="+mn-ea"/>
              </a:rPr>
              <a:t>发展观</a:t>
            </a:r>
            <a:endParaRPr lang="zh-CN" altLang="en-US" sz="2400" b="1" dirty="0">
              <a:solidFill>
                <a:schemeClr val="bg1"/>
              </a:solidFill>
              <a:latin typeface="Arial" panose="020B0604020202020204"/>
              <a:ea typeface="微软雅黑" panose="020B0503020204020204" charset="-122"/>
              <a:sym typeface="+mn-ea"/>
            </a:endParaRPr>
          </a:p>
        </p:txBody>
      </p:sp>
      <p:pic>
        <p:nvPicPr>
          <p:cNvPr id="11" name="图片 10" descr="R"/>
          <p:cNvPicPr>
            <a:picLocks noChangeAspect="1"/>
          </p:cNvPicPr>
          <p:nvPr/>
        </p:nvPicPr>
        <p:blipFill>
          <a:blip r:embed="rId1"/>
          <a:stretch>
            <a:fillRect/>
          </a:stretch>
        </p:blipFill>
        <p:spPr>
          <a:xfrm>
            <a:off x="7543165" y="1431290"/>
            <a:ext cx="3609340" cy="440118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6092190" y="1433830"/>
            <a:ext cx="5111115" cy="5069205"/>
          </a:xfrm>
          <a:prstGeom prst="rect">
            <a:avLst/>
          </a:prstGeom>
          <a:noFill/>
          <a:ln w="12700" cap="flat" cmpd="sng" algn="ctr">
            <a:solidFill>
              <a:srgbClr val="C00000"/>
            </a:solidFill>
            <a:prstDash val="solid"/>
          </a:ln>
          <a:effectLst/>
        </p:spPr>
        <p:txBody>
          <a:bodyPr rtlCol="0" anchor="ctr"/>
          <a:lstStyle/>
          <a:p>
            <a:pPr indent="457200" algn="l">
              <a:lnSpc>
                <a:spcPct val="150000"/>
              </a:lnSpc>
              <a:buClrTx/>
              <a:buSzTx/>
              <a:buFontTx/>
            </a:pPr>
            <a:r>
              <a:rPr lang="zh-CN" altLang="en-US" sz="1800" dirty="0">
                <a:latin typeface="Times New Roman" panose="02020603050405020304" charset="0"/>
                <a:ea typeface="楷体" panose="02010609060101010101" charset="-122"/>
                <a:cs typeface="Times New Roman" panose="02020603050405020304" charset="0"/>
              </a:rPr>
              <a:t>中国特色社会主义进入新时代，面对</a:t>
            </a:r>
            <a:r>
              <a:rPr lang="en-US" altLang="zh-CN" sz="1800" dirty="0">
                <a:solidFill>
                  <a:srgbClr val="C00000"/>
                </a:solidFill>
                <a:latin typeface="Times New Roman" panose="02020603050405020304" charset="0"/>
                <a:ea typeface="楷体" panose="02010609060101010101" charset="-122"/>
                <a:cs typeface="Times New Roman" panose="02020603050405020304" charset="0"/>
              </a:rPr>
              <a:t>“</a:t>
            </a:r>
            <a:r>
              <a:rPr lang="zh-CN" altLang="en-US" sz="1800" dirty="0">
                <a:solidFill>
                  <a:srgbClr val="C00000"/>
                </a:solidFill>
                <a:latin typeface="Times New Roman" panose="02020603050405020304" charset="0"/>
                <a:ea typeface="楷体" panose="02010609060101010101" charset="-122"/>
                <a:cs typeface="Times New Roman" panose="02020603050405020304" charset="0"/>
              </a:rPr>
              <a:t>两个大局</a:t>
            </a:r>
            <a:r>
              <a:rPr lang="en-US" altLang="zh-CN" sz="1800" dirty="0">
                <a:solidFill>
                  <a:srgbClr val="C00000"/>
                </a:solidFill>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交织的复杂形势，以及</a:t>
            </a:r>
            <a:r>
              <a:rPr lang="en-US" altLang="zh-CN" sz="1800" dirty="0">
                <a:solidFill>
                  <a:srgbClr val="C00000"/>
                </a:solidFill>
                <a:latin typeface="Times New Roman" panose="02020603050405020304" charset="0"/>
                <a:ea typeface="楷体" panose="02010609060101010101" charset="-122"/>
                <a:cs typeface="Times New Roman" panose="02020603050405020304" charset="0"/>
              </a:rPr>
              <a:t>“</a:t>
            </a:r>
            <a:r>
              <a:rPr lang="zh-CN" altLang="en-US" sz="1800" dirty="0">
                <a:solidFill>
                  <a:srgbClr val="C00000"/>
                </a:solidFill>
                <a:latin typeface="Times New Roman" panose="02020603050405020304" charset="0"/>
                <a:ea typeface="楷体" panose="02010609060101010101" charset="-122"/>
                <a:cs typeface="Times New Roman" panose="02020603050405020304" charset="0"/>
              </a:rPr>
              <a:t>新时代坚持和发展什么样的中国特色社会主义、怎样坚持和发展中国特色社会主义</a:t>
            </a:r>
            <a:r>
              <a:rPr lang="en-US" altLang="zh-CN" sz="1800" dirty="0">
                <a:solidFill>
                  <a:srgbClr val="C00000"/>
                </a:solidFill>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的重大课题，</a:t>
            </a:r>
            <a:r>
              <a:rPr lang="en-US" altLang="zh-CN" sz="1800" dirty="0">
                <a:latin typeface="Times New Roman" panose="02020603050405020304" charset="0"/>
                <a:ea typeface="楷体" panose="02010609060101010101" charset="-122"/>
                <a:cs typeface="Times New Roman" panose="02020603050405020304" charset="0"/>
              </a:rPr>
              <a:t>2017 </a:t>
            </a:r>
            <a:r>
              <a:rPr lang="zh-CN" altLang="en-US" sz="1800" dirty="0">
                <a:latin typeface="Times New Roman" panose="02020603050405020304" charset="0"/>
                <a:ea typeface="楷体" panose="02010609060101010101" charset="-122"/>
                <a:cs typeface="Times New Roman" panose="02020603050405020304" charset="0"/>
              </a:rPr>
              <a:t>年十九大党章将</a:t>
            </a:r>
            <a:r>
              <a:rPr lang="zh-CN" altLang="en-US" sz="1800" dirty="0">
                <a:solidFill>
                  <a:srgbClr val="C00000"/>
                </a:solidFill>
                <a:latin typeface="Times New Roman" panose="02020603050405020304" charset="0"/>
                <a:ea typeface="楷体" panose="02010609060101010101" charset="-122"/>
                <a:cs typeface="Times New Roman" panose="02020603050405020304" charset="0"/>
              </a:rPr>
              <a:t>习近平新时代中国特色社会主义思想确立为指导思想</a:t>
            </a:r>
            <a:r>
              <a:rPr lang="zh-CN" altLang="en-US" sz="1800" dirty="0">
                <a:latin typeface="Times New Roman" panose="02020603050405020304" charset="0"/>
                <a:ea typeface="楷体" panose="02010609060101010101" charset="-122"/>
                <a:cs typeface="Times New Roman" panose="02020603050405020304" charset="0"/>
              </a:rPr>
              <a:t>。</a:t>
            </a:r>
            <a:r>
              <a:rPr lang="en-US" altLang="zh-CN" sz="1800" dirty="0">
                <a:latin typeface="Times New Roman" panose="02020603050405020304" charset="0"/>
                <a:ea typeface="楷体" panose="02010609060101010101" charset="-122"/>
                <a:cs typeface="Times New Roman" panose="02020603050405020304" charset="0"/>
              </a:rPr>
              <a:t>2022 </a:t>
            </a:r>
            <a:r>
              <a:rPr lang="zh-CN" altLang="en-US" sz="1800" dirty="0">
                <a:latin typeface="Times New Roman" panose="02020603050405020304" charset="0"/>
                <a:ea typeface="楷体" panose="02010609060101010101" charset="-122"/>
                <a:cs typeface="Times New Roman" panose="02020603050405020304" charset="0"/>
              </a:rPr>
              <a:t>年二十大党章进一步充实其内涵，明确其为</a:t>
            </a:r>
            <a:r>
              <a:rPr lang="en-US" altLang="zh-CN" sz="1800" dirty="0">
                <a:latin typeface="Times New Roman" panose="02020603050405020304" charset="0"/>
                <a:ea typeface="楷体" panose="02010609060101010101" charset="-122"/>
                <a:cs typeface="Times New Roman" panose="02020603050405020304" charset="0"/>
              </a:rPr>
              <a:t> “</a:t>
            </a:r>
            <a:r>
              <a:rPr lang="zh-CN" altLang="en-US" sz="1800" dirty="0">
                <a:latin typeface="Times New Roman" panose="02020603050405020304" charset="0"/>
                <a:ea typeface="楷体" panose="02010609060101010101" charset="-122"/>
                <a:cs typeface="Times New Roman" panose="02020603050405020304" charset="0"/>
              </a:rPr>
              <a:t>当代中国马克思主义、二十一世纪马克思主义，是中华文化和中国精神的时代精华</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，并增写党百年奋斗成就与历史经验等内容，推动中国特色社会主义理论体系实现新升华，为新时代全党统一思想、凝聚力量提供了根本遵循。</a:t>
            </a:r>
            <a:endParaRPr lang="zh-CN" altLang="en-US" sz="1800" dirty="0">
              <a:latin typeface="Times New Roman" panose="02020603050405020304" charset="0"/>
              <a:ea typeface="楷体" panose="02010609060101010101" charset="-122"/>
              <a:cs typeface="Times New Roman" panose="02020603050405020304" charset="0"/>
            </a:endParaRPr>
          </a:p>
        </p:txBody>
      </p:sp>
      <p:sp>
        <p:nvSpPr>
          <p:cNvPr id="9" name="TextBox 4"/>
          <p:cNvSpPr txBox="1"/>
          <p:nvPr/>
        </p:nvSpPr>
        <p:spPr>
          <a:xfrm>
            <a:off x="1415480" y="327419"/>
            <a:ext cx="50596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习近平新时代中国特色社会主义</a:t>
            </a:r>
            <a:r>
              <a:rPr lang="zh-CN" altLang="en-US" sz="2400" b="1" dirty="0">
                <a:solidFill>
                  <a:schemeClr val="bg1"/>
                </a:solidFill>
                <a:latin typeface="Arial" panose="020B0604020202020204"/>
                <a:ea typeface="微软雅黑" panose="020B0503020204020204" charset="-122"/>
                <a:sym typeface="+mn-ea"/>
              </a:rPr>
              <a:t>思想</a:t>
            </a:r>
            <a:endParaRPr lang="zh-CN" altLang="en-US" sz="2400" b="1" dirty="0">
              <a:solidFill>
                <a:schemeClr val="bg1"/>
              </a:solidFill>
              <a:latin typeface="Arial" panose="020B0604020202020204"/>
              <a:ea typeface="微软雅黑" panose="020B0503020204020204" charset="-122"/>
              <a:sym typeface="+mn-ea"/>
            </a:endParaRPr>
          </a:p>
        </p:txBody>
      </p:sp>
      <p:pic>
        <p:nvPicPr>
          <p:cNvPr id="4" name="图片 3"/>
          <p:cNvPicPr>
            <a:picLocks noChangeAspect="1"/>
          </p:cNvPicPr>
          <p:nvPr/>
        </p:nvPicPr>
        <p:blipFill>
          <a:blip r:embed="rId1"/>
          <a:stretch>
            <a:fillRect/>
          </a:stretch>
        </p:blipFill>
        <p:spPr>
          <a:xfrm>
            <a:off x="347345" y="1433830"/>
            <a:ext cx="5563235" cy="3129280"/>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5"/>
          <p:cNvSpPr/>
          <p:nvPr/>
        </p:nvSpPr>
        <p:spPr bwMode="auto">
          <a:xfrm>
            <a:off x="3719736" y="1854910"/>
            <a:ext cx="1008112" cy="1011496"/>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cxnSp>
        <p:nvCxnSpPr>
          <p:cNvPr id="3" name="直接连接符 2"/>
          <p:cNvCxnSpPr/>
          <p:nvPr/>
        </p:nvCxnSpPr>
        <p:spPr bwMode="auto">
          <a:xfrm>
            <a:off x="5214517" y="2896538"/>
            <a:ext cx="3761803" cy="0"/>
          </a:xfrm>
          <a:prstGeom prst="line">
            <a:avLst/>
          </a:prstGeom>
          <a:solidFill>
            <a:schemeClr val="accent1"/>
          </a:solidFill>
          <a:ln w="9525" cap="flat" cmpd="sng" algn="ctr">
            <a:solidFill>
              <a:srgbClr val="D1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9"/>
          <p:cNvSpPr txBox="1"/>
          <p:nvPr/>
        </p:nvSpPr>
        <p:spPr>
          <a:xfrm>
            <a:off x="5214517" y="1890530"/>
            <a:ext cx="3185740" cy="920750"/>
          </a:xfrm>
          <a:prstGeom prst="rect">
            <a:avLst/>
          </a:prstGeom>
          <a:noFill/>
        </p:spPr>
        <p:txBody>
          <a:bodyPr wrap="square" lIns="91388" tIns="45693" rIns="91388" bIns="45693" rtlCol="0">
            <a:spAutoFit/>
          </a:bodyPr>
          <a:lstStyle/>
          <a:p>
            <a:pPr>
              <a:defRPr/>
            </a:pPr>
            <a:r>
              <a:rPr lang="zh-CN" altLang="en-US" sz="5400" b="1" dirty="0">
                <a:solidFill>
                  <a:srgbClr val="C00000"/>
                </a:solidFill>
                <a:latin typeface="Arial" panose="020B0604020202020204"/>
                <a:ea typeface="微软雅黑" panose="020B0503020204020204" charset="-122"/>
                <a:cs typeface="+mn-ea"/>
                <a:sym typeface="Arial" panose="020B0604020202020204"/>
              </a:rPr>
              <a:t>第</a:t>
            </a:r>
            <a:r>
              <a:rPr lang="zh-CN" altLang="en-US" sz="5400" b="1" dirty="0">
                <a:solidFill>
                  <a:srgbClr val="C00000"/>
                </a:solidFill>
                <a:latin typeface="Arial" panose="020B0604020202020204"/>
                <a:ea typeface="微软雅黑" panose="020B0503020204020204" charset="-122"/>
                <a:cs typeface="+mn-ea"/>
                <a:sym typeface="Arial" panose="020B0604020202020204"/>
              </a:rPr>
              <a:t>四章</a:t>
            </a:r>
            <a:endParaRPr lang="zh-CN" altLang="en-US" sz="5400" b="1" dirty="0">
              <a:solidFill>
                <a:srgbClr val="C00000"/>
              </a:solidFill>
              <a:latin typeface="Arial" panose="020B0604020202020204"/>
              <a:ea typeface="微软雅黑" panose="020B0503020204020204" charset="-122"/>
              <a:cs typeface="+mn-ea"/>
              <a:sym typeface="Arial" panose="020B0604020202020204"/>
            </a:endParaRPr>
          </a:p>
        </p:txBody>
      </p:sp>
      <p:sp>
        <p:nvSpPr>
          <p:cNvPr id="5" name="TextBox 9"/>
          <p:cNvSpPr txBox="1"/>
          <p:nvPr/>
        </p:nvSpPr>
        <p:spPr>
          <a:xfrm>
            <a:off x="-1270" y="3148965"/>
            <a:ext cx="12193270" cy="767080"/>
          </a:xfrm>
          <a:prstGeom prst="rect">
            <a:avLst/>
          </a:prstGeom>
          <a:noFill/>
        </p:spPr>
        <p:txBody>
          <a:bodyPr wrap="square" lIns="91388" tIns="45693" rIns="91388" bIns="45693" rtlCol="0">
            <a:spAutoFit/>
          </a:bodyPr>
          <a:lstStyle/>
          <a:p>
            <a:pPr algn="ctr"/>
            <a:r>
              <a:rPr lang="en-US" altLang="zh-CN" sz="4400" b="1" dirty="0">
                <a:solidFill>
                  <a:srgbClr val="C00000"/>
                </a:solidFill>
                <a:latin typeface="微软雅黑" panose="020B0503020204020204" charset="-122"/>
                <a:ea typeface="微软雅黑" panose="020B0503020204020204" charset="-122"/>
                <a:sym typeface="+mn-ea"/>
              </a:rPr>
              <a:t>“</a:t>
            </a:r>
            <a:r>
              <a:rPr lang="zh-CN" altLang="en-US" sz="4400" b="1" dirty="0">
                <a:solidFill>
                  <a:srgbClr val="C00000"/>
                </a:solidFill>
                <a:latin typeface="微软雅黑" panose="020B0503020204020204" charset="-122"/>
                <a:ea typeface="微软雅黑" panose="020B0503020204020204" charset="-122"/>
                <a:sym typeface="+mn-ea"/>
              </a:rPr>
              <a:t>党章为纲</a:t>
            </a:r>
            <a:r>
              <a:rPr lang="en-US" altLang="zh-CN" sz="4400" b="1" dirty="0">
                <a:solidFill>
                  <a:srgbClr val="C00000"/>
                </a:solidFill>
                <a:latin typeface="微软雅黑" panose="020B0503020204020204" charset="-122"/>
                <a:ea typeface="微软雅黑" panose="020B0503020204020204" charset="-122"/>
                <a:sym typeface="+mn-ea"/>
              </a:rPr>
              <a:t>”</a:t>
            </a:r>
            <a:r>
              <a:rPr lang="zh-CN" altLang="en-US" sz="4400" b="1" dirty="0">
                <a:solidFill>
                  <a:srgbClr val="C00000"/>
                </a:solidFill>
                <a:latin typeface="微软雅黑" panose="020B0503020204020204" charset="-122"/>
                <a:ea typeface="微软雅黑" panose="020B0503020204020204" charset="-122"/>
                <a:sym typeface="+mn-ea"/>
              </a:rPr>
              <a:t>的制度逻辑与时代意义</a:t>
            </a:r>
            <a:endParaRPr lang="zh-CN" altLang="en-US" sz="4400" b="1" dirty="0">
              <a:solidFill>
                <a:srgbClr val="C00000"/>
              </a:solidFill>
              <a:latin typeface="微软雅黑" panose="020B0503020204020204" charset="-122"/>
              <a:ea typeface="微软雅黑" panose="020B0503020204020204" charset="-122"/>
              <a:sym typeface="+mn-ea"/>
            </a:endParaRPr>
          </a:p>
        </p:txBody>
      </p:sp>
      <p:pic>
        <p:nvPicPr>
          <p:cNvPr id="6"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83355"/>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16" presetClass="entr" presetSubtype="21"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inVertical)">
                                      <p:cBhvr>
                                        <p:cTn id="13" dur="500"/>
                                        <p:tgtEl>
                                          <p:spTgt spid="3"/>
                                        </p:tgtEl>
                                      </p:cBhvr>
                                    </p:animEffect>
                                  </p:childTnLst>
                                </p:cTn>
                              </p:par>
                            </p:childTnLst>
                          </p:cTn>
                        </p:par>
                        <p:par>
                          <p:cTn id="14" fill="hold">
                            <p:stCondLst>
                              <p:cond delay="1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anim calcmode="lin" valueType="num">
                                      <p:cBhvr>
                                        <p:cTn id="19" dur="5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4"/>
                                        </p:tgtEl>
                                      </p:cBhvr>
                                    </p:animEffect>
                                  </p:childTnLst>
                                </p:cTn>
                              </p:par>
                            </p:childTnLst>
                          </p:cTn>
                        </p:par>
                        <p:par>
                          <p:cTn id="22" fill="hold">
                            <p:stCondLst>
                              <p:cond delay="2099"/>
                            </p:stCondLst>
                            <p:childTnLst>
                              <p:par>
                                <p:cTn id="23" presetID="41" presetClass="entr" presetSubtype="0" fill="hold" grpId="0" nodeType="afterEffect">
                                  <p:stCondLst>
                                    <p:cond delay="0"/>
                                  </p:stCondLst>
                                  <p:iterate type="lt">
                                    <p:tmPct val="10000"/>
                                  </p:iterate>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26" dur="500" fill="hold"/>
                                        <p:tgtEl>
                                          <p:spTgt spid="5"/>
                                        </p:tgtEl>
                                        <p:attrNameLst>
                                          <p:attrName>ppt_y</p:attrName>
                                        </p:attrNameLst>
                                      </p:cBhvr>
                                      <p:tavLst>
                                        <p:tav tm="0">
                                          <p:val>
                                            <p:strVal val="#ppt_y"/>
                                          </p:val>
                                        </p:tav>
                                        <p:tav tm="100000">
                                          <p:val>
                                            <p:strVal val="#ppt_y"/>
                                          </p:val>
                                        </p:tav>
                                      </p:tavLst>
                                    </p:anim>
                                    <p:anim calcmode="lin" valueType="num">
                                      <p:cBhvr>
                                        <p:cTn id="27"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28"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9" dur="500" tmFilter="0,0; .5, 1; 1, 1"/>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6555740" y="5457190"/>
            <a:ext cx="5648325" cy="1198880"/>
          </a:xfrm>
          <a:prstGeom prst="rect">
            <a:avLst/>
          </a:prstGeom>
          <a:noFill/>
        </p:spPr>
        <p:txBody>
          <a:bodyPr wrap="square" rtlCol="0">
            <a:spAutoFit/>
          </a:bodyPr>
          <a:p>
            <a:pPr algn="l"/>
            <a:r>
              <a:rPr lang="zh-CN" altLang="en-US" sz="3600">
                <a:solidFill>
                  <a:srgbClr val="C00000"/>
                </a:solidFill>
                <a:latin typeface="华文中宋" panose="02010600040101010101" charset="-122"/>
                <a:ea typeface="华文中宋" panose="02010600040101010101" charset="-122"/>
              </a:rPr>
              <a:t>思想的深处</a:t>
            </a:r>
            <a:endParaRPr lang="zh-CN" altLang="en-US" sz="3600">
              <a:solidFill>
                <a:srgbClr val="C00000"/>
              </a:solidFill>
              <a:latin typeface="华文中宋" panose="02010600040101010101" charset="-122"/>
              <a:ea typeface="华文中宋" panose="02010600040101010101" charset="-122"/>
            </a:endParaRPr>
          </a:p>
          <a:p>
            <a:pPr algn="l"/>
            <a:r>
              <a:rPr lang="en-US" altLang="zh-CN" sz="3600">
                <a:solidFill>
                  <a:srgbClr val="C00000"/>
                </a:solidFill>
                <a:latin typeface="华文中宋" panose="02010600040101010101" charset="-122"/>
                <a:ea typeface="华文中宋" panose="02010600040101010101" charset="-122"/>
              </a:rPr>
              <a:t>               </a:t>
            </a:r>
            <a:r>
              <a:rPr lang="zh-CN" altLang="en-US" sz="3600">
                <a:solidFill>
                  <a:srgbClr val="C00000"/>
                </a:solidFill>
                <a:latin typeface="华文中宋" panose="02010600040101010101" charset="-122"/>
                <a:ea typeface="华文中宋" panose="02010600040101010101" charset="-122"/>
              </a:rPr>
              <a:t>走向行动的远方</a:t>
            </a:r>
            <a:endParaRPr lang="zh-CN" altLang="en-US" sz="3600">
              <a:solidFill>
                <a:srgbClr val="C00000"/>
              </a:solidFill>
              <a:latin typeface="华文中宋" panose="02010600040101010101" charset="-122"/>
              <a:ea typeface="华文中宋" panose="02010600040101010101" charset="-122"/>
            </a:endParaRPr>
          </a:p>
        </p:txBody>
      </p:sp>
      <p:sp>
        <p:nvSpPr>
          <p:cNvPr id="9" name="TextBox 4"/>
          <p:cNvSpPr txBox="1"/>
          <p:nvPr/>
        </p:nvSpPr>
        <p:spPr>
          <a:xfrm>
            <a:off x="1415480" y="287414"/>
            <a:ext cx="2926080" cy="460375"/>
          </a:xfrm>
          <a:prstGeom prst="rect">
            <a:avLst/>
          </a:prstGeom>
          <a:noFill/>
        </p:spPr>
        <p:txBody>
          <a:bodyPr wrap="none" lIns="91440" tIns="45720" rIns="91440" bIns="45720" rtlCol="0">
            <a:spAutoFit/>
          </a:bodyPr>
          <a:lstStyle/>
          <a:p>
            <a:pPr algn="l">
              <a:buClrTx/>
              <a:buSzTx/>
              <a:buFontTx/>
            </a:pPr>
            <a:r>
              <a:rPr lang="zh-CN" altLang="en-US" sz="2400" b="1" dirty="0">
                <a:solidFill>
                  <a:schemeClr val="bg1"/>
                </a:solidFill>
                <a:latin typeface="Arial" panose="020B0604020202020204"/>
                <a:ea typeface="微软雅黑" panose="020B0503020204020204" charset="-122"/>
                <a:sym typeface="+mn-ea"/>
              </a:rPr>
              <a:t>制度逻辑与时代意义</a:t>
            </a:r>
            <a:endParaRPr lang="zh-CN" altLang="en-US" sz="2400" b="1" dirty="0">
              <a:solidFill>
                <a:schemeClr val="bg1"/>
              </a:solidFill>
              <a:latin typeface="Arial" panose="020B0604020202020204"/>
              <a:ea typeface="微软雅黑" panose="020B0503020204020204" charset="-122"/>
              <a:sym typeface="Arial" panose="020B0604020202020204"/>
            </a:endParaRPr>
          </a:p>
        </p:txBody>
      </p:sp>
      <p:sp>
        <p:nvSpPr>
          <p:cNvPr id="11" name="矩形 10"/>
          <p:cNvSpPr/>
          <p:nvPr/>
        </p:nvSpPr>
        <p:spPr bwMode="auto">
          <a:xfrm>
            <a:off x="988695" y="1305560"/>
            <a:ext cx="4250690" cy="621665"/>
          </a:xfrm>
          <a:prstGeom prst="rect">
            <a:avLst/>
          </a:prstGeom>
          <a:solidFill>
            <a:srgbClr val="C00000"/>
          </a:solidFill>
          <a:ln w="38100"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TextBox 23"/>
          <p:cNvSpPr txBox="1"/>
          <p:nvPr/>
        </p:nvSpPr>
        <p:spPr>
          <a:xfrm>
            <a:off x="988695" y="1305560"/>
            <a:ext cx="4250055" cy="621665"/>
          </a:xfrm>
          <a:prstGeom prst="rect">
            <a:avLst/>
          </a:prstGeom>
          <a:noFill/>
        </p:spPr>
        <p:txBody>
          <a:bodyPr wrap="square" rtlCol="0">
            <a:noAutofit/>
          </a:bodyPr>
          <a:lstStyle/>
          <a:p>
            <a:pPr algn="ctr">
              <a:buClrTx/>
              <a:buSzTx/>
              <a:buFontTx/>
            </a:pPr>
            <a:r>
              <a:rPr lang="zh-CN" altLang="en-US" sz="3200" b="1" dirty="0">
                <a:solidFill>
                  <a:schemeClr val="bg1"/>
                </a:solidFill>
                <a:latin typeface="Arial" panose="020B0604020202020204"/>
                <a:ea typeface="微软雅黑" panose="020B0503020204020204" charset="-122"/>
                <a:sym typeface="+mn-ea"/>
              </a:rPr>
              <a:t>制度逻辑</a:t>
            </a:r>
            <a:endParaRPr lang="zh-CN" altLang="en-US" sz="3200" b="1" dirty="0">
              <a:solidFill>
                <a:schemeClr val="bg1"/>
              </a:solidFill>
              <a:latin typeface="Arial" panose="020B0604020202020204"/>
              <a:ea typeface="微软雅黑" panose="020B0503020204020204" charset="-122"/>
              <a:sym typeface="Arial" panose="020B0604020202020204"/>
            </a:endParaRPr>
          </a:p>
        </p:txBody>
      </p:sp>
      <p:sp>
        <p:nvSpPr>
          <p:cNvPr id="3" name="矩形 2"/>
          <p:cNvSpPr/>
          <p:nvPr/>
        </p:nvSpPr>
        <p:spPr bwMode="auto">
          <a:xfrm>
            <a:off x="7033895" y="1306195"/>
            <a:ext cx="4250690" cy="621665"/>
          </a:xfrm>
          <a:prstGeom prst="rect">
            <a:avLst/>
          </a:prstGeom>
          <a:solidFill>
            <a:srgbClr val="C00000"/>
          </a:solidFill>
          <a:ln w="38100" cap="flat" cmpd="sng" algn="ctr">
            <a:solidFill>
              <a:schemeClr val="bg2"/>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TextBox 23"/>
          <p:cNvSpPr txBox="1"/>
          <p:nvPr/>
        </p:nvSpPr>
        <p:spPr>
          <a:xfrm>
            <a:off x="7033895" y="1306195"/>
            <a:ext cx="4250690" cy="621030"/>
          </a:xfrm>
          <a:prstGeom prst="rect">
            <a:avLst/>
          </a:prstGeom>
          <a:noFill/>
        </p:spPr>
        <p:txBody>
          <a:bodyPr wrap="square" rtlCol="0">
            <a:noAutofit/>
          </a:bodyPr>
          <a:p>
            <a:pPr algn="ctr">
              <a:buClrTx/>
              <a:buSzTx/>
              <a:buFontTx/>
            </a:pPr>
            <a:r>
              <a:rPr lang="zh-CN" altLang="en-US" sz="3200" b="1" dirty="0">
                <a:solidFill>
                  <a:schemeClr val="bg1"/>
                </a:solidFill>
                <a:latin typeface="Arial" panose="020B0604020202020204"/>
                <a:ea typeface="微软雅黑" panose="020B0503020204020204" charset="-122"/>
                <a:sym typeface="+mn-ea"/>
              </a:rPr>
              <a:t>时代</a:t>
            </a:r>
            <a:r>
              <a:rPr lang="zh-CN" altLang="en-US" sz="3200" b="1" dirty="0">
                <a:solidFill>
                  <a:schemeClr val="bg1"/>
                </a:solidFill>
                <a:latin typeface="Arial" panose="020B0604020202020204"/>
                <a:ea typeface="微软雅黑" panose="020B0503020204020204" charset="-122"/>
                <a:sym typeface="+mn-ea"/>
              </a:rPr>
              <a:t>意义</a:t>
            </a:r>
            <a:endParaRPr lang="zh-CN" altLang="en-US" sz="3200" b="1" dirty="0">
              <a:solidFill>
                <a:schemeClr val="bg1"/>
              </a:solidFill>
              <a:latin typeface="Arial" panose="020B0604020202020204"/>
              <a:ea typeface="微软雅黑" panose="020B0503020204020204" charset="-122"/>
              <a:sym typeface="+mn-ea"/>
            </a:endParaRPr>
          </a:p>
        </p:txBody>
      </p:sp>
      <p:sp>
        <p:nvSpPr>
          <p:cNvPr id="7" name="矩形 6"/>
          <p:cNvSpPr/>
          <p:nvPr/>
        </p:nvSpPr>
        <p:spPr>
          <a:xfrm>
            <a:off x="558800" y="2263140"/>
            <a:ext cx="5111115" cy="3671570"/>
          </a:xfrm>
          <a:prstGeom prst="rect">
            <a:avLst/>
          </a:prstGeom>
          <a:noFill/>
          <a:ln w="12700" cap="flat" cmpd="sng" algn="ctr">
            <a:solidFill>
              <a:srgbClr val="C00000"/>
            </a:solidFill>
            <a:prstDash val="solid"/>
          </a:ln>
          <a:effectLst/>
        </p:spPr>
        <p:txBody>
          <a:bodyPr rtlCol="0" anchor="ctr"/>
          <a:p>
            <a:pPr indent="457200" algn="l">
              <a:lnSpc>
                <a:spcPct val="150000"/>
              </a:lnSpc>
              <a:buClrTx/>
              <a:buSzTx/>
              <a:buFontTx/>
            </a:pPr>
            <a:r>
              <a:rPr lang="zh-CN" altLang="en-US" sz="1800" dirty="0">
                <a:solidFill>
                  <a:srgbClr val="C00000"/>
                </a:solidFill>
                <a:latin typeface="微软雅黑" panose="020B0503020204020204" charset="-122"/>
                <a:ea typeface="微软雅黑" panose="020B0503020204020204" charset="-122"/>
                <a:cs typeface="Times New Roman" panose="02020603050405020304" charset="0"/>
              </a:rPr>
              <a:t>★</a:t>
            </a:r>
            <a:r>
              <a:rPr lang="en-US" altLang="zh-CN" sz="1800" dirty="0">
                <a:solidFill>
                  <a:srgbClr val="C00000"/>
                </a:solidFill>
                <a:latin typeface="微软雅黑" panose="020B0503020204020204" charset="-122"/>
                <a:ea typeface="微软雅黑" panose="020B0503020204020204" charset="-122"/>
                <a:cs typeface="Times New Roman" panose="02020603050405020304" charset="0"/>
              </a:rPr>
              <a:t> </a:t>
            </a:r>
            <a:r>
              <a:rPr lang="zh-CN" altLang="en-US" sz="1800" dirty="0">
                <a:latin typeface="Times New Roman" panose="02020603050405020304" charset="0"/>
                <a:ea typeface="楷体" panose="02010609060101010101" charset="-122"/>
                <a:cs typeface="Times New Roman" panose="02020603050405020304" charset="0"/>
              </a:rPr>
              <a:t>构建</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实践创新</a:t>
            </a:r>
            <a:r>
              <a:rPr lang="en-US" altLang="zh-CN" sz="1800" dirty="0">
                <a:latin typeface="Times New Roman" panose="02020603050405020304" charset="0"/>
                <a:ea typeface="楷体" panose="02010609060101010101" charset="-122"/>
                <a:cs typeface="Times New Roman" panose="02020603050405020304" charset="0"/>
              </a:rPr>
              <a:t>-&gt;</a:t>
            </a:r>
            <a:r>
              <a:rPr lang="zh-CN" altLang="en-US" sz="1800" dirty="0">
                <a:latin typeface="Times New Roman" panose="02020603050405020304" charset="0"/>
                <a:ea typeface="楷体" panose="02010609060101010101" charset="-122"/>
                <a:cs typeface="Times New Roman" panose="02020603050405020304" charset="0"/>
              </a:rPr>
              <a:t>理论提炼</a:t>
            </a:r>
            <a:r>
              <a:rPr lang="en-US" altLang="zh-CN" sz="1800" dirty="0">
                <a:latin typeface="Times New Roman" panose="02020603050405020304" charset="0"/>
                <a:ea typeface="楷体" panose="02010609060101010101" charset="-122"/>
                <a:cs typeface="Times New Roman" panose="02020603050405020304" charset="0"/>
              </a:rPr>
              <a:t>-&gt;</a:t>
            </a:r>
            <a:r>
              <a:rPr lang="zh-CN" altLang="en-US" sz="1800" dirty="0">
                <a:latin typeface="Times New Roman" panose="02020603050405020304" charset="0"/>
                <a:ea typeface="楷体" panose="02010609060101010101" charset="-122"/>
                <a:cs typeface="Times New Roman" panose="02020603050405020304" charset="0"/>
              </a:rPr>
              <a:t>党章确认</a:t>
            </a:r>
            <a:r>
              <a:rPr lang="en-US" altLang="zh-CN" sz="1800" dirty="0">
                <a:latin typeface="Times New Roman" panose="02020603050405020304" charset="0"/>
                <a:ea typeface="楷体" panose="02010609060101010101" charset="-122"/>
                <a:cs typeface="Times New Roman" panose="02020603050405020304" charset="0"/>
              </a:rPr>
              <a:t>-&gt;</a:t>
            </a:r>
            <a:r>
              <a:rPr lang="zh-CN" altLang="en-US" sz="1800" dirty="0">
                <a:latin typeface="Times New Roman" panose="02020603050405020304" charset="0"/>
                <a:ea typeface="楷体" panose="02010609060101010101" charset="-122"/>
                <a:cs typeface="Times New Roman" panose="02020603050405020304" charset="0"/>
              </a:rPr>
              <a:t>全党遵循</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的闭环体系。</a:t>
            </a:r>
            <a:endParaRPr lang="zh-CN" altLang="en-US" sz="1800" dirty="0">
              <a:latin typeface="Times New Roman" panose="02020603050405020304" charset="0"/>
              <a:ea typeface="楷体" panose="02010609060101010101" charset="-122"/>
              <a:cs typeface="Times New Roman" panose="02020603050405020304" charset="0"/>
            </a:endParaRPr>
          </a:p>
          <a:p>
            <a:pPr indent="457200" algn="l">
              <a:lnSpc>
                <a:spcPct val="150000"/>
              </a:lnSpc>
              <a:buClrTx/>
              <a:buSzTx/>
              <a:buFontTx/>
            </a:pPr>
            <a:r>
              <a:rPr lang="zh-CN" altLang="en-US" dirty="0">
                <a:solidFill>
                  <a:srgbClr val="C00000"/>
                </a:solidFill>
                <a:latin typeface="微软雅黑" panose="020B0503020204020204" charset="-122"/>
                <a:ea typeface="微软雅黑" panose="020B0503020204020204" charset="-122"/>
                <a:cs typeface="Times New Roman" panose="02020603050405020304" charset="0"/>
                <a:sym typeface="+mn-ea"/>
              </a:rPr>
              <a:t>★</a:t>
            </a:r>
            <a:r>
              <a:rPr lang="en-US" altLang="zh-CN" dirty="0">
                <a:solidFill>
                  <a:srgbClr val="C00000"/>
                </a:solidFill>
                <a:latin typeface="微软雅黑" panose="020B0503020204020204" charset="-122"/>
                <a:ea typeface="微软雅黑" panose="020B0503020204020204" charset="-122"/>
                <a:cs typeface="Times New Roman" panose="02020603050405020304" charset="0"/>
                <a:sym typeface="+mn-ea"/>
              </a:rPr>
              <a:t> </a:t>
            </a:r>
            <a:r>
              <a:rPr lang="zh-CN" altLang="en-US" sz="1800" dirty="0">
                <a:latin typeface="Times New Roman" panose="02020603050405020304" charset="0"/>
                <a:ea typeface="楷体" panose="02010609060101010101" charset="-122"/>
                <a:cs typeface="Times New Roman" panose="02020603050405020304" charset="0"/>
              </a:rPr>
              <a:t>全党在思想、政治、行动上有了统一的根本遵循。</a:t>
            </a:r>
            <a:endParaRPr lang="zh-CN" altLang="en-US" sz="1800" dirty="0">
              <a:latin typeface="Times New Roman" panose="02020603050405020304" charset="0"/>
              <a:ea typeface="楷体" panose="02010609060101010101" charset="-122"/>
              <a:cs typeface="Times New Roman" panose="02020603050405020304" charset="0"/>
            </a:endParaRPr>
          </a:p>
          <a:p>
            <a:pPr indent="457200" algn="l">
              <a:lnSpc>
                <a:spcPct val="150000"/>
              </a:lnSpc>
              <a:buClrTx/>
              <a:buSzTx/>
              <a:buFontTx/>
            </a:pPr>
            <a:r>
              <a:rPr lang="zh-CN" altLang="en-US" dirty="0">
                <a:solidFill>
                  <a:srgbClr val="C00000"/>
                </a:solidFill>
                <a:latin typeface="微软雅黑" panose="020B0503020204020204" charset="-122"/>
                <a:ea typeface="微软雅黑" panose="020B0503020204020204" charset="-122"/>
                <a:cs typeface="Times New Roman" panose="02020603050405020304" charset="0"/>
                <a:sym typeface="+mn-ea"/>
              </a:rPr>
              <a:t>★</a:t>
            </a:r>
            <a:r>
              <a:rPr lang="en-US" altLang="zh-CN" dirty="0">
                <a:solidFill>
                  <a:srgbClr val="C00000"/>
                </a:solidFill>
                <a:latin typeface="微软雅黑" panose="020B0503020204020204" charset="-122"/>
                <a:ea typeface="微软雅黑" panose="020B0503020204020204" charset="-122"/>
                <a:cs typeface="Times New Roman" panose="02020603050405020304" charset="0"/>
                <a:sym typeface="+mn-ea"/>
              </a:rPr>
              <a:t> </a:t>
            </a:r>
            <a:r>
              <a:rPr lang="zh-CN" altLang="en-US" sz="1800" dirty="0">
                <a:latin typeface="Times New Roman" panose="02020603050405020304" charset="0"/>
                <a:ea typeface="楷体" panose="02010609060101010101" charset="-122"/>
                <a:cs typeface="Times New Roman" panose="02020603050405020304" charset="0"/>
              </a:rPr>
              <a:t>马克思主义的根本方向</a:t>
            </a:r>
            <a:r>
              <a:rPr lang="zh-CN" altLang="en-US" sz="1800" dirty="0">
                <a:latin typeface="Times New Roman" panose="02020603050405020304" charset="0"/>
                <a:ea typeface="楷体" panose="02010609060101010101" charset="-122"/>
                <a:cs typeface="Times New Roman" panose="02020603050405020304" charset="0"/>
              </a:rPr>
              <a:t>不偏离，理论成果有效改造客观世界。</a:t>
            </a:r>
            <a:endParaRPr lang="zh-CN" altLang="en-US" sz="1800" dirty="0">
              <a:latin typeface="Times New Roman" panose="02020603050405020304" charset="0"/>
              <a:ea typeface="楷体" panose="02010609060101010101" charset="-122"/>
              <a:cs typeface="Times New Roman" panose="02020603050405020304" charset="0"/>
            </a:endParaRPr>
          </a:p>
          <a:p>
            <a:pPr indent="457200" algn="l">
              <a:lnSpc>
                <a:spcPct val="150000"/>
              </a:lnSpc>
              <a:buClrTx/>
              <a:buSzTx/>
              <a:buFontTx/>
            </a:pPr>
            <a:r>
              <a:rPr lang="zh-CN" altLang="en-US" dirty="0">
                <a:solidFill>
                  <a:srgbClr val="C00000"/>
                </a:solidFill>
                <a:latin typeface="微软雅黑" panose="020B0503020204020204" charset="-122"/>
                <a:ea typeface="微软雅黑" panose="020B0503020204020204" charset="-122"/>
                <a:cs typeface="Times New Roman" panose="02020603050405020304" charset="0"/>
                <a:sym typeface="+mn-ea"/>
              </a:rPr>
              <a:t>★</a:t>
            </a:r>
            <a:r>
              <a:rPr lang="en-US" altLang="zh-CN" dirty="0">
                <a:solidFill>
                  <a:srgbClr val="C00000"/>
                </a:solidFill>
                <a:latin typeface="微软雅黑" panose="020B0503020204020204" charset="-122"/>
                <a:ea typeface="微软雅黑" panose="020B0503020204020204" charset="-122"/>
                <a:cs typeface="Times New Roman" panose="02020603050405020304" charset="0"/>
                <a:sym typeface="+mn-ea"/>
              </a:rPr>
              <a:t> </a:t>
            </a:r>
            <a:r>
              <a:rPr lang="zh-CN" altLang="en-US" sz="1800" dirty="0">
                <a:latin typeface="Times New Roman" panose="02020603050405020304" charset="0"/>
                <a:ea typeface="楷体" panose="02010609060101010101" charset="-122"/>
                <a:cs typeface="Times New Roman" panose="02020603050405020304" charset="0"/>
              </a:rPr>
              <a:t>党</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实事求是、与时俱进</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的思想品格和</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制度治党、依规治党</a:t>
            </a:r>
            <a:r>
              <a:rPr lang="en-US" altLang="zh-CN" sz="1800" dirty="0">
                <a:latin typeface="Times New Roman" panose="02020603050405020304" charset="0"/>
                <a:ea typeface="楷体" panose="02010609060101010101" charset="-122"/>
                <a:cs typeface="Times New Roman" panose="02020603050405020304" charset="0"/>
              </a:rPr>
              <a:t>”</a:t>
            </a:r>
            <a:r>
              <a:rPr lang="zh-CN" altLang="en-US" sz="1800" dirty="0">
                <a:latin typeface="Times New Roman" panose="02020603050405020304" charset="0"/>
                <a:ea typeface="楷体" panose="02010609060101010101" charset="-122"/>
                <a:cs typeface="Times New Roman" panose="02020603050405020304" charset="0"/>
              </a:rPr>
              <a:t>的鲜明特色。</a:t>
            </a:r>
            <a:endParaRPr lang="zh-CN" altLang="en-US" sz="1800" dirty="0">
              <a:latin typeface="Times New Roman" panose="02020603050405020304" charset="0"/>
              <a:ea typeface="楷体" panose="02010609060101010101" charset="-122"/>
              <a:cs typeface="Times New Roman" panose="02020603050405020304" charset="0"/>
            </a:endParaRPr>
          </a:p>
          <a:p>
            <a:pPr indent="457200" algn="l">
              <a:lnSpc>
                <a:spcPct val="150000"/>
              </a:lnSpc>
              <a:buClrTx/>
              <a:buSzTx/>
              <a:buFontTx/>
            </a:pPr>
            <a:endParaRPr lang="zh-CN" altLang="en-US" sz="1800" dirty="0">
              <a:latin typeface="Times New Roman" panose="02020603050405020304" charset="0"/>
              <a:ea typeface="楷体" panose="02010609060101010101" charset="-122"/>
              <a:cs typeface="Times New Roman" panose="02020603050405020304" charset="0"/>
            </a:endParaRPr>
          </a:p>
        </p:txBody>
      </p:sp>
      <p:sp>
        <p:nvSpPr>
          <p:cNvPr id="15" name="矩形 14"/>
          <p:cNvSpPr/>
          <p:nvPr/>
        </p:nvSpPr>
        <p:spPr>
          <a:xfrm>
            <a:off x="6604000" y="2263140"/>
            <a:ext cx="5111115" cy="2360295"/>
          </a:xfrm>
          <a:prstGeom prst="rect">
            <a:avLst/>
          </a:prstGeom>
          <a:noFill/>
          <a:ln w="12700" cap="flat" cmpd="sng" algn="ctr">
            <a:solidFill>
              <a:srgbClr val="C00000"/>
            </a:solidFill>
            <a:prstDash val="solid"/>
          </a:ln>
          <a:effectLst/>
        </p:spPr>
        <p:txBody>
          <a:bodyPr rtlCol="0" anchor="ctr"/>
          <a:p>
            <a:pPr indent="457200" algn="l">
              <a:lnSpc>
                <a:spcPct val="150000"/>
              </a:lnSpc>
              <a:buClrTx/>
              <a:buSzTx/>
              <a:buFontTx/>
            </a:pPr>
            <a:r>
              <a:rPr lang="zh-CN" altLang="en-US" sz="1800" dirty="0">
                <a:latin typeface="Times New Roman" panose="02020603050405020304" charset="0"/>
                <a:ea typeface="楷体" panose="02010609060101010101" charset="-122"/>
                <a:cs typeface="Times New Roman" panose="02020603050405020304" charset="0"/>
              </a:rPr>
              <a:t>党章的历次修订不仅刻录了中国特色社会主义理论体系从萌芽到成熟的生成轨迹，更见证了党从领导革命、建设到执政的历史跨越，彰显了党不断推进马克思主义中国化时代化的理论自觉和历史担当。</a:t>
            </a:r>
            <a:endParaRPr lang="zh-CN" altLang="en-US" sz="1800" dirty="0">
              <a:latin typeface="Times New Roman" panose="02020603050405020304" charset="0"/>
              <a:ea typeface="楷体" panose="02010609060101010101" charset="-122"/>
              <a:cs typeface="Times New Roman" panose="02020603050405020304" charset="0"/>
            </a:endParaRPr>
          </a:p>
        </p:txBody>
      </p:sp>
      <p:pic>
        <p:nvPicPr>
          <p:cNvPr id="23" name="图片 22"/>
          <p:cNvPicPr/>
          <p:nvPr/>
        </p:nvPicPr>
        <p:blipFill>
          <a:blip r:embed="rId1"/>
          <a:srcRect l="48722" b="45028"/>
          <a:stretch>
            <a:fillRect/>
          </a:stretch>
        </p:blipFill>
        <p:spPr>
          <a:xfrm>
            <a:off x="6461760" y="5152390"/>
            <a:ext cx="369570" cy="498475"/>
          </a:xfrm>
          <a:prstGeom prst="rect">
            <a:avLst/>
          </a:prstGeom>
          <a:noFill/>
          <a:ln w="9525">
            <a:noFill/>
          </a:ln>
        </p:spPr>
      </p:pic>
      <p:pic>
        <p:nvPicPr>
          <p:cNvPr id="24" name="图片 23"/>
          <p:cNvPicPr/>
          <p:nvPr/>
        </p:nvPicPr>
        <p:blipFill>
          <a:blip r:embed="rId1"/>
          <a:srcRect l="48722" b="45028"/>
          <a:stretch>
            <a:fillRect/>
          </a:stretch>
        </p:blipFill>
        <p:spPr>
          <a:xfrm rot="21360000">
            <a:off x="6848475" y="2395220"/>
            <a:ext cx="369570" cy="498475"/>
          </a:xfrm>
          <a:prstGeom prst="rect">
            <a:avLst/>
          </a:prstGeom>
          <a:noFill/>
          <a:ln w="9525">
            <a:noFill/>
          </a:ln>
        </p:spPr>
      </p:pic>
      <p:pic>
        <p:nvPicPr>
          <p:cNvPr id="25" name="图片 24"/>
          <p:cNvPicPr/>
          <p:nvPr/>
        </p:nvPicPr>
        <p:blipFill>
          <a:blip r:embed="rId1"/>
          <a:srcRect l="48722" b="45028"/>
          <a:stretch>
            <a:fillRect/>
          </a:stretch>
        </p:blipFill>
        <p:spPr>
          <a:xfrm rot="5400000">
            <a:off x="11834495" y="5807075"/>
            <a:ext cx="369570" cy="498475"/>
          </a:xfrm>
          <a:prstGeom prst="rect">
            <a:avLst/>
          </a:prstGeom>
          <a:noFill/>
          <a:ln w="9525">
            <a:noFill/>
          </a:ln>
        </p:spPr>
      </p:pic>
      <p:sp>
        <p:nvSpPr>
          <p:cNvPr id="32" name="任意多边形 31"/>
          <p:cNvSpPr/>
          <p:nvPr/>
        </p:nvSpPr>
        <p:spPr>
          <a:xfrm>
            <a:off x="585470" y="5152390"/>
            <a:ext cx="11321415" cy="1503680"/>
          </a:xfrm>
          <a:custGeom>
            <a:avLst/>
            <a:gdLst>
              <a:gd name="connisteX0" fmla="*/ 0 w 11321415"/>
              <a:gd name="connsiteY0" fmla="*/ 1503680 h 1503680"/>
              <a:gd name="connisteX1" fmla="*/ 2720340 w 11321415"/>
              <a:gd name="connsiteY1" fmla="*/ 899795 h 1503680"/>
              <a:gd name="connisteX2" fmla="*/ 6350635 w 11321415"/>
              <a:gd name="connsiteY2" fmla="*/ 1388745 h 1503680"/>
              <a:gd name="connisteX3" fmla="*/ 11321415 w 11321415"/>
              <a:gd name="connsiteY3" fmla="*/ 0 h 1503680"/>
            </a:gdLst>
            <a:ahLst/>
            <a:cxnLst>
              <a:cxn ang="0">
                <a:pos x="connisteX0" y="connsiteY0"/>
              </a:cxn>
              <a:cxn ang="0">
                <a:pos x="connisteX1" y="connsiteY1"/>
              </a:cxn>
              <a:cxn ang="0">
                <a:pos x="connisteX2" y="connsiteY2"/>
              </a:cxn>
              <a:cxn ang="0">
                <a:pos x="connisteX3" y="connsiteY3"/>
              </a:cxn>
            </a:cxnLst>
            <a:rect l="l" t="t" r="r" b="b"/>
            <a:pathLst>
              <a:path w="11321415" h="1503680">
                <a:moveTo>
                  <a:pt x="0" y="1503680"/>
                </a:moveTo>
                <a:cubicBezTo>
                  <a:pt x="471170" y="1372870"/>
                  <a:pt x="1450340" y="922655"/>
                  <a:pt x="2720340" y="899795"/>
                </a:cubicBezTo>
                <a:cubicBezTo>
                  <a:pt x="3990340" y="876935"/>
                  <a:pt x="4630420" y="1568450"/>
                  <a:pt x="6350635" y="1388745"/>
                </a:cubicBezTo>
                <a:cubicBezTo>
                  <a:pt x="8070850" y="1209040"/>
                  <a:pt x="10400030" y="287655"/>
                  <a:pt x="11321415" y="0"/>
                </a:cubicBezTo>
              </a:path>
            </a:pathLst>
          </a:custGeom>
          <a:ln w="31750" cap="rnd">
            <a:solidFill>
              <a:srgbClr val="C00000"/>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a:p>
        </p:txBody>
      </p:sp>
      <p:pic>
        <p:nvPicPr>
          <p:cNvPr id="38" name="图片 37"/>
          <p:cNvPicPr/>
          <p:nvPr/>
        </p:nvPicPr>
        <p:blipFill>
          <a:blip r:embed="rId1"/>
          <a:srcRect/>
          <a:stretch>
            <a:fillRect/>
          </a:stretch>
        </p:blipFill>
        <p:spPr>
          <a:xfrm>
            <a:off x="85725" y="6041390"/>
            <a:ext cx="720725" cy="906780"/>
          </a:xfrm>
          <a:prstGeom prst="rect">
            <a:avLst/>
          </a:prstGeom>
          <a:noFill/>
          <a:ln w="9525">
            <a:noFill/>
          </a:ln>
        </p:spPr>
      </p:pic>
      <p:pic>
        <p:nvPicPr>
          <p:cNvPr id="33" name="图片 32"/>
          <p:cNvPicPr/>
          <p:nvPr/>
        </p:nvPicPr>
        <p:blipFill>
          <a:blip r:embed="rId1"/>
          <a:srcRect/>
          <a:stretch>
            <a:fillRect/>
          </a:stretch>
        </p:blipFill>
        <p:spPr>
          <a:xfrm>
            <a:off x="11483340" y="4689475"/>
            <a:ext cx="720725" cy="906780"/>
          </a:xfrm>
          <a:prstGeom prst="rect">
            <a:avLst/>
          </a:prstGeom>
          <a:noFill/>
          <a:ln w="9525">
            <a:noFill/>
          </a:ln>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0-#ppt_w/2"/>
                                          </p:val>
                                        </p:tav>
                                        <p:tav tm="100000">
                                          <p:val>
                                            <p:strVal val="#ppt_x"/>
                                          </p:val>
                                        </p:tav>
                                      </p:tavLst>
                                    </p:anim>
                                    <p:anim calcmode="lin" valueType="num">
                                      <p:cBhvr additive="base">
                                        <p:cTn id="16" dur="500" fill="hold"/>
                                        <p:tgtEl>
                                          <p:spTgt spid="3"/>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up)">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down)">
                                      <p:cBhvr>
                                        <p:cTn id="30" dur="500"/>
                                        <p:tgtEl>
                                          <p:spTgt spid="15"/>
                                        </p:tgtEl>
                                      </p:cBhvr>
                                    </p:animEffect>
                                  </p:childTnLst>
                                </p:cTn>
                              </p:par>
                              <p:par>
                                <p:cTn id="31" presetID="22" presetClass="entr" presetSubtype="4"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wipe(down)">
                                      <p:cBhvr>
                                        <p:cTn id="33" dur="500"/>
                                        <p:tgtEl>
                                          <p:spTgt spid="2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wipe(down)">
                                      <p:cBhvr>
                                        <p:cTn id="41" dur="500"/>
                                        <p:tgtEl>
                                          <p:spTgt spid="32"/>
                                        </p:tgtEl>
                                      </p:cBhvr>
                                    </p:animEffect>
                                  </p:childTnLst>
                                </p:cTn>
                              </p:par>
                              <p:par>
                                <p:cTn id="42" presetID="22" presetClass="entr" presetSubtype="4" fill="hold"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down)">
                                      <p:cBhvr>
                                        <p:cTn id="44" dur="500"/>
                                        <p:tgtEl>
                                          <p:spTgt spid="38"/>
                                        </p:tgtEl>
                                      </p:cBhvr>
                                    </p:animEffect>
                                  </p:childTnLst>
                                </p:cTn>
                              </p:par>
                              <p:par>
                                <p:cTn id="45" presetID="22" presetClass="entr" presetSubtype="4"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down)">
                                      <p:cBhvr>
                                        <p:cTn id="47" dur="500"/>
                                        <p:tgtEl>
                                          <p:spTgt spid="33"/>
                                        </p:tgtEl>
                                      </p:cBhvr>
                                    </p:animEffect>
                                  </p:childTnLst>
                                </p:cTn>
                              </p:par>
                              <p:par>
                                <p:cTn id="48" presetID="22" presetClass="entr" presetSubtype="4"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down)">
                                      <p:cBhvr>
                                        <p:cTn id="50" dur="500"/>
                                        <p:tgtEl>
                                          <p:spTgt spid="25"/>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down)">
                                      <p:cBhvr>
                                        <p:cTn id="5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2" grpId="0"/>
      <p:bldP spid="3" grpId="0" bldLvl="0" animBg="1"/>
      <p:bldP spid="4" grpId="0"/>
      <p:bldP spid="7" grpId="0" bldLvl="0" animBg="1"/>
      <p:bldP spid="7" grpId="1" animBg="1"/>
      <p:bldP spid="15" grpId="0" animBg="1"/>
      <p:bldP spid="15" grpId="1" animBg="1"/>
      <p:bldP spid="32" grpId="0" animBg="1"/>
      <p:bldP spid="35" grpId="0"/>
      <p:bldP spid="32" grpId="1" animBg="1"/>
      <p:bldP spid="35" grpId="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 name="Picture 2"/>
          <p:cNvPicPr>
            <a:picLocks noChangeAspect="1" noChangeArrowheads="1"/>
          </p:cNvPicPr>
          <p:nvPr/>
        </p:nvPicPr>
        <p:blipFill rotWithShape="1">
          <a:blip r:embed="rId1">
            <a:extLst>
              <a:ext uri="{28A0092B-C50C-407E-A947-70E740481C1C}">
                <a14:useLocalDpi xmlns:a14="http://schemas.microsoft.com/office/drawing/2010/main" val="0"/>
              </a:ext>
            </a:extLst>
          </a:blip>
          <a:srcRect t="52605" b="5954"/>
          <a:stretch>
            <a:fillRect/>
          </a:stretch>
        </p:blipFill>
        <p:spPr bwMode="auto">
          <a:xfrm>
            <a:off x="-1905" y="3995420"/>
            <a:ext cx="12179935" cy="2880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5"/>
          <p:cNvSpPr/>
          <p:nvPr/>
        </p:nvSpPr>
        <p:spPr bwMode="auto">
          <a:xfrm>
            <a:off x="5536416" y="549692"/>
            <a:ext cx="1119167" cy="1122924"/>
          </a:xfrm>
          <a:custGeom>
            <a:avLst/>
            <a:gdLst>
              <a:gd name="T0" fmla="*/ 2313 w 16074"/>
              <a:gd name="T1" fmla="*/ 11564 h 16128"/>
              <a:gd name="T2" fmla="*/ 3529 w 16074"/>
              <a:gd name="T3" fmla="*/ 12395 h 16128"/>
              <a:gd name="T4" fmla="*/ 4818 w 16074"/>
              <a:gd name="T5" fmla="*/ 13031 h 16128"/>
              <a:gd name="T6" fmla="*/ 6189 w 16074"/>
              <a:gd name="T7" fmla="*/ 13418 h 16128"/>
              <a:gd name="T8" fmla="*/ 7653 w 16074"/>
              <a:gd name="T9" fmla="*/ 13501 h 16128"/>
              <a:gd name="T10" fmla="*/ 9219 w 16074"/>
              <a:gd name="T11" fmla="*/ 13224 h 16128"/>
              <a:gd name="T12" fmla="*/ 5225 w 16074"/>
              <a:gd name="T13" fmla="*/ 7326 h 16128"/>
              <a:gd name="T14" fmla="*/ 5604 w 16074"/>
              <a:gd name="T15" fmla="*/ 2588 h 16128"/>
              <a:gd name="T16" fmla="*/ 5918 w 16074"/>
              <a:gd name="T17" fmla="*/ 2680 h 16128"/>
              <a:gd name="T18" fmla="*/ 6274 w 16074"/>
              <a:gd name="T19" fmla="*/ 2719 h 16128"/>
              <a:gd name="T20" fmla="*/ 6671 w 16074"/>
              <a:gd name="T21" fmla="*/ 2688 h 16128"/>
              <a:gd name="T22" fmla="*/ 7102 w 16074"/>
              <a:gd name="T23" fmla="*/ 2577 h 16128"/>
              <a:gd name="T24" fmla="*/ 7563 w 16074"/>
              <a:gd name="T25" fmla="*/ 2375 h 16128"/>
              <a:gd name="T26" fmla="*/ 8053 w 16074"/>
              <a:gd name="T27" fmla="*/ 2066 h 16128"/>
              <a:gd name="T28" fmla="*/ 12930 w 16074"/>
              <a:gd name="T29" fmla="*/ 10057 h 16128"/>
              <a:gd name="T30" fmla="*/ 13396 w 16074"/>
              <a:gd name="T31" fmla="*/ 8301 h 16128"/>
              <a:gd name="T32" fmla="*/ 13347 w 16074"/>
              <a:gd name="T33" fmla="*/ 6443 h 16128"/>
              <a:gd name="T34" fmla="*/ 12801 w 16074"/>
              <a:gd name="T35" fmla="*/ 4583 h 16128"/>
              <a:gd name="T36" fmla="*/ 11773 w 16074"/>
              <a:gd name="T37" fmla="*/ 2822 h 16128"/>
              <a:gd name="T38" fmla="*/ 10277 w 16074"/>
              <a:gd name="T39" fmla="*/ 1262 h 16128"/>
              <a:gd name="T40" fmla="*/ 8329 w 16074"/>
              <a:gd name="T41" fmla="*/ 0 h 16128"/>
              <a:gd name="T42" fmla="*/ 10526 w 16074"/>
              <a:gd name="T43" fmla="*/ 458 h 16128"/>
              <a:gd name="T44" fmla="*/ 12659 w 16074"/>
              <a:gd name="T45" fmla="*/ 1583 h 16128"/>
              <a:gd name="T46" fmla="*/ 14464 w 16074"/>
              <a:gd name="T47" fmla="*/ 3304 h 16128"/>
              <a:gd name="T48" fmla="*/ 15679 w 16074"/>
              <a:gd name="T49" fmla="*/ 5557 h 16128"/>
              <a:gd name="T50" fmla="*/ 16044 w 16074"/>
              <a:gd name="T51" fmla="*/ 8271 h 16128"/>
              <a:gd name="T52" fmla="*/ 15294 w 16074"/>
              <a:gd name="T53" fmla="*/ 11379 h 16128"/>
              <a:gd name="T54" fmla="*/ 12655 w 16074"/>
              <a:gd name="T55" fmla="*/ 14684 h 16128"/>
              <a:gd name="T56" fmla="*/ 10870 w 16074"/>
              <a:gd name="T57" fmla="*/ 15495 h 16128"/>
              <a:gd name="T58" fmla="*/ 9145 w 16074"/>
              <a:gd name="T59" fmla="*/ 15974 h 16128"/>
              <a:gd name="T60" fmla="*/ 7486 w 16074"/>
              <a:gd name="T61" fmla="*/ 16128 h 16128"/>
              <a:gd name="T62" fmla="*/ 5906 w 16074"/>
              <a:gd name="T63" fmla="*/ 15967 h 16128"/>
              <a:gd name="T64" fmla="*/ 4415 w 16074"/>
              <a:gd name="T65" fmla="*/ 15498 h 16128"/>
              <a:gd name="T66" fmla="*/ 3023 w 16074"/>
              <a:gd name="T67" fmla="*/ 14731 h 16128"/>
              <a:gd name="T68" fmla="*/ 2528 w 16074"/>
              <a:gd name="T69" fmla="*/ 14487 h 16128"/>
              <a:gd name="T70" fmla="*/ 2530 w 16074"/>
              <a:gd name="T71" fmla="*/ 14735 h 16128"/>
              <a:gd name="T72" fmla="*/ 2473 w 16074"/>
              <a:gd name="T73" fmla="*/ 14983 h 16128"/>
              <a:gd name="T74" fmla="*/ 2363 w 16074"/>
              <a:gd name="T75" fmla="*/ 15222 h 16128"/>
              <a:gd name="T76" fmla="*/ 2207 w 16074"/>
              <a:gd name="T77" fmla="*/ 15444 h 16128"/>
              <a:gd name="T78" fmla="*/ 2013 w 16074"/>
              <a:gd name="T79" fmla="*/ 15642 h 16128"/>
              <a:gd name="T80" fmla="*/ 1779 w 16074"/>
              <a:gd name="T81" fmla="*/ 15812 h 16128"/>
              <a:gd name="T82" fmla="*/ 1496 w 16074"/>
              <a:gd name="T83" fmla="*/ 15944 h 16128"/>
              <a:gd name="T84" fmla="*/ 1210 w 16074"/>
              <a:gd name="T85" fmla="*/ 16001 h 16128"/>
              <a:gd name="T86" fmla="*/ 933 w 16074"/>
              <a:gd name="T87" fmla="*/ 15986 h 16128"/>
              <a:gd name="T88" fmla="*/ 671 w 16074"/>
              <a:gd name="T89" fmla="*/ 15902 h 16128"/>
              <a:gd name="T90" fmla="*/ 436 w 16074"/>
              <a:gd name="T91" fmla="*/ 15751 h 16128"/>
              <a:gd name="T92" fmla="*/ 234 w 16074"/>
              <a:gd name="T93" fmla="*/ 15534 h 16128"/>
              <a:gd name="T94" fmla="*/ 33 w 16074"/>
              <a:gd name="T95" fmla="*/ 15112 h 16128"/>
              <a:gd name="T96" fmla="*/ 17 w 16074"/>
              <a:gd name="T97" fmla="*/ 14651 h 16128"/>
              <a:gd name="T98" fmla="*/ 179 w 16074"/>
              <a:gd name="T99" fmla="*/ 14226 h 16128"/>
              <a:gd name="T100" fmla="*/ 478 w 16074"/>
              <a:gd name="T101" fmla="*/ 13874 h 16128"/>
              <a:gd name="T102" fmla="*/ 878 w 16074"/>
              <a:gd name="T103" fmla="*/ 13632 h 16128"/>
              <a:gd name="T104" fmla="*/ 1339 w 16074"/>
              <a:gd name="T105" fmla="*/ 13536 h 16128"/>
              <a:gd name="T106" fmla="*/ 1477 w 16074"/>
              <a:gd name="T107" fmla="*/ 13406 h 16128"/>
              <a:gd name="T108" fmla="*/ 1100 w 16074"/>
              <a:gd name="T109" fmla="*/ 12990 h 16128"/>
              <a:gd name="T110" fmla="*/ 736 w 16074"/>
              <a:gd name="T111" fmla="*/ 1254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6074" h="16128">
                <a:moveTo>
                  <a:pt x="454" y="12169"/>
                </a:moveTo>
                <a:lnTo>
                  <a:pt x="1614" y="10993"/>
                </a:lnTo>
                <a:lnTo>
                  <a:pt x="1844" y="11188"/>
                </a:lnTo>
                <a:lnTo>
                  <a:pt x="2077" y="11378"/>
                </a:lnTo>
                <a:lnTo>
                  <a:pt x="2313" y="11564"/>
                </a:lnTo>
                <a:lnTo>
                  <a:pt x="2550" y="11742"/>
                </a:lnTo>
                <a:lnTo>
                  <a:pt x="2792" y="11916"/>
                </a:lnTo>
                <a:lnTo>
                  <a:pt x="3035" y="12083"/>
                </a:lnTo>
                <a:lnTo>
                  <a:pt x="3280" y="12242"/>
                </a:lnTo>
                <a:lnTo>
                  <a:pt x="3529" y="12395"/>
                </a:lnTo>
                <a:lnTo>
                  <a:pt x="3781" y="12540"/>
                </a:lnTo>
                <a:lnTo>
                  <a:pt x="4035" y="12677"/>
                </a:lnTo>
                <a:lnTo>
                  <a:pt x="4293" y="12804"/>
                </a:lnTo>
                <a:lnTo>
                  <a:pt x="4554" y="12923"/>
                </a:lnTo>
                <a:lnTo>
                  <a:pt x="4818" y="13031"/>
                </a:lnTo>
                <a:lnTo>
                  <a:pt x="5086" y="13131"/>
                </a:lnTo>
                <a:lnTo>
                  <a:pt x="5356" y="13220"/>
                </a:lnTo>
                <a:lnTo>
                  <a:pt x="5630" y="13298"/>
                </a:lnTo>
                <a:lnTo>
                  <a:pt x="5908" y="13364"/>
                </a:lnTo>
                <a:lnTo>
                  <a:pt x="6189" y="13418"/>
                </a:lnTo>
                <a:lnTo>
                  <a:pt x="6474" y="13461"/>
                </a:lnTo>
                <a:lnTo>
                  <a:pt x="6763" y="13491"/>
                </a:lnTo>
                <a:lnTo>
                  <a:pt x="7056" y="13508"/>
                </a:lnTo>
                <a:lnTo>
                  <a:pt x="7352" y="13511"/>
                </a:lnTo>
                <a:lnTo>
                  <a:pt x="7653" y="13501"/>
                </a:lnTo>
                <a:lnTo>
                  <a:pt x="7958" y="13476"/>
                </a:lnTo>
                <a:lnTo>
                  <a:pt x="8267" y="13437"/>
                </a:lnTo>
                <a:lnTo>
                  <a:pt x="8579" y="13381"/>
                </a:lnTo>
                <a:lnTo>
                  <a:pt x="8897" y="13311"/>
                </a:lnTo>
                <a:lnTo>
                  <a:pt x="9219" y="13224"/>
                </a:lnTo>
                <a:lnTo>
                  <a:pt x="9546" y="13121"/>
                </a:lnTo>
                <a:lnTo>
                  <a:pt x="9877" y="13001"/>
                </a:lnTo>
                <a:lnTo>
                  <a:pt x="10212" y="12863"/>
                </a:lnTo>
                <a:lnTo>
                  <a:pt x="10554" y="12708"/>
                </a:lnTo>
                <a:lnTo>
                  <a:pt x="5225" y="7326"/>
                </a:lnTo>
                <a:lnTo>
                  <a:pt x="3765" y="8813"/>
                </a:lnTo>
                <a:lnTo>
                  <a:pt x="1503" y="6582"/>
                </a:lnTo>
                <a:lnTo>
                  <a:pt x="5491" y="2537"/>
                </a:lnTo>
                <a:lnTo>
                  <a:pt x="5547" y="2563"/>
                </a:lnTo>
                <a:lnTo>
                  <a:pt x="5604" y="2588"/>
                </a:lnTo>
                <a:lnTo>
                  <a:pt x="5663" y="2610"/>
                </a:lnTo>
                <a:lnTo>
                  <a:pt x="5724" y="2631"/>
                </a:lnTo>
                <a:lnTo>
                  <a:pt x="5787" y="2649"/>
                </a:lnTo>
                <a:lnTo>
                  <a:pt x="5852" y="2666"/>
                </a:lnTo>
                <a:lnTo>
                  <a:pt x="5918" y="2680"/>
                </a:lnTo>
                <a:lnTo>
                  <a:pt x="5986" y="2693"/>
                </a:lnTo>
                <a:lnTo>
                  <a:pt x="6055" y="2703"/>
                </a:lnTo>
                <a:lnTo>
                  <a:pt x="6127" y="2711"/>
                </a:lnTo>
                <a:lnTo>
                  <a:pt x="6200" y="2716"/>
                </a:lnTo>
                <a:lnTo>
                  <a:pt x="6274" y="2719"/>
                </a:lnTo>
                <a:lnTo>
                  <a:pt x="6351" y="2719"/>
                </a:lnTo>
                <a:lnTo>
                  <a:pt x="6429" y="2716"/>
                </a:lnTo>
                <a:lnTo>
                  <a:pt x="6508" y="2710"/>
                </a:lnTo>
                <a:lnTo>
                  <a:pt x="6588" y="2700"/>
                </a:lnTo>
                <a:lnTo>
                  <a:pt x="6671" y="2688"/>
                </a:lnTo>
                <a:lnTo>
                  <a:pt x="6755" y="2673"/>
                </a:lnTo>
                <a:lnTo>
                  <a:pt x="6840" y="2654"/>
                </a:lnTo>
                <a:lnTo>
                  <a:pt x="6925" y="2632"/>
                </a:lnTo>
                <a:lnTo>
                  <a:pt x="7013" y="2607"/>
                </a:lnTo>
                <a:lnTo>
                  <a:pt x="7102" y="2577"/>
                </a:lnTo>
                <a:lnTo>
                  <a:pt x="7192" y="2545"/>
                </a:lnTo>
                <a:lnTo>
                  <a:pt x="7283" y="2508"/>
                </a:lnTo>
                <a:lnTo>
                  <a:pt x="7375" y="2468"/>
                </a:lnTo>
                <a:lnTo>
                  <a:pt x="7469" y="2423"/>
                </a:lnTo>
                <a:lnTo>
                  <a:pt x="7563" y="2375"/>
                </a:lnTo>
                <a:lnTo>
                  <a:pt x="7659" y="2321"/>
                </a:lnTo>
                <a:lnTo>
                  <a:pt x="7756" y="2265"/>
                </a:lnTo>
                <a:lnTo>
                  <a:pt x="7854" y="2203"/>
                </a:lnTo>
                <a:lnTo>
                  <a:pt x="7953" y="2137"/>
                </a:lnTo>
                <a:lnTo>
                  <a:pt x="8053" y="2066"/>
                </a:lnTo>
                <a:lnTo>
                  <a:pt x="9204" y="3243"/>
                </a:lnTo>
                <a:lnTo>
                  <a:pt x="7220" y="5296"/>
                </a:lnTo>
                <a:lnTo>
                  <a:pt x="12597" y="10708"/>
                </a:lnTo>
                <a:lnTo>
                  <a:pt x="12775" y="10387"/>
                </a:lnTo>
                <a:lnTo>
                  <a:pt x="12930" y="10057"/>
                </a:lnTo>
                <a:lnTo>
                  <a:pt x="13065" y="9719"/>
                </a:lnTo>
                <a:lnTo>
                  <a:pt x="13179" y="9373"/>
                </a:lnTo>
                <a:lnTo>
                  <a:pt x="13271" y="9022"/>
                </a:lnTo>
                <a:lnTo>
                  <a:pt x="13344" y="8664"/>
                </a:lnTo>
                <a:lnTo>
                  <a:pt x="13396" y="8301"/>
                </a:lnTo>
                <a:lnTo>
                  <a:pt x="13426" y="7934"/>
                </a:lnTo>
                <a:lnTo>
                  <a:pt x="13437" y="7564"/>
                </a:lnTo>
                <a:lnTo>
                  <a:pt x="13427" y="7192"/>
                </a:lnTo>
                <a:lnTo>
                  <a:pt x="13398" y="6818"/>
                </a:lnTo>
                <a:lnTo>
                  <a:pt x="13347" y="6443"/>
                </a:lnTo>
                <a:lnTo>
                  <a:pt x="13277" y="6068"/>
                </a:lnTo>
                <a:lnTo>
                  <a:pt x="13188" y="5694"/>
                </a:lnTo>
                <a:lnTo>
                  <a:pt x="13079" y="5321"/>
                </a:lnTo>
                <a:lnTo>
                  <a:pt x="12949" y="4950"/>
                </a:lnTo>
                <a:lnTo>
                  <a:pt x="12801" y="4583"/>
                </a:lnTo>
                <a:lnTo>
                  <a:pt x="12634" y="4220"/>
                </a:lnTo>
                <a:lnTo>
                  <a:pt x="12447" y="3862"/>
                </a:lnTo>
                <a:lnTo>
                  <a:pt x="12241" y="3509"/>
                </a:lnTo>
                <a:lnTo>
                  <a:pt x="12017" y="3162"/>
                </a:lnTo>
                <a:lnTo>
                  <a:pt x="11773" y="2822"/>
                </a:lnTo>
                <a:lnTo>
                  <a:pt x="11511" y="2492"/>
                </a:lnTo>
                <a:lnTo>
                  <a:pt x="11230" y="2169"/>
                </a:lnTo>
                <a:lnTo>
                  <a:pt x="10931" y="1856"/>
                </a:lnTo>
                <a:lnTo>
                  <a:pt x="10613" y="1553"/>
                </a:lnTo>
                <a:lnTo>
                  <a:pt x="10277" y="1262"/>
                </a:lnTo>
                <a:lnTo>
                  <a:pt x="9924" y="982"/>
                </a:lnTo>
                <a:lnTo>
                  <a:pt x="9551" y="716"/>
                </a:lnTo>
                <a:lnTo>
                  <a:pt x="9162" y="463"/>
                </a:lnTo>
                <a:lnTo>
                  <a:pt x="8754" y="224"/>
                </a:lnTo>
                <a:lnTo>
                  <a:pt x="8329" y="0"/>
                </a:lnTo>
                <a:lnTo>
                  <a:pt x="8761" y="35"/>
                </a:lnTo>
                <a:lnTo>
                  <a:pt x="9199" y="99"/>
                </a:lnTo>
                <a:lnTo>
                  <a:pt x="9641" y="192"/>
                </a:lnTo>
                <a:lnTo>
                  <a:pt x="10084" y="310"/>
                </a:lnTo>
                <a:lnTo>
                  <a:pt x="10526" y="458"/>
                </a:lnTo>
                <a:lnTo>
                  <a:pt x="10966" y="632"/>
                </a:lnTo>
                <a:lnTo>
                  <a:pt x="11402" y="832"/>
                </a:lnTo>
                <a:lnTo>
                  <a:pt x="11830" y="1057"/>
                </a:lnTo>
                <a:lnTo>
                  <a:pt x="12250" y="1307"/>
                </a:lnTo>
                <a:lnTo>
                  <a:pt x="12659" y="1583"/>
                </a:lnTo>
                <a:lnTo>
                  <a:pt x="13054" y="1881"/>
                </a:lnTo>
                <a:lnTo>
                  <a:pt x="13435" y="2203"/>
                </a:lnTo>
                <a:lnTo>
                  <a:pt x="13798" y="2548"/>
                </a:lnTo>
                <a:lnTo>
                  <a:pt x="14141" y="2915"/>
                </a:lnTo>
                <a:lnTo>
                  <a:pt x="14464" y="3304"/>
                </a:lnTo>
                <a:lnTo>
                  <a:pt x="14762" y="3714"/>
                </a:lnTo>
                <a:lnTo>
                  <a:pt x="15036" y="4146"/>
                </a:lnTo>
                <a:lnTo>
                  <a:pt x="15281" y="4596"/>
                </a:lnTo>
                <a:lnTo>
                  <a:pt x="15496" y="5067"/>
                </a:lnTo>
                <a:lnTo>
                  <a:pt x="15679" y="5557"/>
                </a:lnTo>
                <a:lnTo>
                  <a:pt x="15829" y="6065"/>
                </a:lnTo>
                <a:lnTo>
                  <a:pt x="15942" y="6591"/>
                </a:lnTo>
                <a:lnTo>
                  <a:pt x="16016" y="7135"/>
                </a:lnTo>
                <a:lnTo>
                  <a:pt x="16052" y="7695"/>
                </a:lnTo>
                <a:lnTo>
                  <a:pt x="16044" y="8271"/>
                </a:lnTo>
                <a:lnTo>
                  <a:pt x="15991" y="8863"/>
                </a:lnTo>
                <a:lnTo>
                  <a:pt x="15892" y="9471"/>
                </a:lnTo>
                <a:lnTo>
                  <a:pt x="15744" y="10093"/>
                </a:lnTo>
                <a:lnTo>
                  <a:pt x="15545" y="10729"/>
                </a:lnTo>
                <a:lnTo>
                  <a:pt x="15294" y="11379"/>
                </a:lnTo>
                <a:lnTo>
                  <a:pt x="14987" y="12042"/>
                </a:lnTo>
                <a:lnTo>
                  <a:pt x="14623" y="12717"/>
                </a:lnTo>
                <a:lnTo>
                  <a:pt x="16074" y="14218"/>
                </a:lnTo>
                <a:lnTo>
                  <a:pt x="14156" y="16081"/>
                </a:lnTo>
                <a:lnTo>
                  <a:pt x="12655" y="14684"/>
                </a:lnTo>
                <a:lnTo>
                  <a:pt x="12293" y="14873"/>
                </a:lnTo>
                <a:lnTo>
                  <a:pt x="11934" y="15048"/>
                </a:lnTo>
                <a:lnTo>
                  <a:pt x="11578" y="15211"/>
                </a:lnTo>
                <a:lnTo>
                  <a:pt x="11223" y="15360"/>
                </a:lnTo>
                <a:lnTo>
                  <a:pt x="10870" y="15495"/>
                </a:lnTo>
                <a:lnTo>
                  <a:pt x="10520" y="15617"/>
                </a:lnTo>
                <a:lnTo>
                  <a:pt x="10173" y="15726"/>
                </a:lnTo>
                <a:lnTo>
                  <a:pt x="9828" y="15822"/>
                </a:lnTo>
                <a:lnTo>
                  <a:pt x="9485" y="15904"/>
                </a:lnTo>
                <a:lnTo>
                  <a:pt x="9145" y="15974"/>
                </a:lnTo>
                <a:lnTo>
                  <a:pt x="8808" y="16030"/>
                </a:lnTo>
                <a:lnTo>
                  <a:pt x="8472" y="16074"/>
                </a:lnTo>
                <a:lnTo>
                  <a:pt x="8140" y="16105"/>
                </a:lnTo>
                <a:lnTo>
                  <a:pt x="7812" y="16123"/>
                </a:lnTo>
                <a:lnTo>
                  <a:pt x="7486" y="16128"/>
                </a:lnTo>
                <a:lnTo>
                  <a:pt x="7164" y="16121"/>
                </a:lnTo>
                <a:lnTo>
                  <a:pt x="6845" y="16101"/>
                </a:lnTo>
                <a:lnTo>
                  <a:pt x="6529" y="16069"/>
                </a:lnTo>
                <a:lnTo>
                  <a:pt x="6216" y="16024"/>
                </a:lnTo>
                <a:lnTo>
                  <a:pt x="5906" y="15967"/>
                </a:lnTo>
                <a:lnTo>
                  <a:pt x="5601" y="15897"/>
                </a:lnTo>
                <a:lnTo>
                  <a:pt x="5298" y="15816"/>
                </a:lnTo>
                <a:lnTo>
                  <a:pt x="5001" y="15722"/>
                </a:lnTo>
                <a:lnTo>
                  <a:pt x="4706" y="15616"/>
                </a:lnTo>
                <a:lnTo>
                  <a:pt x="4415" y="15498"/>
                </a:lnTo>
                <a:lnTo>
                  <a:pt x="4129" y="15368"/>
                </a:lnTo>
                <a:lnTo>
                  <a:pt x="3846" y="15227"/>
                </a:lnTo>
                <a:lnTo>
                  <a:pt x="3568" y="15073"/>
                </a:lnTo>
                <a:lnTo>
                  <a:pt x="3293" y="14907"/>
                </a:lnTo>
                <a:lnTo>
                  <a:pt x="3023" y="14731"/>
                </a:lnTo>
                <a:lnTo>
                  <a:pt x="2757" y="14542"/>
                </a:lnTo>
                <a:lnTo>
                  <a:pt x="2496" y="14342"/>
                </a:lnTo>
                <a:lnTo>
                  <a:pt x="2509" y="14390"/>
                </a:lnTo>
                <a:lnTo>
                  <a:pt x="2520" y="14439"/>
                </a:lnTo>
                <a:lnTo>
                  <a:pt x="2528" y="14487"/>
                </a:lnTo>
                <a:lnTo>
                  <a:pt x="2533" y="14536"/>
                </a:lnTo>
                <a:lnTo>
                  <a:pt x="2536" y="14586"/>
                </a:lnTo>
                <a:lnTo>
                  <a:pt x="2537" y="14635"/>
                </a:lnTo>
                <a:lnTo>
                  <a:pt x="2534" y="14686"/>
                </a:lnTo>
                <a:lnTo>
                  <a:pt x="2530" y="14735"/>
                </a:lnTo>
                <a:lnTo>
                  <a:pt x="2523" y="14785"/>
                </a:lnTo>
                <a:lnTo>
                  <a:pt x="2514" y="14835"/>
                </a:lnTo>
                <a:lnTo>
                  <a:pt x="2502" y="14884"/>
                </a:lnTo>
                <a:lnTo>
                  <a:pt x="2489" y="14934"/>
                </a:lnTo>
                <a:lnTo>
                  <a:pt x="2473" y="14983"/>
                </a:lnTo>
                <a:lnTo>
                  <a:pt x="2454" y="15031"/>
                </a:lnTo>
                <a:lnTo>
                  <a:pt x="2434" y="15080"/>
                </a:lnTo>
                <a:lnTo>
                  <a:pt x="2412" y="15127"/>
                </a:lnTo>
                <a:lnTo>
                  <a:pt x="2388" y="15174"/>
                </a:lnTo>
                <a:lnTo>
                  <a:pt x="2363" y="15222"/>
                </a:lnTo>
                <a:lnTo>
                  <a:pt x="2334" y="15267"/>
                </a:lnTo>
                <a:lnTo>
                  <a:pt x="2305" y="15313"/>
                </a:lnTo>
                <a:lnTo>
                  <a:pt x="2275" y="15358"/>
                </a:lnTo>
                <a:lnTo>
                  <a:pt x="2241" y="15401"/>
                </a:lnTo>
                <a:lnTo>
                  <a:pt x="2207" y="15444"/>
                </a:lnTo>
                <a:lnTo>
                  <a:pt x="2171" y="15486"/>
                </a:lnTo>
                <a:lnTo>
                  <a:pt x="2134" y="15526"/>
                </a:lnTo>
                <a:lnTo>
                  <a:pt x="2095" y="15567"/>
                </a:lnTo>
                <a:lnTo>
                  <a:pt x="2055" y="15605"/>
                </a:lnTo>
                <a:lnTo>
                  <a:pt x="2013" y="15642"/>
                </a:lnTo>
                <a:lnTo>
                  <a:pt x="1971" y="15677"/>
                </a:lnTo>
                <a:lnTo>
                  <a:pt x="1927" y="15713"/>
                </a:lnTo>
                <a:lnTo>
                  <a:pt x="1881" y="15745"/>
                </a:lnTo>
                <a:lnTo>
                  <a:pt x="1836" y="15777"/>
                </a:lnTo>
                <a:lnTo>
                  <a:pt x="1779" y="15812"/>
                </a:lnTo>
                <a:lnTo>
                  <a:pt x="1723" y="15845"/>
                </a:lnTo>
                <a:lnTo>
                  <a:pt x="1666" y="15874"/>
                </a:lnTo>
                <a:lnTo>
                  <a:pt x="1610" y="15900"/>
                </a:lnTo>
                <a:lnTo>
                  <a:pt x="1552" y="15923"/>
                </a:lnTo>
                <a:lnTo>
                  <a:pt x="1496" y="15944"/>
                </a:lnTo>
                <a:lnTo>
                  <a:pt x="1438" y="15961"/>
                </a:lnTo>
                <a:lnTo>
                  <a:pt x="1381" y="15975"/>
                </a:lnTo>
                <a:lnTo>
                  <a:pt x="1324" y="15987"/>
                </a:lnTo>
                <a:lnTo>
                  <a:pt x="1267" y="15995"/>
                </a:lnTo>
                <a:lnTo>
                  <a:pt x="1210" y="16001"/>
                </a:lnTo>
                <a:lnTo>
                  <a:pt x="1154" y="16003"/>
                </a:lnTo>
                <a:lnTo>
                  <a:pt x="1098" y="16003"/>
                </a:lnTo>
                <a:lnTo>
                  <a:pt x="1043" y="16000"/>
                </a:lnTo>
                <a:lnTo>
                  <a:pt x="987" y="15995"/>
                </a:lnTo>
                <a:lnTo>
                  <a:pt x="933" y="15986"/>
                </a:lnTo>
                <a:lnTo>
                  <a:pt x="879" y="15975"/>
                </a:lnTo>
                <a:lnTo>
                  <a:pt x="826" y="15961"/>
                </a:lnTo>
                <a:lnTo>
                  <a:pt x="773" y="15944"/>
                </a:lnTo>
                <a:lnTo>
                  <a:pt x="722" y="15924"/>
                </a:lnTo>
                <a:lnTo>
                  <a:pt x="671" y="15902"/>
                </a:lnTo>
                <a:lnTo>
                  <a:pt x="622" y="15877"/>
                </a:lnTo>
                <a:lnTo>
                  <a:pt x="573" y="15849"/>
                </a:lnTo>
                <a:lnTo>
                  <a:pt x="527" y="15819"/>
                </a:lnTo>
                <a:lnTo>
                  <a:pt x="480" y="15786"/>
                </a:lnTo>
                <a:lnTo>
                  <a:pt x="436" y="15751"/>
                </a:lnTo>
                <a:lnTo>
                  <a:pt x="393" y="15713"/>
                </a:lnTo>
                <a:lnTo>
                  <a:pt x="350" y="15671"/>
                </a:lnTo>
                <a:lnTo>
                  <a:pt x="310" y="15628"/>
                </a:lnTo>
                <a:lnTo>
                  <a:pt x="271" y="15583"/>
                </a:lnTo>
                <a:lnTo>
                  <a:pt x="234" y="15534"/>
                </a:lnTo>
                <a:lnTo>
                  <a:pt x="199" y="15483"/>
                </a:lnTo>
                <a:lnTo>
                  <a:pt x="143" y="15391"/>
                </a:lnTo>
                <a:lnTo>
                  <a:pt x="98" y="15299"/>
                </a:lnTo>
                <a:lnTo>
                  <a:pt x="61" y="15206"/>
                </a:lnTo>
                <a:lnTo>
                  <a:pt x="33" y="15112"/>
                </a:lnTo>
                <a:lnTo>
                  <a:pt x="14" y="15019"/>
                </a:lnTo>
                <a:lnTo>
                  <a:pt x="3" y="14925"/>
                </a:lnTo>
                <a:lnTo>
                  <a:pt x="0" y="14833"/>
                </a:lnTo>
                <a:lnTo>
                  <a:pt x="5" y="14741"/>
                </a:lnTo>
                <a:lnTo>
                  <a:pt x="17" y="14651"/>
                </a:lnTo>
                <a:lnTo>
                  <a:pt x="36" y="14562"/>
                </a:lnTo>
                <a:lnTo>
                  <a:pt x="63" y="14475"/>
                </a:lnTo>
                <a:lnTo>
                  <a:pt x="95" y="14389"/>
                </a:lnTo>
                <a:lnTo>
                  <a:pt x="133" y="14307"/>
                </a:lnTo>
                <a:lnTo>
                  <a:pt x="179" y="14226"/>
                </a:lnTo>
                <a:lnTo>
                  <a:pt x="228" y="14148"/>
                </a:lnTo>
                <a:lnTo>
                  <a:pt x="284" y="14075"/>
                </a:lnTo>
                <a:lnTo>
                  <a:pt x="344" y="14004"/>
                </a:lnTo>
                <a:lnTo>
                  <a:pt x="409" y="13938"/>
                </a:lnTo>
                <a:lnTo>
                  <a:pt x="478" y="13874"/>
                </a:lnTo>
                <a:lnTo>
                  <a:pt x="551" y="13816"/>
                </a:lnTo>
                <a:lnTo>
                  <a:pt x="628" y="13762"/>
                </a:lnTo>
                <a:lnTo>
                  <a:pt x="708" y="13714"/>
                </a:lnTo>
                <a:lnTo>
                  <a:pt x="791" y="13670"/>
                </a:lnTo>
                <a:lnTo>
                  <a:pt x="878" y="13632"/>
                </a:lnTo>
                <a:lnTo>
                  <a:pt x="967" y="13601"/>
                </a:lnTo>
                <a:lnTo>
                  <a:pt x="1057" y="13575"/>
                </a:lnTo>
                <a:lnTo>
                  <a:pt x="1150" y="13556"/>
                </a:lnTo>
                <a:lnTo>
                  <a:pt x="1244" y="13542"/>
                </a:lnTo>
                <a:lnTo>
                  <a:pt x="1339" y="13536"/>
                </a:lnTo>
                <a:lnTo>
                  <a:pt x="1436" y="13538"/>
                </a:lnTo>
                <a:lnTo>
                  <a:pt x="1533" y="13548"/>
                </a:lnTo>
                <a:lnTo>
                  <a:pt x="1630" y="13565"/>
                </a:lnTo>
                <a:lnTo>
                  <a:pt x="1553" y="13486"/>
                </a:lnTo>
                <a:lnTo>
                  <a:pt x="1477" y="13406"/>
                </a:lnTo>
                <a:lnTo>
                  <a:pt x="1400" y="13325"/>
                </a:lnTo>
                <a:lnTo>
                  <a:pt x="1324" y="13243"/>
                </a:lnTo>
                <a:lnTo>
                  <a:pt x="1248" y="13159"/>
                </a:lnTo>
                <a:lnTo>
                  <a:pt x="1174" y="13075"/>
                </a:lnTo>
                <a:lnTo>
                  <a:pt x="1100" y="12990"/>
                </a:lnTo>
                <a:lnTo>
                  <a:pt x="1026" y="12903"/>
                </a:lnTo>
                <a:lnTo>
                  <a:pt x="953" y="12815"/>
                </a:lnTo>
                <a:lnTo>
                  <a:pt x="880" y="12726"/>
                </a:lnTo>
                <a:lnTo>
                  <a:pt x="807" y="12636"/>
                </a:lnTo>
                <a:lnTo>
                  <a:pt x="736" y="12545"/>
                </a:lnTo>
                <a:lnTo>
                  <a:pt x="665" y="12453"/>
                </a:lnTo>
                <a:lnTo>
                  <a:pt x="594" y="12359"/>
                </a:lnTo>
                <a:lnTo>
                  <a:pt x="524" y="12264"/>
                </a:lnTo>
                <a:lnTo>
                  <a:pt x="454" y="12169"/>
                </a:lnTo>
                <a:close/>
              </a:path>
            </a:pathLst>
          </a:custGeom>
          <a:solidFill>
            <a:srgbClr val="C00000"/>
          </a:solidFill>
          <a:ln>
            <a:noFill/>
          </a:ln>
          <a:effectLst/>
        </p:spPr>
        <p:txBody>
          <a:bodyPr vert="horz" wrap="square" lIns="121920" tIns="60960" rIns="121920" bIns="60960" numCol="1" anchor="t" anchorCtr="0" compatLnSpc="1"/>
          <a:lstStyle/>
          <a:p>
            <a:endParaRPr lang="zh-CN" altLang="en-US" sz="3200">
              <a:gradFill>
                <a:gsLst>
                  <a:gs pos="0">
                    <a:prstClr val="white">
                      <a:lumMod val="95000"/>
                    </a:prstClr>
                  </a:gs>
                  <a:gs pos="100000">
                    <a:prstClr val="white"/>
                  </a:gs>
                </a:gsLst>
                <a:lin ang="5400000" scaled="0"/>
              </a:gradFill>
              <a:latin typeface="Arial" panose="020B0604020202020204"/>
              <a:ea typeface="微软雅黑" panose="020B0503020204020204" charset="-122"/>
              <a:sym typeface="Arial" panose="020B0604020202020204"/>
            </a:endParaRPr>
          </a:p>
        </p:txBody>
      </p:sp>
      <p:sp>
        <p:nvSpPr>
          <p:cNvPr id="3" name="矩形 2"/>
          <p:cNvSpPr/>
          <p:nvPr/>
        </p:nvSpPr>
        <p:spPr>
          <a:xfrm>
            <a:off x="0" y="2456815"/>
            <a:ext cx="12178030" cy="1445260"/>
          </a:xfrm>
          <a:prstGeom prst="rect">
            <a:avLst/>
          </a:prstGeom>
        </p:spPr>
        <p:txBody>
          <a:bodyPr wrap="square">
            <a:spAutoFit/>
          </a:bodyPr>
          <a:lstStyle/>
          <a:p>
            <a:pPr lvl="0" algn="ctr"/>
            <a:r>
              <a:rPr lang="en-US" altLang="zh-CN" sz="8800" b="1" dirty="0">
                <a:solidFill>
                  <a:srgbClr val="C00000"/>
                </a:solidFill>
                <a:latin typeface="Arial" panose="020B0604020202020204"/>
                <a:ea typeface="微软雅黑" panose="020B0503020204020204" charset="-122"/>
                <a:sym typeface="Arial" panose="020B0604020202020204"/>
              </a:rPr>
              <a:t>   </a:t>
            </a:r>
            <a:r>
              <a:rPr lang="zh-CN" altLang="en-US" sz="8800" b="1" dirty="0">
                <a:solidFill>
                  <a:srgbClr val="C00000"/>
                </a:solidFill>
                <a:latin typeface="Arial" panose="020B0604020202020204"/>
                <a:ea typeface="微软雅黑" panose="020B0503020204020204" charset="-122"/>
                <a:sym typeface="Arial" panose="020B0604020202020204"/>
              </a:rPr>
              <a:t>谢</a:t>
            </a:r>
            <a:r>
              <a:rPr lang="en-US" altLang="zh-CN" sz="8800" b="1" dirty="0">
                <a:solidFill>
                  <a:srgbClr val="C00000"/>
                </a:solidFill>
                <a:latin typeface="Arial" panose="020B0604020202020204"/>
                <a:ea typeface="微软雅黑" panose="020B0503020204020204" charset="-122"/>
                <a:sym typeface="Arial" panose="020B0604020202020204"/>
              </a:rPr>
              <a:t>  </a:t>
            </a:r>
            <a:r>
              <a:rPr lang="zh-CN" altLang="en-US" sz="8800" b="1" dirty="0">
                <a:solidFill>
                  <a:srgbClr val="C00000"/>
                </a:solidFill>
                <a:latin typeface="Arial" panose="020B0604020202020204"/>
                <a:ea typeface="微软雅黑" panose="020B0503020204020204" charset="-122"/>
                <a:sym typeface="Arial" panose="020B0604020202020204"/>
              </a:rPr>
              <a:t>谢！</a:t>
            </a:r>
            <a:endParaRPr lang="zh-CN" altLang="en-US" sz="8800" b="1" dirty="0">
              <a:solidFill>
                <a:srgbClr val="C00000"/>
              </a:solidFill>
              <a:latin typeface="Arial" panose="020B0604020202020204"/>
              <a:ea typeface="微软雅黑" panose="020B0503020204020204" charset="-122"/>
              <a:sym typeface="Arial" panose="020B0604020202020204"/>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23" presetClass="entr" presetSubtype="32"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strVal val="4*#ppt_w"/>
                                          </p:val>
                                        </p:tav>
                                        <p:tav tm="100000">
                                          <p:val>
                                            <p:strVal val="#ppt_w"/>
                                          </p:val>
                                        </p:tav>
                                      </p:tavLst>
                                    </p:anim>
                                    <p:anim calcmode="lin" valueType="num">
                                      <p:cBhvr>
                                        <p:cTn id="14" dur="500" fill="hold"/>
                                        <p:tgtEl>
                                          <p:spTgt spid="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tags/tag1.xml><?xml version="1.0" encoding="utf-8"?>
<p:tagLst xmlns:p="http://schemas.openxmlformats.org/presentationml/2006/main">
  <p:tag name="KSO_WM_DIAGRAM_VIRTUALLY_FRAME" val="{&quot;height&quot;:270.10291338582675,&quot;left&quot;:366.03204724409454,&quot;top&quot;:130.3304724409449,&quot;width&quot;:561.55}"/>
</p:tagLst>
</file>

<file path=ppt/tags/tag2.xml><?xml version="1.0" encoding="utf-8"?>
<p:tagLst xmlns:p="http://schemas.openxmlformats.org/presentationml/2006/main">
  <p:tag name="KSO_WM_DIAGRAM_VIRTUALLY_FRAME" val="{&quot;height&quot;:270.10291338582675,&quot;left&quot;:366.03204724409454,&quot;top&quot;:130.3304724409449,&quot;width&quot;:561.55}"/>
</p:tagLst>
</file>

<file path=ppt/tags/tag3.xml><?xml version="1.0" encoding="utf-8"?>
<p:tagLst xmlns:p="http://schemas.openxmlformats.org/presentationml/2006/main">
  <p:tag name="KSO_WM_DIAGRAM_VIRTUALLY_FRAME" val="{&quot;height&quot;:270.10291338582675,&quot;left&quot;:366.03204724409454,&quot;top&quot;:130.3304724409449,&quot;width&quot;:561.55}"/>
</p:tagLst>
</file>

<file path=ppt/tags/tag4.xml><?xml version="1.0" encoding="utf-8"?>
<p:tagLst xmlns:p="http://schemas.openxmlformats.org/presentationml/2006/main">
  <p:tag name="KSO_WM_DIAGRAM_VIRTUALLY_FRAME" val="{&quot;height&quot;:270.10291338582675,&quot;left&quot;:366.03204724409454,&quot;top&quot;:130.3304724409449,&quot;width&quot;:561.55}"/>
</p:tagLst>
</file>

<file path=ppt/tags/tag5.xml><?xml version="1.0" encoding="utf-8"?>
<p:tagLst xmlns:p="http://schemas.openxmlformats.org/presentationml/2006/main">
  <p:tag name="KSO_WM_DIAGRAM_VIRTUALLY_FRAME" val="{&quot;height&quot;:270.10291338582675,&quot;left&quot;:366.03204724409454,&quot;top&quot;:130.3304724409449,&quot;width&quot;:561.55}"/>
</p:tagLst>
</file>

<file path=ppt/tags/tag6.xml><?xml version="1.0" encoding="utf-8"?>
<p:tagLst xmlns:p="http://schemas.openxmlformats.org/presentationml/2006/main">
  <p:tag name="KSO_WM_DIAGRAM_VIRTUALLY_FRAME" val="{&quot;height&quot;:270.10291338582675,&quot;left&quot;:366.03204724409454,&quot;top&quot;:130.3304724409449,&quot;width&quot;:561.55}"/>
</p:tagLst>
</file>

<file path=ppt/tags/tag7.xml><?xml version="1.0" encoding="utf-8"?>
<p:tagLst xmlns:p="http://schemas.openxmlformats.org/presentationml/2006/main">
  <p:tag name="KSO_WM_DIAGRAM_VIRTUALLY_FRAME" val="{&quot;height&quot;:270.10291338582675,&quot;left&quot;:366.03204724409454,&quot;top&quot;:130.3304724409449,&quot;width&quot;:561.55}"/>
</p:tagLst>
</file>

<file path=ppt/tags/tag8.xml><?xml version="1.0" encoding="utf-8"?>
<p:tagLst xmlns:p="http://schemas.openxmlformats.org/presentationml/2006/main">
  <p:tag name="KSO_WM_DIAGRAM_VIRTUALLY_FRAME" val="{&quot;height&quot;:270.10291338582675,&quot;left&quot;:366.03204724409454,&quot;top&quot;:130.3304724409449,&quot;width&quot;:561.55}"/>
</p:tagLst>
</file>

<file path=ppt/tags/tag9.xml><?xml version="1.0" encoding="utf-8"?>
<p:tagLst xmlns:p="http://schemas.openxmlformats.org/presentationml/2006/main">
  <p:tag name="KSO_WM_DIAGRAM_VIRTUALLY_FRAME" val="{&quot;height&quot;:270.10291338582675,&quot;left&quot;:366.03204724409454,&quot;top&quot;:130.3304724409449,&quot;width&quot;:561.55}"/>
</p:tagLst>
</file>

<file path=ppt/tags/tag10.xml><?xml version="1.0" encoding="utf-8"?>
<p:tagLst xmlns:p="http://schemas.openxmlformats.org/presentationml/2006/main">
  <p:tag name="KSO_WM_DIAGRAM_VIRTUALLY_FRAME" val="{&quot;height&quot;:270.10291338582675,&quot;left&quot;:366.03204724409454,&quot;top&quot;:130.3304724409449,&quot;width&quot;:561.55}"/>
</p:tagLst>
</file>

<file path=ppt/tags/tag11.xml><?xml version="1.0" encoding="utf-8"?>
<p:tagLst xmlns:p="http://schemas.openxmlformats.org/presentationml/2006/main">
  <p:tag name="KSO_WM_DIAGRAM_VIRTUALLY_FRAME" val="{&quot;height&quot;:270.10291338582675,&quot;left&quot;:366.03204724409454,&quot;top&quot;:130.3304724409449,&quot;width&quot;:561.55}"/>
</p:tagLst>
</file>

<file path=ppt/tags/tag12.xml><?xml version="1.0" encoding="utf-8"?>
<p:tagLst xmlns:p="http://schemas.openxmlformats.org/presentationml/2006/main">
  <p:tag name="KSO_WM_DIAGRAM_VIRTUALLY_FRAME" val="{&quot;height&quot;:270.10291338582675,&quot;left&quot;:366.03204724409454,&quot;top&quot;:130.3304724409449,&quot;width&quot;:561.55}"/>
</p:tagLst>
</file>

<file path=ppt/tags/tag13.xml><?xml version="1.0" encoding="utf-8"?>
<p:tagLst xmlns:p="http://schemas.openxmlformats.org/presentationml/2006/main">
  <p:tag name="KSO_WM_DIAGRAM_VIRTUALLY_FRAME" val="{&quot;height&quot;:270.10291338582675,&quot;left&quot;:366.03204724409454,&quot;top&quot;:130.3304724409449,&quot;width&quot;:561.55}"/>
</p:tagLst>
</file>

<file path=ppt/tags/tag14.xml><?xml version="1.0" encoding="utf-8"?>
<p:tagLst xmlns:p="http://schemas.openxmlformats.org/presentationml/2006/main">
  <p:tag name="KSO_WM_DIAGRAM_VIRTUALLY_FRAME" val="{&quot;height&quot;:270.10291338582675,&quot;left&quot;:366.03204724409454,&quot;top&quot;:130.3304724409449,&quot;width&quot;:561.55}"/>
</p:tagLst>
</file>

<file path=ppt/tags/tag15.xml><?xml version="1.0" encoding="utf-8"?>
<p:tagLst xmlns:p="http://schemas.openxmlformats.org/presentationml/2006/main">
  <p:tag name="KSO_WM_DIAGRAM_VIRTUALLY_FRAME" val="{&quot;height&quot;:270.10291338582675,&quot;left&quot;:366.03204724409454,&quot;top&quot;:130.3304724409449,&quot;width&quot;:561.55}"/>
</p:tagLst>
</file>

<file path=ppt/tags/tag16.xml><?xml version="1.0" encoding="utf-8"?>
<p:tagLst xmlns:p="http://schemas.openxmlformats.org/presentationml/2006/main">
  <p:tag name="KSO_WM_DIAGRAM_VIRTUALLY_FRAME" val="{&quot;height&quot;:270.10291338582675,&quot;left&quot;:366.03204724409454,&quot;top&quot;:130.3304724409449,&quot;width&quot;:561.55}"/>
</p:tagLst>
</file>

<file path=ppt/tags/tag17.xml><?xml version="1.0" encoding="utf-8"?>
<p:tagLst xmlns:p="http://schemas.openxmlformats.org/presentationml/2006/main">
  <p:tag name="KSO_WM_DIAGRAM_VIRTUALLY_FRAME" val="{&quot;height&quot;:270.10291338582675,&quot;left&quot;:366.03204724409454,&quot;top&quot;:130.3304724409449,&quot;width&quot;:561.55}"/>
</p:tagLst>
</file>

<file path=ppt/tags/tag18.xml><?xml version="1.0" encoding="utf-8"?>
<p:tagLst xmlns:p="http://schemas.openxmlformats.org/presentationml/2006/main">
  <p:tag name="KSO_WM_DIAGRAM_VIRTUALLY_FRAME" val="{&quot;height&quot;:270.10291338582675,&quot;left&quot;:366.03204724409454,&quot;top&quot;:130.3304724409449,&quot;width&quot;:561.55}"/>
</p:tagLst>
</file>

<file path=ppt/tags/tag19.xml><?xml version="1.0" encoding="utf-8"?>
<p:tagLst xmlns:p="http://schemas.openxmlformats.org/presentationml/2006/main">
  <p:tag name="KSO_WM_DIAGRAM_VIRTUALLY_FRAME" val="{&quot;height&quot;:270.10291338582675,&quot;left&quot;:366.03204724409454,&quot;top&quot;:130.3304724409449,&quot;width&quot;:561.55}"/>
</p:tagLst>
</file>

<file path=ppt/tags/tag20.xml><?xml version="1.0" encoding="utf-8"?>
<p:tagLst xmlns:p="http://schemas.openxmlformats.org/presentationml/2006/main">
  <p:tag name="KSO_WM_DIAGRAM_VIRTUALLY_FRAME" val="{&quot;height&quot;:270.10291338582675,&quot;left&quot;:366.03204724409454,&quot;top&quot;:130.3304724409449,&quot;width&quot;:561.55}"/>
</p:tagLst>
</file>

<file path=ppt/tags/tag21.xml><?xml version="1.0" encoding="utf-8"?>
<p:tagLst xmlns:p="http://schemas.openxmlformats.org/presentationml/2006/main">
  <p:tag name="KSO_WM_DIAGRAM_VIRTUALLY_FRAME" val="{&quot;height&quot;:329.2,&quot;left&quot;:61.15,&quot;top&quot;:173.9,&quot;width&quot;:340.1}"/>
</p:tagLst>
</file>

<file path=ppt/tags/tag22.xml><?xml version="1.0" encoding="utf-8"?>
<p:tagLst xmlns:p="http://schemas.openxmlformats.org/presentationml/2006/main">
  <p:tag name="ISPRING_PRESENTATION_TITLE" val="熊猫15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2546</Words>
  <Application>WPS 演示</Application>
  <PresentationFormat>宽屏</PresentationFormat>
  <Paragraphs>122</Paragraphs>
  <Slides>18</Slides>
  <Notes>25</Notes>
  <HiddenSlides>0</HiddenSlides>
  <MMClips>0</MMClips>
  <ScaleCrop>false</ScaleCrop>
  <HeadingPairs>
    <vt:vector size="6" baseType="variant">
      <vt:variant>
        <vt:lpstr>已用的字体</vt:lpstr>
      </vt:variant>
      <vt:variant>
        <vt:i4>36</vt:i4>
      </vt:variant>
      <vt:variant>
        <vt:lpstr>主题</vt:lpstr>
      </vt:variant>
      <vt:variant>
        <vt:i4>1</vt:i4>
      </vt:variant>
      <vt:variant>
        <vt:lpstr>幻灯片标题</vt:lpstr>
      </vt:variant>
      <vt:variant>
        <vt:i4>18</vt:i4>
      </vt:variant>
    </vt:vector>
  </HeadingPairs>
  <TitlesOfParts>
    <vt:vector size="55" baseType="lpstr">
      <vt:lpstr>Arial</vt:lpstr>
      <vt:lpstr>宋体</vt:lpstr>
      <vt:lpstr>Wingdings</vt:lpstr>
      <vt:lpstr>Calibri</vt:lpstr>
      <vt:lpstr>微软雅黑</vt:lpstr>
      <vt:lpstr>Arial</vt:lpstr>
      <vt:lpstr>楷体</vt:lpstr>
      <vt:lpstr>华文楷体</vt:lpstr>
      <vt:lpstr>Arial Unicode MS</vt:lpstr>
      <vt:lpstr>等线</vt:lpstr>
      <vt:lpstr>华文行楷</vt:lpstr>
      <vt:lpstr>等线 Light</vt:lpstr>
      <vt:lpstr>Times New Roman</vt:lpstr>
      <vt:lpstr>华文隶书</vt:lpstr>
      <vt:lpstr>汉仪书魂体简</vt:lpstr>
      <vt:lpstr>黑体</vt:lpstr>
      <vt:lpstr>演示夏行楷</vt:lpstr>
      <vt:lpstr>思源黑体 CN Light</vt:lpstr>
      <vt:lpstr>方正鲁迅行书 简</vt:lpstr>
      <vt:lpstr>Calibri</vt:lpstr>
      <vt:lpstr>方正姚体</vt:lpstr>
      <vt:lpstr>华文细黑</vt:lpstr>
      <vt:lpstr>方正劲颜体</vt:lpstr>
      <vt:lpstr>汉仪粗宋简</vt:lpstr>
      <vt:lpstr>汉仪尚巍手书W</vt:lpstr>
      <vt:lpstr>汉仪综艺体简</vt:lpstr>
      <vt:lpstr>汉仪超粗黑简</vt:lpstr>
      <vt:lpstr>汉仪黑方W</vt:lpstr>
      <vt:lpstr>汉仪铸字美心体简</vt:lpstr>
      <vt:lpstr>仿宋</vt:lpstr>
      <vt:lpstr>华文宋体</vt:lpstr>
      <vt:lpstr>华文中宋</vt:lpstr>
      <vt:lpstr>华文仿宋</vt:lpstr>
      <vt:lpstr>华文琥珀</vt:lpstr>
      <vt:lpstr>华文彩云</vt:lpstr>
      <vt:lpstr>金山云技术体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creator>优品PPT</dc:creator>
  <dc:subject>https://www.ypppt.com/</dc:subject>
  <cp:lastModifiedBy>wzy</cp:lastModifiedBy>
  <cp:revision>34</cp:revision>
  <dcterms:created xsi:type="dcterms:W3CDTF">2017-11-21T04:05:00Z</dcterms:created>
  <dcterms:modified xsi:type="dcterms:W3CDTF">2025-11-23T07:33:18Z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2C57DD35125F4E27B716BB71A485D5D0_12</vt:lpwstr>
  </property>
</Properties>
</file>