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9"/>
  </p:notesMasterIdLst>
  <p:handoutMasterIdLst>
    <p:handoutMasterId r:id="rId40"/>
  </p:handoutMasterIdLst>
  <p:sldIdLst>
    <p:sldId id="632" r:id="rId2"/>
    <p:sldId id="571" r:id="rId3"/>
    <p:sldId id="575" r:id="rId4"/>
    <p:sldId id="576" r:id="rId5"/>
    <p:sldId id="577" r:id="rId6"/>
    <p:sldId id="578" r:id="rId7"/>
    <p:sldId id="579" r:id="rId8"/>
    <p:sldId id="572" r:id="rId9"/>
    <p:sldId id="573" r:id="rId10"/>
    <p:sldId id="627" r:id="rId11"/>
    <p:sldId id="590" r:id="rId12"/>
    <p:sldId id="591" r:id="rId13"/>
    <p:sldId id="592" r:id="rId14"/>
    <p:sldId id="593" r:id="rId15"/>
    <p:sldId id="596" r:id="rId16"/>
    <p:sldId id="594" r:id="rId17"/>
    <p:sldId id="597" r:id="rId18"/>
    <p:sldId id="598" r:id="rId19"/>
    <p:sldId id="595" r:id="rId20"/>
    <p:sldId id="599" r:id="rId21"/>
    <p:sldId id="628" r:id="rId22"/>
    <p:sldId id="600" r:id="rId23"/>
    <p:sldId id="601" r:id="rId24"/>
    <p:sldId id="630" r:id="rId25"/>
    <p:sldId id="631" r:id="rId26"/>
    <p:sldId id="602" r:id="rId27"/>
    <p:sldId id="603" r:id="rId28"/>
    <p:sldId id="604" r:id="rId29"/>
    <p:sldId id="605" r:id="rId30"/>
    <p:sldId id="606" r:id="rId31"/>
    <p:sldId id="607" r:id="rId32"/>
    <p:sldId id="608" r:id="rId33"/>
    <p:sldId id="609" r:id="rId34"/>
    <p:sldId id="574" r:id="rId35"/>
    <p:sldId id="610" r:id="rId36"/>
    <p:sldId id="611" r:id="rId37"/>
    <p:sldId id="613" r:id="rId38"/>
  </p:sldIdLst>
  <p:sldSz cx="7169150" cy="5376863" type="B5ISO"/>
  <p:notesSz cx="5883275" cy="8186738"/>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94">
          <p15:clr>
            <a:srgbClr val="A4A3A4"/>
          </p15:clr>
        </p15:guide>
        <p15:guide id="2" pos="225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oh Liu" initials="YL" lastIdx="1" clrIdx="0">
    <p:extLst>
      <p:ext uri="{19B8F6BF-5375-455C-9EA6-DF929625EA0E}">
        <p15:presenceInfo xmlns:p15="http://schemas.microsoft.com/office/powerpoint/2012/main" userId="e50b100381d20f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66"/>
    <a:srgbClr val="FFFFCC"/>
    <a:srgbClr val="FFFFFF"/>
    <a:srgbClr val="660066"/>
    <a:srgbClr val="800080"/>
    <a:srgbClr val="0000FF"/>
    <a:srgbClr val="990099"/>
    <a:srgbClr val="FFFF99"/>
    <a:srgbClr val="7000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0019" autoAdjust="0"/>
    <p:restoredTop sz="80029" autoAdjust="0"/>
  </p:normalViewPr>
  <p:slideViewPr>
    <p:cSldViewPr>
      <p:cViewPr varScale="1">
        <p:scale>
          <a:sx n="84" d="100"/>
          <a:sy n="84" d="100"/>
        </p:scale>
        <p:origin x="1128" y="68"/>
      </p:cViewPr>
      <p:guideLst>
        <p:guide orient="horz" pos="1694"/>
        <p:guide pos="22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bwMode="auto">
          <a:xfrm>
            <a:off x="0" y="0"/>
            <a:ext cx="2549525" cy="409575"/>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lvl1pPr defTabSz="803275" eaLnBrk="1" hangingPunct="1">
              <a:defRPr sz="1000" b="0"/>
            </a:lvl1pPr>
          </a:lstStyle>
          <a:p>
            <a:pPr>
              <a:defRPr/>
            </a:pPr>
            <a:endParaRPr lang="en-US" altLang="zh-CN"/>
          </a:p>
        </p:txBody>
      </p:sp>
      <p:sp>
        <p:nvSpPr>
          <p:cNvPr id="81923" name="Rectangle 3"/>
          <p:cNvSpPr>
            <a:spLocks noGrp="1" noChangeArrowheads="1"/>
          </p:cNvSpPr>
          <p:nvPr>
            <p:ph type="dt" sz="quarter" idx="1"/>
          </p:nvPr>
        </p:nvSpPr>
        <p:spPr bwMode="auto">
          <a:xfrm>
            <a:off x="3332163" y="0"/>
            <a:ext cx="2549525" cy="409575"/>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lvl1pPr algn="r" defTabSz="803275" eaLnBrk="1" hangingPunct="1">
              <a:defRPr sz="1000" b="0"/>
            </a:lvl1pPr>
          </a:lstStyle>
          <a:p>
            <a:pPr>
              <a:defRPr/>
            </a:pPr>
            <a:endParaRPr lang="en-US" altLang="zh-CN"/>
          </a:p>
        </p:txBody>
      </p:sp>
      <p:sp>
        <p:nvSpPr>
          <p:cNvPr id="81924" name="Rectangle 4"/>
          <p:cNvSpPr>
            <a:spLocks noGrp="1" noChangeArrowheads="1"/>
          </p:cNvSpPr>
          <p:nvPr>
            <p:ph type="ftr" sz="quarter" idx="2"/>
          </p:nvPr>
        </p:nvSpPr>
        <p:spPr bwMode="auto">
          <a:xfrm>
            <a:off x="0" y="7775575"/>
            <a:ext cx="2549525" cy="409575"/>
          </a:xfrm>
          <a:prstGeom prst="rect">
            <a:avLst/>
          </a:prstGeom>
          <a:noFill/>
          <a:ln w="9525">
            <a:noFill/>
            <a:miter lim="800000"/>
            <a:headEnd/>
            <a:tailEnd/>
          </a:ln>
          <a:effectLst/>
        </p:spPr>
        <p:txBody>
          <a:bodyPr vert="horz" wrap="square" lIns="80394" tIns="40197" rIns="80394" bIns="40197" numCol="1" anchor="b" anchorCtr="0" compatLnSpc="1">
            <a:prstTxWarp prst="textNoShape">
              <a:avLst/>
            </a:prstTxWarp>
          </a:bodyPr>
          <a:lstStyle>
            <a:lvl1pPr defTabSz="803275" eaLnBrk="1" hangingPunct="1">
              <a:defRPr sz="1000" b="0"/>
            </a:lvl1pPr>
          </a:lstStyle>
          <a:p>
            <a:pPr>
              <a:defRPr/>
            </a:pPr>
            <a:endParaRPr lang="en-US" altLang="zh-CN"/>
          </a:p>
        </p:txBody>
      </p:sp>
      <p:sp>
        <p:nvSpPr>
          <p:cNvPr id="81925" name="Rectangle 5"/>
          <p:cNvSpPr>
            <a:spLocks noGrp="1" noChangeArrowheads="1"/>
          </p:cNvSpPr>
          <p:nvPr>
            <p:ph type="sldNum" sz="quarter" idx="3"/>
          </p:nvPr>
        </p:nvSpPr>
        <p:spPr bwMode="auto">
          <a:xfrm>
            <a:off x="3332163" y="7775575"/>
            <a:ext cx="2549525" cy="409575"/>
          </a:xfrm>
          <a:prstGeom prst="rect">
            <a:avLst/>
          </a:prstGeom>
          <a:noFill/>
          <a:ln w="9525">
            <a:noFill/>
            <a:miter lim="800000"/>
            <a:headEnd/>
            <a:tailEnd/>
          </a:ln>
          <a:effectLst/>
        </p:spPr>
        <p:txBody>
          <a:bodyPr vert="horz" wrap="square" lIns="80394" tIns="40197" rIns="80394" bIns="40197" numCol="1" anchor="b" anchorCtr="0" compatLnSpc="1">
            <a:prstTxWarp prst="textNoShape">
              <a:avLst/>
            </a:prstTxWarp>
          </a:bodyPr>
          <a:lstStyle>
            <a:lvl1pPr algn="r" defTabSz="803275" eaLnBrk="1" hangingPunct="1">
              <a:defRPr sz="1000" b="0"/>
            </a:lvl1pPr>
          </a:lstStyle>
          <a:p>
            <a:pPr>
              <a:defRPr/>
            </a:pPr>
            <a:fld id="{867203D8-3B6C-4F71-88EA-A8D045ADD052}"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549525" cy="409575"/>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lvl1pPr defTabSz="803275" eaLnBrk="1" hangingPunct="1">
              <a:defRPr sz="1000" b="0"/>
            </a:lvl1pPr>
          </a:lstStyle>
          <a:p>
            <a:pPr>
              <a:defRPr/>
            </a:pPr>
            <a:endParaRPr lang="en-US" altLang="zh-CN"/>
          </a:p>
        </p:txBody>
      </p:sp>
      <p:sp>
        <p:nvSpPr>
          <p:cNvPr id="22531" name="Rectangle 3"/>
          <p:cNvSpPr>
            <a:spLocks noGrp="1" noChangeArrowheads="1"/>
          </p:cNvSpPr>
          <p:nvPr>
            <p:ph type="dt" idx="1"/>
          </p:nvPr>
        </p:nvSpPr>
        <p:spPr bwMode="auto">
          <a:xfrm>
            <a:off x="3333750" y="0"/>
            <a:ext cx="2549525" cy="409575"/>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lvl1pPr algn="r" defTabSz="803275" eaLnBrk="1" hangingPunct="1">
              <a:defRPr sz="1000" b="0"/>
            </a:lvl1pPr>
          </a:lstStyle>
          <a:p>
            <a:pPr>
              <a:defRPr/>
            </a:pPr>
            <a:endParaRPr lang="en-US" altLang="zh-CN"/>
          </a:p>
        </p:txBody>
      </p:sp>
      <p:sp>
        <p:nvSpPr>
          <p:cNvPr id="5124" name="Rectangle 4"/>
          <p:cNvSpPr>
            <a:spLocks noGrp="1" noRot="1" noChangeAspect="1" noChangeArrowheads="1" noTextEdit="1"/>
          </p:cNvSpPr>
          <p:nvPr>
            <p:ph type="sldImg" idx="2"/>
          </p:nvPr>
        </p:nvSpPr>
        <p:spPr bwMode="auto">
          <a:xfrm>
            <a:off x="895350" y="614363"/>
            <a:ext cx="4094163" cy="30702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p:cNvSpPr>
            <a:spLocks noGrp="1" noChangeArrowheads="1"/>
          </p:cNvSpPr>
          <p:nvPr>
            <p:ph type="body" sz="quarter" idx="3"/>
          </p:nvPr>
        </p:nvSpPr>
        <p:spPr bwMode="auto">
          <a:xfrm>
            <a:off x="785813" y="3887788"/>
            <a:ext cx="4311650" cy="3684587"/>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2534" name="Rectangle 6"/>
          <p:cNvSpPr>
            <a:spLocks noGrp="1" noChangeArrowheads="1"/>
          </p:cNvSpPr>
          <p:nvPr>
            <p:ph type="ftr" sz="quarter" idx="4"/>
          </p:nvPr>
        </p:nvSpPr>
        <p:spPr bwMode="auto">
          <a:xfrm>
            <a:off x="0" y="7777163"/>
            <a:ext cx="2549525" cy="409575"/>
          </a:xfrm>
          <a:prstGeom prst="rect">
            <a:avLst/>
          </a:prstGeom>
          <a:noFill/>
          <a:ln w="9525">
            <a:noFill/>
            <a:miter lim="800000"/>
            <a:headEnd/>
            <a:tailEnd/>
          </a:ln>
          <a:effectLst/>
        </p:spPr>
        <p:txBody>
          <a:bodyPr vert="horz" wrap="square" lIns="80394" tIns="40197" rIns="80394" bIns="40197" numCol="1" anchor="b" anchorCtr="0" compatLnSpc="1">
            <a:prstTxWarp prst="textNoShape">
              <a:avLst/>
            </a:prstTxWarp>
          </a:bodyPr>
          <a:lstStyle>
            <a:lvl1pPr defTabSz="803275" eaLnBrk="1" hangingPunct="1">
              <a:defRPr sz="1000" b="0"/>
            </a:lvl1pPr>
          </a:lstStyle>
          <a:p>
            <a:pPr>
              <a:defRPr/>
            </a:pPr>
            <a:endParaRPr lang="en-US" altLang="zh-CN"/>
          </a:p>
        </p:txBody>
      </p:sp>
      <p:sp>
        <p:nvSpPr>
          <p:cNvPr id="22535" name="Rectangle 7"/>
          <p:cNvSpPr>
            <a:spLocks noGrp="1" noChangeArrowheads="1"/>
          </p:cNvSpPr>
          <p:nvPr>
            <p:ph type="sldNum" sz="quarter" idx="5"/>
          </p:nvPr>
        </p:nvSpPr>
        <p:spPr bwMode="auto">
          <a:xfrm>
            <a:off x="3333750" y="7777163"/>
            <a:ext cx="2549525" cy="409575"/>
          </a:xfrm>
          <a:prstGeom prst="rect">
            <a:avLst/>
          </a:prstGeom>
          <a:noFill/>
          <a:ln w="9525">
            <a:noFill/>
            <a:miter lim="800000"/>
            <a:headEnd/>
            <a:tailEnd/>
          </a:ln>
          <a:effectLst/>
        </p:spPr>
        <p:txBody>
          <a:bodyPr vert="horz" wrap="square" lIns="80394" tIns="40197" rIns="80394" bIns="40197" numCol="1" anchor="b" anchorCtr="0" compatLnSpc="1">
            <a:prstTxWarp prst="textNoShape">
              <a:avLst/>
            </a:prstTxWarp>
          </a:bodyPr>
          <a:lstStyle>
            <a:lvl1pPr algn="r" defTabSz="803275" eaLnBrk="1" hangingPunct="1">
              <a:defRPr sz="1000" b="0"/>
            </a:lvl1pPr>
          </a:lstStyle>
          <a:p>
            <a:pPr>
              <a:defRPr/>
            </a:pPr>
            <a:fld id="{43D7062F-6358-483C-9199-10D05129C7B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亮度通常比色差更重要，因此亮度细量化，色彩粗量化</a:t>
            </a:r>
          </a:p>
        </p:txBody>
      </p:sp>
      <p:sp>
        <p:nvSpPr>
          <p:cNvPr id="4" name="灯片编号占位符 3"/>
          <p:cNvSpPr>
            <a:spLocks noGrp="1"/>
          </p:cNvSpPr>
          <p:nvPr>
            <p:ph type="sldNum" sz="quarter" idx="5"/>
          </p:nvPr>
        </p:nvSpPr>
        <p:spPr/>
        <p:txBody>
          <a:bodyPr/>
          <a:lstStyle/>
          <a:p>
            <a:pPr>
              <a:defRPr/>
            </a:pPr>
            <a:fld id="{43D7062F-6358-483C-9199-10D05129C7B7}" type="slidenum">
              <a:rPr lang="en-US" altLang="zh-CN" smtClean="0"/>
              <a:pPr>
                <a:defRPr/>
              </a:pPr>
              <a:t>18</a:t>
            </a:fld>
            <a:endParaRPr lang="en-US" altLang="zh-CN"/>
          </a:p>
        </p:txBody>
      </p:sp>
    </p:spTree>
    <p:extLst>
      <p:ext uri="{BB962C8B-B14F-4D97-AF65-F5344CB8AC3E}">
        <p14:creationId xmlns:p14="http://schemas.microsoft.com/office/powerpoint/2010/main" val="3522805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低频在向量顶部，高频在向量尾部，且增加</a:t>
            </a:r>
            <a:r>
              <a:rPr lang="en-US" altLang="zh-CN" dirty="0"/>
              <a:t>0</a:t>
            </a:r>
            <a:r>
              <a:rPr lang="zh-CN" altLang="en-US" dirty="0"/>
              <a:t>的行程长度</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3D7062F-6358-483C-9199-10D05129C7B7}" type="slidenum">
              <a:rPr lang="en-US" altLang="zh-CN" smtClean="0"/>
              <a:pPr>
                <a:defRPr/>
              </a:pPr>
              <a:t>22</a:t>
            </a:fld>
            <a:endParaRPr lang="en-US" altLang="zh-CN"/>
          </a:p>
        </p:txBody>
      </p:sp>
    </p:spTree>
    <p:extLst>
      <p:ext uri="{BB962C8B-B14F-4D97-AF65-F5344CB8AC3E}">
        <p14:creationId xmlns:p14="http://schemas.microsoft.com/office/powerpoint/2010/main" val="2689349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https://blog.csdn.net/xiaoyafang123/article/details/120370880</a:t>
            </a:r>
            <a:endParaRPr lang="zh-CN" altLang="en-US" dirty="0"/>
          </a:p>
        </p:txBody>
      </p:sp>
      <p:sp>
        <p:nvSpPr>
          <p:cNvPr id="4" name="灯片编号占位符 3"/>
          <p:cNvSpPr>
            <a:spLocks noGrp="1"/>
          </p:cNvSpPr>
          <p:nvPr>
            <p:ph type="sldNum" sz="quarter" idx="5"/>
          </p:nvPr>
        </p:nvSpPr>
        <p:spPr/>
        <p:txBody>
          <a:bodyPr/>
          <a:lstStyle/>
          <a:p>
            <a:pPr>
              <a:defRPr/>
            </a:pPr>
            <a:fld id="{43D7062F-6358-483C-9199-10D05129C7B7}" type="slidenum">
              <a:rPr lang="en-US" altLang="zh-CN" smtClean="0"/>
              <a:pPr>
                <a:defRPr/>
              </a:pPr>
              <a:t>24</a:t>
            </a:fld>
            <a:endParaRPr lang="en-US" altLang="zh-CN"/>
          </a:p>
        </p:txBody>
      </p:sp>
    </p:spTree>
    <p:extLst>
      <p:ext uri="{BB962C8B-B14F-4D97-AF65-F5344CB8AC3E}">
        <p14:creationId xmlns:p14="http://schemas.microsoft.com/office/powerpoint/2010/main" val="2233792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Diff=-5</a:t>
            </a:r>
            <a:r>
              <a:rPr lang="zh-CN" altLang="en-US" dirty="0"/>
              <a:t>，</a:t>
            </a:r>
            <a:r>
              <a:rPr lang="en-US" altLang="zh-CN" dirty="0"/>
              <a:t>5</a:t>
            </a:r>
            <a:r>
              <a:rPr lang="zh-CN" altLang="en-US" dirty="0"/>
              <a:t>的反码</a:t>
            </a:r>
          </a:p>
        </p:txBody>
      </p:sp>
      <p:sp>
        <p:nvSpPr>
          <p:cNvPr id="4" name="灯片编号占位符 3"/>
          <p:cNvSpPr>
            <a:spLocks noGrp="1"/>
          </p:cNvSpPr>
          <p:nvPr>
            <p:ph type="sldNum" sz="quarter" idx="5"/>
          </p:nvPr>
        </p:nvSpPr>
        <p:spPr/>
        <p:txBody>
          <a:bodyPr/>
          <a:lstStyle/>
          <a:p>
            <a:pPr>
              <a:defRPr/>
            </a:pPr>
            <a:fld id="{43D7062F-6358-483C-9199-10D05129C7B7}" type="slidenum">
              <a:rPr lang="en-US" altLang="zh-CN" smtClean="0"/>
              <a:pPr>
                <a:defRPr/>
              </a:pPr>
              <a:t>30</a:t>
            </a:fld>
            <a:endParaRPr lang="en-US" altLang="zh-CN"/>
          </a:p>
        </p:txBody>
      </p:sp>
    </p:spTree>
    <p:extLst>
      <p:ext uri="{BB962C8B-B14F-4D97-AF65-F5344CB8AC3E}">
        <p14:creationId xmlns:p14="http://schemas.microsoft.com/office/powerpoint/2010/main" val="3758956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38163" y="1670050"/>
            <a:ext cx="6092825" cy="1152525"/>
          </a:xfrm>
        </p:spPr>
        <p:txBody>
          <a:bodyPr/>
          <a:lstStyle/>
          <a:p>
            <a:r>
              <a:rPr lang="zh-CN" altLang="en-US"/>
              <a:t>单击此处编辑母版标题样式</a:t>
            </a:r>
          </a:p>
        </p:txBody>
      </p:sp>
      <p:sp>
        <p:nvSpPr>
          <p:cNvPr id="3" name="副标题 2"/>
          <p:cNvSpPr>
            <a:spLocks noGrp="1"/>
          </p:cNvSpPr>
          <p:nvPr>
            <p:ph type="subTitle" idx="1"/>
          </p:nvPr>
        </p:nvSpPr>
        <p:spPr>
          <a:xfrm>
            <a:off x="1074738" y="3046413"/>
            <a:ext cx="5019675" cy="13747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107525" name="Rectangle 5"/>
          <p:cNvSpPr>
            <a:spLocks noGrp="1" noChangeArrowheads="1"/>
          </p:cNvSpPr>
          <p:nvPr>
            <p:ph type="sldNum" sz="quarter" idx="4"/>
          </p:nvPr>
        </p:nvSpPr>
        <p:spPr bwMode="auto">
          <a:xfrm>
            <a:off x="5312767" y="4995862"/>
            <a:ext cx="1673225" cy="231775"/>
          </a:xfrm>
          <a:prstGeom prst="rect">
            <a:avLst/>
          </a:prstGeom>
          <a:noFill/>
          <a:ln w="9525">
            <a:noFill/>
            <a:miter lim="800000"/>
            <a:headEnd/>
            <a:tailEnd/>
          </a:ln>
          <a:effectLst/>
        </p:spPr>
        <p:txBody>
          <a:bodyPr vert="horz" wrap="square" lIns="71683" tIns="0" rIns="71683" bIns="0" numCol="1" anchor="t" anchorCtr="0" compatLnSpc="1">
            <a:prstTxWarp prst="textNoShape">
              <a:avLst/>
            </a:prstTxWarp>
          </a:bodyPr>
          <a:lstStyle>
            <a:lvl1pPr algn="r" eaLnBrk="1" hangingPunct="1">
              <a:defRPr kumimoji="0" sz="1100" b="0"/>
            </a:lvl1pPr>
          </a:lstStyle>
          <a:p>
            <a:pPr>
              <a:defRPr/>
            </a:pPr>
            <a:fld id="{81E3E171-E13E-41D3-97AE-766F01816722}" type="slidenum">
              <a:rPr lang="en-US" altLang="zh-CN"/>
              <a:pPr>
                <a:defRPr/>
              </a:pPr>
              <a:t>‹#›</a:t>
            </a:fld>
            <a:endParaRPr lang="en-US" altLang="zh-CN"/>
          </a:p>
        </p:txBody>
      </p:sp>
    </p:spTree>
    <p:extLst>
      <p:ext uri="{BB962C8B-B14F-4D97-AF65-F5344CB8AC3E}">
        <p14:creationId xmlns:p14="http://schemas.microsoft.com/office/powerpoint/2010/main" val="1376517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A41749BD-F203-54F9-95D9-16504CC73054}"/>
              </a:ext>
            </a:extLst>
          </p:cNvPr>
          <p:cNvSpPr>
            <a:spLocks noGrp="1" noChangeArrowheads="1"/>
          </p:cNvSpPr>
          <p:nvPr>
            <p:ph type="sldNum" sz="quarter" idx="4"/>
          </p:nvPr>
        </p:nvSpPr>
        <p:spPr bwMode="auto">
          <a:xfrm>
            <a:off x="5312767" y="4995862"/>
            <a:ext cx="1673225" cy="231775"/>
          </a:xfrm>
          <a:prstGeom prst="rect">
            <a:avLst/>
          </a:prstGeom>
          <a:noFill/>
          <a:ln w="9525">
            <a:noFill/>
            <a:miter lim="800000"/>
            <a:headEnd/>
            <a:tailEnd/>
          </a:ln>
          <a:effectLst/>
        </p:spPr>
        <p:txBody>
          <a:bodyPr vert="horz" wrap="square" lIns="71683" tIns="0" rIns="71683" bIns="0" numCol="1" anchor="t" anchorCtr="0" compatLnSpc="1">
            <a:prstTxWarp prst="textNoShape">
              <a:avLst/>
            </a:prstTxWarp>
          </a:bodyPr>
          <a:lstStyle>
            <a:lvl1pPr algn="r" eaLnBrk="1" hangingPunct="1">
              <a:defRPr kumimoji="0" sz="1100" b="0"/>
            </a:lvl1pPr>
          </a:lstStyle>
          <a:p>
            <a:pPr>
              <a:defRPr/>
            </a:pPr>
            <a:fld id="{81E3E171-E13E-41D3-97AE-766F01816722}" type="slidenum">
              <a:rPr lang="en-US" altLang="zh-CN"/>
              <a:pPr>
                <a:defRPr/>
              </a:pPr>
              <a:t>‹#›</a:t>
            </a:fld>
            <a:endParaRPr lang="en-US" altLang="zh-CN"/>
          </a:p>
        </p:txBody>
      </p:sp>
    </p:spTree>
    <p:extLst>
      <p:ext uri="{BB962C8B-B14F-4D97-AF65-F5344CB8AC3E}">
        <p14:creationId xmlns:p14="http://schemas.microsoft.com/office/powerpoint/2010/main" val="2130478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702957E9-251A-EEC9-77A1-54A2E22972F6}"/>
              </a:ext>
            </a:extLst>
          </p:cNvPr>
          <p:cNvSpPr>
            <a:spLocks noGrp="1" noChangeArrowheads="1"/>
          </p:cNvSpPr>
          <p:nvPr>
            <p:ph type="sldNum" sz="quarter" idx="4"/>
          </p:nvPr>
        </p:nvSpPr>
        <p:spPr bwMode="auto">
          <a:xfrm>
            <a:off x="5312767" y="4995862"/>
            <a:ext cx="1673225" cy="231775"/>
          </a:xfrm>
          <a:prstGeom prst="rect">
            <a:avLst/>
          </a:prstGeom>
          <a:noFill/>
          <a:ln w="9525">
            <a:noFill/>
            <a:miter lim="800000"/>
            <a:headEnd/>
            <a:tailEnd/>
          </a:ln>
          <a:effectLst/>
        </p:spPr>
        <p:txBody>
          <a:bodyPr vert="horz" wrap="square" lIns="71683" tIns="0" rIns="71683" bIns="0" numCol="1" anchor="t" anchorCtr="0" compatLnSpc="1">
            <a:prstTxWarp prst="textNoShape">
              <a:avLst/>
            </a:prstTxWarp>
          </a:bodyPr>
          <a:lstStyle>
            <a:lvl1pPr algn="r" eaLnBrk="1" hangingPunct="1">
              <a:defRPr kumimoji="0" sz="1100" b="0"/>
            </a:lvl1pPr>
          </a:lstStyle>
          <a:p>
            <a:pPr>
              <a:defRPr/>
            </a:pPr>
            <a:fld id="{81E3E171-E13E-41D3-97AE-766F01816722}" type="slidenum">
              <a:rPr lang="en-US" altLang="zh-CN"/>
              <a:pPr>
                <a:defRPr/>
              </a:pPr>
              <a:t>‹#›</a:t>
            </a:fld>
            <a:endParaRPr lang="en-US" altLang="zh-CN"/>
          </a:p>
        </p:txBody>
      </p:sp>
    </p:spTree>
    <p:extLst>
      <p:ext uri="{BB962C8B-B14F-4D97-AF65-F5344CB8AC3E}">
        <p14:creationId xmlns:p14="http://schemas.microsoft.com/office/powerpoint/2010/main" val="648007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FA219AC4-62DA-C8D7-35EE-6BBEEB79D0FE}"/>
              </a:ext>
            </a:extLst>
          </p:cNvPr>
          <p:cNvSpPr>
            <a:spLocks noGrp="1" noChangeArrowheads="1"/>
          </p:cNvSpPr>
          <p:nvPr>
            <p:ph type="sldNum" sz="quarter" idx="4"/>
          </p:nvPr>
        </p:nvSpPr>
        <p:spPr bwMode="auto">
          <a:xfrm>
            <a:off x="5312767" y="4995862"/>
            <a:ext cx="1673225" cy="231775"/>
          </a:xfrm>
          <a:prstGeom prst="rect">
            <a:avLst/>
          </a:prstGeom>
          <a:noFill/>
          <a:ln w="9525">
            <a:noFill/>
            <a:miter lim="800000"/>
            <a:headEnd/>
            <a:tailEnd/>
          </a:ln>
          <a:effectLst/>
        </p:spPr>
        <p:txBody>
          <a:bodyPr vert="horz" wrap="square" lIns="71683" tIns="0" rIns="71683" bIns="0" numCol="1" anchor="t" anchorCtr="0" compatLnSpc="1">
            <a:prstTxWarp prst="textNoShape">
              <a:avLst/>
            </a:prstTxWarp>
          </a:bodyPr>
          <a:lstStyle>
            <a:lvl1pPr algn="r" eaLnBrk="1" hangingPunct="1">
              <a:defRPr kumimoji="0" sz="1100" b="0"/>
            </a:lvl1pPr>
          </a:lstStyle>
          <a:p>
            <a:pPr>
              <a:defRPr/>
            </a:pPr>
            <a:fld id="{81E3E171-E13E-41D3-97AE-766F01816722}" type="slidenum">
              <a:rPr lang="en-US" altLang="zh-CN"/>
              <a:pPr>
                <a:defRPr/>
              </a:pPr>
              <a:t>‹#›</a:t>
            </a:fld>
            <a:endParaRPr lang="en-US" altLang="zh-CN"/>
          </a:p>
        </p:txBody>
      </p:sp>
    </p:spTree>
    <p:extLst>
      <p:ext uri="{BB962C8B-B14F-4D97-AF65-F5344CB8AC3E}">
        <p14:creationId xmlns:p14="http://schemas.microsoft.com/office/powerpoint/2010/main" val="1000205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Rectangle 5">
            <a:extLst>
              <a:ext uri="{FF2B5EF4-FFF2-40B4-BE49-F238E27FC236}">
                <a16:creationId xmlns:a16="http://schemas.microsoft.com/office/drawing/2014/main" id="{0B8E01A7-8133-C5A0-028B-1F519F9EB5EA}"/>
              </a:ext>
            </a:extLst>
          </p:cNvPr>
          <p:cNvSpPr>
            <a:spLocks noGrp="1" noChangeArrowheads="1"/>
          </p:cNvSpPr>
          <p:nvPr>
            <p:ph type="sldNum" sz="quarter" idx="4"/>
          </p:nvPr>
        </p:nvSpPr>
        <p:spPr bwMode="auto">
          <a:xfrm>
            <a:off x="5312767" y="4995862"/>
            <a:ext cx="1673225" cy="231775"/>
          </a:xfrm>
          <a:prstGeom prst="rect">
            <a:avLst/>
          </a:prstGeom>
          <a:noFill/>
          <a:ln w="9525">
            <a:noFill/>
            <a:miter lim="800000"/>
            <a:headEnd/>
            <a:tailEnd/>
          </a:ln>
          <a:effectLst/>
        </p:spPr>
        <p:txBody>
          <a:bodyPr vert="horz" wrap="square" lIns="71683" tIns="0" rIns="71683" bIns="0" numCol="1" anchor="t" anchorCtr="0" compatLnSpc="1">
            <a:prstTxWarp prst="textNoShape">
              <a:avLst/>
            </a:prstTxWarp>
          </a:bodyPr>
          <a:lstStyle>
            <a:lvl1pPr algn="r" eaLnBrk="1" hangingPunct="1">
              <a:defRPr kumimoji="0" sz="1100" b="0"/>
            </a:lvl1pPr>
          </a:lstStyle>
          <a:p>
            <a:pPr>
              <a:defRPr/>
            </a:pPr>
            <a:fld id="{81E3E171-E13E-41D3-97AE-766F01816722}" type="slidenum">
              <a:rPr lang="en-US" altLang="zh-CN" smtClean="0"/>
              <a:pPr>
                <a:defRPr/>
              </a:pPr>
              <a:t>‹#›</a:t>
            </a:fld>
            <a:endParaRPr lang="en-US" altLang="zh-CN" dirty="0"/>
          </a:p>
        </p:txBody>
      </p:sp>
    </p:spTree>
    <p:extLst>
      <p:ext uri="{BB962C8B-B14F-4D97-AF65-F5344CB8AC3E}">
        <p14:creationId xmlns:p14="http://schemas.microsoft.com/office/powerpoint/2010/main" val="36471322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882650"/>
            <a:ext cx="6802438" cy="0"/>
          </a:xfrm>
          <a:prstGeom prst="line">
            <a:avLst/>
          </a:prstGeom>
          <a:noFill/>
          <a:ln w="38100">
            <a:solidFill>
              <a:srgbClr val="404F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p:cNvSpPr>
            <a:spLocks noGrp="1" noChangeArrowheads="1"/>
          </p:cNvSpPr>
          <p:nvPr>
            <p:ph type="title"/>
          </p:nvPr>
        </p:nvSpPr>
        <p:spPr bwMode="auto">
          <a:xfrm>
            <a:off x="358775" y="215900"/>
            <a:ext cx="6451600"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p>
            <a:pPr lvl="0"/>
            <a:r>
              <a:rPr lang="zh-CN" altLang="en-US"/>
              <a:t>单击此处编辑母版标题样式</a:t>
            </a:r>
          </a:p>
        </p:txBody>
      </p:sp>
      <p:sp>
        <p:nvSpPr>
          <p:cNvPr id="1028" name="Rectangle 4"/>
          <p:cNvSpPr>
            <a:spLocks noGrp="1" noChangeArrowheads="1"/>
          </p:cNvSpPr>
          <p:nvPr>
            <p:ph type="body" idx="1"/>
          </p:nvPr>
        </p:nvSpPr>
        <p:spPr bwMode="auto">
          <a:xfrm>
            <a:off x="358775" y="1074738"/>
            <a:ext cx="6451600" cy="372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2" name="Line 16"/>
          <p:cNvSpPr>
            <a:spLocks noChangeShapeType="1"/>
          </p:cNvSpPr>
          <p:nvPr/>
        </p:nvSpPr>
        <p:spPr bwMode="auto">
          <a:xfrm>
            <a:off x="0" y="862013"/>
            <a:ext cx="3162300" cy="0"/>
          </a:xfrm>
          <a:prstGeom prst="line">
            <a:avLst/>
          </a:prstGeom>
          <a:noFill/>
          <a:ln w="63500">
            <a:solidFill>
              <a:srgbClr val="404F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739" r:id="rId1"/>
    <p:sldLayoutId id="2147483737" r:id="rId2"/>
    <p:sldLayoutId id="2147483740" r:id="rId3"/>
    <p:sldLayoutId id="2147483741" r:id="rId4"/>
    <p:sldLayoutId id="2147483738" r:id="rId5"/>
  </p:sldLayoutIdLst>
  <p:hf hdr="0" ftr="0" dt="0"/>
  <p:txStyles>
    <p:title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p:titleStyle>
    <p:bodyStyle>
      <a:lvl1pPr marL="268288" indent="-268288" algn="l" defTabSz="717550" rtl="0" eaLnBrk="0" fontAlgn="base" hangingPunct="0">
        <a:spcBef>
          <a:spcPct val="20000"/>
        </a:spcBef>
        <a:spcAft>
          <a:spcPct val="0"/>
        </a:spcAft>
        <a:buClr>
          <a:schemeClr val="bg2"/>
        </a:buClr>
        <a:buSzPct val="75000"/>
        <a:buFont typeface="Wingdings" panose="05000000000000000000" pitchFamily="2" charset="2"/>
        <a:buChar char="p"/>
        <a:defRPr sz="1900" b="1">
          <a:solidFill>
            <a:schemeClr val="tx1"/>
          </a:solidFill>
          <a:latin typeface="+mn-lt"/>
          <a:ea typeface="+mn-ea"/>
          <a:cs typeface="+mn-cs"/>
        </a:defRPr>
      </a:lvl1pPr>
      <a:lvl2pPr marL="582613" indent="-223838" algn="l" defTabSz="717550" rtl="0" eaLnBrk="0" fontAlgn="base" hangingPunct="0">
        <a:spcBef>
          <a:spcPct val="20000"/>
        </a:spcBef>
        <a:spcAft>
          <a:spcPct val="0"/>
        </a:spcAft>
        <a:buClr>
          <a:schemeClr val="tx2"/>
        </a:buClr>
        <a:buSzPct val="75000"/>
        <a:buFont typeface="Wingdings" panose="05000000000000000000" pitchFamily="2" charset="2"/>
        <a:buChar char="n"/>
        <a:defRPr sz="1900" b="1">
          <a:solidFill>
            <a:schemeClr val="tx1"/>
          </a:solidFill>
          <a:latin typeface="+mn-ea"/>
          <a:ea typeface="+mn-ea"/>
        </a:defRPr>
      </a:lvl2pPr>
      <a:lvl3pPr marL="895350" indent="-177800" algn="l" defTabSz="717550" rtl="0" eaLnBrk="0" fontAlgn="base" hangingPunct="0">
        <a:spcBef>
          <a:spcPct val="20000"/>
        </a:spcBef>
        <a:spcAft>
          <a:spcPct val="0"/>
        </a:spcAft>
        <a:buClr>
          <a:schemeClr val="accent1"/>
        </a:buClr>
        <a:buSzPct val="65000"/>
        <a:buFont typeface="Wingdings" panose="05000000000000000000" pitchFamily="2" charset="2"/>
        <a:buChar char="p"/>
        <a:defRPr sz="1900" b="1">
          <a:solidFill>
            <a:schemeClr val="tx1"/>
          </a:solidFill>
          <a:latin typeface="+mn-ea"/>
          <a:ea typeface="+mn-ea"/>
        </a:defRPr>
      </a:lvl3pPr>
      <a:lvl4pPr marL="1254125" indent="-179388" algn="l" defTabSz="717550" rtl="0" eaLnBrk="0" fontAlgn="base" hangingPunct="0">
        <a:spcBef>
          <a:spcPct val="20000"/>
        </a:spcBef>
        <a:spcAft>
          <a:spcPct val="0"/>
        </a:spcAft>
        <a:buClr>
          <a:schemeClr val="bg2"/>
        </a:buClr>
        <a:buFont typeface="Wingdings" panose="05000000000000000000" pitchFamily="2" charset="2"/>
        <a:buChar char="§"/>
        <a:defRPr sz="1600" b="1">
          <a:solidFill>
            <a:schemeClr val="tx1"/>
          </a:solidFill>
          <a:latin typeface="+mn-ea"/>
          <a:ea typeface="+mn-ea"/>
        </a:defRPr>
      </a:lvl4pPr>
      <a:lvl5pPr marL="1612900" indent="-179388" algn="l" defTabSz="717550" rtl="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mn-ea"/>
          <a:ea typeface="+mn-ea"/>
        </a:defRPr>
      </a:lvl5pPr>
      <a:lvl6pPr marL="2070100" indent="-179388" algn="l" defTabSz="717550"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6pPr>
      <a:lvl7pPr marL="2527300" indent="-179388" algn="l" defTabSz="717550"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7pPr>
      <a:lvl8pPr marL="2984500" indent="-179388" algn="l" defTabSz="717550"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8pPr>
      <a:lvl9pPr marL="3441700" indent="-179388" algn="l" defTabSz="717550"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4.x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4.xml"/><Relationship Id="rId4" Type="http://schemas.openxmlformats.org/officeDocument/2006/relationships/slide" Target="slide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5.bin"/><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6.bin"/><Relationship Id="rId1" Type="http://schemas.openxmlformats.org/officeDocument/2006/relationships/slideLayout" Target="../slideLayouts/slideLayout4.xml"/><Relationship Id="rId4" Type="http://schemas.openxmlformats.org/officeDocument/2006/relationships/slide" Target="slide13.xml"/></Relationships>
</file>

<file path=ppt/slides/_rels/slide2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7.bin"/><Relationship Id="rId1" Type="http://schemas.openxmlformats.org/officeDocument/2006/relationships/slideLayout" Target="../slideLayouts/slideLayout4.xml"/><Relationship Id="rId5" Type="http://schemas.openxmlformats.org/officeDocument/2006/relationships/slide" Target="slide14.xml"/><Relationship Id="rId4" Type="http://schemas.openxmlformats.org/officeDocument/2006/relationships/slide" Target="slide13.xml"/></Relationships>
</file>

<file path=ppt/slides/_rels/slide2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8.bin"/><Relationship Id="rId1" Type="http://schemas.openxmlformats.org/officeDocument/2006/relationships/slideLayout" Target="../slideLayouts/slideLayout4.xml"/><Relationship Id="rId5" Type="http://schemas.openxmlformats.org/officeDocument/2006/relationships/slide" Target="slide17.xml"/><Relationship Id="rId4" Type="http://schemas.openxmlformats.org/officeDocument/2006/relationships/slide" Target="slide13.xml"/></Relationships>
</file>

<file path=ppt/slides/_rels/slide30.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slide" Target="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9.bin"/><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0.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968566EB-C45B-04B8-F095-76496910EFDE}"/>
              </a:ext>
            </a:extLst>
          </p:cNvPr>
          <p:cNvSpPr/>
          <p:nvPr/>
        </p:nvSpPr>
        <p:spPr>
          <a:xfrm>
            <a:off x="-109745" y="0"/>
            <a:ext cx="7318232" cy="3954661"/>
          </a:xfrm>
          <a:prstGeom prst="rect">
            <a:avLst/>
          </a:prstGeom>
          <a:blipFill dpi="0" rotWithShape="1">
            <a:blip r:embed="rId2"/>
            <a:srcRect/>
            <a:stretch>
              <a:fillRect/>
            </a:stretch>
          </a:bli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标题 1">
            <a:extLst>
              <a:ext uri="{FF2B5EF4-FFF2-40B4-BE49-F238E27FC236}">
                <a16:creationId xmlns:a16="http://schemas.microsoft.com/office/drawing/2014/main" id="{6344D3FB-DBD6-0C5A-E6BA-F72EA4607814}"/>
              </a:ext>
            </a:extLst>
          </p:cNvPr>
          <p:cNvSpPr txBox="1">
            <a:spLocks/>
          </p:cNvSpPr>
          <p:nvPr/>
        </p:nvSpPr>
        <p:spPr>
          <a:xfrm>
            <a:off x="-1031875" y="852227"/>
            <a:ext cx="9232900" cy="1223745"/>
          </a:xfrm>
          <a:prstGeom prst="rect">
            <a:avLst/>
          </a:prstGeom>
          <a:solidFill>
            <a:schemeClr val="bg1">
              <a:alpha val="30000"/>
            </a:schemeClr>
          </a:solidFill>
        </p:spPr>
        <p:txBody>
          <a:bodyPr anchor="t">
            <a:noAutofit/>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algn="ctr"/>
            <a:r>
              <a:rPr kumimoji="0" lang="zh-CN" altLang="en-US" sz="6000" kern="0">
                <a:solidFill>
                  <a:schemeClr val="bg1"/>
                </a:solidFill>
                <a:latin typeface="SimHei" charset="-122"/>
                <a:ea typeface="SimHei" charset="-122"/>
                <a:cs typeface="SimHei" charset="-122"/>
              </a:rPr>
              <a:t>数字图像处理</a:t>
            </a:r>
            <a:endParaRPr kumimoji="0" lang="zh-CN" altLang="en-US" sz="6000" kern="0" dirty="0">
              <a:solidFill>
                <a:schemeClr val="bg1"/>
              </a:solidFill>
              <a:latin typeface="SimHei" charset="-122"/>
              <a:ea typeface="SimHei" charset="-122"/>
              <a:cs typeface="SimHei" charset="-122"/>
            </a:endParaRPr>
          </a:p>
        </p:txBody>
      </p:sp>
      <p:sp>
        <p:nvSpPr>
          <p:cNvPr id="25" name="标题 1">
            <a:extLst>
              <a:ext uri="{FF2B5EF4-FFF2-40B4-BE49-F238E27FC236}">
                <a16:creationId xmlns:a16="http://schemas.microsoft.com/office/drawing/2014/main" id="{32117D35-2178-14E4-B295-6C9FFCFF83A5}"/>
              </a:ext>
            </a:extLst>
          </p:cNvPr>
          <p:cNvSpPr txBox="1">
            <a:spLocks/>
          </p:cNvSpPr>
          <p:nvPr/>
        </p:nvSpPr>
        <p:spPr>
          <a:xfrm>
            <a:off x="-942975" y="2186129"/>
            <a:ext cx="9144000" cy="664881"/>
          </a:xfrm>
          <a:prstGeom prst="rect">
            <a:avLst/>
          </a:prstGeom>
          <a:solidFill>
            <a:schemeClr val="bg1">
              <a:alpha val="30000"/>
            </a:schemeClr>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2800" dirty="0">
                <a:solidFill>
                  <a:schemeClr val="bg1"/>
                </a:solidFill>
                <a:latin typeface="Times New Roman" panose="02020603050405020304" pitchFamily="18" charset="0"/>
                <a:ea typeface="SimHei" charset="-122"/>
                <a:cs typeface="Times New Roman" panose="02020603050405020304" pitchFamily="18" charset="0"/>
              </a:rPr>
              <a:t>Digital Image Processing</a:t>
            </a:r>
            <a:endParaRPr lang="zh-CN" altLang="en-US" sz="2800" dirty="0">
              <a:solidFill>
                <a:schemeClr val="bg1"/>
              </a:solidFill>
              <a:latin typeface="Times New Roman" panose="02020603050405020304" pitchFamily="18" charset="0"/>
              <a:ea typeface="SimHei" charset="-122"/>
              <a:cs typeface="Times New Roman" panose="02020603050405020304" pitchFamily="18" charset="0"/>
            </a:endParaRPr>
          </a:p>
        </p:txBody>
      </p:sp>
      <p:grpSp>
        <p:nvGrpSpPr>
          <p:cNvPr id="32" name="组合 31">
            <a:extLst>
              <a:ext uri="{FF2B5EF4-FFF2-40B4-BE49-F238E27FC236}">
                <a16:creationId xmlns:a16="http://schemas.microsoft.com/office/drawing/2014/main" id="{9E40C3DC-58CA-8496-5C1E-C74CF27B39C6}"/>
              </a:ext>
            </a:extLst>
          </p:cNvPr>
          <p:cNvGrpSpPr/>
          <p:nvPr/>
        </p:nvGrpSpPr>
        <p:grpSpPr>
          <a:xfrm>
            <a:off x="44414" y="3156483"/>
            <a:ext cx="7135578" cy="943504"/>
            <a:chOff x="-942975" y="2854598"/>
            <a:chExt cx="9144000" cy="1322112"/>
          </a:xfrm>
        </p:grpSpPr>
        <p:sp>
          <p:nvSpPr>
            <p:cNvPr id="26" name="矩形 25">
              <a:extLst>
                <a:ext uri="{FF2B5EF4-FFF2-40B4-BE49-F238E27FC236}">
                  <a16:creationId xmlns:a16="http://schemas.microsoft.com/office/drawing/2014/main" id="{7BBD6876-CDD9-3C0A-354B-77F4BE7E0634}"/>
                </a:ext>
              </a:extLst>
            </p:cNvPr>
            <p:cNvSpPr/>
            <p:nvPr/>
          </p:nvSpPr>
          <p:spPr>
            <a:xfrm rot="2696006">
              <a:off x="2827180" y="2855951"/>
              <a:ext cx="1320759" cy="1320759"/>
            </a:xfrm>
            <a:prstGeom prst="rect">
              <a:avLst/>
            </a:prstGeom>
            <a:noFill/>
            <a:ln w="63500">
              <a:solidFill>
                <a:srgbClr val="FFE8C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350">
                <a:solidFill>
                  <a:schemeClr val="bg1"/>
                </a:solidFill>
              </a:endParaRPr>
            </a:p>
          </p:txBody>
        </p:sp>
        <p:sp>
          <p:nvSpPr>
            <p:cNvPr id="27" name="矩形 26">
              <a:extLst>
                <a:ext uri="{FF2B5EF4-FFF2-40B4-BE49-F238E27FC236}">
                  <a16:creationId xmlns:a16="http://schemas.microsoft.com/office/drawing/2014/main" id="{2BE809DD-BEF3-4B3A-68FF-C5D9199EB6FC}"/>
                </a:ext>
              </a:extLst>
            </p:cNvPr>
            <p:cNvSpPr/>
            <p:nvPr/>
          </p:nvSpPr>
          <p:spPr>
            <a:xfrm rot="2696006">
              <a:off x="2996023" y="2854598"/>
              <a:ext cx="1320759" cy="1320759"/>
            </a:xfrm>
            <a:prstGeom prst="rect">
              <a:avLst/>
            </a:prstGeom>
            <a:noFill/>
            <a:ln w="2540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350">
                <a:solidFill>
                  <a:schemeClr val="bg1"/>
                </a:solidFill>
              </a:endParaRPr>
            </a:p>
          </p:txBody>
        </p:sp>
        <p:cxnSp>
          <p:nvCxnSpPr>
            <p:cNvPr id="28" name="直接连接符 27">
              <a:extLst>
                <a:ext uri="{FF2B5EF4-FFF2-40B4-BE49-F238E27FC236}">
                  <a16:creationId xmlns:a16="http://schemas.microsoft.com/office/drawing/2014/main" id="{1BE813B1-AF9B-A445-69F8-3C7951449CAF}"/>
                </a:ext>
              </a:extLst>
            </p:cNvPr>
            <p:cNvCxnSpPr>
              <a:cxnSpLocks/>
            </p:cNvCxnSpPr>
            <p:nvPr/>
          </p:nvCxnSpPr>
          <p:spPr>
            <a:xfrm flipH="1">
              <a:off x="-942975" y="3518030"/>
              <a:ext cx="317402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B08DC6A3-7427-501D-C3B6-59B476C0AC83}"/>
                </a:ext>
              </a:extLst>
            </p:cNvPr>
            <p:cNvCxnSpPr>
              <a:cxnSpLocks/>
            </p:cNvCxnSpPr>
            <p:nvPr/>
          </p:nvCxnSpPr>
          <p:spPr>
            <a:xfrm flipH="1">
              <a:off x="4939075" y="3518027"/>
              <a:ext cx="326195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989D3257-57AC-2FFE-AD8F-42D91207B04D}"/>
                </a:ext>
              </a:extLst>
            </p:cNvPr>
            <p:cNvCxnSpPr>
              <a:cxnSpLocks/>
            </p:cNvCxnSpPr>
            <p:nvPr/>
          </p:nvCxnSpPr>
          <p:spPr>
            <a:xfrm flipH="1">
              <a:off x="-942975" y="3571896"/>
              <a:ext cx="317402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4DE4214E-9125-A95F-C8FE-AC7877A9BC50}"/>
                </a:ext>
              </a:extLst>
            </p:cNvPr>
            <p:cNvCxnSpPr>
              <a:cxnSpLocks/>
            </p:cNvCxnSpPr>
            <p:nvPr/>
          </p:nvCxnSpPr>
          <p:spPr>
            <a:xfrm flipH="1">
              <a:off x="4939075" y="3571893"/>
              <a:ext cx="326195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 name="组 26">
            <a:extLst>
              <a:ext uri="{FF2B5EF4-FFF2-40B4-BE49-F238E27FC236}">
                <a16:creationId xmlns:a16="http://schemas.microsoft.com/office/drawing/2014/main" id="{10C07490-9C11-96CE-9B7B-7DCD67CC8FDC}"/>
              </a:ext>
            </a:extLst>
          </p:cNvPr>
          <p:cNvGrpSpPr/>
          <p:nvPr/>
        </p:nvGrpSpPr>
        <p:grpSpPr>
          <a:xfrm>
            <a:off x="33767" y="4732202"/>
            <a:ext cx="7053675" cy="632216"/>
            <a:chOff x="1584506" y="5896006"/>
            <a:chExt cx="7053675" cy="632216"/>
          </a:xfrm>
        </p:grpSpPr>
        <p:sp>
          <p:nvSpPr>
            <p:cNvPr id="34" name="副标题 2">
              <a:extLst>
                <a:ext uri="{FF2B5EF4-FFF2-40B4-BE49-F238E27FC236}">
                  <a16:creationId xmlns:a16="http://schemas.microsoft.com/office/drawing/2014/main" id="{59C62748-BD26-2556-893A-31EBA4AF3372}"/>
                </a:ext>
              </a:extLst>
            </p:cNvPr>
            <p:cNvSpPr txBox="1"/>
            <p:nvPr/>
          </p:nvSpPr>
          <p:spPr>
            <a:xfrm>
              <a:off x="1584506" y="5896006"/>
              <a:ext cx="6871855" cy="354267"/>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spcBef>
                  <a:spcPts val="0"/>
                </a:spcBef>
              </a:pPr>
              <a:r>
                <a:rPr lang="zh-CN" altLang="en-US" sz="1600" b="1" dirty="0">
                  <a:solidFill>
                    <a:schemeClr val="accent2">
                      <a:lumMod val="75000"/>
                    </a:schemeClr>
                  </a:solidFill>
                  <a:latin typeface="SimHei" charset="-122"/>
                  <a:ea typeface="SimHei" charset="-122"/>
                  <a:cs typeface="SimHei" charset="-122"/>
                </a:rPr>
                <a:t>南京信息工程大学</a:t>
              </a:r>
            </a:p>
          </p:txBody>
        </p:sp>
        <p:sp>
          <p:nvSpPr>
            <p:cNvPr id="35" name="副标题 2">
              <a:extLst>
                <a:ext uri="{FF2B5EF4-FFF2-40B4-BE49-F238E27FC236}">
                  <a16:creationId xmlns:a16="http://schemas.microsoft.com/office/drawing/2014/main" id="{FD35F750-9290-06B5-DE23-195F539E1652}"/>
                </a:ext>
              </a:extLst>
            </p:cNvPr>
            <p:cNvSpPr txBox="1"/>
            <p:nvPr/>
          </p:nvSpPr>
          <p:spPr>
            <a:xfrm>
              <a:off x="1766326" y="6173955"/>
              <a:ext cx="6871855" cy="354267"/>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spcBef>
                  <a:spcPts val="0"/>
                </a:spcBef>
              </a:pPr>
              <a:r>
                <a:rPr lang="en-US" altLang="zh-CN" sz="1600" dirty="0">
                  <a:solidFill>
                    <a:srgbClr val="3C6488"/>
                  </a:solidFill>
                  <a:latin typeface="Times New Roman" panose="02020503050405090304" charset="0"/>
                  <a:ea typeface="Times New Roman" panose="02020503050405090304" charset="0"/>
                  <a:cs typeface="Times New Roman" panose="02020503050405090304" charset="0"/>
                </a:rPr>
                <a:t>Nanjing University of Information Science and Technology</a:t>
              </a:r>
              <a:endParaRPr lang="zh-CN" altLang="en-US" sz="1600" dirty="0">
                <a:solidFill>
                  <a:srgbClr val="3C6488"/>
                </a:solidFill>
                <a:latin typeface="Times New Roman" panose="02020503050405090304" charset="0"/>
                <a:ea typeface="Times New Roman" panose="02020503050405090304" charset="0"/>
                <a:cs typeface="Times New Roman" panose="02020503050405090304" charset="0"/>
              </a:endParaRPr>
            </a:p>
          </p:txBody>
        </p:sp>
      </p:grpSp>
      <p:sp>
        <p:nvSpPr>
          <p:cNvPr id="36" name="副标题 2">
            <a:extLst>
              <a:ext uri="{FF2B5EF4-FFF2-40B4-BE49-F238E27FC236}">
                <a16:creationId xmlns:a16="http://schemas.microsoft.com/office/drawing/2014/main" id="{8FF87D0D-C728-F97B-D54C-C38A69CE3B7E}"/>
              </a:ext>
            </a:extLst>
          </p:cNvPr>
          <p:cNvSpPr txBox="1">
            <a:spLocks/>
          </p:cNvSpPr>
          <p:nvPr/>
        </p:nvSpPr>
        <p:spPr>
          <a:xfrm>
            <a:off x="33767" y="4364653"/>
            <a:ext cx="6871855" cy="266733"/>
          </a:xfrm>
          <a:prstGeom prst="rect">
            <a:avLst/>
          </a:prstGeom>
          <a:noFill/>
        </p:spPr>
        <p:txBody>
          <a:bodyPr>
            <a:noAutofit/>
          </a:bodyPr>
          <a:lstStyle>
            <a:lvl1pPr marL="268288" indent="-268288" algn="l" defTabSz="717550" rtl="0" eaLnBrk="0" fontAlgn="base" hangingPunct="0">
              <a:spcBef>
                <a:spcPct val="20000"/>
              </a:spcBef>
              <a:spcAft>
                <a:spcPct val="0"/>
              </a:spcAft>
              <a:buClr>
                <a:schemeClr val="bg2"/>
              </a:buClr>
              <a:buSzPct val="75000"/>
              <a:buFont typeface="Wingdings" panose="05000000000000000000" pitchFamily="2" charset="2"/>
              <a:buChar char="p"/>
              <a:defRPr sz="1900" b="1">
                <a:solidFill>
                  <a:schemeClr val="tx1"/>
                </a:solidFill>
                <a:latin typeface="+mn-lt"/>
                <a:ea typeface="+mn-ea"/>
                <a:cs typeface="+mn-cs"/>
              </a:defRPr>
            </a:lvl1pPr>
            <a:lvl2pPr marL="582613" indent="-223838" algn="l" defTabSz="717550" rtl="0" eaLnBrk="0" fontAlgn="base" hangingPunct="0">
              <a:spcBef>
                <a:spcPct val="20000"/>
              </a:spcBef>
              <a:spcAft>
                <a:spcPct val="0"/>
              </a:spcAft>
              <a:buClr>
                <a:schemeClr val="tx2"/>
              </a:buClr>
              <a:buSzPct val="75000"/>
              <a:buFont typeface="Wingdings" panose="05000000000000000000" pitchFamily="2" charset="2"/>
              <a:buChar char="n"/>
              <a:defRPr sz="1900" b="1">
                <a:solidFill>
                  <a:schemeClr val="tx1"/>
                </a:solidFill>
                <a:latin typeface="+mn-ea"/>
                <a:ea typeface="+mn-ea"/>
              </a:defRPr>
            </a:lvl2pPr>
            <a:lvl3pPr marL="895350" indent="-177800" algn="l" defTabSz="717550" rtl="0" eaLnBrk="0" fontAlgn="base" hangingPunct="0">
              <a:spcBef>
                <a:spcPct val="20000"/>
              </a:spcBef>
              <a:spcAft>
                <a:spcPct val="0"/>
              </a:spcAft>
              <a:buClr>
                <a:schemeClr val="accent1"/>
              </a:buClr>
              <a:buSzPct val="65000"/>
              <a:buFont typeface="Wingdings" panose="05000000000000000000" pitchFamily="2" charset="2"/>
              <a:buChar char="p"/>
              <a:defRPr sz="1900" b="1">
                <a:solidFill>
                  <a:schemeClr val="tx1"/>
                </a:solidFill>
                <a:latin typeface="+mn-ea"/>
                <a:ea typeface="+mn-ea"/>
              </a:defRPr>
            </a:lvl3pPr>
            <a:lvl4pPr marL="1254125" indent="-179388" algn="l" defTabSz="717550" rtl="0" eaLnBrk="0" fontAlgn="base" hangingPunct="0">
              <a:spcBef>
                <a:spcPct val="20000"/>
              </a:spcBef>
              <a:spcAft>
                <a:spcPct val="0"/>
              </a:spcAft>
              <a:buClr>
                <a:schemeClr val="bg2"/>
              </a:buClr>
              <a:buFont typeface="Wingdings" panose="05000000000000000000" pitchFamily="2" charset="2"/>
              <a:buChar char="§"/>
              <a:defRPr sz="1600" b="1">
                <a:solidFill>
                  <a:schemeClr val="tx1"/>
                </a:solidFill>
                <a:latin typeface="+mn-ea"/>
                <a:ea typeface="+mn-ea"/>
              </a:defRPr>
            </a:lvl4pPr>
            <a:lvl5pPr marL="1612900" indent="-179388" algn="l" defTabSz="717550" rtl="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mn-ea"/>
                <a:ea typeface="+mn-ea"/>
              </a:defRPr>
            </a:lvl5pPr>
            <a:lvl6pPr marL="2070100" indent="-179388" algn="l" defTabSz="717550"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6pPr>
            <a:lvl7pPr marL="2527300" indent="-179388" algn="l" defTabSz="717550"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7pPr>
            <a:lvl8pPr marL="2984500" indent="-179388" algn="l" defTabSz="717550"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8pPr>
            <a:lvl9pPr marL="3441700" indent="-179388" algn="l" defTabSz="717550"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9pPr>
          </a:lstStyle>
          <a:p>
            <a:pPr marL="0" indent="0" algn="ctr">
              <a:buNone/>
            </a:pPr>
            <a:r>
              <a:rPr kumimoji="0" lang="zh-CN" altLang="en-US" sz="1800" kern="0" dirty="0">
                <a:latin typeface="华光标题宋_CNKI" panose="02000500000000000000" pitchFamily="2" charset="-122"/>
                <a:ea typeface="华光标题宋_CNKI" panose="02000500000000000000" pitchFamily="2" charset="-122"/>
                <a:cs typeface="SimHei" charset="-122"/>
              </a:rPr>
              <a:t>第</a:t>
            </a:r>
            <a:r>
              <a:rPr kumimoji="0" lang="en-US" altLang="zh-CN" sz="1800" kern="0" dirty="0">
                <a:latin typeface="华光标题宋_CNKI" panose="02000500000000000000" pitchFamily="2" charset="-122"/>
                <a:ea typeface="华光标题宋_CNKI" panose="02000500000000000000" pitchFamily="2" charset="-122"/>
                <a:cs typeface="Times New Roman" panose="02020503050405090304" charset="0"/>
              </a:rPr>
              <a:t>8</a:t>
            </a:r>
            <a:r>
              <a:rPr kumimoji="0" lang="zh-CN" altLang="en-US" sz="1800" kern="0" dirty="0">
                <a:latin typeface="华光标题宋_CNKI" panose="02000500000000000000" pitchFamily="2" charset="-122"/>
                <a:ea typeface="华光标题宋_CNKI" panose="02000500000000000000" pitchFamily="2" charset="-122"/>
                <a:cs typeface="SimHei" charset="-122"/>
              </a:rPr>
              <a:t>章 </a:t>
            </a:r>
            <a:r>
              <a:rPr kumimoji="0" lang="en-US" altLang="zh-CN" sz="1800" kern="0" dirty="0">
                <a:latin typeface="华光标题宋_CNKI" panose="02000500000000000000" pitchFamily="2" charset="-122"/>
                <a:ea typeface="华光标题宋_CNKI" panose="02000500000000000000" pitchFamily="2" charset="-122"/>
                <a:cs typeface="SimHei" charset="-122"/>
              </a:rPr>
              <a:t>– </a:t>
            </a:r>
            <a:r>
              <a:rPr kumimoji="0" lang="zh-CN" altLang="en-US" sz="1800" kern="0" dirty="0">
                <a:latin typeface="华光标题宋_CNKI" panose="02000500000000000000" pitchFamily="2" charset="-122"/>
                <a:ea typeface="华光标题宋_CNKI" panose="02000500000000000000" pitchFamily="2" charset="-122"/>
                <a:cs typeface="SimHei" charset="-122"/>
              </a:rPr>
              <a:t>图像压缩</a:t>
            </a:r>
          </a:p>
        </p:txBody>
      </p:sp>
      <p:pic>
        <p:nvPicPr>
          <p:cNvPr id="37" name="图片 36">
            <a:extLst>
              <a:ext uri="{FF2B5EF4-FFF2-40B4-BE49-F238E27FC236}">
                <a16:creationId xmlns:a16="http://schemas.microsoft.com/office/drawing/2014/main" id="{654B89F5-74CA-EEB7-9697-13C79CD30F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7188" y="4304216"/>
            <a:ext cx="875116" cy="855973"/>
          </a:xfrm>
          <a:prstGeom prst="rect">
            <a:avLst/>
          </a:prstGeom>
        </p:spPr>
      </p:pic>
    </p:spTree>
    <p:extLst>
      <p:ext uri="{BB962C8B-B14F-4D97-AF65-F5344CB8AC3E}">
        <p14:creationId xmlns:p14="http://schemas.microsoft.com/office/powerpoint/2010/main" val="1851178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变换编码</a:t>
            </a:r>
          </a:p>
        </p:txBody>
      </p:sp>
      <p:sp>
        <p:nvSpPr>
          <p:cNvPr id="4"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图像的有损压缩编码</a:t>
            </a:r>
          </a:p>
        </p:txBody>
      </p:sp>
      <p:sp>
        <p:nvSpPr>
          <p:cNvPr id="5" name="Text Box 2"/>
          <p:cNvSpPr txBox="1">
            <a:spLocks noChangeArrowheads="1"/>
          </p:cNvSpPr>
          <p:nvPr/>
        </p:nvSpPr>
        <p:spPr bwMode="auto">
          <a:xfrm>
            <a:off x="327092" y="944009"/>
            <a:ext cx="72723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
                <a:srgbClr val="0000CC"/>
              </a:buClr>
              <a:buSzPct val="80000"/>
            </a:pPr>
            <a:r>
              <a:rPr kumimoji="1" lang="zh-CN" altLang="en-US" sz="2400" dirty="0">
                <a:solidFill>
                  <a:srgbClr val="0000CC"/>
                </a:solidFill>
                <a:latin typeface="+mj-ea"/>
                <a:ea typeface="+mj-ea"/>
                <a:cs typeface="Times New Roman" panose="02020603050405020304" pitchFamily="18" charset="0"/>
              </a:rPr>
              <a:t>（</a:t>
            </a:r>
            <a:r>
              <a:rPr kumimoji="1" lang="en-US" altLang="zh-CN" sz="2400" dirty="0">
                <a:solidFill>
                  <a:srgbClr val="0000CC"/>
                </a:solidFill>
                <a:latin typeface="+mj-ea"/>
                <a:ea typeface="+mj-ea"/>
                <a:cs typeface="Times New Roman" panose="02020603050405020304" pitchFamily="18" charset="0"/>
              </a:rPr>
              <a:t>1</a:t>
            </a:r>
            <a:r>
              <a:rPr kumimoji="1" lang="zh-CN" altLang="en-US" sz="2400" dirty="0">
                <a:solidFill>
                  <a:srgbClr val="0000CC"/>
                </a:solidFill>
                <a:latin typeface="+mj-ea"/>
                <a:ea typeface="+mj-ea"/>
                <a:cs typeface="Times New Roman" panose="02020603050405020304" pitchFamily="18" charset="0"/>
              </a:rPr>
              <a:t>）变换编码的</a:t>
            </a:r>
            <a:r>
              <a:rPr lang="zh-CN" altLang="en-US" sz="2400" dirty="0">
                <a:solidFill>
                  <a:srgbClr val="0000CC"/>
                </a:solidFill>
                <a:latin typeface="+mj-ea"/>
                <a:ea typeface="+mj-ea"/>
                <a:cs typeface="Times New Roman" panose="02020603050405020304" pitchFamily="18" charset="0"/>
              </a:rPr>
              <a:t>基本思想</a:t>
            </a:r>
            <a:endParaRPr kumimoji="1" lang="zh-CN" altLang="en-US" sz="2400" dirty="0">
              <a:solidFill>
                <a:srgbClr val="0000CC"/>
              </a:solidFill>
              <a:latin typeface="+mj-ea"/>
              <a:ea typeface="+mj-ea"/>
              <a:cs typeface="Times New Roman" panose="02020603050405020304" pitchFamily="18" charset="0"/>
            </a:endParaRPr>
          </a:p>
        </p:txBody>
      </p:sp>
      <p:sp>
        <p:nvSpPr>
          <p:cNvPr id="6" name="矩形 5"/>
          <p:cNvSpPr/>
          <p:nvPr/>
        </p:nvSpPr>
        <p:spPr>
          <a:xfrm>
            <a:off x="327092" y="1405674"/>
            <a:ext cx="6358148" cy="1569660"/>
          </a:xfrm>
          <a:prstGeom prst="rect">
            <a:avLst/>
          </a:prstGeom>
        </p:spPr>
        <p:txBody>
          <a:bodyPr wrap="square">
            <a:spAutoFit/>
          </a:bodyPr>
          <a:lstStyle/>
          <a:p>
            <a:pPr marL="342900" indent="-342900">
              <a:buClr>
                <a:srgbClr val="7030A0"/>
              </a:buClr>
              <a:buSzPct val="75000"/>
              <a:buFont typeface="Wingdings" panose="05000000000000000000" pitchFamily="2" charset="2"/>
              <a:buChar char="n"/>
            </a:pPr>
            <a:r>
              <a:rPr lang="zh-CN" altLang="zh-CN" kern="100" dirty="0">
                <a:ea typeface="楷体" panose="02010609060101010101" pitchFamily="49" charset="-122"/>
                <a:cs typeface="Times New Roman" panose="02020603050405020304" pitchFamily="18" charset="0"/>
              </a:rPr>
              <a:t>将空间域里描述的图像，经过某种变换（如</a:t>
            </a:r>
            <a:r>
              <a:rPr lang="en-US" altLang="zh-CN" kern="100" dirty="0">
                <a:ea typeface="楷体" panose="02010609060101010101" pitchFamily="49" charset="-122"/>
                <a:cs typeface="Times New Roman" panose="02020603050405020304" pitchFamily="18" charset="0"/>
              </a:rPr>
              <a:t>DFT</a:t>
            </a:r>
            <a:r>
              <a:rPr lang="zh-CN" altLang="zh-CN" kern="100" dirty="0">
                <a:ea typeface="楷体" panose="02010609060101010101" pitchFamily="49" charset="-122"/>
                <a:cs typeface="Times New Roman" panose="02020603050405020304" pitchFamily="18" charset="0"/>
              </a:rPr>
              <a:t>、</a:t>
            </a:r>
            <a:r>
              <a:rPr lang="en-US" altLang="zh-CN" kern="100" dirty="0">
                <a:ea typeface="楷体" panose="02010609060101010101" pitchFamily="49" charset="-122"/>
                <a:cs typeface="Times New Roman" panose="02020603050405020304" pitchFamily="18" charset="0"/>
              </a:rPr>
              <a:t>DCT</a:t>
            </a:r>
            <a:r>
              <a:rPr lang="zh-CN" altLang="zh-CN" kern="100" dirty="0">
                <a:ea typeface="楷体" panose="02010609060101010101" pitchFamily="49" charset="-122"/>
                <a:cs typeface="Times New Roman" panose="02020603050405020304" pitchFamily="18" charset="0"/>
              </a:rPr>
              <a:t>等），在变换域中进行描述，将空间域图像像素集映射为变换域变换系数集，然后量化和编码这些系数。</a:t>
            </a:r>
            <a:endParaRPr lang="zh-CN" altLang="en-US" dirty="0">
              <a:ea typeface="楷体" panose="02010609060101010101" pitchFamily="49" charset="-122"/>
              <a:cs typeface="Times New Roman" panose="02020603050405020304" pitchFamily="18" charset="0"/>
            </a:endParaRPr>
          </a:p>
        </p:txBody>
      </p:sp>
      <p:sp>
        <p:nvSpPr>
          <p:cNvPr id="7" name="Oval 21"/>
          <p:cNvSpPr>
            <a:spLocks noChangeArrowheads="1"/>
          </p:cNvSpPr>
          <p:nvPr/>
        </p:nvSpPr>
        <p:spPr bwMode="auto">
          <a:xfrm>
            <a:off x="479854" y="3771864"/>
            <a:ext cx="1368425" cy="458906"/>
          </a:xfrm>
          <a:prstGeom prst="ellipse">
            <a:avLst/>
          </a:prstGeom>
          <a:solidFill>
            <a:schemeClr val="tx2">
              <a:lumMod val="20000"/>
              <a:lumOff val="80000"/>
            </a:scheme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800"/>
          </a:p>
        </p:txBody>
      </p:sp>
      <p:sp>
        <p:nvSpPr>
          <p:cNvPr id="8" name="Text Box 8"/>
          <p:cNvSpPr txBox="1">
            <a:spLocks noChangeArrowheads="1"/>
          </p:cNvSpPr>
          <p:nvPr/>
        </p:nvSpPr>
        <p:spPr bwMode="auto">
          <a:xfrm>
            <a:off x="247805" y="3282005"/>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solidFill>
                  <a:srgbClr val="000066"/>
                </a:solidFill>
                <a:ea typeface="黑体" panose="02010609060101010101" pitchFamily="49" charset="-122"/>
              </a:rPr>
              <a:t>空域</a:t>
            </a:r>
          </a:p>
        </p:txBody>
      </p:sp>
      <p:sp>
        <p:nvSpPr>
          <p:cNvPr id="9" name="Line 9"/>
          <p:cNvSpPr>
            <a:spLocks noChangeShapeType="1"/>
          </p:cNvSpPr>
          <p:nvPr/>
        </p:nvSpPr>
        <p:spPr bwMode="auto">
          <a:xfrm>
            <a:off x="897342" y="3482939"/>
            <a:ext cx="576263"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200"/>
          </a:p>
        </p:txBody>
      </p:sp>
      <p:sp>
        <p:nvSpPr>
          <p:cNvPr id="10" name="Text Box 10"/>
          <p:cNvSpPr txBox="1">
            <a:spLocks noChangeArrowheads="1"/>
          </p:cNvSpPr>
          <p:nvPr/>
        </p:nvSpPr>
        <p:spPr bwMode="auto">
          <a:xfrm>
            <a:off x="1407293" y="330724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solidFill>
                  <a:srgbClr val="000066"/>
                </a:solidFill>
                <a:ea typeface="黑体" panose="02010609060101010101" pitchFamily="49" charset="-122"/>
              </a:rPr>
              <a:t>变换域</a:t>
            </a:r>
          </a:p>
        </p:txBody>
      </p:sp>
      <p:sp>
        <p:nvSpPr>
          <p:cNvPr id="11" name="Line 11"/>
          <p:cNvSpPr>
            <a:spLocks noChangeShapeType="1"/>
          </p:cNvSpPr>
          <p:nvPr/>
        </p:nvSpPr>
        <p:spPr bwMode="auto">
          <a:xfrm>
            <a:off x="2180555" y="3491908"/>
            <a:ext cx="576262"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200"/>
          </a:p>
        </p:txBody>
      </p:sp>
      <p:sp>
        <p:nvSpPr>
          <p:cNvPr id="12" name="Text Box 12"/>
          <p:cNvSpPr txBox="1">
            <a:spLocks noChangeArrowheads="1"/>
          </p:cNvSpPr>
          <p:nvPr/>
        </p:nvSpPr>
        <p:spPr bwMode="auto">
          <a:xfrm>
            <a:off x="2737759" y="3298273"/>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solidFill>
                  <a:srgbClr val="000066"/>
                </a:solidFill>
                <a:ea typeface="黑体" panose="02010609060101010101" pitchFamily="49" charset="-122"/>
              </a:rPr>
              <a:t>量化</a:t>
            </a:r>
          </a:p>
        </p:txBody>
      </p:sp>
      <p:sp>
        <p:nvSpPr>
          <p:cNvPr id="13" name="Line 13"/>
          <p:cNvSpPr>
            <a:spLocks noChangeShapeType="1"/>
          </p:cNvSpPr>
          <p:nvPr/>
        </p:nvSpPr>
        <p:spPr bwMode="auto">
          <a:xfrm>
            <a:off x="3387296" y="3481783"/>
            <a:ext cx="504825"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200"/>
          </a:p>
        </p:txBody>
      </p:sp>
      <p:sp>
        <p:nvSpPr>
          <p:cNvPr id="14" name="Text Box 14"/>
          <p:cNvSpPr txBox="1">
            <a:spLocks noChangeArrowheads="1"/>
          </p:cNvSpPr>
          <p:nvPr/>
        </p:nvSpPr>
        <p:spPr bwMode="auto">
          <a:xfrm>
            <a:off x="3890534" y="3282005"/>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solidFill>
                  <a:srgbClr val="000066"/>
                </a:solidFill>
                <a:ea typeface="黑体" panose="02010609060101010101" pitchFamily="49" charset="-122"/>
              </a:rPr>
              <a:t>符号编码</a:t>
            </a:r>
          </a:p>
        </p:txBody>
      </p:sp>
      <p:sp>
        <p:nvSpPr>
          <p:cNvPr id="15" name="Line 15"/>
          <p:cNvSpPr>
            <a:spLocks noChangeShapeType="1"/>
          </p:cNvSpPr>
          <p:nvPr/>
        </p:nvSpPr>
        <p:spPr bwMode="auto">
          <a:xfrm>
            <a:off x="4979055" y="3481783"/>
            <a:ext cx="504825"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200"/>
          </a:p>
        </p:txBody>
      </p:sp>
      <p:sp>
        <p:nvSpPr>
          <p:cNvPr id="16" name="Text Box 16"/>
          <p:cNvSpPr txBox="1">
            <a:spLocks noChangeArrowheads="1"/>
          </p:cNvSpPr>
          <p:nvPr/>
        </p:nvSpPr>
        <p:spPr bwMode="auto">
          <a:xfrm>
            <a:off x="5483880" y="3275294"/>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solidFill>
                  <a:srgbClr val="000066"/>
                </a:solidFill>
                <a:ea typeface="黑体" panose="02010609060101010101" pitchFamily="49" charset="-122"/>
              </a:rPr>
              <a:t>码流输出</a:t>
            </a:r>
          </a:p>
        </p:txBody>
      </p:sp>
      <p:sp>
        <p:nvSpPr>
          <p:cNvPr id="17" name="Line 17"/>
          <p:cNvSpPr>
            <a:spLocks noChangeShapeType="1"/>
          </p:cNvSpPr>
          <p:nvPr/>
        </p:nvSpPr>
        <p:spPr bwMode="auto">
          <a:xfrm flipV="1">
            <a:off x="1186276" y="3491907"/>
            <a:ext cx="21142" cy="384656"/>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200"/>
          </a:p>
        </p:txBody>
      </p:sp>
      <p:sp>
        <p:nvSpPr>
          <p:cNvPr id="18" name="Text Box 18"/>
          <p:cNvSpPr txBox="1">
            <a:spLocks noChangeArrowheads="1"/>
          </p:cNvSpPr>
          <p:nvPr/>
        </p:nvSpPr>
        <p:spPr bwMode="auto">
          <a:xfrm>
            <a:off x="650214" y="3849192"/>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solidFill>
                  <a:srgbClr val="CC0000"/>
                </a:solidFill>
                <a:ea typeface="黑体" panose="02010609060101010101" pitchFamily="49" charset="-122"/>
              </a:rPr>
              <a:t>正交变换</a:t>
            </a:r>
          </a:p>
        </p:txBody>
      </p:sp>
      <p:sp>
        <p:nvSpPr>
          <p:cNvPr id="19" name="Line 19"/>
          <p:cNvSpPr>
            <a:spLocks noChangeShapeType="1"/>
          </p:cNvSpPr>
          <p:nvPr/>
        </p:nvSpPr>
        <p:spPr bwMode="auto">
          <a:xfrm flipH="1" flipV="1">
            <a:off x="2489141" y="3491907"/>
            <a:ext cx="0" cy="322223"/>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200"/>
          </a:p>
        </p:txBody>
      </p:sp>
      <p:sp>
        <p:nvSpPr>
          <p:cNvPr id="20" name="Text Box 20"/>
          <p:cNvSpPr txBox="1">
            <a:spLocks noChangeArrowheads="1"/>
          </p:cNvSpPr>
          <p:nvPr/>
        </p:nvSpPr>
        <p:spPr bwMode="auto">
          <a:xfrm>
            <a:off x="2016568" y="3861438"/>
            <a:ext cx="27414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solidFill>
                  <a:srgbClr val="CC0000"/>
                </a:solidFill>
                <a:ea typeface="黑体" panose="02010609060101010101" pitchFamily="49" charset="-122"/>
              </a:rPr>
              <a:t>图像的某些特征更加明显</a:t>
            </a:r>
          </a:p>
        </p:txBody>
      </p:sp>
      <p:sp>
        <p:nvSpPr>
          <p:cNvPr id="21" name="AutoShape 22"/>
          <p:cNvSpPr>
            <a:spLocks noChangeArrowheads="1"/>
          </p:cNvSpPr>
          <p:nvPr/>
        </p:nvSpPr>
        <p:spPr bwMode="auto">
          <a:xfrm>
            <a:off x="1407294" y="4440871"/>
            <a:ext cx="4991634" cy="725133"/>
          </a:xfrm>
          <a:prstGeom prst="wedgeRoundRectCallout">
            <a:avLst>
              <a:gd name="adj1" fmla="val -44142"/>
              <a:gd name="adj2" fmla="val -92329"/>
              <a:gd name="adj3" fmla="val 16667"/>
            </a:avLst>
          </a:prstGeom>
          <a:solidFill>
            <a:srgbClr val="FFFFCC"/>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800" b="1"/>
              <a:t>正交变换本身没有对数据压缩，只是为压缩创造了条件。</a:t>
            </a:r>
          </a:p>
        </p:txBody>
      </p:sp>
    </p:spTree>
    <p:extLst>
      <p:ext uri="{BB962C8B-B14F-4D97-AF65-F5344CB8AC3E}">
        <p14:creationId xmlns:p14="http://schemas.microsoft.com/office/powerpoint/2010/main" val="226147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ox(in)">
                                      <p:cBhvr>
                                        <p:cTn id="10" dur="500"/>
                                        <p:tgtEl>
                                          <p:spTgt spid="8"/>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ox(in)">
                                      <p:cBhvr>
                                        <p:cTn id="13" dur="500"/>
                                        <p:tgtEl>
                                          <p:spTgt spid="10"/>
                                        </p:tgtEl>
                                      </p:cBhvr>
                                    </p:animEffect>
                                  </p:childTnLst>
                                </p:cTn>
                              </p:par>
                              <p:par>
                                <p:cTn id="14" presetID="4" presetClass="entr" presetSubtype="16"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ox(in)">
                                      <p:cBhvr>
                                        <p:cTn id="16" dur="500"/>
                                        <p:tgtEl>
                                          <p:spTgt spid="11"/>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ox(in)">
                                      <p:cBhvr>
                                        <p:cTn id="19" dur="500"/>
                                        <p:tgtEl>
                                          <p:spTgt spid="12"/>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ox(in)">
                                      <p:cBhvr>
                                        <p:cTn id="22" dur="500"/>
                                        <p:tgtEl>
                                          <p:spTgt spid="14"/>
                                        </p:tgtEl>
                                      </p:cBhvr>
                                    </p:animEffect>
                                  </p:childTnLst>
                                </p:cTn>
                              </p:par>
                              <p:par>
                                <p:cTn id="23" presetID="4" presetClass="entr" presetSubtype="16"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ox(in)">
                                      <p:cBhvr>
                                        <p:cTn id="25" dur="500"/>
                                        <p:tgtEl>
                                          <p:spTgt spid="13"/>
                                        </p:tgtEl>
                                      </p:cBhvr>
                                    </p:animEffect>
                                  </p:childTnLst>
                                </p:cTn>
                              </p:par>
                              <p:par>
                                <p:cTn id="26" presetID="4" presetClass="entr" presetSubtype="16"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ox(in)">
                                      <p:cBhvr>
                                        <p:cTn id="28" dur="500"/>
                                        <p:tgtEl>
                                          <p:spTgt spid="15"/>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box(in)">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down)">
                                      <p:cBhvr>
                                        <p:cTn id="36" dur="500"/>
                                        <p:tgtEl>
                                          <p:spTgt spid="18"/>
                                        </p:tgtEl>
                                      </p:cBhvr>
                                    </p:animEffect>
                                  </p:childTnLst>
                                </p:cTn>
                              </p:par>
                              <p:par>
                                <p:cTn id="37" presetID="22" presetClass="entr" presetSubtype="4"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down)">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down)">
                                      <p:cBhvr>
                                        <p:cTn id="44" dur="500"/>
                                        <p:tgtEl>
                                          <p:spTgt spid="19"/>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down)">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ox(in)">
                                      <p:cBhvr>
                                        <p:cTn id="52" dur="500"/>
                                        <p:tgtEl>
                                          <p:spTgt spid="7"/>
                                        </p:tgtEl>
                                      </p:cBhvr>
                                    </p:animEffect>
                                  </p:childTnLst>
                                </p:cTn>
                              </p:par>
                              <p:par>
                                <p:cTn id="53" presetID="4" presetClass="entr" presetSubtype="16"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box(in)">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p:bldP spid="12" grpId="0"/>
      <p:bldP spid="14" grpId="0"/>
      <p:bldP spid="16" grpId="0"/>
      <p:bldP spid="18" grpId="0"/>
      <p:bldP spid="20" grpId="0"/>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3</a:t>
            </a:fld>
            <a:endParaRPr lang="en-US" altLang="zh-CN" dirty="0"/>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块变换编码</a:t>
            </a:r>
          </a:p>
        </p:txBody>
      </p:sp>
      <p:sp>
        <p:nvSpPr>
          <p:cNvPr id="4"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图像的有损压缩编码</a:t>
            </a:r>
          </a:p>
        </p:txBody>
      </p:sp>
      <p:sp>
        <p:nvSpPr>
          <p:cNvPr id="5" name="Text Box 2"/>
          <p:cNvSpPr txBox="1">
            <a:spLocks noChangeArrowheads="1"/>
          </p:cNvSpPr>
          <p:nvPr/>
        </p:nvSpPr>
        <p:spPr bwMode="auto">
          <a:xfrm>
            <a:off x="430337" y="1286977"/>
            <a:ext cx="62098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
                <a:srgbClr val="0000CC"/>
              </a:buClr>
              <a:buSzPct val="80000"/>
            </a:pPr>
            <a:r>
              <a:rPr kumimoji="1" lang="zh-CN" altLang="en-US" sz="2400" dirty="0">
                <a:solidFill>
                  <a:srgbClr val="0000CC"/>
                </a:solidFill>
                <a:latin typeface="+mj-ea"/>
                <a:ea typeface="+mj-ea"/>
                <a:cs typeface="Times New Roman" panose="02020603050405020304" pitchFamily="18" charset="0"/>
              </a:rPr>
              <a:t>块变换编码系统组成</a:t>
            </a:r>
          </a:p>
        </p:txBody>
      </p:sp>
      <p:sp>
        <p:nvSpPr>
          <p:cNvPr id="6" name="Text Box 6"/>
          <p:cNvSpPr txBox="1">
            <a:spLocks noChangeArrowheads="1"/>
          </p:cNvSpPr>
          <p:nvPr/>
        </p:nvSpPr>
        <p:spPr bwMode="auto">
          <a:xfrm>
            <a:off x="488542" y="2098790"/>
            <a:ext cx="837841"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dirty="0"/>
              <a:t>输入图像</a:t>
            </a:r>
          </a:p>
        </p:txBody>
      </p:sp>
      <p:sp>
        <p:nvSpPr>
          <p:cNvPr id="7" name="Line 7"/>
          <p:cNvSpPr>
            <a:spLocks noChangeShapeType="1"/>
          </p:cNvSpPr>
          <p:nvPr/>
        </p:nvSpPr>
        <p:spPr bwMode="auto">
          <a:xfrm flipV="1">
            <a:off x="501541" y="2740717"/>
            <a:ext cx="835596" cy="440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8" name="Text Box 8"/>
          <p:cNvSpPr txBox="1">
            <a:spLocks noChangeArrowheads="1"/>
          </p:cNvSpPr>
          <p:nvPr/>
        </p:nvSpPr>
        <p:spPr bwMode="auto">
          <a:xfrm>
            <a:off x="1358849" y="2444535"/>
            <a:ext cx="798454" cy="64633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a:t>子块划分</a:t>
            </a:r>
          </a:p>
        </p:txBody>
      </p:sp>
      <p:sp>
        <p:nvSpPr>
          <p:cNvPr id="9" name="Line 9"/>
          <p:cNvSpPr>
            <a:spLocks noChangeShapeType="1"/>
          </p:cNvSpPr>
          <p:nvPr/>
        </p:nvSpPr>
        <p:spPr bwMode="auto">
          <a:xfrm>
            <a:off x="2157304" y="2740717"/>
            <a:ext cx="38038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10" name="Text Box 10"/>
          <p:cNvSpPr txBox="1">
            <a:spLocks noChangeArrowheads="1"/>
          </p:cNvSpPr>
          <p:nvPr/>
        </p:nvSpPr>
        <p:spPr bwMode="auto">
          <a:xfrm>
            <a:off x="2566534" y="2565949"/>
            <a:ext cx="997824" cy="3693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1" dirty="0"/>
              <a:t> </a:t>
            </a:r>
            <a:r>
              <a:rPr lang="zh-CN" altLang="en-US" sz="1800" b="1" dirty="0"/>
              <a:t>正变换</a:t>
            </a:r>
          </a:p>
        </p:txBody>
      </p:sp>
      <p:sp>
        <p:nvSpPr>
          <p:cNvPr id="11" name="Line 11"/>
          <p:cNvSpPr>
            <a:spLocks noChangeShapeType="1"/>
          </p:cNvSpPr>
          <p:nvPr/>
        </p:nvSpPr>
        <p:spPr bwMode="auto">
          <a:xfrm>
            <a:off x="3564358" y="2711806"/>
            <a:ext cx="57626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12" name="Text Box 12"/>
          <p:cNvSpPr txBox="1">
            <a:spLocks noChangeArrowheads="1"/>
          </p:cNvSpPr>
          <p:nvPr/>
        </p:nvSpPr>
        <p:spPr bwMode="auto">
          <a:xfrm>
            <a:off x="4140620" y="2395245"/>
            <a:ext cx="649063" cy="64633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t>系数量化</a:t>
            </a:r>
          </a:p>
        </p:txBody>
      </p:sp>
      <p:sp>
        <p:nvSpPr>
          <p:cNvPr id="13" name="Line 13"/>
          <p:cNvSpPr>
            <a:spLocks noChangeShapeType="1"/>
          </p:cNvSpPr>
          <p:nvPr/>
        </p:nvSpPr>
        <p:spPr bwMode="auto">
          <a:xfrm flipV="1">
            <a:off x="4789684" y="2711806"/>
            <a:ext cx="482832" cy="843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14" name="Text Box 14"/>
          <p:cNvSpPr txBox="1">
            <a:spLocks noChangeArrowheads="1"/>
          </p:cNvSpPr>
          <p:nvPr/>
        </p:nvSpPr>
        <p:spPr bwMode="auto">
          <a:xfrm>
            <a:off x="5280913" y="2417551"/>
            <a:ext cx="664224" cy="64633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dirty="0"/>
              <a:t>符号编码</a:t>
            </a:r>
          </a:p>
        </p:txBody>
      </p:sp>
      <p:sp>
        <p:nvSpPr>
          <p:cNvPr id="15" name="Line 15"/>
          <p:cNvSpPr>
            <a:spLocks noChangeShapeType="1"/>
          </p:cNvSpPr>
          <p:nvPr/>
        </p:nvSpPr>
        <p:spPr bwMode="auto">
          <a:xfrm>
            <a:off x="5953534" y="2711806"/>
            <a:ext cx="57626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16" name="Line 16"/>
          <p:cNvSpPr>
            <a:spLocks noChangeShapeType="1"/>
          </p:cNvSpPr>
          <p:nvPr/>
        </p:nvSpPr>
        <p:spPr bwMode="auto">
          <a:xfrm>
            <a:off x="6533842" y="2711806"/>
            <a:ext cx="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17" name="Text Box 17"/>
          <p:cNvSpPr txBox="1">
            <a:spLocks noChangeArrowheads="1"/>
          </p:cNvSpPr>
          <p:nvPr/>
        </p:nvSpPr>
        <p:spPr bwMode="auto">
          <a:xfrm>
            <a:off x="6241665" y="3037928"/>
            <a:ext cx="576263" cy="64633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t>信道</a:t>
            </a:r>
          </a:p>
        </p:txBody>
      </p:sp>
      <p:sp>
        <p:nvSpPr>
          <p:cNvPr id="18" name="Line 18"/>
          <p:cNvSpPr>
            <a:spLocks noChangeShapeType="1"/>
          </p:cNvSpPr>
          <p:nvPr/>
        </p:nvSpPr>
        <p:spPr bwMode="auto">
          <a:xfrm>
            <a:off x="6529796" y="3684259"/>
            <a:ext cx="0"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19" name="Line 19"/>
          <p:cNvSpPr>
            <a:spLocks noChangeShapeType="1"/>
          </p:cNvSpPr>
          <p:nvPr/>
        </p:nvSpPr>
        <p:spPr bwMode="auto">
          <a:xfrm>
            <a:off x="5953534" y="4044723"/>
            <a:ext cx="576262"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sz="1800"/>
          </a:p>
        </p:txBody>
      </p:sp>
      <p:sp>
        <p:nvSpPr>
          <p:cNvPr id="20" name="Text Box 20"/>
          <p:cNvSpPr txBox="1">
            <a:spLocks noChangeArrowheads="1"/>
          </p:cNvSpPr>
          <p:nvPr/>
        </p:nvSpPr>
        <p:spPr bwMode="auto">
          <a:xfrm>
            <a:off x="5280913" y="3743126"/>
            <a:ext cx="677334" cy="64633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dirty="0"/>
              <a:t>符号解码</a:t>
            </a:r>
          </a:p>
        </p:txBody>
      </p:sp>
      <p:sp>
        <p:nvSpPr>
          <p:cNvPr id="21" name="Line 21"/>
          <p:cNvSpPr>
            <a:spLocks noChangeShapeType="1"/>
          </p:cNvSpPr>
          <p:nvPr/>
        </p:nvSpPr>
        <p:spPr bwMode="auto">
          <a:xfrm>
            <a:off x="4049850" y="4044621"/>
            <a:ext cx="1231063"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sz="1800"/>
          </a:p>
        </p:txBody>
      </p:sp>
      <p:sp>
        <p:nvSpPr>
          <p:cNvPr id="24" name="Text Box 24"/>
          <p:cNvSpPr txBox="1">
            <a:spLocks noChangeArrowheads="1"/>
          </p:cNvSpPr>
          <p:nvPr/>
        </p:nvSpPr>
        <p:spPr bwMode="auto">
          <a:xfrm>
            <a:off x="2977469" y="3881625"/>
            <a:ext cx="1079501" cy="3693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ts val="0"/>
              </a:spcBef>
            </a:pPr>
            <a:r>
              <a:rPr lang="zh-CN" altLang="en-US" sz="1800" b="1" dirty="0"/>
              <a:t>反变换</a:t>
            </a:r>
          </a:p>
        </p:txBody>
      </p:sp>
      <p:sp>
        <p:nvSpPr>
          <p:cNvPr id="25" name="Line 25"/>
          <p:cNvSpPr>
            <a:spLocks noChangeShapeType="1"/>
          </p:cNvSpPr>
          <p:nvPr/>
        </p:nvSpPr>
        <p:spPr bwMode="auto">
          <a:xfrm flipV="1">
            <a:off x="2154557" y="4066291"/>
            <a:ext cx="813046" cy="2298"/>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sz="1800"/>
          </a:p>
        </p:txBody>
      </p:sp>
      <p:sp>
        <p:nvSpPr>
          <p:cNvPr id="26" name="Text Box 26"/>
          <p:cNvSpPr txBox="1">
            <a:spLocks noChangeArrowheads="1"/>
          </p:cNvSpPr>
          <p:nvPr/>
        </p:nvSpPr>
        <p:spPr bwMode="auto">
          <a:xfrm>
            <a:off x="1347003" y="3721455"/>
            <a:ext cx="838679" cy="64633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a:t>子块拼接</a:t>
            </a:r>
          </a:p>
        </p:txBody>
      </p:sp>
      <p:sp>
        <p:nvSpPr>
          <p:cNvPr id="27" name="Text Box 27"/>
          <p:cNvSpPr txBox="1">
            <a:spLocks noChangeArrowheads="1"/>
          </p:cNvSpPr>
          <p:nvPr/>
        </p:nvSpPr>
        <p:spPr bwMode="auto">
          <a:xfrm>
            <a:off x="572978" y="3419960"/>
            <a:ext cx="764159"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b="1" dirty="0"/>
              <a:t>输出图像</a:t>
            </a:r>
          </a:p>
        </p:txBody>
      </p:sp>
      <p:sp>
        <p:nvSpPr>
          <p:cNvPr id="28" name="Line 28"/>
          <p:cNvSpPr>
            <a:spLocks noChangeShapeType="1"/>
          </p:cNvSpPr>
          <p:nvPr/>
        </p:nvSpPr>
        <p:spPr bwMode="auto">
          <a:xfrm>
            <a:off x="501541" y="4050884"/>
            <a:ext cx="835596"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sz="1800"/>
          </a:p>
        </p:txBody>
      </p:sp>
      <p:sp>
        <p:nvSpPr>
          <p:cNvPr id="29" name="Text Box 29"/>
          <p:cNvSpPr txBox="1">
            <a:spLocks noChangeArrowheads="1"/>
          </p:cNvSpPr>
          <p:nvPr/>
        </p:nvSpPr>
        <p:spPr bwMode="auto">
          <a:xfrm>
            <a:off x="5907242" y="2004098"/>
            <a:ext cx="732906" cy="646331"/>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571500" indent="-5715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gn="ctr" eaLnBrk="1" hangingPunct="1">
              <a:spcBef>
                <a:spcPts val="0"/>
              </a:spcBef>
              <a:buClr>
                <a:schemeClr val="tx2"/>
              </a:buClr>
              <a:buFont typeface="Wingdings" panose="05000000000000000000" pitchFamily="2" charset="2"/>
              <a:buNone/>
            </a:pPr>
            <a:r>
              <a:rPr lang="zh-CN" altLang="en-US" sz="1800" b="1" dirty="0">
                <a:latin typeface="Times New Roman" panose="02020603050405020304" pitchFamily="18" charset="0"/>
              </a:rPr>
              <a:t>压缩</a:t>
            </a:r>
            <a:br>
              <a:rPr lang="zh-CN" altLang="en-US" sz="1800" b="1" dirty="0">
                <a:latin typeface="Times New Roman" panose="02020603050405020304" pitchFamily="18" charset="0"/>
              </a:rPr>
            </a:br>
            <a:r>
              <a:rPr lang="zh-CN" altLang="en-US" sz="1800" b="1" dirty="0">
                <a:latin typeface="Times New Roman" panose="02020603050405020304" pitchFamily="18" charset="0"/>
              </a:rPr>
              <a:t>图像</a:t>
            </a:r>
          </a:p>
        </p:txBody>
      </p:sp>
    </p:spTree>
    <p:extLst>
      <p:ext uri="{BB962C8B-B14F-4D97-AF65-F5344CB8AC3E}">
        <p14:creationId xmlns:p14="http://schemas.microsoft.com/office/powerpoint/2010/main" val="935177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4</a:t>
            </a:fld>
            <a:endParaRPr lang="en-US" altLang="zh-CN" dirty="0"/>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块变换编码</a:t>
            </a:r>
          </a:p>
        </p:txBody>
      </p:sp>
      <p:sp>
        <p:nvSpPr>
          <p:cNvPr id="4"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图像的有损压缩编码</a:t>
            </a:r>
          </a:p>
        </p:txBody>
      </p:sp>
      <p:sp>
        <p:nvSpPr>
          <p:cNvPr id="5" name="Text Box 2"/>
          <p:cNvSpPr txBox="1">
            <a:spLocks noChangeArrowheads="1"/>
          </p:cNvSpPr>
          <p:nvPr/>
        </p:nvSpPr>
        <p:spPr bwMode="auto">
          <a:xfrm>
            <a:off x="319552" y="973319"/>
            <a:ext cx="48100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
                <a:srgbClr val="0000CC"/>
              </a:buClr>
              <a:buSzPct val="80000"/>
            </a:pPr>
            <a:r>
              <a:rPr lang="zh-CN" altLang="en-US" sz="2400" dirty="0">
                <a:solidFill>
                  <a:srgbClr val="0000CC"/>
                </a:solidFill>
                <a:latin typeface="+mj-ea"/>
                <a:ea typeface="+mj-ea"/>
                <a:cs typeface="Times New Roman" panose="02020603050405020304" pitchFamily="18" charset="0"/>
              </a:rPr>
              <a:t>实现编码的主要问题</a:t>
            </a:r>
            <a:endParaRPr kumimoji="1" lang="zh-CN" altLang="en-US" sz="2400" dirty="0">
              <a:solidFill>
                <a:srgbClr val="0000CC"/>
              </a:solidFill>
              <a:latin typeface="+mj-ea"/>
              <a:ea typeface="+mj-ea"/>
              <a:cs typeface="Times New Roman" panose="02020603050405020304" pitchFamily="18" charset="0"/>
            </a:endParaRPr>
          </a:p>
        </p:txBody>
      </p:sp>
      <p:sp>
        <p:nvSpPr>
          <p:cNvPr id="6" name="文本框 5"/>
          <p:cNvSpPr txBox="1"/>
          <p:nvPr/>
        </p:nvSpPr>
        <p:spPr>
          <a:xfrm>
            <a:off x="543115" y="1475941"/>
            <a:ext cx="3473507" cy="461665"/>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zh-CN" altLang="en-US" dirty="0">
                <a:solidFill>
                  <a:srgbClr val="C00000"/>
                </a:solidFill>
                <a:ea typeface="楷体" panose="02010609060101010101" pitchFamily="49" charset="-122"/>
                <a:cs typeface="Times New Roman" panose="02020603050405020304" pitchFamily="18" charset="0"/>
              </a:rPr>
              <a:t>子块尺寸选择</a:t>
            </a:r>
          </a:p>
        </p:txBody>
      </p:sp>
      <p:sp>
        <p:nvSpPr>
          <p:cNvPr id="7" name="矩形 6"/>
          <p:cNvSpPr/>
          <p:nvPr/>
        </p:nvSpPr>
        <p:spPr>
          <a:xfrm>
            <a:off x="626773" y="1978563"/>
            <a:ext cx="6552729" cy="461665"/>
          </a:xfrm>
          <a:prstGeom prst="rect">
            <a:avLst/>
          </a:prstGeom>
        </p:spPr>
        <p:txBody>
          <a:bodyPr wrap="square">
            <a:spAutoFit/>
          </a:bodyPr>
          <a:lstStyle/>
          <a:p>
            <a:pPr marL="342900" indent="-342900">
              <a:spcBef>
                <a:spcPts val="300"/>
              </a:spcBef>
              <a:spcAft>
                <a:spcPts val="100"/>
              </a:spcAft>
              <a:buClr>
                <a:srgbClr val="7030A0"/>
              </a:buClr>
              <a:buSzPct val="75000"/>
              <a:buFont typeface="Wingdings" panose="05000000000000000000" pitchFamily="2" charset="2"/>
              <a:buChar char="p"/>
            </a:pPr>
            <a:r>
              <a:rPr lang="zh-CN" altLang="zh-CN" kern="100" dirty="0">
                <a:ea typeface="楷体" panose="02010609060101010101" pitchFamily="49" charset="-122"/>
                <a:cs typeface="Times New Roman" panose="02020603050405020304" pitchFamily="18" charset="0"/>
              </a:rPr>
              <a:t>通常划分子块需满足：</a:t>
            </a:r>
            <a:endParaRPr lang="en-US" altLang="zh-CN" kern="100" dirty="0">
              <a:ea typeface="楷体" panose="02010609060101010101" pitchFamily="49" charset="-122"/>
              <a:cs typeface="Times New Roman" panose="02020603050405020304" pitchFamily="18" charset="0"/>
            </a:endParaRPr>
          </a:p>
        </p:txBody>
      </p:sp>
      <p:sp>
        <p:nvSpPr>
          <p:cNvPr id="8" name="矩形 7"/>
          <p:cNvSpPr/>
          <p:nvPr/>
        </p:nvSpPr>
        <p:spPr>
          <a:xfrm>
            <a:off x="598636" y="3276430"/>
            <a:ext cx="6432003" cy="461665"/>
          </a:xfrm>
          <a:prstGeom prst="rect">
            <a:avLst/>
          </a:prstGeom>
        </p:spPr>
        <p:txBody>
          <a:bodyPr wrap="square">
            <a:spAutoFit/>
          </a:bodyPr>
          <a:lstStyle/>
          <a:p>
            <a:pPr marL="342900" indent="-342900">
              <a:buClr>
                <a:srgbClr val="7030A0"/>
              </a:buClr>
              <a:buSzPct val="75000"/>
              <a:buFont typeface="Wingdings" panose="05000000000000000000" pitchFamily="2" charset="2"/>
              <a:buChar char="p"/>
            </a:pPr>
            <a:r>
              <a:rPr lang="zh-CN" altLang="zh-CN" kern="100" dirty="0">
                <a:ea typeface="楷体" panose="02010609060101010101" pitchFamily="49" charset="-122"/>
                <a:cs typeface="Times New Roman" panose="02020603050405020304" pitchFamily="18" charset="0"/>
              </a:rPr>
              <a:t>好处是：</a:t>
            </a:r>
            <a:endParaRPr lang="en-US" altLang="zh-CN" kern="100" dirty="0">
              <a:ea typeface="楷体" panose="02010609060101010101" pitchFamily="49" charset="-122"/>
              <a:cs typeface="Times New Roman" panose="02020603050405020304" pitchFamily="18" charset="0"/>
            </a:endParaRPr>
          </a:p>
        </p:txBody>
      </p:sp>
      <p:sp>
        <p:nvSpPr>
          <p:cNvPr id="9" name="矩形 8"/>
          <p:cNvSpPr/>
          <p:nvPr/>
        </p:nvSpPr>
        <p:spPr>
          <a:xfrm>
            <a:off x="812266" y="2357994"/>
            <a:ext cx="6117171" cy="882293"/>
          </a:xfrm>
          <a:prstGeom prst="rect">
            <a:avLst/>
          </a:prstGeom>
        </p:spPr>
        <p:txBody>
          <a:bodyPr wrap="square">
            <a:spAutoFit/>
          </a:bodyPr>
          <a:lstStyle/>
          <a:p>
            <a:pPr marL="342900" indent="-342900">
              <a:spcBef>
                <a:spcPts val="300"/>
              </a:spcBef>
              <a:spcAft>
                <a:spcPts val="100"/>
              </a:spcAft>
              <a:buClr>
                <a:srgbClr val="7030A0"/>
              </a:buClr>
              <a:buSzPct val="75000"/>
              <a:buFont typeface="Wingdings" panose="05000000000000000000" pitchFamily="2" charset="2"/>
              <a:buChar char="Ø"/>
            </a:pPr>
            <a:r>
              <a:rPr lang="zh-CN" altLang="zh-CN" kern="100" dirty="0">
                <a:ea typeface="楷体" panose="02010609060101010101" pitchFamily="49" charset="-122"/>
                <a:cs typeface="Times New Roman" panose="02020603050405020304" pitchFamily="18" charset="0"/>
              </a:rPr>
              <a:t>相邻子块间相关程度减到某个可接受水平</a:t>
            </a:r>
            <a:endParaRPr lang="en-US" altLang="zh-CN" kern="100" dirty="0">
              <a:ea typeface="楷体" panose="02010609060101010101" pitchFamily="49" charset="-122"/>
              <a:cs typeface="Times New Roman" panose="02020603050405020304" pitchFamily="18" charset="0"/>
            </a:endParaRPr>
          </a:p>
          <a:p>
            <a:pPr marL="342900" indent="-342900">
              <a:spcBef>
                <a:spcPts val="300"/>
              </a:spcBef>
              <a:spcAft>
                <a:spcPts val="100"/>
              </a:spcAft>
              <a:buClr>
                <a:srgbClr val="7030A0"/>
              </a:buClr>
              <a:buSzPct val="75000"/>
              <a:buFont typeface="Wingdings" panose="05000000000000000000" pitchFamily="2" charset="2"/>
              <a:buChar char="Ø"/>
            </a:pPr>
            <a:r>
              <a:rPr lang="zh-CN" altLang="zh-CN" kern="100" dirty="0">
                <a:ea typeface="楷体" panose="02010609060101010101" pitchFamily="49" charset="-122"/>
                <a:cs typeface="Times New Roman" panose="02020603050405020304" pitchFamily="18" charset="0"/>
              </a:rPr>
              <a:t>子块的长和宽通常为</a:t>
            </a:r>
            <a:r>
              <a:rPr lang="en-US" altLang="zh-CN" kern="100" dirty="0">
                <a:ea typeface="楷体" panose="02010609060101010101" pitchFamily="49" charset="-122"/>
                <a:cs typeface="Times New Roman" panose="02020603050405020304" pitchFamily="18" charset="0"/>
              </a:rPr>
              <a:t>2</a:t>
            </a:r>
            <a:r>
              <a:rPr lang="zh-CN" altLang="zh-CN" kern="100" dirty="0">
                <a:ea typeface="楷体" panose="02010609060101010101" pitchFamily="49" charset="-122"/>
                <a:cs typeface="Times New Roman" panose="02020603050405020304" pitchFamily="18" charset="0"/>
              </a:rPr>
              <a:t>的整数次幂</a:t>
            </a:r>
            <a:endParaRPr lang="zh-CN" altLang="en-US" dirty="0">
              <a:ea typeface="楷体" panose="02010609060101010101" pitchFamily="49" charset="-122"/>
              <a:cs typeface="Times New Roman" panose="02020603050405020304" pitchFamily="18" charset="0"/>
            </a:endParaRPr>
          </a:p>
        </p:txBody>
      </p:sp>
      <p:sp>
        <p:nvSpPr>
          <p:cNvPr id="10" name="矩形 9"/>
          <p:cNvSpPr/>
          <p:nvPr/>
        </p:nvSpPr>
        <p:spPr>
          <a:xfrm>
            <a:off x="487580" y="3626944"/>
            <a:ext cx="6441857" cy="1200329"/>
          </a:xfrm>
          <a:prstGeom prst="rect">
            <a:avLst/>
          </a:prstGeom>
        </p:spPr>
        <p:txBody>
          <a:bodyPr wrap="square">
            <a:spAutoFit/>
          </a:bodyPr>
          <a:lstStyle/>
          <a:p>
            <a:pPr marL="702000" indent="-342900">
              <a:buClr>
                <a:srgbClr val="7030A0"/>
              </a:buClr>
              <a:buSzPct val="75000"/>
              <a:buFont typeface="Wingdings" panose="05000000000000000000" pitchFamily="2" charset="2"/>
              <a:buChar char="Ø"/>
            </a:pPr>
            <a:r>
              <a:rPr lang="zh-CN" altLang="zh-CN" kern="100" dirty="0">
                <a:ea typeface="楷体" panose="02010609060101010101" pitchFamily="49" charset="-122"/>
                <a:cs typeface="Times New Roman" panose="02020603050405020304" pitchFamily="18" charset="0"/>
              </a:rPr>
              <a:t>使正交变换后能量更加集中</a:t>
            </a:r>
            <a:endParaRPr lang="en-US" altLang="zh-CN" kern="100" dirty="0">
              <a:ea typeface="楷体" panose="02010609060101010101" pitchFamily="49" charset="-122"/>
              <a:cs typeface="Times New Roman" panose="02020603050405020304" pitchFamily="18" charset="0"/>
            </a:endParaRPr>
          </a:p>
          <a:p>
            <a:pPr marL="702000" indent="-342900">
              <a:buClr>
                <a:srgbClr val="7030A0"/>
              </a:buClr>
              <a:buSzPct val="75000"/>
              <a:buFont typeface="Wingdings" panose="05000000000000000000" pitchFamily="2" charset="2"/>
              <a:buChar char="Ø"/>
            </a:pPr>
            <a:r>
              <a:rPr lang="zh-CN" altLang="zh-CN" kern="100" dirty="0">
                <a:ea typeface="楷体" panose="02010609060101010101" pitchFamily="49" charset="-122"/>
                <a:cs typeface="Times New Roman" panose="02020603050405020304" pitchFamily="18" charset="0"/>
              </a:rPr>
              <a:t>大大降低计算复杂度</a:t>
            </a:r>
            <a:endParaRPr lang="en-US" altLang="zh-CN" kern="100" dirty="0">
              <a:ea typeface="楷体" panose="02010609060101010101" pitchFamily="49" charset="-122"/>
              <a:cs typeface="Times New Roman" panose="02020603050405020304" pitchFamily="18" charset="0"/>
            </a:endParaRPr>
          </a:p>
          <a:p>
            <a:pPr marL="702000" indent="-342900">
              <a:buClr>
                <a:srgbClr val="7030A0"/>
              </a:buClr>
              <a:buSzPct val="75000"/>
              <a:buFont typeface="Wingdings" panose="05000000000000000000" pitchFamily="2" charset="2"/>
              <a:buChar char="Ø"/>
            </a:pPr>
            <a:r>
              <a:rPr lang="zh-CN" altLang="zh-CN" kern="100" dirty="0">
                <a:ea typeface="楷体" panose="02010609060101010101" pitchFamily="49" charset="-122"/>
                <a:cs typeface="Times New Roman" panose="02020603050405020304" pitchFamily="18" charset="0"/>
              </a:rPr>
              <a:t>一般典型的划分子块尺寸是</a:t>
            </a:r>
            <a:r>
              <a:rPr lang="en-US" altLang="zh-CN" kern="100" dirty="0">
                <a:ea typeface="楷体" panose="02010609060101010101" pitchFamily="49" charset="-122"/>
                <a:cs typeface="Times New Roman" panose="02020603050405020304" pitchFamily="18" charset="0"/>
              </a:rPr>
              <a:t>8</a:t>
            </a:r>
            <a:r>
              <a:rPr lang="en-US" altLang="zh-CN" kern="100" dirty="0">
                <a:ea typeface="楷体" panose="02010609060101010101" pitchFamily="49" charset="-122"/>
                <a:cs typeface="Times New Roman" panose="02020603050405020304" pitchFamily="18" charset="0"/>
                <a:sym typeface="Symbol" panose="05050102010706020507" pitchFamily="18" charset="2"/>
              </a:rPr>
              <a:t></a:t>
            </a:r>
            <a:r>
              <a:rPr lang="en-US" altLang="zh-CN" kern="100" dirty="0">
                <a:ea typeface="楷体" panose="02010609060101010101" pitchFamily="49" charset="-122"/>
                <a:cs typeface="Times New Roman" panose="02020603050405020304" pitchFamily="18" charset="0"/>
              </a:rPr>
              <a:t>8</a:t>
            </a:r>
            <a:r>
              <a:rPr lang="zh-CN" altLang="zh-CN" kern="100" dirty="0">
                <a:ea typeface="楷体" panose="02010609060101010101" pitchFamily="49" charset="-122"/>
                <a:cs typeface="Times New Roman" panose="02020603050405020304" pitchFamily="18" charset="0"/>
              </a:rPr>
              <a:t>或</a:t>
            </a:r>
            <a:r>
              <a:rPr lang="en-US" altLang="zh-CN" kern="100" dirty="0">
                <a:ea typeface="楷体" panose="02010609060101010101" pitchFamily="49" charset="-122"/>
                <a:cs typeface="Times New Roman" panose="02020603050405020304" pitchFamily="18" charset="0"/>
              </a:rPr>
              <a:t>16</a:t>
            </a:r>
            <a:r>
              <a:rPr lang="en-US" altLang="zh-CN" kern="100" dirty="0">
                <a:ea typeface="楷体" panose="02010609060101010101" pitchFamily="49" charset="-122"/>
                <a:cs typeface="Times New Roman" panose="02020603050405020304" pitchFamily="18" charset="0"/>
                <a:sym typeface="Symbol" panose="05050102010706020507" pitchFamily="18" charset="2"/>
              </a:rPr>
              <a:t></a:t>
            </a:r>
            <a:r>
              <a:rPr lang="en-US" altLang="zh-CN" kern="100" dirty="0">
                <a:ea typeface="楷体" panose="02010609060101010101" pitchFamily="49" charset="-122"/>
                <a:cs typeface="Times New Roman" panose="02020603050405020304" pitchFamily="18" charset="0"/>
              </a:rPr>
              <a:t>16</a:t>
            </a:r>
            <a:endParaRPr lang="zh-CN" altLang="en-US" dirty="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86121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5</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变换编码</a:t>
            </a:r>
          </a:p>
        </p:txBody>
      </p:sp>
      <p:sp>
        <p:nvSpPr>
          <p:cNvPr id="4"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图像的有损压缩编码</a:t>
            </a:r>
          </a:p>
        </p:txBody>
      </p:sp>
      <p:sp>
        <p:nvSpPr>
          <p:cNvPr id="6" name="文本框 5"/>
          <p:cNvSpPr txBox="1"/>
          <p:nvPr/>
        </p:nvSpPr>
        <p:spPr>
          <a:xfrm>
            <a:off x="560239" y="1434231"/>
            <a:ext cx="2465395" cy="461665"/>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zh-CN" altLang="en-US" dirty="0">
                <a:solidFill>
                  <a:srgbClr val="C00000"/>
                </a:solidFill>
                <a:ea typeface="楷体" panose="02010609060101010101" pitchFamily="49" charset="-122"/>
                <a:cs typeface="Times New Roman" panose="02020603050405020304" pitchFamily="18" charset="0"/>
              </a:rPr>
              <a:t>正交变换</a:t>
            </a:r>
          </a:p>
        </p:txBody>
      </p:sp>
      <p:sp>
        <p:nvSpPr>
          <p:cNvPr id="7" name="Text Box 5"/>
          <p:cNvSpPr txBox="1">
            <a:spLocks noChangeArrowheads="1"/>
          </p:cNvSpPr>
          <p:nvPr/>
        </p:nvSpPr>
        <p:spPr bwMode="auto">
          <a:xfrm>
            <a:off x="796024" y="1887382"/>
            <a:ext cx="6133414" cy="1964640"/>
          </a:xfrm>
          <a:prstGeom prst="rect">
            <a:avLst/>
          </a:prstGeom>
          <a:noFill/>
          <a:ln w="9525" algn="ctr">
            <a:noFill/>
            <a:miter lim="800000"/>
            <a:headEnd/>
            <a:tailEnd/>
          </a:ln>
          <a:effectLst/>
        </p:spPr>
        <p:txBody>
          <a:bodyPr wrap="square">
            <a:spAutoFit/>
          </a:bodyPr>
          <a:lstStyle/>
          <a:p>
            <a:pPr marL="342900" marR="0" lvl="0" indent="-342900" defTabSz="914400" eaLnBrk="1" fontAlgn="auto" latinLnBrk="0" hangingPunct="1">
              <a:spcBef>
                <a:spcPts val="300"/>
              </a:spcBef>
              <a:spcAft>
                <a:spcPts val="100"/>
              </a:spcAft>
              <a:buClr>
                <a:srgbClr val="7030A0"/>
              </a:buClr>
              <a:buSzPct val="75000"/>
              <a:buFont typeface="Wingdings" panose="05000000000000000000" pitchFamily="2" charset="2"/>
              <a:buChar char="p"/>
              <a:tabLst/>
              <a:defRPr/>
            </a:pPr>
            <a:r>
              <a:rPr kumimoji="0" lang="en-US" altLang="zh-CN" sz="2300" i="0" u="none" strike="noStrike" kern="0" cap="none" spc="0" normalizeH="0" baseline="0" noProof="0" dirty="0">
                <a:ln>
                  <a:noFill/>
                </a:ln>
                <a:effectLst/>
                <a:uLnTx/>
                <a:uFillTx/>
                <a:ea typeface="楷体" panose="02010609060101010101" pitchFamily="49" charset="-122"/>
                <a:cs typeface="Times New Roman" panose="02020603050405020304" pitchFamily="18" charset="0"/>
              </a:rPr>
              <a:t>K-L</a:t>
            </a:r>
            <a:r>
              <a:rPr kumimoji="0" lang="zh-CN" altLang="en-US" sz="2300" i="0" u="none" strike="noStrike" kern="0" cap="none" spc="0" normalizeH="0" baseline="0" noProof="0" dirty="0">
                <a:ln>
                  <a:noFill/>
                </a:ln>
                <a:effectLst/>
                <a:uLnTx/>
                <a:uFillTx/>
                <a:ea typeface="楷体" panose="02010609060101010101" pitchFamily="49" charset="-122"/>
                <a:cs typeface="Times New Roman" panose="02020603050405020304" pitchFamily="18" charset="0"/>
              </a:rPr>
              <a:t>变换：很少使用。其严重依赖图像数据，每次都重新计算协方差矩阵，计算量大。</a:t>
            </a:r>
          </a:p>
          <a:p>
            <a:pPr marL="342900" marR="0" lvl="0" indent="-342900" defTabSz="914400" eaLnBrk="1" fontAlgn="auto" latinLnBrk="0" hangingPunct="1">
              <a:spcBef>
                <a:spcPts val="300"/>
              </a:spcBef>
              <a:spcAft>
                <a:spcPts val="100"/>
              </a:spcAft>
              <a:buClr>
                <a:srgbClr val="7030A0"/>
              </a:buClr>
              <a:buSzPct val="75000"/>
              <a:buFont typeface="Wingdings" panose="05000000000000000000" pitchFamily="2" charset="2"/>
              <a:buChar char="p"/>
              <a:tabLst/>
              <a:defRPr/>
            </a:pPr>
            <a:r>
              <a:rPr kumimoji="0" lang="en-US" altLang="zh-CN" sz="2300" i="0" u="none" strike="noStrike" kern="0" cap="none" spc="0" normalizeH="0" baseline="0" noProof="0" dirty="0">
                <a:ln>
                  <a:noFill/>
                </a:ln>
                <a:effectLst/>
                <a:uLnTx/>
                <a:uFillTx/>
                <a:ea typeface="楷体" panose="02010609060101010101" pitchFamily="49" charset="-122"/>
                <a:cs typeface="Times New Roman" panose="02020603050405020304" pitchFamily="18" charset="0"/>
              </a:rPr>
              <a:t>DFT</a:t>
            </a:r>
            <a:r>
              <a:rPr kumimoji="0" lang="zh-CN" altLang="en-US" sz="2300" i="0" u="none" strike="noStrike" kern="0" cap="none" spc="0" normalizeH="0" baseline="0" noProof="0" dirty="0">
                <a:ln>
                  <a:noFill/>
                </a:ln>
                <a:effectLst/>
                <a:uLnTx/>
                <a:uFillTx/>
                <a:ea typeface="楷体" panose="02010609060101010101" pitchFamily="49" charset="-122"/>
                <a:cs typeface="Times New Roman" panose="02020603050405020304" pitchFamily="18" charset="0"/>
              </a:rPr>
              <a:t>变换：块效应严重。</a:t>
            </a:r>
          </a:p>
          <a:p>
            <a:pPr marL="342900" marR="0" lvl="0" indent="-342900" defTabSz="914400" eaLnBrk="1" fontAlgn="auto" latinLnBrk="0" hangingPunct="1">
              <a:spcBef>
                <a:spcPts val="300"/>
              </a:spcBef>
              <a:spcAft>
                <a:spcPts val="100"/>
              </a:spcAft>
              <a:buClr>
                <a:srgbClr val="7030A0"/>
              </a:buClr>
              <a:buSzPct val="75000"/>
              <a:buFont typeface="Wingdings" panose="05000000000000000000" pitchFamily="2" charset="2"/>
              <a:buChar char="p"/>
              <a:tabLst/>
              <a:defRPr/>
            </a:pPr>
            <a:r>
              <a:rPr kumimoji="0" lang="en-US" altLang="zh-CN" sz="2300" i="0" strike="noStrike" kern="0" cap="none" spc="0" normalizeH="0" baseline="0" noProof="0" dirty="0">
                <a:ln>
                  <a:noFill/>
                </a:ln>
                <a:uLnTx/>
                <a:uFillTx/>
                <a:ea typeface="楷体" panose="02010609060101010101" pitchFamily="49" charset="-122"/>
                <a:cs typeface="Times New Roman" panose="02020603050405020304" pitchFamily="18" charset="0"/>
              </a:rPr>
              <a:t>DCT</a:t>
            </a:r>
            <a:r>
              <a:rPr kumimoji="0" lang="zh-CN" altLang="en-US" sz="2300" i="0" strike="noStrike" kern="0" cap="none" spc="0" normalizeH="0" baseline="0" noProof="0" dirty="0">
                <a:ln>
                  <a:noFill/>
                </a:ln>
                <a:uLnTx/>
                <a:uFillTx/>
                <a:ea typeface="楷体" panose="02010609060101010101" pitchFamily="49" charset="-122"/>
                <a:cs typeface="Times New Roman" panose="02020603050405020304" pitchFamily="18" charset="0"/>
              </a:rPr>
              <a:t>变换</a:t>
            </a:r>
            <a:r>
              <a:rPr kumimoji="0" lang="zh-CN" altLang="en-US" sz="2300" i="0" u="none" strike="noStrike" kern="0" cap="none" spc="0" normalizeH="0" baseline="0" noProof="0" dirty="0">
                <a:ln>
                  <a:noFill/>
                </a:ln>
                <a:effectLst/>
                <a:uLnTx/>
                <a:uFillTx/>
                <a:ea typeface="楷体" panose="02010609060101010101" pitchFamily="49" charset="-122"/>
                <a:cs typeface="Times New Roman" panose="02020603050405020304" pitchFamily="18" charset="0"/>
              </a:rPr>
              <a:t>：被认为是</a:t>
            </a:r>
            <a:r>
              <a:rPr kumimoji="0" lang="zh-CN" altLang="en-US" sz="2300" i="0" u="sng" strike="noStrike" kern="0" cap="none" spc="0" normalizeH="0" baseline="0" noProof="0" dirty="0">
                <a:ln>
                  <a:noFill/>
                </a:ln>
                <a:solidFill>
                  <a:srgbClr val="0000FF"/>
                </a:solidFill>
                <a:effectLst>
                  <a:outerShdw blurRad="38100" dist="38100" dir="2700000" algn="tl">
                    <a:srgbClr val="C0C0C0"/>
                  </a:outerShdw>
                </a:effectLst>
                <a:uLnTx/>
                <a:uFillTx/>
                <a:ea typeface="楷体" panose="02010609060101010101" pitchFamily="49" charset="-122"/>
                <a:cs typeface="Times New Roman" panose="02020603050405020304" pitchFamily="18" charset="0"/>
              </a:rPr>
              <a:t>准最佳变换</a:t>
            </a:r>
            <a:r>
              <a:rPr kumimoji="0" lang="zh-CN" altLang="en-US" sz="2300" i="0" u="none" strike="noStrike" kern="0" cap="none" spc="0" normalizeH="0" baseline="0" noProof="0" dirty="0">
                <a:ln>
                  <a:noFill/>
                </a:ln>
                <a:solidFill>
                  <a:srgbClr val="0000FF"/>
                </a:solidFill>
                <a:effectLst/>
                <a:uLnTx/>
                <a:uFillTx/>
                <a:ea typeface="楷体" panose="02010609060101010101" pitchFamily="49" charset="-122"/>
                <a:cs typeface="Times New Roman" panose="02020603050405020304" pitchFamily="18" charset="0"/>
              </a:rPr>
              <a:t>。</a:t>
            </a:r>
            <a:r>
              <a:rPr kumimoji="0" lang="zh-CN" altLang="en-US" sz="2300" i="0" u="sng" strike="noStrike" kern="0" cap="none" spc="0" normalizeH="0" baseline="0" noProof="0" dirty="0">
                <a:ln>
                  <a:noFill/>
                </a:ln>
                <a:solidFill>
                  <a:srgbClr val="0000FF"/>
                </a:solidFill>
                <a:effectLst>
                  <a:outerShdw blurRad="38100" dist="38100" dir="2700000" algn="tl">
                    <a:srgbClr val="C0C0C0"/>
                  </a:outerShdw>
                </a:effectLst>
                <a:uLnTx/>
                <a:uFillTx/>
                <a:ea typeface="楷体" panose="02010609060101010101" pitchFamily="49" charset="-122"/>
                <a:cs typeface="Times New Roman" panose="02020603050405020304" pitchFamily="18" charset="0"/>
              </a:rPr>
              <a:t>被国际压缩标准采纳</a:t>
            </a:r>
            <a:r>
              <a:rPr kumimoji="0" lang="zh-CN" altLang="en-US" sz="2300" i="0" u="none" strike="noStrike" kern="0" cap="none" spc="0" normalizeH="0" baseline="0" noProof="0" dirty="0">
                <a:ln>
                  <a:noFill/>
                </a:ln>
                <a:effectLst/>
                <a:uLnTx/>
                <a:uFillTx/>
                <a:ea typeface="楷体" panose="02010609060101010101" pitchFamily="49" charset="-122"/>
                <a:cs typeface="Times New Roman" panose="02020603050405020304" pitchFamily="18" charset="0"/>
              </a:rPr>
              <a:t>。优点是：    </a:t>
            </a:r>
          </a:p>
        </p:txBody>
      </p:sp>
      <p:sp>
        <p:nvSpPr>
          <p:cNvPr id="8" name="Text Box 2"/>
          <p:cNvSpPr txBox="1">
            <a:spLocks noChangeArrowheads="1"/>
          </p:cNvSpPr>
          <p:nvPr/>
        </p:nvSpPr>
        <p:spPr bwMode="auto">
          <a:xfrm>
            <a:off x="319552" y="973319"/>
            <a:ext cx="48100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
                <a:srgbClr val="0000CC"/>
              </a:buClr>
              <a:buSzPct val="80000"/>
            </a:pPr>
            <a:r>
              <a:rPr lang="zh-CN" altLang="en-US" sz="2400" dirty="0">
                <a:solidFill>
                  <a:srgbClr val="0000CC"/>
                </a:solidFill>
                <a:latin typeface="+mj-ea"/>
                <a:ea typeface="+mj-ea"/>
                <a:cs typeface="Times New Roman" panose="02020603050405020304" pitchFamily="18" charset="0"/>
              </a:rPr>
              <a:t>实现编码的主要问题</a:t>
            </a:r>
            <a:endParaRPr kumimoji="1" lang="zh-CN" altLang="en-US" sz="2400" dirty="0">
              <a:solidFill>
                <a:srgbClr val="0000CC"/>
              </a:solidFill>
              <a:latin typeface="+mj-ea"/>
              <a:ea typeface="+mj-ea"/>
              <a:cs typeface="Times New Roman" panose="02020603050405020304" pitchFamily="18" charset="0"/>
            </a:endParaRPr>
          </a:p>
        </p:txBody>
      </p:sp>
      <p:sp>
        <p:nvSpPr>
          <p:cNvPr id="9" name="矩形 8"/>
          <p:cNvSpPr/>
          <p:nvPr/>
        </p:nvSpPr>
        <p:spPr>
          <a:xfrm>
            <a:off x="1064295" y="3852022"/>
            <a:ext cx="5746080" cy="1251625"/>
          </a:xfrm>
          <a:prstGeom prst="rect">
            <a:avLst/>
          </a:prstGeom>
        </p:spPr>
        <p:txBody>
          <a:bodyPr wrap="square">
            <a:spAutoFit/>
          </a:bodyPr>
          <a:lstStyle/>
          <a:p>
            <a:pPr marL="342900" marR="0" lvl="0" indent="-342900" defTabSz="914400" eaLnBrk="1" fontAlgn="auto" latinLnBrk="0" hangingPunct="1">
              <a:spcBef>
                <a:spcPts val="300"/>
              </a:spcBef>
              <a:spcAft>
                <a:spcPts val="100"/>
              </a:spcAft>
              <a:buClr>
                <a:srgbClr val="7030A0"/>
              </a:buClr>
              <a:buSzPct val="75000"/>
              <a:buFont typeface="Wingdings" panose="05000000000000000000" pitchFamily="2" charset="2"/>
              <a:buChar char="Ø"/>
              <a:tabLst/>
              <a:defRPr/>
            </a:pPr>
            <a:r>
              <a:rPr kumimoji="0" lang="zh-CN" altLang="en-US" kern="0" dirty="0">
                <a:ea typeface="楷体" panose="02010609060101010101" pitchFamily="49" charset="-122"/>
                <a:cs typeface="Times New Roman" panose="02020603050405020304" pitchFamily="18" charset="0"/>
              </a:rPr>
              <a:t>基本没有块效应；</a:t>
            </a:r>
          </a:p>
          <a:p>
            <a:pPr marL="342900" marR="0" lvl="0" indent="-342900" defTabSz="914400" eaLnBrk="1" fontAlgn="auto" latinLnBrk="0" hangingPunct="1">
              <a:spcBef>
                <a:spcPts val="300"/>
              </a:spcBef>
              <a:spcAft>
                <a:spcPts val="100"/>
              </a:spcAft>
              <a:buClr>
                <a:srgbClr val="7030A0"/>
              </a:buClr>
              <a:buSzPct val="75000"/>
              <a:buFont typeface="Wingdings" panose="05000000000000000000" pitchFamily="2" charset="2"/>
              <a:buChar char="Ø"/>
              <a:tabLst/>
              <a:defRPr/>
            </a:pPr>
            <a:r>
              <a:rPr kumimoji="0" lang="zh-CN" altLang="en-US" kern="0" dirty="0">
                <a:ea typeface="楷体" panose="02010609060101010101" pitchFamily="49" charset="-122"/>
                <a:cs typeface="Times New Roman" panose="02020603050405020304" pitchFamily="18" charset="0"/>
              </a:rPr>
              <a:t> 信息封装能力强，把最多的信息封装在最少的系数中。</a:t>
            </a:r>
          </a:p>
        </p:txBody>
      </p:sp>
    </p:spTree>
    <p:extLst>
      <p:ext uri="{BB962C8B-B14F-4D97-AF65-F5344CB8AC3E}">
        <p14:creationId xmlns:p14="http://schemas.microsoft.com/office/powerpoint/2010/main" val="3795541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6</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变换编码</a:t>
            </a:r>
          </a:p>
        </p:txBody>
      </p:sp>
      <p:sp>
        <p:nvSpPr>
          <p:cNvPr id="4"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图像的有损压缩编码</a:t>
            </a:r>
          </a:p>
        </p:txBody>
      </p:sp>
      <p:sp>
        <p:nvSpPr>
          <p:cNvPr id="5" name="文本框 4"/>
          <p:cNvSpPr txBox="1"/>
          <p:nvPr/>
        </p:nvSpPr>
        <p:spPr>
          <a:xfrm>
            <a:off x="685867" y="1851011"/>
            <a:ext cx="6483283" cy="461665"/>
          </a:xfrm>
          <a:prstGeom prst="rect">
            <a:avLst/>
          </a:prstGeom>
          <a:noFill/>
        </p:spPr>
        <p:txBody>
          <a:bodyPr wrap="square" rtlCol="0">
            <a:spAutoFit/>
          </a:bodyPr>
          <a:lstStyle/>
          <a:p>
            <a:pPr marL="342900" indent="-342900">
              <a:spcBef>
                <a:spcPts val="300"/>
              </a:spcBef>
              <a:spcAft>
                <a:spcPts val="300"/>
              </a:spcAft>
              <a:buClr>
                <a:srgbClr val="7030A0"/>
              </a:buClr>
              <a:buSzPct val="75000"/>
              <a:buFont typeface="Wingdings" panose="05000000000000000000" pitchFamily="2" charset="2"/>
              <a:buChar char="p"/>
            </a:pPr>
            <a:r>
              <a:rPr lang="zh-CN" altLang="en-US" dirty="0">
                <a:ea typeface="楷体" panose="02010609060101010101" pitchFamily="49" charset="-122"/>
                <a:cs typeface="Times New Roman" panose="02020603050405020304" pitchFamily="18" charset="0"/>
              </a:rPr>
              <a:t>区域编码</a:t>
            </a:r>
          </a:p>
        </p:txBody>
      </p:sp>
      <p:sp>
        <p:nvSpPr>
          <p:cNvPr id="7" name="Text Box 4"/>
          <p:cNvSpPr txBox="1">
            <a:spLocks noChangeArrowheads="1"/>
          </p:cNvSpPr>
          <p:nvPr/>
        </p:nvSpPr>
        <p:spPr bwMode="auto">
          <a:xfrm>
            <a:off x="848270" y="2312676"/>
            <a:ext cx="6081167" cy="2410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571500" indent="-5715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457200" algn="just">
              <a:spcBef>
                <a:spcPts val="300"/>
              </a:spcBef>
              <a:spcAft>
                <a:spcPts val="500"/>
              </a:spcAft>
            </a:pPr>
            <a:r>
              <a:rPr kumimoji="0" lang="zh-CN" altLang="en-US" dirty="0">
                <a:latin typeface="楷体" panose="02010609060101010101" pitchFamily="49" charset="-122"/>
                <a:ea typeface="楷体" panose="02010609060101010101" pitchFamily="49" charset="-122"/>
                <a:sym typeface="Symbol" panose="05050102010706020507" pitchFamily="18" charset="2"/>
              </a:rPr>
              <a:t>由于变换系数集中在低频区域，而低频区集中在变换域的左上角，可对该区域变换系数进行量化、编码、传输；</a:t>
            </a:r>
          </a:p>
          <a:p>
            <a:pPr marL="0" indent="457200" algn="just">
              <a:spcBef>
                <a:spcPts val="300"/>
              </a:spcBef>
              <a:spcAft>
                <a:spcPts val="500"/>
              </a:spcAft>
            </a:pPr>
            <a:r>
              <a:rPr kumimoji="0" lang="zh-CN" altLang="en-US" dirty="0">
                <a:latin typeface="楷体" panose="02010609060101010101" pitchFamily="49" charset="-122"/>
                <a:ea typeface="楷体" panose="02010609060101010101" pitchFamily="49" charset="-122"/>
                <a:sym typeface="Symbol" panose="05050102010706020507" pitchFamily="18" charset="2"/>
              </a:rPr>
              <a:t>而右下角高频区既不编码又不传输，可达压缩目的。缺点为高频分量被丢弃，图像可视分辨率下降。</a:t>
            </a:r>
            <a:endParaRPr kumimoji="0" lang="en-US" altLang="zh-CN" dirty="0">
              <a:latin typeface="楷体" panose="02010609060101010101" pitchFamily="49" charset="-122"/>
              <a:ea typeface="楷体" panose="02010609060101010101" pitchFamily="49" charset="-122"/>
            </a:endParaRPr>
          </a:p>
        </p:txBody>
      </p:sp>
      <p:sp>
        <p:nvSpPr>
          <p:cNvPr id="9" name="Text Box 2"/>
          <p:cNvSpPr txBox="1">
            <a:spLocks noChangeArrowheads="1"/>
          </p:cNvSpPr>
          <p:nvPr/>
        </p:nvSpPr>
        <p:spPr bwMode="auto">
          <a:xfrm>
            <a:off x="269771" y="953651"/>
            <a:ext cx="48100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
                <a:srgbClr val="0000CC"/>
              </a:buClr>
              <a:buSzPct val="80000"/>
            </a:pPr>
            <a:r>
              <a:rPr lang="zh-CN" altLang="en-US" sz="2400" dirty="0">
                <a:solidFill>
                  <a:srgbClr val="0000CC"/>
                </a:solidFill>
                <a:latin typeface="+mj-ea"/>
                <a:ea typeface="+mj-ea"/>
                <a:cs typeface="Times New Roman" panose="02020603050405020304" pitchFamily="18" charset="0"/>
              </a:rPr>
              <a:t>实现编码的主要问题</a:t>
            </a:r>
            <a:endParaRPr kumimoji="1" lang="zh-CN" altLang="en-US" sz="2400" dirty="0">
              <a:solidFill>
                <a:srgbClr val="0000CC"/>
              </a:solidFill>
              <a:latin typeface="+mj-ea"/>
              <a:ea typeface="+mj-ea"/>
              <a:cs typeface="Times New Roman" panose="02020603050405020304" pitchFamily="18" charset="0"/>
            </a:endParaRPr>
          </a:p>
        </p:txBody>
      </p:sp>
      <p:sp>
        <p:nvSpPr>
          <p:cNvPr id="6" name="矩形 5"/>
          <p:cNvSpPr/>
          <p:nvPr/>
        </p:nvSpPr>
        <p:spPr>
          <a:xfrm>
            <a:off x="596243" y="1402331"/>
            <a:ext cx="1768433" cy="461665"/>
          </a:xfrm>
          <a:prstGeom prst="rect">
            <a:avLst/>
          </a:prstGeom>
        </p:spPr>
        <p:txBody>
          <a:bodyPr wrap="none">
            <a:spAutoFit/>
          </a:bodyPr>
          <a:lstStyle/>
          <a:p>
            <a:pPr marL="342900" indent="-342900">
              <a:spcBef>
                <a:spcPts val="300"/>
              </a:spcBef>
              <a:spcAft>
                <a:spcPts val="300"/>
              </a:spcAft>
              <a:buClr>
                <a:srgbClr val="7030A0"/>
              </a:buClr>
              <a:buSzPct val="75000"/>
              <a:buFont typeface="Wingdings" panose="05000000000000000000" pitchFamily="2" charset="2"/>
              <a:buChar char="n"/>
            </a:pPr>
            <a:r>
              <a:rPr lang="zh-CN" altLang="en-US" dirty="0">
                <a:solidFill>
                  <a:srgbClr val="C00000"/>
                </a:solidFill>
                <a:ea typeface="楷体" panose="02010609060101010101" pitchFamily="49" charset="-122"/>
                <a:cs typeface="Times New Roman" panose="02020603050405020304" pitchFamily="18" charset="0"/>
              </a:rPr>
              <a:t>比特分配</a:t>
            </a:r>
            <a:endParaRPr lang="en-US" altLang="zh-CN" dirty="0">
              <a:solidFill>
                <a:srgbClr val="C00000"/>
              </a:solidFill>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1576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7</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变换编码</a:t>
            </a:r>
          </a:p>
        </p:txBody>
      </p:sp>
      <p:sp>
        <p:nvSpPr>
          <p:cNvPr id="4"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图像的有损压缩编码</a:t>
            </a:r>
          </a:p>
        </p:txBody>
      </p:sp>
      <p:sp>
        <p:nvSpPr>
          <p:cNvPr id="7" name="文本框 6"/>
          <p:cNvSpPr txBox="1"/>
          <p:nvPr/>
        </p:nvSpPr>
        <p:spPr>
          <a:xfrm>
            <a:off x="812267" y="2436403"/>
            <a:ext cx="5998108" cy="1938992"/>
          </a:xfrm>
          <a:prstGeom prst="rect">
            <a:avLst/>
          </a:prstGeom>
          <a:noFill/>
        </p:spPr>
        <p:txBody>
          <a:bodyPr wrap="square" rtlCol="0">
            <a:spAutoFit/>
          </a:bodyPr>
          <a:lstStyle/>
          <a:p>
            <a:pPr indent="457200"/>
            <a:r>
              <a:rPr lang="zh-CN" altLang="en-US" dirty="0">
                <a:latin typeface="楷体" panose="02010609060101010101" pitchFamily="49" charset="-122"/>
                <a:ea typeface="楷体" panose="02010609060101010101" pitchFamily="49" charset="-122"/>
                <a:sym typeface="Symbol" pitchFamily="18" charset="2"/>
              </a:rPr>
              <a:t>设定一门限值，只</a:t>
            </a:r>
            <a:r>
              <a:rPr lang="zh-CN" altLang="en-US" u="sng" dirty="0">
                <a:latin typeface="楷体" panose="02010609060101010101" pitchFamily="49" charset="-122"/>
                <a:ea typeface="楷体" panose="02010609060101010101" pitchFamily="49" charset="-122"/>
                <a:sym typeface="Symbol" pitchFamily="18" charset="2"/>
              </a:rPr>
              <a:t>对变换系数幅值大于此阈值的编码</a:t>
            </a:r>
            <a:r>
              <a:rPr lang="zh-CN" altLang="en-US" dirty="0">
                <a:latin typeface="楷体" panose="02010609060101010101" pitchFamily="49" charset="-122"/>
                <a:ea typeface="楷体" panose="02010609060101010101" pitchFamily="49" charset="-122"/>
                <a:sym typeface="Symbol" pitchFamily="18" charset="2"/>
              </a:rPr>
              <a:t>，这样使低频成分不仅保留，而且某些高频成分也被选择编码。重建图像时，品质得到改善。</a:t>
            </a:r>
          </a:p>
          <a:p>
            <a:pPr indent="457200"/>
            <a:endParaRPr lang="zh-CN" altLang="en-US" dirty="0">
              <a:latin typeface="楷体" panose="02010609060101010101" pitchFamily="49" charset="-122"/>
              <a:ea typeface="楷体" panose="02010609060101010101" pitchFamily="49" charset="-122"/>
            </a:endParaRPr>
          </a:p>
        </p:txBody>
      </p:sp>
      <p:sp>
        <p:nvSpPr>
          <p:cNvPr id="9" name="文本框 8"/>
          <p:cNvSpPr txBox="1"/>
          <p:nvPr/>
        </p:nvSpPr>
        <p:spPr>
          <a:xfrm>
            <a:off x="685867" y="1851011"/>
            <a:ext cx="6483283" cy="461665"/>
          </a:xfrm>
          <a:prstGeom prst="rect">
            <a:avLst/>
          </a:prstGeom>
          <a:noFill/>
        </p:spPr>
        <p:txBody>
          <a:bodyPr wrap="square" rtlCol="0">
            <a:spAutoFit/>
          </a:bodyPr>
          <a:lstStyle/>
          <a:p>
            <a:pPr marL="342900" indent="-342900">
              <a:spcBef>
                <a:spcPts val="300"/>
              </a:spcBef>
              <a:spcAft>
                <a:spcPts val="300"/>
              </a:spcAft>
              <a:buClr>
                <a:srgbClr val="7030A0"/>
              </a:buClr>
              <a:buSzPct val="75000"/>
              <a:buFont typeface="Wingdings" panose="05000000000000000000" pitchFamily="2" charset="2"/>
              <a:buChar char="p"/>
            </a:pPr>
            <a:r>
              <a:rPr lang="zh-CN" altLang="en-US" dirty="0">
                <a:ea typeface="楷体" panose="02010609060101010101" pitchFamily="49" charset="-122"/>
                <a:cs typeface="Times New Roman" panose="02020603050405020304" pitchFamily="18" charset="0"/>
              </a:rPr>
              <a:t>阈值编码</a:t>
            </a:r>
          </a:p>
        </p:txBody>
      </p:sp>
      <p:sp>
        <p:nvSpPr>
          <p:cNvPr id="10" name="Text Box 2"/>
          <p:cNvSpPr txBox="1">
            <a:spLocks noChangeArrowheads="1"/>
          </p:cNvSpPr>
          <p:nvPr/>
        </p:nvSpPr>
        <p:spPr bwMode="auto">
          <a:xfrm>
            <a:off x="269771" y="953651"/>
            <a:ext cx="48100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tx2"/>
              </a:buClr>
              <a:buSzPct val="9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
                <a:srgbClr val="0000CC"/>
              </a:buClr>
              <a:buSzPct val="80000"/>
            </a:pPr>
            <a:r>
              <a:rPr lang="zh-CN" altLang="en-US" sz="2400" dirty="0">
                <a:solidFill>
                  <a:srgbClr val="0000CC"/>
                </a:solidFill>
                <a:latin typeface="+mj-ea"/>
                <a:ea typeface="+mj-ea"/>
                <a:cs typeface="Times New Roman" panose="02020603050405020304" pitchFamily="18" charset="0"/>
              </a:rPr>
              <a:t>实现编码的主要问题</a:t>
            </a:r>
            <a:endParaRPr kumimoji="1" lang="zh-CN" altLang="en-US" sz="2400" dirty="0">
              <a:solidFill>
                <a:srgbClr val="0000CC"/>
              </a:solidFill>
              <a:latin typeface="+mj-ea"/>
              <a:ea typeface="+mj-ea"/>
              <a:cs typeface="Times New Roman" panose="02020603050405020304" pitchFamily="18" charset="0"/>
            </a:endParaRPr>
          </a:p>
        </p:txBody>
      </p:sp>
      <p:sp>
        <p:nvSpPr>
          <p:cNvPr id="11" name="矩形 10"/>
          <p:cNvSpPr/>
          <p:nvPr/>
        </p:nvSpPr>
        <p:spPr>
          <a:xfrm>
            <a:off x="596243" y="1402331"/>
            <a:ext cx="1768433" cy="461665"/>
          </a:xfrm>
          <a:prstGeom prst="rect">
            <a:avLst/>
          </a:prstGeom>
        </p:spPr>
        <p:txBody>
          <a:bodyPr wrap="none">
            <a:spAutoFit/>
          </a:bodyPr>
          <a:lstStyle/>
          <a:p>
            <a:pPr marL="342900" indent="-342900">
              <a:spcBef>
                <a:spcPts val="300"/>
              </a:spcBef>
              <a:spcAft>
                <a:spcPts val="300"/>
              </a:spcAft>
              <a:buClr>
                <a:srgbClr val="7030A0"/>
              </a:buClr>
              <a:buSzPct val="75000"/>
              <a:buFont typeface="Wingdings" panose="05000000000000000000" pitchFamily="2" charset="2"/>
              <a:buChar char="n"/>
            </a:pPr>
            <a:r>
              <a:rPr lang="zh-CN" altLang="en-US" dirty="0">
                <a:solidFill>
                  <a:srgbClr val="C00000"/>
                </a:solidFill>
                <a:ea typeface="楷体" panose="02010609060101010101" pitchFamily="49" charset="-122"/>
                <a:cs typeface="Times New Roman" panose="02020603050405020304" pitchFamily="18" charset="0"/>
              </a:rPr>
              <a:t>比特分配</a:t>
            </a:r>
            <a:endParaRPr lang="en-US" altLang="zh-CN" dirty="0">
              <a:solidFill>
                <a:srgbClr val="C00000"/>
              </a:solidFill>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778052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8</a:t>
            </a:fld>
            <a:endParaRPr lang="en-US" altLang="zh-CN"/>
          </a:p>
        </p:txBody>
      </p:sp>
      <p:sp>
        <p:nvSpPr>
          <p:cNvPr id="3" name="Text Box 4"/>
          <p:cNvSpPr txBox="1">
            <a:spLocks noChangeArrowheads="1"/>
          </p:cNvSpPr>
          <p:nvPr/>
        </p:nvSpPr>
        <p:spPr bwMode="auto">
          <a:xfrm>
            <a:off x="504825" y="1231900"/>
            <a:ext cx="5935663" cy="1047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9" tIns="35844" rIns="71689" bIns="35844">
            <a:spAutoFit/>
          </a:bodyPr>
          <a:lstStyle>
            <a:lvl1pPr>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marL="342900" indent="-342900">
              <a:lnSpc>
                <a:spcPct val="120000"/>
              </a:lnSpc>
              <a:spcBef>
                <a:spcPct val="40000"/>
              </a:spcBef>
              <a:buClrTx/>
              <a:buSzTx/>
            </a:pPr>
            <a:r>
              <a:rPr lang="en-US" altLang="zh-CN" sz="2400" dirty="0">
                <a:ea typeface="黑体" panose="02010609060101010101" pitchFamily="49" charset="-122"/>
                <a:cs typeface="Times New Roman" panose="02020603050405020304" pitchFamily="18" charset="0"/>
              </a:rPr>
              <a:t>JPEG</a:t>
            </a:r>
            <a:r>
              <a:rPr lang="zh-CN" altLang="en-US" sz="2400" dirty="0">
                <a:ea typeface="黑体" panose="02010609060101010101" pitchFamily="49" charset="-122"/>
                <a:cs typeface="Times New Roman" panose="02020603050405020304" pitchFamily="18" charset="0"/>
              </a:rPr>
              <a:t>基本系统</a:t>
            </a:r>
            <a:endParaRPr lang="en-US" altLang="zh-CN" sz="2400" dirty="0">
              <a:ea typeface="黑体" panose="02010609060101010101" pitchFamily="49" charset="-122"/>
              <a:cs typeface="Times New Roman" panose="02020603050405020304" pitchFamily="18" charset="0"/>
            </a:endParaRPr>
          </a:p>
          <a:p>
            <a:pPr marL="342900" indent="-342900">
              <a:lnSpc>
                <a:spcPct val="120000"/>
              </a:lnSpc>
              <a:spcBef>
                <a:spcPct val="40000"/>
              </a:spcBef>
              <a:buClrTx/>
              <a:buSzTx/>
            </a:pPr>
            <a:r>
              <a:rPr lang="en-US" altLang="zh-CN" sz="2400" dirty="0">
                <a:ea typeface="黑体" panose="02010609060101010101" pitchFamily="49" charset="-122"/>
                <a:cs typeface="Times New Roman" panose="02020603050405020304" pitchFamily="18" charset="0"/>
              </a:rPr>
              <a:t>JPEG2000</a:t>
            </a:r>
          </a:p>
        </p:txBody>
      </p:sp>
      <p:sp>
        <p:nvSpPr>
          <p:cNvPr id="11" name="Rectangle 2"/>
          <p:cNvSpPr txBox="1">
            <a:spLocks noChangeArrowheads="1"/>
          </p:cNvSpPr>
          <p:nvPr/>
        </p:nvSpPr>
        <p:spPr bwMode="auto">
          <a:xfrm>
            <a:off x="344488" y="239713"/>
            <a:ext cx="4932362"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JPEG</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标准和</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JPEG2000</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169791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9</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文本框 4"/>
          <p:cNvSpPr txBox="1"/>
          <p:nvPr/>
        </p:nvSpPr>
        <p:spPr>
          <a:xfrm>
            <a:off x="344487" y="1064454"/>
            <a:ext cx="6465887" cy="461665"/>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en-US" altLang="zh-CN" dirty="0">
                <a:ea typeface="楷体" panose="02010609060101010101" pitchFamily="49" charset="-122"/>
                <a:cs typeface="Times New Roman" panose="02020603050405020304" pitchFamily="18" charset="0"/>
              </a:rPr>
              <a:t>JPEG</a:t>
            </a:r>
            <a:r>
              <a:rPr lang="zh-CN" altLang="zh-CN" dirty="0">
                <a:ea typeface="楷体" panose="02010609060101010101" pitchFamily="49" charset="-122"/>
                <a:cs typeface="Times New Roman" panose="02020603050405020304" pitchFamily="18" charset="0"/>
              </a:rPr>
              <a:t>定义了三种不同的编码系统</a:t>
            </a:r>
            <a:r>
              <a:rPr lang="en-US" altLang="zh-CN" dirty="0">
                <a:ea typeface="楷体" panose="02010609060101010101" pitchFamily="49" charset="-122"/>
                <a:cs typeface="Times New Roman" panose="02020603050405020304" pitchFamily="18" charset="0"/>
              </a:rPr>
              <a:t>:</a:t>
            </a:r>
            <a:endParaRPr lang="zh-CN" altLang="en-US" dirty="0">
              <a:ea typeface="楷体" panose="02010609060101010101" pitchFamily="49" charset="-122"/>
              <a:cs typeface="Times New Roman" panose="02020603050405020304" pitchFamily="18" charset="0"/>
            </a:endParaRPr>
          </a:p>
        </p:txBody>
      </p:sp>
      <p:sp>
        <p:nvSpPr>
          <p:cNvPr id="6" name="Text Box 5"/>
          <p:cNvSpPr txBox="1">
            <a:spLocks noChangeArrowheads="1"/>
          </p:cNvSpPr>
          <p:nvPr/>
        </p:nvSpPr>
        <p:spPr bwMode="auto">
          <a:xfrm>
            <a:off x="519162" y="1600747"/>
            <a:ext cx="6286140" cy="1717393"/>
          </a:xfrm>
          <a:prstGeom prst="rect">
            <a:avLst/>
          </a:prstGeom>
          <a:noFill/>
          <a:ln w="9525" algn="ctr">
            <a:noFill/>
            <a:miter lim="800000"/>
            <a:headEnd/>
            <a:tailEnd/>
          </a:ln>
          <a:effectLst/>
        </p:spPr>
        <p:txBody>
          <a:bodyPr wrap="square">
            <a:spAutoFit/>
          </a:bodyPr>
          <a:lstStyle/>
          <a:p>
            <a:pPr marL="342900" indent="-342900">
              <a:lnSpc>
                <a:spcPct val="90000"/>
              </a:lnSpc>
              <a:spcBef>
                <a:spcPts val="852"/>
              </a:spcBef>
              <a:buClr>
                <a:srgbClr val="7030A0"/>
              </a:buClr>
              <a:buSzPct val="75000"/>
              <a:buFont typeface="Wingdings" panose="05000000000000000000" pitchFamily="2" charset="2"/>
              <a:buChar char="p"/>
              <a:defRPr/>
            </a:pPr>
            <a:r>
              <a:rPr lang="zh-CN" altLang="en-US" b="1" dirty="0">
                <a:ea typeface="楷体" panose="02010609060101010101" pitchFamily="49" charset="-122"/>
                <a:cs typeface="Times New Roman" panose="02020603050405020304" pitchFamily="18" charset="0"/>
              </a:rPr>
              <a:t>基于</a:t>
            </a:r>
            <a:r>
              <a:rPr lang="en-US" altLang="zh-CN" b="1" dirty="0">
                <a:ea typeface="楷体" panose="02010609060101010101" pitchFamily="49" charset="-122"/>
                <a:cs typeface="Times New Roman" panose="02020603050405020304" pitchFamily="18" charset="0"/>
              </a:rPr>
              <a:t>DCT</a:t>
            </a:r>
            <a:r>
              <a:rPr lang="zh-CN" altLang="en-US" b="1" dirty="0">
                <a:ea typeface="楷体" panose="02010609060101010101" pitchFamily="49" charset="-122"/>
                <a:cs typeface="Times New Roman" panose="02020603050405020304" pitchFamily="18" charset="0"/>
              </a:rPr>
              <a:t>的有损编码</a:t>
            </a:r>
            <a:r>
              <a:rPr lang="zh-CN" altLang="en-US" b="1" u="sng" dirty="0">
                <a:ea typeface="楷体" panose="02010609060101010101" pitchFamily="49" charset="-122"/>
                <a:cs typeface="Times New Roman" panose="02020603050405020304" pitchFamily="18" charset="0"/>
              </a:rPr>
              <a:t>基本系统</a:t>
            </a:r>
            <a:endParaRPr lang="zh-CN" altLang="en-US" b="1" dirty="0">
              <a:ea typeface="楷体" panose="02010609060101010101" pitchFamily="49" charset="-122"/>
              <a:cs typeface="Times New Roman" panose="02020603050405020304" pitchFamily="18" charset="0"/>
            </a:endParaRPr>
          </a:p>
          <a:p>
            <a:pPr marL="342900" indent="-342900">
              <a:lnSpc>
                <a:spcPct val="90000"/>
              </a:lnSpc>
              <a:spcBef>
                <a:spcPts val="852"/>
              </a:spcBef>
              <a:buClr>
                <a:srgbClr val="7030A0"/>
              </a:buClr>
              <a:buSzPct val="75000"/>
              <a:buFont typeface="Wingdings" panose="05000000000000000000" pitchFamily="2" charset="2"/>
              <a:buChar char="p"/>
              <a:defRPr/>
            </a:pPr>
            <a:r>
              <a:rPr lang="zh-CN" altLang="en-US" b="1" dirty="0">
                <a:ea typeface="楷体" panose="02010609060101010101" pitchFamily="49" charset="-122"/>
                <a:cs typeface="Times New Roman" panose="02020603050405020304" pitchFamily="18" charset="0"/>
              </a:rPr>
              <a:t>用于高压缩比、高精度或渐进重建应用的</a:t>
            </a:r>
            <a:r>
              <a:rPr lang="zh-CN" altLang="en-US" b="1" u="sng" dirty="0">
                <a:ea typeface="楷体" panose="02010609060101010101" pitchFamily="49" charset="-122"/>
                <a:cs typeface="Times New Roman" panose="02020603050405020304" pitchFamily="18" charset="0"/>
              </a:rPr>
              <a:t>扩 展编码系统</a:t>
            </a:r>
          </a:p>
          <a:p>
            <a:pPr marL="342900" indent="-342900">
              <a:lnSpc>
                <a:spcPct val="90000"/>
              </a:lnSpc>
              <a:spcBef>
                <a:spcPts val="852"/>
              </a:spcBef>
              <a:buClr>
                <a:srgbClr val="7030A0"/>
              </a:buClr>
              <a:buSzPct val="75000"/>
              <a:buFont typeface="Wingdings" panose="05000000000000000000" pitchFamily="2" charset="2"/>
              <a:buChar char="p"/>
              <a:defRPr/>
            </a:pPr>
            <a:r>
              <a:rPr lang="zh-CN" altLang="en-US" b="1" dirty="0">
                <a:ea typeface="楷体" panose="02010609060101010101" pitchFamily="49" charset="-122"/>
                <a:cs typeface="Times New Roman" panose="02020603050405020304" pitchFamily="18" charset="0"/>
              </a:rPr>
              <a:t>用于无失真应用场合的</a:t>
            </a:r>
            <a:r>
              <a:rPr lang="zh-CN" altLang="en-US" b="1" u="sng" dirty="0">
                <a:ea typeface="楷体" panose="02010609060101010101" pitchFamily="49" charset="-122"/>
                <a:cs typeface="Times New Roman" panose="02020603050405020304" pitchFamily="18" charset="0"/>
              </a:rPr>
              <a:t>独立无损编码系统</a:t>
            </a:r>
          </a:p>
        </p:txBody>
      </p:sp>
      <p:sp>
        <p:nvSpPr>
          <p:cNvPr id="7" name="文本框 6"/>
          <p:cNvSpPr txBox="1"/>
          <p:nvPr/>
        </p:nvSpPr>
        <p:spPr>
          <a:xfrm>
            <a:off x="463084" y="3305556"/>
            <a:ext cx="6228692" cy="461665"/>
          </a:xfrm>
          <a:prstGeom prst="rect">
            <a:avLst/>
          </a:prstGeom>
          <a:noFill/>
        </p:spPr>
        <p:txBody>
          <a:bodyPr wrap="square" rtlCol="0">
            <a:spAutoFit/>
          </a:bodyPr>
          <a:lstStyle/>
          <a:p>
            <a:r>
              <a:rPr lang="zh-CN" altLang="zh-CN" dirty="0">
                <a:solidFill>
                  <a:srgbClr val="C00000"/>
                </a:solidFill>
                <a:ea typeface="楷体" panose="02010609060101010101" pitchFamily="49" charset="-122"/>
                <a:cs typeface="Times New Roman" panose="02020603050405020304" pitchFamily="18" charset="0"/>
              </a:rPr>
              <a:t>所有符合</a:t>
            </a:r>
            <a:r>
              <a:rPr lang="en-US" altLang="zh-CN" dirty="0">
                <a:solidFill>
                  <a:srgbClr val="C00000"/>
                </a:solidFill>
                <a:ea typeface="楷体" panose="02010609060101010101" pitchFamily="49" charset="-122"/>
                <a:cs typeface="Times New Roman" panose="02020603050405020304" pitchFamily="18" charset="0"/>
              </a:rPr>
              <a:t>JPEG</a:t>
            </a:r>
            <a:r>
              <a:rPr lang="zh-CN" altLang="zh-CN" dirty="0">
                <a:solidFill>
                  <a:srgbClr val="C00000"/>
                </a:solidFill>
                <a:ea typeface="楷体" panose="02010609060101010101" pitchFamily="49" charset="-122"/>
                <a:cs typeface="Times New Roman" panose="02020603050405020304" pitchFamily="18" charset="0"/>
              </a:rPr>
              <a:t>标准编解码器都支持基本系统</a:t>
            </a:r>
            <a:endParaRPr lang="zh-CN" altLang="en-US" dirty="0">
              <a:solidFill>
                <a:srgbClr val="C00000"/>
              </a:solidFill>
              <a:ea typeface="楷体" panose="02010609060101010101" pitchFamily="49" charset="-122"/>
              <a:cs typeface="Times New Roman" panose="02020603050405020304" pitchFamily="18" charset="0"/>
            </a:endParaRPr>
          </a:p>
        </p:txBody>
      </p:sp>
      <p:sp>
        <p:nvSpPr>
          <p:cNvPr id="8" name="文本框 7"/>
          <p:cNvSpPr txBox="1"/>
          <p:nvPr/>
        </p:nvSpPr>
        <p:spPr>
          <a:xfrm>
            <a:off x="344487" y="3767221"/>
            <a:ext cx="6347289" cy="1200329"/>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en-US" altLang="zh-CN" dirty="0">
                <a:solidFill>
                  <a:srgbClr val="0000CC"/>
                </a:solidFill>
                <a:ea typeface="楷体" panose="02010609060101010101" pitchFamily="49" charset="-122"/>
                <a:cs typeface="Times New Roman" panose="02020603050405020304" pitchFamily="18" charset="0"/>
              </a:rPr>
              <a:t>JPEG</a:t>
            </a:r>
            <a:r>
              <a:rPr lang="zh-CN" altLang="zh-CN" dirty="0">
                <a:solidFill>
                  <a:srgbClr val="0000CC"/>
                </a:solidFill>
                <a:ea typeface="楷体" panose="02010609060101010101" pitchFamily="49" charset="-122"/>
                <a:cs typeface="Times New Roman" panose="02020603050405020304" pitchFamily="18" charset="0"/>
              </a:rPr>
              <a:t>基本系统</a:t>
            </a:r>
            <a:r>
              <a:rPr lang="zh-CN" altLang="zh-CN" dirty="0">
                <a:ea typeface="楷体" panose="02010609060101010101" pitchFamily="49" charset="-122"/>
                <a:cs typeface="Times New Roman" panose="02020603050405020304" pitchFamily="18" charset="0"/>
              </a:rPr>
              <a:t>提供顺序建立方式的高效有失真编码，输入图像的精度为</a:t>
            </a:r>
            <a:r>
              <a:rPr lang="en-US" altLang="zh-CN" dirty="0">
                <a:ea typeface="楷体" panose="02010609060101010101" pitchFamily="49" charset="-122"/>
                <a:cs typeface="Times New Roman" panose="02020603050405020304" pitchFamily="18" charset="0"/>
              </a:rPr>
              <a:t>8bit/</a:t>
            </a:r>
            <a:r>
              <a:rPr lang="zh-CN" altLang="zh-CN" dirty="0">
                <a:ea typeface="楷体" panose="02010609060101010101" pitchFamily="49" charset="-122"/>
                <a:cs typeface="Times New Roman" panose="02020603050405020304" pitchFamily="18" charset="0"/>
              </a:rPr>
              <a:t>像素，而量化的</a:t>
            </a:r>
            <a:r>
              <a:rPr lang="en-US" altLang="zh-CN" dirty="0">
                <a:ea typeface="楷体" panose="02010609060101010101" pitchFamily="49" charset="-122"/>
                <a:cs typeface="Times New Roman" panose="02020603050405020304" pitchFamily="18" charset="0"/>
              </a:rPr>
              <a:t>DCT</a:t>
            </a:r>
            <a:r>
              <a:rPr lang="zh-CN" altLang="zh-CN" dirty="0">
                <a:ea typeface="楷体" panose="02010609060101010101" pitchFamily="49" charset="-122"/>
                <a:cs typeface="Times New Roman" panose="02020603050405020304" pitchFamily="18" charset="0"/>
              </a:rPr>
              <a:t>值限制为</a:t>
            </a:r>
            <a:r>
              <a:rPr lang="en-US" altLang="zh-CN" dirty="0">
                <a:ea typeface="楷体" panose="02010609060101010101" pitchFamily="49" charset="-122"/>
                <a:cs typeface="Times New Roman" panose="02020603050405020304" pitchFamily="18" charset="0"/>
              </a:rPr>
              <a:t>11</a:t>
            </a:r>
            <a:r>
              <a:rPr lang="zh-CN" altLang="zh-CN" dirty="0">
                <a:ea typeface="楷体" panose="02010609060101010101" pitchFamily="49" charset="-122"/>
                <a:cs typeface="Times New Roman" panose="02020603050405020304" pitchFamily="18" charset="0"/>
              </a:rPr>
              <a:t>比特。</a:t>
            </a:r>
            <a:endParaRPr lang="zh-CN" altLang="en-US" dirty="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42621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2F8EB-46EE-0FD8-77BF-C3310614A98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04270ED-650A-2048-CB31-AE54706A2EAE}"/>
              </a:ext>
            </a:extLst>
          </p:cNvPr>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10</a:t>
            </a:fld>
            <a:endParaRPr lang="en-US" altLang="zh-CN"/>
          </a:p>
        </p:txBody>
      </p:sp>
      <p:sp>
        <p:nvSpPr>
          <p:cNvPr id="3" name="Rectangle 2">
            <a:extLst>
              <a:ext uri="{FF2B5EF4-FFF2-40B4-BE49-F238E27FC236}">
                <a16:creationId xmlns:a16="http://schemas.microsoft.com/office/drawing/2014/main" id="{EE7CECF8-10BD-BFE1-E843-141C1874AD9B}"/>
              </a:ext>
            </a:extLst>
          </p:cNvPr>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文本框 4">
            <a:extLst>
              <a:ext uri="{FF2B5EF4-FFF2-40B4-BE49-F238E27FC236}">
                <a16:creationId xmlns:a16="http://schemas.microsoft.com/office/drawing/2014/main" id="{E750C67D-9C7A-7C91-C45F-7D243293E13C}"/>
              </a:ext>
            </a:extLst>
          </p:cNvPr>
          <p:cNvSpPr txBox="1"/>
          <p:nvPr/>
        </p:nvSpPr>
        <p:spPr>
          <a:xfrm>
            <a:off x="344487" y="1064454"/>
            <a:ext cx="6465887" cy="461665"/>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en-US" altLang="zh-CN" dirty="0">
                <a:ea typeface="楷体" panose="02010609060101010101" pitchFamily="49" charset="-122"/>
                <a:cs typeface="Times New Roman" panose="02020603050405020304" pitchFamily="18" charset="0"/>
              </a:rPr>
              <a:t>JPEG:</a:t>
            </a:r>
            <a:endParaRPr lang="zh-CN" altLang="en-US" dirty="0">
              <a:ea typeface="楷体" panose="02010609060101010101" pitchFamily="49" charset="-122"/>
              <a:cs typeface="Times New Roman" panose="02020603050405020304" pitchFamily="18" charset="0"/>
            </a:endParaRPr>
          </a:p>
        </p:txBody>
      </p:sp>
      <p:sp>
        <p:nvSpPr>
          <p:cNvPr id="9" name="Text Box 5">
            <a:extLst>
              <a:ext uri="{FF2B5EF4-FFF2-40B4-BE49-F238E27FC236}">
                <a16:creationId xmlns:a16="http://schemas.microsoft.com/office/drawing/2014/main" id="{2719F7D5-7634-20D1-EDC0-5A8F46E48C65}"/>
              </a:ext>
            </a:extLst>
          </p:cNvPr>
          <p:cNvSpPr txBox="1">
            <a:spLocks noChangeArrowheads="1"/>
          </p:cNvSpPr>
          <p:nvPr/>
        </p:nvSpPr>
        <p:spPr bwMode="auto">
          <a:xfrm>
            <a:off x="361726" y="1720350"/>
            <a:ext cx="6608911" cy="2693045"/>
          </a:xfrm>
          <a:prstGeom prst="rect">
            <a:avLst/>
          </a:prstGeom>
          <a:noFill/>
          <a:ln w="9525" algn="ctr">
            <a:noFill/>
            <a:miter lim="800000"/>
            <a:headEnd/>
            <a:tailEnd/>
          </a:ln>
          <a:effectLst/>
        </p:spPr>
        <p:txBody>
          <a:bodyPr wrap="square">
            <a:spAutoFit/>
          </a:bodyPr>
          <a:lstStyle/>
          <a:p>
            <a:pPr>
              <a:spcBef>
                <a:spcPts val="852"/>
              </a:spcBef>
              <a:buClr>
                <a:srgbClr val="7030A0"/>
              </a:buClr>
              <a:buSzPct val="75000"/>
              <a:defRPr/>
            </a:pPr>
            <a:r>
              <a:rPr lang="en-US" altLang="zh-CN" sz="2200" b="0" dirty="0">
                <a:ea typeface="楷体" panose="02010609060101010101" pitchFamily="49" charset="-122"/>
                <a:cs typeface="Times New Roman" panose="02020603050405020304" pitchFamily="18" charset="0"/>
              </a:rPr>
              <a:t>Joint Photographic Experts Group</a:t>
            </a:r>
            <a:r>
              <a:rPr lang="zh-CN" altLang="en-US" sz="2200" b="0" dirty="0">
                <a:ea typeface="楷体" panose="02010609060101010101" pitchFamily="49" charset="-122"/>
                <a:cs typeface="Times New Roman" panose="02020603050405020304" pitchFamily="18" charset="0"/>
              </a:rPr>
              <a:t>，联合图片专家组</a:t>
            </a:r>
            <a:endParaRPr lang="en-US" altLang="zh-CN" sz="2200" b="0" dirty="0">
              <a:ea typeface="楷体" panose="02010609060101010101" pitchFamily="49" charset="-122"/>
              <a:cs typeface="Times New Roman" panose="02020603050405020304" pitchFamily="18" charset="0"/>
            </a:endParaRPr>
          </a:p>
          <a:p>
            <a:pPr>
              <a:spcBef>
                <a:spcPts val="852"/>
              </a:spcBef>
              <a:buClr>
                <a:srgbClr val="7030A0"/>
              </a:buClr>
              <a:buSzPct val="75000"/>
              <a:defRPr/>
            </a:pPr>
            <a:r>
              <a:rPr lang="zh-CN" altLang="en-US" sz="2200" b="0" dirty="0">
                <a:ea typeface="楷体" panose="02010609060101010101" pitchFamily="49" charset="-122"/>
                <a:cs typeface="Times New Roman" panose="02020603050405020304" pitchFamily="18" charset="0"/>
              </a:rPr>
              <a:t>是一种彩色静止图像国际压缩标准，用于彩色图像的存储和网络传送</a:t>
            </a:r>
            <a:endParaRPr lang="en-US" altLang="zh-CN" sz="2200" b="0" dirty="0">
              <a:ea typeface="楷体" panose="02010609060101010101" pitchFamily="49" charset="-122"/>
              <a:cs typeface="Times New Roman" panose="02020603050405020304" pitchFamily="18" charset="0"/>
            </a:endParaRPr>
          </a:p>
          <a:p>
            <a:pPr>
              <a:spcBef>
                <a:spcPts val="852"/>
              </a:spcBef>
              <a:buClr>
                <a:srgbClr val="7030A0"/>
              </a:buClr>
              <a:buSzPct val="75000"/>
              <a:defRPr/>
            </a:pPr>
            <a:r>
              <a:rPr lang="en-US" altLang="zh-CN" sz="2200" b="0" dirty="0">
                <a:ea typeface="楷体" panose="02010609060101010101" pitchFamily="49" charset="-122"/>
                <a:cs typeface="Times New Roman" panose="02020603050405020304" pitchFamily="18" charset="0"/>
              </a:rPr>
              <a:t>JPEG </a:t>
            </a:r>
            <a:r>
              <a:rPr lang="zh-CN" altLang="en-US" sz="2200" b="0" dirty="0">
                <a:ea typeface="楷体" panose="02010609060101010101" pitchFamily="49" charset="-122"/>
                <a:cs typeface="Times New Roman" panose="02020603050405020304" pitchFamily="18" charset="0"/>
              </a:rPr>
              <a:t>采用灵活但较复杂的有损压缩编码方案，常常能以 </a:t>
            </a:r>
            <a:r>
              <a:rPr lang="en-US" altLang="zh-CN" sz="2200" b="0" dirty="0">
                <a:ea typeface="楷体" panose="02010609060101010101" pitchFamily="49" charset="-122"/>
                <a:cs typeface="Times New Roman" panose="02020603050405020304" pitchFamily="18" charset="0"/>
              </a:rPr>
              <a:t>20:1 </a:t>
            </a:r>
            <a:r>
              <a:rPr lang="zh-CN" altLang="en-US" sz="2200" b="0" dirty="0">
                <a:ea typeface="楷体" panose="02010609060101010101" pitchFamily="49" charset="-122"/>
                <a:cs typeface="Times New Roman" panose="02020603050405020304" pitchFamily="18" charset="0"/>
              </a:rPr>
              <a:t>的比例压缩一幅高质量图像而没有明显的失真，压缩的核心技术为 </a:t>
            </a:r>
            <a:r>
              <a:rPr lang="en-US" altLang="zh-CN" sz="2200" b="0" dirty="0">
                <a:ea typeface="楷体" panose="02010609060101010101" pitchFamily="49" charset="-122"/>
                <a:cs typeface="Times New Roman" panose="02020603050405020304" pitchFamily="18" charset="0"/>
              </a:rPr>
              <a:t>DCT</a:t>
            </a:r>
            <a:r>
              <a:rPr lang="zh-CN" altLang="en-US" sz="2200" b="0" dirty="0">
                <a:ea typeface="楷体" panose="02010609060101010101" pitchFamily="49" charset="-122"/>
                <a:cs typeface="Times New Roman" panose="02020603050405020304" pitchFamily="18" charset="0"/>
              </a:rPr>
              <a:t>、量化和 </a:t>
            </a:r>
            <a:r>
              <a:rPr lang="en-US" altLang="zh-CN" sz="2200" b="0" dirty="0">
                <a:ea typeface="楷体" panose="02010609060101010101" pitchFamily="49" charset="-122"/>
                <a:cs typeface="Times New Roman" panose="02020603050405020304" pitchFamily="18" charset="0"/>
              </a:rPr>
              <a:t>Huffman </a:t>
            </a:r>
            <a:r>
              <a:rPr lang="zh-CN" altLang="en-US" sz="2200" b="0" dirty="0">
                <a:ea typeface="楷体" panose="02010609060101010101" pitchFamily="49" charset="-122"/>
                <a:cs typeface="Times New Roman" panose="02020603050405020304" pitchFamily="18" charset="0"/>
              </a:rPr>
              <a:t>编码。经过解压缩后方可显示图像，显示速度较慢</a:t>
            </a:r>
          </a:p>
        </p:txBody>
      </p:sp>
    </p:spTree>
    <p:extLst>
      <p:ext uri="{BB962C8B-B14F-4D97-AF65-F5344CB8AC3E}">
        <p14:creationId xmlns:p14="http://schemas.microsoft.com/office/powerpoint/2010/main" val="785972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228964"/>
            <a:ext cx="1673225" cy="231775"/>
          </a:xfrm>
          <a:prstGeom prst="rect">
            <a:avLst/>
          </a:prstGeom>
        </p:spPr>
        <p:txBody>
          <a:bodyPr/>
          <a:lstStyle/>
          <a:p>
            <a:pPr>
              <a:defRPr/>
            </a:pPr>
            <a:fld id="{BEAAA290-34B3-4F10-B175-BE0FC4B87A97}" type="slidenum">
              <a:rPr lang="en-US" altLang="zh-CN" smtClean="0"/>
              <a:pPr>
                <a:defRPr/>
              </a:pPr>
              <a:t>11</a:t>
            </a:fld>
            <a:endParaRPr lang="en-US" altLang="zh-CN"/>
          </a:p>
        </p:txBody>
      </p:sp>
      <p:sp>
        <p:nvSpPr>
          <p:cNvPr id="4"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6" name="Text Box 3"/>
          <p:cNvSpPr txBox="1">
            <a:spLocks noChangeArrowheads="1"/>
          </p:cNvSpPr>
          <p:nvPr/>
        </p:nvSpPr>
        <p:spPr bwMode="auto">
          <a:xfrm>
            <a:off x="127253" y="886849"/>
            <a:ext cx="2849856"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nSpc>
                <a:spcPct val="115000"/>
              </a:lnSpc>
              <a:buClr>
                <a:srgbClr val="0000CC"/>
              </a:buClr>
              <a:buSzPct val="80000"/>
            </a:pPr>
            <a:r>
              <a:rPr lang="zh-CN" altLang="en-US" sz="2400" b="1" dirty="0">
                <a:solidFill>
                  <a:srgbClr val="0000CC"/>
                </a:solidFill>
                <a:latin typeface="宋体" panose="02010600030101010101" pitchFamily="2" charset="-122"/>
                <a:ea typeface="宋体" panose="02010600030101010101" pitchFamily="2" charset="-122"/>
              </a:rPr>
              <a:t>（</a:t>
            </a:r>
            <a:r>
              <a:rPr lang="en-US" altLang="zh-CN" sz="2400" b="1" dirty="0">
                <a:solidFill>
                  <a:srgbClr val="0000CC"/>
                </a:solidFill>
                <a:latin typeface="宋体" panose="02010600030101010101" pitchFamily="2" charset="-122"/>
                <a:ea typeface="宋体" panose="02010600030101010101" pitchFamily="2" charset="-122"/>
              </a:rPr>
              <a:t>1</a:t>
            </a:r>
            <a:r>
              <a:rPr lang="zh-CN" altLang="en-US" sz="2400" b="1" dirty="0">
                <a:solidFill>
                  <a:srgbClr val="0000CC"/>
                </a:solidFill>
                <a:latin typeface="宋体" panose="02010600030101010101" pitchFamily="2" charset="-122"/>
                <a:ea typeface="宋体" panose="02010600030101010101" pitchFamily="2" charset="-122"/>
              </a:rPr>
              <a:t>）</a:t>
            </a:r>
            <a:r>
              <a:rPr lang="en-US" altLang="zh-CN" sz="2400" b="1" dirty="0">
                <a:solidFill>
                  <a:srgbClr val="0000CC"/>
                </a:solidFill>
                <a:latin typeface="宋体" panose="02010600030101010101" pitchFamily="2" charset="-122"/>
                <a:ea typeface="宋体" panose="02010600030101010101" pitchFamily="2" charset="-122"/>
              </a:rPr>
              <a:t>JPEG</a:t>
            </a:r>
            <a:r>
              <a:rPr lang="zh-CN" altLang="en-US" sz="2400" b="1" dirty="0">
                <a:solidFill>
                  <a:srgbClr val="0000CC"/>
                </a:solidFill>
                <a:latin typeface="宋体" panose="02010600030101010101" pitchFamily="2" charset="-122"/>
                <a:ea typeface="宋体" panose="02010600030101010101" pitchFamily="2" charset="-122"/>
              </a:rPr>
              <a:t>编码流程</a:t>
            </a:r>
          </a:p>
        </p:txBody>
      </p:sp>
      <p:graphicFrame>
        <p:nvGraphicFramePr>
          <p:cNvPr id="7" name="Group 4"/>
          <p:cNvGraphicFramePr>
            <a:graphicFrameLocks noGrp="1"/>
          </p:cNvGraphicFramePr>
          <p:nvPr>
            <p:extLst>
              <p:ext uri="{D42A27DB-BD31-4B8C-83A1-F6EECF244321}">
                <p14:modId xmlns:p14="http://schemas.microsoft.com/office/powerpoint/2010/main" val="501753828"/>
              </p:ext>
            </p:extLst>
          </p:nvPr>
        </p:nvGraphicFramePr>
        <p:xfrm>
          <a:off x="279080" y="3033904"/>
          <a:ext cx="1666240" cy="1767712"/>
        </p:xfrm>
        <a:graphic>
          <a:graphicData uri="http://schemas.openxmlformats.org/drawingml/2006/table">
            <a:tbl>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tblGrid>
              <a:tr h="198979">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28575" cap="flat" cmpd="sng" algn="ctr">
                      <a:solidFill>
                        <a:srgbClr val="008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8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000" b="0" i="0" u="none" strike="noStrike" cap="none" normalizeH="0" baseline="0" dirty="0">
                          <a:ln>
                            <a:noFill/>
                          </a:ln>
                          <a:solidFill>
                            <a:srgbClr val="FF0000"/>
                          </a:solidFill>
                          <a:effectLst/>
                          <a:latin typeface="Times New Roman" pitchFamily="18" charset="0"/>
                          <a:ea typeface="宋体" pitchFamily="2" charset="-122"/>
                          <a:sym typeface="Symbol" pitchFamily="18" charset="2"/>
                        </a:rPr>
                        <a:t></a:t>
                      </a:r>
                      <a:endParaRPr kumimoji="0" lang="en-US" altLang="zh-CN" sz="1000" b="0" i="0" u="none" strike="noStrike" cap="none" normalizeH="0" baseline="0" dirty="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8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8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8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8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8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8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rgbClr val="008000"/>
                      </a:solidFill>
                      <a:prstDash val="solid"/>
                      <a:round/>
                      <a:headEnd type="none" w="med" len="med"/>
                      <a:tailEnd type="none" w="med" len="med"/>
                    </a:lnR>
                    <a:lnT w="28575" cap="flat" cmpd="sng" algn="ctr">
                      <a:solidFill>
                        <a:srgbClr val="008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410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28575" cap="flat" cmpd="sng" algn="ctr">
                      <a:solidFill>
                        <a:srgbClr val="008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rgbClr val="008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410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28575" cap="flat" cmpd="sng" algn="ctr">
                      <a:solidFill>
                        <a:srgbClr val="008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rgbClr val="008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7410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28575" cap="flat" cmpd="sng" algn="ctr">
                      <a:solidFill>
                        <a:srgbClr val="008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rgbClr val="008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7410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28575" cap="flat" cmpd="sng" algn="ctr">
                      <a:solidFill>
                        <a:srgbClr val="008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rgbClr val="008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7410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28575" cap="flat" cmpd="sng" algn="ctr">
                      <a:solidFill>
                        <a:srgbClr val="008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dirty="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rgbClr val="008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7410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28575" cap="flat" cmpd="sng" algn="ctr">
                      <a:solidFill>
                        <a:srgbClr val="008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rgbClr val="008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98979">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28575" cap="flat" cmpd="sng" algn="ctr">
                      <a:solidFill>
                        <a:srgbClr val="008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8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8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8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000" b="0" i="0" u="none" strike="noStrike" cap="none" normalizeH="0" baseline="0">
                        <a:ln>
                          <a:noFill/>
                        </a:ln>
                        <a:solidFill>
                          <a:srgbClr val="FF0000"/>
                        </a:solidFill>
                        <a:effectLst/>
                        <a:latin typeface="Times New Roman" pitchFamily="18" charset="0"/>
                        <a:ea typeface="宋体" pitchFamily="2" charset="-122"/>
                        <a:sym typeface="Symbol" pitchFamily="18" charset="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8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8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8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8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800" b="0" i="0" u="none" strike="noStrike" cap="none" normalizeH="0" baseline="0" dirty="0">
                        <a:ln>
                          <a:noFill/>
                        </a:ln>
                        <a:solidFill>
                          <a:schemeClr val="tx1"/>
                        </a:solidFill>
                        <a:effectLst/>
                        <a:latin typeface="Times New Roman" pitchFamily="18"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rgbClr val="008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8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 name="Text Box 87"/>
          <p:cNvSpPr txBox="1">
            <a:spLocks noChangeArrowheads="1"/>
          </p:cNvSpPr>
          <p:nvPr/>
        </p:nvSpPr>
        <p:spPr bwMode="auto">
          <a:xfrm>
            <a:off x="2200415" y="3487077"/>
            <a:ext cx="824929" cy="430887"/>
          </a:xfrm>
          <a:prstGeom prst="rect">
            <a:avLst/>
          </a:prstGeom>
          <a:solidFill>
            <a:srgbClr val="CCECFF"/>
          </a:solidFill>
          <a:ln w="38100" algn="ctr">
            <a:solidFill>
              <a:srgbClr val="008000"/>
            </a:solidFill>
            <a:miter lim="800000"/>
            <a:headEnd/>
            <a:tailEnd/>
          </a:ln>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
                <a:srgbClr val="FF0000"/>
              </a:buClr>
              <a:buSzTx/>
              <a:buFont typeface="Wingdings" panose="05000000000000000000" pitchFamily="2" charset="2"/>
              <a:buNone/>
            </a:pPr>
            <a:r>
              <a:rPr lang="en-US" altLang="zh-CN" sz="2200" b="1" dirty="0">
                <a:solidFill>
                  <a:schemeClr val="tx1"/>
                </a:solidFill>
                <a:latin typeface="Times New Roman" panose="02020603050405020304" pitchFamily="18" charset="0"/>
                <a:ea typeface="宋体" panose="02010600030101010101" pitchFamily="2" charset="-122"/>
              </a:rPr>
              <a:t>DCT</a:t>
            </a:r>
          </a:p>
        </p:txBody>
      </p:sp>
      <p:sp>
        <p:nvSpPr>
          <p:cNvPr id="9" name="Text Box 88"/>
          <p:cNvSpPr txBox="1">
            <a:spLocks noChangeArrowheads="1"/>
          </p:cNvSpPr>
          <p:nvPr/>
        </p:nvSpPr>
        <p:spPr bwMode="auto">
          <a:xfrm>
            <a:off x="3450882" y="3477205"/>
            <a:ext cx="841167" cy="430887"/>
          </a:xfrm>
          <a:prstGeom prst="rect">
            <a:avLst/>
          </a:prstGeom>
          <a:solidFill>
            <a:srgbClr val="CCECFF"/>
          </a:solidFill>
          <a:ln w="38100" algn="ctr">
            <a:solidFill>
              <a:srgbClr val="008000"/>
            </a:solidFill>
            <a:miter lim="800000"/>
            <a:headEnd/>
            <a:tailEnd/>
          </a:ln>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
                <a:srgbClr val="FF0000"/>
              </a:buClr>
              <a:buSzTx/>
              <a:buFont typeface="Wingdings" panose="05000000000000000000" pitchFamily="2" charset="2"/>
              <a:buNone/>
            </a:pPr>
            <a:r>
              <a:rPr lang="zh-CN" altLang="en-US" sz="2200" b="1">
                <a:solidFill>
                  <a:schemeClr val="tx1"/>
                </a:solidFill>
                <a:latin typeface="Times New Roman" panose="02020603050405020304" pitchFamily="18" charset="0"/>
                <a:ea typeface="宋体" panose="02010600030101010101" pitchFamily="2" charset="-122"/>
              </a:rPr>
              <a:t>量化</a:t>
            </a:r>
          </a:p>
        </p:txBody>
      </p:sp>
      <p:sp>
        <p:nvSpPr>
          <p:cNvPr id="10" name="Text Box 89"/>
          <p:cNvSpPr txBox="1">
            <a:spLocks noChangeArrowheads="1"/>
          </p:cNvSpPr>
          <p:nvPr/>
        </p:nvSpPr>
        <p:spPr bwMode="auto">
          <a:xfrm>
            <a:off x="4721289" y="3238495"/>
            <a:ext cx="802085" cy="769441"/>
          </a:xfrm>
          <a:prstGeom prst="rect">
            <a:avLst/>
          </a:prstGeom>
          <a:solidFill>
            <a:srgbClr val="CCECFF"/>
          </a:solidFill>
          <a:ln w="38100" algn="ctr">
            <a:solidFill>
              <a:srgbClr val="008000"/>
            </a:solidFill>
            <a:miter lim="800000"/>
            <a:headEnd/>
            <a:tailEnd/>
          </a:ln>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
                <a:srgbClr val="FF0000"/>
              </a:buClr>
              <a:buSzTx/>
              <a:buFont typeface="Wingdings" panose="05000000000000000000" pitchFamily="2" charset="2"/>
              <a:buNone/>
            </a:pPr>
            <a:r>
              <a:rPr lang="zh-CN" altLang="en-US" sz="2200" dirty="0">
                <a:solidFill>
                  <a:schemeClr val="tx1"/>
                </a:solidFill>
                <a:latin typeface="Times New Roman" panose="02020603050405020304" pitchFamily="18" charset="0"/>
                <a:ea typeface="宋体" panose="02010600030101010101" pitchFamily="2" charset="-122"/>
              </a:rPr>
              <a:t>符号</a:t>
            </a:r>
            <a:br>
              <a:rPr lang="en-US" altLang="zh-CN" sz="2200" b="1" dirty="0">
                <a:solidFill>
                  <a:schemeClr val="tx1"/>
                </a:solidFill>
                <a:latin typeface="Times New Roman" panose="02020603050405020304" pitchFamily="18" charset="0"/>
                <a:ea typeface="宋体" panose="02010600030101010101" pitchFamily="2" charset="-122"/>
              </a:rPr>
            </a:br>
            <a:r>
              <a:rPr lang="zh-CN" altLang="en-US" sz="2200" b="1" dirty="0">
                <a:solidFill>
                  <a:schemeClr val="tx1"/>
                </a:solidFill>
                <a:latin typeface="Times New Roman" panose="02020603050405020304" pitchFamily="18" charset="0"/>
                <a:ea typeface="宋体" panose="02010600030101010101" pitchFamily="2" charset="-122"/>
              </a:rPr>
              <a:t>编码</a:t>
            </a:r>
          </a:p>
        </p:txBody>
      </p:sp>
      <p:sp>
        <p:nvSpPr>
          <p:cNvPr id="11" name="Text Box 90"/>
          <p:cNvSpPr txBox="1">
            <a:spLocks noChangeArrowheads="1"/>
          </p:cNvSpPr>
          <p:nvPr/>
        </p:nvSpPr>
        <p:spPr bwMode="auto">
          <a:xfrm>
            <a:off x="5852914" y="3242370"/>
            <a:ext cx="757162" cy="769441"/>
          </a:xfrm>
          <a:prstGeom prst="rect">
            <a:avLst/>
          </a:prstGeom>
          <a:noFill/>
          <a:ln w="38100" algn="ctr">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
                <a:srgbClr val="FF0000"/>
              </a:buClr>
              <a:buSzTx/>
              <a:buFont typeface="Wingdings" panose="05000000000000000000" pitchFamily="2" charset="2"/>
              <a:buNone/>
            </a:pPr>
            <a:r>
              <a:rPr lang="zh-CN" altLang="en-US" sz="2200" b="1" dirty="0">
                <a:solidFill>
                  <a:schemeClr val="tx1"/>
                </a:solidFill>
                <a:latin typeface="Times New Roman" panose="02020603050405020304" pitchFamily="18" charset="0"/>
                <a:ea typeface="宋体" panose="02010600030101010101" pitchFamily="2" charset="-122"/>
              </a:rPr>
              <a:t>压缩数据</a:t>
            </a:r>
          </a:p>
        </p:txBody>
      </p:sp>
      <p:sp>
        <p:nvSpPr>
          <p:cNvPr id="12" name="AutoShape 91"/>
          <p:cNvSpPr>
            <a:spLocks noChangeArrowheads="1"/>
          </p:cNvSpPr>
          <p:nvPr/>
        </p:nvSpPr>
        <p:spPr bwMode="auto">
          <a:xfrm>
            <a:off x="3025344" y="3619489"/>
            <a:ext cx="394901" cy="171115"/>
          </a:xfrm>
          <a:prstGeom prst="rightArrow">
            <a:avLst>
              <a:gd name="adj1" fmla="val 50000"/>
              <a:gd name="adj2" fmla="val 50184"/>
            </a:avLst>
          </a:prstGeom>
          <a:solidFill>
            <a:srgbClr val="FF0000"/>
          </a:solidFill>
          <a:ln w="9525" algn="ctr">
            <a:solidFill>
              <a:srgbClr val="FF0000"/>
            </a:solidFill>
            <a:miter lim="800000"/>
            <a:headEnd/>
            <a:tailEnd/>
          </a:ln>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13" name="AutoShape 92"/>
          <p:cNvSpPr>
            <a:spLocks noChangeArrowheads="1"/>
          </p:cNvSpPr>
          <p:nvPr/>
        </p:nvSpPr>
        <p:spPr bwMode="auto">
          <a:xfrm>
            <a:off x="4297542" y="3608634"/>
            <a:ext cx="388385" cy="187772"/>
          </a:xfrm>
          <a:prstGeom prst="rightArrow">
            <a:avLst>
              <a:gd name="adj1" fmla="val 50000"/>
              <a:gd name="adj2" fmla="val 50184"/>
            </a:avLst>
          </a:prstGeom>
          <a:solidFill>
            <a:srgbClr val="FF0000"/>
          </a:solidFill>
          <a:ln w="9525" algn="ctr">
            <a:solidFill>
              <a:srgbClr val="FF0000"/>
            </a:solidFill>
            <a:miter lim="800000"/>
            <a:headEnd/>
            <a:tailEnd/>
          </a:ln>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14" name="AutoShape 93"/>
          <p:cNvSpPr>
            <a:spLocks noChangeArrowheads="1"/>
          </p:cNvSpPr>
          <p:nvPr/>
        </p:nvSpPr>
        <p:spPr bwMode="auto">
          <a:xfrm>
            <a:off x="5543605" y="3576253"/>
            <a:ext cx="289078" cy="169170"/>
          </a:xfrm>
          <a:prstGeom prst="rightArrow">
            <a:avLst>
              <a:gd name="adj1" fmla="val 50000"/>
              <a:gd name="adj2" fmla="val 41728"/>
            </a:avLst>
          </a:prstGeom>
          <a:solidFill>
            <a:srgbClr val="FF0000"/>
          </a:solidFill>
          <a:ln w="9525" algn="ctr">
            <a:solidFill>
              <a:srgbClr val="FF0000"/>
            </a:solidFill>
            <a:miter lim="800000"/>
            <a:headEnd/>
            <a:tailEnd/>
          </a:ln>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15" name="Text Box 94"/>
          <p:cNvSpPr txBox="1">
            <a:spLocks noChangeArrowheads="1"/>
          </p:cNvSpPr>
          <p:nvPr/>
        </p:nvSpPr>
        <p:spPr bwMode="auto">
          <a:xfrm>
            <a:off x="3356651" y="4394974"/>
            <a:ext cx="1095715" cy="430887"/>
          </a:xfrm>
          <a:prstGeom prst="rect">
            <a:avLst/>
          </a:prstGeom>
          <a:noFill/>
          <a:ln w="28575" algn="ctr">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
                <a:srgbClr val="FF0000"/>
              </a:buClr>
              <a:buSzTx/>
              <a:buFont typeface="Wingdings" panose="05000000000000000000" pitchFamily="2" charset="2"/>
              <a:buNone/>
            </a:pPr>
            <a:r>
              <a:rPr lang="zh-CN" altLang="en-US" sz="2200" b="1" dirty="0">
                <a:solidFill>
                  <a:schemeClr val="tx1"/>
                </a:solidFill>
                <a:latin typeface="Arial" panose="020B0604020202020204" pitchFamily="34" charset="0"/>
                <a:ea typeface="宋体" panose="02010600030101010101" pitchFamily="2" charset="-122"/>
              </a:rPr>
              <a:t>量化表</a:t>
            </a:r>
          </a:p>
        </p:txBody>
      </p:sp>
      <p:sp>
        <p:nvSpPr>
          <p:cNvPr id="16" name="Text Box 95"/>
          <p:cNvSpPr txBox="1">
            <a:spLocks noChangeArrowheads="1"/>
          </p:cNvSpPr>
          <p:nvPr/>
        </p:nvSpPr>
        <p:spPr bwMode="auto">
          <a:xfrm>
            <a:off x="4709280" y="4384815"/>
            <a:ext cx="1033468" cy="430887"/>
          </a:xfrm>
          <a:prstGeom prst="rect">
            <a:avLst/>
          </a:prstGeom>
          <a:noFill/>
          <a:ln w="28575" algn="ctr">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
                <a:srgbClr val="FF0000"/>
              </a:buClr>
              <a:buSzTx/>
              <a:buFont typeface="Wingdings" panose="05000000000000000000" pitchFamily="2" charset="2"/>
              <a:buNone/>
            </a:pPr>
            <a:r>
              <a:rPr lang="zh-CN" altLang="en-US" sz="2200" b="1">
                <a:solidFill>
                  <a:schemeClr val="tx1"/>
                </a:solidFill>
                <a:latin typeface="Arial" panose="020B0604020202020204" pitchFamily="34" charset="0"/>
                <a:ea typeface="宋体" panose="02010600030101010101" pitchFamily="2" charset="-122"/>
              </a:rPr>
              <a:t>编码表</a:t>
            </a:r>
          </a:p>
        </p:txBody>
      </p:sp>
      <p:sp>
        <p:nvSpPr>
          <p:cNvPr id="17" name="Rectangle 96"/>
          <p:cNvSpPr>
            <a:spLocks noChangeArrowheads="1"/>
          </p:cNvSpPr>
          <p:nvPr/>
        </p:nvSpPr>
        <p:spPr bwMode="auto">
          <a:xfrm>
            <a:off x="1065918" y="1448516"/>
            <a:ext cx="654051" cy="557213"/>
          </a:xfrm>
          <a:prstGeom prst="rect">
            <a:avLst/>
          </a:prstGeom>
          <a:noFill/>
          <a:ln w="28575" algn="ctr">
            <a:solidFill>
              <a:srgbClr val="660033"/>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18" name="Rectangle 97"/>
          <p:cNvSpPr>
            <a:spLocks noChangeArrowheads="1"/>
          </p:cNvSpPr>
          <p:nvPr/>
        </p:nvSpPr>
        <p:spPr bwMode="auto">
          <a:xfrm>
            <a:off x="1426281" y="1664416"/>
            <a:ext cx="654050" cy="557213"/>
          </a:xfrm>
          <a:prstGeom prst="rect">
            <a:avLst/>
          </a:prstGeom>
          <a:solidFill>
            <a:schemeClr val="bg1"/>
          </a:solidFill>
          <a:ln w="28575" algn="ctr">
            <a:solidFill>
              <a:srgbClr val="660033"/>
            </a:solidFill>
            <a:miter lim="800000"/>
            <a:headEnd/>
            <a:tailEnd/>
          </a:ln>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19" name="Rectangle 98"/>
          <p:cNvSpPr>
            <a:spLocks noChangeArrowheads="1"/>
          </p:cNvSpPr>
          <p:nvPr/>
        </p:nvSpPr>
        <p:spPr bwMode="auto">
          <a:xfrm>
            <a:off x="1786643" y="1880316"/>
            <a:ext cx="654051" cy="557213"/>
          </a:xfrm>
          <a:prstGeom prst="rect">
            <a:avLst/>
          </a:prstGeom>
          <a:solidFill>
            <a:schemeClr val="bg1"/>
          </a:solidFill>
          <a:ln w="28575" algn="ctr">
            <a:solidFill>
              <a:srgbClr val="660033"/>
            </a:solidFill>
            <a:miter lim="800000"/>
            <a:headEnd/>
            <a:tailEnd/>
          </a:ln>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0" name="Text Box 99"/>
          <p:cNvSpPr txBox="1">
            <a:spLocks noChangeArrowheads="1"/>
          </p:cNvSpPr>
          <p:nvPr/>
        </p:nvSpPr>
        <p:spPr bwMode="auto">
          <a:xfrm>
            <a:off x="1016257" y="2011586"/>
            <a:ext cx="38824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buClr>
                <a:srgbClr val="FF0000"/>
              </a:buClr>
              <a:buSzTx/>
              <a:buFont typeface="Wingdings" panose="05000000000000000000" pitchFamily="2" charset="2"/>
              <a:buNone/>
            </a:pPr>
            <a:r>
              <a:rPr lang="en-US" altLang="zh-CN" sz="2200" b="1" dirty="0">
                <a:solidFill>
                  <a:srgbClr val="FF0000"/>
                </a:solidFill>
                <a:latin typeface="Arial" panose="020B0604020202020204" pitchFamily="34" charset="0"/>
                <a:ea typeface="宋体" panose="02010600030101010101" pitchFamily="2" charset="-122"/>
              </a:rPr>
              <a:t>R</a:t>
            </a:r>
          </a:p>
        </p:txBody>
      </p:sp>
      <p:sp>
        <p:nvSpPr>
          <p:cNvPr id="21" name="Text Box 100"/>
          <p:cNvSpPr txBox="1">
            <a:spLocks noChangeArrowheads="1"/>
          </p:cNvSpPr>
          <p:nvPr/>
        </p:nvSpPr>
        <p:spPr bwMode="auto">
          <a:xfrm>
            <a:off x="1403295" y="2252857"/>
            <a:ext cx="40427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buClr>
                <a:srgbClr val="FF0000"/>
              </a:buClr>
              <a:buSzTx/>
              <a:buFont typeface="Wingdings" panose="05000000000000000000" pitchFamily="2" charset="2"/>
              <a:buNone/>
            </a:pPr>
            <a:r>
              <a:rPr lang="en-US" altLang="zh-CN" sz="2200" b="1" dirty="0">
                <a:solidFill>
                  <a:srgbClr val="008000"/>
                </a:solidFill>
                <a:latin typeface="Arial" panose="020B0604020202020204" pitchFamily="34" charset="0"/>
                <a:ea typeface="宋体" panose="02010600030101010101" pitchFamily="2" charset="-122"/>
              </a:rPr>
              <a:t>G</a:t>
            </a:r>
          </a:p>
        </p:txBody>
      </p:sp>
      <p:sp>
        <p:nvSpPr>
          <p:cNvPr id="22" name="Text Box 101"/>
          <p:cNvSpPr txBox="1">
            <a:spLocks noChangeArrowheads="1"/>
          </p:cNvSpPr>
          <p:nvPr/>
        </p:nvSpPr>
        <p:spPr bwMode="auto">
          <a:xfrm>
            <a:off x="1827046" y="2437985"/>
            <a:ext cx="38824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buClr>
                <a:srgbClr val="FF0000"/>
              </a:buClr>
              <a:buSzTx/>
              <a:buFont typeface="Wingdings" panose="05000000000000000000" pitchFamily="2" charset="2"/>
              <a:buNone/>
            </a:pPr>
            <a:r>
              <a:rPr lang="en-US" altLang="zh-CN" sz="2200" b="1" dirty="0">
                <a:latin typeface="Arial" panose="020B0604020202020204" pitchFamily="34" charset="0"/>
                <a:ea typeface="宋体" panose="02010600030101010101" pitchFamily="2" charset="-122"/>
              </a:rPr>
              <a:t>B</a:t>
            </a:r>
          </a:p>
        </p:txBody>
      </p:sp>
      <p:sp>
        <p:nvSpPr>
          <p:cNvPr id="23" name="Text Box 102"/>
          <p:cNvSpPr txBox="1">
            <a:spLocks noChangeArrowheads="1"/>
          </p:cNvSpPr>
          <p:nvPr/>
        </p:nvSpPr>
        <p:spPr bwMode="auto">
          <a:xfrm>
            <a:off x="3135707" y="1879000"/>
            <a:ext cx="1481322" cy="430887"/>
          </a:xfrm>
          <a:prstGeom prst="rect">
            <a:avLst/>
          </a:prstGeom>
          <a:solidFill>
            <a:srgbClr val="CCECFF"/>
          </a:solidFill>
          <a:ln w="38100" algn="ctr">
            <a:solidFill>
              <a:srgbClr val="008000"/>
            </a:solidFill>
            <a:miter lim="800000"/>
            <a:headEnd/>
            <a:tailEnd/>
          </a:ln>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
                <a:srgbClr val="FF0000"/>
              </a:buClr>
              <a:buSzTx/>
              <a:buFont typeface="Wingdings" panose="05000000000000000000" pitchFamily="2" charset="2"/>
              <a:buNone/>
            </a:pPr>
            <a:r>
              <a:rPr lang="zh-CN" altLang="en-US" sz="2200" b="1" dirty="0">
                <a:solidFill>
                  <a:schemeClr val="tx1"/>
                </a:solidFill>
                <a:latin typeface="Times New Roman" panose="02020603050405020304" pitchFamily="18" charset="0"/>
                <a:ea typeface="宋体" panose="02010600030101010101" pitchFamily="2" charset="-122"/>
              </a:rPr>
              <a:t>颜色转换</a:t>
            </a:r>
          </a:p>
        </p:txBody>
      </p:sp>
      <p:sp>
        <p:nvSpPr>
          <p:cNvPr id="24" name="Text Box 103"/>
          <p:cNvSpPr txBox="1">
            <a:spLocks noChangeArrowheads="1"/>
          </p:cNvSpPr>
          <p:nvPr/>
        </p:nvSpPr>
        <p:spPr bwMode="auto">
          <a:xfrm>
            <a:off x="5111750" y="1676505"/>
            <a:ext cx="1052930" cy="764544"/>
          </a:xfrm>
          <a:prstGeom prst="rect">
            <a:avLst/>
          </a:prstGeom>
          <a:solidFill>
            <a:srgbClr val="CCECFF"/>
          </a:solidFill>
          <a:ln w="38100" algn="ctr">
            <a:solidFill>
              <a:srgbClr val="008000"/>
            </a:solidFill>
            <a:miter lim="800000"/>
            <a:headEnd/>
            <a:tailEnd/>
          </a:ln>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
                <a:srgbClr val="FF0000"/>
              </a:buClr>
              <a:buSzTx/>
              <a:buFont typeface="Wingdings" panose="05000000000000000000" pitchFamily="2" charset="2"/>
              <a:buNone/>
            </a:pPr>
            <a:r>
              <a:rPr lang="zh-CN" altLang="en-US" sz="2200" b="1" dirty="0">
                <a:solidFill>
                  <a:schemeClr val="tx1"/>
                </a:solidFill>
                <a:latin typeface="Times New Roman" panose="02020603050405020304" pitchFamily="18" charset="0"/>
                <a:ea typeface="宋体" panose="02010600030101010101" pitchFamily="2" charset="-122"/>
              </a:rPr>
              <a:t>零偏置转换</a:t>
            </a:r>
          </a:p>
        </p:txBody>
      </p:sp>
      <p:sp>
        <p:nvSpPr>
          <p:cNvPr id="25" name="Text Box 104"/>
          <p:cNvSpPr txBox="1">
            <a:spLocks noChangeArrowheads="1"/>
          </p:cNvSpPr>
          <p:nvPr/>
        </p:nvSpPr>
        <p:spPr bwMode="auto">
          <a:xfrm>
            <a:off x="3328535" y="1347823"/>
            <a:ext cx="10583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buClr>
                <a:srgbClr val="FF0000"/>
              </a:buClr>
              <a:buSzTx/>
              <a:buFont typeface="Wingdings" panose="05000000000000000000" pitchFamily="2" charset="2"/>
              <a:buNone/>
            </a:pPr>
            <a:r>
              <a:rPr lang="en-US" altLang="zh-CN" sz="2400" b="1" dirty="0" err="1">
                <a:latin typeface="Times New Roman" panose="02020603050405020304" pitchFamily="18" charset="0"/>
                <a:ea typeface="宋体" panose="02010600030101010101" pitchFamily="2" charset="-122"/>
              </a:rPr>
              <a:t>YC</a:t>
            </a:r>
            <a:r>
              <a:rPr lang="en-US" altLang="zh-CN" sz="2400" b="1" baseline="-25000" dirty="0" err="1">
                <a:latin typeface="Times New Roman" panose="02020603050405020304" pitchFamily="18" charset="0"/>
                <a:ea typeface="宋体" panose="02010600030101010101" pitchFamily="2" charset="-122"/>
              </a:rPr>
              <a:t>b</a:t>
            </a:r>
            <a:r>
              <a:rPr lang="en-US" altLang="zh-CN" sz="2400" b="1" dirty="0" err="1">
                <a:latin typeface="Times New Roman" panose="02020603050405020304" pitchFamily="18" charset="0"/>
                <a:ea typeface="宋体" panose="02010600030101010101" pitchFamily="2" charset="-122"/>
              </a:rPr>
              <a:t>C</a:t>
            </a:r>
            <a:r>
              <a:rPr lang="en-US" altLang="zh-CN" sz="2400" b="1" baseline="-25000" dirty="0" err="1">
                <a:latin typeface="Times New Roman" panose="02020603050405020304" pitchFamily="18" charset="0"/>
                <a:ea typeface="宋体" panose="02010600030101010101" pitchFamily="2" charset="-122"/>
              </a:rPr>
              <a:t>r</a:t>
            </a:r>
            <a:endParaRPr lang="en-US" altLang="zh-CN" sz="2400" b="1" baseline="-25000" dirty="0">
              <a:latin typeface="Times New Roman" panose="02020603050405020304" pitchFamily="18" charset="0"/>
              <a:ea typeface="宋体" panose="02010600030101010101" pitchFamily="2" charset="-122"/>
            </a:endParaRPr>
          </a:p>
        </p:txBody>
      </p:sp>
      <p:sp>
        <p:nvSpPr>
          <p:cNvPr id="26" name="AutoShape 105"/>
          <p:cNvSpPr>
            <a:spLocks noChangeArrowheads="1"/>
          </p:cNvSpPr>
          <p:nvPr/>
        </p:nvSpPr>
        <p:spPr bwMode="auto">
          <a:xfrm>
            <a:off x="2509212" y="2005729"/>
            <a:ext cx="564752" cy="150790"/>
          </a:xfrm>
          <a:prstGeom prst="rightArrow">
            <a:avLst>
              <a:gd name="adj1" fmla="val 50000"/>
              <a:gd name="adj2" fmla="val 116728"/>
            </a:avLst>
          </a:prstGeom>
          <a:solidFill>
            <a:srgbClr val="FF0000"/>
          </a:solidFill>
          <a:ln w="9525" algn="ctr">
            <a:solidFill>
              <a:srgbClr val="FF0000"/>
            </a:solidFill>
            <a:miter lim="800000"/>
            <a:headEnd/>
            <a:tailEnd/>
          </a:ln>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7" name="AutoShape 106"/>
          <p:cNvSpPr>
            <a:spLocks noChangeArrowheads="1"/>
          </p:cNvSpPr>
          <p:nvPr/>
        </p:nvSpPr>
        <p:spPr bwMode="auto">
          <a:xfrm>
            <a:off x="4617029" y="1982577"/>
            <a:ext cx="463721" cy="152400"/>
          </a:xfrm>
          <a:prstGeom prst="rightArrow">
            <a:avLst>
              <a:gd name="adj1" fmla="val 50000"/>
              <a:gd name="adj2" fmla="val 75000"/>
            </a:avLst>
          </a:prstGeom>
          <a:solidFill>
            <a:srgbClr val="FF0000"/>
          </a:solidFill>
          <a:ln w="9525" algn="ctr">
            <a:solidFill>
              <a:srgbClr val="FF0000"/>
            </a:solidFill>
            <a:miter lim="800000"/>
            <a:headEnd/>
            <a:tailEnd/>
          </a:ln>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8" name="Text Box 107"/>
          <p:cNvSpPr txBox="1">
            <a:spLocks noChangeArrowheads="1"/>
          </p:cNvSpPr>
          <p:nvPr/>
        </p:nvSpPr>
        <p:spPr bwMode="auto">
          <a:xfrm>
            <a:off x="436845" y="4801616"/>
            <a:ext cx="1584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
                <a:srgbClr val="FF0000"/>
              </a:buClr>
              <a:buSzTx/>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8</a:t>
            </a:r>
            <a:r>
              <a:rPr lang="en-US" altLang="zh-CN" sz="2400" b="1" dirty="0">
                <a:latin typeface="Arial" panose="020B0604020202020204" pitchFamily="34" charset="0"/>
                <a:ea typeface="宋体" panose="02010600030101010101" pitchFamily="2" charset="-122"/>
                <a:sym typeface="Symbol" panose="05050102010706020507" pitchFamily="18" charset="2"/>
              </a:rPr>
              <a:t></a:t>
            </a:r>
            <a:r>
              <a:rPr lang="en-US" altLang="zh-CN" sz="2400" b="1" dirty="0">
                <a:latin typeface="Arial" panose="020B0604020202020204" pitchFamily="34" charset="0"/>
                <a:ea typeface="宋体" panose="02010600030101010101" pitchFamily="2" charset="-122"/>
              </a:rPr>
              <a:t>8</a:t>
            </a:r>
          </a:p>
        </p:txBody>
      </p:sp>
      <p:sp>
        <p:nvSpPr>
          <p:cNvPr id="29" name="AutoShape 108"/>
          <p:cNvSpPr>
            <a:spLocks noChangeArrowheads="1"/>
          </p:cNvSpPr>
          <p:nvPr/>
        </p:nvSpPr>
        <p:spPr bwMode="auto">
          <a:xfrm>
            <a:off x="3763514" y="3917760"/>
            <a:ext cx="253107" cy="467055"/>
          </a:xfrm>
          <a:prstGeom prst="upArrow">
            <a:avLst>
              <a:gd name="adj1" fmla="val 50000"/>
              <a:gd name="adj2" fmla="val 58272"/>
            </a:avLst>
          </a:prstGeom>
          <a:solidFill>
            <a:srgbClr val="A50021"/>
          </a:solidFill>
          <a:ln w="9525" algn="ctr">
            <a:solidFill>
              <a:srgbClr val="660033"/>
            </a:solidFill>
            <a:miter lim="800000"/>
            <a:headEnd/>
            <a:tailEnd/>
          </a:ln>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30" name="AutoShape 109"/>
          <p:cNvSpPr>
            <a:spLocks noChangeArrowheads="1"/>
          </p:cNvSpPr>
          <p:nvPr/>
        </p:nvSpPr>
        <p:spPr bwMode="auto">
          <a:xfrm>
            <a:off x="5039519" y="4024453"/>
            <a:ext cx="217487" cy="360362"/>
          </a:xfrm>
          <a:prstGeom prst="upArrow">
            <a:avLst>
              <a:gd name="adj1" fmla="val 50000"/>
              <a:gd name="adj2" fmla="val 41423"/>
            </a:avLst>
          </a:prstGeom>
          <a:solidFill>
            <a:srgbClr val="A50021"/>
          </a:solidFill>
          <a:ln w="9525" algn="ctr">
            <a:solidFill>
              <a:srgbClr val="660033"/>
            </a:solidFill>
            <a:miter lim="800000"/>
            <a:headEnd/>
            <a:tailEnd/>
          </a:ln>
        </p:spPr>
        <p:txBody>
          <a:bodyPr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31" name="Line 110"/>
          <p:cNvSpPr>
            <a:spLocks noChangeShapeType="1"/>
          </p:cNvSpPr>
          <p:nvPr/>
        </p:nvSpPr>
        <p:spPr bwMode="auto">
          <a:xfrm flipV="1">
            <a:off x="592657" y="2412317"/>
            <a:ext cx="619197" cy="70223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zh-CN" altLang="en-US"/>
          </a:p>
        </p:txBody>
      </p:sp>
      <p:sp>
        <p:nvSpPr>
          <p:cNvPr id="32" name="Rectangle 111"/>
          <p:cNvSpPr>
            <a:spLocks noChangeArrowheads="1"/>
          </p:cNvSpPr>
          <p:nvPr/>
        </p:nvSpPr>
        <p:spPr bwMode="auto">
          <a:xfrm>
            <a:off x="2967038" y="1382520"/>
            <a:ext cx="3414687" cy="1296000"/>
          </a:xfrm>
          <a:prstGeom prst="rect">
            <a:avLst/>
          </a:prstGeom>
          <a:noFill/>
          <a:ln w="19050" algn="ctr">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37" name="Line 116"/>
          <p:cNvSpPr>
            <a:spLocks noChangeShapeType="1"/>
          </p:cNvSpPr>
          <p:nvPr/>
        </p:nvSpPr>
        <p:spPr bwMode="auto">
          <a:xfrm flipV="1">
            <a:off x="6195679" y="2043495"/>
            <a:ext cx="566061"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square">
            <a:spAutoFit/>
          </a:bodyPr>
          <a:lstStyle/>
          <a:p>
            <a:endParaRPr lang="zh-CN" altLang="en-US"/>
          </a:p>
        </p:txBody>
      </p:sp>
      <p:sp>
        <p:nvSpPr>
          <p:cNvPr id="38" name="Line 117"/>
          <p:cNvSpPr>
            <a:spLocks noChangeShapeType="1"/>
          </p:cNvSpPr>
          <p:nvPr/>
        </p:nvSpPr>
        <p:spPr bwMode="auto">
          <a:xfrm flipH="1">
            <a:off x="6735881" y="2005730"/>
            <a:ext cx="13928" cy="89794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square">
            <a:spAutoFit/>
          </a:bodyPr>
          <a:lstStyle/>
          <a:p>
            <a:endParaRPr lang="zh-CN" altLang="en-US"/>
          </a:p>
        </p:txBody>
      </p:sp>
      <p:sp>
        <p:nvSpPr>
          <p:cNvPr id="39" name="Line 118"/>
          <p:cNvSpPr>
            <a:spLocks noChangeShapeType="1"/>
          </p:cNvSpPr>
          <p:nvPr/>
        </p:nvSpPr>
        <p:spPr bwMode="auto">
          <a:xfrm flipV="1">
            <a:off x="2612880" y="2903675"/>
            <a:ext cx="4123001" cy="13488"/>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square">
            <a:spAutoFit/>
          </a:bodyPr>
          <a:lstStyle/>
          <a:p>
            <a:endParaRPr lang="zh-CN" altLang="en-US"/>
          </a:p>
        </p:txBody>
      </p:sp>
      <p:sp>
        <p:nvSpPr>
          <p:cNvPr id="40" name="Line 119"/>
          <p:cNvSpPr>
            <a:spLocks noChangeShapeType="1"/>
          </p:cNvSpPr>
          <p:nvPr/>
        </p:nvSpPr>
        <p:spPr bwMode="auto">
          <a:xfrm flipH="1">
            <a:off x="2643760" y="2902512"/>
            <a:ext cx="0" cy="574693"/>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zh-CN" altLang="en-US"/>
          </a:p>
        </p:txBody>
      </p:sp>
    </p:spTree>
    <p:extLst>
      <p:ext uri="{BB962C8B-B14F-4D97-AF65-F5344CB8AC3E}">
        <p14:creationId xmlns:p14="http://schemas.microsoft.com/office/powerpoint/2010/main" val="208201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12</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矩形 4"/>
          <p:cNvSpPr/>
          <p:nvPr/>
        </p:nvSpPr>
        <p:spPr>
          <a:xfrm>
            <a:off x="332171" y="1121717"/>
            <a:ext cx="6478204" cy="461665"/>
          </a:xfrm>
          <a:prstGeom prst="rect">
            <a:avLst/>
          </a:prstGeom>
        </p:spPr>
        <p:txBody>
          <a:bodyPr wrap="square">
            <a:spAutoFit/>
          </a:bodyPr>
          <a:lstStyle/>
          <a:p>
            <a:pPr marL="342900" indent="-342900" algn="just">
              <a:spcBef>
                <a:spcPts val="0"/>
              </a:spcBef>
              <a:spcAft>
                <a:spcPts val="0"/>
              </a:spcAft>
              <a:buClr>
                <a:srgbClr val="7030A0"/>
              </a:buClr>
              <a:buSzPct val="75000"/>
              <a:buFont typeface="Wingdings" panose="05000000000000000000" pitchFamily="2" charset="2"/>
              <a:buChar char="n"/>
              <a:tabLst>
                <a:tab pos="2234565" algn="l"/>
              </a:tabLst>
            </a:pPr>
            <a:r>
              <a:rPr lang="zh-CN" altLang="zh-CN" kern="100" dirty="0">
                <a:solidFill>
                  <a:srgbClr val="C00000"/>
                </a:solidFill>
                <a:ea typeface="楷体" panose="02010609060101010101" pitchFamily="49" charset="-122"/>
                <a:cs typeface="Times New Roman" panose="02020603050405020304" pitchFamily="18" charset="0"/>
              </a:rPr>
              <a:t>构造</a:t>
            </a:r>
            <a:r>
              <a:rPr lang="en-US" altLang="zh-CN" kern="100" dirty="0">
                <a:solidFill>
                  <a:srgbClr val="C00000"/>
                </a:solidFill>
                <a:ea typeface="楷体" panose="02010609060101010101" pitchFamily="49" charset="-122"/>
                <a:cs typeface="Times New Roman" panose="02020603050405020304" pitchFamily="18" charset="0"/>
              </a:rPr>
              <a:t>8</a:t>
            </a:r>
            <a:r>
              <a:rPr lang="en-US" altLang="zh-CN" kern="100" dirty="0">
                <a:solidFill>
                  <a:srgbClr val="C00000"/>
                </a:solidFill>
                <a:ea typeface="楷体" panose="02010609060101010101" pitchFamily="49" charset="-122"/>
                <a:cs typeface="Times New Roman" panose="02020603050405020304" pitchFamily="18" charset="0"/>
                <a:sym typeface="Symbol" panose="05050102010706020507" pitchFamily="18" charset="2"/>
              </a:rPr>
              <a:t></a:t>
            </a:r>
            <a:r>
              <a:rPr lang="en-US" altLang="zh-CN" kern="100" dirty="0">
                <a:solidFill>
                  <a:srgbClr val="C00000"/>
                </a:solidFill>
                <a:ea typeface="楷体" panose="02010609060101010101" pitchFamily="49" charset="-122"/>
                <a:cs typeface="Times New Roman" panose="02020603050405020304" pitchFamily="18" charset="0"/>
              </a:rPr>
              <a:t>8</a:t>
            </a:r>
            <a:r>
              <a:rPr lang="zh-CN" altLang="zh-CN" kern="100" dirty="0">
                <a:solidFill>
                  <a:srgbClr val="C00000"/>
                </a:solidFill>
                <a:ea typeface="楷体" panose="02010609060101010101" pitchFamily="49" charset="-122"/>
                <a:cs typeface="Times New Roman" panose="02020603050405020304" pitchFamily="18" charset="0"/>
              </a:rPr>
              <a:t>子块、颜色模型</a:t>
            </a:r>
            <a:r>
              <a:rPr lang="en-US" altLang="zh-CN" kern="100" dirty="0" err="1">
                <a:solidFill>
                  <a:srgbClr val="C00000"/>
                </a:solidFill>
                <a:ea typeface="楷体" panose="02010609060101010101" pitchFamily="49" charset="-122"/>
                <a:cs typeface="Times New Roman" panose="02020603050405020304" pitchFamily="18" charset="0"/>
              </a:rPr>
              <a:t>RGB</a:t>
            </a:r>
            <a:r>
              <a:rPr lang="en-US" altLang="zh-CN" kern="100" dirty="0" err="1">
                <a:solidFill>
                  <a:srgbClr val="C00000"/>
                </a:solidFill>
                <a:ea typeface="楷体" panose="02010609060101010101" pitchFamily="49" charset="-122"/>
                <a:cs typeface="Times New Roman" panose="02020603050405020304" pitchFamily="18" charset="0"/>
                <a:sym typeface="Symbol" panose="05050102010706020507" pitchFamily="18" charset="2"/>
              </a:rPr>
              <a:t></a:t>
            </a:r>
            <a:r>
              <a:rPr lang="en-US" altLang="zh-CN" kern="100" dirty="0" err="1">
                <a:solidFill>
                  <a:srgbClr val="C00000"/>
                </a:solidFill>
                <a:ea typeface="楷体" panose="02010609060101010101" pitchFamily="49" charset="-122"/>
                <a:cs typeface="Times New Roman" panose="02020603050405020304" pitchFamily="18" charset="0"/>
              </a:rPr>
              <a:t>YC</a:t>
            </a:r>
            <a:r>
              <a:rPr lang="en-US" altLang="zh-CN" kern="100" baseline="-25000" dirty="0" err="1">
                <a:solidFill>
                  <a:srgbClr val="C00000"/>
                </a:solidFill>
                <a:ea typeface="楷体" panose="02010609060101010101" pitchFamily="49" charset="-122"/>
                <a:cs typeface="Times New Roman" panose="02020603050405020304" pitchFamily="18" charset="0"/>
              </a:rPr>
              <a:t>b</a:t>
            </a:r>
            <a:r>
              <a:rPr lang="en-US" altLang="zh-CN" kern="100" dirty="0" err="1">
                <a:solidFill>
                  <a:srgbClr val="C00000"/>
                </a:solidFill>
                <a:ea typeface="楷体" panose="02010609060101010101" pitchFamily="49" charset="-122"/>
                <a:cs typeface="Times New Roman" panose="02020603050405020304" pitchFamily="18" charset="0"/>
              </a:rPr>
              <a:t>C</a:t>
            </a:r>
            <a:r>
              <a:rPr lang="en-US" altLang="zh-CN" kern="100" baseline="-25000" dirty="0" err="1">
                <a:solidFill>
                  <a:srgbClr val="C00000"/>
                </a:solidFill>
                <a:ea typeface="楷体" panose="02010609060101010101" pitchFamily="49" charset="-122"/>
                <a:cs typeface="Times New Roman" panose="02020603050405020304" pitchFamily="18" charset="0"/>
              </a:rPr>
              <a:t>r</a:t>
            </a:r>
            <a:r>
              <a:rPr lang="zh-CN" altLang="zh-CN" kern="100" dirty="0">
                <a:solidFill>
                  <a:srgbClr val="C00000"/>
                </a:solidFill>
                <a:ea typeface="楷体" panose="02010609060101010101" pitchFamily="49" charset="-122"/>
                <a:cs typeface="Times New Roman" panose="02020603050405020304" pitchFamily="18" charset="0"/>
              </a:rPr>
              <a:t>转换</a:t>
            </a:r>
          </a:p>
        </p:txBody>
      </p:sp>
      <p:sp>
        <p:nvSpPr>
          <p:cNvPr id="6" name="文本框 5"/>
          <p:cNvSpPr txBox="1"/>
          <p:nvPr/>
        </p:nvSpPr>
        <p:spPr>
          <a:xfrm>
            <a:off x="353390" y="1653001"/>
            <a:ext cx="6576048" cy="1723549"/>
          </a:xfrm>
          <a:prstGeom prst="rect">
            <a:avLst/>
          </a:prstGeom>
          <a:noFill/>
        </p:spPr>
        <p:txBody>
          <a:bodyPr wrap="square" rtlCol="0">
            <a:spAutoFit/>
          </a:bodyPr>
          <a:lstStyle/>
          <a:p>
            <a:pPr marL="342900" indent="-342900" algn="just">
              <a:spcBef>
                <a:spcPts val="600"/>
              </a:spcBef>
              <a:spcAft>
                <a:spcPts val="600"/>
              </a:spcAft>
              <a:buClr>
                <a:srgbClr val="7030A0"/>
              </a:buClr>
              <a:buSzPct val="75000"/>
              <a:buFont typeface="Wingdings" panose="05000000000000000000" pitchFamily="2" charset="2"/>
              <a:buChar char="p"/>
            </a:pPr>
            <a:r>
              <a:rPr lang="zh-CN" altLang="en-US" dirty="0">
                <a:ea typeface="楷体" panose="02010609060101010101" pitchFamily="49" charset="-122"/>
                <a:cs typeface="Times New Roman" panose="02020603050405020304" pitchFamily="18" charset="0"/>
              </a:rPr>
              <a:t> 划分</a:t>
            </a:r>
            <a:r>
              <a:rPr lang="zh-CN" altLang="zh-CN" dirty="0">
                <a:ea typeface="楷体" panose="02010609060101010101" pitchFamily="49" charset="-122"/>
                <a:cs typeface="Times New Roman" panose="02020603050405020304" pitchFamily="18" charset="0"/>
              </a:rPr>
              <a:t>互不重叠的</a:t>
            </a:r>
            <a:r>
              <a:rPr lang="en-US" altLang="zh-CN" dirty="0">
                <a:ea typeface="楷体" panose="02010609060101010101" pitchFamily="49" charset="-122"/>
                <a:cs typeface="Times New Roman" panose="02020603050405020304" pitchFamily="18" charset="0"/>
              </a:rPr>
              <a:t>8</a:t>
            </a:r>
            <a:r>
              <a:rPr lang="en-US" altLang="zh-CN" dirty="0">
                <a:ea typeface="楷体" panose="02010609060101010101" pitchFamily="49" charset="-122"/>
                <a:cs typeface="Times New Roman" panose="02020603050405020304" pitchFamily="18" charset="0"/>
                <a:sym typeface="Symbol" panose="05050102010706020507" pitchFamily="18" charset="2"/>
              </a:rPr>
              <a:t></a:t>
            </a:r>
            <a:r>
              <a:rPr lang="en-US" altLang="zh-CN" dirty="0">
                <a:ea typeface="楷体" panose="02010609060101010101" pitchFamily="49" charset="-122"/>
                <a:cs typeface="Times New Roman" panose="02020603050405020304" pitchFamily="18" charset="0"/>
              </a:rPr>
              <a:t>8</a:t>
            </a:r>
            <a:r>
              <a:rPr lang="zh-CN" altLang="zh-CN" dirty="0">
                <a:ea typeface="楷体" panose="02010609060101010101" pitchFamily="49" charset="-122"/>
                <a:cs typeface="Times New Roman" panose="02020603050405020304" pitchFamily="18" charset="0"/>
              </a:rPr>
              <a:t>子图像块，这些子块进行从左到右，从上到下的处理。</a:t>
            </a:r>
            <a:endParaRPr lang="en-US" altLang="zh-CN" dirty="0">
              <a:ea typeface="楷体" panose="02010609060101010101" pitchFamily="49" charset="-122"/>
              <a:cs typeface="Times New Roman" panose="02020603050405020304" pitchFamily="18" charset="0"/>
            </a:endParaRPr>
          </a:p>
          <a:p>
            <a:pPr marL="457200" indent="-457200" algn="just">
              <a:spcBef>
                <a:spcPts val="600"/>
              </a:spcBef>
              <a:spcAft>
                <a:spcPts val="600"/>
              </a:spcAft>
              <a:buClr>
                <a:srgbClr val="7030A0"/>
              </a:buClr>
              <a:buSzPct val="75000"/>
              <a:buFont typeface="Wingdings" panose="05000000000000000000" pitchFamily="2" charset="2"/>
              <a:buChar char="p"/>
            </a:pPr>
            <a:r>
              <a:rPr lang="zh-CN" altLang="en-US" dirty="0">
                <a:ea typeface="楷体" panose="02010609060101010101" pitchFamily="49" charset="-122"/>
                <a:cs typeface="Times New Roman" panose="02020603050405020304" pitchFamily="18" charset="0"/>
              </a:rPr>
              <a:t>人眼对亮度更敏感，提取亮度特征，将</a:t>
            </a:r>
            <a:r>
              <a:rPr lang="en-US" altLang="zh-CN" dirty="0">
                <a:ea typeface="楷体" panose="02010609060101010101" pitchFamily="49" charset="-122"/>
                <a:cs typeface="Times New Roman" panose="02020603050405020304" pitchFamily="18" charset="0"/>
              </a:rPr>
              <a:t>RGB</a:t>
            </a:r>
            <a:r>
              <a:rPr lang="zh-CN" altLang="en-US" dirty="0">
                <a:ea typeface="楷体" panose="02010609060101010101" pitchFamily="49" charset="-122"/>
                <a:cs typeface="Times New Roman" panose="02020603050405020304" pitchFamily="18" charset="0"/>
              </a:rPr>
              <a:t>转换为</a:t>
            </a:r>
            <a:r>
              <a:rPr lang="en-US" altLang="zh-CN" dirty="0" err="1">
                <a:ea typeface="楷体" panose="02010609060101010101" pitchFamily="49" charset="-122"/>
                <a:cs typeface="Times New Roman" panose="02020603050405020304" pitchFamily="18" charset="0"/>
              </a:rPr>
              <a:t>YC</a:t>
            </a:r>
            <a:r>
              <a:rPr lang="en-US" altLang="zh-CN" baseline="-25000" dirty="0" err="1">
                <a:ea typeface="楷体" panose="02010609060101010101" pitchFamily="49" charset="-122"/>
                <a:cs typeface="Times New Roman" panose="02020603050405020304" pitchFamily="18" charset="0"/>
              </a:rPr>
              <a:t>b</a:t>
            </a:r>
            <a:r>
              <a:rPr lang="en-US" altLang="zh-CN" dirty="0" err="1">
                <a:ea typeface="楷体" panose="02010609060101010101" pitchFamily="49" charset="-122"/>
                <a:cs typeface="Times New Roman" panose="02020603050405020304" pitchFamily="18" charset="0"/>
              </a:rPr>
              <a:t>C</a:t>
            </a:r>
            <a:r>
              <a:rPr lang="en-US" altLang="zh-CN" baseline="-25000" dirty="0" err="1">
                <a:ea typeface="楷体" panose="02010609060101010101" pitchFamily="49" charset="-122"/>
                <a:cs typeface="Times New Roman" panose="02020603050405020304" pitchFamily="18" charset="0"/>
              </a:rPr>
              <a:t>r</a:t>
            </a:r>
            <a:r>
              <a:rPr lang="zh-CN" altLang="en-US" dirty="0">
                <a:ea typeface="楷体" panose="02010609060101010101" pitchFamily="49" charset="-122"/>
                <a:cs typeface="Times New Roman" panose="02020603050405020304" pitchFamily="18" charset="0"/>
              </a:rPr>
              <a:t>模型：</a:t>
            </a:r>
            <a:endParaRPr lang="en-US" altLang="zh-CN" dirty="0">
              <a:ea typeface="楷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E63E5B85-1372-3AB5-54A1-353A0406EC8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8291" y="3512705"/>
            <a:ext cx="5449060" cy="859445"/>
          </a:xfrm>
          <a:prstGeom prst="rect">
            <a:avLst/>
          </a:prstGeom>
        </p:spPr>
      </p:pic>
      <p:sp>
        <p:nvSpPr>
          <p:cNvPr id="10" name="文本框 9">
            <a:extLst>
              <a:ext uri="{FF2B5EF4-FFF2-40B4-BE49-F238E27FC236}">
                <a16:creationId xmlns:a16="http://schemas.microsoft.com/office/drawing/2014/main" id="{1DCC9459-3CBC-3DE3-E172-B5CA985C8460}"/>
              </a:ext>
            </a:extLst>
          </p:cNvPr>
          <p:cNvSpPr txBox="1"/>
          <p:nvPr/>
        </p:nvSpPr>
        <p:spPr>
          <a:xfrm>
            <a:off x="5464204" y="331728"/>
            <a:ext cx="700833" cy="400110"/>
          </a:xfrm>
          <a:prstGeom prst="rect">
            <a:avLst/>
          </a:prstGeom>
          <a:noFill/>
        </p:spPr>
        <p:txBody>
          <a:bodyPr wrap="none" rtlCol="0">
            <a:spAutoFit/>
          </a:bodyPr>
          <a:lstStyle/>
          <a:p>
            <a:r>
              <a:rPr lang="zh-CN" altLang="en-US" sz="2000" dirty="0">
                <a:solidFill>
                  <a:schemeClr val="accent2">
                    <a:lumMod val="75000"/>
                  </a:schemeClr>
                </a:solidFill>
                <a:latin typeface="华光综艺_CNKI" panose="02000500000000000000" pitchFamily="2" charset="-122"/>
                <a:ea typeface="华光综艺_CNKI" panose="02000500000000000000" pitchFamily="2" charset="-122"/>
                <a:hlinkClick r:id="rId3" action="ppaction://hlinksldjump"/>
              </a:rPr>
              <a:t>示例</a:t>
            </a:r>
            <a:endParaRPr lang="zh-CN" altLang="en-US" sz="2000" dirty="0">
              <a:solidFill>
                <a:schemeClr val="accent2">
                  <a:lumMod val="75000"/>
                </a:schemeClr>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884674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13</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Text Box 3"/>
          <p:cNvSpPr txBox="1">
            <a:spLocks noChangeArrowheads="1"/>
          </p:cNvSpPr>
          <p:nvPr/>
        </p:nvSpPr>
        <p:spPr bwMode="auto">
          <a:xfrm>
            <a:off x="524235" y="1683056"/>
            <a:ext cx="6286140" cy="830997"/>
          </a:xfrm>
          <a:prstGeom prst="rect">
            <a:avLst/>
          </a:prstGeom>
          <a:noFill/>
          <a:ln w="9525" algn="ctr">
            <a:noFill/>
            <a:miter lim="800000"/>
            <a:headEnd/>
            <a:tailEnd/>
          </a:ln>
          <a:effectLst/>
        </p:spPr>
        <p:txBody>
          <a:bodyPr wrap="square">
            <a:spAutoFit/>
          </a:bodyPr>
          <a:lstStyle/>
          <a:p>
            <a:pPr marL="342900" indent="-342900" algn="just">
              <a:spcBef>
                <a:spcPts val="500"/>
              </a:spcBef>
              <a:spcAft>
                <a:spcPts val="300"/>
              </a:spcAft>
              <a:buClr>
                <a:srgbClr val="7030A0"/>
              </a:buClr>
              <a:buSzPct val="75000"/>
              <a:buFont typeface="Wingdings" panose="05000000000000000000" pitchFamily="2" charset="2"/>
              <a:buChar char="p"/>
              <a:defRPr/>
            </a:pPr>
            <a:r>
              <a:rPr kumimoji="1" lang="zh-CN" altLang="en-US" b="1" dirty="0">
                <a:ea typeface="楷体" panose="02010609060101010101" pitchFamily="49" charset="-122"/>
                <a:cs typeface="Times New Roman" panose="02020603050405020304" pitchFamily="18" charset="0"/>
              </a:rPr>
              <a:t>在</a:t>
            </a:r>
            <a:r>
              <a:rPr kumimoji="1" lang="en-US" altLang="zh-CN" b="1" dirty="0">
                <a:ea typeface="楷体" panose="02010609060101010101" pitchFamily="49" charset="-122"/>
                <a:cs typeface="Times New Roman" panose="02020603050405020304" pitchFamily="18" charset="0"/>
              </a:rPr>
              <a:t>DCT</a:t>
            </a:r>
            <a:r>
              <a:rPr kumimoji="1" lang="zh-CN" altLang="en-US" b="1" dirty="0">
                <a:ea typeface="楷体" panose="02010609060101010101" pitchFamily="49" charset="-122"/>
                <a:cs typeface="Times New Roman" panose="02020603050405020304" pitchFamily="18" charset="0"/>
              </a:rPr>
              <a:t>前，</a:t>
            </a:r>
            <a:r>
              <a:rPr lang="zh-CN" altLang="en-US" b="1" dirty="0">
                <a:ea typeface="楷体" panose="02010609060101010101" pitchFamily="49" charset="-122"/>
                <a:cs typeface="Times New Roman" panose="02020603050405020304" pitchFamily="18" charset="0"/>
              </a:rPr>
              <a:t>对于</a:t>
            </a:r>
            <a:r>
              <a:rPr lang="zh-CN" altLang="en-US" b="1" u="sng" dirty="0">
                <a:ea typeface="楷体" panose="02010609060101010101" pitchFamily="49" charset="-122"/>
                <a:cs typeface="Times New Roman" panose="02020603050405020304" pitchFamily="18" charset="0"/>
              </a:rPr>
              <a:t>灰度级为</a:t>
            </a:r>
            <a:r>
              <a:rPr lang="en-US" altLang="zh-CN" b="1" u="sng" dirty="0">
                <a:ea typeface="楷体" panose="02010609060101010101" pitchFamily="49" charset="-122"/>
                <a:cs typeface="Times New Roman" panose="02020603050405020304" pitchFamily="18" charset="0"/>
              </a:rPr>
              <a:t>2</a:t>
            </a:r>
            <a:r>
              <a:rPr lang="en-US" altLang="zh-CN" b="1" i="1" u="sng" baseline="30000" dirty="0">
                <a:ea typeface="楷体" panose="02010609060101010101" pitchFamily="49" charset="-122"/>
                <a:cs typeface="Times New Roman" panose="02020603050405020304" pitchFamily="18" charset="0"/>
              </a:rPr>
              <a:t>n</a:t>
            </a:r>
            <a:r>
              <a:rPr lang="zh-CN" altLang="en-US" b="1" dirty="0">
                <a:ea typeface="楷体" panose="02010609060101010101" pitchFamily="49" charset="-122"/>
                <a:cs typeface="Times New Roman" panose="02020603050405020304" pitchFamily="18" charset="0"/>
              </a:rPr>
              <a:t>的像素</a:t>
            </a:r>
            <a:r>
              <a:rPr kumimoji="1" lang="zh-CN" altLang="en-US" b="1" dirty="0">
                <a:ea typeface="楷体" panose="02010609060101010101" pitchFamily="49" charset="-122"/>
                <a:cs typeface="Times New Roman" panose="02020603050405020304" pitchFamily="18" charset="0"/>
              </a:rPr>
              <a:t>，通过</a:t>
            </a:r>
            <a:r>
              <a:rPr kumimoji="1" lang="zh-CN" altLang="en-US" b="1" u="sng" dirty="0">
                <a:ea typeface="楷体" panose="02010609060101010101" pitchFamily="49" charset="-122"/>
                <a:cs typeface="Times New Roman" panose="02020603050405020304" pitchFamily="18" charset="0"/>
              </a:rPr>
              <a:t>减去</a:t>
            </a:r>
            <a:r>
              <a:rPr kumimoji="1" lang="en-US" altLang="zh-CN" b="1" u="sng" dirty="0">
                <a:ea typeface="楷体" panose="02010609060101010101" pitchFamily="49" charset="-122"/>
                <a:cs typeface="Times New Roman" panose="02020603050405020304" pitchFamily="18" charset="0"/>
              </a:rPr>
              <a:t>2</a:t>
            </a:r>
            <a:r>
              <a:rPr kumimoji="1" lang="en-US" altLang="zh-CN" b="1" i="1" u="sng" baseline="30000" dirty="0">
                <a:ea typeface="楷体" panose="02010609060101010101" pitchFamily="49" charset="-122"/>
                <a:cs typeface="Times New Roman" panose="02020603050405020304" pitchFamily="18" charset="0"/>
              </a:rPr>
              <a:t>n</a:t>
            </a:r>
            <a:r>
              <a:rPr kumimoji="1" lang="en-US" altLang="zh-CN" b="1" u="sng" baseline="30000" dirty="0">
                <a:ea typeface="楷体" panose="02010609060101010101" pitchFamily="49" charset="-122"/>
                <a:cs typeface="Times New Roman" panose="02020603050405020304" pitchFamily="18" charset="0"/>
              </a:rPr>
              <a:t>-1</a:t>
            </a:r>
            <a:r>
              <a:rPr kumimoji="1" lang="zh-CN" altLang="en-US" b="1" dirty="0">
                <a:ea typeface="楷体" panose="02010609060101010101" pitchFamily="49" charset="-122"/>
                <a:cs typeface="Times New Roman" panose="02020603050405020304" pitchFamily="18" charset="0"/>
              </a:rPr>
              <a:t>，替换像素本身     </a:t>
            </a:r>
          </a:p>
        </p:txBody>
      </p:sp>
      <p:sp>
        <p:nvSpPr>
          <p:cNvPr id="7" name="矩形 6"/>
          <p:cNvSpPr/>
          <p:nvPr/>
        </p:nvSpPr>
        <p:spPr>
          <a:xfrm>
            <a:off x="332171" y="1121717"/>
            <a:ext cx="6478204" cy="461665"/>
          </a:xfrm>
          <a:prstGeom prst="rect">
            <a:avLst/>
          </a:prstGeom>
        </p:spPr>
        <p:txBody>
          <a:bodyPr wrap="square">
            <a:spAutoFit/>
          </a:bodyPr>
          <a:lstStyle/>
          <a:p>
            <a:pPr marL="342900" indent="-342900" algn="just">
              <a:spcBef>
                <a:spcPts val="0"/>
              </a:spcBef>
              <a:spcAft>
                <a:spcPts val="0"/>
              </a:spcAft>
              <a:buClr>
                <a:srgbClr val="7030A0"/>
              </a:buClr>
              <a:buSzPct val="75000"/>
              <a:buFont typeface="Wingdings" panose="05000000000000000000" pitchFamily="2" charset="2"/>
              <a:buChar char="n"/>
              <a:tabLst>
                <a:tab pos="2234565" algn="l"/>
              </a:tabLst>
            </a:pPr>
            <a:r>
              <a:rPr lang="zh-CN" altLang="en-US"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 </a:t>
            </a:r>
            <a:r>
              <a:rPr lang="zh-CN" altLang="en-US"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零偏置转换</a:t>
            </a:r>
            <a:endParaRPr lang="zh-CN" altLang="zh-CN"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6" name="矩形 5"/>
          <p:cNvSpPr/>
          <p:nvPr/>
        </p:nvSpPr>
        <p:spPr>
          <a:xfrm>
            <a:off x="540647" y="3462615"/>
            <a:ext cx="6269728" cy="1302921"/>
          </a:xfrm>
          <a:prstGeom prst="rect">
            <a:avLst/>
          </a:prstGeom>
        </p:spPr>
        <p:txBody>
          <a:bodyPr wrap="square">
            <a:spAutoFit/>
          </a:bodyPr>
          <a:lstStyle/>
          <a:p>
            <a:pPr marL="342900" indent="-342900" algn="just">
              <a:spcBef>
                <a:spcPts val="500"/>
              </a:spcBef>
              <a:spcAft>
                <a:spcPts val="300"/>
              </a:spcAft>
              <a:buClr>
                <a:srgbClr val="7030A0"/>
              </a:buClr>
              <a:buSzPct val="75000"/>
              <a:buFont typeface="Wingdings" panose="05000000000000000000" pitchFamily="2" charset="2"/>
              <a:buChar char="p"/>
              <a:defRPr/>
            </a:pPr>
            <a:r>
              <a:rPr lang="zh-CN" altLang="en-US" dirty="0">
                <a:ea typeface="楷体" panose="02010609060101010101" pitchFamily="49" charset="-122"/>
                <a:cs typeface="Times New Roman" panose="02020603050405020304" pitchFamily="18" charset="0"/>
              </a:rPr>
              <a:t>在</a:t>
            </a:r>
            <a:r>
              <a:rPr lang="en-US" altLang="zh-CN" dirty="0">
                <a:ea typeface="楷体" panose="02010609060101010101" pitchFamily="49" charset="-122"/>
                <a:cs typeface="Times New Roman" panose="02020603050405020304" pitchFamily="18" charset="0"/>
              </a:rPr>
              <a:t>IDCT</a:t>
            </a:r>
            <a:r>
              <a:rPr lang="zh-CN" altLang="en-US" dirty="0">
                <a:ea typeface="楷体" panose="02010609060101010101" pitchFamily="49" charset="-122"/>
                <a:cs typeface="Times New Roman" panose="02020603050405020304" pitchFamily="18" charset="0"/>
              </a:rPr>
              <a:t>后，应加上</a:t>
            </a:r>
            <a:r>
              <a:rPr lang="en-US" altLang="zh-CN" dirty="0">
                <a:ea typeface="楷体" panose="02010609060101010101" pitchFamily="49" charset="-122"/>
                <a:cs typeface="Times New Roman" panose="02020603050405020304" pitchFamily="18" charset="0"/>
              </a:rPr>
              <a:t>2</a:t>
            </a:r>
            <a:r>
              <a:rPr lang="en-US" altLang="zh-CN" i="1" baseline="30000" dirty="0">
                <a:ea typeface="楷体" panose="02010609060101010101" pitchFamily="49" charset="-122"/>
                <a:cs typeface="Times New Roman" panose="02020603050405020304" pitchFamily="18" charset="0"/>
              </a:rPr>
              <a:t>n</a:t>
            </a:r>
            <a:r>
              <a:rPr lang="en-US" altLang="zh-CN" baseline="30000" dirty="0">
                <a:ea typeface="楷体" panose="02010609060101010101" pitchFamily="49" charset="-122"/>
                <a:cs typeface="Times New Roman" panose="02020603050405020304" pitchFamily="18" charset="0"/>
              </a:rPr>
              <a:t>-1</a:t>
            </a:r>
            <a:r>
              <a:rPr lang="zh-CN" altLang="en-US" dirty="0">
                <a:ea typeface="楷体" panose="02010609060101010101" pitchFamily="49" charset="-122"/>
                <a:cs typeface="Times New Roman" panose="02020603050405020304" pitchFamily="18" charset="0"/>
              </a:rPr>
              <a:t>，替换像素本身。</a:t>
            </a:r>
          </a:p>
          <a:p>
            <a:pPr marL="342900" indent="-342900" algn="just">
              <a:spcBef>
                <a:spcPts val="500"/>
              </a:spcBef>
              <a:spcAft>
                <a:spcPts val="300"/>
              </a:spcAft>
              <a:buClr>
                <a:srgbClr val="7030A0"/>
              </a:buClr>
              <a:buSzPct val="75000"/>
              <a:buFont typeface="Wingdings" panose="05000000000000000000" pitchFamily="2" charset="2"/>
              <a:buChar char="p"/>
              <a:defRPr/>
            </a:pPr>
            <a:r>
              <a:rPr lang="zh-CN" altLang="en-US" dirty="0">
                <a:ea typeface="楷体" panose="02010609060101010101" pitchFamily="49" charset="-122"/>
                <a:cs typeface="Times New Roman" panose="02020603050405020304" pitchFamily="18" charset="0"/>
              </a:rPr>
              <a:t>目的：使数据以</a:t>
            </a:r>
            <a:r>
              <a:rPr lang="en-US" altLang="zh-CN" dirty="0">
                <a:ea typeface="楷体" panose="02010609060101010101" pitchFamily="49" charset="-122"/>
                <a:cs typeface="Times New Roman" panose="02020603050405020304" pitchFamily="18" charset="0"/>
              </a:rPr>
              <a:t>0</a:t>
            </a:r>
            <a:r>
              <a:rPr lang="zh-CN" altLang="en-US" dirty="0">
                <a:ea typeface="楷体" panose="02010609060101010101" pitchFamily="49" charset="-122"/>
                <a:cs typeface="Times New Roman" panose="02020603050405020304" pitchFamily="18" charset="0"/>
              </a:rPr>
              <a:t>为中心（零均值化），更适合</a:t>
            </a:r>
            <a:r>
              <a:rPr lang="en-US" altLang="zh-CN" dirty="0">
                <a:ea typeface="楷体" panose="02010609060101010101" pitchFamily="49" charset="-122"/>
                <a:cs typeface="Times New Roman" panose="02020603050405020304" pitchFamily="18" charset="0"/>
              </a:rPr>
              <a:t>DCT</a:t>
            </a:r>
            <a:r>
              <a:rPr lang="zh-CN" altLang="en-US" dirty="0">
                <a:ea typeface="楷体" panose="02010609060101010101" pitchFamily="49" charset="-122"/>
                <a:cs typeface="Times New Roman" panose="02020603050405020304" pitchFamily="18" charset="0"/>
              </a:rPr>
              <a:t>特性</a:t>
            </a:r>
          </a:p>
        </p:txBody>
      </p:sp>
      <p:sp>
        <p:nvSpPr>
          <p:cNvPr id="8" name="矩形 7"/>
          <p:cNvSpPr/>
          <p:nvPr/>
        </p:nvSpPr>
        <p:spPr>
          <a:xfrm>
            <a:off x="768983" y="2531944"/>
            <a:ext cx="6041392" cy="830997"/>
          </a:xfrm>
          <a:prstGeom prst="rect">
            <a:avLst/>
          </a:prstGeom>
        </p:spPr>
        <p:txBody>
          <a:bodyPr wrap="square">
            <a:spAutoFit/>
          </a:bodyPr>
          <a:lstStyle/>
          <a:p>
            <a:pPr marL="342900" indent="-342900" algn="just">
              <a:spcBef>
                <a:spcPts val="500"/>
              </a:spcBef>
              <a:spcAft>
                <a:spcPts val="300"/>
              </a:spcAft>
              <a:buClr>
                <a:srgbClr val="7030A0"/>
              </a:buClr>
              <a:buSzPct val="75000"/>
              <a:buFont typeface="Wingdings" panose="05000000000000000000" pitchFamily="2" charset="2"/>
              <a:buChar char="Ø"/>
              <a:defRPr/>
            </a:pPr>
            <a:r>
              <a:rPr lang="zh-CN" altLang="en-US" dirty="0">
                <a:ea typeface="楷体" panose="02010609060101010101" pitchFamily="49" charset="-122"/>
                <a:cs typeface="Times New Roman" panose="02020603050405020304" pitchFamily="18" charset="0"/>
              </a:rPr>
              <a:t>对于</a:t>
            </a:r>
            <a:r>
              <a:rPr lang="en-US" altLang="zh-CN" i="1" dirty="0">
                <a:ea typeface="楷体" panose="02010609060101010101" pitchFamily="49" charset="-122"/>
                <a:cs typeface="Times New Roman" panose="02020603050405020304" pitchFamily="18" charset="0"/>
              </a:rPr>
              <a:t>n</a:t>
            </a:r>
            <a:r>
              <a:rPr lang="en-US" altLang="zh-CN" dirty="0">
                <a:ea typeface="楷体" panose="02010609060101010101" pitchFamily="49" charset="-122"/>
                <a:cs typeface="Times New Roman" panose="02020603050405020304" pitchFamily="18" charset="0"/>
              </a:rPr>
              <a:t>=8</a:t>
            </a:r>
            <a:r>
              <a:rPr lang="zh-CN" altLang="en-US" dirty="0">
                <a:ea typeface="楷体" panose="02010609060101010101" pitchFamily="49" charset="-122"/>
                <a:cs typeface="Times New Roman" panose="02020603050405020304" pitchFamily="18" charset="0"/>
              </a:rPr>
              <a:t>，即将</a:t>
            </a:r>
            <a:r>
              <a:rPr lang="en-US" altLang="zh-CN" dirty="0">
                <a:ea typeface="楷体" panose="02010609060101010101" pitchFamily="49" charset="-122"/>
                <a:cs typeface="Times New Roman" panose="02020603050405020304" pitchFamily="18" charset="0"/>
              </a:rPr>
              <a:t>0~255</a:t>
            </a:r>
            <a:r>
              <a:rPr lang="zh-CN" altLang="en-US" dirty="0">
                <a:ea typeface="楷体" panose="02010609060101010101" pitchFamily="49" charset="-122"/>
                <a:cs typeface="Times New Roman" panose="02020603050405020304" pitchFamily="18" charset="0"/>
              </a:rPr>
              <a:t>的值域，减去</a:t>
            </a:r>
            <a:r>
              <a:rPr lang="en-US" altLang="zh-CN" dirty="0">
                <a:ea typeface="楷体" panose="02010609060101010101" pitchFamily="49" charset="-122"/>
                <a:cs typeface="Times New Roman" panose="02020603050405020304" pitchFamily="18" charset="0"/>
              </a:rPr>
              <a:t>128</a:t>
            </a:r>
            <a:r>
              <a:rPr lang="zh-CN" altLang="en-US" dirty="0">
                <a:ea typeface="楷体" panose="02010609060101010101" pitchFamily="49" charset="-122"/>
                <a:cs typeface="Times New Roman" panose="02020603050405020304" pitchFamily="18" charset="0"/>
              </a:rPr>
              <a:t>，转换为值域在</a:t>
            </a:r>
            <a:r>
              <a:rPr lang="en-US" altLang="zh-CN" dirty="0">
                <a:ea typeface="楷体" panose="02010609060101010101" pitchFamily="49" charset="-122"/>
                <a:cs typeface="Times New Roman" panose="02020603050405020304" pitchFamily="18" charset="0"/>
              </a:rPr>
              <a:t>-128~127</a:t>
            </a:r>
            <a:r>
              <a:rPr lang="zh-CN" altLang="en-US" dirty="0">
                <a:ea typeface="楷体" panose="02010609060101010101" pitchFamily="49" charset="-122"/>
                <a:cs typeface="Times New Roman" panose="02020603050405020304" pitchFamily="18" charset="0"/>
              </a:rPr>
              <a:t>之间的值。</a:t>
            </a:r>
          </a:p>
        </p:txBody>
      </p:sp>
      <p:sp>
        <p:nvSpPr>
          <p:cNvPr id="9" name="文本框 8">
            <a:extLst>
              <a:ext uri="{FF2B5EF4-FFF2-40B4-BE49-F238E27FC236}">
                <a16:creationId xmlns:a16="http://schemas.microsoft.com/office/drawing/2014/main" id="{328E1925-2677-2E78-A362-22E43356048A}"/>
              </a:ext>
            </a:extLst>
          </p:cNvPr>
          <p:cNvSpPr txBox="1"/>
          <p:nvPr/>
        </p:nvSpPr>
        <p:spPr>
          <a:xfrm>
            <a:off x="5478016" y="390906"/>
            <a:ext cx="700833" cy="400110"/>
          </a:xfrm>
          <a:prstGeom prst="rect">
            <a:avLst/>
          </a:prstGeom>
          <a:noFill/>
        </p:spPr>
        <p:txBody>
          <a:bodyPr wrap="none" rtlCol="0">
            <a:spAutoFit/>
          </a:bodyPr>
          <a:lstStyle/>
          <a:p>
            <a:r>
              <a:rPr lang="zh-CN" altLang="en-US" sz="2000" dirty="0">
                <a:solidFill>
                  <a:schemeClr val="accent2">
                    <a:lumMod val="75000"/>
                  </a:schemeClr>
                </a:solidFill>
                <a:latin typeface="华光综艺_CNKI" panose="02000500000000000000" pitchFamily="2" charset="-122"/>
                <a:ea typeface="华光综艺_CNKI" panose="02000500000000000000" pitchFamily="2" charset="-122"/>
                <a:hlinkClick r:id="rId2" action="ppaction://hlinksldjump"/>
              </a:rPr>
              <a:t>示例</a:t>
            </a:r>
            <a:endParaRPr lang="zh-CN" altLang="en-US" sz="2000" dirty="0">
              <a:solidFill>
                <a:schemeClr val="accent2">
                  <a:lumMod val="75000"/>
                </a:schemeClr>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590920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14</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矩形 4"/>
          <p:cNvSpPr/>
          <p:nvPr/>
        </p:nvSpPr>
        <p:spPr>
          <a:xfrm>
            <a:off x="273941" y="987487"/>
            <a:ext cx="6478204" cy="461665"/>
          </a:xfrm>
          <a:prstGeom prst="rect">
            <a:avLst/>
          </a:prstGeom>
        </p:spPr>
        <p:txBody>
          <a:bodyPr wrap="square">
            <a:spAutoFit/>
          </a:bodyPr>
          <a:lstStyle/>
          <a:p>
            <a:pPr marL="342900" indent="-342900" algn="just">
              <a:spcBef>
                <a:spcPts val="0"/>
              </a:spcBef>
              <a:spcAft>
                <a:spcPts val="0"/>
              </a:spcAft>
              <a:buClr>
                <a:srgbClr val="7030A0"/>
              </a:buClr>
              <a:buSzPct val="75000"/>
              <a:buFont typeface="Wingdings" panose="05000000000000000000" pitchFamily="2" charset="2"/>
              <a:buChar char="n"/>
              <a:tabLst>
                <a:tab pos="2234565" algn="l"/>
              </a:tabLst>
            </a:pPr>
            <a:r>
              <a:rPr lang="zh-CN" altLang="en-US" kern="100" dirty="0">
                <a:solidFill>
                  <a:srgbClr val="C00000"/>
                </a:solidFill>
                <a:ea typeface="楷体" panose="02010609060101010101" pitchFamily="49" charset="-122"/>
                <a:cs typeface="Times New Roman" panose="02020603050405020304" pitchFamily="18" charset="0"/>
              </a:rPr>
              <a:t>正向离散</a:t>
            </a:r>
            <a:r>
              <a:rPr lang="en-US" altLang="zh-CN" kern="100" dirty="0">
                <a:solidFill>
                  <a:srgbClr val="C00000"/>
                </a:solidFill>
                <a:ea typeface="楷体" panose="02010609060101010101" pitchFamily="49" charset="-122"/>
                <a:cs typeface="Times New Roman" panose="02020603050405020304" pitchFamily="18" charset="0"/>
              </a:rPr>
              <a:t>DCT</a:t>
            </a:r>
            <a:r>
              <a:rPr lang="zh-CN" altLang="en-US" kern="100" dirty="0">
                <a:solidFill>
                  <a:srgbClr val="C00000"/>
                </a:solidFill>
                <a:ea typeface="楷体" panose="02010609060101010101" pitchFamily="49" charset="-122"/>
                <a:cs typeface="Times New Roman" panose="02020603050405020304" pitchFamily="18" charset="0"/>
              </a:rPr>
              <a:t>变换</a:t>
            </a:r>
            <a:endParaRPr lang="zh-CN" altLang="zh-CN" kern="100" dirty="0">
              <a:solidFill>
                <a:srgbClr val="C00000"/>
              </a:solidFill>
              <a:ea typeface="楷体" panose="02010609060101010101" pitchFamily="49" charset="-122"/>
              <a:cs typeface="Times New Roman" panose="02020603050405020304" pitchFamily="18" charset="0"/>
            </a:endParaRPr>
          </a:p>
        </p:txBody>
      </p:sp>
      <p:graphicFrame>
        <p:nvGraphicFramePr>
          <p:cNvPr id="9" name="Object 5"/>
          <p:cNvGraphicFramePr>
            <a:graphicFrameLocks noChangeAspect="1"/>
          </p:cNvGraphicFramePr>
          <p:nvPr>
            <p:extLst>
              <p:ext uri="{D42A27DB-BD31-4B8C-83A1-F6EECF244321}">
                <p14:modId xmlns:p14="http://schemas.microsoft.com/office/powerpoint/2010/main" val="3523349710"/>
              </p:ext>
            </p:extLst>
          </p:nvPr>
        </p:nvGraphicFramePr>
        <p:xfrm>
          <a:off x="344488" y="1491913"/>
          <a:ext cx="6538044" cy="1036575"/>
        </p:xfrm>
        <a:graphic>
          <a:graphicData uri="http://schemas.openxmlformats.org/presentationml/2006/ole">
            <mc:AlternateContent xmlns:mc="http://schemas.openxmlformats.org/markup-compatibility/2006">
              <mc:Choice xmlns:v="urn:schemas-microsoft-com:vml" Requires="v">
                <p:oleObj name="公式" r:id="rId2" imgW="4216320" imgH="634680" progId="Equation.3">
                  <p:embed/>
                </p:oleObj>
              </mc:Choice>
              <mc:Fallback>
                <p:oleObj name="公式" r:id="rId2" imgW="4216320" imgH="634680" progId="Equation.3">
                  <p:embed/>
                  <p:pic>
                    <p:nvPicPr>
                      <p:cNvPr id="4198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1491913"/>
                        <a:ext cx="6538044" cy="1036575"/>
                      </a:xfrm>
                      <a:prstGeom prst="rect">
                        <a:avLst/>
                      </a:prstGeom>
                      <a:noFill/>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3388171140"/>
              </p:ext>
            </p:extLst>
          </p:nvPr>
        </p:nvGraphicFramePr>
        <p:xfrm>
          <a:off x="617944" y="2302509"/>
          <a:ext cx="4006577" cy="905604"/>
        </p:xfrm>
        <a:graphic>
          <a:graphicData uri="http://schemas.openxmlformats.org/presentationml/2006/ole">
            <mc:AlternateContent xmlns:mc="http://schemas.openxmlformats.org/markup-compatibility/2006">
              <mc:Choice xmlns:v="urn:schemas-microsoft-com:vml" Requires="v">
                <p:oleObj name="公式" r:id="rId4" imgW="2768400" imgH="622080" progId="Equation.3">
                  <p:embed/>
                </p:oleObj>
              </mc:Choice>
              <mc:Fallback>
                <p:oleObj name="公式" r:id="rId4" imgW="2768400" imgH="622080" progId="Equation.3">
                  <p:embed/>
                  <p:pic>
                    <p:nvPicPr>
                      <p:cNvPr id="41987"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944" y="2302509"/>
                        <a:ext cx="4006577" cy="905604"/>
                      </a:xfrm>
                      <a:prstGeom prst="rect">
                        <a:avLst/>
                      </a:prstGeom>
                      <a:noFill/>
                    </p:spPr>
                  </p:pic>
                </p:oleObj>
              </mc:Fallback>
            </mc:AlternateContent>
          </a:graphicData>
        </a:graphic>
      </p:graphicFrame>
      <p:graphicFrame>
        <p:nvGraphicFramePr>
          <p:cNvPr id="12" name="Object 5"/>
          <p:cNvGraphicFramePr>
            <a:graphicFrameLocks noChangeAspect="1"/>
          </p:cNvGraphicFramePr>
          <p:nvPr>
            <p:extLst>
              <p:ext uri="{D42A27DB-BD31-4B8C-83A1-F6EECF244321}">
                <p14:modId xmlns:p14="http://schemas.microsoft.com/office/powerpoint/2010/main" val="2337398880"/>
              </p:ext>
            </p:extLst>
          </p:nvPr>
        </p:nvGraphicFramePr>
        <p:xfrm>
          <a:off x="1619645" y="3701300"/>
          <a:ext cx="4793953" cy="773781"/>
        </p:xfrm>
        <a:graphic>
          <a:graphicData uri="http://schemas.openxmlformats.org/presentationml/2006/ole">
            <mc:AlternateContent xmlns:mc="http://schemas.openxmlformats.org/markup-compatibility/2006">
              <mc:Choice xmlns:v="urn:schemas-microsoft-com:vml" Requires="v">
                <p:oleObj name="Equation" r:id="rId6" imgW="2755800" imgH="444240" progId="Equation.DSMT4">
                  <p:embed/>
                </p:oleObj>
              </mc:Choice>
              <mc:Fallback>
                <p:oleObj name="Equation" r:id="rId6" imgW="2755800" imgH="444240" progId="Equation.DSMT4">
                  <p:embed/>
                  <p:pic>
                    <p:nvPicPr>
                      <p:cNvPr id="7" name="Object 5"/>
                      <p:cNvPicPr>
                        <a:picLocks noChangeAspect="1" noChangeArrowheads="1"/>
                      </p:cNvPicPr>
                      <p:nvPr/>
                    </p:nvPicPr>
                    <p:blipFill>
                      <a:blip r:embed="rId7"/>
                      <a:srcRect/>
                      <a:stretch>
                        <a:fillRect/>
                      </a:stretch>
                    </p:blipFill>
                    <p:spPr bwMode="auto">
                      <a:xfrm>
                        <a:off x="1619645" y="3701300"/>
                        <a:ext cx="4793953" cy="773781"/>
                      </a:xfrm>
                      <a:prstGeom prst="rect">
                        <a:avLst/>
                      </a:prstGeom>
                      <a:noFill/>
                      <a:ln>
                        <a:noFill/>
                      </a:ln>
                      <a:effectLst/>
                    </p:spPr>
                  </p:pic>
                </p:oleObj>
              </mc:Fallback>
            </mc:AlternateContent>
          </a:graphicData>
        </a:graphic>
      </p:graphicFrame>
      <p:sp>
        <p:nvSpPr>
          <p:cNvPr id="13" name="AutoShape 11"/>
          <p:cNvSpPr>
            <a:spLocks noChangeArrowheads="1"/>
          </p:cNvSpPr>
          <p:nvPr/>
        </p:nvSpPr>
        <p:spPr bwMode="auto">
          <a:xfrm>
            <a:off x="358702" y="3341530"/>
            <a:ext cx="1511895" cy="504825"/>
          </a:xfrm>
          <a:prstGeom prst="wedgeRoundRectCallout">
            <a:avLst>
              <a:gd name="adj1" fmla="val 48500"/>
              <a:gd name="adj2" fmla="val 32389"/>
              <a:gd name="adj3" fmla="val 16667"/>
            </a:avLst>
          </a:prstGeom>
          <a:solidFill>
            <a:srgbClr val="000099"/>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dirty="0">
                <a:solidFill>
                  <a:srgbClr val="FFFF66"/>
                </a:solidFill>
                <a:latin typeface="楷体" panose="02010609060101010101" pitchFamily="49" charset="-122"/>
                <a:ea typeface="楷体" panose="02010609060101010101" pitchFamily="49" charset="-122"/>
              </a:rPr>
              <a:t>直流分量</a:t>
            </a:r>
          </a:p>
        </p:txBody>
      </p:sp>
      <p:sp>
        <p:nvSpPr>
          <p:cNvPr id="14" name="Text Box 10"/>
          <p:cNvSpPr txBox="1">
            <a:spLocks noChangeArrowheads="1"/>
          </p:cNvSpPr>
          <p:nvPr/>
        </p:nvSpPr>
        <p:spPr bwMode="auto">
          <a:xfrm>
            <a:off x="446908" y="4525307"/>
            <a:ext cx="6545387" cy="338554"/>
          </a:xfrm>
          <a:prstGeom prst="rect">
            <a:avLst/>
          </a:prstGeom>
          <a:noFill/>
          <a:ln w="9525">
            <a:noFill/>
            <a:miter lim="800000"/>
            <a:headEnd/>
            <a:tailEnd/>
          </a:ln>
          <a:effectLst/>
        </p:spPr>
        <p:txBody>
          <a:bodyPr wrap="square" lIns="0" tIns="0" rIns="0" bIns="0">
            <a:spAutoFit/>
          </a:bodyPr>
          <a:lstStyle/>
          <a:p>
            <a:pPr>
              <a:spcBef>
                <a:spcPct val="20000"/>
              </a:spcBef>
              <a:tabLst>
                <a:tab pos="533400" algn="l"/>
              </a:tabLst>
              <a:defRPr/>
            </a:pPr>
            <a:r>
              <a:rPr lang="zh-CN" altLang="en-US" sz="2200" b="1" dirty="0">
                <a:solidFill>
                  <a:srgbClr val="000000"/>
                </a:solidFill>
                <a:effectLst>
                  <a:outerShdw blurRad="38100" dist="38100" dir="2700000" algn="tl">
                    <a:srgbClr val="C0C0C0"/>
                  </a:outerShdw>
                </a:effectLst>
                <a:latin typeface="楷体" panose="02010609060101010101" pitchFamily="49" charset="-122"/>
                <a:ea typeface="楷体" panose="02010609060101010101" pitchFamily="49" charset="-122"/>
              </a:rPr>
              <a:t>这说明：</a:t>
            </a:r>
            <a:r>
              <a:rPr lang="zh-CN" altLang="en-US" sz="2200" b="1" dirty="0">
                <a:solidFill>
                  <a:srgbClr val="0000CC"/>
                </a:solidFill>
                <a:effectLst>
                  <a:outerShdw blurRad="38100" dist="38100" dir="2700000" algn="tl">
                    <a:srgbClr val="C0C0C0"/>
                  </a:outerShdw>
                </a:effectLst>
                <a:latin typeface="楷体" panose="02010609060101010101" pitchFamily="49" charset="-122"/>
                <a:ea typeface="楷体" panose="02010609060101010101" pitchFamily="49" charset="-122"/>
              </a:rPr>
              <a:t>在原点的</a:t>
            </a:r>
            <a:r>
              <a:rPr lang="en-US" altLang="zh-CN" sz="2200" dirty="0">
                <a:solidFill>
                  <a:srgbClr val="0000CC"/>
                </a:solidFill>
                <a:effectLst>
                  <a:outerShdw blurRad="38100" dist="38100" dir="2700000" algn="tl">
                    <a:srgbClr val="C0C0C0"/>
                  </a:outerShdw>
                </a:effectLst>
                <a:latin typeface="楷体" panose="02010609060101010101" pitchFamily="49" charset="-122"/>
                <a:ea typeface="楷体" panose="02010609060101010101" pitchFamily="49" charset="-122"/>
              </a:rPr>
              <a:t>DCT</a:t>
            </a:r>
            <a:r>
              <a:rPr lang="zh-CN" altLang="en-US" sz="2200" b="1" dirty="0">
                <a:solidFill>
                  <a:srgbClr val="0000CC"/>
                </a:solidFill>
                <a:effectLst>
                  <a:outerShdw blurRad="38100" dist="38100" dir="2700000" algn="tl">
                    <a:srgbClr val="C0C0C0"/>
                  </a:outerShdw>
                </a:effectLst>
                <a:latin typeface="楷体" panose="02010609060101010101" pitchFamily="49" charset="-122"/>
                <a:ea typeface="楷体" panose="02010609060101010101" pitchFamily="49" charset="-122"/>
              </a:rPr>
              <a:t>变换和图像的</a:t>
            </a:r>
            <a:r>
              <a:rPr lang="zh-CN" altLang="en-US" sz="2200" b="1" i="1" u="sng" dirty="0">
                <a:solidFill>
                  <a:srgbClr val="0000CC"/>
                </a:solidFill>
                <a:effectLst>
                  <a:outerShdw blurRad="38100" dist="38100" dir="2700000" algn="tl">
                    <a:srgbClr val="C0C0C0"/>
                  </a:outerShdw>
                </a:effectLst>
                <a:latin typeface="楷体" panose="02010609060101010101" pitchFamily="49" charset="-122"/>
                <a:ea typeface="楷体" panose="02010609060101010101" pitchFamily="49" charset="-122"/>
              </a:rPr>
              <a:t>平均灰度成正比</a:t>
            </a:r>
          </a:p>
        </p:txBody>
      </p:sp>
      <p:sp>
        <p:nvSpPr>
          <p:cNvPr id="15" name="文本框 14"/>
          <p:cNvSpPr txBox="1"/>
          <p:nvPr/>
        </p:nvSpPr>
        <p:spPr>
          <a:xfrm>
            <a:off x="4882083" y="2221854"/>
            <a:ext cx="2047355" cy="400110"/>
          </a:xfrm>
          <a:prstGeom prst="rect">
            <a:avLst/>
          </a:prstGeom>
          <a:noFill/>
        </p:spPr>
        <p:txBody>
          <a:bodyPr wrap="none" rtlCol="0">
            <a:spAutoFit/>
          </a:bodyPr>
          <a:lstStyle/>
          <a:p>
            <a:r>
              <a:rPr lang="en-US" altLang="zh-CN" sz="2000" i="1" dirty="0" err="1"/>
              <a:t>x</a:t>
            </a:r>
            <a:r>
              <a:rPr lang="en-US" altLang="zh-CN" sz="2000" dirty="0" err="1"/>
              <a:t>,</a:t>
            </a:r>
            <a:r>
              <a:rPr lang="en-US" altLang="zh-CN" sz="2000" i="1" dirty="0" err="1"/>
              <a:t>y</a:t>
            </a:r>
            <a:r>
              <a:rPr lang="en-US" altLang="zh-CN" sz="2000" dirty="0" err="1"/>
              <a:t>,</a:t>
            </a:r>
            <a:r>
              <a:rPr lang="en-US" altLang="zh-CN" sz="2000" i="1" dirty="0" err="1"/>
              <a:t>u</a:t>
            </a:r>
            <a:r>
              <a:rPr lang="en-US" altLang="zh-CN" sz="2000" dirty="0" err="1"/>
              <a:t>,</a:t>
            </a:r>
            <a:r>
              <a:rPr lang="en-US" altLang="zh-CN" sz="2000" i="1" dirty="0" err="1"/>
              <a:t>v</a:t>
            </a:r>
            <a:r>
              <a:rPr lang="en-US" altLang="zh-CN" sz="2000" dirty="0"/>
              <a:t>=0,1,2,…,7</a:t>
            </a:r>
            <a:endParaRPr lang="zh-CN" altLang="en-US" sz="2000" dirty="0"/>
          </a:p>
        </p:txBody>
      </p:sp>
      <p:sp>
        <p:nvSpPr>
          <p:cNvPr id="6" name="文本框 5">
            <a:extLst>
              <a:ext uri="{FF2B5EF4-FFF2-40B4-BE49-F238E27FC236}">
                <a16:creationId xmlns:a16="http://schemas.microsoft.com/office/drawing/2014/main" id="{C85DE9C9-94F9-7BD8-F3B3-E19A84BC89F4}"/>
              </a:ext>
            </a:extLst>
          </p:cNvPr>
          <p:cNvSpPr txBox="1"/>
          <p:nvPr/>
        </p:nvSpPr>
        <p:spPr>
          <a:xfrm>
            <a:off x="5464204" y="331728"/>
            <a:ext cx="700833" cy="400110"/>
          </a:xfrm>
          <a:prstGeom prst="rect">
            <a:avLst/>
          </a:prstGeom>
          <a:noFill/>
        </p:spPr>
        <p:txBody>
          <a:bodyPr wrap="none" rtlCol="0">
            <a:spAutoFit/>
          </a:bodyPr>
          <a:lstStyle/>
          <a:p>
            <a:r>
              <a:rPr lang="zh-CN" altLang="en-US" sz="2000" dirty="0">
                <a:solidFill>
                  <a:schemeClr val="accent2">
                    <a:lumMod val="75000"/>
                  </a:schemeClr>
                </a:solidFill>
                <a:latin typeface="华光综艺_CNKI" panose="02000500000000000000" pitchFamily="2" charset="-122"/>
                <a:ea typeface="华光综艺_CNKI" panose="02000500000000000000" pitchFamily="2" charset="-122"/>
                <a:hlinkClick r:id="rId8" action="ppaction://hlinksldjump"/>
              </a:rPr>
              <a:t>示例</a:t>
            </a:r>
            <a:endParaRPr lang="zh-CN" altLang="en-US" sz="2000" dirty="0">
              <a:solidFill>
                <a:schemeClr val="accent2">
                  <a:lumMod val="75000"/>
                </a:schemeClr>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3562615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15</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6" name="TextBox 2"/>
          <p:cNvSpPr txBox="1">
            <a:spLocks noChangeArrowheads="1"/>
          </p:cNvSpPr>
          <p:nvPr/>
        </p:nvSpPr>
        <p:spPr bwMode="auto">
          <a:xfrm>
            <a:off x="560239" y="1559917"/>
            <a:ext cx="6250136" cy="335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spcBef>
                <a:spcPts val="300"/>
              </a:spcBef>
              <a:spcAft>
                <a:spcPts val="300"/>
              </a:spcAft>
              <a:buClr>
                <a:srgbClr val="7030A0"/>
              </a:buClr>
              <a:buSzPct val="75000"/>
              <a:buFont typeface="Wingdings" panose="05000000000000000000" pitchFamily="2" charset="2"/>
              <a:buChar char="p"/>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8</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8</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DCT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变换矩阵，共计</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64</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个变换域系数。</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eaLnBrk="1" hangingPunct="1">
              <a:spcBef>
                <a:spcPts val="300"/>
              </a:spcBef>
              <a:spcAft>
                <a:spcPts val="300"/>
              </a:spcAft>
              <a:buClr>
                <a:srgbClr val="7030A0"/>
              </a:buClr>
              <a:buSzPct val="75000"/>
              <a:buFont typeface="Wingdings" panose="05000000000000000000" pitchFamily="2" charset="2"/>
              <a:buChar char="p"/>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F(0,0)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系数称为直流系数，即</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DC</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系数，代表该子图像平均亮度。</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eaLnBrk="1" hangingPunct="1">
              <a:spcBef>
                <a:spcPts val="300"/>
              </a:spcBef>
              <a:spcAft>
                <a:spcPts val="300"/>
              </a:spcAft>
              <a:buClr>
                <a:srgbClr val="7030A0"/>
              </a:buClr>
              <a:buSzPct val="75000"/>
              <a:buFont typeface="Wingdings" panose="05000000000000000000" pitchFamily="2" charset="2"/>
              <a:buChar char="p"/>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其余</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63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个系数称为交流系数，即</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AC</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系数。</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eaLnBrk="1" hangingPunct="1">
              <a:spcBef>
                <a:spcPts val="300"/>
              </a:spcBef>
              <a:spcAft>
                <a:spcPts val="300"/>
              </a:spcAft>
              <a:buClr>
                <a:srgbClr val="7030A0"/>
              </a:buClr>
              <a:buSzPct val="75000"/>
              <a:buFont typeface="Wingdings" panose="05000000000000000000" pitchFamily="2" charset="2"/>
              <a:buChar char="p"/>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特性：图像信号能量主要分布在低频区域。</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eaLnBrk="1" hangingPunct="1">
              <a:spcBef>
                <a:spcPts val="300"/>
              </a:spcBef>
              <a:spcAft>
                <a:spcPts val="300"/>
              </a:spcAft>
              <a:buClr>
                <a:srgbClr val="7030A0"/>
              </a:buClr>
              <a:buSzPct val="75000"/>
              <a:buFont typeface="Wingdings" panose="05000000000000000000" pitchFamily="2" charset="2"/>
              <a:buChar char="p"/>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DCT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变换域图像特性：左上角低频，右下角高频。低频域变换系数值较大，高频变换域系数值较小。</a:t>
            </a:r>
          </a:p>
        </p:txBody>
      </p:sp>
      <p:sp>
        <p:nvSpPr>
          <p:cNvPr id="7" name="矩形 6"/>
          <p:cNvSpPr/>
          <p:nvPr/>
        </p:nvSpPr>
        <p:spPr>
          <a:xfrm>
            <a:off x="273941" y="987487"/>
            <a:ext cx="6478204" cy="461665"/>
          </a:xfrm>
          <a:prstGeom prst="rect">
            <a:avLst/>
          </a:prstGeom>
        </p:spPr>
        <p:txBody>
          <a:bodyPr wrap="square">
            <a:spAutoFit/>
          </a:bodyPr>
          <a:lstStyle/>
          <a:p>
            <a:pPr marL="342900" indent="-342900" algn="just">
              <a:spcBef>
                <a:spcPts val="0"/>
              </a:spcBef>
              <a:spcAft>
                <a:spcPts val="0"/>
              </a:spcAft>
              <a:buClr>
                <a:srgbClr val="7030A0"/>
              </a:buClr>
              <a:buSzPct val="75000"/>
              <a:buFont typeface="Wingdings" panose="05000000000000000000" pitchFamily="2" charset="2"/>
              <a:buChar char="n"/>
              <a:tabLst>
                <a:tab pos="2234565" algn="l"/>
              </a:tabLst>
            </a:pPr>
            <a:r>
              <a:rPr lang="zh-CN" altLang="en-US" kern="100" dirty="0">
                <a:solidFill>
                  <a:srgbClr val="C00000"/>
                </a:solidFill>
                <a:ea typeface="楷体" panose="02010609060101010101" pitchFamily="49" charset="-122"/>
                <a:cs typeface="Times New Roman" panose="02020603050405020304" pitchFamily="18" charset="0"/>
              </a:rPr>
              <a:t>正向离散</a:t>
            </a:r>
            <a:r>
              <a:rPr lang="en-US" altLang="zh-CN" kern="100" dirty="0">
                <a:solidFill>
                  <a:srgbClr val="C00000"/>
                </a:solidFill>
                <a:ea typeface="楷体" panose="02010609060101010101" pitchFamily="49" charset="-122"/>
                <a:cs typeface="Times New Roman" panose="02020603050405020304" pitchFamily="18" charset="0"/>
              </a:rPr>
              <a:t>DCT</a:t>
            </a:r>
            <a:r>
              <a:rPr lang="zh-CN" altLang="en-US" kern="100" dirty="0">
                <a:solidFill>
                  <a:srgbClr val="C00000"/>
                </a:solidFill>
                <a:ea typeface="楷体" panose="02010609060101010101" pitchFamily="49" charset="-122"/>
                <a:cs typeface="Times New Roman" panose="02020603050405020304" pitchFamily="18" charset="0"/>
              </a:rPr>
              <a:t>变换</a:t>
            </a:r>
            <a:endParaRPr lang="zh-CN" altLang="zh-CN" kern="100" dirty="0">
              <a:solidFill>
                <a:srgbClr val="C00000"/>
              </a:solidFill>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91518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16</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矩形 4"/>
          <p:cNvSpPr/>
          <p:nvPr/>
        </p:nvSpPr>
        <p:spPr>
          <a:xfrm>
            <a:off x="332171" y="1029040"/>
            <a:ext cx="6478204" cy="461665"/>
          </a:xfrm>
          <a:prstGeom prst="rect">
            <a:avLst/>
          </a:prstGeom>
        </p:spPr>
        <p:txBody>
          <a:bodyPr wrap="square">
            <a:spAutoFit/>
          </a:bodyPr>
          <a:lstStyle/>
          <a:p>
            <a:pPr marL="342900" indent="-342900" algn="just">
              <a:spcBef>
                <a:spcPts val="0"/>
              </a:spcBef>
              <a:spcAft>
                <a:spcPts val="0"/>
              </a:spcAft>
              <a:buClr>
                <a:srgbClr val="7030A0"/>
              </a:buClr>
              <a:buSzPct val="75000"/>
              <a:buFont typeface="Wingdings" panose="05000000000000000000" pitchFamily="2" charset="2"/>
              <a:buChar char="n"/>
              <a:tabLst>
                <a:tab pos="2234565" algn="l"/>
              </a:tabLst>
            </a:pPr>
            <a:r>
              <a:rPr lang="zh-CN" altLang="en-US"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量化</a:t>
            </a:r>
            <a:endParaRPr lang="zh-CN" altLang="zh-CN"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6" name="Text Box 4"/>
          <p:cNvSpPr txBox="1">
            <a:spLocks noChangeArrowheads="1"/>
          </p:cNvSpPr>
          <p:nvPr/>
        </p:nvSpPr>
        <p:spPr bwMode="auto">
          <a:xfrm>
            <a:off x="560239" y="1490705"/>
            <a:ext cx="6381799" cy="3570208"/>
          </a:xfrm>
          <a:prstGeom prst="rect">
            <a:avLst/>
          </a:prstGeom>
          <a:noFill/>
          <a:ln w="9525">
            <a:noFill/>
            <a:miter lim="800000"/>
            <a:headEnd/>
            <a:tailEnd/>
          </a:ln>
        </p:spPr>
        <p:txBody>
          <a:bodyPr wrap="square">
            <a:spAutoFit/>
          </a:bodyPr>
          <a:lstStyle/>
          <a:p>
            <a:pPr algn="just">
              <a:spcBef>
                <a:spcPts val="300"/>
              </a:spcBef>
              <a:buClr>
                <a:schemeClr val="hlink"/>
              </a:buClr>
              <a:buFontTx/>
              <a:buNone/>
              <a:defRPr/>
            </a:pPr>
            <a:r>
              <a:rPr lang="en-US" altLang="zh-CN" dirty="0">
                <a:ea typeface="楷体" panose="02010609060101010101" pitchFamily="49" charset="-122"/>
                <a:cs typeface="Times New Roman" panose="02020603050405020304" pitchFamily="18" charset="0"/>
              </a:rPr>
              <a:t> </a:t>
            </a:r>
            <a:r>
              <a:rPr lang="zh-CN" altLang="en-US" dirty="0">
                <a:ea typeface="楷体" panose="02010609060101010101" pitchFamily="49" charset="-122"/>
                <a:cs typeface="Times New Roman" panose="02020603050405020304" pitchFamily="18" charset="0"/>
              </a:rPr>
              <a:t>根据人眼的视觉特性，</a:t>
            </a:r>
            <a:endParaRPr lang="en-US" altLang="zh-CN" dirty="0">
              <a:ea typeface="楷体" panose="02010609060101010101" pitchFamily="49" charset="-122"/>
              <a:cs typeface="Times New Roman" panose="02020603050405020304" pitchFamily="18" charset="0"/>
            </a:endParaRPr>
          </a:p>
          <a:p>
            <a:pPr marL="342900" indent="-342900" algn="just">
              <a:spcBef>
                <a:spcPts val="300"/>
              </a:spcBef>
              <a:buClr>
                <a:srgbClr val="7030A0"/>
              </a:buClr>
              <a:buSzPct val="75000"/>
              <a:buFont typeface="Wingdings" panose="05000000000000000000" pitchFamily="2" charset="2"/>
              <a:buChar char="p"/>
              <a:defRPr/>
            </a:pPr>
            <a:r>
              <a:rPr lang="zh-CN" altLang="en-US" b="1" dirty="0">
                <a:ea typeface="楷体" panose="02010609060101010101" pitchFamily="49" charset="-122"/>
                <a:cs typeface="Times New Roman" panose="02020603050405020304" pitchFamily="18" charset="0"/>
              </a:rPr>
              <a:t> </a:t>
            </a:r>
            <a:r>
              <a:rPr lang="zh-CN" altLang="en-US" b="1" dirty="0">
                <a:solidFill>
                  <a:srgbClr val="0000CC"/>
                </a:solidFill>
                <a:ea typeface="楷体" panose="02010609060101010101" pitchFamily="49" charset="-122"/>
                <a:cs typeface="Times New Roman" panose="02020603050405020304" pitchFamily="18" charset="0"/>
              </a:rPr>
              <a:t>人眼对亮度信号比对色度信号更加敏感。</a:t>
            </a:r>
            <a:endParaRPr lang="en-US" altLang="zh-CN" b="1" dirty="0">
              <a:solidFill>
                <a:srgbClr val="0000CC"/>
              </a:solidFill>
              <a:ea typeface="楷体" panose="02010609060101010101" pitchFamily="49" charset="-122"/>
              <a:cs typeface="Times New Roman" panose="02020603050405020304" pitchFamily="18" charset="0"/>
            </a:endParaRPr>
          </a:p>
          <a:p>
            <a:pPr algn="just">
              <a:spcBef>
                <a:spcPts val="300"/>
              </a:spcBef>
              <a:buClr>
                <a:srgbClr val="C00000"/>
              </a:buClr>
              <a:buFont typeface="Wingdings" panose="05000000000000000000" pitchFamily="2" charset="2"/>
              <a:buNone/>
              <a:defRPr/>
            </a:pPr>
            <a:r>
              <a:rPr lang="en-US" altLang="zh-CN" dirty="0">
                <a:ea typeface="楷体" panose="02010609060101010101" pitchFamily="49" charset="-122"/>
                <a:cs typeface="Times New Roman" panose="02020603050405020304" pitchFamily="18" charset="0"/>
              </a:rPr>
              <a:t>    JPEG</a:t>
            </a:r>
            <a:r>
              <a:rPr lang="zh-CN" altLang="en-US" dirty="0">
                <a:ea typeface="楷体" panose="02010609060101010101" pitchFamily="49" charset="-122"/>
                <a:cs typeface="Times New Roman" panose="02020603050405020304" pitchFamily="18" charset="0"/>
              </a:rPr>
              <a:t>标准中使用</a:t>
            </a:r>
            <a:r>
              <a:rPr lang="zh-CN" altLang="en-US" b="1" dirty="0">
                <a:ea typeface="楷体" panose="02010609060101010101" pitchFamily="49" charset="-122"/>
                <a:cs typeface="Times New Roman" panose="02020603050405020304" pitchFamily="18" charset="0"/>
              </a:rPr>
              <a:t>两个量化表：</a:t>
            </a:r>
            <a:r>
              <a:rPr lang="zh-CN" altLang="en-US" dirty="0">
                <a:solidFill>
                  <a:srgbClr val="FF0000"/>
                </a:solidFill>
                <a:ea typeface="楷体" panose="02010609060101010101" pitchFamily="49" charset="-122"/>
                <a:cs typeface="Times New Roman" panose="02020603050405020304" pitchFamily="18" charset="0"/>
              </a:rPr>
              <a:t>亮度量化</a:t>
            </a:r>
            <a:r>
              <a:rPr lang="zh-CN" altLang="en-US" dirty="0">
                <a:ea typeface="楷体" panose="02010609060101010101" pitchFamily="49" charset="-122"/>
                <a:cs typeface="Times New Roman" panose="02020603050405020304" pitchFamily="18" charset="0"/>
              </a:rPr>
              <a:t>表和</a:t>
            </a:r>
            <a:r>
              <a:rPr lang="zh-CN" altLang="en-US" dirty="0">
                <a:solidFill>
                  <a:srgbClr val="FF0000"/>
                </a:solidFill>
                <a:ea typeface="楷体" panose="02010609060101010101" pitchFamily="49" charset="-122"/>
                <a:cs typeface="Times New Roman" panose="02020603050405020304" pitchFamily="18" charset="0"/>
              </a:rPr>
              <a:t>色度量化</a:t>
            </a:r>
            <a:r>
              <a:rPr lang="zh-CN" altLang="en-US" dirty="0">
                <a:ea typeface="楷体" panose="02010609060101010101" pitchFamily="49" charset="-122"/>
                <a:cs typeface="Times New Roman" panose="02020603050405020304" pitchFamily="18" charset="0"/>
              </a:rPr>
              <a:t>表。</a:t>
            </a:r>
            <a:endParaRPr lang="en-US" altLang="zh-CN" dirty="0">
              <a:ea typeface="楷体" panose="02010609060101010101" pitchFamily="49" charset="-122"/>
              <a:cs typeface="Times New Roman" panose="02020603050405020304" pitchFamily="18" charset="0"/>
            </a:endParaRPr>
          </a:p>
          <a:p>
            <a:pPr marL="342900" indent="-342900" algn="just">
              <a:spcBef>
                <a:spcPts val="300"/>
              </a:spcBef>
              <a:buClr>
                <a:srgbClr val="7030A0"/>
              </a:buClr>
              <a:buSzPct val="75000"/>
              <a:buFont typeface="Wingdings" panose="05000000000000000000" pitchFamily="2" charset="2"/>
              <a:buChar char="p"/>
              <a:defRPr/>
            </a:pPr>
            <a:r>
              <a:rPr lang="zh-CN" altLang="en-US" b="1" dirty="0">
                <a:ea typeface="楷体" panose="02010609060101010101" pitchFamily="49" charset="-122"/>
                <a:cs typeface="Times New Roman" panose="02020603050405020304" pitchFamily="18" charset="0"/>
              </a:rPr>
              <a:t> </a:t>
            </a:r>
            <a:r>
              <a:rPr lang="zh-CN" altLang="en-US" b="1" dirty="0">
                <a:solidFill>
                  <a:srgbClr val="0000CC"/>
                </a:solidFill>
                <a:ea typeface="楷体" panose="02010609060101010101" pitchFamily="49" charset="-122"/>
                <a:cs typeface="Times New Roman" panose="02020603050405020304" pitchFamily="18" charset="0"/>
              </a:rPr>
              <a:t>人眼对低频信号比对高频信号更加敏感。</a:t>
            </a:r>
            <a:br>
              <a:rPr lang="en-US" altLang="zh-CN" b="1" dirty="0">
                <a:solidFill>
                  <a:srgbClr val="0000CC"/>
                </a:solidFill>
                <a:ea typeface="楷体" panose="02010609060101010101" pitchFamily="49" charset="-122"/>
                <a:cs typeface="Times New Roman" panose="02020603050405020304" pitchFamily="18" charset="0"/>
              </a:rPr>
            </a:br>
            <a:r>
              <a:rPr lang="zh-CN" altLang="en-US" dirty="0">
                <a:ea typeface="楷体" panose="02010609060101010101" pitchFamily="49" charset="-122"/>
                <a:cs typeface="Times New Roman" panose="02020603050405020304" pitchFamily="18" charset="0"/>
              </a:rPr>
              <a:t>高频编码分配较少比特数。</a:t>
            </a:r>
            <a:endParaRPr lang="en-US" altLang="zh-CN" dirty="0">
              <a:ea typeface="楷体" panose="02010609060101010101" pitchFamily="49" charset="-122"/>
              <a:cs typeface="Times New Roman" panose="02020603050405020304" pitchFamily="18" charset="0"/>
            </a:endParaRPr>
          </a:p>
          <a:p>
            <a:pPr algn="just">
              <a:spcBef>
                <a:spcPts val="300"/>
              </a:spcBef>
              <a:buClr>
                <a:schemeClr val="hlink"/>
              </a:buClr>
              <a:buFontTx/>
              <a:buNone/>
              <a:defRPr/>
            </a:pPr>
            <a:r>
              <a:rPr lang="zh-CN" altLang="en-US" dirty="0">
                <a:ea typeface="楷体" panose="02010609060101010101" pitchFamily="49" charset="-122"/>
                <a:cs typeface="Times New Roman" panose="02020603050405020304" pitchFamily="18" charset="0"/>
              </a:rPr>
              <a:t>    量化的原则是</a:t>
            </a:r>
            <a:r>
              <a:rPr lang="zh-CN" altLang="en-US" b="1" u="sng" dirty="0">
                <a:ea typeface="楷体" panose="02010609060101010101" pitchFamily="49" charset="-122"/>
                <a:cs typeface="Times New Roman" panose="02020603050405020304" pitchFamily="18" charset="0"/>
              </a:rPr>
              <a:t>低频部分用小的值量化，高频部分用大的值量化</a:t>
            </a:r>
            <a:r>
              <a:rPr lang="zh-CN" altLang="en-US" dirty="0">
                <a:ea typeface="楷体" panose="02010609060101010101" pitchFamily="49" charset="-122"/>
                <a:cs typeface="Times New Roman" panose="02020603050405020304" pitchFamily="18" charset="0"/>
              </a:rPr>
              <a:t>，量化的结果将会在高频部分出现大量的</a:t>
            </a:r>
            <a:r>
              <a:rPr lang="en-US" altLang="zh-CN" dirty="0">
                <a:ea typeface="楷体" panose="02010609060101010101" pitchFamily="49" charset="-122"/>
                <a:cs typeface="Times New Roman" panose="02020603050405020304" pitchFamily="18" charset="0"/>
              </a:rPr>
              <a:t>0</a:t>
            </a:r>
            <a:r>
              <a:rPr lang="zh-CN" altLang="en-US" dirty="0">
                <a:ea typeface="楷体" panose="02010609060101010101" pitchFamily="49" charset="-122"/>
                <a:cs typeface="Times New Roman" panose="02020603050405020304" pitchFamily="18" charset="0"/>
              </a:rPr>
              <a:t>。</a:t>
            </a:r>
            <a:r>
              <a:rPr lang="en-US" altLang="zh-CN" dirty="0">
                <a:ea typeface="楷体" panose="02010609060101010101" pitchFamily="49" charset="-122"/>
                <a:cs typeface="Times New Roman" panose="02020603050405020304" pitchFamily="18" charset="0"/>
              </a:rPr>
              <a:t> </a:t>
            </a:r>
          </a:p>
        </p:txBody>
      </p:sp>
    </p:spTree>
    <p:extLst>
      <p:ext uri="{BB962C8B-B14F-4D97-AF65-F5344CB8AC3E}">
        <p14:creationId xmlns:p14="http://schemas.microsoft.com/office/powerpoint/2010/main" val="20562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17</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4"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a:t>
            </a: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标准和</a:t>
            </a: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JPEG2000</a:t>
            </a:r>
            <a:endPar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endParaRPr>
          </a:p>
        </p:txBody>
      </p:sp>
      <p:sp>
        <p:nvSpPr>
          <p:cNvPr id="6" name="矩形 5"/>
          <p:cNvSpPr/>
          <p:nvPr/>
        </p:nvSpPr>
        <p:spPr>
          <a:xfrm>
            <a:off x="326504" y="1613500"/>
            <a:ext cx="3547766" cy="348813"/>
          </a:xfrm>
          <a:prstGeom prst="rect">
            <a:avLst/>
          </a:prstGeom>
        </p:spPr>
        <p:txBody>
          <a:bodyPr wrap="none">
            <a:spAutoFit/>
          </a:bodyPr>
          <a:lstStyle/>
          <a:p>
            <a:pPr indent="266700" algn="just">
              <a:lnSpc>
                <a:spcPts val="2000"/>
              </a:lnSpc>
              <a:spcAft>
                <a:spcPts val="0"/>
              </a:spcAft>
            </a:pPr>
            <a:r>
              <a:rPr lang="zh-CN" altLang="zh-CN" kern="100" dirty="0">
                <a:latin typeface="楷体" panose="02010609060101010101" pitchFamily="49" charset="-122"/>
                <a:ea typeface="楷体" panose="02010609060101010101" pitchFamily="49" charset="-122"/>
              </a:rPr>
              <a:t>量化的具体计算公式为</a:t>
            </a:r>
          </a:p>
        </p:txBody>
      </p:sp>
      <p:graphicFrame>
        <p:nvGraphicFramePr>
          <p:cNvPr id="8" name="对象 7"/>
          <p:cNvGraphicFramePr>
            <a:graphicFrameLocks noChangeAspect="1"/>
          </p:cNvGraphicFramePr>
          <p:nvPr>
            <p:extLst>
              <p:ext uri="{D42A27DB-BD31-4B8C-83A1-F6EECF244321}">
                <p14:modId xmlns:p14="http://schemas.microsoft.com/office/powerpoint/2010/main" val="4116307191"/>
              </p:ext>
            </p:extLst>
          </p:nvPr>
        </p:nvGraphicFramePr>
        <p:xfrm>
          <a:off x="555625" y="2084388"/>
          <a:ext cx="2773363" cy="782637"/>
        </p:xfrm>
        <a:graphic>
          <a:graphicData uri="http://schemas.openxmlformats.org/presentationml/2006/ole">
            <mc:AlternateContent xmlns:mc="http://schemas.openxmlformats.org/markup-compatibility/2006">
              <mc:Choice xmlns:v="urn:schemas-microsoft-com:vml" Requires="v">
                <p:oleObj name="Equation" r:id="rId2" imgW="1828800" imgH="507960" progId="Equation.DSMT4">
                  <p:embed/>
                </p:oleObj>
              </mc:Choice>
              <mc:Fallback>
                <p:oleObj name="Equation" r:id="rId2" imgW="1828800" imgH="507960" progId="Equation.DSMT4">
                  <p:embed/>
                  <p:pic>
                    <p:nvPicPr>
                      <p:cNvPr id="0" name="Object 1"/>
                      <p:cNvPicPr>
                        <a:picLocks noChangeAspect="1" noChangeArrowheads="1"/>
                      </p:cNvPicPr>
                      <p:nvPr/>
                    </p:nvPicPr>
                    <p:blipFill>
                      <a:blip r:embed="rId3"/>
                      <a:srcRect/>
                      <a:stretch>
                        <a:fillRect/>
                      </a:stretch>
                    </p:blipFill>
                    <p:spPr bwMode="auto">
                      <a:xfrm>
                        <a:off x="555625" y="2084388"/>
                        <a:ext cx="2773363" cy="782637"/>
                      </a:xfrm>
                      <a:prstGeom prst="rect">
                        <a:avLst/>
                      </a:prstGeom>
                      <a:noFill/>
                    </p:spPr>
                  </p:pic>
                </p:oleObj>
              </mc:Fallback>
            </mc:AlternateContent>
          </a:graphicData>
        </a:graphic>
      </p:graphicFrame>
      <p:sp>
        <p:nvSpPr>
          <p:cNvPr id="9" name="文本框 8"/>
          <p:cNvSpPr txBox="1"/>
          <p:nvPr/>
        </p:nvSpPr>
        <p:spPr>
          <a:xfrm>
            <a:off x="3516970" y="2071137"/>
            <a:ext cx="3240360" cy="769441"/>
          </a:xfrm>
          <a:prstGeom prst="rect">
            <a:avLst/>
          </a:prstGeom>
          <a:noFill/>
        </p:spPr>
        <p:txBody>
          <a:bodyPr wrap="square" rtlCol="0">
            <a:spAutoFit/>
          </a:bodyPr>
          <a:lstStyle/>
          <a:p>
            <a:r>
              <a:rPr lang="en-US" altLang="zh-CN" sz="2200" i="1" dirty="0">
                <a:ea typeface="楷体" panose="02010609060101010101" pitchFamily="49" charset="-122"/>
                <a:cs typeface="Times New Roman" panose="02020603050405020304" pitchFamily="18" charset="0"/>
              </a:rPr>
              <a:t>----  F</a:t>
            </a:r>
            <a:r>
              <a:rPr lang="en-US" altLang="zh-CN" sz="2200" dirty="0">
                <a:ea typeface="楷体" panose="02010609060101010101" pitchFamily="49" charset="-122"/>
                <a:cs typeface="Times New Roman" panose="02020603050405020304" pitchFamily="18" charset="0"/>
              </a:rPr>
              <a:t> (</a:t>
            </a:r>
            <a:r>
              <a:rPr lang="en-US" altLang="zh-CN" sz="2200" i="1" dirty="0" err="1">
                <a:ea typeface="楷体" panose="02010609060101010101" pitchFamily="49" charset="-122"/>
                <a:cs typeface="Times New Roman" panose="02020603050405020304" pitchFamily="18" charset="0"/>
              </a:rPr>
              <a:t>u</a:t>
            </a:r>
            <a:r>
              <a:rPr lang="en-US" altLang="zh-CN" sz="2200" dirty="0" err="1">
                <a:ea typeface="楷体" panose="02010609060101010101" pitchFamily="49" charset="-122"/>
                <a:cs typeface="Times New Roman" panose="02020603050405020304" pitchFamily="18" charset="0"/>
              </a:rPr>
              <a:t>,</a:t>
            </a:r>
            <a:r>
              <a:rPr lang="en-US" altLang="zh-CN" sz="2200" i="1" dirty="0" err="1">
                <a:ea typeface="楷体" panose="02010609060101010101" pitchFamily="49" charset="-122"/>
                <a:cs typeface="Times New Roman" panose="02020603050405020304" pitchFamily="18" charset="0"/>
              </a:rPr>
              <a:t>v</a:t>
            </a:r>
            <a:r>
              <a:rPr lang="en-US" altLang="zh-CN" sz="2200" dirty="0">
                <a:ea typeface="楷体" panose="02010609060101010101" pitchFamily="49" charset="-122"/>
                <a:cs typeface="Times New Roman" panose="02020603050405020304" pitchFamily="18" charset="0"/>
              </a:rPr>
              <a:t>)</a:t>
            </a:r>
            <a:r>
              <a:rPr lang="zh-CN" altLang="en-US" sz="2200" dirty="0">
                <a:ea typeface="楷体" panose="02010609060101010101" pitchFamily="49" charset="-122"/>
                <a:cs typeface="Times New Roman" panose="02020603050405020304" pitchFamily="18" charset="0"/>
              </a:rPr>
              <a:t>为</a:t>
            </a:r>
            <a:r>
              <a:rPr lang="en-US" altLang="zh-CN" sz="2200" dirty="0">
                <a:ea typeface="楷体" panose="02010609060101010101" pitchFamily="49" charset="-122"/>
                <a:cs typeface="Times New Roman" panose="02020603050405020304" pitchFamily="18" charset="0"/>
              </a:rPr>
              <a:t>DCT</a:t>
            </a:r>
            <a:r>
              <a:rPr lang="zh-CN" altLang="en-US" sz="2200" dirty="0">
                <a:ea typeface="楷体" panose="02010609060101010101" pitchFamily="49" charset="-122"/>
                <a:cs typeface="Times New Roman" panose="02020603050405020304" pitchFamily="18" charset="0"/>
              </a:rPr>
              <a:t>系数</a:t>
            </a:r>
            <a:endParaRPr lang="en-US" altLang="zh-CN" sz="2200" dirty="0">
              <a:ea typeface="楷体" panose="02010609060101010101" pitchFamily="49" charset="-122"/>
              <a:cs typeface="Times New Roman" panose="02020603050405020304" pitchFamily="18" charset="0"/>
            </a:endParaRPr>
          </a:p>
          <a:p>
            <a:r>
              <a:rPr lang="en-US" altLang="zh-CN" sz="2200" i="1" dirty="0">
                <a:ea typeface="楷体" panose="02010609060101010101" pitchFamily="49" charset="-122"/>
                <a:cs typeface="Times New Roman" panose="02020603050405020304" pitchFamily="18" charset="0"/>
              </a:rPr>
              <a:t>----  Q</a:t>
            </a:r>
            <a:r>
              <a:rPr lang="en-US" altLang="zh-CN" sz="2200" dirty="0">
                <a:ea typeface="楷体" panose="02010609060101010101" pitchFamily="49" charset="-122"/>
                <a:cs typeface="Times New Roman" panose="02020603050405020304" pitchFamily="18" charset="0"/>
              </a:rPr>
              <a:t> (</a:t>
            </a:r>
            <a:r>
              <a:rPr lang="en-US" altLang="zh-CN" sz="2200" i="1" dirty="0" err="1">
                <a:ea typeface="楷体" panose="02010609060101010101" pitchFamily="49" charset="-122"/>
                <a:cs typeface="Times New Roman" panose="02020603050405020304" pitchFamily="18" charset="0"/>
              </a:rPr>
              <a:t>u</a:t>
            </a:r>
            <a:r>
              <a:rPr lang="en-US" altLang="zh-CN" sz="2200" dirty="0" err="1">
                <a:ea typeface="楷体" panose="02010609060101010101" pitchFamily="49" charset="-122"/>
                <a:cs typeface="Times New Roman" panose="02020603050405020304" pitchFamily="18" charset="0"/>
              </a:rPr>
              <a:t>,</a:t>
            </a:r>
            <a:r>
              <a:rPr lang="en-US" altLang="zh-CN" sz="2200" i="1" dirty="0" err="1">
                <a:ea typeface="楷体" panose="02010609060101010101" pitchFamily="49" charset="-122"/>
                <a:cs typeface="Times New Roman" panose="02020603050405020304" pitchFamily="18" charset="0"/>
              </a:rPr>
              <a:t>v</a:t>
            </a:r>
            <a:r>
              <a:rPr lang="en-US" altLang="zh-CN" sz="2200" dirty="0">
                <a:ea typeface="楷体" panose="02010609060101010101" pitchFamily="49" charset="-122"/>
                <a:cs typeface="Times New Roman" panose="02020603050405020304" pitchFamily="18" charset="0"/>
              </a:rPr>
              <a:t>)</a:t>
            </a:r>
            <a:r>
              <a:rPr lang="zh-CN" altLang="en-US" sz="2200" dirty="0">
                <a:ea typeface="楷体" panose="02010609060101010101" pitchFamily="49" charset="-122"/>
                <a:cs typeface="Times New Roman" panose="02020603050405020304" pitchFamily="18" charset="0"/>
              </a:rPr>
              <a:t>为量化表系数</a:t>
            </a:r>
          </a:p>
        </p:txBody>
      </p:sp>
      <p:sp>
        <p:nvSpPr>
          <p:cNvPr id="10" name="文本框 9"/>
          <p:cNvSpPr txBox="1"/>
          <p:nvPr/>
        </p:nvSpPr>
        <p:spPr>
          <a:xfrm>
            <a:off x="432614" y="3000173"/>
            <a:ext cx="6372708" cy="1200329"/>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p"/>
            </a:pPr>
            <a:r>
              <a:rPr lang="zh-CN" altLang="en-US" dirty="0">
                <a:ea typeface="楷体" panose="02010609060101010101" pitchFamily="49" charset="-122"/>
                <a:cs typeface="Times New Roman" panose="02020603050405020304" pitchFamily="18" charset="0"/>
              </a:rPr>
              <a:t>对于</a:t>
            </a:r>
            <a:r>
              <a:rPr lang="zh-CN" altLang="en-US" u="sng" dirty="0">
                <a:solidFill>
                  <a:srgbClr val="0000CC"/>
                </a:solidFill>
                <a:ea typeface="楷体" panose="02010609060101010101" pitchFamily="49" charset="-122"/>
                <a:cs typeface="Times New Roman" panose="02020603050405020304" pitchFamily="18" charset="0"/>
              </a:rPr>
              <a:t>亮度和颜色使用不同的量化表</a:t>
            </a:r>
            <a:endParaRPr lang="en-US" altLang="zh-CN" dirty="0">
              <a:ea typeface="楷体" panose="02010609060101010101" pitchFamily="49" charset="-122"/>
              <a:cs typeface="Times New Roman" panose="02020603050405020304" pitchFamily="18" charset="0"/>
            </a:endParaRPr>
          </a:p>
          <a:p>
            <a:pPr marL="342900" indent="-342900">
              <a:buClr>
                <a:srgbClr val="7030A0"/>
              </a:buClr>
              <a:buSzPct val="75000"/>
              <a:buFont typeface="Wingdings" panose="05000000000000000000" pitchFamily="2" charset="2"/>
              <a:buChar char="p"/>
            </a:pPr>
            <a:r>
              <a:rPr lang="zh-CN" altLang="zh-CN" dirty="0">
                <a:ea typeface="楷体" panose="02010609060101010101" pitchFamily="49" charset="-122"/>
                <a:cs typeface="Times New Roman" panose="02020603050405020304" pitchFamily="18" charset="0"/>
              </a:rPr>
              <a:t>量化表左上角的值较小，右下角的值较大，达到保持低频分量、抑制高频分量的目的。</a:t>
            </a:r>
            <a:endParaRPr lang="zh-CN" altLang="en-US" dirty="0">
              <a:ea typeface="楷体" panose="02010609060101010101" pitchFamily="49" charset="-122"/>
              <a:cs typeface="Times New Roman" panose="02020603050405020304" pitchFamily="18" charset="0"/>
            </a:endParaRPr>
          </a:p>
        </p:txBody>
      </p:sp>
      <p:sp>
        <p:nvSpPr>
          <p:cNvPr id="11" name="矩形 10"/>
          <p:cNvSpPr/>
          <p:nvPr/>
        </p:nvSpPr>
        <p:spPr>
          <a:xfrm>
            <a:off x="332171" y="1029040"/>
            <a:ext cx="6478204" cy="461665"/>
          </a:xfrm>
          <a:prstGeom prst="rect">
            <a:avLst/>
          </a:prstGeom>
        </p:spPr>
        <p:txBody>
          <a:bodyPr wrap="square">
            <a:spAutoFit/>
          </a:bodyPr>
          <a:lstStyle/>
          <a:p>
            <a:pPr marL="342900" indent="-342900" algn="just">
              <a:spcBef>
                <a:spcPts val="0"/>
              </a:spcBef>
              <a:spcAft>
                <a:spcPts val="0"/>
              </a:spcAft>
              <a:buClr>
                <a:srgbClr val="7030A0"/>
              </a:buClr>
              <a:buSzPct val="75000"/>
              <a:buFont typeface="Wingdings" panose="05000000000000000000" pitchFamily="2" charset="2"/>
              <a:buChar char="n"/>
              <a:tabLst>
                <a:tab pos="2234565" algn="l"/>
              </a:tabLst>
            </a:pPr>
            <a:r>
              <a:rPr lang="zh-CN" altLang="en-US"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量化</a:t>
            </a:r>
            <a:endParaRPr lang="zh-CN" altLang="zh-CN"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17AD388F-8FC1-B8B2-055C-E54A75A8D131}"/>
              </a:ext>
            </a:extLst>
          </p:cNvPr>
          <p:cNvSpPr txBox="1"/>
          <p:nvPr/>
        </p:nvSpPr>
        <p:spPr>
          <a:xfrm>
            <a:off x="5464204" y="331728"/>
            <a:ext cx="700833" cy="400110"/>
          </a:xfrm>
          <a:prstGeom prst="rect">
            <a:avLst/>
          </a:prstGeom>
          <a:noFill/>
        </p:spPr>
        <p:txBody>
          <a:bodyPr wrap="none" rtlCol="0">
            <a:spAutoFit/>
          </a:bodyPr>
          <a:lstStyle/>
          <a:p>
            <a:r>
              <a:rPr lang="zh-CN" altLang="en-US" sz="2000" dirty="0">
                <a:solidFill>
                  <a:schemeClr val="accent2">
                    <a:lumMod val="75000"/>
                  </a:schemeClr>
                </a:solidFill>
                <a:latin typeface="华光综艺_CNKI" panose="02000500000000000000" pitchFamily="2" charset="-122"/>
                <a:ea typeface="华光综艺_CNKI" panose="02000500000000000000" pitchFamily="2" charset="-122"/>
                <a:hlinkClick r:id="rId4" action="ppaction://hlinksldjump"/>
              </a:rPr>
              <a:t>示例</a:t>
            </a:r>
            <a:endParaRPr lang="zh-CN" altLang="en-US" sz="2000" dirty="0">
              <a:solidFill>
                <a:schemeClr val="accent2">
                  <a:lumMod val="75000"/>
                </a:schemeClr>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78595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18</a:t>
            </a:fld>
            <a:endParaRPr lang="en-US" altLang="zh-CN"/>
          </a:p>
        </p:txBody>
      </p:sp>
      <p:graphicFrame>
        <p:nvGraphicFramePr>
          <p:cNvPr id="8" name="表格 7"/>
          <p:cNvGraphicFramePr>
            <a:graphicFrameLocks noGrp="1"/>
          </p:cNvGraphicFramePr>
          <p:nvPr>
            <p:extLst>
              <p:ext uri="{D42A27DB-BD31-4B8C-83A1-F6EECF244321}">
                <p14:modId xmlns:p14="http://schemas.microsoft.com/office/powerpoint/2010/main" val="386515713"/>
              </p:ext>
            </p:extLst>
          </p:nvPr>
        </p:nvGraphicFramePr>
        <p:xfrm>
          <a:off x="416223" y="1608311"/>
          <a:ext cx="3240000" cy="2880000"/>
        </p:xfrm>
        <a:graphic>
          <a:graphicData uri="http://schemas.openxmlformats.org/drawingml/2006/table">
            <a:tbl>
              <a:tblPr firstRow="1" firstCol="1" lastRow="1" lastCol="1" bandRow="1" bandCol="1"/>
              <a:tblGrid>
                <a:gridCol w="405000">
                  <a:extLst>
                    <a:ext uri="{9D8B030D-6E8A-4147-A177-3AD203B41FA5}">
                      <a16:colId xmlns:a16="http://schemas.microsoft.com/office/drawing/2014/main" val="4135147895"/>
                    </a:ext>
                  </a:extLst>
                </a:gridCol>
                <a:gridCol w="405000">
                  <a:extLst>
                    <a:ext uri="{9D8B030D-6E8A-4147-A177-3AD203B41FA5}">
                      <a16:colId xmlns:a16="http://schemas.microsoft.com/office/drawing/2014/main" val="1997902198"/>
                    </a:ext>
                  </a:extLst>
                </a:gridCol>
                <a:gridCol w="405000">
                  <a:extLst>
                    <a:ext uri="{9D8B030D-6E8A-4147-A177-3AD203B41FA5}">
                      <a16:colId xmlns:a16="http://schemas.microsoft.com/office/drawing/2014/main" val="1984114508"/>
                    </a:ext>
                  </a:extLst>
                </a:gridCol>
                <a:gridCol w="405000">
                  <a:extLst>
                    <a:ext uri="{9D8B030D-6E8A-4147-A177-3AD203B41FA5}">
                      <a16:colId xmlns:a16="http://schemas.microsoft.com/office/drawing/2014/main" val="329645631"/>
                    </a:ext>
                  </a:extLst>
                </a:gridCol>
                <a:gridCol w="405000">
                  <a:extLst>
                    <a:ext uri="{9D8B030D-6E8A-4147-A177-3AD203B41FA5}">
                      <a16:colId xmlns:a16="http://schemas.microsoft.com/office/drawing/2014/main" val="356051108"/>
                    </a:ext>
                  </a:extLst>
                </a:gridCol>
                <a:gridCol w="405000">
                  <a:extLst>
                    <a:ext uri="{9D8B030D-6E8A-4147-A177-3AD203B41FA5}">
                      <a16:colId xmlns:a16="http://schemas.microsoft.com/office/drawing/2014/main" val="3205065825"/>
                    </a:ext>
                  </a:extLst>
                </a:gridCol>
                <a:gridCol w="405000">
                  <a:extLst>
                    <a:ext uri="{9D8B030D-6E8A-4147-A177-3AD203B41FA5}">
                      <a16:colId xmlns:a16="http://schemas.microsoft.com/office/drawing/2014/main" val="2641967474"/>
                    </a:ext>
                  </a:extLst>
                </a:gridCol>
                <a:gridCol w="405000">
                  <a:extLst>
                    <a:ext uri="{9D8B030D-6E8A-4147-A177-3AD203B41FA5}">
                      <a16:colId xmlns:a16="http://schemas.microsoft.com/office/drawing/2014/main" val="3861585159"/>
                    </a:ext>
                  </a:extLst>
                </a:gridCol>
              </a:tblGrid>
              <a:tr h="360000">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16</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11</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16</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24</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40</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51</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61</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599427325"/>
                  </a:ext>
                </a:extLst>
              </a:tr>
              <a:tr h="360000">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12</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12</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14</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19</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26</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58</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60</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55</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51953766"/>
                  </a:ext>
                </a:extLst>
              </a:tr>
              <a:tr h="360000">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14</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13</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16</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24</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40</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57</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69</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56</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803503261"/>
                  </a:ext>
                </a:extLst>
              </a:tr>
              <a:tr h="360000">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14</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17</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22</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29</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51</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87</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80</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62</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87297501"/>
                  </a:ext>
                </a:extLst>
              </a:tr>
              <a:tr h="360000">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18</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22</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37</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56</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68</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109</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103</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77</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342798322"/>
                  </a:ext>
                </a:extLst>
              </a:tr>
              <a:tr h="360000">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24</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35</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55</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64</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81</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104</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113</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92</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673481895"/>
                  </a:ext>
                </a:extLst>
              </a:tr>
              <a:tr h="360000">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49</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64</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78</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87</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103</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121</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120</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101</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282612653"/>
                  </a:ext>
                </a:extLst>
              </a:tr>
              <a:tr h="360000">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72</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92</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95</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98</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112</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103</a:t>
                      </a:r>
                      <a:endParaRPr lang="zh-CN" sz="1400" b="0" kern="10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just">
                        <a:spcAft>
                          <a:spcPts val="0"/>
                        </a:spcAft>
                      </a:pPr>
                      <a:r>
                        <a:rPr lang="en-US"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rPr>
                        <a:t>99</a:t>
                      </a:r>
                      <a:endParaRPr lang="zh-CN" sz="1400" b="0" kern="100" dirty="0">
                        <a:ln>
                          <a:solidFill>
                            <a:schemeClr val="tx1"/>
                          </a:solidFill>
                        </a:ln>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182703415"/>
                  </a:ext>
                </a:extLst>
              </a:tr>
            </a:tbl>
          </a:graphicData>
        </a:graphic>
      </p:graphicFrame>
      <p:sp>
        <p:nvSpPr>
          <p:cNvPr id="9"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12" name="文本框 11"/>
          <p:cNvSpPr txBox="1"/>
          <p:nvPr/>
        </p:nvSpPr>
        <p:spPr>
          <a:xfrm>
            <a:off x="830089" y="4601719"/>
            <a:ext cx="2412268" cy="461665"/>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亮度信号量化表</a:t>
            </a:r>
          </a:p>
        </p:txBody>
      </p:sp>
      <p:graphicFrame>
        <p:nvGraphicFramePr>
          <p:cNvPr id="13" name="表格 12"/>
          <p:cNvGraphicFramePr>
            <a:graphicFrameLocks noGrp="1"/>
          </p:cNvGraphicFramePr>
          <p:nvPr>
            <p:extLst>
              <p:ext uri="{D42A27DB-BD31-4B8C-83A1-F6EECF244321}">
                <p14:modId xmlns:p14="http://schemas.microsoft.com/office/powerpoint/2010/main" val="961669744"/>
              </p:ext>
            </p:extLst>
          </p:nvPr>
        </p:nvGraphicFramePr>
        <p:xfrm>
          <a:off x="3797075" y="1616060"/>
          <a:ext cx="2963380" cy="2880000"/>
        </p:xfrm>
        <a:graphic>
          <a:graphicData uri="http://schemas.openxmlformats.org/drawingml/2006/table">
            <a:tbl>
              <a:tblPr firstRow="1" firstCol="1" lastRow="1" lastCol="1" bandRow="1" bandCol="1"/>
              <a:tblGrid>
                <a:gridCol w="332625">
                  <a:extLst>
                    <a:ext uri="{9D8B030D-6E8A-4147-A177-3AD203B41FA5}">
                      <a16:colId xmlns:a16="http://schemas.microsoft.com/office/drawing/2014/main" val="3020432135"/>
                    </a:ext>
                  </a:extLst>
                </a:gridCol>
                <a:gridCol w="332625">
                  <a:extLst>
                    <a:ext uri="{9D8B030D-6E8A-4147-A177-3AD203B41FA5}">
                      <a16:colId xmlns:a16="http://schemas.microsoft.com/office/drawing/2014/main" val="2998318004"/>
                    </a:ext>
                  </a:extLst>
                </a:gridCol>
                <a:gridCol w="332625">
                  <a:extLst>
                    <a:ext uri="{9D8B030D-6E8A-4147-A177-3AD203B41FA5}">
                      <a16:colId xmlns:a16="http://schemas.microsoft.com/office/drawing/2014/main" val="797723831"/>
                    </a:ext>
                  </a:extLst>
                </a:gridCol>
                <a:gridCol w="332625">
                  <a:extLst>
                    <a:ext uri="{9D8B030D-6E8A-4147-A177-3AD203B41FA5}">
                      <a16:colId xmlns:a16="http://schemas.microsoft.com/office/drawing/2014/main" val="1021891079"/>
                    </a:ext>
                  </a:extLst>
                </a:gridCol>
                <a:gridCol w="408220">
                  <a:extLst>
                    <a:ext uri="{9D8B030D-6E8A-4147-A177-3AD203B41FA5}">
                      <a16:colId xmlns:a16="http://schemas.microsoft.com/office/drawing/2014/main" val="475645079"/>
                    </a:ext>
                  </a:extLst>
                </a:gridCol>
                <a:gridCol w="408220">
                  <a:extLst>
                    <a:ext uri="{9D8B030D-6E8A-4147-A177-3AD203B41FA5}">
                      <a16:colId xmlns:a16="http://schemas.microsoft.com/office/drawing/2014/main" val="3268770091"/>
                    </a:ext>
                  </a:extLst>
                </a:gridCol>
                <a:gridCol w="408220">
                  <a:extLst>
                    <a:ext uri="{9D8B030D-6E8A-4147-A177-3AD203B41FA5}">
                      <a16:colId xmlns:a16="http://schemas.microsoft.com/office/drawing/2014/main" val="2742007795"/>
                    </a:ext>
                  </a:extLst>
                </a:gridCol>
                <a:gridCol w="408220">
                  <a:extLst>
                    <a:ext uri="{9D8B030D-6E8A-4147-A177-3AD203B41FA5}">
                      <a16:colId xmlns:a16="http://schemas.microsoft.com/office/drawing/2014/main" val="319692944"/>
                    </a:ext>
                  </a:extLst>
                </a:gridCol>
              </a:tblGrid>
              <a:tr h="360000">
                <a:tc>
                  <a:txBody>
                    <a:bodyPr/>
                    <a:lstStyle/>
                    <a:p>
                      <a:pPr algn="ctr">
                        <a:spcAft>
                          <a:spcPts val="0"/>
                        </a:spcAft>
                      </a:pPr>
                      <a:r>
                        <a:rPr lang="en-US" sz="1400" b="1" kern="100" dirty="0">
                          <a:effectLst/>
                          <a:latin typeface="Times New Roman" panose="02020603050405020304" pitchFamily="18" charset="0"/>
                          <a:ea typeface="宋体" panose="02010600030101010101" pitchFamily="2" charset="-122"/>
                        </a:rPr>
                        <a:t>17</a:t>
                      </a:r>
                      <a:endParaRPr lang="zh-CN" sz="1400" b="1"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dirty="0">
                          <a:effectLst/>
                          <a:latin typeface="Times New Roman" panose="02020603050405020304" pitchFamily="18" charset="0"/>
                          <a:ea typeface="宋体" panose="02010600030101010101" pitchFamily="2" charset="-122"/>
                        </a:rPr>
                        <a:t>18</a:t>
                      </a:r>
                      <a:endParaRPr lang="zh-CN" sz="1400" b="1"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24</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47</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874443055"/>
                  </a:ext>
                </a:extLst>
              </a:tr>
              <a:tr h="360000">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18</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dirty="0">
                          <a:effectLst/>
                          <a:latin typeface="Times New Roman" panose="02020603050405020304" pitchFamily="18" charset="0"/>
                          <a:ea typeface="宋体" panose="02010600030101010101" pitchFamily="2" charset="-122"/>
                        </a:rPr>
                        <a:t>21</a:t>
                      </a:r>
                      <a:endParaRPr lang="zh-CN" sz="1400" b="1"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26</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66</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763858596"/>
                  </a:ext>
                </a:extLst>
              </a:tr>
              <a:tr h="360000">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24</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26</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56</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330401887"/>
                  </a:ext>
                </a:extLst>
              </a:tr>
              <a:tr h="360000">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47</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66</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77175105"/>
                  </a:ext>
                </a:extLst>
              </a:tr>
              <a:tr h="360000">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255734024"/>
                  </a:ext>
                </a:extLst>
              </a:tr>
              <a:tr h="360000">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484557698"/>
                  </a:ext>
                </a:extLst>
              </a:tr>
              <a:tr h="360000">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922600018"/>
                  </a:ext>
                </a:extLst>
              </a:tr>
              <a:tr h="360000">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99</a:t>
                      </a:r>
                      <a:endParaRPr lang="zh-CN" sz="1400" b="1"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algn="ctr">
                        <a:spcAft>
                          <a:spcPts val="0"/>
                        </a:spcAft>
                      </a:pPr>
                      <a:r>
                        <a:rPr lang="en-US" sz="1400" b="1" kern="100" dirty="0">
                          <a:effectLst/>
                          <a:latin typeface="Times New Roman" panose="02020603050405020304" pitchFamily="18" charset="0"/>
                          <a:ea typeface="宋体" panose="02010600030101010101" pitchFamily="2" charset="-122"/>
                        </a:rPr>
                        <a:t>99</a:t>
                      </a:r>
                      <a:endParaRPr lang="zh-CN" sz="1400" b="1"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716733818"/>
                  </a:ext>
                </a:extLst>
              </a:tr>
            </a:tbl>
          </a:graphicData>
        </a:graphic>
      </p:graphicFrame>
      <p:sp>
        <p:nvSpPr>
          <p:cNvPr id="14" name="文本框 13"/>
          <p:cNvSpPr txBox="1"/>
          <p:nvPr/>
        </p:nvSpPr>
        <p:spPr>
          <a:xfrm>
            <a:off x="4065103" y="4577181"/>
            <a:ext cx="2412268" cy="461665"/>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色度信号量化表</a:t>
            </a:r>
          </a:p>
        </p:txBody>
      </p:sp>
      <p:sp>
        <p:nvSpPr>
          <p:cNvPr id="15" name="矩形 14"/>
          <p:cNvSpPr/>
          <p:nvPr/>
        </p:nvSpPr>
        <p:spPr>
          <a:xfrm>
            <a:off x="332171" y="1029040"/>
            <a:ext cx="6478204" cy="461665"/>
          </a:xfrm>
          <a:prstGeom prst="rect">
            <a:avLst/>
          </a:prstGeom>
        </p:spPr>
        <p:txBody>
          <a:bodyPr wrap="square">
            <a:spAutoFit/>
          </a:bodyPr>
          <a:lstStyle/>
          <a:p>
            <a:pPr marL="342900" indent="-342900" algn="just">
              <a:spcBef>
                <a:spcPts val="0"/>
              </a:spcBef>
              <a:spcAft>
                <a:spcPts val="0"/>
              </a:spcAft>
              <a:buClr>
                <a:srgbClr val="7030A0"/>
              </a:buClr>
              <a:buSzPct val="75000"/>
              <a:buFont typeface="Wingdings" panose="05000000000000000000" pitchFamily="2" charset="2"/>
              <a:buChar char="n"/>
              <a:tabLst>
                <a:tab pos="2234565" algn="l"/>
              </a:tabLst>
            </a:pPr>
            <a:r>
              <a:rPr lang="zh-CN" altLang="en-US"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量化 </a:t>
            </a:r>
            <a:r>
              <a:rPr lang="en-US" altLang="zh-CN" sz="2400" i="1" dirty="0">
                <a:solidFill>
                  <a:srgbClr val="C00000"/>
                </a:solidFill>
                <a:ea typeface="楷体" panose="02010609060101010101" pitchFamily="49" charset="-122"/>
                <a:cs typeface="Times New Roman" panose="02020603050405020304" pitchFamily="18" charset="0"/>
              </a:rPr>
              <a:t>Q</a:t>
            </a:r>
            <a:r>
              <a:rPr lang="en-US" altLang="zh-CN" sz="2400" dirty="0">
                <a:solidFill>
                  <a:srgbClr val="C00000"/>
                </a:solidFill>
                <a:ea typeface="楷体" panose="02010609060101010101" pitchFamily="49" charset="-122"/>
                <a:cs typeface="Times New Roman" panose="02020603050405020304" pitchFamily="18" charset="0"/>
              </a:rPr>
              <a:t> (</a:t>
            </a:r>
            <a:r>
              <a:rPr lang="en-US" altLang="zh-CN" sz="2400" i="1" dirty="0" err="1">
                <a:solidFill>
                  <a:srgbClr val="C00000"/>
                </a:solidFill>
                <a:ea typeface="楷体" panose="02010609060101010101" pitchFamily="49" charset="-122"/>
                <a:cs typeface="Times New Roman" panose="02020603050405020304" pitchFamily="18" charset="0"/>
              </a:rPr>
              <a:t>u</a:t>
            </a:r>
            <a:r>
              <a:rPr lang="en-US" altLang="zh-CN" sz="2400" dirty="0" err="1">
                <a:solidFill>
                  <a:srgbClr val="C00000"/>
                </a:solidFill>
                <a:ea typeface="楷体" panose="02010609060101010101" pitchFamily="49" charset="-122"/>
                <a:cs typeface="Times New Roman" panose="02020603050405020304" pitchFamily="18" charset="0"/>
              </a:rPr>
              <a:t>,</a:t>
            </a:r>
            <a:r>
              <a:rPr lang="en-US" altLang="zh-CN" sz="2400" i="1" dirty="0" err="1">
                <a:solidFill>
                  <a:srgbClr val="C00000"/>
                </a:solidFill>
                <a:ea typeface="楷体" panose="02010609060101010101" pitchFamily="49" charset="-122"/>
                <a:cs typeface="Times New Roman" panose="02020603050405020304" pitchFamily="18" charset="0"/>
              </a:rPr>
              <a:t>v</a:t>
            </a:r>
            <a:r>
              <a:rPr lang="en-US" altLang="zh-CN" sz="2400" dirty="0">
                <a:solidFill>
                  <a:srgbClr val="C00000"/>
                </a:solidFill>
                <a:ea typeface="楷体" panose="02010609060101010101" pitchFamily="49" charset="-122"/>
                <a:cs typeface="Times New Roman" panose="02020603050405020304" pitchFamily="18" charset="0"/>
              </a:rPr>
              <a:t>)</a:t>
            </a:r>
            <a:endParaRPr lang="zh-CN" altLang="zh-CN"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45516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19</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矩形 4"/>
          <p:cNvSpPr/>
          <p:nvPr/>
        </p:nvSpPr>
        <p:spPr>
          <a:xfrm>
            <a:off x="332171" y="1042988"/>
            <a:ext cx="6478204" cy="461665"/>
          </a:xfrm>
          <a:prstGeom prst="rect">
            <a:avLst/>
          </a:prstGeom>
        </p:spPr>
        <p:txBody>
          <a:bodyPr wrap="square">
            <a:spAutoFit/>
          </a:bodyPr>
          <a:lstStyle/>
          <a:p>
            <a:pPr marL="342900" indent="-342900" algn="just">
              <a:spcBef>
                <a:spcPts val="0"/>
              </a:spcBef>
              <a:spcAft>
                <a:spcPts val="0"/>
              </a:spcAft>
              <a:buClr>
                <a:srgbClr val="7030A0"/>
              </a:buClr>
              <a:buSzPct val="75000"/>
              <a:buFont typeface="Wingdings" panose="05000000000000000000" pitchFamily="2" charset="2"/>
              <a:buChar char="n"/>
              <a:tabLst>
                <a:tab pos="2234565" algn="l"/>
              </a:tabLst>
            </a:pPr>
            <a:r>
              <a:rPr lang="zh-CN" altLang="en-US"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熵编码</a:t>
            </a:r>
            <a:endParaRPr lang="zh-CN" altLang="zh-CN"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6" name="Text Box 3"/>
          <p:cNvSpPr txBox="1">
            <a:spLocks noChangeArrowheads="1"/>
          </p:cNvSpPr>
          <p:nvPr/>
        </p:nvSpPr>
        <p:spPr bwMode="auto">
          <a:xfrm>
            <a:off x="571883" y="1471581"/>
            <a:ext cx="6597267" cy="479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nSpc>
                <a:spcPct val="115000"/>
              </a:lnSpc>
              <a:buClrTx/>
              <a:buSzTx/>
              <a:buFontTx/>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DC</a:t>
            </a:r>
            <a:r>
              <a:rPr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系数和</a:t>
            </a: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AC</a:t>
            </a:r>
            <a:r>
              <a:rPr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系数分别用不同方式进行编码。</a:t>
            </a:r>
          </a:p>
        </p:txBody>
      </p:sp>
      <p:sp>
        <p:nvSpPr>
          <p:cNvPr id="7" name="Text Box 4"/>
          <p:cNvSpPr txBox="1">
            <a:spLocks noChangeArrowheads="1"/>
          </p:cNvSpPr>
          <p:nvPr/>
        </p:nvSpPr>
        <p:spPr bwMode="auto">
          <a:xfrm>
            <a:off x="224444" y="1935318"/>
            <a:ext cx="6943324" cy="90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indent="-342900">
              <a:lnSpc>
                <a:spcPct val="115000"/>
              </a:lnSpc>
              <a:buClr>
                <a:srgbClr val="7030A0"/>
              </a:buClr>
              <a:buSzPct val="75000"/>
              <a:buFont typeface="Wingdings" panose="05000000000000000000" pitchFamily="2" charset="2"/>
              <a:buChar char="p"/>
            </a:pPr>
            <a:r>
              <a:rPr lang="en-US" altLang="zh-CN"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DC</a:t>
            </a:r>
            <a:r>
              <a:rPr lang="zh-CN" altLang="en-US"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系数</a:t>
            </a:r>
            <a:r>
              <a:rPr lang="zh-CN" altLang="en-US" sz="2400"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：表示子块的平均亮度，与相邻块相关</a:t>
            </a:r>
            <a:endParaRPr lang="en-US" altLang="zh-CN"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15000"/>
              </a:lnSpc>
              <a:buClr>
                <a:srgbClr val="7030A0"/>
              </a:buClr>
              <a:buSzPct val="75000"/>
              <a:buFont typeface="Wingdings" panose="05000000000000000000" pitchFamily="2" charset="2"/>
              <a:buChar char="p"/>
            </a:pPr>
            <a:r>
              <a:rPr lang="zh-CN" altLang="en-US"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编码方式为：预测</a:t>
            </a:r>
            <a:r>
              <a:rPr lang="en-US" altLang="zh-CN"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统计  </a:t>
            </a:r>
          </a:p>
        </p:txBody>
      </p:sp>
      <p:sp>
        <p:nvSpPr>
          <p:cNvPr id="8" name="Text Box 5"/>
          <p:cNvSpPr txBox="1">
            <a:spLocks noChangeArrowheads="1"/>
          </p:cNvSpPr>
          <p:nvPr/>
        </p:nvSpPr>
        <p:spPr bwMode="auto">
          <a:xfrm>
            <a:off x="858178" y="2836539"/>
            <a:ext cx="6206476" cy="474617"/>
          </a:xfrm>
          <a:prstGeom prst="rect">
            <a:avLst/>
          </a:prstGeom>
          <a:noFill/>
          <a:ln w="9525">
            <a:noFill/>
            <a:miter lim="800000"/>
            <a:headEnd/>
            <a:tailEnd/>
          </a:ln>
        </p:spPr>
        <p:txBody>
          <a:bodyPr wrap="square">
            <a:spAutoFit/>
          </a:bodyPr>
          <a:lstStyle/>
          <a:p>
            <a:pPr eaLnBrk="0" hangingPunct="0">
              <a:lnSpc>
                <a:spcPct val="115000"/>
              </a:lnSpc>
              <a:buClrTx/>
              <a:buSzTx/>
              <a:buFont typeface="Wingdings" panose="05000000000000000000" pitchFamily="2" charset="2"/>
              <a:buNone/>
              <a:defRPr/>
            </a:pPr>
            <a:r>
              <a:rPr lang="zh-CN" altLang="en-US" sz="2400" b="1" dirty="0">
                <a:latin typeface="楷体" panose="02010609060101010101" pitchFamily="49" charset="-122"/>
                <a:ea typeface="楷体" panose="02010609060101010101" pitchFamily="49" charset="-122"/>
              </a:rPr>
              <a:t>编码：</a:t>
            </a:r>
            <a:r>
              <a:rPr lang="zh-CN" altLang="en-US" sz="2200" dirty="0">
                <a:latin typeface="楷体" panose="02010609060101010101" pitchFamily="49" charset="-122"/>
                <a:ea typeface="楷体" panose="02010609060101010101" pitchFamily="49" charset="-122"/>
              </a:rPr>
              <a:t>前缀码</a:t>
            </a:r>
            <a:r>
              <a:rPr lang="zh-CN" altLang="en-US" sz="2200" b="1" dirty="0">
                <a:latin typeface="楷体" panose="02010609060101010101" pitchFamily="49" charset="-122"/>
                <a:ea typeface="楷体" panose="02010609060101010101" pitchFamily="49" charset="-122"/>
              </a:rPr>
              <a:t>编码</a:t>
            </a:r>
            <a:r>
              <a:rPr lang="en-US" altLang="zh-CN" sz="2200" b="1" dirty="0">
                <a:latin typeface="楷体" panose="02010609060101010101" pitchFamily="49" charset="-122"/>
                <a:ea typeface="楷体" panose="02010609060101010101" pitchFamily="49" charset="-122"/>
              </a:rPr>
              <a:t>(</a:t>
            </a:r>
            <a:r>
              <a:rPr lang="en-US" altLang="zh-CN" sz="2200" b="1" i="1" dirty="0">
                <a:ea typeface="楷体" panose="02010609060101010101" pitchFamily="49" charset="-122"/>
                <a:cs typeface="Times New Roman" panose="02020603050405020304" pitchFamily="18" charset="0"/>
              </a:rPr>
              <a:t>SSSS</a:t>
            </a:r>
            <a:r>
              <a:rPr lang="en-US" altLang="zh-CN" sz="2200" b="1" dirty="0">
                <a:latin typeface="楷体" panose="02010609060101010101" pitchFamily="49" charset="-122"/>
                <a:ea typeface="楷体" panose="02010609060101010101" pitchFamily="49" charset="-122"/>
              </a:rPr>
              <a:t>)+</a:t>
            </a:r>
            <a:r>
              <a:rPr lang="zh-CN" altLang="en-US" sz="2200" b="1" dirty="0">
                <a:latin typeface="楷体" panose="02010609060101010101" pitchFamily="49" charset="-122"/>
                <a:ea typeface="楷体" panose="02010609060101010101" pitchFamily="49" charset="-122"/>
              </a:rPr>
              <a:t>尾码</a:t>
            </a:r>
            <a:r>
              <a:rPr lang="en-US" altLang="zh-CN" sz="2200" b="1" dirty="0">
                <a:latin typeface="楷体" panose="02010609060101010101" pitchFamily="49" charset="-122"/>
                <a:ea typeface="楷体" panose="02010609060101010101" pitchFamily="49" charset="-122"/>
              </a:rPr>
              <a:t>(</a:t>
            </a:r>
            <a:r>
              <a:rPr lang="zh-CN" altLang="en-US" sz="2200" b="1" dirty="0">
                <a:latin typeface="楷体" panose="02010609060101010101" pitchFamily="49" charset="-122"/>
                <a:ea typeface="楷体" panose="02010609060101010101" pitchFamily="49" charset="-122"/>
              </a:rPr>
              <a:t>预测误差编码</a:t>
            </a:r>
            <a:r>
              <a:rPr lang="en-US" altLang="zh-CN" sz="2200" b="1" dirty="0">
                <a:latin typeface="楷体" panose="02010609060101010101" pitchFamily="49" charset="-122"/>
                <a:ea typeface="楷体" panose="02010609060101010101" pitchFamily="49" charset="-122"/>
              </a:rPr>
              <a:t>)</a:t>
            </a:r>
          </a:p>
        </p:txBody>
      </p:sp>
      <p:sp>
        <p:nvSpPr>
          <p:cNvPr id="9" name="Text Box 6"/>
          <p:cNvSpPr txBox="1">
            <a:spLocks noChangeArrowheads="1"/>
          </p:cNvSpPr>
          <p:nvPr/>
        </p:nvSpPr>
        <p:spPr bwMode="auto">
          <a:xfrm>
            <a:off x="224444" y="3285035"/>
            <a:ext cx="5724636" cy="479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indent="-342900">
              <a:lnSpc>
                <a:spcPct val="115000"/>
              </a:lnSpc>
              <a:buClr>
                <a:srgbClr val="7030A0"/>
              </a:buClr>
              <a:buSzPct val="75000"/>
              <a:buFont typeface="Wingdings" panose="05000000000000000000" pitchFamily="2" charset="2"/>
              <a:buChar char="p"/>
            </a:pPr>
            <a:r>
              <a:rPr lang="en-US" altLang="zh-CN"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AC</a:t>
            </a:r>
            <a:r>
              <a:rPr lang="zh-CN" altLang="en-US"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系数编码方式为：游程</a:t>
            </a:r>
            <a:r>
              <a:rPr lang="en-US" altLang="zh-CN"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solidFill>
                  <a:srgbClr val="0000CC"/>
                </a:solidFill>
                <a:latin typeface="Times New Roman" panose="02020603050405020304" pitchFamily="18" charset="0"/>
                <a:ea typeface="楷体" panose="02010609060101010101" pitchFamily="49" charset="-122"/>
                <a:cs typeface="Times New Roman" panose="02020603050405020304" pitchFamily="18" charset="0"/>
              </a:rPr>
              <a:t>统计  </a:t>
            </a:r>
          </a:p>
        </p:txBody>
      </p:sp>
      <p:sp>
        <p:nvSpPr>
          <p:cNvPr id="10" name="Text Box 7"/>
          <p:cNvSpPr txBox="1">
            <a:spLocks noChangeArrowheads="1"/>
          </p:cNvSpPr>
          <p:nvPr/>
        </p:nvSpPr>
        <p:spPr bwMode="auto">
          <a:xfrm>
            <a:off x="583563" y="3764333"/>
            <a:ext cx="6388276" cy="906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nSpc>
                <a:spcPct val="115000"/>
              </a:lnSpc>
              <a:buClrTx/>
              <a:buSzTx/>
              <a:buFont typeface="Wingdings" panose="05000000000000000000" pitchFamily="2" charset="2"/>
              <a:buNone/>
            </a:pPr>
            <a:r>
              <a:rPr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编码由两部分组成：</a:t>
            </a:r>
          </a:p>
          <a:p>
            <a:pPr>
              <a:lnSpc>
                <a:spcPct val="115000"/>
              </a:lnSpc>
              <a:defRPr/>
            </a:pP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游程</a:t>
            </a:r>
            <a:r>
              <a:rPr lang="en-US" altLang="zh-CN" sz="2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前缀码编码</a:t>
            </a:r>
            <a:r>
              <a:rPr lang="en-US" altLang="zh-CN" sz="2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NNNN/SSSS</a:t>
            </a:r>
            <a:r>
              <a:rPr lang="en-US" altLang="zh-CN" sz="2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尾码</a:t>
            </a:r>
            <a:r>
              <a:rPr lang="en-US" altLang="zh-CN"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(AC</a:t>
            </a: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系数编码</a:t>
            </a:r>
            <a:r>
              <a:rPr lang="en-US" altLang="zh-CN"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1" name="文本框 10">
            <a:extLst>
              <a:ext uri="{FF2B5EF4-FFF2-40B4-BE49-F238E27FC236}">
                <a16:creationId xmlns:a16="http://schemas.microsoft.com/office/drawing/2014/main" id="{234335E2-0634-57ED-7884-011997DAFFA1}"/>
              </a:ext>
            </a:extLst>
          </p:cNvPr>
          <p:cNvSpPr txBox="1"/>
          <p:nvPr/>
        </p:nvSpPr>
        <p:spPr>
          <a:xfrm>
            <a:off x="5464204" y="331728"/>
            <a:ext cx="700833" cy="400110"/>
          </a:xfrm>
          <a:prstGeom prst="rect">
            <a:avLst/>
          </a:prstGeom>
          <a:noFill/>
        </p:spPr>
        <p:txBody>
          <a:bodyPr wrap="none" rtlCol="0">
            <a:spAutoFit/>
          </a:bodyPr>
          <a:lstStyle/>
          <a:p>
            <a:r>
              <a:rPr lang="zh-CN" altLang="en-US" sz="2000" dirty="0">
                <a:solidFill>
                  <a:schemeClr val="accent2">
                    <a:lumMod val="75000"/>
                  </a:schemeClr>
                </a:solidFill>
                <a:latin typeface="华光综艺_CNKI" panose="02000500000000000000" pitchFamily="2" charset="-122"/>
                <a:ea typeface="华光综艺_CNKI" panose="02000500000000000000" pitchFamily="2" charset="-122"/>
                <a:hlinkClick r:id="rId2" action="ppaction://hlinksldjump"/>
              </a:rPr>
              <a:t>示例</a:t>
            </a:r>
            <a:endParaRPr lang="zh-CN" altLang="en-US" sz="2000" dirty="0">
              <a:solidFill>
                <a:schemeClr val="accent2">
                  <a:lumMod val="75000"/>
                </a:schemeClr>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3891558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20</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6" name="Text Box 2"/>
          <p:cNvSpPr txBox="1">
            <a:spLocks noChangeArrowheads="1"/>
          </p:cNvSpPr>
          <p:nvPr/>
        </p:nvSpPr>
        <p:spPr bwMode="auto">
          <a:xfrm>
            <a:off x="596243" y="1449719"/>
            <a:ext cx="604663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457200" indent="-457200" algn="just">
              <a:buClr>
                <a:srgbClr val="7030A0"/>
              </a:buClr>
              <a:buSzPct val="7500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用当前的</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DC</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系数，减去相邻的前一个子  </a:t>
            </a:r>
            <a:b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b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块的</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DC</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系数，则：</a:t>
            </a:r>
          </a:p>
          <a:p>
            <a:pPr marL="457200" indent="-457200" algn="just">
              <a:buClr>
                <a:srgbClr val="0000CC"/>
              </a:buClr>
              <a:buSzTx/>
              <a:buFontTx/>
              <a:buNone/>
            </a:pP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预测误差</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DIFF </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DIFF = DC – PRE_DC</a:t>
            </a:r>
          </a:p>
        </p:txBody>
      </p:sp>
      <p:sp>
        <p:nvSpPr>
          <p:cNvPr id="7" name="Text Box 3"/>
          <p:cNvSpPr txBox="1">
            <a:spLocks noChangeArrowheads="1"/>
          </p:cNvSpPr>
          <p:nvPr/>
        </p:nvSpPr>
        <p:spPr bwMode="auto">
          <a:xfrm>
            <a:off x="344488" y="998833"/>
            <a:ext cx="36001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indent="-342900" algn="just">
              <a:buClr>
                <a:srgbClr val="7030A0"/>
              </a:buClr>
              <a:buSzPct val="75000"/>
              <a:buFont typeface="Wingdings" panose="05000000000000000000" pitchFamily="2" charset="2"/>
              <a:buChar char="p"/>
            </a:pPr>
            <a:r>
              <a:rPr lang="en-US" altLang="zh-CN"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DC</a:t>
            </a:r>
            <a:r>
              <a:rPr lang="zh-CN" altLang="en-US"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系数的编码步骤</a:t>
            </a:r>
            <a:endParaRPr lang="zh-CN" altLang="en-US" sz="2400" i="1" dirty="0">
              <a:solidFill>
                <a:srgbClr val="0000CC"/>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8" name="Text Box 4"/>
          <p:cNvSpPr txBox="1">
            <a:spLocks noChangeArrowheads="1"/>
          </p:cNvSpPr>
          <p:nvPr/>
        </p:nvSpPr>
        <p:spPr bwMode="auto">
          <a:xfrm>
            <a:off x="596244" y="2578954"/>
            <a:ext cx="604663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just">
              <a:buClr>
                <a:srgbClr val="7030A0"/>
              </a:buClr>
              <a:buSzPct val="75000"/>
              <a:buFont typeface="Wingdings" panose="05000000000000000000" pitchFamily="2" charset="2"/>
              <a:buChar char="Ø"/>
            </a:pPr>
            <a:r>
              <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SSSS</a:t>
            </a:r>
            <a:r>
              <a:rPr kumimoji="0" lang="zh-CN" altLang="en-US" sz="2400" kern="0" dirty="0">
                <a:solidFill>
                  <a:schemeClr val="tx1"/>
                </a:solidFill>
                <a:ea typeface="楷体" panose="02010609060101010101" pitchFamily="49" charset="-122"/>
                <a:cs typeface="Times New Roman" panose="02020603050405020304" pitchFamily="18" charset="0"/>
              </a:rPr>
              <a:t>的编码。</a:t>
            </a:r>
            <a:endPar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marL="738000" algn="just">
              <a:buClr>
                <a:srgbClr val="7030A0"/>
              </a:buClr>
              <a:buSzPct val="75000"/>
              <a:buFont typeface="Arial" panose="020B0604020202020204" pitchFamily="34" charset="0"/>
              <a:buChar char="•"/>
            </a:pP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通过</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DIFF</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查前缀码表</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表</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12-4)</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得出前缀码</a:t>
            </a:r>
            <a:r>
              <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SSSS</a:t>
            </a:r>
          </a:p>
          <a:p>
            <a:pPr marL="738000" algn="just">
              <a:buClr>
                <a:srgbClr val="7030A0"/>
              </a:buClr>
              <a:buSzPct val="75000"/>
              <a:buFont typeface="Arial" panose="020B0604020202020204" pitchFamily="34" charset="0"/>
              <a:buChar char="•"/>
            </a:pP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根据</a:t>
            </a:r>
            <a:r>
              <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SSSS</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查哈夫曼编码表</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表</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12-5)</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得出</a:t>
            </a:r>
            <a:r>
              <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SSSS</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的哈夫曼编码</a:t>
            </a:r>
          </a:p>
        </p:txBody>
      </p:sp>
      <p:sp>
        <p:nvSpPr>
          <p:cNvPr id="9" name="Text Box 5"/>
          <p:cNvSpPr txBox="1">
            <a:spLocks noChangeArrowheads="1"/>
          </p:cNvSpPr>
          <p:nvPr/>
        </p:nvSpPr>
        <p:spPr bwMode="auto">
          <a:xfrm>
            <a:off x="585795" y="4505933"/>
            <a:ext cx="68008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just">
              <a:buClr>
                <a:srgbClr val="7030A0"/>
              </a:buClr>
              <a:buSzPct val="75000"/>
              <a:buFont typeface="Wingdings" panose="05000000000000000000" pitchFamily="2" charset="2"/>
              <a:buChar char="Ø"/>
            </a:pP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尾码的编码。</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对预测误差</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DIFF</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编码。     </a:t>
            </a:r>
          </a:p>
        </p:txBody>
      </p:sp>
    </p:spTree>
    <p:extLst>
      <p:ext uri="{BB962C8B-B14F-4D97-AF65-F5344CB8AC3E}">
        <p14:creationId xmlns:p14="http://schemas.microsoft.com/office/powerpoint/2010/main" val="2822951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742D1-99BE-E781-BC83-3916053CAB4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1BBDEB5-3307-44B6-430E-8B92610F9E14}"/>
              </a:ext>
            </a:extLst>
          </p:cNvPr>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21</a:t>
            </a:fld>
            <a:endParaRPr lang="en-US" altLang="zh-CN"/>
          </a:p>
        </p:txBody>
      </p:sp>
      <p:sp>
        <p:nvSpPr>
          <p:cNvPr id="3" name="Rectangle 2">
            <a:extLst>
              <a:ext uri="{FF2B5EF4-FFF2-40B4-BE49-F238E27FC236}">
                <a16:creationId xmlns:a16="http://schemas.microsoft.com/office/drawing/2014/main" id="{0A39C8A2-45FE-104F-C0BF-062768AEB859}"/>
              </a:ext>
            </a:extLst>
          </p:cNvPr>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12.4.1 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4" name="Rectangle 2">
            <a:extLst>
              <a:ext uri="{FF2B5EF4-FFF2-40B4-BE49-F238E27FC236}">
                <a16:creationId xmlns:a16="http://schemas.microsoft.com/office/drawing/2014/main" id="{6D65F3B6-65B0-BC8A-3883-A607C1F61E80}"/>
              </a:ext>
            </a:extLst>
          </p:cNvPr>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a:t>
            </a: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标准和</a:t>
            </a: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JPEG2000</a:t>
            </a:r>
            <a:endPar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endParaRPr>
          </a:p>
        </p:txBody>
      </p:sp>
      <p:sp>
        <p:nvSpPr>
          <p:cNvPr id="6" name="Text Box 2">
            <a:extLst>
              <a:ext uri="{FF2B5EF4-FFF2-40B4-BE49-F238E27FC236}">
                <a16:creationId xmlns:a16="http://schemas.microsoft.com/office/drawing/2014/main" id="{5DCD7736-C29D-D9F3-CE8F-F77C84071F0E}"/>
              </a:ext>
            </a:extLst>
          </p:cNvPr>
          <p:cNvSpPr txBox="1">
            <a:spLocks noChangeArrowheads="1"/>
          </p:cNvSpPr>
          <p:nvPr/>
        </p:nvSpPr>
        <p:spPr bwMode="auto">
          <a:xfrm>
            <a:off x="596243" y="1449719"/>
            <a:ext cx="604663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457200" indent="-457200" algn="just">
              <a:buClr>
                <a:srgbClr val="7030A0"/>
              </a:buClr>
              <a:buSzPct val="7500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用当前的</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DC</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系数，减去相邻的前一个子  </a:t>
            </a:r>
            <a:b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b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块的</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DC</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系数，则：</a:t>
            </a:r>
          </a:p>
          <a:p>
            <a:pPr marL="457200" indent="-457200" algn="just">
              <a:buClr>
                <a:srgbClr val="0000CC"/>
              </a:buClr>
              <a:buSzTx/>
              <a:buFontTx/>
              <a:buNone/>
            </a:pP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预测误差</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DIFF </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DIFF = DC – PRE_DC</a:t>
            </a:r>
          </a:p>
        </p:txBody>
      </p:sp>
      <p:sp>
        <p:nvSpPr>
          <p:cNvPr id="7" name="Text Box 3">
            <a:extLst>
              <a:ext uri="{FF2B5EF4-FFF2-40B4-BE49-F238E27FC236}">
                <a16:creationId xmlns:a16="http://schemas.microsoft.com/office/drawing/2014/main" id="{54F3D81D-F017-8332-42C0-AE8E9CC7C328}"/>
              </a:ext>
            </a:extLst>
          </p:cNvPr>
          <p:cNvSpPr txBox="1">
            <a:spLocks noChangeArrowheads="1"/>
          </p:cNvSpPr>
          <p:nvPr/>
        </p:nvSpPr>
        <p:spPr bwMode="auto">
          <a:xfrm>
            <a:off x="344488" y="998833"/>
            <a:ext cx="36001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indent="-342900" algn="just">
              <a:buClr>
                <a:srgbClr val="7030A0"/>
              </a:buClr>
              <a:buSzPct val="75000"/>
              <a:buFont typeface="Wingdings" panose="05000000000000000000" pitchFamily="2" charset="2"/>
              <a:buChar char="p"/>
            </a:pPr>
            <a:r>
              <a:rPr lang="en-US" altLang="zh-CN"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DC</a:t>
            </a:r>
            <a:r>
              <a:rPr lang="zh-CN" altLang="en-US"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系数的编码步骤</a:t>
            </a:r>
            <a:endParaRPr lang="zh-CN" altLang="en-US" sz="2400" i="1" dirty="0">
              <a:solidFill>
                <a:srgbClr val="0000CC"/>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8" name="Text Box 4">
            <a:extLst>
              <a:ext uri="{FF2B5EF4-FFF2-40B4-BE49-F238E27FC236}">
                <a16:creationId xmlns:a16="http://schemas.microsoft.com/office/drawing/2014/main" id="{A45DC458-5DE5-0AE6-62EE-30318AE570B7}"/>
              </a:ext>
            </a:extLst>
          </p:cNvPr>
          <p:cNvSpPr txBox="1">
            <a:spLocks noChangeArrowheads="1"/>
          </p:cNvSpPr>
          <p:nvPr/>
        </p:nvSpPr>
        <p:spPr bwMode="auto">
          <a:xfrm>
            <a:off x="596244" y="2578954"/>
            <a:ext cx="604663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just">
              <a:buClr>
                <a:srgbClr val="7030A0"/>
              </a:buClr>
              <a:buSzPct val="75000"/>
              <a:buFont typeface="Wingdings" panose="05000000000000000000" pitchFamily="2" charset="2"/>
              <a:buChar char="Ø"/>
            </a:pPr>
            <a:r>
              <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SSSS</a:t>
            </a:r>
            <a:r>
              <a:rPr kumimoji="0" lang="zh-CN" altLang="en-US" sz="2400" kern="0" dirty="0">
                <a:solidFill>
                  <a:schemeClr val="tx1"/>
                </a:solidFill>
                <a:ea typeface="楷体" panose="02010609060101010101" pitchFamily="49" charset="-122"/>
                <a:cs typeface="Times New Roman" panose="02020603050405020304" pitchFamily="18" charset="0"/>
              </a:rPr>
              <a:t>的编码。</a:t>
            </a:r>
            <a:endPar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marL="738000" algn="just">
              <a:buClr>
                <a:srgbClr val="7030A0"/>
              </a:buClr>
              <a:buSzPct val="75000"/>
              <a:buFont typeface="Arial" panose="020B0604020202020204" pitchFamily="34" charset="0"/>
              <a:buChar char="•"/>
            </a:pP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通过</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DIFF</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查前缀码表</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表</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12-4)</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得出前缀码</a:t>
            </a:r>
            <a:r>
              <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SSSS</a:t>
            </a:r>
          </a:p>
          <a:p>
            <a:pPr marL="738000" algn="just">
              <a:buClr>
                <a:srgbClr val="7030A0"/>
              </a:buClr>
              <a:buSzPct val="75000"/>
              <a:buFont typeface="Arial" panose="020B0604020202020204" pitchFamily="34" charset="0"/>
              <a:buChar char="•"/>
            </a:pP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根据</a:t>
            </a:r>
            <a:r>
              <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SSSS</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查哈夫曼编码表</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表</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12-5)</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得出</a:t>
            </a:r>
            <a:r>
              <a:rPr kumimoji="1" lang="en-US" altLang="zh-CN" sz="24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SSSS</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的哈夫曼编码</a:t>
            </a:r>
          </a:p>
        </p:txBody>
      </p:sp>
      <p:sp>
        <p:nvSpPr>
          <p:cNvPr id="9" name="Text Box 5">
            <a:extLst>
              <a:ext uri="{FF2B5EF4-FFF2-40B4-BE49-F238E27FC236}">
                <a16:creationId xmlns:a16="http://schemas.microsoft.com/office/drawing/2014/main" id="{119BB8F3-EEC1-6EE9-7AB4-335BE35CF1BF}"/>
              </a:ext>
            </a:extLst>
          </p:cNvPr>
          <p:cNvSpPr txBox="1">
            <a:spLocks noChangeArrowheads="1"/>
          </p:cNvSpPr>
          <p:nvPr/>
        </p:nvSpPr>
        <p:spPr bwMode="auto">
          <a:xfrm>
            <a:off x="585795" y="4505933"/>
            <a:ext cx="68008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just">
              <a:buClr>
                <a:srgbClr val="7030A0"/>
              </a:buClr>
              <a:buSzPct val="75000"/>
              <a:buFont typeface="Wingdings" panose="05000000000000000000" pitchFamily="2" charset="2"/>
              <a:buChar char="Ø"/>
            </a:pP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尾码的编码。</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对预测误差</a:t>
            </a:r>
            <a:r>
              <a:rPr kumimoji="1"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DIFF</a:t>
            </a:r>
            <a:r>
              <a:rPr kumimoji="1"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编码。     </a:t>
            </a:r>
          </a:p>
        </p:txBody>
      </p:sp>
      <p:pic>
        <p:nvPicPr>
          <p:cNvPr id="10" name="图片 9">
            <a:extLst>
              <a:ext uri="{FF2B5EF4-FFF2-40B4-BE49-F238E27FC236}">
                <a16:creationId xmlns:a16="http://schemas.microsoft.com/office/drawing/2014/main" id="{B6DD2E11-A035-BF33-D0C5-23C61F5FC0E9}"/>
              </a:ext>
            </a:extLst>
          </p:cNvPr>
          <p:cNvPicPr>
            <a:picLocks noChangeAspect="1"/>
          </p:cNvPicPr>
          <p:nvPr/>
        </p:nvPicPr>
        <p:blipFill>
          <a:blip r:embed="rId2"/>
          <a:stretch>
            <a:fillRect/>
          </a:stretch>
        </p:blipFill>
        <p:spPr>
          <a:xfrm>
            <a:off x="-16757" y="-98998"/>
            <a:ext cx="7169150" cy="2147819"/>
          </a:xfrm>
          <a:prstGeom prst="rect">
            <a:avLst/>
          </a:prstGeom>
        </p:spPr>
      </p:pic>
      <p:pic>
        <p:nvPicPr>
          <p:cNvPr id="12" name="图片 11">
            <a:extLst>
              <a:ext uri="{FF2B5EF4-FFF2-40B4-BE49-F238E27FC236}">
                <a16:creationId xmlns:a16="http://schemas.microsoft.com/office/drawing/2014/main" id="{028DF3F1-B6A8-2186-3E39-B785409A585B}"/>
              </a:ext>
            </a:extLst>
          </p:cNvPr>
          <p:cNvPicPr>
            <a:picLocks noChangeAspect="1"/>
          </p:cNvPicPr>
          <p:nvPr/>
        </p:nvPicPr>
        <p:blipFill>
          <a:blip r:embed="rId3"/>
          <a:stretch>
            <a:fillRect/>
          </a:stretch>
        </p:blipFill>
        <p:spPr>
          <a:xfrm>
            <a:off x="28682" y="1911384"/>
            <a:ext cx="6969971" cy="3598153"/>
          </a:xfrm>
          <a:prstGeom prst="rect">
            <a:avLst/>
          </a:prstGeom>
        </p:spPr>
      </p:pic>
    </p:spTree>
    <p:extLst>
      <p:ext uri="{BB962C8B-B14F-4D97-AF65-F5344CB8AC3E}">
        <p14:creationId xmlns:p14="http://schemas.microsoft.com/office/powerpoint/2010/main" val="352178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22</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Text Box 3"/>
          <p:cNvSpPr txBox="1">
            <a:spLocks noChangeArrowheads="1"/>
          </p:cNvSpPr>
          <p:nvPr/>
        </p:nvSpPr>
        <p:spPr bwMode="auto">
          <a:xfrm>
            <a:off x="214895" y="991569"/>
            <a:ext cx="36001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indent="-342900" algn="just">
              <a:buClr>
                <a:srgbClr val="7030A0"/>
              </a:buClr>
              <a:buSzPct val="75000"/>
              <a:buFont typeface="Wingdings" panose="05000000000000000000" pitchFamily="2" charset="2"/>
              <a:buChar char="p"/>
            </a:pPr>
            <a:r>
              <a:rPr lang="en-US" altLang="zh-CN"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AC</a:t>
            </a:r>
            <a:r>
              <a:rPr lang="zh-CN" altLang="en-US"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系数的编码步骤</a:t>
            </a:r>
            <a:endParaRPr lang="zh-CN" altLang="en-US" sz="2400" i="1" dirty="0">
              <a:solidFill>
                <a:srgbClr val="0000CC"/>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6" name="Text Box 2"/>
          <p:cNvSpPr txBox="1">
            <a:spLocks noChangeArrowheads="1"/>
          </p:cNvSpPr>
          <p:nvPr/>
        </p:nvSpPr>
        <p:spPr bwMode="auto">
          <a:xfrm>
            <a:off x="344488" y="1421082"/>
            <a:ext cx="43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marR="0" lvl="0" indent="-342900" defTabSz="914400" eaLnBrk="1" fontAlgn="auto" latinLnBrk="0" hangingPunct="1">
              <a:lnSpc>
                <a:spcPct val="100000"/>
              </a:lnSpc>
              <a:spcBef>
                <a:spcPct val="50000"/>
              </a:spcBef>
              <a:spcAft>
                <a:spcPts val="0"/>
              </a:spcAft>
              <a:buClr>
                <a:srgbClr val="7030A0"/>
              </a:buClr>
              <a:buSzPct val="75000"/>
              <a:buFont typeface="Wingdings" panose="05000000000000000000" pitchFamily="2" charset="2"/>
              <a:buChar char="Ø"/>
              <a:tabLst/>
              <a:defRPr/>
            </a:pPr>
            <a:r>
              <a:rPr kumimoji="0" lang="en-US" altLang="zh-CN" sz="2400" i="0" u="none" strike="noStrike" kern="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Z</a:t>
            </a:r>
            <a:r>
              <a:rPr kumimoji="0" lang="zh-CN" altLang="en-US" sz="2400" i="0" u="none" strike="noStrike" kern="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形扫描</a:t>
            </a:r>
          </a:p>
        </p:txBody>
      </p:sp>
      <p:sp>
        <p:nvSpPr>
          <p:cNvPr id="7" name="Text Box 3"/>
          <p:cNvSpPr txBox="1">
            <a:spLocks noChangeArrowheads="1"/>
          </p:cNvSpPr>
          <p:nvPr/>
        </p:nvSpPr>
        <p:spPr bwMode="auto">
          <a:xfrm>
            <a:off x="415877" y="1822094"/>
            <a:ext cx="3057242" cy="2602957"/>
          </a:xfrm>
          <a:prstGeom prst="rect">
            <a:avLst/>
          </a:prstGeom>
          <a:noFill/>
          <a:ln w="9525">
            <a:noFill/>
            <a:miter lim="800000"/>
            <a:headEnd/>
            <a:tailEnd/>
          </a:ln>
        </p:spPr>
        <p:txBody>
          <a:bodyPr wrap="square">
            <a:spAutoFit/>
          </a:bodyPr>
          <a:lstStyle/>
          <a:p>
            <a:pPr marL="342900" indent="-342900">
              <a:lnSpc>
                <a:spcPct val="115000"/>
              </a:lnSpc>
              <a:spcBef>
                <a:spcPct val="50000"/>
              </a:spcBef>
              <a:buClr>
                <a:srgbClr val="7030A0"/>
              </a:buClr>
              <a:buSzPct val="75000"/>
              <a:buFont typeface="Arial" panose="020B0604020202020204" pitchFamily="34" charset="0"/>
              <a:buChar char="•"/>
              <a:defRPr/>
            </a:pPr>
            <a:r>
              <a:rPr kumimoji="0" lang="zh-CN" altLang="en-US" dirty="0">
                <a:ea typeface="楷体" panose="02010609060101010101" pitchFamily="49" charset="-122"/>
                <a:cs typeface="Times New Roman" panose="02020603050405020304" pitchFamily="18" charset="0"/>
              </a:rPr>
              <a:t>将量化后</a:t>
            </a:r>
            <a:r>
              <a:rPr kumimoji="0" lang="en-US" altLang="zh-CN" dirty="0">
                <a:ea typeface="楷体" panose="02010609060101010101" pitchFamily="49" charset="-122"/>
                <a:cs typeface="Times New Roman" panose="02020603050405020304" pitchFamily="18" charset="0"/>
              </a:rPr>
              <a:t>DCT</a:t>
            </a:r>
            <a:r>
              <a:rPr kumimoji="0" lang="zh-CN" altLang="en-US" dirty="0">
                <a:ea typeface="楷体" panose="02010609060101010101" pitchFamily="49" charset="-122"/>
                <a:cs typeface="Times New Roman" panose="02020603050405020304" pitchFamily="18" charset="0"/>
              </a:rPr>
              <a:t>系数中</a:t>
            </a:r>
            <a:r>
              <a:rPr kumimoji="0" lang="en-US" altLang="zh-CN" dirty="0">
                <a:ea typeface="楷体" panose="02010609060101010101" pitchFamily="49" charset="-122"/>
                <a:cs typeface="Times New Roman" panose="02020603050405020304" pitchFamily="18" charset="0"/>
              </a:rPr>
              <a:t>63</a:t>
            </a:r>
            <a:r>
              <a:rPr kumimoji="0" lang="zh-CN" altLang="en-US" dirty="0">
                <a:ea typeface="楷体" panose="02010609060101010101" pitchFamily="49" charset="-122"/>
                <a:cs typeface="Times New Roman" panose="02020603050405020304" pitchFamily="18" charset="0"/>
              </a:rPr>
              <a:t>个</a:t>
            </a:r>
            <a:r>
              <a:rPr kumimoji="0" lang="en-US" altLang="zh-CN" dirty="0">
                <a:ea typeface="楷体" panose="02010609060101010101" pitchFamily="49" charset="-122"/>
                <a:cs typeface="Times New Roman" panose="02020603050405020304" pitchFamily="18" charset="0"/>
              </a:rPr>
              <a:t>AC</a:t>
            </a:r>
            <a:r>
              <a:rPr kumimoji="0" lang="zh-CN" altLang="en-US" dirty="0">
                <a:ea typeface="楷体" panose="02010609060101010101" pitchFamily="49" charset="-122"/>
                <a:cs typeface="Times New Roman" panose="02020603050405020304" pitchFamily="18" charset="0"/>
              </a:rPr>
              <a:t>系数，按“</a:t>
            </a:r>
            <a:r>
              <a:rPr kumimoji="0" lang="en-US" altLang="zh-CN" dirty="0">
                <a:ea typeface="楷体" panose="02010609060101010101" pitchFamily="49" charset="-122"/>
                <a:cs typeface="Times New Roman" panose="02020603050405020304" pitchFamily="18" charset="0"/>
              </a:rPr>
              <a:t>Z”</a:t>
            </a:r>
            <a:r>
              <a:rPr kumimoji="0" lang="zh-CN" altLang="en-US" dirty="0">
                <a:ea typeface="楷体" panose="02010609060101010101" pitchFamily="49" charset="-122"/>
                <a:cs typeface="Times New Roman" panose="02020603050405020304" pitchFamily="18" charset="0"/>
              </a:rPr>
              <a:t>字型方式重新排序形成向量，</a:t>
            </a:r>
            <a:r>
              <a:rPr kumimoji="0" lang="zh-CN" altLang="en-US" u="sng" dirty="0">
                <a:ea typeface="楷体" panose="02010609060101010101" pitchFamily="49" charset="-122"/>
                <a:cs typeface="Times New Roman" panose="02020603050405020304" pitchFamily="18" charset="0"/>
              </a:rPr>
              <a:t>全零结尾用特殊符号</a:t>
            </a:r>
            <a:r>
              <a:rPr kumimoji="0" lang="en-US" altLang="zh-CN" u="sng" dirty="0">
                <a:ea typeface="楷体" panose="02010609060101010101" pitchFamily="49" charset="-122"/>
                <a:cs typeface="Times New Roman" panose="02020603050405020304" pitchFamily="18" charset="0"/>
              </a:rPr>
              <a:t>EOB</a:t>
            </a:r>
            <a:r>
              <a:rPr kumimoji="0" lang="zh-CN" altLang="en-US" u="sng" dirty="0">
                <a:ea typeface="楷体" panose="02010609060101010101" pitchFamily="49" charset="-122"/>
                <a:cs typeface="Times New Roman" panose="02020603050405020304" pitchFamily="18" charset="0"/>
              </a:rPr>
              <a:t>。</a:t>
            </a:r>
          </a:p>
        </p:txBody>
      </p:sp>
      <p:sp>
        <p:nvSpPr>
          <p:cNvPr id="10" name="文本框 9"/>
          <p:cNvSpPr txBox="1"/>
          <p:nvPr/>
        </p:nvSpPr>
        <p:spPr>
          <a:xfrm>
            <a:off x="444317" y="4306153"/>
            <a:ext cx="2992446" cy="830997"/>
          </a:xfrm>
          <a:prstGeom prst="rect">
            <a:avLst/>
          </a:prstGeom>
          <a:noFill/>
        </p:spPr>
        <p:txBody>
          <a:bodyPr wrap="square" rtlCol="0">
            <a:spAutoFit/>
          </a:bodyPr>
          <a:lstStyle/>
          <a:p>
            <a:pPr marL="342900" indent="-342900" algn="just">
              <a:buClr>
                <a:srgbClr val="7030A0"/>
              </a:buClr>
              <a:buSzPct val="75000"/>
              <a:buFont typeface="Arial" panose="020B0604020202020204" pitchFamily="34" charset="0"/>
              <a:buChar char="•"/>
            </a:pPr>
            <a:r>
              <a:rPr lang="zh-CN" altLang="en-US" dirty="0">
                <a:ea typeface="楷体" panose="02010609060101010101" pitchFamily="49" charset="-122"/>
                <a:cs typeface="Times New Roman" panose="02020603050405020304" pitchFamily="18" charset="0"/>
              </a:rPr>
              <a:t>目的：</a:t>
            </a:r>
            <a:r>
              <a:rPr lang="zh-CN" altLang="zh-CN" dirty="0">
                <a:ea typeface="楷体" panose="02010609060101010101" pitchFamily="49" charset="-122"/>
                <a:cs typeface="Times New Roman" panose="02020603050405020304" pitchFamily="18" charset="0"/>
              </a:rPr>
              <a:t>增加连续的“</a:t>
            </a:r>
            <a:r>
              <a:rPr lang="en-US" altLang="zh-CN" dirty="0">
                <a:ea typeface="楷体" panose="02010609060101010101" pitchFamily="49" charset="-122"/>
                <a:cs typeface="Times New Roman" panose="02020603050405020304" pitchFamily="18" charset="0"/>
              </a:rPr>
              <a:t>0</a:t>
            </a:r>
            <a:r>
              <a:rPr lang="zh-CN" altLang="zh-CN" dirty="0">
                <a:ea typeface="楷体" panose="02010609060101010101" pitchFamily="49" charset="-122"/>
                <a:cs typeface="Times New Roman" panose="02020603050405020304" pitchFamily="18" charset="0"/>
              </a:rPr>
              <a:t>”系数的个数</a:t>
            </a:r>
            <a:endParaRPr lang="zh-CN" altLang="en-US" dirty="0">
              <a:ea typeface="楷体" panose="02010609060101010101" pitchFamily="49" charset="-122"/>
              <a:cs typeface="Times New Roman" panose="02020603050405020304" pitchFamily="18" charset="0"/>
            </a:endParaRPr>
          </a:p>
        </p:txBody>
      </p:sp>
      <p:pic>
        <p:nvPicPr>
          <p:cNvPr id="8" name="图片 7"/>
          <p:cNvPicPr>
            <a:picLocks noChangeAspect="1"/>
          </p:cNvPicPr>
          <p:nvPr/>
        </p:nvPicPr>
        <p:blipFill>
          <a:blip r:embed="rId3"/>
          <a:stretch>
            <a:fillRect/>
          </a:stretch>
        </p:blipFill>
        <p:spPr>
          <a:xfrm>
            <a:off x="3473119" y="1337511"/>
            <a:ext cx="3337255" cy="3540805"/>
          </a:xfrm>
          <a:prstGeom prst="rect">
            <a:avLst/>
          </a:prstGeom>
        </p:spPr>
      </p:pic>
    </p:spTree>
    <p:extLst>
      <p:ext uri="{BB962C8B-B14F-4D97-AF65-F5344CB8AC3E}">
        <p14:creationId xmlns:p14="http://schemas.microsoft.com/office/powerpoint/2010/main" val="2422747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23</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6" name="Text Box 4"/>
          <p:cNvSpPr txBox="1">
            <a:spLocks noChangeArrowheads="1"/>
          </p:cNvSpPr>
          <p:nvPr/>
        </p:nvSpPr>
        <p:spPr bwMode="auto">
          <a:xfrm>
            <a:off x="293651" y="1553081"/>
            <a:ext cx="6459276" cy="461665"/>
          </a:xfrm>
          <a:prstGeom prst="rect">
            <a:avLst/>
          </a:prstGeom>
          <a:noFill/>
          <a:ln w="9525" algn="ctr">
            <a:noFill/>
            <a:miter lim="800000"/>
            <a:headEnd/>
            <a:tailEnd/>
          </a:ln>
          <a:effectLst/>
        </p:spPr>
        <p:txBody>
          <a:bodyPr wrap="square">
            <a:spAutoFit/>
          </a:bodyPr>
          <a:lstStyle/>
          <a:p>
            <a:pPr marL="342900" marR="0" lvl="0" indent="-342900" algn="just" defTabSz="914400" eaLnBrk="1" fontAlgn="auto" latinLnBrk="0" hangingPunct="1">
              <a:lnSpc>
                <a:spcPct val="100000"/>
              </a:lnSpc>
              <a:spcBef>
                <a:spcPts val="600"/>
              </a:spcBef>
              <a:spcAft>
                <a:spcPts val="300"/>
              </a:spcAft>
              <a:buClr>
                <a:srgbClr val="7030A0"/>
              </a:buClr>
              <a:buSzPct val="75000"/>
              <a:buFont typeface="Wingdings" panose="05000000000000000000" pitchFamily="2" charset="2"/>
              <a:buChar char="Ø"/>
              <a:tabLst/>
              <a:defRPr/>
            </a:pPr>
            <a:r>
              <a:rPr kumimoji="0" lang="en-US" altLang="zh-CN" i="1" u="none" strike="noStrike" kern="0" cap="none" spc="0" normalizeH="0" baseline="0" noProof="0" dirty="0">
                <a:ln>
                  <a:noFill/>
                </a:ln>
                <a:effectLst/>
                <a:uLnTx/>
                <a:uFillTx/>
                <a:ea typeface="楷体" panose="02010609060101010101" pitchFamily="49" charset="-122"/>
                <a:cs typeface="Times New Roman" panose="02020603050405020304" pitchFamily="18" charset="0"/>
              </a:rPr>
              <a:t>NNNN / SSSS</a:t>
            </a:r>
            <a:r>
              <a:rPr kumimoji="0" lang="zh-CN" altLang="en-US" i="0" u="none" strike="noStrike" kern="0" cap="none" spc="0" normalizeH="0" baseline="0" noProof="0" dirty="0">
                <a:ln>
                  <a:noFill/>
                </a:ln>
                <a:effectLst/>
                <a:uLnTx/>
                <a:uFillTx/>
                <a:ea typeface="楷体" panose="02010609060101010101" pitchFamily="49" charset="-122"/>
                <a:cs typeface="Times New Roman" panose="02020603050405020304" pitchFamily="18" charset="0"/>
              </a:rPr>
              <a:t>的编码</a:t>
            </a:r>
            <a:endParaRPr kumimoji="0" lang="en-US" altLang="zh-CN" i="0" u="none" strike="noStrike" kern="0" cap="none" spc="0" normalizeH="0" baseline="0" noProof="0" dirty="0">
              <a:ln>
                <a:noFill/>
              </a:ln>
              <a:effectLst/>
              <a:uLnTx/>
              <a:uFillTx/>
              <a:ea typeface="楷体" panose="02010609060101010101" pitchFamily="49" charset="-122"/>
              <a:cs typeface="Times New Roman" panose="02020603050405020304" pitchFamily="18" charset="0"/>
            </a:endParaRPr>
          </a:p>
        </p:txBody>
      </p:sp>
      <p:sp>
        <p:nvSpPr>
          <p:cNvPr id="7" name="Text Box 3"/>
          <p:cNvSpPr txBox="1">
            <a:spLocks noChangeArrowheads="1"/>
          </p:cNvSpPr>
          <p:nvPr/>
        </p:nvSpPr>
        <p:spPr bwMode="auto">
          <a:xfrm>
            <a:off x="214895" y="991569"/>
            <a:ext cx="36001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indent="-342900" algn="just">
              <a:buClr>
                <a:srgbClr val="7030A0"/>
              </a:buClr>
              <a:buSzPct val="75000"/>
              <a:buFont typeface="Wingdings" panose="05000000000000000000" pitchFamily="2" charset="2"/>
              <a:buChar char="p"/>
            </a:pPr>
            <a:r>
              <a:rPr lang="en-US" altLang="zh-CN"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AC</a:t>
            </a:r>
            <a:r>
              <a:rPr lang="zh-CN" altLang="en-US"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系数的编码步骤</a:t>
            </a:r>
            <a:endParaRPr lang="zh-CN" altLang="en-US" sz="2400" i="1" dirty="0">
              <a:solidFill>
                <a:srgbClr val="0000CC"/>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8" name="矩形 7"/>
          <p:cNvSpPr/>
          <p:nvPr/>
        </p:nvSpPr>
        <p:spPr>
          <a:xfrm>
            <a:off x="412967" y="4311017"/>
            <a:ext cx="6220644" cy="461665"/>
          </a:xfrm>
          <a:prstGeom prst="rect">
            <a:avLst/>
          </a:prstGeom>
        </p:spPr>
        <p:txBody>
          <a:bodyPr wrap="square">
            <a:spAutoFit/>
          </a:bodyPr>
          <a:lstStyle/>
          <a:p>
            <a:pPr marL="342900" marR="0" lvl="0" indent="-342900" algn="just" defTabSz="914400" eaLnBrk="1" fontAlgn="auto" latinLnBrk="0" hangingPunct="1">
              <a:lnSpc>
                <a:spcPct val="100000"/>
              </a:lnSpc>
              <a:spcBef>
                <a:spcPts val="600"/>
              </a:spcBef>
              <a:spcAft>
                <a:spcPts val="300"/>
              </a:spcAft>
              <a:buClr>
                <a:srgbClr val="7030A0"/>
              </a:buClr>
              <a:buSzPct val="75000"/>
              <a:buFont typeface="Wingdings" panose="05000000000000000000" pitchFamily="2" charset="2"/>
              <a:buChar char="Ø"/>
              <a:tabLst/>
              <a:defRPr/>
            </a:pPr>
            <a:r>
              <a:rPr kumimoji="0" lang="zh-CN" altLang="en-US" kern="0" dirty="0">
                <a:ea typeface="楷体" panose="02010609060101010101" pitchFamily="49" charset="-122"/>
                <a:cs typeface="Times New Roman" panose="02020603050405020304" pitchFamily="18" charset="0"/>
              </a:rPr>
              <a:t>尾码的编码：非零</a:t>
            </a:r>
            <a:r>
              <a:rPr kumimoji="0" lang="en-US" altLang="zh-CN" kern="0" dirty="0">
                <a:ea typeface="楷体" panose="02010609060101010101" pitchFamily="49" charset="-122"/>
                <a:cs typeface="Times New Roman" panose="02020603050405020304" pitchFamily="18" charset="0"/>
              </a:rPr>
              <a:t>AC</a:t>
            </a:r>
            <a:r>
              <a:rPr kumimoji="0" lang="zh-CN" altLang="en-US" kern="0" dirty="0">
                <a:ea typeface="楷体" panose="02010609060101010101" pitchFamily="49" charset="-122"/>
                <a:cs typeface="Times New Roman" panose="02020603050405020304" pitchFamily="18" charset="0"/>
              </a:rPr>
              <a:t>系数本身编码</a:t>
            </a:r>
          </a:p>
        </p:txBody>
      </p:sp>
      <p:sp>
        <p:nvSpPr>
          <p:cNvPr id="9" name="矩形 8"/>
          <p:cNvSpPr/>
          <p:nvPr/>
        </p:nvSpPr>
        <p:spPr>
          <a:xfrm>
            <a:off x="524235" y="1985679"/>
            <a:ext cx="6286140" cy="1800493"/>
          </a:xfrm>
          <a:prstGeom prst="rect">
            <a:avLst/>
          </a:prstGeom>
        </p:spPr>
        <p:txBody>
          <a:bodyPr wrap="square">
            <a:spAutoFit/>
          </a:bodyPr>
          <a:lstStyle/>
          <a:p>
            <a:pPr marL="342900" marR="0" lvl="0" indent="-342900" algn="just" defTabSz="914400" eaLnBrk="1" fontAlgn="auto" latinLnBrk="0" hangingPunct="1">
              <a:lnSpc>
                <a:spcPct val="100000"/>
              </a:lnSpc>
              <a:spcBef>
                <a:spcPts val="600"/>
              </a:spcBef>
              <a:spcAft>
                <a:spcPts val="300"/>
              </a:spcAft>
              <a:buClr>
                <a:srgbClr val="7030A0"/>
              </a:buClr>
              <a:buSzPct val="75000"/>
              <a:buFont typeface="Arial" panose="020B0604020202020204" pitchFamily="34" charset="0"/>
              <a:buChar char="•"/>
              <a:tabLst/>
              <a:defRPr/>
            </a:pPr>
            <a:r>
              <a:rPr kumimoji="0" lang="en-US" altLang="zh-CN" i="1" kern="0" dirty="0">
                <a:ea typeface="楷体" panose="02010609060101010101" pitchFamily="49" charset="-122"/>
                <a:cs typeface="Times New Roman" panose="02020603050405020304" pitchFamily="18" charset="0"/>
              </a:rPr>
              <a:t>SSSS</a:t>
            </a:r>
            <a:r>
              <a:rPr kumimoji="0" lang="zh-CN" altLang="en-US" i="1" kern="0" dirty="0">
                <a:ea typeface="楷体" panose="02010609060101010101" pitchFamily="49" charset="-122"/>
                <a:cs typeface="Times New Roman" panose="02020603050405020304" pitchFamily="18" charset="0"/>
              </a:rPr>
              <a:t>：</a:t>
            </a:r>
            <a:r>
              <a:rPr kumimoji="0" lang="zh-CN" altLang="en-US" u="sng" kern="0" dirty="0">
                <a:effectLst>
                  <a:outerShdw blurRad="38100" dist="38100" dir="2700000" algn="tl">
                    <a:srgbClr val="C0C0C0"/>
                  </a:outerShdw>
                </a:effectLst>
                <a:ea typeface="楷体" panose="02010609060101010101" pitchFamily="49" charset="-122"/>
                <a:cs typeface="Times New Roman" panose="02020603050405020304" pitchFamily="18" charset="0"/>
              </a:rPr>
              <a:t>非零</a:t>
            </a:r>
            <a:r>
              <a:rPr kumimoji="0" lang="en-US" altLang="zh-CN" u="sng" kern="0" dirty="0">
                <a:effectLst>
                  <a:outerShdw blurRad="38100" dist="38100" dir="2700000" algn="tl">
                    <a:srgbClr val="C0C0C0"/>
                  </a:outerShdw>
                </a:effectLst>
                <a:ea typeface="楷体" panose="02010609060101010101" pitchFamily="49" charset="-122"/>
                <a:cs typeface="Times New Roman" panose="02020603050405020304" pitchFamily="18" charset="0"/>
              </a:rPr>
              <a:t>AC</a:t>
            </a:r>
            <a:r>
              <a:rPr kumimoji="0" lang="zh-CN" altLang="en-US" u="sng" kern="0" dirty="0">
                <a:effectLst>
                  <a:outerShdw blurRad="38100" dist="38100" dir="2700000" algn="tl">
                    <a:srgbClr val="C0C0C0"/>
                  </a:outerShdw>
                </a:effectLst>
                <a:ea typeface="楷体" panose="02010609060101010101" pitchFamily="49" charset="-122"/>
                <a:cs typeface="Times New Roman" panose="02020603050405020304" pitchFamily="18" charset="0"/>
              </a:rPr>
              <a:t>系数</a:t>
            </a:r>
            <a:r>
              <a:rPr kumimoji="0" lang="zh-CN" altLang="en-US" kern="0" dirty="0">
                <a:ea typeface="楷体" panose="02010609060101010101" pitchFamily="49" charset="-122"/>
                <a:cs typeface="Times New Roman" panose="02020603050405020304" pitchFamily="18" charset="0"/>
              </a:rPr>
              <a:t>所对应的前缀码（</a:t>
            </a:r>
            <a:r>
              <a:rPr lang="zh-CN" altLang="zh-CN" dirty="0">
                <a:ea typeface="楷体" panose="02010609060101010101" pitchFamily="49" charset="-122"/>
                <a:cs typeface="Times New Roman" panose="02020603050405020304" pitchFamily="18" charset="0"/>
              </a:rPr>
              <a:t>表</a:t>
            </a:r>
            <a:r>
              <a:rPr lang="en-US" altLang="zh-CN" dirty="0">
                <a:ea typeface="楷体" panose="02010609060101010101" pitchFamily="49" charset="-122"/>
                <a:cs typeface="Times New Roman" panose="02020603050405020304" pitchFamily="18" charset="0"/>
              </a:rPr>
              <a:t>12-6 </a:t>
            </a:r>
            <a:r>
              <a:rPr kumimoji="0" lang="zh-CN" altLang="en-US" kern="0" dirty="0">
                <a:ea typeface="楷体" panose="02010609060101010101" pitchFamily="49" charset="-122"/>
                <a:cs typeface="Times New Roman" panose="02020603050405020304" pitchFamily="18" charset="0"/>
              </a:rPr>
              <a:t>）</a:t>
            </a:r>
          </a:p>
          <a:p>
            <a:pPr marL="342900" marR="0" lvl="0" indent="-342900" algn="just" defTabSz="914400" eaLnBrk="1" fontAlgn="auto" latinLnBrk="0" hangingPunct="1">
              <a:lnSpc>
                <a:spcPct val="100000"/>
              </a:lnSpc>
              <a:spcBef>
                <a:spcPts val="600"/>
              </a:spcBef>
              <a:spcAft>
                <a:spcPts val="300"/>
              </a:spcAft>
              <a:buClr>
                <a:srgbClr val="7030A0"/>
              </a:buClr>
              <a:buSzPct val="75000"/>
              <a:buFont typeface="Arial" panose="020B0604020202020204" pitchFamily="34" charset="0"/>
              <a:buChar char="•"/>
              <a:tabLst/>
              <a:defRPr/>
            </a:pPr>
            <a:r>
              <a:rPr kumimoji="0" lang="en-US" altLang="zh-CN" i="1" kern="0" dirty="0">
                <a:ea typeface="楷体" panose="02010609060101010101" pitchFamily="49" charset="-122"/>
                <a:cs typeface="Times New Roman" panose="02020603050405020304" pitchFamily="18" charset="0"/>
              </a:rPr>
              <a:t>NNNN</a:t>
            </a:r>
            <a:r>
              <a:rPr kumimoji="0" lang="en-US" altLang="zh-CN" kern="0" dirty="0">
                <a:ea typeface="楷体" panose="02010609060101010101" pitchFamily="49" charset="-122"/>
                <a:cs typeface="Times New Roman" panose="02020603050405020304" pitchFamily="18" charset="0"/>
              </a:rPr>
              <a:t> </a:t>
            </a:r>
            <a:r>
              <a:rPr kumimoji="0" lang="zh-CN" altLang="en-US" kern="0" dirty="0">
                <a:ea typeface="楷体" panose="02010609060101010101" pitchFamily="49" charset="-122"/>
                <a:cs typeface="Times New Roman" panose="02020603050405020304" pitchFamily="18" charset="0"/>
              </a:rPr>
              <a:t>：</a:t>
            </a:r>
            <a:r>
              <a:rPr kumimoji="0" lang="zh-CN" altLang="en-US" u="sng" kern="0" dirty="0">
                <a:effectLst>
                  <a:outerShdw blurRad="38100" dist="38100" dir="2700000" algn="tl">
                    <a:srgbClr val="C0C0C0"/>
                  </a:outerShdw>
                </a:effectLst>
                <a:ea typeface="楷体" panose="02010609060101010101" pitchFamily="49" charset="-122"/>
                <a:cs typeface="Times New Roman" panose="02020603050405020304" pitchFamily="18" charset="0"/>
              </a:rPr>
              <a:t>非零</a:t>
            </a:r>
            <a:r>
              <a:rPr kumimoji="0" lang="en-US" altLang="zh-CN" u="sng" kern="0" dirty="0">
                <a:effectLst>
                  <a:outerShdw blurRad="38100" dist="38100" dir="2700000" algn="tl">
                    <a:srgbClr val="C0C0C0"/>
                  </a:outerShdw>
                </a:effectLst>
                <a:ea typeface="楷体" panose="02010609060101010101" pitchFamily="49" charset="-122"/>
                <a:cs typeface="Times New Roman" panose="02020603050405020304" pitchFamily="18" charset="0"/>
              </a:rPr>
              <a:t>AC</a:t>
            </a:r>
            <a:r>
              <a:rPr kumimoji="0" lang="zh-CN" altLang="en-US" u="sng" kern="0" dirty="0">
                <a:effectLst>
                  <a:outerShdw blurRad="38100" dist="38100" dir="2700000" algn="tl">
                    <a:srgbClr val="C0C0C0"/>
                  </a:outerShdw>
                </a:effectLst>
                <a:ea typeface="楷体" panose="02010609060101010101" pitchFamily="49" charset="-122"/>
                <a:cs typeface="Times New Roman" panose="02020603050405020304" pitchFamily="18" charset="0"/>
              </a:rPr>
              <a:t>系数值</a:t>
            </a:r>
            <a:r>
              <a:rPr kumimoji="0" lang="zh-CN" altLang="en-US" kern="0" dirty="0">
                <a:effectLst>
                  <a:outerShdw blurRad="38100" dist="38100" dir="2700000" algn="tl">
                    <a:srgbClr val="C0C0C0"/>
                  </a:outerShdw>
                </a:effectLst>
                <a:ea typeface="楷体" panose="02010609060101010101" pitchFamily="49" charset="-122"/>
                <a:cs typeface="Times New Roman" panose="02020603050405020304" pitchFamily="18" charset="0"/>
              </a:rPr>
              <a:t>前的</a:t>
            </a:r>
            <a:r>
              <a:rPr kumimoji="0" lang="en-US" altLang="zh-CN" kern="0" dirty="0">
                <a:effectLst>
                  <a:outerShdw blurRad="38100" dist="38100" dir="2700000" algn="tl">
                    <a:srgbClr val="C0C0C0"/>
                  </a:outerShdw>
                </a:effectLst>
                <a:ea typeface="楷体" panose="02010609060101010101" pitchFamily="49" charset="-122"/>
                <a:cs typeface="Times New Roman" panose="02020603050405020304" pitchFamily="18" charset="0"/>
              </a:rPr>
              <a:t>0</a:t>
            </a:r>
            <a:r>
              <a:rPr kumimoji="0" lang="zh-CN" altLang="en-US" kern="0" dirty="0">
                <a:effectLst>
                  <a:outerShdw blurRad="38100" dist="38100" dir="2700000" algn="tl">
                    <a:srgbClr val="C0C0C0"/>
                  </a:outerShdw>
                </a:effectLst>
                <a:ea typeface="楷体" panose="02010609060101010101" pitchFamily="49" charset="-122"/>
                <a:cs typeface="Times New Roman" panose="02020603050405020304" pitchFamily="18" charset="0"/>
              </a:rPr>
              <a:t>行</a:t>
            </a:r>
            <a:r>
              <a:rPr kumimoji="0" lang="zh-CN" altLang="en-US" kern="0" dirty="0">
                <a:ea typeface="楷体" panose="02010609060101010101" pitchFamily="49" charset="-122"/>
                <a:cs typeface="Times New Roman" panose="02020603050405020304" pitchFamily="18" charset="0"/>
              </a:rPr>
              <a:t>程计数</a:t>
            </a:r>
          </a:p>
          <a:p>
            <a:pPr marL="342900" marR="0" lvl="0" indent="-342900" algn="just" defTabSz="914400" eaLnBrk="1" fontAlgn="auto" latinLnBrk="0" hangingPunct="1">
              <a:lnSpc>
                <a:spcPct val="100000"/>
              </a:lnSpc>
              <a:spcBef>
                <a:spcPts val="600"/>
              </a:spcBef>
              <a:spcAft>
                <a:spcPts val="300"/>
              </a:spcAft>
              <a:buClr>
                <a:srgbClr val="7030A0"/>
              </a:buClr>
              <a:buSzPct val="75000"/>
              <a:buFont typeface="Arial" panose="020B0604020202020204" pitchFamily="34" charset="0"/>
              <a:buChar char="•"/>
              <a:tabLst/>
              <a:defRPr/>
            </a:pPr>
            <a:r>
              <a:rPr kumimoji="0" lang="zh-CN" altLang="en-US" kern="0" dirty="0">
                <a:ea typeface="楷体" panose="02010609060101010101" pitchFamily="49" charset="-122"/>
                <a:cs typeface="Times New Roman" panose="02020603050405020304" pitchFamily="18" charset="0"/>
              </a:rPr>
              <a:t>根据 </a:t>
            </a:r>
            <a:r>
              <a:rPr kumimoji="0" lang="en-US" altLang="zh-CN" i="1" kern="0" dirty="0">
                <a:ea typeface="楷体" panose="02010609060101010101" pitchFamily="49" charset="-122"/>
                <a:cs typeface="Times New Roman" panose="02020603050405020304" pitchFamily="18" charset="0"/>
              </a:rPr>
              <a:t>NNNN </a:t>
            </a:r>
            <a:r>
              <a:rPr kumimoji="0" lang="en-US" altLang="zh-CN" kern="0" dirty="0">
                <a:ea typeface="楷体" panose="02010609060101010101" pitchFamily="49" charset="-122"/>
                <a:cs typeface="Times New Roman" panose="02020603050405020304" pitchFamily="18" charset="0"/>
              </a:rPr>
              <a:t>/</a:t>
            </a:r>
            <a:r>
              <a:rPr kumimoji="0" lang="en-US" altLang="zh-CN" i="1" kern="0" dirty="0">
                <a:ea typeface="楷体" panose="02010609060101010101" pitchFamily="49" charset="-122"/>
                <a:cs typeface="Times New Roman" panose="02020603050405020304" pitchFamily="18" charset="0"/>
              </a:rPr>
              <a:t> SSSS</a:t>
            </a:r>
            <a:r>
              <a:rPr kumimoji="0" lang="en-US" altLang="zh-CN" kern="0" dirty="0">
                <a:ea typeface="楷体" panose="02010609060101010101" pitchFamily="49" charset="-122"/>
                <a:cs typeface="Times New Roman" panose="02020603050405020304" pitchFamily="18" charset="0"/>
              </a:rPr>
              <a:t> </a:t>
            </a:r>
            <a:r>
              <a:rPr kumimoji="0" lang="zh-CN" altLang="en-US" kern="0" dirty="0">
                <a:ea typeface="楷体" panose="02010609060101010101" pitchFamily="49" charset="-122"/>
                <a:cs typeface="Times New Roman" panose="02020603050405020304" pitchFamily="18" charset="0"/>
              </a:rPr>
              <a:t>查哈夫曼编码表</a:t>
            </a:r>
            <a:r>
              <a:rPr kumimoji="0" lang="en-US" altLang="zh-CN" kern="0" dirty="0">
                <a:ea typeface="楷体" panose="02010609060101010101" pitchFamily="49" charset="-122"/>
                <a:cs typeface="Times New Roman" panose="02020603050405020304" pitchFamily="18" charset="0"/>
              </a:rPr>
              <a:t>(</a:t>
            </a:r>
            <a:r>
              <a:rPr kumimoji="0" lang="zh-CN" altLang="en-US" kern="0" dirty="0">
                <a:ea typeface="楷体" panose="02010609060101010101" pitchFamily="49" charset="-122"/>
                <a:cs typeface="Times New Roman" panose="02020603050405020304" pitchFamily="18" charset="0"/>
              </a:rPr>
              <a:t>表</a:t>
            </a:r>
            <a:r>
              <a:rPr kumimoji="0" lang="en-US" altLang="zh-CN" kern="0" dirty="0">
                <a:ea typeface="楷体" panose="02010609060101010101" pitchFamily="49" charset="-122"/>
                <a:cs typeface="Times New Roman" panose="02020603050405020304" pitchFamily="18" charset="0"/>
              </a:rPr>
              <a:t>12-7)</a:t>
            </a:r>
            <a:endParaRPr lang="zh-CN" altLang="en-US" dirty="0"/>
          </a:p>
        </p:txBody>
      </p:sp>
    </p:spTree>
    <p:extLst>
      <p:ext uri="{BB962C8B-B14F-4D97-AF65-F5344CB8AC3E}">
        <p14:creationId xmlns:p14="http://schemas.microsoft.com/office/powerpoint/2010/main" val="295186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CF4DC-C813-C6A4-ADC8-41D3C630A84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FF12770-52D6-AC7A-ED57-742368C6CAA7}"/>
              </a:ext>
            </a:extLst>
          </p:cNvPr>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24</a:t>
            </a:fld>
            <a:endParaRPr lang="en-US" altLang="zh-CN"/>
          </a:p>
        </p:txBody>
      </p:sp>
      <p:sp>
        <p:nvSpPr>
          <p:cNvPr id="3" name="Rectangle 2">
            <a:extLst>
              <a:ext uri="{FF2B5EF4-FFF2-40B4-BE49-F238E27FC236}">
                <a16:creationId xmlns:a16="http://schemas.microsoft.com/office/drawing/2014/main" id="{9FBA6104-E9FB-098B-34AF-1BDABA74D6B3}"/>
              </a:ext>
            </a:extLst>
          </p:cNvPr>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12.4.1 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4" name="Rectangle 2">
            <a:extLst>
              <a:ext uri="{FF2B5EF4-FFF2-40B4-BE49-F238E27FC236}">
                <a16:creationId xmlns:a16="http://schemas.microsoft.com/office/drawing/2014/main" id="{401298B2-E758-B432-421D-9E1A7A295235}"/>
              </a:ext>
            </a:extLst>
          </p:cNvPr>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a:t>
            </a: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标准和</a:t>
            </a: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JPEG2000</a:t>
            </a:r>
            <a:endPar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endParaRPr>
          </a:p>
        </p:txBody>
      </p:sp>
      <p:sp>
        <p:nvSpPr>
          <p:cNvPr id="6" name="Text Box 4">
            <a:extLst>
              <a:ext uri="{FF2B5EF4-FFF2-40B4-BE49-F238E27FC236}">
                <a16:creationId xmlns:a16="http://schemas.microsoft.com/office/drawing/2014/main" id="{8AF9B532-C2D9-8CEC-A40F-A136C17035F7}"/>
              </a:ext>
            </a:extLst>
          </p:cNvPr>
          <p:cNvSpPr txBox="1">
            <a:spLocks noChangeArrowheads="1"/>
          </p:cNvSpPr>
          <p:nvPr/>
        </p:nvSpPr>
        <p:spPr bwMode="auto">
          <a:xfrm>
            <a:off x="293651" y="1553081"/>
            <a:ext cx="6459276" cy="461665"/>
          </a:xfrm>
          <a:prstGeom prst="rect">
            <a:avLst/>
          </a:prstGeom>
          <a:noFill/>
          <a:ln w="9525" algn="ctr">
            <a:noFill/>
            <a:miter lim="800000"/>
            <a:headEnd/>
            <a:tailEnd/>
          </a:ln>
          <a:effectLst/>
        </p:spPr>
        <p:txBody>
          <a:bodyPr wrap="square">
            <a:spAutoFit/>
          </a:bodyPr>
          <a:lstStyle/>
          <a:p>
            <a:pPr marL="342900" marR="0" lvl="0" indent="-342900" algn="just" defTabSz="914400" eaLnBrk="1" fontAlgn="auto" latinLnBrk="0" hangingPunct="1">
              <a:lnSpc>
                <a:spcPct val="100000"/>
              </a:lnSpc>
              <a:spcBef>
                <a:spcPts val="600"/>
              </a:spcBef>
              <a:spcAft>
                <a:spcPts val="300"/>
              </a:spcAft>
              <a:buClr>
                <a:srgbClr val="7030A0"/>
              </a:buClr>
              <a:buSzPct val="75000"/>
              <a:buFont typeface="Wingdings" panose="05000000000000000000" pitchFamily="2" charset="2"/>
              <a:buChar char="Ø"/>
              <a:tabLst/>
              <a:defRPr/>
            </a:pPr>
            <a:r>
              <a:rPr kumimoji="0" lang="en-US" altLang="zh-CN" i="1" u="none" strike="noStrike" kern="0" cap="none" spc="0" normalizeH="0" baseline="0" noProof="0" dirty="0">
                <a:ln>
                  <a:noFill/>
                </a:ln>
                <a:effectLst/>
                <a:uLnTx/>
                <a:uFillTx/>
                <a:ea typeface="楷体" panose="02010609060101010101" pitchFamily="49" charset="-122"/>
                <a:cs typeface="Times New Roman" panose="02020603050405020304" pitchFamily="18" charset="0"/>
              </a:rPr>
              <a:t>NNNN / SSSS</a:t>
            </a:r>
            <a:r>
              <a:rPr kumimoji="0" lang="zh-CN" altLang="en-US" i="0" u="none" strike="noStrike" kern="0" cap="none" spc="0" normalizeH="0" baseline="0" noProof="0" dirty="0">
                <a:ln>
                  <a:noFill/>
                </a:ln>
                <a:effectLst/>
                <a:uLnTx/>
                <a:uFillTx/>
                <a:ea typeface="楷体" panose="02010609060101010101" pitchFamily="49" charset="-122"/>
                <a:cs typeface="Times New Roman" panose="02020603050405020304" pitchFamily="18" charset="0"/>
              </a:rPr>
              <a:t>的编码</a:t>
            </a:r>
            <a:endParaRPr kumimoji="0" lang="en-US" altLang="zh-CN" i="0" u="none" strike="noStrike" kern="0" cap="none" spc="0" normalizeH="0" baseline="0" noProof="0" dirty="0">
              <a:ln>
                <a:noFill/>
              </a:ln>
              <a:effectLst/>
              <a:uLnTx/>
              <a:uFillTx/>
              <a:ea typeface="楷体" panose="02010609060101010101" pitchFamily="49" charset="-122"/>
              <a:cs typeface="Times New Roman" panose="02020603050405020304" pitchFamily="18" charset="0"/>
            </a:endParaRPr>
          </a:p>
        </p:txBody>
      </p:sp>
      <p:sp>
        <p:nvSpPr>
          <p:cNvPr id="7" name="Text Box 3">
            <a:extLst>
              <a:ext uri="{FF2B5EF4-FFF2-40B4-BE49-F238E27FC236}">
                <a16:creationId xmlns:a16="http://schemas.microsoft.com/office/drawing/2014/main" id="{7F272065-D32B-AE31-A513-8CCB94B2336A}"/>
              </a:ext>
            </a:extLst>
          </p:cNvPr>
          <p:cNvSpPr txBox="1">
            <a:spLocks noChangeArrowheads="1"/>
          </p:cNvSpPr>
          <p:nvPr/>
        </p:nvSpPr>
        <p:spPr bwMode="auto">
          <a:xfrm>
            <a:off x="214895" y="991569"/>
            <a:ext cx="36001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indent="-342900" algn="just">
              <a:buClr>
                <a:srgbClr val="7030A0"/>
              </a:buClr>
              <a:buSzPct val="75000"/>
              <a:buFont typeface="Wingdings" panose="05000000000000000000" pitchFamily="2" charset="2"/>
              <a:buChar char="p"/>
            </a:pPr>
            <a:r>
              <a:rPr lang="en-US" altLang="zh-CN"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AC</a:t>
            </a:r>
            <a:r>
              <a:rPr lang="zh-CN" altLang="en-US" sz="24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系数的编码步骤</a:t>
            </a:r>
            <a:endParaRPr lang="zh-CN" altLang="en-US" sz="2400" i="1" dirty="0">
              <a:solidFill>
                <a:srgbClr val="0000CC"/>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8" name="矩形 7">
            <a:extLst>
              <a:ext uri="{FF2B5EF4-FFF2-40B4-BE49-F238E27FC236}">
                <a16:creationId xmlns:a16="http://schemas.microsoft.com/office/drawing/2014/main" id="{69706F59-38BB-5C6D-C14C-2F875EEA3767}"/>
              </a:ext>
            </a:extLst>
          </p:cNvPr>
          <p:cNvSpPr/>
          <p:nvPr/>
        </p:nvSpPr>
        <p:spPr>
          <a:xfrm>
            <a:off x="412967" y="4311017"/>
            <a:ext cx="6220644" cy="461665"/>
          </a:xfrm>
          <a:prstGeom prst="rect">
            <a:avLst/>
          </a:prstGeom>
        </p:spPr>
        <p:txBody>
          <a:bodyPr wrap="square">
            <a:spAutoFit/>
          </a:bodyPr>
          <a:lstStyle/>
          <a:p>
            <a:pPr marL="342900" marR="0" lvl="0" indent="-342900" algn="just" defTabSz="914400" eaLnBrk="1" fontAlgn="auto" latinLnBrk="0" hangingPunct="1">
              <a:lnSpc>
                <a:spcPct val="100000"/>
              </a:lnSpc>
              <a:spcBef>
                <a:spcPts val="600"/>
              </a:spcBef>
              <a:spcAft>
                <a:spcPts val="300"/>
              </a:spcAft>
              <a:buClr>
                <a:srgbClr val="7030A0"/>
              </a:buClr>
              <a:buSzPct val="75000"/>
              <a:buFont typeface="Wingdings" panose="05000000000000000000" pitchFamily="2" charset="2"/>
              <a:buChar char="Ø"/>
              <a:tabLst/>
              <a:defRPr/>
            </a:pPr>
            <a:r>
              <a:rPr kumimoji="0" lang="zh-CN" altLang="en-US" kern="0" dirty="0">
                <a:ea typeface="楷体" panose="02010609060101010101" pitchFamily="49" charset="-122"/>
                <a:cs typeface="Times New Roman" panose="02020603050405020304" pitchFamily="18" charset="0"/>
              </a:rPr>
              <a:t>尾码的编码 </a:t>
            </a:r>
            <a:r>
              <a:rPr kumimoji="0" lang="en-US" altLang="zh-CN" kern="0" dirty="0">
                <a:ea typeface="楷体" panose="02010609060101010101" pitchFamily="49" charset="-122"/>
                <a:cs typeface="Times New Roman" panose="02020603050405020304" pitchFamily="18" charset="0"/>
              </a:rPr>
              <a:t>     </a:t>
            </a:r>
            <a:r>
              <a:rPr kumimoji="0" lang="zh-CN" altLang="en-US" kern="0" dirty="0">
                <a:ea typeface="楷体" panose="02010609060101010101" pitchFamily="49" charset="-122"/>
                <a:cs typeface="Times New Roman" panose="02020603050405020304" pitchFamily="18" charset="0"/>
              </a:rPr>
              <a:t>非零</a:t>
            </a:r>
            <a:r>
              <a:rPr kumimoji="0" lang="en-US" altLang="zh-CN" kern="0" dirty="0">
                <a:ea typeface="楷体" panose="02010609060101010101" pitchFamily="49" charset="-122"/>
                <a:cs typeface="Times New Roman" panose="02020603050405020304" pitchFamily="18" charset="0"/>
              </a:rPr>
              <a:t>AC</a:t>
            </a:r>
            <a:r>
              <a:rPr kumimoji="0" lang="zh-CN" altLang="en-US" kern="0" dirty="0">
                <a:ea typeface="楷体" panose="02010609060101010101" pitchFamily="49" charset="-122"/>
                <a:cs typeface="Times New Roman" panose="02020603050405020304" pitchFamily="18" charset="0"/>
              </a:rPr>
              <a:t>系数本身编码</a:t>
            </a:r>
          </a:p>
        </p:txBody>
      </p:sp>
      <p:sp>
        <p:nvSpPr>
          <p:cNvPr id="9" name="矩形 8">
            <a:extLst>
              <a:ext uri="{FF2B5EF4-FFF2-40B4-BE49-F238E27FC236}">
                <a16:creationId xmlns:a16="http://schemas.microsoft.com/office/drawing/2014/main" id="{EC13132B-B19E-6AD6-8CB2-7D7B36A861DF}"/>
              </a:ext>
            </a:extLst>
          </p:cNvPr>
          <p:cNvSpPr/>
          <p:nvPr/>
        </p:nvSpPr>
        <p:spPr>
          <a:xfrm>
            <a:off x="524235" y="1985679"/>
            <a:ext cx="6286140" cy="2169825"/>
          </a:xfrm>
          <a:prstGeom prst="rect">
            <a:avLst/>
          </a:prstGeom>
        </p:spPr>
        <p:txBody>
          <a:bodyPr wrap="square">
            <a:spAutoFit/>
          </a:bodyPr>
          <a:lstStyle/>
          <a:p>
            <a:pPr marL="342900" marR="0" lvl="0" indent="-342900" algn="just" defTabSz="914400" eaLnBrk="1" fontAlgn="auto" latinLnBrk="0" hangingPunct="1">
              <a:lnSpc>
                <a:spcPct val="100000"/>
              </a:lnSpc>
              <a:spcBef>
                <a:spcPts val="600"/>
              </a:spcBef>
              <a:spcAft>
                <a:spcPts val="300"/>
              </a:spcAft>
              <a:buClr>
                <a:srgbClr val="7030A0"/>
              </a:buClr>
              <a:buSzPct val="75000"/>
              <a:buFont typeface="Arial" panose="020B0604020202020204" pitchFamily="34" charset="0"/>
              <a:buChar char="•"/>
              <a:tabLst/>
              <a:defRPr/>
            </a:pPr>
            <a:r>
              <a:rPr kumimoji="0" lang="en-US" altLang="zh-CN" i="1" kern="0" dirty="0">
                <a:ea typeface="楷体" panose="02010609060101010101" pitchFamily="49" charset="-122"/>
                <a:cs typeface="Times New Roman" panose="02020603050405020304" pitchFamily="18" charset="0"/>
              </a:rPr>
              <a:t>SSSS   </a:t>
            </a:r>
            <a:r>
              <a:rPr lang="zh-CN" altLang="zh-CN" dirty="0">
                <a:ea typeface="楷体" panose="02010609060101010101" pitchFamily="49" charset="-122"/>
                <a:cs typeface="Times New Roman" panose="02020603050405020304" pitchFamily="18" charset="0"/>
              </a:rPr>
              <a:t>从表</a:t>
            </a:r>
            <a:r>
              <a:rPr lang="en-US" altLang="zh-CN" dirty="0">
                <a:ea typeface="楷体" panose="02010609060101010101" pitchFamily="49" charset="-122"/>
                <a:cs typeface="Times New Roman" panose="02020603050405020304" pitchFamily="18" charset="0"/>
              </a:rPr>
              <a:t>12-6</a:t>
            </a:r>
            <a:r>
              <a:rPr lang="zh-CN" altLang="zh-CN" dirty="0">
                <a:ea typeface="楷体" panose="02010609060101010101" pitchFamily="49" charset="-122"/>
                <a:cs typeface="Times New Roman" panose="02020603050405020304" pitchFamily="18" charset="0"/>
              </a:rPr>
              <a:t>中查出</a:t>
            </a:r>
            <a:r>
              <a:rPr kumimoji="0" lang="zh-CN" altLang="en-US" u="sng" kern="0" dirty="0">
                <a:effectLst>
                  <a:outerShdw blurRad="38100" dist="38100" dir="2700000" algn="tl">
                    <a:srgbClr val="C0C0C0"/>
                  </a:outerShdw>
                </a:effectLst>
                <a:ea typeface="楷体" panose="02010609060101010101" pitchFamily="49" charset="-122"/>
                <a:cs typeface="Times New Roman" panose="02020603050405020304" pitchFamily="18" charset="0"/>
              </a:rPr>
              <a:t>非零</a:t>
            </a:r>
            <a:r>
              <a:rPr kumimoji="0" lang="en-US" altLang="zh-CN" u="sng" kern="0" dirty="0">
                <a:effectLst>
                  <a:outerShdw blurRad="38100" dist="38100" dir="2700000" algn="tl">
                    <a:srgbClr val="C0C0C0"/>
                  </a:outerShdw>
                </a:effectLst>
                <a:ea typeface="楷体" panose="02010609060101010101" pitchFamily="49" charset="-122"/>
                <a:cs typeface="Times New Roman" panose="02020603050405020304" pitchFamily="18" charset="0"/>
              </a:rPr>
              <a:t>AC</a:t>
            </a:r>
            <a:r>
              <a:rPr kumimoji="0" lang="zh-CN" altLang="en-US" u="sng" kern="0" dirty="0">
                <a:effectLst>
                  <a:outerShdw blurRad="38100" dist="38100" dir="2700000" algn="tl">
                    <a:srgbClr val="C0C0C0"/>
                  </a:outerShdw>
                </a:effectLst>
                <a:ea typeface="楷体" panose="02010609060101010101" pitchFamily="49" charset="-122"/>
                <a:cs typeface="Times New Roman" panose="02020603050405020304" pitchFamily="18" charset="0"/>
              </a:rPr>
              <a:t>系数幅度值</a:t>
            </a:r>
            <a:r>
              <a:rPr kumimoji="0" lang="zh-CN" altLang="en-US" kern="0" dirty="0">
                <a:ea typeface="楷体" panose="02010609060101010101" pitchFamily="49" charset="-122"/>
                <a:cs typeface="Times New Roman" panose="02020603050405020304" pitchFamily="18" charset="0"/>
              </a:rPr>
              <a:t>所对应的前缀码</a:t>
            </a:r>
            <a:r>
              <a:rPr kumimoji="0" lang="en-US" altLang="zh-CN" i="1" kern="0" dirty="0">
                <a:ea typeface="楷体" panose="02010609060101010101" pitchFamily="49" charset="-122"/>
                <a:cs typeface="Times New Roman" panose="02020603050405020304" pitchFamily="18" charset="0"/>
              </a:rPr>
              <a:t>SSSS</a:t>
            </a:r>
            <a:endParaRPr kumimoji="0" lang="zh-CN" altLang="en-US" kern="0" dirty="0">
              <a:ea typeface="楷体" panose="02010609060101010101" pitchFamily="49" charset="-122"/>
              <a:cs typeface="Times New Roman" panose="02020603050405020304" pitchFamily="18" charset="0"/>
            </a:endParaRPr>
          </a:p>
          <a:p>
            <a:pPr marL="342900" marR="0" lvl="0" indent="-342900" algn="just" defTabSz="914400" eaLnBrk="1" fontAlgn="auto" latinLnBrk="0" hangingPunct="1">
              <a:lnSpc>
                <a:spcPct val="100000"/>
              </a:lnSpc>
              <a:spcBef>
                <a:spcPts val="600"/>
              </a:spcBef>
              <a:spcAft>
                <a:spcPts val="300"/>
              </a:spcAft>
              <a:buClr>
                <a:srgbClr val="7030A0"/>
              </a:buClr>
              <a:buSzPct val="75000"/>
              <a:buFont typeface="Arial" panose="020B0604020202020204" pitchFamily="34" charset="0"/>
              <a:buChar char="•"/>
              <a:tabLst/>
              <a:defRPr/>
            </a:pPr>
            <a:r>
              <a:rPr kumimoji="0" lang="en-US" altLang="zh-CN" i="1" kern="0" dirty="0">
                <a:ea typeface="楷体" panose="02010609060101010101" pitchFamily="49" charset="-122"/>
                <a:cs typeface="Times New Roman" panose="02020603050405020304" pitchFamily="18" charset="0"/>
              </a:rPr>
              <a:t>NNNN</a:t>
            </a:r>
            <a:r>
              <a:rPr kumimoji="0" lang="en-US" altLang="zh-CN" kern="0" dirty="0">
                <a:ea typeface="楷体" panose="02010609060101010101" pitchFamily="49" charset="-122"/>
                <a:cs typeface="Times New Roman" panose="02020603050405020304" pitchFamily="18" charset="0"/>
              </a:rPr>
              <a:t> </a:t>
            </a:r>
            <a:r>
              <a:rPr kumimoji="0" lang="zh-CN" altLang="en-US" kern="0" dirty="0">
                <a:ea typeface="楷体" panose="02010609060101010101" pitchFamily="49" charset="-122"/>
                <a:cs typeface="Times New Roman" panose="02020603050405020304" pitchFamily="18" charset="0"/>
              </a:rPr>
              <a:t>该系数前</a:t>
            </a:r>
            <a:r>
              <a:rPr kumimoji="0" lang="zh-CN" altLang="en-US" u="sng" kern="0" dirty="0">
                <a:effectLst>
                  <a:outerShdw blurRad="38100" dist="38100" dir="2700000" algn="tl">
                    <a:srgbClr val="C0C0C0"/>
                  </a:outerShdw>
                </a:effectLst>
                <a:ea typeface="楷体" panose="02010609060101010101" pitchFamily="49" charset="-122"/>
                <a:cs typeface="Times New Roman" panose="02020603050405020304" pitchFamily="18" charset="0"/>
              </a:rPr>
              <a:t>相对于前一个非零系数值的零行</a:t>
            </a:r>
            <a:r>
              <a:rPr kumimoji="0" lang="zh-CN" altLang="en-US" u="sng" kern="0" dirty="0">
                <a:ea typeface="楷体" panose="02010609060101010101" pitchFamily="49" charset="-122"/>
                <a:cs typeface="Times New Roman" panose="02020603050405020304" pitchFamily="18" charset="0"/>
              </a:rPr>
              <a:t>程计数</a:t>
            </a:r>
          </a:p>
          <a:p>
            <a:pPr marL="342900" marR="0" lvl="0" indent="-342900" algn="just" defTabSz="914400" eaLnBrk="1" fontAlgn="auto" latinLnBrk="0" hangingPunct="1">
              <a:lnSpc>
                <a:spcPct val="100000"/>
              </a:lnSpc>
              <a:spcBef>
                <a:spcPts val="600"/>
              </a:spcBef>
              <a:spcAft>
                <a:spcPts val="300"/>
              </a:spcAft>
              <a:buClr>
                <a:srgbClr val="7030A0"/>
              </a:buClr>
              <a:buSzPct val="75000"/>
              <a:buFont typeface="Arial" panose="020B0604020202020204" pitchFamily="34" charset="0"/>
              <a:buChar char="•"/>
              <a:tabLst/>
              <a:defRPr/>
            </a:pPr>
            <a:r>
              <a:rPr kumimoji="0" lang="zh-CN" altLang="en-US" kern="0" dirty="0">
                <a:ea typeface="楷体" panose="02010609060101010101" pitchFamily="49" charset="-122"/>
                <a:cs typeface="Times New Roman" panose="02020603050405020304" pitchFamily="18" charset="0"/>
              </a:rPr>
              <a:t>根据 </a:t>
            </a:r>
            <a:r>
              <a:rPr kumimoji="0" lang="en-US" altLang="zh-CN" i="1" kern="0" dirty="0">
                <a:ea typeface="楷体" panose="02010609060101010101" pitchFamily="49" charset="-122"/>
                <a:cs typeface="Times New Roman" panose="02020603050405020304" pitchFamily="18" charset="0"/>
              </a:rPr>
              <a:t>NNNN </a:t>
            </a:r>
            <a:r>
              <a:rPr kumimoji="0" lang="en-US" altLang="zh-CN" kern="0" dirty="0">
                <a:ea typeface="楷体" panose="02010609060101010101" pitchFamily="49" charset="-122"/>
                <a:cs typeface="Times New Roman" panose="02020603050405020304" pitchFamily="18" charset="0"/>
              </a:rPr>
              <a:t>/</a:t>
            </a:r>
            <a:r>
              <a:rPr kumimoji="0" lang="en-US" altLang="zh-CN" i="1" kern="0" dirty="0">
                <a:ea typeface="楷体" panose="02010609060101010101" pitchFamily="49" charset="-122"/>
                <a:cs typeface="Times New Roman" panose="02020603050405020304" pitchFamily="18" charset="0"/>
              </a:rPr>
              <a:t> SSSS</a:t>
            </a:r>
            <a:r>
              <a:rPr kumimoji="0" lang="en-US" altLang="zh-CN" kern="0" dirty="0">
                <a:ea typeface="楷体" panose="02010609060101010101" pitchFamily="49" charset="-122"/>
                <a:cs typeface="Times New Roman" panose="02020603050405020304" pitchFamily="18" charset="0"/>
              </a:rPr>
              <a:t> </a:t>
            </a:r>
            <a:r>
              <a:rPr kumimoji="0" lang="zh-CN" altLang="en-US" kern="0" dirty="0">
                <a:ea typeface="楷体" panose="02010609060101010101" pitchFamily="49" charset="-122"/>
                <a:cs typeface="Times New Roman" panose="02020603050405020304" pitchFamily="18" charset="0"/>
              </a:rPr>
              <a:t>查哈夫曼编码表</a:t>
            </a:r>
            <a:r>
              <a:rPr kumimoji="0" lang="en-US" altLang="zh-CN" kern="0" dirty="0">
                <a:ea typeface="楷体" panose="02010609060101010101" pitchFamily="49" charset="-122"/>
                <a:cs typeface="Times New Roman" panose="02020603050405020304" pitchFamily="18" charset="0"/>
              </a:rPr>
              <a:t>(</a:t>
            </a:r>
            <a:r>
              <a:rPr kumimoji="0" lang="zh-CN" altLang="en-US" kern="0" dirty="0">
                <a:ea typeface="楷体" panose="02010609060101010101" pitchFamily="49" charset="-122"/>
                <a:cs typeface="Times New Roman" panose="02020603050405020304" pitchFamily="18" charset="0"/>
              </a:rPr>
              <a:t>表</a:t>
            </a:r>
            <a:r>
              <a:rPr kumimoji="0" lang="en-US" altLang="zh-CN" kern="0" dirty="0">
                <a:ea typeface="楷体" panose="02010609060101010101" pitchFamily="49" charset="-122"/>
                <a:cs typeface="Times New Roman" panose="02020603050405020304" pitchFamily="18" charset="0"/>
              </a:rPr>
              <a:t>12-7)</a:t>
            </a:r>
            <a:endParaRPr lang="zh-CN" altLang="en-US" dirty="0"/>
          </a:p>
        </p:txBody>
      </p:sp>
      <p:pic>
        <p:nvPicPr>
          <p:cNvPr id="10" name="图片 9">
            <a:extLst>
              <a:ext uri="{FF2B5EF4-FFF2-40B4-BE49-F238E27FC236}">
                <a16:creationId xmlns:a16="http://schemas.microsoft.com/office/drawing/2014/main" id="{59ED7416-CB3E-1226-D06A-645D7BF9F8AB}"/>
              </a:ext>
            </a:extLst>
          </p:cNvPr>
          <p:cNvPicPr>
            <a:picLocks noChangeAspect="1"/>
          </p:cNvPicPr>
          <p:nvPr/>
        </p:nvPicPr>
        <p:blipFill>
          <a:blip r:embed="rId3"/>
          <a:stretch>
            <a:fillRect/>
          </a:stretch>
        </p:blipFill>
        <p:spPr>
          <a:xfrm>
            <a:off x="0" y="-280754"/>
            <a:ext cx="7169150" cy="2025183"/>
          </a:xfrm>
          <a:prstGeom prst="rect">
            <a:avLst/>
          </a:prstGeom>
        </p:spPr>
      </p:pic>
      <p:pic>
        <p:nvPicPr>
          <p:cNvPr id="12" name="图片 11">
            <a:extLst>
              <a:ext uri="{FF2B5EF4-FFF2-40B4-BE49-F238E27FC236}">
                <a16:creationId xmlns:a16="http://schemas.microsoft.com/office/drawing/2014/main" id="{ACA7F7FF-25D7-25D4-31FE-EB9398097095}"/>
              </a:ext>
            </a:extLst>
          </p:cNvPr>
          <p:cNvPicPr>
            <a:picLocks noChangeAspect="1"/>
          </p:cNvPicPr>
          <p:nvPr/>
        </p:nvPicPr>
        <p:blipFill>
          <a:blip r:embed="rId4"/>
          <a:stretch>
            <a:fillRect/>
          </a:stretch>
        </p:blipFill>
        <p:spPr>
          <a:xfrm>
            <a:off x="22225" y="1744429"/>
            <a:ext cx="7169150" cy="4132593"/>
          </a:xfrm>
          <a:prstGeom prst="rect">
            <a:avLst/>
          </a:prstGeom>
        </p:spPr>
      </p:pic>
    </p:spTree>
    <p:extLst>
      <p:ext uri="{BB962C8B-B14F-4D97-AF65-F5344CB8AC3E}">
        <p14:creationId xmlns:p14="http://schemas.microsoft.com/office/powerpoint/2010/main" val="679139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45C0A67-F61A-7CCD-801A-C2E98BBC36D6}"/>
              </a:ext>
            </a:extLst>
          </p:cNvPr>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25</a:t>
            </a:fld>
            <a:endParaRPr lang="en-US" altLang="zh-CN"/>
          </a:p>
        </p:txBody>
      </p:sp>
      <p:pic>
        <p:nvPicPr>
          <p:cNvPr id="14" name="图片 13">
            <a:extLst>
              <a:ext uri="{FF2B5EF4-FFF2-40B4-BE49-F238E27FC236}">
                <a16:creationId xmlns:a16="http://schemas.microsoft.com/office/drawing/2014/main" id="{7362C46D-EF12-13DF-7F4A-D114B111BD0A}"/>
              </a:ext>
            </a:extLst>
          </p:cNvPr>
          <p:cNvPicPr>
            <a:picLocks noChangeAspect="1"/>
          </p:cNvPicPr>
          <p:nvPr/>
        </p:nvPicPr>
        <p:blipFill>
          <a:blip r:embed="rId2"/>
          <a:stretch>
            <a:fillRect/>
          </a:stretch>
        </p:blipFill>
        <p:spPr>
          <a:xfrm>
            <a:off x="477771" y="-20323"/>
            <a:ext cx="6213608" cy="5376863"/>
          </a:xfrm>
          <a:prstGeom prst="rect">
            <a:avLst/>
          </a:prstGeom>
        </p:spPr>
      </p:pic>
    </p:spTree>
    <p:extLst>
      <p:ext uri="{BB962C8B-B14F-4D97-AF65-F5344CB8AC3E}">
        <p14:creationId xmlns:p14="http://schemas.microsoft.com/office/powerpoint/2010/main" val="577385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26</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文本框 4"/>
          <p:cNvSpPr txBox="1"/>
          <p:nvPr/>
        </p:nvSpPr>
        <p:spPr>
          <a:xfrm>
            <a:off x="419912" y="1542339"/>
            <a:ext cx="6408439" cy="830997"/>
          </a:xfrm>
          <a:prstGeom prst="rect">
            <a:avLst/>
          </a:prstGeom>
          <a:noFill/>
        </p:spPr>
        <p:txBody>
          <a:bodyPr wrap="square" rtlCol="0">
            <a:spAutoFit/>
          </a:bodyPr>
          <a:lstStyle/>
          <a:p>
            <a:r>
              <a:rPr lang="zh-CN" altLang="zh-CN" dirty="0"/>
              <a:t>一个</a:t>
            </a:r>
            <a:r>
              <a:rPr lang="en-US" altLang="zh-CN" dirty="0"/>
              <a:t>8</a:t>
            </a:r>
            <a:r>
              <a:rPr lang="en-US" altLang="zh-CN" dirty="0">
                <a:sym typeface="Symbol" panose="05050102010706020507" pitchFamily="18" charset="2"/>
              </a:rPr>
              <a:t></a:t>
            </a:r>
            <a:r>
              <a:rPr lang="en-US" altLang="zh-CN" dirty="0"/>
              <a:t>8</a:t>
            </a:r>
            <a:r>
              <a:rPr lang="zh-CN" altLang="zh-CN" dirty="0"/>
              <a:t>的亮度分量子图像块，对其进行</a:t>
            </a:r>
            <a:r>
              <a:rPr lang="en-US" altLang="zh-CN" dirty="0"/>
              <a:t>JPEG</a:t>
            </a:r>
            <a:r>
              <a:rPr lang="zh-CN" altLang="zh-CN" dirty="0"/>
              <a:t>基本编码</a:t>
            </a:r>
            <a:r>
              <a:rPr lang="zh-CN" altLang="en-US" dirty="0"/>
              <a:t>。</a:t>
            </a:r>
          </a:p>
        </p:txBody>
      </p:sp>
      <p:graphicFrame>
        <p:nvGraphicFramePr>
          <p:cNvPr id="7" name="对象 6"/>
          <p:cNvGraphicFramePr>
            <a:graphicFrameLocks noChangeAspect="1"/>
          </p:cNvGraphicFramePr>
          <p:nvPr>
            <p:extLst>
              <p:ext uri="{D42A27DB-BD31-4B8C-83A1-F6EECF244321}">
                <p14:modId xmlns:p14="http://schemas.microsoft.com/office/powerpoint/2010/main" val="3808379201"/>
              </p:ext>
            </p:extLst>
          </p:nvPr>
        </p:nvGraphicFramePr>
        <p:xfrm>
          <a:off x="2859470" y="2389296"/>
          <a:ext cx="3835400" cy="2644775"/>
        </p:xfrm>
        <a:graphic>
          <a:graphicData uri="http://schemas.openxmlformats.org/presentationml/2006/ole">
            <mc:AlternateContent xmlns:mc="http://schemas.openxmlformats.org/markup-compatibility/2006">
              <mc:Choice xmlns:v="urn:schemas-microsoft-com:vml" Requires="v">
                <p:oleObj name="Equation" r:id="rId2" imgW="2298600" imgH="1587240" progId="Equation.DSMT4">
                  <p:embed/>
                </p:oleObj>
              </mc:Choice>
              <mc:Fallback>
                <p:oleObj name="Equation" r:id="rId2" imgW="2298600" imgH="1587240" progId="Equation.DSMT4">
                  <p:embed/>
                  <p:pic>
                    <p:nvPicPr>
                      <p:cNvPr id="0" name="Object 1"/>
                      <p:cNvPicPr>
                        <a:picLocks noChangeAspect="1" noChangeArrowheads="1"/>
                      </p:cNvPicPr>
                      <p:nvPr/>
                    </p:nvPicPr>
                    <p:blipFill>
                      <a:blip r:embed="rId3"/>
                      <a:srcRect/>
                      <a:stretch>
                        <a:fillRect/>
                      </a:stretch>
                    </p:blipFill>
                    <p:spPr bwMode="auto">
                      <a:xfrm>
                        <a:off x="2859470" y="2389296"/>
                        <a:ext cx="3835400" cy="2644775"/>
                      </a:xfrm>
                      <a:prstGeom prst="rect">
                        <a:avLst/>
                      </a:prstGeom>
                      <a:noFill/>
                    </p:spPr>
                  </p:pic>
                </p:oleObj>
              </mc:Fallback>
            </mc:AlternateContent>
          </a:graphicData>
        </a:graphic>
      </p:graphicFrame>
      <p:sp>
        <p:nvSpPr>
          <p:cNvPr id="8" name="文本框 7"/>
          <p:cNvSpPr txBox="1"/>
          <p:nvPr/>
        </p:nvSpPr>
        <p:spPr>
          <a:xfrm>
            <a:off x="524235" y="2557521"/>
            <a:ext cx="2192876" cy="2308324"/>
          </a:xfrm>
          <a:prstGeom prst="rect">
            <a:avLst/>
          </a:prstGeom>
          <a:noFill/>
        </p:spPr>
        <p:txBody>
          <a:bodyPr wrap="square" rtlCol="0">
            <a:spAutoFit/>
          </a:bodyPr>
          <a:lstStyle/>
          <a:p>
            <a:r>
              <a:rPr lang="zh-CN" altLang="zh-CN" dirty="0">
                <a:ea typeface="楷体" panose="02010609060101010101" pitchFamily="49" charset="-122"/>
                <a:cs typeface="Times New Roman" panose="02020603050405020304" pitchFamily="18" charset="0"/>
              </a:rPr>
              <a:t>（假设相邻前一个</a:t>
            </a:r>
            <a:r>
              <a:rPr lang="en-US" altLang="zh-CN" dirty="0">
                <a:ea typeface="楷体" panose="02010609060101010101" pitchFamily="49" charset="-122"/>
                <a:cs typeface="Times New Roman" panose="02020603050405020304" pitchFamily="18" charset="0"/>
              </a:rPr>
              <a:t>8</a:t>
            </a:r>
            <a:r>
              <a:rPr lang="en-US" altLang="zh-CN" dirty="0">
                <a:ea typeface="楷体" panose="02010609060101010101" pitchFamily="49" charset="-122"/>
                <a:cs typeface="Times New Roman" panose="02020603050405020304" pitchFamily="18" charset="0"/>
                <a:sym typeface="Symbol" panose="05050102010706020507" pitchFamily="18" charset="2"/>
              </a:rPr>
              <a:t></a:t>
            </a:r>
            <a:r>
              <a:rPr lang="en-US" altLang="zh-CN" dirty="0">
                <a:ea typeface="楷体" panose="02010609060101010101" pitchFamily="49" charset="-122"/>
                <a:cs typeface="Times New Roman" panose="02020603050405020304" pitchFamily="18" charset="0"/>
              </a:rPr>
              <a:t>8</a:t>
            </a:r>
            <a:r>
              <a:rPr lang="zh-CN" altLang="zh-CN" dirty="0">
                <a:ea typeface="楷体" panose="02010609060101010101" pitchFamily="49" charset="-122"/>
                <a:cs typeface="Times New Roman" panose="02020603050405020304" pitchFamily="18" charset="0"/>
              </a:rPr>
              <a:t>的亮度分量子图像块经处理后的量化</a:t>
            </a:r>
            <a:r>
              <a:rPr lang="en-US" altLang="zh-CN" dirty="0">
                <a:ea typeface="楷体" panose="02010609060101010101" pitchFamily="49" charset="-122"/>
                <a:cs typeface="Times New Roman" panose="02020603050405020304" pitchFamily="18" charset="0"/>
              </a:rPr>
              <a:t>DC</a:t>
            </a:r>
            <a:r>
              <a:rPr lang="zh-CN" altLang="zh-CN" dirty="0">
                <a:ea typeface="楷体" panose="02010609060101010101" pitchFamily="49" charset="-122"/>
                <a:cs typeface="Times New Roman" panose="02020603050405020304" pitchFamily="18" charset="0"/>
              </a:rPr>
              <a:t>系数为</a:t>
            </a:r>
            <a:r>
              <a:rPr lang="en-US" altLang="zh-CN" dirty="0">
                <a:ea typeface="楷体" panose="02010609060101010101" pitchFamily="49" charset="-122"/>
                <a:cs typeface="Times New Roman" panose="02020603050405020304" pitchFamily="18" charset="0"/>
                <a:sym typeface="Symbol" panose="05050102010706020507" pitchFamily="18" charset="2"/>
              </a:rPr>
              <a:t></a:t>
            </a:r>
            <a:r>
              <a:rPr lang="en-US" altLang="zh-CN" dirty="0">
                <a:ea typeface="楷体" panose="02010609060101010101" pitchFamily="49" charset="-122"/>
                <a:cs typeface="Times New Roman" panose="02020603050405020304" pitchFamily="18" charset="0"/>
              </a:rPr>
              <a:t>30</a:t>
            </a:r>
            <a:r>
              <a:rPr lang="zh-CN" altLang="zh-CN" dirty="0">
                <a:ea typeface="楷体" panose="02010609060101010101" pitchFamily="49" charset="-122"/>
                <a:cs typeface="Times New Roman" panose="02020603050405020304" pitchFamily="18" charset="0"/>
              </a:rPr>
              <a:t>）</a:t>
            </a:r>
            <a:endParaRPr lang="zh-CN" altLang="en-US" dirty="0">
              <a:ea typeface="楷体" panose="02010609060101010101" pitchFamily="49" charset="-122"/>
              <a:cs typeface="Times New Roman" panose="02020603050405020304" pitchFamily="18" charset="0"/>
            </a:endParaRPr>
          </a:p>
        </p:txBody>
      </p:sp>
      <p:sp>
        <p:nvSpPr>
          <p:cNvPr id="6" name="矩形 5"/>
          <p:cNvSpPr/>
          <p:nvPr/>
        </p:nvSpPr>
        <p:spPr>
          <a:xfrm>
            <a:off x="280144" y="988581"/>
            <a:ext cx="1588897" cy="461665"/>
          </a:xfrm>
          <a:prstGeom prst="rect">
            <a:avLst/>
          </a:prstGeom>
        </p:spPr>
        <p:txBody>
          <a:bodyPr wrap="none">
            <a:spAutoFit/>
          </a:bodyPr>
          <a:lstStyle/>
          <a:p>
            <a:r>
              <a:rPr lang="zh-CN" altLang="en-US" dirty="0">
                <a:solidFill>
                  <a:srgbClr val="0000CC"/>
                </a:solidFill>
              </a:rPr>
              <a:t>（</a:t>
            </a:r>
            <a:r>
              <a:rPr lang="en-US" altLang="zh-CN" dirty="0">
                <a:solidFill>
                  <a:srgbClr val="0000CC"/>
                </a:solidFill>
              </a:rPr>
              <a:t>2</a:t>
            </a:r>
            <a:r>
              <a:rPr lang="zh-CN" altLang="en-US" dirty="0">
                <a:solidFill>
                  <a:srgbClr val="0000CC"/>
                </a:solidFill>
              </a:rPr>
              <a:t>）示例</a:t>
            </a:r>
            <a:endParaRPr lang="zh-CN" altLang="en-US" dirty="0"/>
          </a:p>
        </p:txBody>
      </p:sp>
    </p:spTree>
    <p:extLst>
      <p:ext uri="{BB962C8B-B14F-4D97-AF65-F5344CB8AC3E}">
        <p14:creationId xmlns:p14="http://schemas.microsoft.com/office/powerpoint/2010/main" val="3537111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27</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文本框 4"/>
          <p:cNvSpPr txBox="1"/>
          <p:nvPr/>
        </p:nvSpPr>
        <p:spPr>
          <a:xfrm>
            <a:off x="344488" y="913757"/>
            <a:ext cx="6465887" cy="461665"/>
          </a:xfrm>
          <a:prstGeom prst="rect">
            <a:avLst/>
          </a:prstGeom>
          <a:noFill/>
        </p:spPr>
        <p:txBody>
          <a:bodyPr wrap="square" rtlCol="0">
            <a:spAutoFit/>
          </a:bodyPr>
          <a:lstStyle/>
          <a:p>
            <a:r>
              <a:rPr lang="zh-CN" altLang="en-US" dirty="0">
                <a:ea typeface="楷体" panose="02010609060101010101" pitchFamily="49" charset="-122"/>
                <a:cs typeface="Times New Roman" panose="02020603050405020304" pitchFamily="18" charset="0"/>
              </a:rPr>
              <a:t>解：</a:t>
            </a:r>
          </a:p>
        </p:txBody>
      </p:sp>
      <p:graphicFrame>
        <p:nvGraphicFramePr>
          <p:cNvPr id="7" name="对象 6"/>
          <p:cNvGraphicFramePr>
            <a:graphicFrameLocks/>
          </p:cNvGraphicFramePr>
          <p:nvPr>
            <p:extLst>
              <p:ext uri="{D42A27DB-BD31-4B8C-83A1-F6EECF244321}">
                <p14:modId xmlns:p14="http://schemas.microsoft.com/office/powerpoint/2010/main" val="78027726"/>
              </p:ext>
            </p:extLst>
          </p:nvPr>
        </p:nvGraphicFramePr>
        <p:xfrm>
          <a:off x="935031" y="1769211"/>
          <a:ext cx="5284800" cy="3078000"/>
        </p:xfrm>
        <a:graphic>
          <a:graphicData uri="http://schemas.openxmlformats.org/presentationml/2006/ole">
            <mc:AlternateContent xmlns:mc="http://schemas.openxmlformats.org/markup-compatibility/2006">
              <mc:Choice xmlns:v="urn:schemas-microsoft-com:vml" Requires="v">
                <p:oleObj name="Equation" r:id="rId2" imgW="2984400" imgH="1587240" progId="Equation.DSMT4">
                  <p:embed/>
                </p:oleObj>
              </mc:Choice>
              <mc:Fallback>
                <p:oleObj name="Equation" r:id="rId2" imgW="2984400" imgH="1587240" progId="Equation.DSMT4">
                  <p:embed/>
                  <p:pic>
                    <p:nvPicPr>
                      <p:cNvPr id="0" name="Object 1"/>
                      <p:cNvPicPr>
                        <a:picLocks noChangeAspect="1" noChangeArrowheads="1"/>
                      </p:cNvPicPr>
                      <p:nvPr/>
                    </p:nvPicPr>
                    <p:blipFill>
                      <a:blip r:embed="rId3"/>
                      <a:srcRect/>
                      <a:stretch>
                        <a:fillRect/>
                      </a:stretch>
                    </p:blipFill>
                    <p:spPr bwMode="auto">
                      <a:xfrm>
                        <a:off x="935031" y="1769211"/>
                        <a:ext cx="5284800" cy="3078000"/>
                      </a:xfrm>
                      <a:prstGeom prst="rect">
                        <a:avLst/>
                      </a:prstGeom>
                      <a:noFill/>
                    </p:spPr>
                  </p:pic>
                </p:oleObj>
              </mc:Fallback>
            </mc:AlternateContent>
          </a:graphicData>
        </a:graphic>
      </p:graphicFrame>
      <p:sp>
        <p:nvSpPr>
          <p:cNvPr id="6" name="矩形 5"/>
          <p:cNvSpPr/>
          <p:nvPr/>
        </p:nvSpPr>
        <p:spPr>
          <a:xfrm>
            <a:off x="668251" y="1276065"/>
            <a:ext cx="2077813" cy="461665"/>
          </a:xfrm>
          <a:prstGeom prst="rect">
            <a:avLst/>
          </a:prstGeom>
        </p:spPr>
        <p:txBody>
          <a:bodyPr wrap="none">
            <a:spAutoFit/>
          </a:bodyPr>
          <a:lstStyle/>
          <a:p>
            <a:pPr marL="342900" indent="-342900">
              <a:buClr>
                <a:srgbClr val="7030A0"/>
              </a:buClr>
              <a:buSzPct val="75000"/>
              <a:buFont typeface="Wingdings" panose="05000000000000000000" pitchFamily="2" charset="2"/>
              <a:buChar char="n"/>
            </a:pPr>
            <a:r>
              <a:rPr lang="zh-CN" altLang="en-US" dirty="0">
                <a:solidFill>
                  <a:srgbClr val="C00000"/>
                </a:solidFill>
                <a:ea typeface="楷体" panose="02010609060101010101" pitchFamily="49" charset="-122"/>
                <a:cs typeface="Times New Roman" panose="02020603050405020304" pitchFamily="18" charset="0"/>
              </a:rPr>
              <a:t>零偏置转换</a:t>
            </a:r>
          </a:p>
        </p:txBody>
      </p:sp>
      <p:sp>
        <p:nvSpPr>
          <p:cNvPr id="9" name="文本框 8">
            <a:hlinkClick r:id="rId4" action="ppaction://hlinksldjump"/>
            <a:extLst>
              <a:ext uri="{FF2B5EF4-FFF2-40B4-BE49-F238E27FC236}">
                <a16:creationId xmlns:a16="http://schemas.microsoft.com/office/drawing/2014/main" id="{3151FFBB-0724-A6DD-9244-DAA44ED8D262}"/>
              </a:ext>
            </a:extLst>
          </p:cNvPr>
          <p:cNvSpPr txBox="1"/>
          <p:nvPr/>
        </p:nvSpPr>
        <p:spPr>
          <a:xfrm>
            <a:off x="5464204" y="331728"/>
            <a:ext cx="700833" cy="400110"/>
          </a:xfrm>
          <a:prstGeom prst="rect">
            <a:avLst/>
          </a:prstGeom>
          <a:noFill/>
        </p:spPr>
        <p:txBody>
          <a:bodyPr wrap="none" rtlCol="0">
            <a:spAutoFit/>
          </a:bodyPr>
          <a:lstStyle/>
          <a:p>
            <a:r>
              <a:rPr lang="zh-CN" altLang="en-US" sz="2000" dirty="0">
                <a:solidFill>
                  <a:srgbClr val="92D050"/>
                </a:solidFill>
                <a:latin typeface="华光综艺_CNKI" panose="02000500000000000000" pitchFamily="2" charset="-122"/>
                <a:ea typeface="华光综艺_CNKI" panose="02000500000000000000" pitchFamily="2" charset="-122"/>
                <a:hlinkClick r:id="rId4" action="ppaction://hlinksldjump"/>
              </a:rPr>
              <a:t>理论</a:t>
            </a:r>
            <a:endParaRPr lang="zh-CN" altLang="en-US" sz="2000" dirty="0">
              <a:solidFill>
                <a:srgbClr val="92D05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3330060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28</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文本框 4"/>
          <p:cNvSpPr txBox="1"/>
          <p:nvPr/>
        </p:nvSpPr>
        <p:spPr>
          <a:xfrm>
            <a:off x="344488" y="1121717"/>
            <a:ext cx="6465887" cy="461665"/>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zh-CN" altLang="en-US" dirty="0">
                <a:solidFill>
                  <a:srgbClr val="C00000"/>
                </a:solidFill>
                <a:ea typeface="楷体" panose="02010609060101010101" pitchFamily="49" charset="-122"/>
                <a:cs typeface="Times New Roman" panose="02020603050405020304" pitchFamily="18" charset="0"/>
              </a:rPr>
              <a:t>正</a:t>
            </a:r>
            <a:r>
              <a:rPr lang="en-US" altLang="zh-CN" dirty="0">
                <a:solidFill>
                  <a:srgbClr val="C00000"/>
                </a:solidFill>
                <a:ea typeface="楷体" panose="02010609060101010101" pitchFamily="49" charset="-122"/>
                <a:cs typeface="Times New Roman" panose="02020603050405020304" pitchFamily="18" charset="0"/>
              </a:rPr>
              <a:t>DCT</a:t>
            </a:r>
            <a:r>
              <a:rPr lang="zh-CN" altLang="en-US" dirty="0">
                <a:solidFill>
                  <a:srgbClr val="C00000"/>
                </a:solidFill>
                <a:ea typeface="楷体" panose="02010609060101010101" pitchFamily="49" charset="-122"/>
                <a:cs typeface="Times New Roman" panose="02020603050405020304" pitchFamily="18" charset="0"/>
              </a:rPr>
              <a:t>转换</a:t>
            </a:r>
          </a:p>
        </p:txBody>
      </p:sp>
      <p:graphicFrame>
        <p:nvGraphicFramePr>
          <p:cNvPr id="7" name="对象 6"/>
          <p:cNvGraphicFramePr>
            <a:graphicFrameLocks noChangeAspect="1"/>
          </p:cNvGraphicFramePr>
          <p:nvPr>
            <p:extLst>
              <p:ext uri="{D42A27DB-BD31-4B8C-83A1-F6EECF244321}">
                <p14:modId xmlns:p14="http://schemas.microsoft.com/office/powerpoint/2010/main" val="4014766334"/>
              </p:ext>
            </p:extLst>
          </p:nvPr>
        </p:nvGraphicFramePr>
        <p:xfrm>
          <a:off x="812267" y="1675527"/>
          <a:ext cx="5283871" cy="3078000"/>
        </p:xfrm>
        <a:graphic>
          <a:graphicData uri="http://schemas.openxmlformats.org/presentationml/2006/ole">
            <mc:AlternateContent xmlns:mc="http://schemas.openxmlformats.org/markup-compatibility/2006">
              <mc:Choice xmlns:v="urn:schemas-microsoft-com:vml" Requires="v">
                <p:oleObj name="Equation" r:id="rId2" imgW="2730240" imgH="1587240" progId="Equation.DSMT4">
                  <p:embed/>
                </p:oleObj>
              </mc:Choice>
              <mc:Fallback>
                <p:oleObj name="Equation" r:id="rId2" imgW="2730240" imgH="1587240" progId="Equation.DSMT4">
                  <p:embed/>
                  <p:pic>
                    <p:nvPicPr>
                      <p:cNvPr id="0" name="Object 1"/>
                      <p:cNvPicPr>
                        <a:picLocks noChangeAspect="1" noChangeArrowheads="1"/>
                      </p:cNvPicPr>
                      <p:nvPr/>
                    </p:nvPicPr>
                    <p:blipFill>
                      <a:blip r:embed="rId3"/>
                      <a:srcRect/>
                      <a:stretch>
                        <a:fillRect/>
                      </a:stretch>
                    </p:blipFill>
                    <p:spPr bwMode="auto">
                      <a:xfrm>
                        <a:off x="812267" y="1675527"/>
                        <a:ext cx="5283871" cy="3078000"/>
                      </a:xfrm>
                      <a:prstGeom prst="rect">
                        <a:avLst/>
                      </a:prstGeom>
                      <a:noFill/>
                    </p:spPr>
                  </p:pic>
                </p:oleObj>
              </mc:Fallback>
            </mc:AlternateContent>
          </a:graphicData>
        </a:graphic>
      </p:graphicFrame>
      <p:sp>
        <p:nvSpPr>
          <p:cNvPr id="6" name="文本框 5">
            <a:hlinkClick r:id="rId4" action="ppaction://hlinksldjump"/>
            <a:extLst>
              <a:ext uri="{FF2B5EF4-FFF2-40B4-BE49-F238E27FC236}">
                <a16:creationId xmlns:a16="http://schemas.microsoft.com/office/drawing/2014/main" id="{ED111041-3404-4475-8CBE-154CFF93A830}"/>
              </a:ext>
            </a:extLst>
          </p:cNvPr>
          <p:cNvSpPr txBox="1"/>
          <p:nvPr/>
        </p:nvSpPr>
        <p:spPr>
          <a:xfrm>
            <a:off x="5464204" y="331728"/>
            <a:ext cx="700833" cy="400110"/>
          </a:xfrm>
          <a:prstGeom prst="rect">
            <a:avLst/>
          </a:prstGeom>
          <a:noFill/>
        </p:spPr>
        <p:txBody>
          <a:bodyPr wrap="none" rtlCol="0">
            <a:spAutoFit/>
          </a:bodyPr>
          <a:lstStyle/>
          <a:p>
            <a:r>
              <a:rPr lang="zh-CN" altLang="en-US" sz="2000" dirty="0">
                <a:solidFill>
                  <a:srgbClr val="92D050"/>
                </a:solidFill>
                <a:latin typeface="华光综艺_CNKI" panose="02000500000000000000" pitchFamily="2" charset="-122"/>
                <a:ea typeface="华光综艺_CNKI" panose="02000500000000000000" pitchFamily="2" charset="-122"/>
                <a:hlinkClick r:id="rId5" action="ppaction://hlinksldjump"/>
              </a:rPr>
              <a:t>理论</a:t>
            </a:r>
            <a:endParaRPr lang="zh-CN" altLang="en-US" sz="2000" dirty="0">
              <a:solidFill>
                <a:srgbClr val="92D05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2416842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29</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文本框 4"/>
          <p:cNvSpPr txBox="1"/>
          <p:nvPr/>
        </p:nvSpPr>
        <p:spPr>
          <a:xfrm>
            <a:off x="353055" y="1121717"/>
            <a:ext cx="6465887" cy="461665"/>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zh-CN" altLang="en-US" dirty="0">
                <a:solidFill>
                  <a:srgbClr val="C00000"/>
                </a:solidFill>
                <a:ea typeface="楷体" panose="02010609060101010101" pitchFamily="49" charset="-122"/>
                <a:cs typeface="Times New Roman" panose="02020603050405020304" pitchFamily="18" charset="0"/>
              </a:rPr>
              <a:t>量化</a:t>
            </a:r>
            <a:r>
              <a:rPr lang="en-US" altLang="zh-CN" dirty="0">
                <a:solidFill>
                  <a:srgbClr val="C00000"/>
                </a:solidFill>
                <a:ea typeface="楷体" panose="02010609060101010101" pitchFamily="49" charset="-122"/>
                <a:cs typeface="Times New Roman" panose="02020603050405020304" pitchFamily="18" charset="0"/>
              </a:rPr>
              <a:t>DCT</a:t>
            </a:r>
            <a:r>
              <a:rPr lang="zh-CN" altLang="en-US" dirty="0">
                <a:solidFill>
                  <a:srgbClr val="C00000"/>
                </a:solidFill>
                <a:ea typeface="楷体" panose="02010609060101010101" pitchFamily="49" charset="-122"/>
                <a:cs typeface="Times New Roman" panose="02020603050405020304" pitchFamily="18" charset="0"/>
              </a:rPr>
              <a:t>系数</a:t>
            </a:r>
          </a:p>
        </p:txBody>
      </p:sp>
      <p:graphicFrame>
        <p:nvGraphicFramePr>
          <p:cNvPr id="7" name="对象 6"/>
          <p:cNvGraphicFramePr>
            <a:graphicFrameLocks noChangeAspect="1"/>
          </p:cNvGraphicFramePr>
          <p:nvPr>
            <p:extLst>
              <p:ext uri="{D42A27DB-BD31-4B8C-83A1-F6EECF244321}">
                <p14:modId xmlns:p14="http://schemas.microsoft.com/office/powerpoint/2010/main" val="2774431924"/>
              </p:ext>
            </p:extLst>
          </p:nvPr>
        </p:nvGraphicFramePr>
        <p:xfrm>
          <a:off x="848271" y="1655200"/>
          <a:ext cx="3926930" cy="3078000"/>
        </p:xfrm>
        <a:graphic>
          <a:graphicData uri="http://schemas.openxmlformats.org/presentationml/2006/ole">
            <mc:AlternateContent xmlns:mc="http://schemas.openxmlformats.org/markup-compatibility/2006">
              <mc:Choice xmlns:v="urn:schemas-microsoft-com:vml" Requires="v">
                <p:oleObj name="Equation" r:id="rId2" imgW="2031840" imgH="1587240" progId="Equation.DSMT4">
                  <p:embed/>
                </p:oleObj>
              </mc:Choice>
              <mc:Fallback>
                <p:oleObj name="Equation" r:id="rId2" imgW="2031840" imgH="1587240" progId="Equation.DSMT4">
                  <p:embed/>
                  <p:pic>
                    <p:nvPicPr>
                      <p:cNvPr id="0" name="Object 1"/>
                      <p:cNvPicPr>
                        <a:picLocks noChangeAspect="1" noChangeArrowheads="1"/>
                      </p:cNvPicPr>
                      <p:nvPr/>
                    </p:nvPicPr>
                    <p:blipFill>
                      <a:blip r:embed="rId3"/>
                      <a:srcRect/>
                      <a:stretch>
                        <a:fillRect/>
                      </a:stretch>
                    </p:blipFill>
                    <p:spPr bwMode="auto">
                      <a:xfrm>
                        <a:off x="848271" y="1655200"/>
                        <a:ext cx="3926930" cy="3078000"/>
                      </a:xfrm>
                      <a:prstGeom prst="rect">
                        <a:avLst/>
                      </a:prstGeom>
                      <a:noFill/>
                    </p:spPr>
                  </p:pic>
                </p:oleObj>
              </mc:Fallback>
            </mc:AlternateContent>
          </a:graphicData>
        </a:graphic>
      </p:graphicFrame>
      <p:sp>
        <p:nvSpPr>
          <p:cNvPr id="10" name="文本框 9">
            <a:hlinkClick r:id="rId4" action="ppaction://hlinksldjump"/>
            <a:extLst>
              <a:ext uri="{FF2B5EF4-FFF2-40B4-BE49-F238E27FC236}">
                <a16:creationId xmlns:a16="http://schemas.microsoft.com/office/drawing/2014/main" id="{98F5476D-5D69-4E54-BD3F-50910E10590C}"/>
              </a:ext>
            </a:extLst>
          </p:cNvPr>
          <p:cNvSpPr txBox="1"/>
          <p:nvPr/>
        </p:nvSpPr>
        <p:spPr>
          <a:xfrm>
            <a:off x="5464204" y="331728"/>
            <a:ext cx="700833" cy="400110"/>
          </a:xfrm>
          <a:prstGeom prst="rect">
            <a:avLst/>
          </a:prstGeom>
          <a:noFill/>
        </p:spPr>
        <p:txBody>
          <a:bodyPr wrap="none" rtlCol="0">
            <a:spAutoFit/>
          </a:bodyPr>
          <a:lstStyle/>
          <a:p>
            <a:r>
              <a:rPr lang="zh-CN" altLang="en-US" sz="2000" dirty="0">
                <a:solidFill>
                  <a:srgbClr val="92D050"/>
                </a:solidFill>
                <a:latin typeface="华光综艺_CNKI" panose="02000500000000000000" pitchFamily="2" charset="-122"/>
                <a:ea typeface="华光综艺_CNKI" panose="02000500000000000000" pitchFamily="2" charset="-122"/>
                <a:hlinkClick r:id="rId5" action="ppaction://hlinksldjump"/>
              </a:rPr>
              <a:t>理论</a:t>
            </a:r>
            <a:endParaRPr lang="zh-CN" altLang="en-US" sz="2000" dirty="0">
              <a:solidFill>
                <a:srgbClr val="92D05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538848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30</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文本框 4"/>
          <p:cNvSpPr txBox="1"/>
          <p:nvPr/>
        </p:nvSpPr>
        <p:spPr>
          <a:xfrm>
            <a:off x="348803" y="1018454"/>
            <a:ext cx="6465887" cy="461665"/>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zh-CN" altLang="en-US" dirty="0">
                <a:solidFill>
                  <a:srgbClr val="C00000"/>
                </a:solidFill>
                <a:ea typeface="楷体" panose="02010609060101010101" pitchFamily="49" charset="-122"/>
                <a:cs typeface="Times New Roman" panose="02020603050405020304" pitchFamily="18" charset="0"/>
              </a:rPr>
              <a:t>熵编码</a:t>
            </a:r>
          </a:p>
        </p:txBody>
      </p:sp>
      <p:sp>
        <p:nvSpPr>
          <p:cNvPr id="6" name="文本框 5"/>
          <p:cNvSpPr txBox="1"/>
          <p:nvPr/>
        </p:nvSpPr>
        <p:spPr>
          <a:xfrm>
            <a:off x="465267" y="1399151"/>
            <a:ext cx="6358148" cy="430887"/>
          </a:xfrm>
          <a:prstGeom prst="rect">
            <a:avLst/>
          </a:prstGeom>
          <a:noFill/>
        </p:spPr>
        <p:txBody>
          <a:bodyPr wrap="square" rtlCol="0">
            <a:spAutoFit/>
          </a:bodyPr>
          <a:lstStyle/>
          <a:p>
            <a:pPr marL="342900" indent="-342900" algn="just">
              <a:spcBef>
                <a:spcPts val="300"/>
              </a:spcBef>
              <a:spcAft>
                <a:spcPts val="300"/>
              </a:spcAft>
              <a:buClr>
                <a:srgbClr val="7030A0"/>
              </a:buClr>
              <a:buSzPct val="75000"/>
              <a:buFont typeface="Wingdings" panose="05000000000000000000" pitchFamily="2" charset="2"/>
              <a:buChar char="p"/>
            </a:pPr>
            <a:r>
              <a:rPr lang="zh-CN" altLang="zh-CN" sz="2200" dirty="0">
                <a:ea typeface="楷体" panose="02010609060101010101" pitchFamily="49" charset="-122"/>
                <a:cs typeface="Times New Roman" panose="02020603050405020304" pitchFamily="18" charset="0"/>
              </a:rPr>
              <a:t>对于</a:t>
            </a:r>
            <a:r>
              <a:rPr lang="en-US" altLang="zh-CN" sz="2200" dirty="0">
                <a:solidFill>
                  <a:srgbClr val="0000CC"/>
                </a:solidFill>
                <a:ea typeface="楷体" panose="02010609060101010101" pitchFamily="49" charset="-122"/>
                <a:cs typeface="Times New Roman" panose="02020603050405020304" pitchFamily="18" charset="0"/>
              </a:rPr>
              <a:t>DC</a:t>
            </a:r>
            <a:r>
              <a:rPr lang="zh-CN" altLang="zh-CN" sz="2200" dirty="0">
                <a:solidFill>
                  <a:srgbClr val="0000CC"/>
                </a:solidFill>
                <a:ea typeface="楷体" panose="02010609060101010101" pitchFamily="49" charset="-122"/>
                <a:cs typeface="Times New Roman" panose="02020603050405020304" pitchFamily="18" charset="0"/>
              </a:rPr>
              <a:t>系数</a:t>
            </a:r>
            <a:r>
              <a:rPr lang="en-US" altLang="zh-CN" sz="2200" dirty="0">
                <a:ea typeface="楷体" panose="02010609060101010101" pitchFamily="49" charset="-122"/>
                <a:cs typeface="Times New Roman" panose="02020603050405020304" pitchFamily="18" charset="0"/>
              </a:rPr>
              <a:t>   </a:t>
            </a:r>
            <a:endParaRPr lang="zh-CN" altLang="en-US" sz="2200" dirty="0">
              <a:ea typeface="楷体" panose="02010609060101010101" pitchFamily="49" charset="-122"/>
              <a:cs typeface="Times New Roman" panose="02020603050405020304" pitchFamily="18" charset="0"/>
            </a:endParaRPr>
          </a:p>
        </p:txBody>
      </p:sp>
      <p:sp>
        <p:nvSpPr>
          <p:cNvPr id="7" name="矩形 6"/>
          <p:cNvSpPr/>
          <p:nvPr/>
        </p:nvSpPr>
        <p:spPr>
          <a:xfrm>
            <a:off x="609283" y="1787542"/>
            <a:ext cx="6070115" cy="846386"/>
          </a:xfrm>
          <a:prstGeom prst="rect">
            <a:avLst/>
          </a:prstGeom>
        </p:spPr>
        <p:txBody>
          <a:bodyPr wrap="square">
            <a:spAutoFit/>
          </a:bodyPr>
          <a:lstStyle/>
          <a:p>
            <a:pPr marL="342900" indent="-342900" algn="just">
              <a:spcBef>
                <a:spcPts val="300"/>
              </a:spcBef>
              <a:spcAft>
                <a:spcPts val="300"/>
              </a:spcAft>
              <a:buClr>
                <a:srgbClr val="7030A0"/>
              </a:buClr>
              <a:buSzPct val="75000"/>
              <a:buFont typeface="Wingdings" panose="05000000000000000000" pitchFamily="2" charset="2"/>
              <a:buChar char="Ø"/>
            </a:pPr>
            <a:r>
              <a:rPr lang="zh-CN" altLang="zh-CN" sz="2200" dirty="0">
                <a:solidFill>
                  <a:srgbClr val="0000CC"/>
                </a:solidFill>
                <a:ea typeface="楷体" panose="02010609060101010101" pitchFamily="49" charset="-122"/>
                <a:cs typeface="Times New Roman" panose="02020603050405020304" pitchFamily="18" charset="0"/>
              </a:rPr>
              <a:t>差值</a:t>
            </a:r>
            <a:r>
              <a:rPr lang="zh-CN" altLang="en-US" sz="2200" dirty="0">
                <a:ea typeface="楷体" panose="02010609060101010101" pitchFamily="49" charset="-122"/>
                <a:cs typeface="Times New Roman" panose="02020603050405020304" pitchFamily="18" charset="0"/>
              </a:rPr>
              <a:t>：</a:t>
            </a:r>
            <a:r>
              <a:rPr lang="en-US" altLang="zh-CN" sz="2200" i="1" dirty="0">
                <a:ea typeface="楷体" panose="02010609060101010101" pitchFamily="49" charset="-122"/>
                <a:cs typeface="Times New Roman" panose="02020603050405020304" pitchFamily="18" charset="0"/>
              </a:rPr>
              <a:t>DIFF </a:t>
            </a:r>
            <a:r>
              <a:rPr lang="en-US" altLang="zh-CN" sz="2200" dirty="0">
                <a:ea typeface="楷体" panose="02010609060101010101" pitchFamily="49" charset="-122"/>
                <a:cs typeface="Times New Roman" panose="02020603050405020304" pitchFamily="18" charset="0"/>
              </a:rPr>
              <a:t>= </a:t>
            </a:r>
            <a:r>
              <a:rPr lang="en-US" altLang="zh-CN" sz="2200" dirty="0">
                <a:ea typeface="楷体" panose="02010609060101010101" pitchFamily="49" charset="-122"/>
                <a:cs typeface="Times New Roman" panose="02020603050405020304" pitchFamily="18" charset="0"/>
                <a:sym typeface="Symbol" panose="05050102010706020507" pitchFamily="18" charset="2"/>
              </a:rPr>
              <a:t> </a:t>
            </a:r>
            <a:r>
              <a:rPr lang="en-US" altLang="zh-CN" sz="2200" dirty="0">
                <a:ea typeface="楷体" panose="02010609060101010101" pitchFamily="49" charset="-122"/>
                <a:cs typeface="Times New Roman" panose="02020603050405020304" pitchFamily="18" charset="0"/>
              </a:rPr>
              <a:t>35 </a:t>
            </a:r>
            <a:r>
              <a:rPr lang="en-US" altLang="zh-CN" sz="2200" dirty="0">
                <a:ea typeface="楷体" panose="02010609060101010101" pitchFamily="49" charset="-122"/>
                <a:cs typeface="Times New Roman" panose="02020603050405020304" pitchFamily="18" charset="0"/>
                <a:sym typeface="Symbol" panose="05050102010706020507" pitchFamily="18" charset="2"/>
              </a:rPr>
              <a:t></a:t>
            </a:r>
            <a:r>
              <a:rPr lang="zh-CN" altLang="zh-CN" sz="2200" dirty="0">
                <a:ea typeface="楷体" panose="02010609060101010101" pitchFamily="49" charset="-122"/>
                <a:cs typeface="Times New Roman" panose="02020603050405020304" pitchFamily="18" charset="0"/>
              </a:rPr>
              <a:t>（</a:t>
            </a:r>
            <a:r>
              <a:rPr lang="en-US" altLang="zh-CN" sz="2200" dirty="0">
                <a:ea typeface="楷体" panose="02010609060101010101" pitchFamily="49" charset="-122"/>
                <a:cs typeface="Times New Roman" panose="02020603050405020304" pitchFamily="18" charset="0"/>
                <a:sym typeface="Symbol" panose="05050102010706020507" pitchFamily="18" charset="2"/>
              </a:rPr>
              <a:t></a:t>
            </a:r>
            <a:r>
              <a:rPr lang="en-US" altLang="zh-CN" sz="2200" dirty="0">
                <a:ea typeface="楷体" panose="02010609060101010101" pitchFamily="49" charset="-122"/>
                <a:cs typeface="Times New Roman" panose="02020603050405020304" pitchFamily="18" charset="0"/>
              </a:rPr>
              <a:t>30</a:t>
            </a:r>
            <a:r>
              <a:rPr lang="zh-CN" altLang="zh-CN" sz="2200" dirty="0">
                <a:ea typeface="楷体" panose="02010609060101010101" pitchFamily="49" charset="-122"/>
                <a:cs typeface="Times New Roman" panose="02020603050405020304" pitchFamily="18" charset="0"/>
              </a:rPr>
              <a:t>）</a:t>
            </a:r>
            <a:r>
              <a:rPr lang="en-US" altLang="zh-CN" sz="2200" dirty="0">
                <a:ea typeface="楷体" panose="02010609060101010101" pitchFamily="49" charset="-122"/>
                <a:cs typeface="Times New Roman" panose="02020603050405020304" pitchFamily="18" charset="0"/>
              </a:rPr>
              <a:t>= </a:t>
            </a:r>
            <a:r>
              <a:rPr lang="en-US" altLang="zh-CN" sz="2200" dirty="0">
                <a:ea typeface="楷体" panose="02010609060101010101" pitchFamily="49" charset="-122"/>
                <a:cs typeface="Times New Roman" panose="02020603050405020304" pitchFamily="18" charset="0"/>
                <a:sym typeface="Symbol" panose="05050102010706020507" pitchFamily="18" charset="2"/>
              </a:rPr>
              <a:t> </a:t>
            </a:r>
            <a:r>
              <a:rPr lang="en-US" altLang="zh-CN" sz="2200" dirty="0">
                <a:ea typeface="楷体" panose="02010609060101010101" pitchFamily="49" charset="-122"/>
                <a:cs typeface="Times New Roman" panose="02020603050405020304" pitchFamily="18" charset="0"/>
              </a:rPr>
              <a:t>5</a:t>
            </a:r>
            <a:r>
              <a:rPr lang="zh-CN" altLang="zh-CN" sz="2200" dirty="0">
                <a:ea typeface="楷体" panose="02010609060101010101" pitchFamily="49" charset="-122"/>
                <a:cs typeface="Times New Roman" panose="02020603050405020304" pitchFamily="18" charset="0"/>
              </a:rPr>
              <a:t>。</a:t>
            </a:r>
          </a:p>
          <a:p>
            <a:pPr marL="342900" indent="-342900" algn="just">
              <a:spcBef>
                <a:spcPts val="300"/>
              </a:spcBef>
              <a:spcAft>
                <a:spcPts val="300"/>
              </a:spcAft>
              <a:buClr>
                <a:srgbClr val="7030A0"/>
              </a:buClr>
              <a:buSzPct val="75000"/>
              <a:buFont typeface="Wingdings" panose="05000000000000000000" pitchFamily="2" charset="2"/>
              <a:buChar char="Ø"/>
            </a:pPr>
            <a:r>
              <a:rPr lang="zh-CN" altLang="zh-CN" sz="2200" dirty="0">
                <a:solidFill>
                  <a:srgbClr val="0000CC"/>
                </a:solidFill>
                <a:ea typeface="楷体" panose="02010609060101010101" pitchFamily="49" charset="-122"/>
                <a:cs typeface="Times New Roman" panose="02020603050405020304" pitchFamily="18" charset="0"/>
              </a:rPr>
              <a:t>前缀码（</a:t>
            </a:r>
            <a:r>
              <a:rPr lang="en-US" altLang="zh-CN" sz="2200" i="1" dirty="0">
                <a:solidFill>
                  <a:srgbClr val="0000CC"/>
                </a:solidFill>
                <a:ea typeface="楷体" panose="02010609060101010101" pitchFamily="49" charset="-122"/>
                <a:cs typeface="Times New Roman" panose="02020603050405020304" pitchFamily="18" charset="0"/>
              </a:rPr>
              <a:t>SSSS</a:t>
            </a:r>
            <a:r>
              <a:rPr lang="zh-CN" altLang="zh-CN" sz="2200" dirty="0">
                <a:solidFill>
                  <a:srgbClr val="0000CC"/>
                </a:solidFill>
                <a:ea typeface="楷体" panose="02010609060101010101" pitchFamily="49" charset="-122"/>
                <a:cs typeface="Times New Roman" panose="02020603050405020304" pitchFamily="18" charset="0"/>
              </a:rPr>
              <a:t>）的编码</a:t>
            </a:r>
          </a:p>
        </p:txBody>
      </p:sp>
      <p:sp>
        <p:nvSpPr>
          <p:cNvPr id="8" name="矩形 7"/>
          <p:cNvSpPr/>
          <p:nvPr/>
        </p:nvSpPr>
        <p:spPr>
          <a:xfrm>
            <a:off x="740259" y="2633928"/>
            <a:ext cx="6070116" cy="1184940"/>
          </a:xfrm>
          <a:prstGeom prst="rect">
            <a:avLst/>
          </a:prstGeom>
        </p:spPr>
        <p:txBody>
          <a:bodyPr wrap="square">
            <a:spAutoFit/>
          </a:bodyPr>
          <a:lstStyle/>
          <a:p>
            <a:pPr marL="342900" indent="-342900" algn="just">
              <a:spcBef>
                <a:spcPts val="300"/>
              </a:spcBef>
              <a:spcAft>
                <a:spcPts val="300"/>
              </a:spcAft>
              <a:buClr>
                <a:srgbClr val="7030A0"/>
              </a:buClr>
              <a:buSzPct val="75000"/>
              <a:buFont typeface="Arial" panose="020B0604020202020204" pitchFamily="34" charset="0"/>
              <a:buChar char="•"/>
            </a:pPr>
            <a:r>
              <a:rPr lang="zh-CN" altLang="zh-CN" sz="2200" dirty="0">
                <a:ea typeface="楷体" panose="02010609060101010101" pitchFamily="49" charset="-122"/>
                <a:cs typeface="Times New Roman" panose="02020603050405020304" pitchFamily="18" charset="0"/>
              </a:rPr>
              <a:t>由</a:t>
            </a:r>
            <a:r>
              <a:rPr lang="en-US" altLang="zh-CN" sz="2200" i="1" dirty="0">
                <a:ea typeface="楷体" panose="02010609060101010101" pitchFamily="49" charset="-122"/>
                <a:cs typeface="Times New Roman" panose="02020603050405020304" pitchFamily="18" charset="0"/>
              </a:rPr>
              <a:t>DIFF</a:t>
            </a:r>
            <a:r>
              <a:rPr lang="en-US" altLang="zh-CN" sz="2200" dirty="0">
                <a:ea typeface="楷体" panose="02010609060101010101" pitchFamily="49" charset="-122"/>
                <a:cs typeface="Times New Roman" panose="02020603050405020304" pitchFamily="18" charset="0"/>
              </a:rPr>
              <a:t>=</a:t>
            </a:r>
            <a:r>
              <a:rPr lang="en-US" altLang="zh-CN" sz="2200" dirty="0">
                <a:ea typeface="楷体" panose="02010609060101010101" pitchFamily="49" charset="-122"/>
                <a:cs typeface="Times New Roman" panose="02020603050405020304" pitchFamily="18" charset="0"/>
                <a:sym typeface="Symbol" panose="05050102010706020507" pitchFamily="18" charset="2"/>
              </a:rPr>
              <a:t></a:t>
            </a:r>
            <a:r>
              <a:rPr lang="en-US" altLang="zh-CN" sz="2200" dirty="0">
                <a:ea typeface="楷体" panose="02010609060101010101" pitchFamily="49" charset="-122"/>
                <a:cs typeface="Times New Roman" panose="02020603050405020304" pitchFamily="18" charset="0"/>
              </a:rPr>
              <a:t>5</a:t>
            </a:r>
            <a:r>
              <a:rPr lang="zh-CN" altLang="zh-CN" sz="2200" dirty="0">
                <a:ea typeface="楷体" panose="02010609060101010101" pitchFamily="49" charset="-122"/>
                <a:cs typeface="Times New Roman" panose="02020603050405020304" pitchFamily="18" charset="0"/>
              </a:rPr>
              <a:t>查表</a:t>
            </a:r>
            <a:r>
              <a:rPr lang="en-US" altLang="zh-CN" sz="2200" dirty="0">
                <a:ea typeface="楷体" panose="02010609060101010101" pitchFamily="49" charset="-122"/>
                <a:cs typeface="Times New Roman" panose="02020603050405020304" pitchFamily="18" charset="0"/>
              </a:rPr>
              <a:t>12-4</a:t>
            </a:r>
            <a:r>
              <a:rPr lang="zh-CN" altLang="zh-CN" sz="2200" dirty="0">
                <a:ea typeface="楷体" panose="02010609060101010101" pitchFamily="49" charset="-122"/>
                <a:cs typeface="Times New Roman" panose="02020603050405020304" pitchFamily="18" charset="0"/>
              </a:rPr>
              <a:t>，得：</a:t>
            </a:r>
            <a:r>
              <a:rPr lang="en-US" altLang="zh-CN" sz="2200" i="1" dirty="0">
                <a:ea typeface="楷体" panose="02010609060101010101" pitchFamily="49" charset="-122"/>
                <a:cs typeface="Times New Roman" panose="02020603050405020304" pitchFamily="18" charset="0"/>
              </a:rPr>
              <a:t>SSSS</a:t>
            </a:r>
            <a:r>
              <a:rPr lang="en-US" altLang="zh-CN" sz="2200" dirty="0">
                <a:ea typeface="楷体" panose="02010609060101010101" pitchFamily="49" charset="-122"/>
                <a:cs typeface="Times New Roman" panose="02020603050405020304" pitchFamily="18" charset="0"/>
              </a:rPr>
              <a:t>=3</a:t>
            </a:r>
            <a:r>
              <a:rPr lang="zh-CN" altLang="zh-CN" sz="2200" dirty="0">
                <a:ea typeface="楷体" panose="02010609060101010101" pitchFamily="49" charset="-122"/>
                <a:cs typeface="Times New Roman" panose="02020603050405020304" pitchFamily="18" charset="0"/>
              </a:rPr>
              <a:t>。</a:t>
            </a:r>
          </a:p>
          <a:p>
            <a:pPr marL="342900" indent="-342900" algn="just">
              <a:spcBef>
                <a:spcPts val="300"/>
              </a:spcBef>
              <a:spcAft>
                <a:spcPts val="300"/>
              </a:spcAft>
              <a:buClr>
                <a:srgbClr val="7030A0"/>
              </a:buClr>
              <a:buSzPct val="75000"/>
              <a:buFont typeface="Arial" panose="020B0604020202020204" pitchFamily="34" charset="0"/>
              <a:buChar char="•"/>
            </a:pPr>
            <a:r>
              <a:rPr lang="zh-CN" altLang="zh-CN" sz="2200" dirty="0">
                <a:ea typeface="楷体" panose="02010609060101010101" pitchFamily="49" charset="-122"/>
                <a:cs typeface="Times New Roman" panose="02020603050405020304" pitchFamily="18" charset="0"/>
              </a:rPr>
              <a:t>根据</a:t>
            </a:r>
            <a:r>
              <a:rPr lang="en-US" altLang="zh-CN" sz="2200" i="1" dirty="0">
                <a:ea typeface="楷体" panose="02010609060101010101" pitchFamily="49" charset="-122"/>
                <a:cs typeface="Times New Roman" panose="02020603050405020304" pitchFamily="18" charset="0"/>
              </a:rPr>
              <a:t>SSSS</a:t>
            </a:r>
            <a:r>
              <a:rPr lang="en-US" altLang="zh-CN" sz="2200" dirty="0">
                <a:ea typeface="楷体" panose="02010609060101010101" pitchFamily="49" charset="-122"/>
                <a:cs typeface="Times New Roman" panose="02020603050405020304" pitchFamily="18" charset="0"/>
              </a:rPr>
              <a:t>=3</a:t>
            </a:r>
            <a:r>
              <a:rPr lang="zh-CN" altLang="zh-CN" sz="2200" dirty="0">
                <a:ea typeface="楷体" panose="02010609060101010101" pitchFamily="49" charset="-122"/>
                <a:cs typeface="Times New Roman" panose="02020603050405020304" pitchFamily="18" charset="0"/>
              </a:rPr>
              <a:t>查表</a:t>
            </a:r>
            <a:r>
              <a:rPr lang="en-US" altLang="zh-CN" sz="2200" dirty="0">
                <a:ea typeface="楷体" panose="02010609060101010101" pitchFamily="49" charset="-122"/>
                <a:cs typeface="Times New Roman" panose="02020603050405020304" pitchFamily="18" charset="0"/>
              </a:rPr>
              <a:t>12-5</a:t>
            </a:r>
            <a:r>
              <a:rPr lang="zh-CN" altLang="zh-CN" sz="2200" dirty="0">
                <a:ea typeface="楷体" panose="02010609060101010101" pitchFamily="49" charset="-122"/>
                <a:cs typeface="Times New Roman" panose="02020603050405020304" pitchFamily="18" charset="0"/>
              </a:rPr>
              <a:t>，得其</a:t>
            </a:r>
            <a:r>
              <a:rPr lang="en-US" altLang="zh-CN" sz="2200" dirty="0">
                <a:ea typeface="楷体" panose="02010609060101010101" pitchFamily="49" charset="-122"/>
                <a:cs typeface="Times New Roman" panose="02020603050405020304" pitchFamily="18" charset="0"/>
              </a:rPr>
              <a:t>Huffman</a:t>
            </a:r>
            <a:r>
              <a:rPr lang="zh-CN" altLang="zh-CN" sz="2200" dirty="0">
                <a:ea typeface="楷体" panose="02010609060101010101" pitchFamily="49" charset="-122"/>
                <a:cs typeface="Times New Roman" panose="02020603050405020304" pitchFamily="18" charset="0"/>
              </a:rPr>
              <a:t>码字输出为</a:t>
            </a:r>
            <a:r>
              <a:rPr lang="en-US" altLang="zh-CN" sz="2200" dirty="0">
                <a:ea typeface="楷体" panose="02010609060101010101" pitchFamily="49" charset="-122"/>
                <a:cs typeface="Times New Roman" panose="02020603050405020304" pitchFamily="18" charset="0"/>
              </a:rPr>
              <a:t>100</a:t>
            </a:r>
            <a:r>
              <a:rPr lang="zh-CN" altLang="zh-CN" sz="2200" dirty="0">
                <a:ea typeface="楷体" panose="02010609060101010101" pitchFamily="49" charset="-122"/>
                <a:cs typeface="Times New Roman" panose="02020603050405020304" pitchFamily="18" charset="0"/>
              </a:rPr>
              <a:t>。</a:t>
            </a:r>
          </a:p>
        </p:txBody>
      </p:sp>
      <p:sp>
        <p:nvSpPr>
          <p:cNvPr id="9" name="矩形 8"/>
          <p:cNvSpPr/>
          <p:nvPr/>
        </p:nvSpPr>
        <p:spPr>
          <a:xfrm>
            <a:off x="618093" y="3786371"/>
            <a:ext cx="6359103" cy="430887"/>
          </a:xfrm>
          <a:prstGeom prst="rect">
            <a:avLst/>
          </a:prstGeom>
        </p:spPr>
        <p:txBody>
          <a:bodyPr wrap="square">
            <a:spAutoFit/>
          </a:bodyPr>
          <a:lstStyle/>
          <a:p>
            <a:pPr marL="342900" indent="-342900" algn="just">
              <a:spcBef>
                <a:spcPts val="300"/>
              </a:spcBef>
              <a:spcAft>
                <a:spcPts val="300"/>
              </a:spcAft>
              <a:buClr>
                <a:srgbClr val="7030A0"/>
              </a:buClr>
              <a:buSzPct val="75000"/>
              <a:buFont typeface="Wingdings" panose="05000000000000000000" pitchFamily="2" charset="2"/>
              <a:buChar char="Ø"/>
            </a:pPr>
            <a:r>
              <a:rPr lang="zh-CN" altLang="zh-CN" sz="2200" dirty="0">
                <a:solidFill>
                  <a:srgbClr val="0000CC"/>
                </a:solidFill>
                <a:ea typeface="楷体" panose="02010609060101010101" pitchFamily="49" charset="-122"/>
                <a:cs typeface="Times New Roman" panose="02020603050405020304" pitchFamily="18" charset="0"/>
              </a:rPr>
              <a:t>尾码的编码</a:t>
            </a:r>
          </a:p>
        </p:txBody>
      </p:sp>
      <p:sp>
        <p:nvSpPr>
          <p:cNvPr id="10" name="矩形 9"/>
          <p:cNvSpPr/>
          <p:nvPr/>
        </p:nvSpPr>
        <p:spPr>
          <a:xfrm>
            <a:off x="740259" y="4150228"/>
            <a:ext cx="6205322" cy="846386"/>
          </a:xfrm>
          <a:prstGeom prst="rect">
            <a:avLst/>
          </a:prstGeom>
        </p:spPr>
        <p:txBody>
          <a:bodyPr wrap="square">
            <a:spAutoFit/>
          </a:bodyPr>
          <a:lstStyle/>
          <a:p>
            <a:pPr marL="342900" indent="-342900" algn="just">
              <a:spcBef>
                <a:spcPts val="300"/>
              </a:spcBef>
              <a:spcAft>
                <a:spcPts val="300"/>
              </a:spcAft>
              <a:buClr>
                <a:srgbClr val="7030A0"/>
              </a:buClr>
              <a:buSzPct val="75000"/>
              <a:buFont typeface="Arial" panose="020B0604020202020204" pitchFamily="34" charset="0"/>
              <a:buChar char="•"/>
            </a:pPr>
            <a:r>
              <a:rPr lang="zh-CN" altLang="zh-CN" sz="2200" dirty="0">
                <a:ea typeface="楷体" panose="02010609060101010101" pitchFamily="49" charset="-122"/>
                <a:cs typeface="Times New Roman" panose="02020603050405020304" pitchFamily="18" charset="0"/>
              </a:rPr>
              <a:t>由于</a:t>
            </a:r>
            <a:r>
              <a:rPr lang="en-US" altLang="zh-CN" sz="2200" i="1" dirty="0">
                <a:ea typeface="楷体" panose="02010609060101010101" pitchFamily="49" charset="-122"/>
                <a:cs typeface="Times New Roman" panose="02020603050405020304" pitchFamily="18" charset="0"/>
              </a:rPr>
              <a:t>DIFF</a:t>
            </a:r>
            <a:r>
              <a:rPr lang="en-US" altLang="zh-CN" sz="2200" dirty="0">
                <a:ea typeface="楷体" panose="02010609060101010101" pitchFamily="49" charset="-122"/>
                <a:cs typeface="Times New Roman" panose="02020603050405020304" pitchFamily="18" charset="0"/>
              </a:rPr>
              <a:t>=</a:t>
            </a:r>
            <a:r>
              <a:rPr lang="en-US" altLang="zh-CN" sz="2200" dirty="0">
                <a:ea typeface="楷体" panose="02010609060101010101" pitchFamily="49" charset="-122"/>
                <a:cs typeface="Times New Roman" panose="02020603050405020304" pitchFamily="18" charset="0"/>
                <a:sym typeface="Symbol" panose="05050102010706020507" pitchFamily="18" charset="2"/>
              </a:rPr>
              <a:t></a:t>
            </a:r>
            <a:r>
              <a:rPr lang="en-US" altLang="zh-CN" sz="2200" dirty="0">
                <a:ea typeface="楷体" panose="02010609060101010101" pitchFamily="49" charset="-122"/>
                <a:cs typeface="Times New Roman" panose="02020603050405020304" pitchFamily="18" charset="0"/>
              </a:rPr>
              <a:t>5</a:t>
            </a:r>
            <a:r>
              <a:rPr lang="zh-CN" altLang="zh-CN" sz="2200" dirty="0">
                <a:ea typeface="楷体" panose="02010609060101010101" pitchFamily="49" charset="-122"/>
                <a:cs typeface="Times New Roman" panose="02020603050405020304" pitchFamily="18" charset="0"/>
              </a:rPr>
              <a:t>，则其二进制码字输出为</a:t>
            </a:r>
            <a:r>
              <a:rPr lang="en-US" altLang="zh-CN" sz="2200" dirty="0">
                <a:ea typeface="楷体" panose="02010609060101010101" pitchFamily="49" charset="-122"/>
                <a:cs typeface="Times New Roman" panose="02020603050405020304" pitchFamily="18" charset="0"/>
              </a:rPr>
              <a:t>010</a:t>
            </a:r>
            <a:r>
              <a:rPr lang="zh-CN" altLang="zh-CN" sz="2200" dirty="0">
                <a:ea typeface="楷体" panose="02010609060101010101" pitchFamily="49" charset="-122"/>
                <a:cs typeface="Times New Roman" panose="02020603050405020304" pitchFamily="18" charset="0"/>
              </a:rPr>
              <a:t>。</a:t>
            </a:r>
          </a:p>
          <a:p>
            <a:pPr marL="342900" indent="-342900" algn="just">
              <a:spcBef>
                <a:spcPts val="300"/>
              </a:spcBef>
              <a:spcAft>
                <a:spcPts val="300"/>
              </a:spcAft>
              <a:buClr>
                <a:srgbClr val="7030A0"/>
              </a:buClr>
              <a:buSzPct val="75000"/>
              <a:buFont typeface="Arial" panose="020B0604020202020204" pitchFamily="34" charset="0"/>
              <a:buChar char="•"/>
            </a:pPr>
            <a:r>
              <a:rPr lang="zh-CN" altLang="zh-CN" sz="2200" dirty="0">
                <a:ea typeface="楷体" panose="02010609060101010101" pitchFamily="49" charset="-122"/>
                <a:cs typeface="Times New Roman" panose="02020603050405020304" pitchFamily="18" charset="0"/>
              </a:rPr>
              <a:t>因此，则有</a:t>
            </a:r>
            <a:r>
              <a:rPr lang="en-US" altLang="zh-CN" sz="2200" dirty="0">
                <a:ea typeface="楷体" panose="02010609060101010101" pitchFamily="49" charset="-122"/>
                <a:cs typeface="Times New Roman" panose="02020603050405020304" pitchFamily="18" charset="0"/>
              </a:rPr>
              <a:t>DC</a:t>
            </a:r>
            <a:r>
              <a:rPr lang="zh-CN" altLang="zh-CN" sz="2200" dirty="0">
                <a:ea typeface="楷体" panose="02010609060101010101" pitchFamily="49" charset="-122"/>
                <a:cs typeface="Times New Roman" panose="02020603050405020304" pitchFamily="18" charset="0"/>
              </a:rPr>
              <a:t>系数的编码输出为：</a:t>
            </a:r>
            <a:r>
              <a:rPr lang="en-US" altLang="zh-CN" sz="2200" dirty="0">
                <a:ea typeface="楷体" panose="02010609060101010101" pitchFamily="49" charset="-122"/>
                <a:cs typeface="Times New Roman" panose="02020603050405020304" pitchFamily="18" charset="0"/>
              </a:rPr>
              <a:t>100010</a:t>
            </a:r>
            <a:r>
              <a:rPr lang="zh-CN" altLang="zh-CN" sz="2200" dirty="0">
                <a:ea typeface="楷体" panose="02010609060101010101" pitchFamily="49" charset="-122"/>
                <a:cs typeface="Times New Roman" panose="02020603050405020304" pitchFamily="18" charset="0"/>
              </a:rPr>
              <a:t>。</a:t>
            </a:r>
            <a:endParaRPr lang="zh-CN" altLang="en-US" sz="2200" dirty="0">
              <a:ea typeface="楷体" panose="02010609060101010101" pitchFamily="49" charset="-122"/>
              <a:cs typeface="Times New Roman" panose="02020603050405020304" pitchFamily="18" charset="0"/>
            </a:endParaRPr>
          </a:p>
        </p:txBody>
      </p:sp>
      <p:sp>
        <p:nvSpPr>
          <p:cNvPr id="11" name="文本框 10">
            <a:hlinkClick r:id="rId3" action="ppaction://hlinksldjump"/>
            <a:extLst>
              <a:ext uri="{FF2B5EF4-FFF2-40B4-BE49-F238E27FC236}">
                <a16:creationId xmlns:a16="http://schemas.microsoft.com/office/drawing/2014/main" id="{B14622F0-F8C9-B7AB-1C7C-C343DCC01183}"/>
              </a:ext>
            </a:extLst>
          </p:cNvPr>
          <p:cNvSpPr txBox="1"/>
          <p:nvPr/>
        </p:nvSpPr>
        <p:spPr>
          <a:xfrm>
            <a:off x="5464204" y="331728"/>
            <a:ext cx="700833" cy="400110"/>
          </a:xfrm>
          <a:prstGeom prst="rect">
            <a:avLst/>
          </a:prstGeom>
          <a:noFill/>
        </p:spPr>
        <p:txBody>
          <a:bodyPr wrap="none" rtlCol="0">
            <a:spAutoFit/>
          </a:bodyPr>
          <a:lstStyle/>
          <a:p>
            <a:r>
              <a:rPr lang="zh-CN" altLang="en-US" sz="2000" dirty="0">
                <a:solidFill>
                  <a:srgbClr val="92D050"/>
                </a:solidFill>
                <a:latin typeface="华光综艺_CNKI" panose="02000500000000000000" pitchFamily="2" charset="-122"/>
                <a:ea typeface="华光综艺_CNKI" panose="02000500000000000000" pitchFamily="2" charset="-122"/>
                <a:hlinkClick r:id="rId4" action="ppaction://hlinksldjump"/>
              </a:rPr>
              <a:t>理论</a:t>
            </a:r>
            <a:endParaRPr lang="zh-CN" altLang="en-US" sz="2000" dirty="0">
              <a:solidFill>
                <a:srgbClr val="92D05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008508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31</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6" name="文本框 5"/>
          <p:cNvSpPr txBox="1"/>
          <p:nvPr/>
        </p:nvSpPr>
        <p:spPr>
          <a:xfrm>
            <a:off x="463551" y="1229260"/>
            <a:ext cx="6465887" cy="430887"/>
          </a:xfrm>
          <a:prstGeom prst="rect">
            <a:avLst/>
          </a:prstGeom>
          <a:noFill/>
        </p:spPr>
        <p:txBody>
          <a:bodyPr wrap="square" rtlCol="0">
            <a:spAutoFit/>
          </a:bodyPr>
          <a:lstStyle/>
          <a:p>
            <a:pPr marL="342900" indent="-342900">
              <a:spcBef>
                <a:spcPts val="300"/>
              </a:spcBef>
              <a:buClr>
                <a:srgbClr val="7030A0"/>
              </a:buClr>
              <a:buSzPct val="75000"/>
              <a:buFont typeface="Wingdings" panose="05000000000000000000" pitchFamily="2" charset="2"/>
              <a:buChar char="p"/>
            </a:pPr>
            <a:r>
              <a:rPr lang="zh-CN" altLang="zh-CN" sz="2200" dirty="0">
                <a:ea typeface="楷体" panose="02010609060101010101" pitchFamily="49" charset="-122"/>
                <a:cs typeface="Times New Roman" panose="02020603050405020304" pitchFamily="18" charset="0"/>
              </a:rPr>
              <a:t>对于</a:t>
            </a:r>
            <a:r>
              <a:rPr lang="en-US" altLang="zh-CN" sz="2200" dirty="0">
                <a:solidFill>
                  <a:srgbClr val="0000CC"/>
                </a:solidFill>
                <a:ea typeface="楷体" panose="02010609060101010101" pitchFamily="49" charset="-122"/>
                <a:cs typeface="Times New Roman" panose="02020603050405020304" pitchFamily="18" charset="0"/>
              </a:rPr>
              <a:t>AC</a:t>
            </a:r>
            <a:r>
              <a:rPr lang="zh-CN" altLang="zh-CN" sz="2200" dirty="0">
                <a:solidFill>
                  <a:srgbClr val="0000CC"/>
                </a:solidFill>
                <a:ea typeface="楷体" panose="02010609060101010101" pitchFamily="49" charset="-122"/>
                <a:cs typeface="Times New Roman" panose="02020603050405020304" pitchFamily="18" charset="0"/>
              </a:rPr>
              <a:t>系数</a:t>
            </a:r>
            <a:endParaRPr lang="zh-CN" altLang="zh-CN" sz="2200" dirty="0">
              <a:ea typeface="楷体" panose="02010609060101010101" pitchFamily="49" charset="-122"/>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480921113"/>
              </p:ext>
            </p:extLst>
          </p:nvPr>
        </p:nvGraphicFramePr>
        <p:xfrm>
          <a:off x="344488" y="3097566"/>
          <a:ext cx="6454721" cy="1944000"/>
        </p:xfrm>
        <a:graphic>
          <a:graphicData uri="http://schemas.openxmlformats.org/drawingml/2006/table">
            <a:tbl>
              <a:tblPr firstRow="1" firstCol="1" bandRow="1"/>
              <a:tblGrid>
                <a:gridCol w="1584018">
                  <a:extLst>
                    <a:ext uri="{9D8B030D-6E8A-4147-A177-3AD203B41FA5}">
                      <a16:colId xmlns:a16="http://schemas.microsoft.com/office/drawing/2014/main" val="1072212982"/>
                    </a:ext>
                  </a:extLst>
                </a:gridCol>
                <a:gridCol w="906177">
                  <a:extLst>
                    <a:ext uri="{9D8B030D-6E8A-4147-A177-3AD203B41FA5}">
                      <a16:colId xmlns:a16="http://schemas.microsoft.com/office/drawing/2014/main" val="2013259304"/>
                    </a:ext>
                  </a:extLst>
                </a:gridCol>
                <a:gridCol w="1019449">
                  <a:extLst>
                    <a:ext uri="{9D8B030D-6E8A-4147-A177-3AD203B41FA5}">
                      <a16:colId xmlns:a16="http://schemas.microsoft.com/office/drawing/2014/main" val="3088713467"/>
                    </a:ext>
                  </a:extLst>
                </a:gridCol>
                <a:gridCol w="755148">
                  <a:extLst>
                    <a:ext uri="{9D8B030D-6E8A-4147-A177-3AD203B41FA5}">
                      <a16:colId xmlns:a16="http://schemas.microsoft.com/office/drawing/2014/main" val="3961991413"/>
                    </a:ext>
                  </a:extLst>
                </a:gridCol>
                <a:gridCol w="830662">
                  <a:extLst>
                    <a:ext uri="{9D8B030D-6E8A-4147-A177-3AD203B41FA5}">
                      <a16:colId xmlns:a16="http://schemas.microsoft.com/office/drawing/2014/main" val="772416320"/>
                    </a:ext>
                  </a:extLst>
                </a:gridCol>
                <a:gridCol w="755148">
                  <a:extLst>
                    <a:ext uri="{9D8B030D-6E8A-4147-A177-3AD203B41FA5}">
                      <a16:colId xmlns:a16="http://schemas.microsoft.com/office/drawing/2014/main" val="988902559"/>
                    </a:ext>
                  </a:extLst>
                </a:gridCol>
                <a:gridCol w="604119">
                  <a:extLst>
                    <a:ext uri="{9D8B030D-6E8A-4147-A177-3AD203B41FA5}">
                      <a16:colId xmlns:a16="http://schemas.microsoft.com/office/drawing/2014/main" val="1105474603"/>
                    </a:ext>
                  </a:extLst>
                </a:gridCol>
              </a:tblGrid>
              <a:tr h="324000">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AC</a:t>
                      </a:r>
                      <a:r>
                        <a:rPr lang="zh-CN" sz="1700" b="1" kern="100" dirty="0">
                          <a:effectLst/>
                          <a:latin typeface="Times New Roman" panose="02020603050405020304" pitchFamily="18" charset="0"/>
                          <a:ea typeface="宋体" panose="02010600030101010101" pitchFamily="2" charset="-122"/>
                        </a:rPr>
                        <a:t>系数</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i="1" kern="100" dirty="0">
                          <a:effectLst/>
                          <a:latin typeface="Times New Roman" panose="02020603050405020304" pitchFamily="18" charset="0"/>
                          <a:ea typeface="宋体" panose="02010600030101010101" pitchFamily="2" charset="-122"/>
                        </a:rPr>
                        <a:t>SSSS</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15</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4</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16</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5</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2</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2</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2</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2</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3</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2</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3669461"/>
                  </a:ext>
                </a:extLst>
              </a:tr>
              <a:tr h="324000">
                <a:tc>
                  <a:txBody>
                    <a:bodyPr/>
                    <a:lstStyle/>
                    <a:p>
                      <a:pPr algn="ctr">
                        <a:spcAft>
                          <a:spcPts val="0"/>
                        </a:spcAft>
                      </a:pPr>
                      <a:r>
                        <a:rPr lang="en-US" sz="1700" b="1" i="1" kern="100" dirty="0">
                          <a:effectLst/>
                          <a:latin typeface="Times New Roman" panose="02020603050405020304" pitchFamily="18" charset="0"/>
                          <a:ea typeface="宋体" panose="02010600030101010101" pitchFamily="2" charset="-122"/>
                        </a:rPr>
                        <a:t>NNNN</a:t>
                      </a:r>
                      <a:r>
                        <a:rPr lang="en-US" sz="1700" b="1" kern="100" dirty="0">
                          <a:effectLst/>
                          <a:latin typeface="Times New Roman" panose="02020603050405020304" pitchFamily="18" charset="0"/>
                          <a:ea typeface="宋体" panose="02010600030101010101" pitchFamily="2" charset="-122"/>
                        </a:rPr>
                        <a:t>/</a:t>
                      </a:r>
                      <a:r>
                        <a:rPr lang="en-US" sz="1700" b="1" i="1" kern="100" dirty="0">
                          <a:effectLst/>
                          <a:latin typeface="Times New Roman" panose="02020603050405020304" pitchFamily="18" charset="0"/>
                          <a:ea typeface="宋体" panose="02010600030101010101" pitchFamily="2" charset="-122"/>
                        </a:rPr>
                        <a:t>SSSS</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0/4</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0/5</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effectLst/>
                          <a:latin typeface="Times New Roman" panose="02020603050405020304" pitchFamily="18" charset="0"/>
                          <a:ea typeface="宋体" panose="02010600030101010101" pitchFamily="2" charset="-122"/>
                        </a:rPr>
                        <a:t>0/2</a:t>
                      </a:r>
                      <a:endParaRPr lang="zh-CN" sz="1700" b="1"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effectLst/>
                          <a:latin typeface="Times New Roman" panose="02020603050405020304" pitchFamily="18" charset="0"/>
                          <a:ea typeface="宋体" panose="02010600030101010101" pitchFamily="2" charset="-122"/>
                        </a:rPr>
                        <a:t>1/1</a:t>
                      </a:r>
                      <a:endParaRPr lang="zh-CN" sz="1700" b="1"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effectLst/>
                          <a:latin typeface="Times New Roman" panose="02020603050405020304" pitchFamily="18" charset="0"/>
                          <a:ea typeface="宋体" panose="02010600030101010101" pitchFamily="2" charset="-122"/>
                        </a:rPr>
                        <a:t>0/2</a:t>
                      </a:r>
                      <a:endParaRPr lang="zh-CN" sz="1700" b="1"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effectLst/>
                          <a:latin typeface="Times New Roman" panose="02020603050405020304" pitchFamily="18" charset="0"/>
                          <a:ea typeface="宋体" panose="02010600030101010101" pitchFamily="2" charset="-122"/>
                        </a:rPr>
                        <a:t>0/2</a:t>
                      </a:r>
                      <a:endParaRPr lang="zh-CN" sz="1700" b="1"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2947873"/>
                  </a:ext>
                </a:extLst>
              </a:tr>
              <a:tr h="324000">
                <a:tc>
                  <a:txBody>
                    <a:bodyPr/>
                    <a:lstStyle/>
                    <a:p>
                      <a:pPr algn="ctr">
                        <a:spcAft>
                          <a:spcPts val="0"/>
                        </a:spcAft>
                      </a:pPr>
                      <a:r>
                        <a:rPr lang="zh-CN" sz="1700" b="1" kern="100" dirty="0">
                          <a:effectLst/>
                          <a:latin typeface="Times New Roman" panose="02020603050405020304" pitchFamily="18" charset="0"/>
                          <a:ea typeface="宋体" panose="02010600030101010101" pitchFamily="2" charset="-122"/>
                        </a:rPr>
                        <a:t>码字</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1011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effectLst/>
                          <a:latin typeface="Times New Roman" panose="02020603050405020304" pitchFamily="18" charset="0"/>
                          <a:ea typeface="宋体" panose="02010600030101010101" pitchFamily="2" charset="-122"/>
                        </a:rPr>
                        <a:t>11010</a:t>
                      </a:r>
                      <a:endParaRPr lang="zh-CN" sz="1700" b="1"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effectLst/>
                          <a:latin typeface="Times New Roman" panose="02020603050405020304" pitchFamily="18" charset="0"/>
                          <a:ea typeface="宋体" panose="02010600030101010101" pitchFamily="2" charset="-122"/>
                        </a:rPr>
                        <a:t>01</a:t>
                      </a:r>
                      <a:endParaRPr lang="zh-CN" sz="1700" b="1"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effectLst/>
                          <a:latin typeface="Times New Roman" panose="02020603050405020304" pitchFamily="18" charset="0"/>
                          <a:ea typeface="宋体" panose="02010600030101010101" pitchFamily="2" charset="-122"/>
                        </a:rPr>
                        <a:t>1100</a:t>
                      </a:r>
                      <a:endParaRPr lang="zh-CN" sz="1700" b="1"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effectLst/>
                          <a:latin typeface="Times New Roman" panose="02020603050405020304" pitchFamily="18" charset="0"/>
                          <a:ea typeface="宋体" panose="02010600030101010101" pitchFamily="2" charset="-122"/>
                        </a:rPr>
                        <a:t>01</a:t>
                      </a:r>
                      <a:endParaRPr lang="zh-CN" sz="1700" b="1"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effectLst/>
                          <a:latin typeface="Times New Roman" panose="02020603050405020304" pitchFamily="18" charset="0"/>
                          <a:ea typeface="宋体" panose="02010600030101010101" pitchFamily="2" charset="-122"/>
                        </a:rPr>
                        <a:t>01</a:t>
                      </a:r>
                      <a:endParaRPr lang="zh-CN" sz="1700" b="1"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625737"/>
                  </a:ext>
                </a:extLst>
              </a:tr>
              <a:tr h="324000">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AC</a:t>
                      </a:r>
                      <a:r>
                        <a:rPr lang="zh-CN" sz="1700" b="1" kern="100" dirty="0">
                          <a:effectLst/>
                          <a:latin typeface="Times New Roman" panose="02020603050405020304" pitchFamily="18" charset="0"/>
                          <a:ea typeface="宋体" panose="02010600030101010101" pitchFamily="2" charset="-122"/>
                        </a:rPr>
                        <a:t>系数</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i="1" kern="100" dirty="0">
                          <a:effectLst/>
                          <a:latin typeface="Times New Roman" panose="02020603050405020304" pitchFamily="18" charset="0"/>
                          <a:ea typeface="宋体" panose="02010600030101010101" pitchFamily="2" charset="-122"/>
                        </a:rPr>
                        <a:t>SSSS</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3</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2</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2</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2</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1</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1</a:t>
                      </a:r>
                      <a:r>
                        <a:rPr lang="en-US" sz="1700" b="1"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effectLst/>
                          <a:latin typeface="Times New Roman" panose="02020603050405020304" pitchFamily="18" charset="0"/>
                          <a:ea typeface="宋体" panose="02010600030101010101" pitchFamily="2" charset="-122"/>
                        </a:rPr>
                        <a:t>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1938214"/>
                  </a:ext>
                </a:extLst>
              </a:tr>
              <a:tr h="324000">
                <a:tc>
                  <a:txBody>
                    <a:bodyPr/>
                    <a:lstStyle/>
                    <a:p>
                      <a:pPr algn="ctr">
                        <a:spcAft>
                          <a:spcPts val="0"/>
                        </a:spcAft>
                      </a:pPr>
                      <a:r>
                        <a:rPr lang="en-US" sz="1700" b="1" i="1" kern="100" dirty="0">
                          <a:effectLst/>
                          <a:latin typeface="Times New Roman" panose="02020603050405020304" pitchFamily="18" charset="0"/>
                          <a:ea typeface="宋体" panose="02010600030101010101" pitchFamily="2" charset="-122"/>
                        </a:rPr>
                        <a:t>NNNN</a:t>
                      </a:r>
                      <a:r>
                        <a:rPr lang="en-US" sz="1700" b="1" kern="100" dirty="0">
                          <a:effectLst/>
                          <a:latin typeface="Times New Roman" panose="02020603050405020304" pitchFamily="18" charset="0"/>
                          <a:ea typeface="宋体" panose="02010600030101010101" pitchFamily="2" charset="-122"/>
                        </a:rPr>
                        <a:t>/</a:t>
                      </a:r>
                      <a:r>
                        <a:rPr lang="en-US" sz="1700" b="1" i="1" kern="100" dirty="0">
                          <a:effectLst/>
                          <a:latin typeface="Times New Roman" panose="02020603050405020304" pitchFamily="18" charset="0"/>
                          <a:ea typeface="宋体" panose="02010600030101010101" pitchFamily="2" charset="-122"/>
                        </a:rPr>
                        <a:t>SSSS</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0/2</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2/2</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0/1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1/1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2/1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1/1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8315280"/>
                  </a:ext>
                </a:extLst>
              </a:tr>
              <a:tr h="324000">
                <a:tc>
                  <a:txBody>
                    <a:bodyPr/>
                    <a:lstStyle/>
                    <a:p>
                      <a:pPr algn="ctr">
                        <a:spcAft>
                          <a:spcPts val="0"/>
                        </a:spcAft>
                      </a:pPr>
                      <a:r>
                        <a:rPr lang="zh-CN" sz="1700" b="1" kern="100" dirty="0">
                          <a:effectLst/>
                          <a:latin typeface="Times New Roman" panose="02020603050405020304" pitchFamily="18" charset="0"/>
                          <a:ea typeface="宋体" panose="02010600030101010101" pitchFamily="2" charset="-122"/>
                        </a:rPr>
                        <a:t>码字</a:t>
                      </a: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01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11111001</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00</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1100</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11100</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effectLst/>
                          <a:latin typeface="Times New Roman" panose="02020603050405020304" pitchFamily="18" charset="0"/>
                          <a:ea typeface="宋体" panose="02010600030101010101" pitchFamily="2" charset="-122"/>
                        </a:rPr>
                        <a:t>1100</a:t>
                      </a:r>
                      <a:endParaRPr lang="zh-CN" sz="1700" b="1"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6770536"/>
                  </a:ext>
                </a:extLst>
              </a:tr>
            </a:tbl>
          </a:graphicData>
        </a:graphic>
      </p:graphicFrame>
      <p:sp>
        <p:nvSpPr>
          <p:cNvPr id="9" name="文本框 8"/>
          <p:cNvSpPr txBox="1"/>
          <p:nvPr/>
        </p:nvSpPr>
        <p:spPr>
          <a:xfrm>
            <a:off x="322258" y="886838"/>
            <a:ext cx="6465887" cy="461665"/>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zh-CN" altLang="en-US" dirty="0">
                <a:solidFill>
                  <a:srgbClr val="C00000"/>
                </a:solidFill>
                <a:ea typeface="楷体" panose="02010609060101010101" pitchFamily="49" charset="-122"/>
                <a:cs typeface="Times New Roman" panose="02020603050405020304" pitchFamily="18" charset="0"/>
              </a:rPr>
              <a:t>熵编码</a:t>
            </a:r>
          </a:p>
        </p:txBody>
      </p:sp>
      <p:sp>
        <p:nvSpPr>
          <p:cNvPr id="7" name="矩形 6"/>
          <p:cNvSpPr/>
          <p:nvPr/>
        </p:nvSpPr>
        <p:spPr>
          <a:xfrm>
            <a:off x="643862" y="2666679"/>
            <a:ext cx="2903359" cy="430887"/>
          </a:xfrm>
          <a:prstGeom prst="rect">
            <a:avLst/>
          </a:prstGeom>
        </p:spPr>
        <p:txBody>
          <a:bodyPr wrap="none">
            <a:spAutoFit/>
          </a:bodyPr>
          <a:lstStyle/>
          <a:p>
            <a:pPr marL="342900" indent="-342900">
              <a:spcBef>
                <a:spcPts val="300"/>
              </a:spcBef>
              <a:buClr>
                <a:srgbClr val="7030A0"/>
              </a:buClr>
              <a:buSzPct val="75000"/>
              <a:buFont typeface="Wingdings" panose="05000000000000000000" pitchFamily="2" charset="2"/>
              <a:buChar char="Ø"/>
            </a:pPr>
            <a:r>
              <a:rPr lang="en-US" altLang="zh-CN" sz="2200" i="1" dirty="0">
                <a:solidFill>
                  <a:srgbClr val="0000CC"/>
                </a:solidFill>
                <a:ea typeface="楷体" panose="02010609060101010101" pitchFamily="49" charset="-122"/>
                <a:cs typeface="Times New Roman" panose="02020603050405020304" pitchFamily="18" charset="0"/>
              </a:rPr>
              <a:t>NNNN</a:t>
            </a:r>
            <a:r>
              <a:rPr lang="en-US" altLang="zh-CN" sz="2200" dirty="0">
                <a:solidFill>
                  <a:srgbClr val="0000CC"/>
                </a:solidFill>
                <a:ea typeface="楷体" panose="02010609060101010101" pitchFamily="49" charset="-122"/>
                <a:cs typeface="Times New Roman" panose="02020603050405020304" pitchFamily="18" charset="0"/>
              </a:rPr>
              <a:t>/</a:t>
            </a:r>
            <a:r>
              <a:rPr lang="en-US" altLang="zh-CN" sz="2200" i="1" dirty="0">
                <a:solidFill>
                  <a:srgbClr val="0000CC"/>
                </a:solidFill>
                <a:ea typeface="楷体" panose="02010609060101010101" pitchFamily="49" charset="-122"/>
                <a:cs typeface="Times New Roman" panose="02020603050405020304" pitchFamily="18" charset="0"/>
              </a:rPr>
              <a:t>SSSS</a:t>
            </a:r>
            <a:r>
              <a:rPr lang="zh-CN" altLang="zh-CN" sz="2200" dirty="0">
                <a:solidFill>
                  <a:srgbClr val="0000CC"/>
                </a:solidFill>
                <a:ea typeface="楷体" panose="02010609060101010101" pitchFamily="49" charset="-122"/>
                <a:cs typeface="Times New Roman" panose="02020603050405020304" pitchFamily="18" charset="0"/>
              </a:rPr>
              <a:t>的编码</a:t>
            </a:r>
            <a:endParaRPr lang="zh-CN" altLang="en-US" sz="2200" dirty="0">
              <a:solidFill>
                <a:srgbClr val="0000CC"/>
              </a:solidFill>
              <a:ea typeface="楷体" panose="02010609060101010101" pitchFamily="49" charset="-122"/>
              <a:cs typeface="Times New Roman" panose="02020603050405020304" pitchFamily="18" charset="0"/>
            </a:endParaRPr>
          </a:p>
        </p:txBody>
      </p:sp>
      <p:sp>
        <p:nvSpPr>
          <p:cNvPr id="10" name="矩形 9"/>
          <p:cNvSpPr/>
          <p:nvPr/>
        </p:nvSpPr>
        <p:spPr>
          <a:xfrm>
            <a:off x="956283" y="1958793"/>
            <a:ext cx="6465887" cy="707886"/>
          </a:xfrm>
          <a:prstGeom prst="rect">
            <a:avLst/>
          </a:prstGeom>
        </p:spPr>
        <p:txBody>
          <a:bodyPr wrap="square">
            <a:spAutoFit/>
          </a:bodyPr>
          <a:lstStyle/>
          <a:p>
            <a:pPr>
              <a:spcBef>
                <a:spcPts val="300"/>
              </a:spcBef>
            </a:pPr>
            <a:r>
              <a:rPr lang="en-US" altLang="zh-CN" sz="2000" dirty="0">
                <a:ea typeface="楷体" panose="02010609060101010101" pitchFamily="49" charset="-122"/>
                <a:cs typeface="Times New Roman" panose="02020603050405020304" pitchFamily="18" charset="0"/>
                <a:sym typeface="Symbol" panose="05050102010706020507" pitchFamily="18" charset="2"/>
              </a:rPr>
              <a:t></a:t>
            </a:r>
            <a:r>
              <a:rPr lang="en-US" altLang="zh-CN" sz="2000" dirty="0">
                <a:ea typeface="楷体" panose="02010609060101010101" pitchFamily="49" charset="-122"/>
                <a:cs typeface="Times New Roman" panose="02020603050405020304" pitchFamily="18" charset="0"/>
              </a:rPr>
              <a:t>15</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sym typeface="Symbol" panose="05050102010706020507" pitchFamily="18" charset="2"/>
              </a:rPr>
              <a:t></a:t>
            </a:r>
            <a:r>
              <a:rPr lang="en-US" altLang="zh-CN" sz="2000" dirty="0">
                <a:ea typeface="楷体" panose="02010609060101010101" pitchFamily="49" charset="-122"/>
                <a:cs typeface="Times New Roman" panose="02020603050405020304" pitchFamily="18" charset="0"/>
              </a:rPr>
              <a:t>16</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2</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0</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sym typeface="Symbol" panose="05050102010706020507" pitchFamily="18" charset="2"/>
              </a:rPr>
              <a:t></a:t>
            </a:r>
            <a:r>
              <a:rPr lang="en-US" altLang="zh-CN" sz="2000" dirty="0">
                <a:ea typeface="楷体" panose="02010609060101010101" pitchFamily="49" charset="-122"/>
                <a:cs typeface="Times New Roman" panose="02020603050405020304" pitchFamily="18" charset="0"/>
              </a:rPr>
              <a:t>1</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2</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3</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3</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0</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0</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sym typeface="Symbol" panose="05050102010706020507" pitchFamily="18" charset="2"/>
              </a:rPr>
              <a:t></a:t>
            </a:r>
            <a:r>
              <a:rPr lang="en-US" altLang="zh-CN" sz="2000" dirty="0">
                <a:ea typeface="楷体" panose="02010609060101010101" pitchFamily="49" charset="-122"/>
                <a:cs typeface="Times New Roman" panose="02020603050405020304" pitchFamily="18" charset="0"/>
              </a:rPr>
              <a:t>2</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 </a:t>
            </a:r>
            <a:br>
              <a:rPr lang="en-US" altLang="zh-CN" sz="2000" dirty="0">
                <a:ea typeface="楷体" panose="02010609060101010101" pitchFamily="49" charset="-122"/>
                <a:cs typeface="Times New Roman" panose="02020603050405020304" pitchFamily="18" charset="0"/>
              </a:rPr>
            </a:br>
            <a:r>
              <a:rPr lang="en-US" altLang="zh-CN" sz="2000" dirty="0">
                <a:ea typeface="楷体" panose="02010609060101010101" pitchFamily="49" charset="-122"/>
                <a:cs typeface="Times New Roman" panose="02020603050405020304" pitchFamily="18" charset="0"/>
              </a:rPr>
              <a:t>       1</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0</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sym typeface="Symbol" panose="05050102010706020507" pitchFamily="18" charset="2"/>
              </a:rPr>
              <a:t></a:t>
            </a:r>
            <a:r>
              <a:rPr lang="en-US" altLang="zh-CN" sz="2000" dirty="0">
                <a:ea typeface="楷体" panose="02010609060101010101" pitchFamily="49" charset="-122"/>
                <a:cs typeface="Times New Roman" panose="02020603050405020304" pitchFamily="18" charset="0"/>
              </a:rPr>
              <a:t>1</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0</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0</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sym typeface="Symbol" panose="05050102010706020507" pitchFamily="18" charset="2"/>
              </a:rPr>
              <a:t></a:t>
            </a:r>
            <a:r>
              <a:rPr lang="en-US" altLang="zh-CN" sz="2000" dirty="0">
                <a:ea typeface="楷体" panose="02010609060101010101" pitchFamily="49" charset="-122"/>
                <a:cs typeface="Times New Roman" panose="02020603050405020304" pitchFamily="18" charset="0"/>
              </a:rPr>
              <a:t>1</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0</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1</a:t>
            </a:r>
            <a:r>
              <a:rPr lang="zh-CN" altLang="zh-CN"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EOB</a:t>
            </a:r>
            <a:endParaRPr lang="zh-CN" altLang="zh-CN" sz="2000" dirty="0">
              <a:ea typeface="楷体" panose="02010609060101010101" pitchFamily="49" charset="-122"/>
              <a:cs typeface="Times New Roman" panose="02020603050405020304" pitchFamily="18" charset="0"/>
            </a:endParaRPr>
          </a:p>
        </p:txBody>
      </p:sp>
      <p:sp>
        <p:nvSpPr>
          <p:cNvPr id="11" name="矩形 10"/>
          <p:cNvSpPr/>
          <p:nvPr/>
        </p:nvSpPr>
        <p:spPr>
          <a:xfrm>
            <a:off x="648199" y="1625502"/>
            <a:ext cx="6311311" cy="430887"/>
          </a:xfrm>
          <a:prstGeom prst="rect">
            <a:avLst/>
          </a:prstGeom>
        </p:spPr>
        <p:txBody>
          <a:bodyPr wrap="square">
            <a:spAutoFit/>
          </a:bodyPr>
          <a:lstStyle/>
          <a:p>
            <a:pPr marL="342900" indent="-342900">
              <a:buClr>
                <a:srgbClr val="7030A0"/>
              </a:buClr>
              <a:buSzPct val="75000"/>
              <a:buFont typeface="Wingdings" panose="05000000000000000000" pitchFamily="2" charset="2"/>
              <a:buChar char="Ø"/>
            </a:pPr>
            <a:r>
              <a:rPr lang="zh-CN" altLang="zh-CN" sz="2200" dirty="0">
                <a:solidFill>
                  <a:srgbClr val="0000CC"/>
                </a:solidFill>
                <a:ea typeface="楷体" panose="02010609060101010101" pitchFamily="49" charset="-122"/>
                <a:cs typeface="Times New Roman" panose="02020603050405020304" pitchFamily="18" charset="0"/>
              </a:rPr>
              <a:t>按照</a:t>
            </a:r>
            <a:r>
              <a:rPr lang="en-US" altLang="zh-CN" sz="2200" dirty="0">
                <a:solidFill>
                  <a:srgbClr val="0000CC"/>
                </a:solidFill>
                <a:ea typeface="楷体" panose="02010609060101010101" pitchFamily="49" charset="-122"/>
                <a:cs typeface="Times New Roman" panose="02020603050405020304" pitchFamily="18" charset="0"/>
              </a:rPr>
              <a:t>Z</a:t>
            </a:r>
            <a:r>
              <a:rPr lang="zh-CN" altLang="zh-CN" sz="2200" dirty="0">
                <a:solidFill>
                  <a:srgbClr val="0000CC"/>
                </a:solidFill>
                <a:ea typeface="楷体" panose="02010609060101010101" pitchFamily="49" charset="-122"/>
                <a:cs typeface="Times New Roman" panose="02020603050405020304" pitchFamily="18" charset="0"/>
              </a:rPr>
              <a:t>形方式扫描得：</a:t>
            </a:r>
            <a:r>
              <a:rPr lang="en-US" altLang="zh-CN" sz="2200" dirty="0">
                <a:solidFill>
                  <a:srgbClr val="0000CC"/>
                </a:solidFill>
                <a:ea typeface="楷体" panose="02010609060101010101" pitchFamily="49" charset="-122"/>
                <a:cs typeface="Times New Roman" panose="02020603050405020304" pitchFamily="18" charset="0"/>
              </a:rPr>
              <a:t> </a:t>
            </a:r>
            <a:endParaRPr lang="zh-CN" altLang="en-US" sz="2200" dirty="0">
              <a:solidFill>
                <a:srgbClr val="0000CC"/>
              </a:solidFill>
            </a:endParaRPr>
          </a:p>
        </p:txBody>
      </p:sp>
      <p:sp>
        <p:nvSpPr>
          <p:cNvPr id="5" name="矩形 4">
            <a:extLst>
              <a:ext uri="{FF2B5EF4-FFF2-40B4-BE49-F238E27FC236}">
                <a16:creationId xmlns:a16="http://schemas.microsoft.com/office/drawing/2014/main" id="{FA5644D0-CE00-05E0-9649-4295384BC6AC}"/>
              </a:ext>
            </a:extLst>
          </p:cNvPr>
          <p:cNvSpPr/>
          <p:nvPr/>
        </p:nvSpPr>
        <p:spPr bwMode="auto">
          <a:xfrm>
            <a:off x="344488" y="3119115"/>
            <a:ext cx="6454721" cy="937468"/>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717550" rtl="0" eaLnBrk="1" fontAlgn="base" latinLnBrk="0" hangingPunct="1">
              <a:lnSpc>
                <a:spcPct val="100000"/>
              </a:lnSpc>
              <a:spcBef>
                <a:spcPct val="0"/>
              </a:spcBef>
              <a:spcAft>
                <a:spcPct val="0"/>
              </a:spcAft>
              <a:buClrTx/>
              <a:buSzTx/>
              <a:buFontTx/>
              <a:buNone/>
              <a:tabLst/>
            </a:pPr>
            <a:endParaRPr kumimoji="1" lang="zh-CN" altLang="en-US" sz="19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DAC5E382-5D51-205A-9DC1-3A737ABBB440}"/>
              </a:ext>
            </a:extLst>
          </p:cNvPr>
          <p:cNvSpPr/>
          <p:nvPr/>
        </p:nvSpPr>
        <p:spPr bwMode="auto">
          <a:xfrm>
            <a:off x="344488" y="4035034"/>
            <a:ext cx="6454721" cy="987329"/>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717550" rtl="0" eaLnBrk="1" fontAlgn="base" latinLnBrk="0" hangingPunct="1">
              <a:lnSpc>
                <a:spcPct val="100000"/>
              </a:lnSpc>
              <a:spcBef>
                <a:spcPct val="0"/>
              </a:spcBef>
              <a:spcAft>
                <a:spcPct val="0"/>
              </a:spcAft>
              <a:buClrTx/>
              <a:buSzTx/>
              <a:buFontTx/>
              <a:buNone/>
              <a:tabLst/>
            </a:pPr>
            <a:endParaRPr kumimoji="1" lang="zh-CN" altLang="en-US" sz="19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301358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32</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graphicFrame>
        <p:nvGraphicFramePr>
          <p:cNvPr id="6" name="表格 5"/>
          <p:cNvGraphicFramePr>
            <a:graphicFrameLocks noGrp="1"/>
          </p:cNvGraphicFramePr>
          <p:nvPr>
            <p:extLst>
              <p:ext uri="{D42A27DB-BD31-4B8C-83A1-F6EECF244321}">
                <p14:modId xmlns:p14="http://schemas.microsoft.com/office/powerpoint/2010/main" val="4122570010"/>
              </p:ext>
            </p:extLst>
          </p:nvPr>
        </p:nvGraphicFramePr>
        <p:xfrm>
          <a:off x="103378" y="1824909"/>
          <a:ext cx="6826060" cy="647498"/>
        </p:xfrm>
        <a:graphic>
          <a:graphicData uri="http://schemas.openxmlformats.org/drawingml/2006/table">
            <a:tbl>
              <a:tblPr firstRow="1" firstCol="1" bandRow="1"/>
              <a:tblGrid>
                <a:gridCol w="1260000">
                  <a:extLst>
                    <a:ext uri="{9D8B030D-6E8A-4147-A177-3AD203B41FA5}">
                      <a16:colId xmlns:a16="http://schemas.microsoft.com/office/drawing/2014/main" val="1644727115"/>
                    </a:ext>
                  </a:extLst>
                </a:gridCol>
                <a:gridCol w="576064">
                  <a:extLst>
                    <a:ext uri="{9D8B030D-6E8A-4147-A177-3AD203B41FA5}">
                      <a16:colId xmlns:a16="http://schemas.microsoft.com/office/drawing/2014/main" val="4171433348"/>
                    </a:ext>
                  </a:extLst>
                </a:gridCol>
                <a:gridCol w="720080">
                  <a:extLst>
                    <a:ext uri="{9D8B030D-6E8A-4147-A177-3AD203B41FA5}">
                      <a16:colId xmlns:a16="http://schemas.microsoft.com/office/drawing/2014/main" val="1475643277"/>
                    </a:ext>
                  </a:extLst>
                </a:gridCol>
                <a:gridCol w="396044">
                  <a:extLst>
                    <a:ext uri="{9D8B030D-6E8A-4147-A177-3AD203B41FA5}">
                      <a16:colId xmlns:a16="http://schemas.microsoft.com/office/drawing/2014/main" val="2915243146"/>
                    </a:ext>
                  </a:extLst>
                </a:gridCol>
                <a:gridCol w="432048">
                  <a:extLst>
                    <a:ext uri="{9D8B030D-6E8A-4147-A177-3AD203B41FA5}">
                      <a16:colId xmlns:a16="http://schemas.microsoft.com/office/drawing/2014/main" val="3854326714"/>
                    </a:ext>
                  </a:extLst>
                </a:gridCol>
                <a:gridCol w="386344">
                  <a:extLst>
                    <a:ext uri="{9D8B030D-6E8A-4147-A177-3AD203B41FA5}">
                      <a16:colId xmlns:a16="http://schemas.microsoft.com/office/drawing/2014/main" val="1920398969"/>
                    </a:ext>
                  </a:extLst>
                </a:gridCol>
                <a:gridCol w="381935">
                  <a:extLst>
                    <a:ext uri="{9D8B030D-6E8A-4147-A177-3AD203B41FA5}">
                      <a16:colId xmlns:a16="http://schemas.microsoft.com/office/drawing/2014/main" val="3668583408"/>
                    </a:ext>
                  </a:extLst>
                </a:gridCol>
                <a:gridCol w="381935">
                  <a:extLst>
                    <a:ext uri="{9D8B030D-6E8A-4147-A177-3AD203B41FA5}">
                      <a16:colId xmlns:a16="http://schemas.microsoft.com/office/drawing/2014/main" val="1501664469"/>
                    </a:ext>
                  </a:extLst>
                </a:gridCol>
                <a:gridCol w="388386">
                  <a:extLst>
                    <a:ext uri="{9D8B030D-6E8A-4147-A177-3AD203B41FA5}">
                      <a16:colId xmlns:a16="http://schemas.microsoft.com/office/drawing/2014/main" val="4210671255"/>
                    </a:ext>
                  </a:extLst>
                </a:gridCol>
                <a:gridCol w="292903">
                  <a:extLst>
                    <a:ext uri="{9D8B030D-6E8A-4147-A177-3AD203B41FA5}">
                      <a16:colId xmlns:a16="http://schemas.microsoft.com/office/drawing/2014/main" val="1245139119"/>
                    </a:ext>
                  </a:extLst>
                </a:gridCol>
                <a:gridCol w="369032">
                  <a:extLst>
                    <a:ext uri="{9D8B030D-6E8A-4147-A177-3AD203B41FA5}">
                      <a16:colId xmlns:a16="http://schemas.microsoft.com/office/drawing/2014/main" val="1400991677"/>
                    </a:ext>
                  </a:extLst>
                </a:gridCol>
                <a:gridCol w="369032">
                  <a:extLst>
                    <a:ext uri="{9D8B030D-6E8A-4147-A177-3AD203B41FA5}">
                      <a16:colId xmlns:a16="http://schemas.microsoft.com/office/drawing/2014/main" val="1980173347"/>
                    </a:ext>
                  </a:extLst>
                </a:gridCol>
                <a:gridCol w="292903">
                  <a:extLst>
                    <a:ext uri="{9D8B030D-6E8A-4147-A177-3AD203B41FA5}">
                      <a16:colId xmlns:a16="http://schemas.microsoft.com/office/drawing/2014/main" val="1994828107"/>
                    </a:ext>
                  </a:extLst>
                </a:gridCol>
                <a:gridCol w="579354">
                  <a:extLst>
                    <a:ext uri="{9D8B030D-6E8A-4147-A177-3AD203B41FA5}">
                      <a16:colId xmlns:a16="http://schemas.microsoft.com/office/drawing/2014/main" val="2895744905"/>
                    </a:ext>
                  </a:extLst>
                </a:gridCol>
              </a:tblGrid>
              <a:tr h="323749">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AC</a:t>
                      </a:r>
                      <a:r>
                        <a:rPr lang="zh-CN" sz="1700" b="1" kern="100" dirty="0">
                          <a:solidFill>
                            <a:schemeClr val="tx1"/>
                          </a:solidFill>
                          <a:effectLst/>
                          <a:latin typeface="Times New Roman" panose="02020603050405020304" pitchFamily="18" charset="0"/>
                          <a:ea typeface="宋体" panose="02010600030101010101" pitchFamily="2" charset="-122"/>
                        </a:rPr>
                        <a:t>系数</a:t>
                      </a: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solidFill>
                            <a:schemeClr val="tx1"/>
                          </a:solidFill>
                          <a:effectLst/>
                          <a:latin typeface="Times New Roman" panose="02020603050405020304" pitchFamily="18" charset="0"/>
                          <a:ea typeface="宋体" panose="02010600030101010101" pitchFamily="2" charset="-122"/>
                        </a:rPr>
                        <a:t>15</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solidFill>
                            <a:schemeClr val="tx1"/>
                          </a:solidFill>
                          <a:effectLst/>
                          <a:latin typeface="Times New Roman" panose="02020603050405020304" pitchFamily="18" charset="0"/>
                          <a:ea typeface="宋体" panose="02010600030101010101" pitchFamily="2" charset="-122"/>
                        </a:rPr>
                        <a:t>16</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2</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dirty="0">
                          <a:solidFill>
                            <a:schemeClr val="tx1"/>
                          </a:solidFill>
                          <a:effectLst/>
                          <a:latin typeface="Times New Roman" panose="02020603050405020304" pitchFamily="18" charset="0"/>
                          <a:ea typeface="宋体" panose="02010600030101010101" pitchFamily="2" charset="-122"/>
                        </a:rPr>
                        <a:t>1</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2</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rPr>
                        <a:t>3</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rPr>
                        <a:t>3</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a:solidFill>
                            <a:schemeClr val="tx1"/>
                          </a:solidFill>
                          <a:effectLst/>
                          <a:latin typeface="Times New Roman" panose="02020603050405020304" pitchFamily="18" charset="0"/>
                          <a:ea typeface="宋体" panose="02010600030101010101" pitchFamily="2" charset="-122"/>
                        </a:rPr>
                        <a:t>2</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rPr>
                        <a:t>1</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a:solidFill>
                            <a:schemeClr val="tx1"/>
                          </a:solidFill>
                          <a:effectLst/>
                          <a:latin typeface="Times New Roman" panose="02020603050405020304" pitchFamily="18" charset="0"/>
                          <a:ea typeface="宋体" panose="02010600030101010101" pitchFamily="2" charset="-122"/>
                        </a:rPr>
                        <a:t>1</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lang="en-US" sz="1700" b="1" kern="100">
                          <a:solidFill>
                            <a:schemeClr val="tx1"/>
                          </a:solidFill>
                          <a:effectLst/>
                          <a:latin typeface="Times New Roman" panose="02020603050405020304" pitchFamily="18" charset="0"/>
                          <a:ea typeface="宋体" panose="02010600030101010101" pitchFamily="2" charset="-122"/>
                        </a:rPr>
                        <a:t>1</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rPr>
                        <a:t>1</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chemeClr val="tx1"/>
                          </a:solidFill>
                          <a:effectLst/>
                          <a:latin typeface="Times New Roman" panose="02020603050405020304" pitchFamily="18" charset="0"/>
                          <a:ea typeface="宋体" panose="02010600030101010101" pitchFamily="2" charset="-122"/>
                        </a:rPr>
                        <a:t>EOB</a:t>
                      </a:r>
                      <a:endParaRPr lang="zh-CN" sz="16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2949870"/>
                  </a:ext>
                </a:extLst>
              </a:tr>
              <a:tr h="323749">
                <a:tc>
                  <a:txBody>
                    <a:bodyPr/>
                    <a:lstStyle/>
                    <a:p>
                      <a:pPr algn="ctr">
                        <a:spcAft>
                          <a:spcPts val="0"/>
                        </a:spcAft>
                      </a:pPr>
                      <a:r>
                        <a:rPr lang="zh-CN" sz="1700" b="1" kern="100" dirty="0">
                          <a:solidFill>
                            <a:schemeClr val="tx1"/>
                          </a:solidFill>
                          <a:effectLst/>
                          <a:latin typeface="Times New Roman" panose="02020603050405020304" pitchFamily="18" charset="0"/>
                          <a:ea typeface="宋体" panose="02010600030101010101" pitchFamily="2" charset="-122"/>
                        </a:rPr>
                        <a:t>二进制码字</a:t>
                      </a: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0000</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rPr>
                        <a:t>01111</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rPr>
                        <a:t>10</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a:solidFill>
                            <a:schemeClr val="tx1"/>
                          </a:solidFill>
                          <a:effectLst/>
                          <a:latin typeface="Times New Roman" panose="02020603050405020304" pitchFamily="18" charset="0"/>
                          <a:ea typeface="宋体" panose="02010600030101010101" pitchFamily="2" charset="-122"/>
                        </a:rPr>
                        <a:t>0</a:t>
                      </a:r>
                      <a:endParaRPr lang="zh-CN" sz="1700" b="1" kern="10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10</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11</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11 </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01</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1</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0</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0</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1</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700" b="1" kern="100" dirty="0">
                          <a:solidFill>
                            <a:schemeClr val="tx1"/>
                          </a:solidFill>
                          <a:effectLst/>
                          <a:latin typeface="Times New Roman" panose="02020603050405020304" pitchFamily="18" charset="0"/>
                          <a:ea typeface="宋体" panose="02010600030101010101" pitchFamily="2" charset="-122"/>
                        </a:rPr>
                        <a:t>1010</a:t>
                      </a:r>
                      <a:endParaRPr lang="zh-CN" sz="1700" b="1"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4959152"/>
                  </a:ext>
                </a:extLst>
              </a:tr>
            </a:tbl>
          </a:graphicData>
        </a:graphic>
      </p:graphicFrame>
      <p:sp>
        <p:nvSpPr>
          <p:cNvPr id="7" name="文本框 6"/>
          <p:cNvSpPr txBox="1"/>
          <p:nvPr/>
        </p:nvSpPr>
        <p:spPr>
          <a:xfrm>
            <a:off x="416223" y="2723576"/>
            <a:ext cx="6055305" cy="1569660"/>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en-US" altLang="zh-CN" dirty="0">
                <a:solidFill>
                  <a:srgbClr val="C00000"/>
                </a:solidFill>
                <a:ea typeface="楷体" panose="02010609060101010101" pitchFamily="49" charset="-122"/>
                <a:cs typeface="Times New Roman" panose="02020603050405020304" pitchFamily="18" charset="0"/>
              </a:rPr>
              <a:t>AC</a:t>
            </a:r>
            <a:r>
              <a:rPr lang="zh-CN" altLang="zh-CN" dirty="0">
                <a:solidFill>
                  <a:srgbClr val="C00000"/>
                </a:solidFill>
                <a:ea typeface="楷体" panose="02010609060101010101" pitchFamily="49" charset="-122"/>
                <a:cs typeface="Times New Roman" panose="02020603050405020304" pitchFamily="18" charset="0"/>
              </a:rPr>
              <a:t>系数的编码输出为</a:t>
            </a:r>
            <a:r>
              <a:rPr lang="zh-CN" altLang="zh-CN" dirty="0">
                <a:ea typeface="楷体" panose="02010609060101010101" pitchFamily="49" charset="-122"/>
                <a:cs typeface="Times New Roman" panose="02020603050405020304" pitchFamily="18" charset="0"/>
              </a:rPr>
              <a:t>：</a:t>
            </a:r>
            <a:endParaRPr lang="en-US" altLang="zh-CN" dirty="0">
              <a:ea typeface="楷体" panose="02010609060101010101" pitchFamily="49" charset="-122"/>
              <a:cs typeface="Times New Roman" panose="02020603050405020304" pitchFamily="18" charset="0"/>
            </a:endParaRPr>
          </a:p>
          <a:p>
            <a:r>
              <a:rPr lang="en-US" altLang="zh-CN" dirty="0">
                <a:ea typeface="楷体" panose="02010609060101010101" pitchFamily="49" charset="-122"/>
                <a:cs typeface="Times New Roman" panose="02020603050405020304" pitchFamily="18" charset="0"/>
              </a:rPr>
              <a:t>    10110000 1101001111 0110 11000 0110 0111    </a:t>
            </a:r>
            <a:br>
              <a:rPr lang="en-US" altLang="zh-CN" dirty="0">
                <a:ea typeface="楷体" panose="02010609060101010101" pitchFamily="49" charset="-122"/>
                <a:cs typeface="Times New Roman" panose="02020603050405020304" pitchFamily="18" charset="0"/>
              </a:rPr>
            </a:br>
            <a:r>
              <a:rPr lang="en-US" altLang="zh-CN" dirty="0">
                <a:ea typeface="楷体" panose="02010609060101010101" pitchFamily="49" charset="-122"/>
                <a:cs typeface="Times New Roman" panose="02020603050405020304" pitchFamily="18" charset="0"/>
              </a:rPr>
              <a:t>    0111 1111100101 001 11000 111000 11001 </a:t>
            </a:r>
            <a:br>
              <a:rPr lang="en-US" altLang="zh-CN" dirty="0">
                <a:ea typeface="楷体" panose="02010609060101010101" pitchFamily="49" charset="-122"/>
                <a:cs typeface="Times New Roman" panose="02020603050405020304" pitchFamily="18" charset="0"/>
              </a:rPr>
            </a:br>
            <a:r>
              <a:rPr lang="en-US" altLang="zh-CN" dirty="0">
                <a:ea typeface="楷体" panose="02010609060101010101" pitchFamily="49" charset="-122"/>
                <a:cs typeface="Times New Roman" panose="02020603050405020304" pitchFamily="18" charset="0"/>
              </a:rPr>
              <a:t>    1010</a:t>
            </a:r>
            <a:endParaRPr lang="zh-CN" altLang="en-US" dirty="0">
              <a:ea typeface="楷体" panose="02010609060101010101" pitchFamily="49" charset="-122"/>
              <a:cs typeface="Times New Roman" panose="02020603050405020304" pitchFamily="18" charset="0"/>
            </a:endParaRPr>
          </a:p>
        </p:txBody>
      </p:sp>
      <p:sp>
        <p:nvSpPr>
          <p:cNvPr id="8" name="矩形 7"/>
          <p:cNvSpPr/>
          <p:nvPr/>
        </p:nvSpPr>
        <p:spPr>
          <a:xfrm>
            <a:off x="677487" y="1180284"/>
            <a:ext cx="2026517" cy="430887"/>
          </a:xfrm>
          <a:prstGeom prst="rect">
            <a:avLst/>
          </a:prstGeom>
        </p:spPr>
        <p:txBody>
          <a:bodyPr wrap="none">
            <a:spAutoFit/>
          </a:bodyPr>
          <a:lstStyle/>
          <a:p>
            <a:pPr marL="342900" indent="-342900">
              <a:spcBef>
                <a:spcPts val="300"/>
              </a:spcBef>
              <a:buClr>
                <a:srgbClr val="7030A0"/>
              </a:buClr>
              <a:buSzPct val="75000"/>
              <a:buFont typeface="Wingdings" panose="05000000000000000000" pitchFamily="2" charset="2"/>
              <a:buChar char="Ø"/>
            </a:pPr>
            <a:r>
              <a:rPr lang="zh-CN" altLang="en-US" sz="2200" dirty="0">
                <a:solidFill>
                  <a:srgbClr val="0000CC"/>
                </a:solidFill>
                <a:ea typeface="楷体" panose="02010609060101010101" pitchFamily="49" charset="-122"/>
                <a:cs typeface="Times New Roman" panose="02020603050405020304" pitchFamily="18" charset="0"/>
              </a:rPr>
              <a:t>尾码</a:t>
            </a:r>
            <a:r>
              <a:rPr lang="zh-CN" altLang="zh-CN" sz="2200" dirty="0">
                <a:solidFill>
                  <a:srgbClr val="0000CC"/>
                </a:solidFill>
                <a:ea typeface="楷体" panose="02010609060101010101" pitchFamily="49" charset="-122"/>
                <a:cs typeface="Times New Roman" panose="02020603050405020304" pitchFamily="18" charset="0"/>
              </a:rPr>
              <a:t>的编码</a:t>
            </a:r>
            <a:endParaRPr lang="zh-CN" altLang="en-US" sz="2200" dirty="0">
              <a:solidFill>
                <a:srgbClr val="0000CC"/>
              </a:solidFill>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866930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33</a:t>
            </a:fld>
            <a:endParaRPr lang="en-US" altLang="zh-CN"/>
          </a:p>
        </p:txBody>
      </p:sp>
      <p:sp>
        <p:nvSpPr>
          <p:cNvPr id="3" name="矩形 2"/>
          <p:cNvSpPr/>
          <p:nvPr/>
        </p:nvSpPr>
        <p:spPr>
          <a:xfrm>
            <a:off x="419872" y="1176263"/>
            <a:ext cx="6153035" cy="1608133"/>
          </a:xfrm>
          <a:prstGeom prst="rect">
            <a:avLst/>
          </a:prstGeom>
        </p:spPr>
        <p:txBody>
          <a:bodyPr wrap="square">
            <a:spAutoFit/>
          </a:bodyPr>
          <a:lstStyle/>
          <a:p>
            <a:pPr marL="342900" lvl="0" indent="-342900" algn="just">
              <a:spcBef>
                <a:spcPts val="300"/>
              </a:spcBef>
              <a:buClr>
                <a:srgbClr val="7030A0"/>
              </a:buClr>
              <a:buSzPct val="75000"/>
              <a:buFont typeface="Wingdings" panose="05000000000000000000" pitchFamily="2" charset="2"/>
              <a:buChar char="n"/>
            </a:pPr>
            <a:r>
              <a:rPr lang="zh-CN" altLang="zh-CN" dirty="0">
                <a:solidFill>
                  <a:srgbClr val="000000"/>
                </a:solidFill>
                <a:ea typeface="楷体" panose="02010609060101010101" pitchFamily="49" charset="-122"/>
                <a:cs typeface="Times New Roman" panose="02020603050405020304" pitchFamily="18" charset="0"/>
              </a:rPr>
              <a:t>量化</a:t>
            </a:r>
            <a:r>
              <a:rPr lang="en-US" altLang="zh-CN" dirty="0">
                <a:solidFill>
                  <a:srgbClr val="000000"/>
                </a:solidFill>
                <a:ea typeface="楷体" panose="02010609060101010101" pitchFamily="49" charset="-122"/>
                <a:cs typeface="Times New Roman" panose="02020603050405020304" pitchFamily="18" charset="0"/>
              </a:rPr>
              <a:t>DCT</a:t>
            </a:r>
            <a:r>
              <a:rPr lang="zh-CN" altLang="zh-CN" dirty="0">
                <a:solidFill>
                  <a:srgbClr val="000000"/>
                </a:solidFill>
                <a:ea typeface="楷体" panose="02010609060101010101" pitchFamily="49" charset="-122"/>
                <a:cs typeface="Times New Roman" panose="02020603050405020304" pitchFamily="18" charset="0"/>
              </a:rPr>
              <a:t>系数矩阵的</a:t>
            </a:r>
            <a:r>
              <a:rPr lang="zh-CN" altLang="zh-CN" dirty="0">
                <a:solidFill>
                  <a:srgbClr val="C00000"/>
                </a:solidFill>
                <a:ea typeface="楷体" panose="02010609060101010101" pitchFamily="49" charset="-122"/>
                <a:cs typeface="Times New Roman" panose="02020603050405020304" pitchFamily="18" charset="0"/>
              </a:rPr>
              <a:t>总的熵编码输出</a:t>
            </a:r>
            <a:r>
              <a:rPr lang="zh-CN" altLang="zh-CN" dirty="0">
                <a:solidFill>
                  <a:srgbClr val="000000"/>
                </a:solidFill>
                <a:ea typeface="楷体" panose="02010609060101010101" pitchFamily="49" charset="-122"/>
                <a:cs typeface="Times New Roman" panose="02020603050405020304" pitchFamily="18" charset="0"/>
              </a:rPr>
              <a:t>为</a:t>
            </a:r>
            <a:r>
              <a:rPr lang="en-US" altLang="zh-CN" dirty="0">
                <a:solidFill>
                  <a:srgbClr val="000000"/>
                </a:solidFill>
                <a:ea typeface="楷体" panose="02010609060101010101" pitchFamily="49" charset="-122"/>
                <a:cs typeface="Times New Roman" panose="02020603050405020304" pitchFamily="18" charset="0"/>
              </a:rPr>
              <a:t>:</a:t>
            </a:r>
            <a:endParaRPr lang="zh-CN" altLang="zh-CN" dirty="0">
              <a:solidFill>
                <a:srgbClr val="000000"/>
              </a:solidFill>
              <a:ea typeface="楷体" panose="02010609060101010101" pitchFamily="49" charset="-122"/>
              <a:cs typeface="Times New Roman" panose="02020603050405020304" pitchFamily="18" charset="0"/>
            </a:endParaRPr>
          </a:p>
          <a:p>
            <a:pPr lvl="0" algn="just">
              <a:spcBef>
                <a:spcPts val="300"/>
              </a:spcBef>
            </a:pPr>
            <a:r>
              <a:rPr lang="en-US" altLang="zh-CN" dirty="0">
                <a:solidFill>
                  <a:srgbClr val="000000"/>
                </a:solidFill>
                <a:ea typeface="楷体" panose="02010609060101010101" pitchFamily="49" charset="-122"/>
                <a:cs typeface="Times New Roman" panose="02020603050405020304" pitchFamily="18" charset="0"/>
              </a:rPr>
              <a:t>100010 10110000 1101001111 0110 11000 0110 0111 0111 1111100101 001 11000 111000 11001 1010</a:t>
            </a:r>
            <a:endParaRPr lang="zh-CN" altLang="zh-CN" dirty="0">
              <a:solidFill>
                <a:srgbClr val="000000"/>
              </a:solidFill>
              <a:ea typeface="楷体" panose="02010609060101010101" pitchFamily="49" charset="-122"/>
              <a:cs typeface="Times New Roman" panose="02020603050405020304" pitchFamily="18" charset="0"/>
            </a:endParaRPr>
          </a:p>
        </p:txBody>
      </p:sp>
      <p:sp>
        <p:nvSpPr>
          <p:cNvPr id="4"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a:t>
            </a:r>
            <a:r>
              <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基本系统</a:t>
            </a:r>
          </a:p>
        </p:txBody>
      </p:sp>
      <p:sp>
        <p:nvSpPr>
          <p:cNvPr id="5"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a:t>
            </a: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标准和</a:t>
            </a: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JPEG2000</a:t>
            </a:r>
            <a:endPar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endParaRPr>
          </a:p>
        </p:txBody>
      </p:sp>
      <p:sp>
        <p:nvSpPr>
          <p:cNvPr id="6" name="文本框 5"/>
          <p:cNvSpPr txBox="1"/>
          <p:nvPr/>
        </p:nvSpPr>
        <p:spPr>
          <a:xfrm>
            <a:off x="429830" y="2860975"/>
            <a:ext cx="6390503" cy="830997"/>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zh-CN" altLang="zh-CN" dirty="0">
                <a:ea typeface="楷体" panose="02010609060101010101" pitchFamily="49" charset="-122"/>
                <a:cs typeface="Times New Roman" panose="02020603050405020304" pitchFamily="18" charset="0"/>
              </a:rPr>
              <a:t>编码前总比特数为</a:t>
            </a:r>
            <a:r>
              <a:rPr lang="en-US" altLang="zh-CN" dirty="0">
                <a:ea typeface="楷体" panose="02010609060101010101" pitchFamily="49" charset="-122"/>
                <a:cs typeface="Times New Roman" panose="02020603050405020304" pitchFamily="18" charset="0"/>
              </a:rPr>
              <a:t>8</a:t>
            </a:r>
            <a:r>
              <a:rPr lang="en-US" altLang="zh-CN" dirty="0">
                <a:ea typeface="楷体" panose="02010609060101010101" pitchFamily="49" charset="-122"/>
                <a:cs typeface="Times New Roman" panose="02020603050405020304" pitchFamily="18" charset="0"/>
                <a:sym typeface="Symbol" panose="05050102010706020507" pitchFamily="18" charset="2"/>
              </a:rPr>
              <a:t></a:t>
            </a:r>
            <a:r>
              <a:rPr lang="en-US" altLang="zh-CN" dirty="0">
                <a:ea typeface="楷体" panose="02010609060101010101" pitchFamily="49" charset="-122"/>
                <a:cs typeface="Times New Roman" panose="02020603050405020304" pitchFamily="18" charset="0"/>
              </a:rPr>
              <a:t>8</a:t>
            </a:r>
            <a:r>
              <a:rPr lang="en-US" altLang="zh-CN" dirty="0">
                <a:ea typeface="楷体" panose="02010609060101010101" pitchFamily="49" charset="-122"/>
                <a:cs typeface="Times New Roman" panose="02020603050405020304" pitchFamily="18" charset="0"/>
                <a:sym typeface="Symbol" panose="05050102010706020507" pitchFamily="18" charset="2"/>
              </a:rPr>
              <a:t></a:t>
            </a:r>
            <a:r>
              <a:rPr lang="en-US" altLang="zh-CN" dirty="0">
                <a:ea typeface="楷体" panose="02010609060101010101" pitchFamily="49" charset="-122"/>
                <a:cs typeface="Times New Roman" panose="02020603050405020304" pitchFamily="18" charset="0"/>
              </a:rPr>
              <a:t>8=512bit</a:t>
            </a:r>
          </a:p>
          <a:p>
            <a:pPr marL="342900" indent="-342900">
              <a:buClr>
                <a:srgbClr val="7030A0"/>
              </a:buClr>
              <a:buSzPct val="75000"/>
              <a:buFont typeface="Wingdings" panose="05000000000000000000" pitchFamily="2" charset="2"/>
              <a:buChar char="n"/>
            </a:pPr>
            <a:r>
              <a:rPr lang="zh-CN" altLang="zh-CN" dirty="0">
                <a:ea typeface="楷体" panose="02010609060101010101" pitchFamily="49" charset="-122"/>
                <a:cs typeface="Times New Roman" panose="02020603050405020304" pitchFamily="18" charset="0"/>
              </a:rPr>
              <a:t>编码后总比特数为</a:t>
            </a:r>
            <a:r>
              <a:rPr lang="en-US" altLang="zh-CN" dirty="0">
                <a:ea typeface="楷体" panose="02010609060101010101" pitchFamily="49" charset="-122"/>
                <a:cs typeface="Times New Roman" panose="02020603050405020304" pitchFamily="18" charset="0"/>
              </a:rPr>
              <a:t>78bit</a:t>
            </a:r>
            <a:endParaRPr lang="zh-CN" altLang="en-US" dirty="0">
              <a:ea typeface="楷体" panose="02010609060101010101" pitchFamily="49" charset="-122"/>
              <a:cs typeface="Times New Roman" panose="02020603050405020304" pitchFamily="18" charset="0"/>
            </a:endParaRPr>
          </a:p>
        </p:txBody>
      </p:sp>
      <p:sp>
        <p:nvSpPr>
          <p:cNvPr id="7" name="文本框 6"/>
          <p:cNvSpPr txBox="1"/>
          <p:nvPr/>
        </p:nvSpPr>
        <p:spPr>
          <a:xfrm>
            <a:off x="1064295" y="4163067"/>
            <a:ext cx="1260140" cy="461665"/>
          </a:xfrm>
          <a:prstGeom prst="rect">
            <a:avLst/>
          </a:prstGeom>
          <a:noFill/>
        </p:spPr>
        <p:txBody>
          <a:bodyPr wrap="square" rtlCol="0">
            <a:spAutoFit/>
          </a:bodyPr>
          <a:lstStyle/>
          <a:p>
            <a:r>
              <a:rPr lang="zh-CN" altLang="en-US" dirty="0">
                <a:ea typeface="楷体" panose="02010609060101010101" pitchFamily="49" charset="-122"/>
                <a:cs typeface="Times New Roman" panose="02020603050405020304" pitchFamily="18" charset="0"/>
              </a:rPr>
              <a:t>压缩比</a:t>
            </a:r>
          </a:p>
        </p:txBody>
      </p:sp>
      <p:graphicFrame>
        <p:nvGraphicFramePr>
          <p:cNvPr id="9" name="对象 8"/>
          <p:cNvGraphicFramePr>
            <a:graphicFrameLocks noChangeAspect="1"/>
          </p:cNvGraphicFramePr>
          <p:nvPr>
            <p:extLst>
              <p:ext uri="{D42A27DB-BD31-4B8C-83A1-F6EECF244321}">
                <p14:modId xmlns:p14="http://schemas.microsoft.com/office/powerpoint/2010/main" val="1112135863"/>
              </p:ext>
            </p:extLst>
          </p:nvPr>
        </p:nvGraphicFramePr>
        <p:xfrm>
          <a:off x="2324435" y="4005770"/>
          <a:ext cx="1814822" cy="781631"/>
        </p:xfrm>
        <a:graphic>
          <a:graphicData uri="http://schemas.openxmlformats.org/presentationml/2006/ole">
            <mc:AlternateContent xmlns:mc="http://schemas.openxmlformats.org/markup-compatibility/2006">
              <mc:Choice xmlns:v="urn:schemas-microsoft-com:vml" Requires="v">
                <p:oleObj name="Equation" r:id="rId2" imgW="939600" imgH="406080" progId="Equation.DSMT4">
                  <p:embed/>
                </p:oleObj>
              </mc:Choice>
              <mc:Fallback>
                <p:oleObj name="Equation" r:id="rId2" imgW="939600" imgH="406080" progId="Equation.DSMT4">
                  <p:embed/>
                  <p:pic>
                    <p:nvPicPr>
                      <p:cNvPr id="0" name="Object 1"/>
                      <p:cNvPicPr>
                        <a:picLocks noChangeAspect="1" noChangeArrowheads="1"/>
                      </p:cNvPicPr>
                      <p:nvPr/>
                    </p:nvPicPr>
                    <p:blipFill>
                      <a:blip r:embed="rId3"/>
                      <a:srcRect/>
                      <a:stretch>
                        <a:fillRect/>
                      </a:stretch>
                    </p:blipFill>
                    <p:spPr bwMode="auto">
                      <a:xfrm>
                        <a:off x="2324435" y="4005770"/>
                        <a:ext cx="1814822" cy="781631"/>
                      </a:xfrm>
                      <a:prstGeom prst="rect">
                        <a:avLst/>
                      </a:prstGeom>
                      <a:noFill/>
                    </p:spPr>
                  </p:pic>
                </p:oleObj>
              </mc:Fallback>
            </mc:AlternateContent>
          </a:graphicData>
        </a:graphic>
      </p:graphicFrame>
      <p:cxnSp>
        <p:nvCxnSpPr>
          <p:cNvPr id="10" name="直接连接符 9">
            <a:extLst>
              <a:ext uri="{FF2B5EF4-FFF2-40B4-BE49-F238E27FC236}">
                <a16:creationId xmlns:a16="http://schemas.microsoft.com/office/drawing/2014/main" id="{22291C79-65BA-32CE-0597-62605E17D36E}"/>
              </a:ext>
            </a:extLst>
          </p:cNvPr>
          <p:cNvCxnSpPr/>
          <p:nvPr/>
        </p:nvCxnSpPr>
        <p:spPr bwMode="auto">
          <a:xfrm>
            <a:off x="560239" y="1968351"/>
            <a:ext cx="864096" cy="0"/>
          </a:xfrm>
          <a:prstGeom prst="line">
            <a:avLst/>
          </a:prstGeom>
          <a:solidFill>
            <a:schemeClr val="accent1"/>
          </a:solidFill>
          <a:ln w="28575" cap="flat" cmpd="sng" algn="ctr">
            <a:solidFill>
              <a:schemeClr val="bg2"/>
            </a:solidFill>
            <a:prstDash val="solid"/>
            <a:round/>
            <a:headEnd type="none" w="med" len="med"/>
            <a:tailEnd type="none" w="med" len="med"/>
          </a:ln>
          <a:effectLst/>
        </p:spPr>
      </p:cxnSp>
      <p:sp>
        <p:nvSpPr>
          <p:cNvPr id="11" name="文本框 10">
            <a:extLst>
              <a:ext uri="{FF2B5EF4-FFF2-40B4-BE49-F238E27FC236}">
                <a16:creationId xmlns:a16="http://schemas.microsoft.com/office/drawing/2014/main" id="{CA018683-121B-2C5D-9F58-D7E8FE04FF78}"/>
              </a:ext>
            </a:extLst>
          </p:cNvPr>
          <p:cNvSpPr txBox="1"/>
          <p:nvPr/>
        </p:nvSpPr>
        <p:spPr>
          <a:xfrm>
            <a:off x="85442" y="1739109"/>
            <a:ext cx="518091" cy="369332"/>
          </a:xfrm>
          <a:prstGeom prst="rect">
            <a:avLst/>
          </a:prstGeom>
          <a:noFill/>
        </p:spPr>
        <p:txBody>
          <a:bodyPr wrap="none" rtlCol="0">
            <a:spAutoFit/>
          </a:bodyPr>
          <a:lstStyle/>
          <a:p>
            <a:r>
              <a:rPr lang="en-US" altLang="zh-CN" sz="1800" dirty="0">
                <a:solidFill>
                  <a:schemeClr val="bg2"/>
                </a:solidFill>
              </a:rPr>
              <a:t>DC</a:t>
            </a:r>
            <a:endParaRPr lang="zh-CN" altLang="en-US" sz="1800" dirty="0">
              <a:solidFill>
                <a:schemeClr val="bg2"/>
              </a:solidFill>
            </a:endParaRPr>
          </a:p>
        </p:txBody>
      </p:sp>
      <p:cxnSp>
        <p:nvCxnSpPr>
          <p:cNvPr id="12" name="直接连接符 11">
            <a:extLst>
              <a:ext uri="{FF2B5EF4-FFF2-40B4-BE49-F238E27FC236}">
                <a16:creationId xmlns:a16="http://schemas.microsoft.com/office/drawing/2014/main" id="{EDF37AF3-B9CD-30EC-E965-04B8E7E58FB7}"/>
              </a:ext>
            </a:extLst>
          </p:cNvPr>
          <p:cNvCxnSpPr>
            <a:cxnSpLocks/>
            <a:endCxn id="3" idx="3"/>
          </p:cNvCxnSpPr>
          <p:nvPr/>
        </p:nvCxnSpPr>
        <p:spPr bwMode="auto">
          <a:xfrm>
            <a:off x="1544905" y="1960854"/>
            <a:ext cx="5028002" cy="19476"/>
          </a:xfrm>
          <a:prstGeom prst="line">
            <a:avLst/>
          </a:prstGeom>
          <a:solidFill>
            <a:schemeClr val="accent1"/>
          </a:solidFill>
          <a:ln w="28575" cap="flat" cmpd="sng" algn="ctr">
            <a:solidFill>
              <a:schemeClr val="accent2">
                <a:lumMod val="60000"/>
                <a:lumOff val="40000"/>
              </a:schemeClr>
            </a:solidFill>
            <a:prstDash val="solid"/>
            <a:round/>
            <a:headEnd type="none" w="med" len="med"/>
            <a:tailEnd type="none" w="med" len="med"/>
          </a:ln>
          <a:effectLst/>
        </p:spPr>
      </p:cxnSp>
      <p:sp>
        <p:nvSpPr>
          <p:cNvPr id="13" name="文本框 12">
            <a:extLst>
              <a:ext uri="{FF2B5EF4-FFF2-40B4-BE49-F238E27FC236}">
                <a16:creationId xmlns:a16="http://schemas.microsoft.com/office/drawing/2014/main" id="{976DDA34-A571-8E5D-215C-379A77F03C42}"/>
              </a:ext>
            </a:extLst>
          </p:cNvPr>
          <p:cNvSpPr txBox="1"/>
          <p:nvPr/>
        </p:nvSpPr>
        <p:spPr>
          <a:xfrm>
            <a:off x="6490232" y="1619087"/>
            <a:ext cx="518091" cy="369332"/>
          </a:xfrm>
          <a:prstGeom prst="rect">
            <a:avLst/>
          </a:prstGeom>
          <a:noFill/>
        </p:spPr>
        <p:txBody>
          <a:bodyPr wrap="none" rtlCol="0">
            <a:spAutoFit/>
          </a:bodyPr>
          <a:lstStyle/>
          <a:p>
            <a:r>
              <a:rPr lang="en-US" altLang="zh-CN" sz="1800" dirty="0">
                <a:solidFill>
                  <a:schemeClr val="accent2">
                    <a:lumMod val="60000"/>
                    <a:lumOff val="40000"/>
                  </a:schemeClr>
                </a:solidFill>
              </a:rPr>
              <a:t>AC</a:t>
            </a:r>
            <a:endParaRPr lang="zh-CN" altLang="en-US" sz="1800" dirty="0">
              <a:solidFill>
                <a:schemeClr val="accent2">
                  <a:lumMod val="60000"/>
                  <a:lumOff val="40000"/>
                </a:schemeClr>
              </a:solidFill>
            </a:endParaRPr>
          </a:p>
        </p:txBody>
      </p:sp>
      <p:cxnSp>
        <p:nvCxnSpPr>
          <p:cNvPr id="15" name="直接连接符 14">
            <a:extLst>
              <a:ext uri="{FF2B5EF4-FFF2-40B4-BE49-F238E27FC236}">
                <a16:creationId xmlns:a16="http://schemas.microsoft.com/office/drawing/2014/main" id="{4DB13F1B-1D70-B6D6-7BDC-761D9B82F369}"/>
              </a:ext>
            </a:extLst>
          </p:cNvPr>
          <p:cNvCxnSpPr>
            <a:cxnSpLocks/>
          </p:cNvCxnSpPr>
          <p:nvPr/>
        </p:nvCxnSpPr>
        <p:spPr bwMode="auto">
          <a:xfrm>
            <a:off x="513384" y="2328391"/>
            <a:ext cx="5966009" cy="0"/>
          </a:xfrm>
          <a:prstGeom prst="line">
            <a:avLst/>
          </a:prstGeom>
          <a:solidFill>
            <a:schemeClr val="accent1"/>
          </a:solidFill>
          <a:ln w="28575" cap="flat" cmpd="sng" algn="ctr">
            <a:solidFill>
              <a:schemeClr val="accent2">
                <a:lumMod val="60000"/>
                <a:lumOff val="40000"/>
              </a:schemeClr>
            </a:solidFill>
            <a:prstDash val="solid"/>
            <a:round/>
            <a:headEnd type="none" w="med" len="med"/>
            <a:tailEnd type="none" w="med" len="med"/>
          </a:ln>
          <a:effectLst/>
        </p:spPr>
      </p:cxnSp>
      <p:cxnSp>
        <p:nvCxnSpPr>
          <p:cNvPr id="17" name="直接连接符 16">
            <a:extLst>
              <a:ext uri="{FF2B5EF4-FFF2-40B4-BE49-F238E27FC236}">
                <a16:creationId xmlns:a16="http://schemas.microsoft.com/office/drawing/2014/main" id="{D5FE5549-6783-F524-9C6A-8B33CB4A49AA}"/>
              </a:ext>
            </a:extLst>
          </p:cNvPr>
          <p:cNvCxnSpPr>
            <a:cxnSpLocks/>
          </p:cNvCxnSpPr>
          <p:nvPr/>
        </p:nvCxnSpPr>
        <p:spPr bwMode="auto">
          <a:xfrm>
            <a:off x="437992" y="2688431"/>
            <a:ext cx="879121" cy="0"/>
          </a:xfrm>
          <a:prstGeom prst="line">
            <a:avLst/>
          </a:prstGeom>
          <a:solidFill>
            <a:schemeClr val="accent1"/>
          </a:solidFill>
          <a:ln w="28575" cap="flat" cmpd="sng" algn="ctr">
            <a:solidFill>
              <a:schemeClr val="accent2">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39632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250"/>
                                        <p:tgtEl>
                                          <p:spTgt spid="1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left)">
                                      <p:cBhvr>
                                        <p:cTn id="14" dur="250"/>
                                        <p:tgtEl>
                                          <p:spTgt spid="12"/>
                                        </p:tgtEl>
                                      </p:cBhvr>
                                    </p:animEffect>
                                  </p:childTnLst>
                                </p:cTn>
                              </p:par>
                            </p:childTnLst>
                          </p:cTn>
                        </p:par>
                        <p:par>
                          <p:cTn id="15" fill="hold">
                            <p:stCondLst>
                              <p:cond delay="250"/>
                            </p:stCondLst>
                            <p:childTnLst>
                              <p:par>
                                <p:cTn id="16" presetID="22" presetClass="entr" presetSubtype="8" fill="hold"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250"/>
                                        <p:tgtEl>
                                          <p:spTgt spid="15"/>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250"/>
                                        <p:tgtEl>
                                          <p:spTgt spid="17"/>
                                        </p:tgtEl>
                                      </p:cBhvr>
                                    </p:animEffect>
                                  </p:childTnLst>
                                </p:cTn>
                              </p:par>
                            </p:childTnLst>
                          </p:cTn>
                        </p:par>
                        <p:par>
                          <p:cTn id="23" fill="hold">
                            <p:stCondLst>
                              <p:cond delay="750"/>
                            </p:stCondLst>
                            <p:childTnLst>
                              <p:par>
                                <p:cTn id="24" presetID="1" presetClass="entr" presetSubtype="0"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34</a:t>
            </a:fld>
            <a:endParaRPr lang="en-US" altLang="zh-CN"/>
          </a:p>
        </p:txBody>
      </p:sp>
      <p:sp>
        <p:nvSpPr>
          <p:cNvPr id="4"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JPEG2000</a:t>
            </a:r>
            <a:endPar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a:t>
            </a: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标准和</a:t>
            </a: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JPEG2000</a:t>
            </a:r>
            <a:endPar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endParaRPr>
          </a:p>
        </p:txBody>
      </p:sp>
      <p:sp>
        <p:nvSpPr>
          <p:cNvPr id="14" name="文本框 13"/>
          <p:cNvSpPr txBox="1"/>
          <p:nvPr/>
        </p:nvSpPr>
        <p:spPr>
          <a:xfrm>
            <a:off x="452227" y="1356283"/>
            <a:ext cx="6192688" cy="2118529"/>
          </a:xfrm>
          <a:prstGeom prst="rect">
            <a:avLst/>
          </a:prstGeom>
          <a:noFill/>
        </p:spPr>
        <p:txBody>
          <a:bodyPr wrap="square" rtlCol="0">
            <a:spAutoFit/>
          </a:bodyPr>
          <a:lstStyle/>
          <a:p>
            <a:pPr marL="342900" indent="-342900" algn="just">
              <a:spcBef>
                <a:spcPts val="800"/>
              </a:spcBef>
              <a:spcAft>
                <a:spcPts val="600"/>
              </a:spcAft>
              <a:buClr>
                <a:srgbClr val="7030A0"/>
              </a:buClr>
              <a:buSzPct val="75000"/>
              <a:buFont typeface="Wingdings" panose="05000000000000000000" pitchFamily="2" charset="2"/>
              <a:buChar char="n"/>
            </a:pPr>
            <a:r>
              <a:rPr lang="en-US" altLang="zh-CN" dirty="0">
                <a:ea typeface="楷体" panose="02010609060101010101" pitchFamily="49" charset="-122"/>
                <a:cs typeface="Times New Roman" panose="02020603050405020304" pitchFamily="18" charset="0"/>
              </a:rPr>
              <a:t>JPEG2000</a:t>
            </a:r>
            <a:r>
              <a:rPr lang="zh-CN" altLang="zh-CN" dirty="0">
                <a:ea typeface="楷体" panose="02010609060101010101" pitchFamily="49" charset="-122"/>
                <a:cs typeface="Times New Roman" panose="02020603050405020304" pitchFamily="18" charset="0"/>
              </a:rPr>
              <a:t>是</a:t>
            </a:r>
            <a:r>
              <a:rPr lang="en-US" altLang="zh-CN" dirty="0">
                <a:ea typeface="楷体" panose="02010609060101010101" pitchFamily="49" charset="-122"/>
                <a:cs typeface="Times New Roman" panose="02020603050405020304" pitchFamily="18" charset="0"/>
              </a:rPr>
              <a:t>JPEG</a:t>
            </a:r>
            <a:r>
              <a:rPr lang="zh-CN" altLang="zh-CN" dirty="0">
                <a:ea typeface="楷体" panose="02010609060101010101" pitchFamily="49" charset="-122"/>
                <a:cs typeface="Times New Roman" panose="02020603050405020304" pitchFamily="18" charset="0"/>
              </a:rPr>
              <a:t>工作组制定的新的静止图像压缩编码的国际标准</a:t>
            </a:r>
            <a:r>
              <a:rPr lang="zh-CN" altLang="en-US" dirty="0">
                <a:ea typeface="楷体" panose="02010609060101010101" pitchFamily="49" charset="-122"/>
                <a:cs typeface="Times New Roman" panose="02020603050405020304" pitchFamily="18" charset="0"/>
              </a:rPr>
              <a:t>；</a:t>
            </a:r>
            <a:endParaRPr lang="en-US" altLang="zh-CN" dirty="0">
              <a:ea typeface="楷体" panose="02010609060101010101" pitchFamily="49" charset="-122"/>
              <a:cs typeface="Times New Roman" panose="02020603050405020304" pitchFamily="18" charset="0"/>
            </a:endParaRPr>
          </a:p>
          <a:p>
            <a:pPr marL="342900" indent="-342900" algn="just">
              <a:spcBef>
                <a:spcPts val="800"/>
              </a:spcBef>
              <a:spcAft>
                <a:spcPts val="600"/>
              </a:spcAft>
              <a:buClr>
                <a:srgbClr val="7030A0"/>
              </a:buClr>
              <a:buSzPct val="75000"/>
              <a:buFont typeface="Wingdings" panose="05000000000000000000" pitchFamily="2" charset="2"/>
              <a:buChar char="n"/>
            </a:pPr>
            <a:r>
              <a:rPr lang="en-US" altLang="zh-CN" dirty="0">
                <a:ea typeface="楷体" panose="02010609060101010101" pitchFamily="49" charset="-122"/>
                <a:cs typeface="Times New Roman" panose="02020603050405020304" pitchFamily="18" charset="0"/>
              </a:rPr>
              <a:t>JPEG2000</a:t>
            </a:r>
            <a:r>
              <a:rPr lang="zh-CN" altLang="zh-CN" dirty="0">
                <a:ea typeface="楷体" panose="02010609060101010101" pitchFamily="49" charset="-122"/>
                <a:cs typeface="Times New Roman" panose="02020603050405020304" pitchFamily="18" charset="0"/>
              </a:rPr>
              <a:t>克服了传统</a:t>
            </a:r>
            <a:r>
              <a:rPr lang="en-US" altLang="zh-CN" dirty="0">
                <a:ea typeface="楷体" panose="02010609060101010101" pitchFamily="49" charset="-122"/>
                <a:cs typeface="Times New Roman" panose="02020603050405020304" pitchFamily="18" charset="0"/>
              </a:rPr>
              <a:t>JPEG</a:t>
            </a:r>
            <a:r>
              <a:rPr lang="zh-CN" altLang="zh-CN" dirty="0">
                <a:ea typeface="楷体" panose="02010609060101010101" pitchFamily="49" charset="-122"/>
                <a:cs typeface="Times New Roman" panose="02020603050405020304" pitchFamily="18" charset="0"/>
              </a:rPr>
              <a:t>基本系统的抗干扰能力差和在高压缩比情况下可能出现严重方块效应的缺陷。</a:t>
            </a:r>
            <a:endParaRPr lang="zh-CN" altLang="en-US" dirty="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31487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35</a:t>
            </a:fld>
            <a:endParaRPr lang="en-US" altLang="zh-CN"/>
          </a:p>
        </p:txBody>
      </p:sp>
      <p:sp>
        <p:nvSpPr>
          <p:cNvPr id="3"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JPEG2000</a:t>
            </a:r>
            <a:endPar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a:t>
            </a: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标准和</a:t>
            </a: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JPEG2000</a:t>
            </a:r>
            <a:endPar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endParaRPr>
          </a:p>
        </p:txBody>
      </p:sp>
      <p:sp>
        <p:nvSpPr>
          <p:cNvPr id="5" name="Text Box 2"/>
          <p:cNvSpPr txBox="1">
            <a:spLocks noChangeArrowheads="1"/>
          </p:cNvSpPr>
          <p:nvPr/>
        </p:nvSpPr>
        <p:spPr bwMode="auto">
          <a:xfrm>
            <a:off x="498645" y="1115367"/>
            <a:ext cx="55342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marL="342900" indent="-342900"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0" lvl="2" algn="just" eaLnBrk="1" hangingPunct="1">
              <a:spcBef>
                <a:spcPct val="0"/>
              </a:spcBef>
              <a:buClrTx/>
              <a:buSzTx/>
              <a:buFontTx/>
              <a:buNone/>
            </a:pPr>
            <a:r>
              <a:rPr kumimoji="1" lang="zh-CN" altLang="en-US" sz="2400" b="1" dirty="0">
                <a:solidFill>
                  <a:srgbClr val="0000CC"/>
                </a:solidFill>
                <a:latin typeface="Times New Roman" panose="02020603050405020304" pitchFamily="18" charset="0"/>
                <a:ea typeface="+mn-ea"/>
                <a:cs typeface="Times New Roman" panose="02020603050405020304" pitchFamily="18" charset="0"/>
              </a:rPr>
              <a:t>（</a:t>
            </a:r>
            <a:r>
              <a:rPr kumimoji="1" lang="en-US" altLang="zh-CN" sz="2400" b="1" dirty="0">
                <a:solidFill>
                  <a:srgbClr val="0000CC"/>
                </a:solidFill>
                <a:latin typeface="Times New Roman" panose="02020603050405020304" pitchFamily="18" charset="0"/>
                <a:ea typeface="+mn-ea"/>
                <a:cs typeface="Times New Roman" panose="02020603050405020304" pitchFamily="18" charset="0"/>
              </a:rPr>
              <a:t>1</a:t>
            </a:r>
            <a:r>
              <a:rPr kumimoji="1" lang="zh-CN" altLang="en-US" sz="2400" b="1" dirty="0">
                <a:solidFill>
                  <a:srgbClr val="0000CC"/>
                </a:solidFill>
                <a:latin typeface="Times New Roman" panose="02020603050405020304" pitchFamily="18" charset="0"/>
                <a:ea typeface="+mn-ea"/>
                <a:cs typeface="Times New Roman" panose="02020603050405020304" pitchFamily="18" charset="0"/>
              </a:rPr>
              <a:t>）</a:t>
            </a:r>
            <a:r>
              <a:rPr kumimoji="1" lang="en-US" altLang="zh-CN" sz="2400" b="1" dirty="0">
                <a:solidFill>
                  <a:srgbClr val="0000CC"/>
                </a:solidFill>
                <a:latin typeface="Times New Roman" panose="02020603050405020304" pitchFamily="18" charset="0"/>
                <a:ea typeface="+mn-ea"/>
                <a:cs typeface="Times New Roman" panose="02020603050405020304" pitchFamily="18" charset="0"/>
              </a:rPr>
              <a:t>JPEG2000</a:t>
            </a:r>
            <a:r>
              <a:rPr kumimoji="1" lang="zh-CN" altLang="en-US" sz="2400" b="1" dirty="0">
                <a:solidFill>
                  <a:srgbClr val="0000CC"/>
                </a:solidFill>
                <a:latin typeface="Times New Roman" panose="02020603050405020304" pitchFamily="18" charset="0"/>
                <a:ea typeface="+mn-ea"/>
                <a:cs typeface="Times New Roman" panose="02020603050405020304" pitchFamily="18" charset="0"/>
              </a:rPr>
              <a:t>的编码器框图结构</a:t>
            </a:r>
            <a:endParaRPr kumimoji="1" lang="zh-CN" altLang="en-US" sz="2400" dirty="0">
              <a:solidFill>
                <a:srgbClr val="0000CC"/>
              </a:solidFill>
              <a:latin typeface="Times New Roman" panose="02020603050405020304" pitchFamily="18" charset="0"/>
              <a:ea typeface="+mn-ea"/>
              <a:cs typeface="Times New Roman" panose="02020603050405020304" pitchFamily="18" charset="0"/>
            </a:endParaRPr>
          </a:p>
        </p:txBody>
      </p:sp>
      <p:sp>
        <p:nvSpPr>
          <p:cNvPr id="6" name="Text Box 3"/>
          <p:cNvSpPr txBox="1">
            <a:spLocks noChangeArrowheads="1"/>
          </p:cNvSpPr>
          <p:nvPr/>
        </p:nvSpPr>
        <p:spPr bwMode="auto">
          <a:xfrm>
            <a:off x="596243" y="1863724"/>
            <a:ext cx="1008063" cy="701675"/>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Tx/>
              <a:buSzTx/>
              <a:buFontTx/>
              <a:buNone/>
            </a:pPr>
            <a:r>
              <a:rPr lang="zh-CN" altLang="en-US" sz="2000" b="1" dirty="0">
                <a:solidFill>
                  <a:schemeClr val="tx1"/>
                </a:solidFill>
                <a:latin typeface="Arial" panose="020B0604020202020204" pitchFamily="34" charset="0"/>
                <a:ea typeface="宋体" panose="02010600030101010101" pitchFamily="2" charset="-122"/>
              </a:rPr>
              <a:t>源图像</a:t>
            </a:r>
            <a:br>
              <a:rPr lang="zh-CN" altLang="en-US" sz="2000" b="1" dirty="0">
                <a:solidFill>
                  <a:schemeClr val="tx1"/>
                </a:solidFill>
                <a:latin typeface="Arial" panose="020B0604020202020204" pitchFamily="34" charset="0"/>
                <a:ea typeface="宋体" panose="02010600030101010101" pitchFamily="2" charset="-122"/>
              </a:rPr>
            </a:br>
            <a:r>
              <a:rPr lang="zh-CN" altLang="en-US" sz="2000" b="1" dirty="0">
                <a:solidFill>
                  <a:schemeClr val="tx1"/>
                </a:solidFill>
                <a:latin typeface="Arial" panose="020B0604020202020204" pitchFamily="34" charset="0"/>
                <a:ea typeface="宋体" panose="02010600030101010101" pitchFamily="2" charset="-122"/>
              </a:rPr>
              <a:t>数据</a:t>
            </a:r>
          </a:p>
        </p:txBody>
      </p:sp>
      <p:sp>
        <p:nvSpPr>
          <p:cNvPr id="7" name="Line 4"/>
          <p:cNvSpPr>
            <a:spLocks noChangeShapeType="1"/>
          </p:cNvSpPr>
          <p:nvPr/>
        </p:nvSpPr>
        <p:spPr bwMode="auto">
          <a:xfrm>
            <a:off x="667681" y="2565399"/>
            <a:ext cx="9366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 name="Text Box 5"/>
          <p:cNvSpPr txBox="1">
            <a:spLocks noChangeArrowheads="1"/>
          </p:cNvSpPr>
          <p:nvPr/>
        </p:nvSpPr>
        <p:spPr bwMode="auto">
          <a:xfrm>
            <a:off x="1604306" y="2349499"/>
            <a:ext cx="1368425" cy="400110"/>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buClrTx/>
              <a:buSzTx/>
              <a:buFontTx/>
              <a:buNone/>
            </a:pPr>
            <a:r>
              <a:rPr lang="zh-CN" altLang="en-US" sz="2000" b="1">
                <a:solidFill>
                  <a:schemeClr val="tx1"/>
                </a:solidFill>
                <a:latin typeface="Arial" panose="020B0604020202020204" pitchFamily="34" charset="0"/>
                <a:ea typeface="宋体" panose="02010600030101010101" pitchFamily="2" charset="-122"/>
              </a:rPr>
              <a:t>小波变换</a:t>
            </a:r>
          </a:p>
        </p:txBody>
      </p:sp>
      <p:sp>
        <p:nvSpPr>
          <p:cNvPr id="9" name="Line 6"/>
          <p:cNvSpPr>
            <a:spLocks noChangeShapeType="1"/>
          </p:cNvSpPr>
          <p:nvPr/>
        </p:nvSpPr>
        <p:spPr bwMode="auto">
          <a:xfrm>
            <a:off x="2972731" y="2565399"/>
            <a:ext cx="5048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 name="Text Box 7"/>
          <p:cNvSpPr txBox="1">
            <a:spLocks noChangeArrowheads="1"/>
          </p:cNvSpPr>
          <p:nvPr/>
        </p:nvSpPr>
        <p:spPr bwMode="auto">
          <a:xfrm>
            <a:off x="3475968" y="2349499"/>
            <a:ext cx="700833" cy="400110"/>
          </a:xfrm>
          <a:prstGeom prst="rect">
            <a:avLst/>
          </a:prstGeom>
          <a:noFill/>
          <a:ln w="381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buClrTx/>
              <a:buSzTx/>
              <a:buFontTx/>
              <a:buNone/>
            </a:pPr>
            <a:r>
              <a:rPr lang="zh-CN" altLang="en-US" sz="2000" b="1">
                <a:solidFill>
                  <a:schemeClr val="tx1"/>
                </a:solidFill>
                <a:latin typeface="Arial" panose="020B0604020202020204" pitchFamily="34" charset="0"/>
                <a:ea typeface="宋体" panose="02010600030101010101" pitchFamily="2" charset="-122"/>
              </a:rPr>
              <a:t>量化</a:t>
            </a:r>
          </a:p>
        </p:txBody>
      </p:sp>
      <p:sp>
        <p:nvSpPr>
          <p:cNvPr id="11" name="Line 8"/>
          <p:cNvSpPr>
            <a:spLocks noChangeShapeType="1"/>
          </p:cNvSpPr>
          <p:nvPr/>
        </p:nvSpPr>
        <p:spPr bwMode="auto">
          <a:xfrm>
            <a:off x="4196693" y="2565399"/>
            <a:ext cx="5048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2" name="Text Box 9"/>
          <p:cNvSpPr txBox="1">
            <a:spLocks noChangeArrowheads="1"/>
          </p:cNvSpPr>
          <p:nvPr/>
        </p:nvSpPr>
        <p:spPr bwMode="auto">
          <a:xfrm>
            <a:off x="4699931" y="2349499"/>
            <a:ext cx="958917" cy="400110"/>
          </a:xfrm>
          <a:prstGeom prst="rect">
            <a:avLst/>
          </a:prstGeom>
          <a:noFill/>
          <a:ln w="381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buClrTx/>
              <a:buSzTx/>
              <a:buFontTx/>
              <a:buNone/>
            </a:pPr>
            <a:r>
              <a:rPr lang="zh-CN" altLang="en-US" sz="2000" b="1">
                <a:solidFill>
                  <a:schemeClr val="tx1"/>
                </a:solidFill>
                <a:latin typeface="Arial" panose="020B0604020202020204" pitchFamily="34" charset="0"/>
                <a:ea typeface="宋体" panose="02010600030101010101" pitchFamily="2" charset="-122"/>
              </a:rPr>
              <a:t>熵编码</a:t>
            </a:r>
          </a:p>
        </p:txBody>
      </p:sp>
      <p:sp>
        <p:nvSpPr>
          <p:cNvPr id="13" name="Line 10"/>
          <p:cNvSpPr>
            <a:spLocks noChangeShapeType="1"/>
          </p:cNvSpPr>
          <p:nvPr/>
        </p:nvSpPr>
        <p:spPr bwMode="auto">
          <a:xfrm>
            <a:off x="5707993" y="2565399"/>
            <a:ext cx="97292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zh-CN" altLang="en-US"/>
          </a:p>
        </p:txBody>
      </p:sp>
      <p:sp>
        <p:nvSpPr>
          <p:cNvPr id="14" name="Text Box 3"/>
          <p:cNvSpPr txBox="1">
            <a:spLocks noChangeArrowheads="1"/>
          </p:cNvSpPr>
          <p:nvPr/>
        </p:nvSpPr>
        <p:spPr bwMode="auto">
          <a:xfrm>
            <a:off x="5650892" y="1813738"/>
            <a:ext cx="886012" cy="707886"/>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ctr" eaLnBrk="1" hangingPunct="1">
              <a:buClrTx/>
              <a:buSzTx/>
              <a:buFontTx/>
              <a:buNone/>
            </a:pPr>
            <a:r>
              <a:rPr lang="zh-CN" altLang="en-US" sz="2000" b="1" dirty="0">
                <a:solidFill>
                  <a:schemeClr val="tx1"/>
                </a:solidFill>
                <a:latin typeface="Arial" panose="020B0604020202020204" pitchFamily="34" charset="0"/>
                <a:ea typeface="宋体" panose="02010600030101010101" pitchFamily="2" charset="-122"/>
              </a:rPr>
              <a:t>压缩编码</a:t>
            </a:r>
          </a:p>
        </p:txBody>
      </p:sp>
      <p:sp>
        <p:nvSpPr>
          <p:cNvPr id="15" name="文本框 14"/>
          <p:cNvSpPr txBox="1"/>
          <p:nvPr/>
        </p:nvSpPr>
        <p:spPr>
          <a:xfrm>
            <a:off x="243024" y="3292374"/>
            <a:ext cx="6465887" cy="1200329"/>
          </a:xfrm>
          <a:prstGeom prst="rect">
            <a:avLst/>
          </a:prstGeom>
          <a:noFill/>
        </p:spPr>
        <p:txBody>
          <a:bodyPr wrap="square" rtlCol="0">
            <a:spAutoFit/>
          </a:bodyPr>
          <a:lstStyle/>
          <a:p>
            <a:pPr marL="342900" indent="-342900">
              <a:buClr>
                <a:srgbClr val="7030A0"/>
              </a:buClr>
              <a:buSzPct val="75000"/>
              <a:buFont typeface="Wingdings" panose="05000000000000000000" pitchFamily="2" charset="2"/>
              <a:buChar char="n"/>
            </a:pPr>
            <a:r>
              <a:rPr lang="zh-CN" altLang="zh-CN" dirty="0">
                <a:ea typeface="楷体" panose="02010609060101010101" pitchFamily="49" charset="-122"/>
                <a:cs typeface="Times New Roman" panose="02020603050405020304" pitchFamily="18" charset="0"/>
              </a:rPr>
              <a:t>采用以</a:t>
            </a:r>
            <a:r>
              <a:rPr lang="en-US" altLang="zh-CN" dirty="0">
                <a:ea typeface="楷体" panose="02010609060101010101" pitchFamily="49" charset="-122"/>
                <a:cs typeface="Times New Roman" panose="02020603050405020304" pitchFamily="18" charset="0"/>
              </a:rPr>
              <a:t>DWT</a:t>
            </a:r>
            <a:r>
              <a:rPr lang="zh-CN" altLang="zh-CN" dirty="0">
                <a:ea typeface="楷体" panose="02010609060101010101" pitchFamily="49" charset="-122"/>
                <a:cs typeface="Times New Roman" panose="02020603050405020304" pitchFamily="18" charset="0"/>
              </a:rPr>
              <a:t>为主的多解析编码方式</a:t>
            </a:r>
            <a:r>
              <a:rPr lang="zh-CN" altLang="en-US" dirty="0">
                <a:ea typeface="楷体" panose="02010609060101010101" pitchFamily="49" charset="-122"/>
                <a:cs typeface="Times New Roman" panose="02020603050405020304" pitchFamily="18" charset="0"/>
              </a:rPr>
              <a:t>，</a:t>
            </a:r>
            <a:r>
              <a:rPr lang="zh-CN" altLang="zh-CN" dirty="0">
                <a:ea typeface="楷体" panose="02010609060101010101" pitchFamily="49" charset="-122"/>
                <a:cs typeface="Times New Roman" panose="02020603050405020304" pitchFamily="18" charset="0"/>
              </a:rPr>
              <a:t>克服传统</a:t>
            </a:r>
            <a:r>
              <a:rPr lang="en-US" altLang="zh-CN" dirty="0">
                <a:ea typeface="楷体" panose="02010609060101010101" pitchFamily="49" charset="-122"/>
                <a:cs typeface="Times New Roman" panose="02020603050405020304" pitchFamily="18" charset="0"/>
              </a:rPr>
              <a:t>JPEG</a:t>
            </a:r>
            <a:r>
              <a:rPr lang="zh-CN" altLang="zh-CN" dirty="0">
                <a:ea typeface="楷体" panose="02010609060101010101" pitchFamily="49" charset="-122"/>
                <a:cs typeface="Times New Roman" panose="02020603050405020304" pitchFamily="18" charset="0"/>
              </a:rPr>
              <a:t>基本系统的抗干扰能力差和在高压缩比情况下可能出现严重方块效应的缺陷</a:t>
            </a:r>
            <a:endParaRPr lang="zh-CN" altLang="en-US" dirty="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41973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36</a:t>
            </a:fld>
            <a:endParaRPr lang="en-US" altLang="zh-CN"/>
          </a:p>
        </p:txBody>
      </p:sp>
      <p:sp>
        <p:nvSpPr>
          <p:cNvPr id="3" name="Text Box 2"/>
          <p:cNvSpPr txBox="1">
            <a:spLocks noChangeArrowheads="1"/>
          </p:cNvSpPr>
          <p:nvPr/>
        </p:nvSpPr>
        <p:spPr bwMode="auto">
          <a:xfrm>
            <a:off x="452227" y="1072552"/>
            <a:ext cx="4176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eaLnBrk="1" hangingPunct="1">
              <a:spcBef>
                <a:spcPct val="0"/>
              </a:spcBef>
              <a:buClr>
                <a:srgbClr val="0000CC"/>
              </a:buClr>
              <a:buSzPct val="80000"/>
            </a:pPr>
            <a:r>
              <a:rPr kumimoji="1" lang="zh-CN" altLang="en-US" sz="2400" dirty="0">
                <a:solidFill>
                  <a:srgbClr val="0000CC"/>
                </a:solidFill>
                <a:latin typeface="+mj-ea"/>
                <a:ea typeface="+mj-ea"/>
                <a:cs typeface="Times New Roman" panose="02020603050405020304" pitchFamily="18" charset="0"/>
              </a:rPr>
              <a:t>（</a:t>
            </a:r>
            <a:r>
              <a:rPr kumimoji="1" lang="en-US" altLang="zh-CN" sz="2400" dirty="0">
                <a:solidFill>
                  <a:srgbClr val="0000CC"/>
                </a:solidFill>
                <a:latin typeface="+mj-ea"/>
                <a:ea typeface="+mj-ea"/>
                <a:cs typeface="Times New Roman" panose="02020603050405020304" pitchFamily="18" charset="0"/>
              </a:rPr>
              <a:t>2</a:t>
            </a:r>
            <a:r>
              <a:rPr kumimoji="1" lang="zh-CN" altLang="en-US" sz="2400" dirty="0">
                <a:solidFill>
                  <a:srgbClr val="0000CC"/>
                </a:solidFill>
                <a:latin typeface="+mj-ea"/>
                <a:ea typeface="+mj-ea"/>
                <a:cs typeface="Times New Roman" panose="02020603050405020304" pitchFamily="18" charset="0"/>
              </a:rPr>
              <a:t>）</a:t>
            </a:r>
            <a:r>
              <a:rPr kumimoji="1" lang="en-US" altLang="zh-CN" sz="2400" dirty="0">
                <a:solidFill>
                  <a:srgbClr val="0000CC"/>
                </a:solidFill>
                <a:latin typeface="+mj-ea"/>
                <a:ea typeface="+mj-ea"/>
                <a:cs typeface="Times New Roman" panose="02020603050405020304" pitchFamily="18" charset="0"/>
              </a:rPr>
              <a:t>JPEG2000</a:t>
            </a:r>
            <a:r>
              <a:rPr kumimoji="1" lang="zh-CN" altLang="en-US" sz="2400" dirty="0">
                <a:solidFill>
                  <a:srgbClr val="0000CC"/>
                </a:solidFill>
                <a:latin typeface="+mj-ea"/>
                <a:ea typeface="+mj-ea"/>
                <a:cs typeface="Times New Roman" panose="02020603050405020304" pitchFamily="18" charset="0"/>
              </a:rPr>
              <a:t>最主要的特征</a:t>
            </a:r>
            <a:endParaRPr kumimoji="1" lang="en-US" altLang="zh-CN" sz="2400" dirty="0">
              <a:solidFill>
                <a:srgbClr val="0000CC"/>
              </a:solidFill>
              <a:latin typeface="+mj-ea"/>
              <a:ea typeface="+mj-ea"/>
              <a:cs typeface="Times New Roman" panose="02020603050405020304" pitchFamily="18" charset="0"/>
            </a:endParaRPr>
          </a:p>
        </p:txBody>
      </p:sp>
      <p:sp>
        <p:nvSpPr>
          <p:cNvPr id="4" name="Text Box 3"/>
          <p:cNvSpPr txBox="1">
            <a:spLocks noChangeArrowheads="1"/>
          </p:cNvSpPr>
          <p:nvPr/>
        </p:nvSpPr>
        <p:spPr bwMode="auto">
          <a:xfrm>
            <a:off x="884275" y="1603453"/>
            <a:ext cx="4809455" cy="3406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indent="-342900" eaLnBrk="1" hangingPunct="1">
              <a:spcBef>
                <a:spcPts val="400"/>
              </a:spcBef>
              <a:buClr>
                <a:srgbClr val="7030A0"/>
              </a:buClr>
              <a:buSzPct val="75000"/>
              <a:buFont typeface="Wingdings" panose="05000000000000000000" pitchFamily="2" charset="2"/>
              <a:buChar char="n"/>
            </a:pPr>
            <a:r>
              <a:rPr kumimoji="1" lang="en-US" altLang="zh-CN" sz="2400" b="1" dirty="0">
                <a:solidFill>
                  <a:schemeClr val="tx1"/>
                </a:solidFill>
                <a:latin typeface="楷体" panose="02010609060101010101" pitchFamily="49" charset="-122"/>
                <a:ea typeface="楷体" panose="02010609060101010101" pitchFamily="49" charset="-122"/>
              </a:rPr>
              <a:t> </a:t>
            </a:r>
            <a:r>
              <a:rPr kumimoji="1" lang="zh-CN" altLang="en-US" sz="2400" b="1" dirty="0">
                <a:solidFill>
                  <a:schemeClr val="tx1"/>
                </a:solidFill>
                <a:latin typeface="楷体" panose="02010609060101010101" pitchFamily="49" charset="-122"/>
                <a:ea typeface="楷体" panose="02010609060101010101" pitchFamily="49" charset="-122"/>
              </a:rPr>
              <a:t>高压缩率</a:t>
            </a:r>
          </a:p>
          <a:p>
            <a:pPr marL="342900" indent="-342900" eaLnBrk="1" hangingPunct="1">
              <a:spcBef>
                <a:spcPts val="400"/>
              </a:spcBef>
              <a:buClr>
                <a:srgbClr val="7030A0"/>
              </a:buClr>
              <a:buSzPct val="75000"/>
              <a:buFont typeface="Wingdings" panose="05000000000000000000" pitchFamily="2" charset="2"/>
              <a:buChar char="n"/>
            </a:pPr>
            <a:r>
              <a:rPr kumimoji="1" lang="zh-CN" altLang="en-US" sz="2400" b="1" dirty="0">
                <a:solidFill>
                  <a:schemeClr val="tx1"/>
                </a:solidFill>
                <a:latin typeface="楷体" panose="02010609060101010101" pitchFamily="49" charset="-122"/>
                <a:ea typeface="楷体" panose="02010609060101010101" pitchFamily="49" charset="-122"/>
              </a:rPr>
              <a:t> 同时支持无损压缩和有损压缩</a:t>
            </a:r>
          </a:p>
          <a:p>
            <a:pPr marL="342900" indent="-342900" eaLnBrk="1" hangingPunct="1">
              <a:spcBef>
                <a:spcPts val="400"/>
              </a:spcBef>
              <a:buClr>
                <a:srgbClr val="7030A0"/>
              </a:buClr>
              <a:buSzPct val="75000"/>
              <a:buFont typeface="Wingdings" panose="05000000000000000000" pitchFamily="2" charset="2"/>
              <a:buChar char="n"/>
            </a:pPr>
            <a:r>
              <a:rPr kumimoji="1" lang="zh-CN" altLang="en-US" sz="2400" b="1" dirty="0">
                <a:solidFill>
                  <a:schemeClr val="tx1"/>
                </a:solidFill>
                <a:latin typeface="楷体" panose="02010609060101010101" pitchFamily="49" charset="-122"/>
                <a:ea typeface="楷体" panose="02010609060101010101" pitchFamily="49" charset="-122"/>
              </a:rPr>
              <a:t> 渐进传输</a:t>
            </a:r>
            <a:r>
              <a:rPr kumimoji="1" lang="en-US" altLang="zh-CN" sz="2400" b="1" dirty="0">
                <a:solidFill>
                  <a:schemeClr val="tx1"/>
                </a:solidFill>
                <a:latin typeface="楷体" panose="02010609060101010101" pitchFamily="49" charset="-122"/>
                <a:ea typeface="楷体" panose="02010609060101010101" pitchFamily="49" charset="-122"/>
              </a:rPr>
              <a:t>(</a:t>
            </a:r>
            <a:r>
              <a:rPr kumimoji="1" lang="zh-CN" altLang="en-US" sz="2400" b="1" dirty="0">
                <a:solidFill>
                  <a:schemeClr val="tx1"/>
                </a:solidFill>
                <a:latin typeface="楷体" panose="02010609060101010101" pitchFamily="49" charset="-122"/>
                <a:ea typeface="楷体" panose="02010609060101010101" pitchFamily="49" charset="-122"/>
              </a:rPr>
              <a:t>逐渐浮现显示方式</a:t>
            </a:r>
            <a:r>
              <a:rPr kumimoji="1" lang="en-US" altLang="zh-CN" sz="2400" b="1" dirty="0">
                <a:solidFill>
                  <a:schemeClr val="tx1"/>
                </a:solidFill>
                <a:latin typeface="楷体" panose="02010609060101010101" pitchFamily="49" charset="-122"/>
                <a:ea typeface="楷体" panose="02010609060101010101" pitchFamily="49" charset="-122"/>
              </a:rPr>
              <a:t>)</a:t>
            </a:r>
          </a:p>
          <a:p>
            <a:pPr marL="342900" indent="-342900" eaLnBrk="1" hangingPunct="1">
              <a:spcBef>
                <a:spcPts val="400"/>
              </a:spcBef>
              <a:buClr>
                <a:srgbClr val="7030A0"/>
              </a:buClr>
              <a:buSzPct val="75000"/>
              <a:buFont typeface="Wingdings" panose="05000000000000000000" pitchFamily="2" charset="2"/>
              <a:buChar char="n"/>
            </a:pPr>
            <a:r>
              <a:rPr kumimoji="1" lang="en-US" altLang="zh-CN" sz="2400" b="1" dirty="0">
                <a:solidFill>
                  <a:schemeClr val="tx1"/>
                </a:solidFill>
                <a:latin typeface="楷体" panose="02010609060101010101" pitchFamily="49" charset="-122"/>
                <a:ea typeface="楷体" panose="02010609060101010101" pitchFamily="49" charset="-122"/>
              </a:rPr>
              <a:t> </a:t>
            </a:r>
            <a:r>
              <a:rPr kumimoji="1" lang="zh-CN" altLang="en-US" sz="2400" b="1" dirty="0">
                <a:solidFill>
                  <a:schemeClr val="tx1"/>
                </a:solidFill>
                <a:latin typeface="楷体" panose="02010609060101010101" pitchFamily="49" charset="-122"/>
                <a:ea typeface="楷体" panose="02010609060101010101" pitchFamily="49" charset="-122"/>
              </a:rPr>
              <a:t>感兴趣区域压缩</a:t>
            </a:r>
          </a:p>
          <a:p>
            <a:pPr marL="342900" indent="-342900" eaLnBrk="1" hangingPunct="1">
              <a:spcBef>
                <a:spcPts val="400"/>
              </a:spcBef>
              <a:buClr>
                <a:srgbClr val="7030A0"/>
              </a:buClr>
              <a:buSzPct val="75000"/>
              <a:buFont typeface="Wingdings" panose="05000000000000000000" pitchFamily="2" charset="2"/>
              <a:buChar char="n"/>
            </a:pPr>
            <a:r>
              <a:rPr kumimoji="1" lang="zh-CN" altLang="en-US" sz="2400" b="1" dirty="0">
                <a:solidFill>
                  <a:schemeClr val="tx1"/>
                </a:solidFill>
                <a:latin typeface="楷体" panose="02010609060101010101" pitchFamily="49" charset="-122"/>
                <a:ea typeface="楷体" panose="02010609060101010101" pitchFamily="49" charset="-122"/>
              </a:rPr>
              <a:t> 码流的随机访问和处理</a:t>
            </a:r>
          </a:p>
          <a:p>
            <a:pPr marL="342900" indent="-342900" eaLnBrk="1" hangingPunct="1">
              <a:spcBef>
                <a:spcPts val="400"/>
              </a:spcBef>
              <a:buClr>
                <a:srgbClr val="7030A0"/>
              </a:buClr>
              <a:buSzPct val="75000"/>
              <a:buFont typeface="Wingdings" panose="05000000000000000000" pitchFamily="2" charset="2"/>
              <a:buChar char="n"/>
            </a:pPr>
            <a:r>
              <a:rPr kumimoji="1" lang="zh-CN" altLang="en-US" sz="2400" b="1" dirty="0">
                <a:solidFill>
                  <a:schemeClr val="tx1"/>
                </a:solidFill>
                <a:latin typeface="楷体" panose="02010609060101010101" pitchFamily="49" charset="-122"/>
                <a:ea typeface="楷体" panose="02010609060101010101" pitchFamily="49" charset="-122"/>
              </a:rPr>
              <a:t> 容错性</a:t>
            </a:r>
            <a:endParaRPr kumimoji="1" lang="en-US" altLang="zh-CN" sz="2400" b="1" dirty="0">
              <a:solidFill>
                <a:schemeClr val="tx1"/>
              </a:solidFill>
              <a:latin typeface="楷体" panose="02010609060101010101" pitchFamily="49" charset="-122"/>
              <a:ea typeface="楷体" panose="02010609060101010101" pitchFamily="49" charset="-122"/>
            </a:endParaRPr>
          </a:p>
          <a:p>
            <a:pPr marL="342900" indent="-342900" eaLnBrk="1" hangingPunct="1">
              <a:spcBef>
                <a:spcPts val="400"/>
              </a:spcBef>
              <a:buClr>
                <a:srgbClr val="7030A0"/>
              </a:buClr>
              <a:buSzPct val="75000"/>
              <a:buFont typeface="Wingdings" panose="05000000000000000000" pitchFamily="2" charset="2"/>
              <a:buChar char="n"/>
            </a:pPr>
            <a:r>
              <a:rPr lang="zh-CN" altLang="en-US" sz="2400" dirty="0">
                <a:solidFill>
                  <a:schemeClr val="tx1"/>
                </a:solidFill>
                <a:latin typeface="楷体" panose="02010609060101010101" pitchFamily="49" charset="-122"/>
                <a:ea typeface="楷体" panose="02010609060101010101" pitchFamily="49" charset="-122"/>
              </a:rPr>
              <a:t> 开放的框架结构</a:t>
            </a:r>
            <a:endParaRPr lang="en-US" altLang="zh-CN" sz="2400" dirty="0">
              <a:solidFill>
                <a:schemeClr val="tx1"/>
              </a:solidFill>
              <a:latin typeface="楷体" panose="02010609060101010101" pitchFamily="49" charset="-122"/>
              <a:ea typeface="楷体" panose="02010609060101010101" pitchFamily="49" charset="-122"/>
            </a:endParaRPr>
          </a:p>
          <a:p>
            <a:pPr marL="342900" indent="-342900" eaLnBrk="1" hangingPunct="1">
              <a:spcBef>
                <a:spcPts val="400"/>
              </a:spcBef>
              <a:buClr>
                <a:srgbClr val="7030A0"/>
              </a:buClr>
              <a:buSzPct val="75000"/>
              <a:buFont typeface="Wingdings" panose="05000000000000000000" pitchFamily="2" charset="2"/>
              <a:buChar char="n"/>
            </a:pPr>
            <a:r>
              <a:rPr lang="zh-CN" altLang="en-US" sz="2400" dirty="0">
                <a:solidFill>
                  <a:schemeClr val="tx1"/>
                </a:solidFill>
                <a:latin typeface="楷体" panose="02010609060101010101" pitchFamily="49" charset="-122"/>
                <a:ea typeface="楷体" panose="02010609060101010101" pitchFamily="49" charset="-122"/>
              </a:rPr>
              <a:t> 基于内容的描述</a:t>
            </a:r>
            <a:endParaRPr kumimoji="1" lang="zh-CN" altLang="en-US" sz="2400" b="1" dirty="0">
              <a:solidFill>
                <a:schemeClr val="tx1"/>
              </a:solidFill>
              <a:latin typeface="楷体" panose="02010609060101010101" pitchFamily="49" charset="-122"/>
              <a:ea typeface="楷体" panose="02010609060101010101" pitchFamily="49" charset="-122"/>
            </a:endParaRPr>
          </a:p>
        </p:txBody>
      </p:sp>
      <p:sp>
        <p:nvSpPr>
          <p:cNvPr id="5" name="Rectangle 2"/>
          <p:cNvSpPr txBox="1">
            <a:spLocks noChangeArrowheads="1"/>
          </p:cNvSpPr>
          <p:nvPr/>
        </p:nvSpPr>
        <p:spPr bwMode="auto">
          <a:xfrm>
            <a:off x="344488" y="239713"/>
            <a:ext cx="3672134"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83" tIns="35841" rIns="71683" bIns="35841" numCol="1" anchor="ctr" anchorCtr="0" compatLnSpc="1">
            <a:prstTxWarp prst="textNoShape">
              <a:avLst/>
            </a:prstTxWarp>
          </a:bodyPr>
          <a:lstStyle>
            <a:lvl1pPr algn="l" defTabSz="717550" rtl="0" eaLnBrk="0" fontAlgn="base" hangingPunct="0">
              <a:spcBef>
                <a:spcPct val="0"/>
              </a:spcBef>
              <a:spcAft>
                <a:spcPct val="0"/>
              </a:spcAft>
              <a:defRPr sz="2500" b="1">
                <a:solidFill>
                  <a:schemeClr val="tx2"/>
                </a:solidFill>
                <a:latin typeface="+mj-lt"/>
                <a:ea typeface="+mj-ea"/>
                <a:cs typeface="+mj-cs"/>
              </a:defRPr>
            </a:lvl1pPr>
            <a:lvl2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defTabSz="717550"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200" algn="l" defTabSz="717550" rtl="0" fontAlgn="base">
              <a:spcBef>
                <a:spcPct val="0"/>
              </a:spcBef>
              <a:spcAft>
                <a:spcPct val="0"/>
              </a:spcAft>
              <a:defRPr sz="2500" b="1">
                <a:solidFill>
                  <a:schemeClr val="tx2"/>
                </a:solidFill>
                <a:latin typeface="楷体_GB2312" pitchFamily="49" charset="-122"/>
                <a:ea typeface="宋体" pitchFamily="2" charset="-122"/>
              </a:defRPr>
            </a:lvl6pPr>
            <a:lvl7pPr marL="914400" algn="l" defTabSz="717550" rtl="0" fontAlgn="base">
              <a:spcBef>
                <a:spcPct val="0"/>
              </a:spcBef>
              <a:spcAft>
                <a:spcPct val="0"/>
              </a:spcAft>
              <a:defRPr sz="2500" b="1">
                <a:solidFill>
                  <a:schemeClr val="tx2"/>
                </a:solidFill>
                <a:latin typeface="楷体_GB2312" pitchFamily="49" charset="-122"/>
                <a:ea typeface="宋体" pitchFamily="2" charset="-122"/>
              </a:defRPr>
            </a:lvl7pPr>
            <a:lvl8pPr marL="1371600" algn="l" defTabSz="717550" rtl="0" fontAlgn="base">
              <a:spcBef>
                <a:spcPct val="0"/>
              </a:spcBef>
              <a:spcAft>
                <a:spcPct val="0"/>
              </a:spcAft>
              <a:defRPr sz="2500" b="1">
                <a:solidFill>
                  <a:schemeClr val="tx2"/>
                </a:solidFill>
                <a:latin typeface="楷体_GB2312" pitchFamily="49" charset="-122"/>
                <a:ea typeface="宋体" pitchFamily="2" charset="-122"/>
              </a:defRPr>
            </a:lvl8pPr>
            <a:lvl9pPr marL="1828800" algn="l" defTabSz="717550" rtl="0" fontAlgn="base">
              <a:spcBef>
                <a:spcPct val="0"/>
              </a:spcBef>
              <a:spcAft>
                <a:spcPct val="0"/>
              </a:spcAft>
              <a:defRPr sz="2500" b="1">
                <a:solidFill>
                  <a:schemeClr val="tx2"/>
                </a:solidFill>
                <a:latin typeface="楷体_GB2312" pitchFamily="49" charset="-122"/>
                <a:ea typeface="宋体" pitchFamily="2" charset="-122"/>
              </a:defRPr>
            </a:lvl9pPr>
          </a:lstStyle>
          <a:p>
            <a:pPr eaLnBrk="1" hangingPunct="1"/>
            <a:r>
              <a:rPr kumimoji="0" lang="en-US" altLang="zh-CN"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JPEG2000</a:t>
            </a:r>
            <a:endParaRPr kumimoji="0"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2"/>
          <p:cNvSpPr txBox="1">
            <a:spLocks noChangeArrowheads="1"/>
          </p:cNvSpPr>
          <p:nvPr/>
        </p:nvSpPr>
        <p:spPr bwMode="auto">
          <a:xfrm>
            <a:off x="4016622" y="731838"/>
            <a:ext cx="2912816"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a:spcBef>
                <a:spcPct val="20000"/>
              </a:spcBef>
              <a:buClr>
                <a:schemeClr val="bg2"/>
              </a:buClr>
              <a:buSzPct val="75000"/>
              <a:buFont typeface="Wingdings" panose="05000000000000000000" pitchFamily="2" charset="2"/>
              <a:buChar char="p"/>
              <a:defRPr sz="1900" b="1">
                <a:solidFill>
                  <a:schemeClr val="tx1"/>
                </a:solidFill>
                <a:latin typeface="黑体" panose="02010609060101010101" pitchFamily="49" charset="-122"/>
                <a:ea typeface="宋体" panose="02010600030101010101" pitchFamily="2" charset="-122"/>
              </a:defRPr>
            </a:lvl1pPr>
            <a:lvl2pPr marL="742950" indent="-285750" defTabSz="717550">
              <a:spcBef>
                <a:spcPct val="20000"/>
              </a:spcBef>
              <a:buClr>
                <a:schemeClr val="tx2"/>
              </a:buClr>
              <a:buSzPct val="75000"/>
              <a:buFont typeface="Wingdings" panose="05000000000000000000" pitchFamily="2" charset="2"/>
              <a:buChar char="n"/>
              <a:defRPr sz="1900" b="1">
                <a:solidFill>
                  <a:schemeClr val="tx1"/>
                </a:solidFill>
                <a:latin typeface="宋体" panose="02010600030101010101" pitchFamily="2" charset="-122"/>
                <a:ea typeface="宋体" panose="02010600030101010101" pitchFamily="2" charset="-122"/>
              </a:defRPr>
            </a:lvl2pPr>
            <a:lvl3pPr marL="1143000" indent="-228600" defTabSz="717550">
              <a:spcBef>
                <a:spcPct val="20000"/>
              </a:spcBef>
              <a:buClr>
                <a:schemeClr val="accent1"/>
              </a:buClr>
              <a:buSzPct val="65000"/>
              <a:buFont typeface="Wingdings" panose="05000000000000000000" pitchFamily="2" charset="2"/>
              <a:buChar char="p"/>
              <a:defRPr sz="1900" b="1">
                <a:solidFill>
                  <a:schemeClr val="tx1"/>
                </a:solidFill>
                <a:latin typeface="宋体" panose="02010600030101010101" pitchFamily="2" charset="-122"/>
                <a:ea typeface="宋体" panose="02010600030101010101" pitchFamily="2" charset="-122"/>
              </a:defRPr>
            </a:lvl3pPr>
            <a:lvl4pPr marL="1600200" indent="-228600" defTabSz="717550">
              <a:spcBef>
                <a:spcPct val="20000"/>
              </a:spcBef>
              <a:buClr>
                <a:schemeClr val="bg2"/>
              </a:buClr>
              <a:buFont typeface="Wingdings" panose="05000000000000000000" pitchFamily="2" charset="2"/>
              <a:buChar char="§"/>
              <a:defRPr sz="1600" b="1">
                <a:solidFill>
                  <a:schemeClr val="tx1"/>
                </a:solidFill>
                <a:latin typeface="宋体" panose="02010600030101010101" pitchFamily="2" charset="-122"/>
                <a:ea typeface="宋体" panose="02010600030101010101" pitchFamily="2" charset="-122"/>
              </a:defRPr>
            </a:lvl4pPr>
            <a:lvl5pPr marL="2057400" indent="-228600" defTabSz="717550">
              <a:spcBef>
                <a:spcPct val="20000"/>
              </a:spcBef>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5pPr>
            <a:lvl6pPr marL="25146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6pPr>
            <a:lvl7pPr marL="29718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7pPr>
            <a:lvl8pPr marL="34290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8pPr>
            <a:lvl9pPr marL="3886200" indent="-228600" defTabSz="717550" eaLnBrk="0" fontAlgn="base" hangingPunct="0">
              <a:spcBef>
                <a:spcPct val="20000"/>
              </a:spcBef>
              <a:spcAft>
                <a:spcPct val="0"/>
              </a:spcAft>
              <a:buClr>
                <a:schemeClr val="tx2"/>
              </a:buClr>
              <a:buSzPct val="80000"/>
              <a:buFont typeface="Wingdings" panose="05000000000000000000" pitchFamily="2" charset="2"/>
              <a:buChar char="§"/>
              <a:defRPr sz="14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a:t>
            </a:r>
            <a:r>
              <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标准和</a:t>
            </a:r>
            <a:r>
              <a:rPr lang="en-US" altLang="zh-CN"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JPEG2000</a:t>
            </a:r>
            <a:endParaRPr lang="zh-CN" altLang="en-US" sz="2400" dirty="0">
              <a:solidFill>
                <a:srgbClr val="002060"/>
              </a:solidFill>
              <a:latin typeface="隶书" panose="02010509060101010101" pitchFamily="49" charset="-122"/>
              <a:ea typeface="隶书"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3990620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137150" y="5110163"/>
            <a:ext cx="1673225" cy="231775"/>
          </a:xfrm>
          <a:prstGeom prst="rect">
            <a:avLst/>
          </a:prstGeom>
        </p:spPr>
        <p:txBody>
          <a:bodyPr/>
          <a:lstStyle/>
          <a:p>
            <a:pPr>
              <a:defRPr/>
            </a:pPr>
            <a:fld id="{BEAAA290-34B3-4F10-B175-BE0FC4B87A97}" type="slidenum">
              <a:rPr lang="en-US" altLang="zh-CN" smtClean="0"/>
              <a:pPr>
                <a:defRPr/>
              </a:pPr>
              <a:t>37</a:t>
            </a:fld>
            <a:endParaRPr lang="en-US" altLang="zh-CN"/>
          </a:p>
        </p:txBody>
      </p:sp>
      <p:sp>
        <p:nvSpPr>
          <p:cNvPr id="4" name="Rectangle 53"/>
          <p:cNvSpPr>
            <a:spLocks noChangeArrowheads="1"/>
          </p:cNvSpPr>
          <p:nvPr/>
        </p:nvSpPr>
        <p:spPr bwMode="auto">
          <a:xfrm>
            <a:off x="202990" y="936625"/>
            <a:ext cx="656134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marL="342900" indent="-342900" eaLnBrk="1" hangingPunct="1">
              <a:buClr>
                <a:srgbClr val="7030A0"/>
              </a:buClr>
              <a:buSzPct val="75000"/>
              <a:buFont typeface="Wingdings" panose="05000000000000000000" pitchFamily="2" charset="2"/>
              <a:buChar char="n"/>
            </a:pPr>
            <a:r>
              <a:rPr lang="zh-CN" altLang="en-US"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在</a:t>
            </a:r>
            <a:r>
              <a:rPr lang="en-US" altLang="zh-CN"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JPEG</a:t>
            </a:r>
            <a:r>
              <a:rPr lang="zh-CN" altLang="en-US"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编码系统中，一个</a:t>
            </a:r>
            <a:r>
              <a:rPr lang="en-US" altLang="zh-CN"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8×8</a:t>
            </a:r>
            <a:r>
              <a:rPr lang="zh-CN" altLang="en-US"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的亮度子块经过</a:t>
            </a:r>
            <a:r>
              <a:rPr lang="en-US" altLang="zh-CN"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DCT</a:t>
            </a:r>
            <a:r>
              <a:rPr lang="zh-CN" altLang="en-US"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变换、量化后的系数矩阵如图所示。设前一个子块的</a:t>
            </a:r>
            <a:r>
              <a:rPr lang="en-US" altLang="zh-CN"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DC</a:t>
            </a:r>
            <a:r>
              <a:rPr lang="zh-CN" altLang="en-US"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系数为</a:t>
            </a:r>
            <a:r>
              <a:rPr lang="en-US" altLang="zh-CN"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14</a:t>
            </a:r>
            <a:r>
              <a:rPr lang="zh-CN" altLang="en-US" sz="22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a:t>
            </a:r>
          </a:p>
        </p:txBody>
      </p:sp>
      <p:sp>
        <p:nvSpPr>
          <p:cNvPr id="5" name="Text Box 54"/>
          <p:cNvSpPr txBox="1">
            <a:spLocks noChangeArrowheads="1"/>
          </p:cNvSpPr>
          <p:nvPr/>
        </p:nvSpPr>
        <p:spPr bwMode="auto">
          <a:xfrm>
            <a:off x="657225" y="2188342"/>
            <a:ext cx="3233831"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3200">
                <a:solidFill>
                  <a:srgbClr val="000099"/>
                </a:solidFill>
                <a:latin typeface="黑体" panose="02010609060101010101" pitchFamily="49" charset="-122"/>
                <a:ea typeface="黑体" panose="02010609060101010101" pitchFamily="49" charset="-122"/>
              </a:defRPr>
            </a:lvl1pPr>
            <a:lvl2pPr marL="742950" indent="-285750" eaLnBrk="0" hangingPunct="0">
              <a:defRPr sz="3200">
                <a:solidFill>
                  <a:srgbClr val="000099"/>
                </a:solidFill>
                <a:latin typeface="黑体" panose="02010609060101010101" pitchFamily="49" charset="-122"/>
                <a:ea typeface="黑体" panose="02010609060101010101" pitchFamily="49" charset="-122"/>
              </a:defRPr>
            </a:lvl2pPr>
            <a:lvl3pPr marL="1143000" indent="-228600" eaLnBrk="0" hangingPunct="0">
              <a:defRPr sz="3200">
                <a:solidFill>
                  <a:srgbClr val="000099"/>
                </a:solidFill>
                <a:latin typeface="黑体" panose="02010609060101010101" pitchFamily="49" charset="-122"/>
                <a:ea typeface="黑体" panose="02010609060101010101" pitchFamily="49" charset="-122"/>
              </a:defRPr>
            </a:lvl3pPr>
            <a:lvl4pPr marL="1600200" indent="-228600" eaLnBrk="0" hangingPunct="0">
              <a:defRPr sz="3200">
                <a:solidFill>
                  <a:srgbClr val="000099"/>
                </a:solidFill>
                <a:latin typeface="黑体" panose="02010609060101010101" pitchFamily="49" charset="-122"/>
                <a:ea typeface="黑体" panose="02010609060101010101" pitchFamily="49" charset="-122"/>
              </a:defRPr>
            </a:lvl4pPr>
            <a:lvl5pPr marL="2057400" indent="-228600" eaLnBrk="0" hangingPunct="0">
              <a:defRPr sz="3200">
                <a:solidFill>
                  <a:srgbClr val="000099"/>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buClr>
                <a:schemeClr val="bg2"/>
              </a:buClr>
              <a:buSzPct val="75000"/>
              <a:buFont typeface="Wingdings" panose="05000000000000000000" pitchFamily="2" charset="2"/>
              <a:buChar char="n"/>
              <a:defRPr sz="3200">
                <a:solidFill>
                  <a:srgbClr val="000099"/>
                </a:solidFill>
                <a:latin typeface="黑体" panose="02010609060101010101" pitchFamily="49" charset="-122"/>
                <a:ea typeface="黑体" panose="02010609060101010101" pitchFamily="49" charset="-122"/>
              </a:defRPr>
            </a:lvl9pPr>
          </a:lstStyle>
          <a:p>
            <a:pPr algn="just" eaLnBrk="1" hangingPunct="1">
              <a:spcBef>
                <a:spcPts val="400"/>
              </a:spcBef>
              <a:spcAft>
                <a:spcPts val="400"/>
              </a:spcAft>
              <a:buClrTx/>
              <a:buSzTx/>
              <a:buFontTx/>
              <a:buNone/>
            </a:pPr>
            <a:r>
              <a:rPr lang="en-US" altLang="zh-CN"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⑴ </a:t>
            </a: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计算系数的</a:t>
            </a:r>
            <a:r>
              <a:rPr lang="en-US" altLang="zh-CN"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Zig-zag</a:t>
            </a: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扫描序列输出；</a:t>
            </a:r>
          </a:p>
          <a:p>
            <a:pPr algn="just" eaLnBrk="1" hangingPunct="1">
              <a:spcBef>
                <a:spcPts val="400"/>
              </a:spcBef>
              <a:spcAft>
                <a:spcPts val="400"/>
              </a:spcAft>
              <a:buClrTx/>
              <a:buSzTx/>
              <a:buFontTx/>
              <a:buNone/>
            </a:pP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⑵ 计算</a:t>
            </a:r>
            <a:r>
              <a:rPr lang="en-US" altLang="zh-CN"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DC</a:t>
            </a: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系数编码输出；</a:t>
            </a:r>
          </a:p>
          <a:p>
            <a:pPr algn="just" eaLnBrk="1" hangingPunct="1">
              <a:spcBef>
                <a:spcPts val="400"/>
              </a:spcBef>
              <a:spcAft>
                <a:spcPts val="400"/>
              </a:spcAft>
              <a:buClrTx/>
              <a:buSzTx/>
              <a:buFontTx/>
              <a:buNone/>
            </a:pP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⑶ 计算</a:t>
            </a:r>
            <a:r>
              <a:rPr lang="en-US" altLang="zh-CN"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AC</a:t>
            </a: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系数编码输出；</a:t>
            </a:r>
          </a:p>
          <a:p>
            <a:pPr algn="just" eaLnBrk="1" hangingPunct="1">
              <a:spcBef>
                <a:spcPts val="400"/>
              </a:spcBef>
              <a:spcAft>
                <a:spcPts val="400"/>
              </a:spcAft>
              <a:buClrTx/>
              <a:buSzTx/>
              <a:buFontTx/>
              <a:buNone/>
            </a:pP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⑷ 计算数据的压缩比（如果压缩前每像素占</a:t>
            </a:r>
            <a:r>
              <a:rPr lang="en-US" altLang="zh-CN"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8</a:t>
            </a:r>
            <a:r>
              <a:rPr lang="zh-CN" altLang="en-US" sz="2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比特）。</a:t>
            </a:r>
          </a:p>
        </p:txBody>
      </p:sp>
      <p:graphicFrame>
        <p:nvGraphicFramePr>
          <p:cNvPr id="6" name="对象 5"/>
          <p:cNvGraphicFramePr>
            <a:graphicFrameLocks noChangeAspect="1"/>
          </p:cNvGraphicFramePr>
          <p:nvPr>
            <p:extLst>
              <p:ext uri="{D42A27DB-BD31-4B8C-83A1-F6EECF244321}">
                <p14:modId xmlns:p14="http://schemas.microsoft.com/office/powerpoint/2010/main" val="263257724"/>
              </p:ext>
            </p:extLst>
          </p:nvPr>
        </p:nvGraphicFramePr>
        <p:xfrm>
          <a:off x="4028196" y="2168563"/>
          <a:ext cx="2793480" cy="2750171"/>
        </p:xfrm>
        <a:graphic>
          <a:graphicData uri="http://schemas.openxmlformats.org/presentationml/2006/ole">
            <mc:AlternateContent xmlns:mc="http://schemas.openxmlformats.org/markup-compatibility/2006">
              <mc:Choice xmlns:v="urn:schemas-microsoft-com:vml" Requires="v">
                <p:oleObj name="Equation" r:id="rId2" imgW="1638000" imgH="1612800" progId="Equation.DSMT4">
                  <p:embed/>
                </p:oleObj>
              </mc:Choice>
              <mc:Fallback>
                <p:oleObj name="Equation" r:id="rId2" imgW="1638000" imgH="1612800" progId="Equation.DSMT4">
                  <p:embed/>
                  <p:pic>
                    <p:nvPicPr>
                      <p:cNvPr id="0" name="Object 52"/>
                      <p:cNvPicPr>
                        <a:picLocks noChangeAspect="1" noChangeArrowheads="1"/>
                      </p:cNvPicPr>
                      <p:nvPr/>
                    </p:nvPicPr>
                    <p:blipFill>
                      <a:blip r:embed="rId3"/>
                      <a:srcRect/>
                      <a:stretch>
                        <a:fillRect/>
                      </a:stretch>
                    </p:blipFill>
                    <p:spPr bwMode="auto">
                      <a:xfrm>
                        <a:off x="4028196" y="2168563"/>
                        <a:ext cx="2793480" cy="2750171"/>
                      </a:xfrm>
                      <a:prstGeom prst="rect">
                        <a:avLst/>
                      </a:prstGeom>
                      <a:noFill/>
                    </p:spPr>
                  </p:pic>
                </p:oleObj>
              </mc:Fallback>
            </mc:AlternateContent>
          </a:graphicData>
        </a:graphic>
      </p:graphicFrame>
      <p:sp>
        <p:nvSpPr>
          <p:cNvPr id="14" name="Rectangle 2"/>
          <p:cNvSpPr txBox="1">
            <a:spLocks noChangeArrowheads="1"/>
          </p:cNvSpPr>
          <p:nvPr/>
        </p:nvSpPr>
        <p:spPr bwMode="auto">
          <a:xfrm>
            <a:off x="657225" y="358775"/>
            <a:ext cx="22098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76" tIns="35838" rIns="71676" bIns="35838"/>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3100" dirty="0">
                <a:solidFill>
                  <a:srgbClr val="FF0000"/>
                </a:solidFill>
                <a:latin typeface="隶书" pitchFamily="49" charset="-122"/>
                <a:ea typeface="隶书" pitchFamily="49" charset="-122"/>
              </a:rPr>
              <a:t>计算、思考</a:t>
            </a:r>
          </a:p>
        </p:txBody>
      </p:sp>
    </p:spTree>
    <p:extLst>
      <p:ext uri="{BB962C8B-B14F-4D97-AF65-F5344CB8AC3E}">
        <p14:creationId xmlns:p14="http://schemas.microsoft.com/office/powerpoint/2010/main" val="1970390993"/>
      </p:ext>
    </p:extLst>
  </p:cSld>
  <p:clrMapOvr>
    <a:masterClrMapping/>
  </p:clrMapOvr>
</p:sld>
</file>

<file path=ppt/theme/theme1.xml><?xml version="1.0" encoding="utf-8"?>
<a:theme xmlns:a="http://schemas.openxmlformats.org/drawingml/2006/main" name="StdAttAwdImp">
  <a:themeElements>
    <a:clrScheme name="StdAttAwdImp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fontScheme name="StdAttAwdImp">
      <a:majorFont>
        <a:latin typeface="楷体_GB2312"/>
        <a:ea typeface="宋体"/>
        <a:cs typeface=""/>
      </a:majorFont>
      <a:minorFont>
        <a:latin typeface="黑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717550" rtl="0" eaLnBrk="1" fontAlgn="base" latinLnBrk="0" hangingPunct="1">
          <a:lnSpc>
            <a:spcPct val="100000"/>
          </a:lnSpc>
          <a:spcBef>
            <a:spcPct val="0"/>
          </a:spcBef>
          <a:spcAft>
            <a:spcPct val="0"/>
          </a:spcAft>
          <a:buClrTx/>
          <a:buSzTx/>
          <a:buFontTx/>
          <a:buNone/>
          <a:tabLst/>
          <a:defRPr kumimoji="1" lang="zh-CN" altLang="en-US" sz="19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717550" rtl="0" eaLnBrk="1" fontAlgn="base" latinLnBrk="0" hangingPunct="1">
          <a:lnSpc>
            <a:spcPct val="100000"/>
          </a:lnSpc>
          <a:spcBef>
            <a:spcPct val="0"/>
          </a:spcBef>
          <a:spcAft>
            <a:spcPct val="0"/>
          </a:spcAft>
          <a:buClrTx/>
          <a:buSzTx/>
          <a:buFontTx/>
          <a:buNone/>
          <a:tabLst/>
          <a:defRPr kumimoji="1" lang="zh-CN" altLang="en-US" sz="19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dAttAwdImp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StdAttAwdImp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StdAttAwdImp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StdAttAwdImp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StdAttAwdImp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StdAttAwdImp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StdAttAwdImp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StdAttAwdImp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11469</TotalTime>
  <Words>2397</Words>
  <Application>Microsoft Office PowerPoint</Application>
  <PresentationFormat>B5 (ISO) 纸张(176x250 毫米)</PresentationFormat>
  <Paragraphs>503</Paragraphs>
  <Slides>37</Slides>
  <Notes>4</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52" baseType="lpstr">
      <vt:lpstr>黑体</vt:lpstr>
      <vt:lpstr>黑体</vt:lpstr>
      <vt:lpstr>华光标题宋_CNKI</vt:lpstr>
      <vt:lpstr>华光综艺_CNKI</vt:lpstr>
      <vt:lpstr>楷体</vt:lpstr>
      <vt:lpstr>楷体_GB2312</vt:lpstr>
      <vt:lpstr>隶书</vt:lpstr>
      <vt:lpstr>宋体</vt:lpstr>
      <vt:lpstr>Arial</vt:lpstr>
      <vt:lpstr>Symbol</vt:lpstr>
      <vt:lpstr>Times New Roman</vt:lpstr>
      <vt:lpstr>Wingdings</vt:lpstr>
      <vt:lpstr>StdAttAwdImp</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biyuan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lyy</dc:creator>
  <cp:lastModifiedBy>Yaoh Liu</cp:lastModifiedBy>
  <cp:revision>859</cp:revision>
  <dcterms:created xsi:type="dcterms:W3CDTF">2001-02-13T08:11:18Z</dcterms:created>
  <dcterms:modified xsi:type="dcterms:W3CDTF">2025-04-07T09:04:56Z</dcterms:modified>
</cp:coreProperties>
</file>