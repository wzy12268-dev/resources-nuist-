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g"/>
  <Default Extension="jpeg" ContentType="image/jpeg"/>
  <Default Extension="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ink/ink1.xml" ContentType="application/inkml+xml"/>
  <Override PartName="/ppt/notesSlides/notesSlide6.xml" ContentType="application/vnd.openxmlformats-officedocument.presentationml.notesSlide+xml"/>
  <Override PartName="/ppt/slides/slide6.xml" ContentType="application/vnd.openxmlformats-officedocument.presentationml.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0" r:id="rId1"/>
  </p:sldMasterIdLst>
  <p:notesMasterIdLst>
    <p:notesMasterId r:id="rId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Lst>
  <p:sldSz cx="9144000" cy="6858000"/>
  <p:notesSz cx="6857895" cy="9143861"/>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1pPr>
    <a:lvl2pPr marL="457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2pPr>
    <a:lvl3pPr marL="914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3pPr>
    <a:lvl4pPr marL="13716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4pPr>
    <a:lvl5pPr marL="18288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5pPr>
    <a:lvl6pPr marL="22860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6pPr>
    <a:lvl7pPr marL="2743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7pPr>
    <a:lvl8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8pPr>
    <a:lvl9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4132" autoAdjust="0"/>
    <p:restoredTop sz="84294" autoAdjust="0"/>
  </p:normalViewPr>
  <p:slideViewPr>
    <p:cSldViewPr snapToGrid="0">
      <p:cViewPr>
        <p:scale>
          <a:sx n="186" d="100"/>
          <a:sy n="186" d="100"/>
        </p:scale>
        <p:origin x="0" y="0"/>
      </p:cViewPr>
      <p:guideLst>
        <p:guide orient="horz" pos="2528"/>
        <p:guide pos="2880"/>
      </p:guideLst>
    </p:cSldViewPr>
  </p:slideViewPr>
  <p:outlineViewPr>
    <p:cViewPr>
      <p:scale>
        <a:sx n="50" d="100"/>
        <a:sy n="50" d="100"/>
      </p:scale>
      <p:origin x="0" y="0"/>
    </p:cViewPr>
    <p:sldLst/>
  </p:outlineViewPr>
  <p:notesTextViewPr>
    <p:cViewPr>
      <p:scale>
        <a:sx n="150" d="100"/>
        <a:sy n="150" d="100"/>
      </p:scale>
      <p:origin x="0" y="0"/>
    </p:cViewPr>
  </p:notesTextViewPr>
  <p:sorterViewPr>
    <p:cViewPr>
      <p:scale>
        <a:sx n="100" d="100"/>
        <a:sy n="100" d="100"/>
      </p:scale>
      <p:origin x="0" y="0"/>
    </p:cViewPr>
  </p:sorterViewPr>
  <p:notesViewPr>
    <p:cSldViewPr snapToGrid="0">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5-11-09T20:03:07"/>
    </inkml:context>
    <inkml:brush xml:id="br0">
      <inkml:brushProperty name="width" value="0.3174555" units="cm"/>
      <inkml:brushProperty name="height" value="0.3174555" units="cm"/>
      <inkml:brushProperty name="fitToCurve" value="1"/>
      <inkml:brushProperty name="color" value="#ffc000"/>
      <inkml:brushProperty name="transparency" value="153"/>
    </inkml:brush>
  </inkml:definitions>
  <inkml:trace contextRef="#ctx0" brushRef="#br0"> 31 34 1023, 41 31 1023, 72 25 1023, 75 25 1023, 122 27 1023, 148 31 1023, 195 35 1023, 196 35 1023, 242 33 1023, 289 30 1023, 294 30 1023, 296 30 1023, 343 29 1023, 344 29 1023, 347 29 1023, 350 29 1023, 356 30 1023, 361 30 1023, 366 31 1023, 371 31 1023, 373 31 1023, 375 31 1023, 381 31 1023, 392 32 1023, 439 33 1023, 441 33 1023, 450 33 1023, 456 34 1023, 457 33 1023, 464 33 1023, 512 33 1023, 524 32 1023, 530 32 1023, 533 32 1023, 552 31 1023, 598 29 1023, 632 25 0</inkml:trace>
  <inkml:annotation type="path"> 388 518 1, 466 505 1, 613 463 1, 1072 376 1, 1117 379 1, 1827 410 1, 2223 464 1, 2919 524 1, 2944 523 1, 3636 493 1, 4336 449 1, 4410 452 1, 4438 451 1, 5140 434 1, 5164 439 1, 5197 433 1, 5247 434 1, 5338 448 1, 5413 449 1, 5487 464 1, 5569 467 1, 5598 466 1, 5629 470 1, 5712 469 1, 5878 481 1, 6577 491 1, 6613 488 1, 6747 491 1, 6832 505 1, 6856 502 1, 6960 499 1, 7675 500 1, 7857 484 1, 7955 484 1, 7990 479 1, 8276 470 1, 8975 440 1, 9481 380 1</inkml:annotation>
  <inkml:annotation type="data">AHkcA4CABAAAAAAAHQPGBVgDC0T/gQNQZkW9AkgUBQE4ESB6XEEKUyaC/DH4P9fg78O/jz8H/g78
g/j6fjnv4+/IOOU68evxZ+P/i77+D8bfi34e/gT8NfaAgvxV+Ld78GY87eLCWURU2LFugIJ/DcX8
NxgAAAAB/DcY
</inkml:annotation>
  <inkml:annotation type="types">AAEBAQEBAQEBAQEBAQEBAQEBAQEBAQEBAQEBAQEBAQEBAQEBAQE=
</inkml:annotation>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5-11-09T20:03:07"/>
    </inkml:context>
    <inkml:brush xml:id="br0">
      <inkml:brushProperty name="width" value="0.3174555" units="cm"/>
      <inkml:brushProperty name="height" value="0.3174555" units="cm"/>
      <inkml:brushProperty name="fitToCurve" value="1"/>
      <inkml:brushProperty name="color" value="#ffc000"/>
      <inkml:brushProperty name="transparency" value="153"/>
    </inkml:brush>
  </inkml:definitions>
  <inkml:trace contextRef="#ctx0" brushRef="#br0"> 32 30 1023, 39 28 1023, 51 26 1023, 58 25 1023, 60 25 1023, 62 25 1023, 70 24 1023, 83 25 1023, 85 25 1023, 87 25 1023, 98 26 1023, 106 28 1023, 125 31 1023, 172 34 1023, 173 34 1023, 181 33 1023, 184 33 1023, 190 34 1023, 196 35 1023, 199 35 1023, 201 35 1023, 204 35 1023, 251 32 1023, 301 29 1023, 303 30 1023, 306 29 1023, 309 29 1023, 314 29 1023, 361 29 1023, 364 29 1023, 366 29 1023, 369 29 1023, 371 28 1023, 373 29 1023, 376 28 1023, 378 29 1023, 381 28 1023, 388 29 1023, 393 28 1023, 396 28 1023, 398 28 1023, 402 28 1023, 404 28 1023, 407 28 1023, 410 28 1023, 459 27 1023, 462 27 1023, 470 27 1023, 472 27 1023, 475 26 1023, 478 27 1023, 481 25 1023, 483 26 1023, 486 26 1023, 492 28 1023, 494 26 1023, 496 27 1023, 502 26 1023, 505 27 1023, 507 27 1023, 510 28 1023, 513 27 1023, 515 27 1023, 517 27 1023, 521 27 1023, 528 27 1023, 530 27 1023, 540 28 1023, 542 28 1023, 544 28 1023, 592 28 1023, 640 27 1023, 650 26 1023, 656 27 1023, 658 26 1023, 661 27 1023, 663 26 1023, 666 26 1023, 669 26 1023, 687 25 1023, 688 26 1023, 689 26 1023, 694 24 1023, 694 24 1023, 695 25 1023, 694 25 1023, 689 25 1023,</inkml:trace>
  <inkml:annotation type="path"> 388 467 1, 483 450 1, 579 422 1, 771 383 1, 868 372 1, 900 375 1, 924 371 1, 1053 360 1, 1242 369 1, 1270 368 1, 1305 375 1, 1470 396 1, 1582 423 1, 1867 464 1, 2577 515 1, 2598 510 1, 2721 495 1, 2755 497 1, 2850 516 1, 2935 522 1, 2985 519 1, 3016 521 1, 3060 518 1, 3766 477 1, 4509 441 1, 4545 444 1, 4593 437 1, 4629 441 1, 4702 438 1, 5410 434 1, 5464 438 1, 5491 432 1, 5529 440 1, 5562 426 1, 5601 429 1, 5634 422 1, 5674 429 1, 5707 423 1, 5817 428 1, 5889 423 1, 5934 425 1, 5973 417 1, 6022 420 1, 6061 417 1, 6097 422 1, 6142 419 1, 6880 398 1, 6927 401 1, 7051 398 1, 7084 404 1, 7123 387 1, 7162 405 1, 7213 381 1, 7251 390 1, 7293 389 1, 7374 413 1, 7410 393 1, 7441 410 1, 7534 396 1, 7573 411 1, 7611 398 1, 7648 416 1, 7693 407 1, 7722 410 1, 7759 405 1, 7818 408 1, 7915 402 1, 7947 407 1, 8095 414 1, 8125 413 1, 8163 416 1, 8875 413 1, 9594 407 1, 9748 389 1, 9834 398 1, 9873 386 1, 9916 398 1, 9949 395 1, 9982 395 1, 10033 389 1, 10306 381 1, 10321 384 1, 10336 383 1, 10408 366 1, 10411 366 1, 10417 371 1, 10414 372 1, 10339 381 1</inkml:annotation>
  <inkml:annotation type="data">AKEBHAOAgAQAAAAAAB0DhgZaAwtE/4EDUGZFvQJIFAUBOBEgelxBCntYgvwx+DZ69+3wevrfN36v
w5+Qfi98ds/HnPyLGfjj8e2VLPG7c2PyB+QfXwws55eO2Kznv5PlfkB+MfPmWPwF+B3j3N8ggvxF
+JakXKkjtkU68bAXNzc2AsLneXPPNyzYEpWbmxcu5KCCfw3F/DcYAAAAAAAAAAAAAAA=
</inkml:annotation>
  <inkml:annotation type="types">AAEBAQEBAQEBAQEBAQEBAQEBAQEBAQEBAQEBAQEBAQEBAQEBAQEBAQEBAQEBAQEBAQEBAQEBAQEB
AQEBAQEBAQEBAQEBAQEBAQEBAQEBAQEBAQEBAQEBAQ==
</inkml:annotation>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5-11-09T20:03:07"/>
    </inkml:context>
    <inkml:brush xml:id="br0">
      <inkml:brushProperty name="width" value="0.3174555" units="cm"/>
      <inkml:brushProperty name="height" value="0.3174555" units="cm"/>
      <inkml:brushProperty name="fitToCurve" value="1"/>
      <inkml:brushProperty name="color" value="#ffc000"/>
      <inkml:brushProperty name="transparency" value="153"/>
    </inkml:brush>
  </inkml:definitions>
  <inkml:trace contextRef="#ctx0" brushRef="#br0"> 31 31 1023, 45 28 1023, 50 28 1023, 55 29 1023, 61 30 1023, 73 32 1023, 78 33 1023, 85 33 1023, 90 35 1023, 95 36 1023, 101 38 1023, 125 40 1023, 130 40 1023, 178 40 1023, 187 39 1023, 233 35 1023, 236 36 1023, 239 36 1023, 286 32 1023, 332 26 1023, 335 26 1023, 382 27 1023, 384 27 1023, 431 24 1023, 431 24 1023, 448 25 1023,</inkml:trace>
  <inkml:annotation type="path"> 401 488 1, 472 467 1, 677 427 1, 757 427 1, 829 434 1, 908 457 1, 1091 487 1, 1175 490 1, 1271 502 1, 1348 520 1, 1423 547 1, 1511 565 1, 1876 605 1, 1952 605 1, 2675 604 1, 2804 592 1, 3500 526 1, 3538 545 1, 3583 539 1, 4285 478 1, 4982 389 1, 5021 389 1, 5731 406 1, 5761 403 1, 6460 361 1, 6472 362 1, 6718 371 1</inkml:annotation>
  <inkml:annotation type="data">AGccA4CABAAAAAAAHQOGBGADC0T/gQNQZkW9AkgUBQE4ESB6XEEKQRuC/DX4T+j50+D481PwR+C/
x1+M/xd+O348v47/Hn4//H35D/AwgvxN+K7yJbljV76vnfgl7yCCfw3F/DcYAAAA
</inkml:annotation>
  <inkml:annotation type="types">AAEBAQEBAQEBAQEBAQEBAQEBAQEBAQEBAQEB
</inkml:annotation>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5-11-09T20:03:07"/>
    </inkml:context>
    <inkml:brush xml:id="br0">
      <inkml:brushProperty name="width" value="0.3174555" units="cm"/>
      <inkml:brushProperty name="height" value="0.3174555" units="cm"/>
      <inkml:brushProperty name="fitToCurve" value="1"/>
      <inkml:brushProperty name="color" value="#ffc000"/>
      <inkml:brushProperty name="transparency" value="153"/>
    </inkml:brush>
  </inkml:definitions>
  <inkml:trace contextRef="#ctx0" brushRef="#br0"> 33 39 1023, 37 39 1023, 85 37 1023, 90 36 1023, 108 35 1023, 157 31 1023, 159 31 1023, 168 31 1023, 173 33 1023, 183 34 1023, 185 33 1023, 190 33 1023, 215 30 1023, 262 27 1023, 311 25 1023, 314 26 1023, 317 25 1023, 321 25 1023, 323 25 1023, 328 25 1023, 330 25 1023, 334 25 1023, 340 26 1023, 346 26 1023, 352 26 1023, 355 25 1023, 358 26 1023, 361 26 1023, 364 27 1023, 367 26 1023, 371 27 1023, 374 27 1023, 378 27 1023, 426 30 1023, 429 30 1023, 435 29 1023, 440 30 1023, 442 30 1023, 446 30 1023, 448 29 1023, 454 29 1023, 457 29 1023, 460 29 1023, 466 30 1023, 470 30 1023, 473 30 1023, 478 30 1023, 492 31 1023, 495 31 1023, 499 32 1023, 505 32 1023, 509 31 1023, 513 32 1023, 516 31 1023, 520 32 1023, 523 31 1023, 530 30 1023, 534 30 1023, 537 30 1023, 541 30 1023, 544 29 1023, 548 30 1023, 551 29 1023, 554 29 1023, 557 28 1023, 561 28 1023, 567 28 1023, 598 28 1023, 603 30 1023, 607 32 1023, 609 33 0</inkml:trace>
  <inkml:annotation type="path"> 373 574 1, 495 583 1, 559 578 1, 1269 562 1, 1353 545 1, 1626 524 1, 2349 463 1, 2382 467 1, 2517 472 1, 2592 488 1, 2740 503 1, 2775 491 1, 2848 491 1, 3228 451 1, 3936 410 1, 4659 373 1, 4704 395 1, 4750 380 1, 4807 380 1, 4849 376 1, 4914 379 1, 4953 368 1, 5010 379 1, 5106 388 1, 5193 386 1, 5283 394 1, 5322 382 1, 5373 391 1, 5416 388 1, 5463 401 1, 5508 391 1, 5557 412 1, 5605 404 1, 5662 410 1, 6390 449 1, 6432 448 1, 6528 431 1, 6597 451 1, 6630 443 1, 6688 451 1, 6721 442 1, 6811 442 1, 6861 433 1, 6906 436 1, 6996 451 1, 7050 443 1, 7096 452 1, 7162 451 1, 7378 467 1, 7417 464 1, 7480 476 1, 7581 482 1, 7635 467 1, 7692 475 1, 7735 470 1, 7795 475 1, 7846 461 1, 7948 446 1, 8008 455 1, 8061 449 1, 8112 454 1, 8164 437 1, 8224 445 1, 8262 436 1, 8314 437 1, 8355 424 1, 8412 427 1, 8508 419 1, 8974 427 1, 9045 448 1, 9106 487 1, 9127 493 1</inkml:annotation>
  <inkml:annotation type="data">AI8BHAOAgAQAAAAAAB0DrgVeAwtE/4EDUGZFvQJIFAUBOBEgelxBCmlIgvwt+B/P48/Hf3fiL8h/
F59fLz8GfhDPyCm87mHQln48/H/L3N8dc25831zNWXx2yykz8Lfhm6CC/GH4vux3wy7OpzYEq5Zu
VztyrCUllubmoXNlhiiCfw3F/DcYAAAAAAAAAAB/DcY=
</inkml:annotation>
  <inkml:annotation type="types">AAEBAQEBAQEBAQEBAQEBAQEBAQEBAQEBAQEBAQEBAQEBAQEBAQEBAQEBAQEBAQEBAQEBAQEBAQEB
AQEBAQEBAQEBAQEBAQEB
</inkml:annotation>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5-11-09T20:03:07"/>
    </inkml:context>
    <inkml:brush xml:id="br0">
      <inkml:brushProperty name="width" value="0.3174555" units="cm"/>
      <inkml:brushProperty name="height" value="0.3174555" units="cm"/>
      <inkml:brushProperty name="fitToCurve" value="1"/>
      <inkml:brushProperty name="color" value="#ffc000"/>
      <inkml:brushProperty name="transparency" value="153"/>
    </inkml:brush>
  </inkml:definitions>
  <inkml:trace contextRef="#ctx0" brushRef="#br0"> 32 30 1023, 37 29 1023, 38 29 1023, 86 30 1023, 133 33 1023, 138 34 1023, 177 37 1023, 200 37 1023, 213 36 1023, 260 31 1023, 306 28 1023, 353 27 1023, 355 26 0</inkml:trace>
  <inkml:annotation type="path"> 395 469 1, 480 449 1, 554 442 1, 572 442 1, 1293 446 1, 1989 496 1, 2066 509 1, 2654 559 1, 2994 557 1, 3200 538 1, 3894 466 1, 4596 419 1, 5288 400 1, 5324 392 1</inkml:annotation>
  <inkml:annotation type="data">AFEcA4CABAAAAAAAHQOkA1oDC0T/gQNQZkW9AkgUBQE4ESB6XEEKKw6C/DH4Nvn8hX8c/ij8C/T+
KLPx+IL8RfiVJm52+cwAgn8Nxfw3GAH8Nxg=
</inkml:annotation>
  <inkml:annotation type="types">AAEBAQEBAQEBAQEBAQE=
</inkml:annotation>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5-11-09T20:03:07"/>
    </inkml:context>
    <inkml:brush xml:id="br0">
      <inkml:brushProperty name="width" value="0.3174555" units="cm"/>
      <inkml:brushProperty name="height" value="0.3174555" units="cm"/>
      <inkml:brushProperty name="fitToCurve" value="1"/>
      <inkml:brushProperty name="color" value="#ffc000"/>
      <inkml:brushProperty name="transparency" value="153"/>
    </inkml:brush>
  </inkml:definitions>
  <inkml:trace contextRef="#ctx0" brushRef="#br0"> 31 28 1023, 79 32 1023, 81 32 1023, 128 29 1023, 131 29 1023, 180 31 1023, 186 31 1023, 234 27 1023, 238 27 1023, 284 26 1023, 289 26 1023, 292 26 1023, 295 25 1023, 297 25 1023, 344 25 1023, 392 25 1023, 439 25 1023, 444 25 1023, 445 24 1023,</inkml:trace>
  <inkml:annotation type="path"> 359 425 1, 466 425 1, 1181 476 1, 1216 473 1, 1924 433 1, 1970 434 1, 2692 470 1, 2786 463 1, 3503 398 1, 3562 398 1, 4262 392 1, 4334 383 1, 4373 385 1, 4418 379 1, 4459 380 1, 5165 370 1, 5882 379 1, 6589 377 1, 6662 370 1, 6676 359 1</inkml:annotation>
  <inkml:annotation type="data">AFscA4CABAAAAAAAHQOEBFYDC0T/gQNQZkW9AkgUBQE4ESB6XEEKNRSC/Cn4H/G35B/H349/IH47
/HH49/HH431fx9L+OfKC/Dn4d8ee8zfPixYFgn8Nxfw3GAAA
</inkml:annotation>
  <inkml:annotation type="types">AAEBAQEBAQEBAQEBAQEBAQEBAQE=
</inkml:annotation>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5-11-09T20:03:07"/>
    </inkml:context>
    <inkml:brush xml:id="br0">
      <inkml:brushProperty name="width" value="0.3174555" units="cm"/>
      <inkml:brushProperty name="height" value="0.3174555" units="cm"/>
      <inkml:brushProperty name="fitToCurve" value="1"/>
      <inkml:brushProperty name="color" value="#ffc000"/>
      <inkml:brushProperty name="transparency" value="153"/>
    </inkml:brush>
  </inkml:definitions>
  <inkml:trace contextRef="#ctx0" brushRef="#br0"> 31 27 1023, 37 27 1023, 45 26 1023, 76 26 1023, 82 27 1023, 105 28 1023, 109 28 1023, 156 26 1023, 174 27 1023, 215 25 1023, 217 26 1023, 221 25 1023, 224 25 1023, 227 25 1023, 230 25 1023, 234 25 1023, 236 26 1023, 240 24 1023, 244 25 1023, 248 25 1023, 250 25 1023, 263 24 1023, 267 25 1023, 277 26 1023, 283 26 1023, 289 27 1023, 308 28 1023, 310 28 1023, 313 29 1023, 316 28 1023, 318 29 1023, 323 29 1023, 370 29 1023, 416 30 1023, 423 30 1023, 427 30 1023, 428 30 1023, 430 30 1023, 430 29 1023, 430 29 1023, 430 29 1023, 430 29 1023, 431 29 1023, 431 29 1023, 430 29 0</inkml:trace>
  <inkml:annotation type="path"> 382 390 1, 463 400 1, 550 403 1, 670 391 1, 1146 393 1, 1233 406 1, 1578 426 1, 1639 423 1, 2337 393 1, 2607 405 1, 3217 370 1, 3255 388 1, 3310 370 1, 3355 376 1, 3411 367 1, 3450 378 1, 3507 372 1, 3543 385 1, 3603 366 1, 3660 372 1, 3717 370 1, 3754 373 1, 3949 363 1, 3997 373 1, 4158 391 1, 4242 393 1, 4335 408 1, 4620 426 1, 4653 424 1, 4692 433 1, 4735 424 1, 4770 438 1, 4843 436 1, 5545 436 1, 6245 450 1, 6350 442 1, 6407 445 1, 6422 444 1, 6451 444 1, 6452 439 1, 6454 439 1, 6455 441 1, 6455 441 1, 6457 439 1, 6457 439 1, 6454 433 1</inkml:annotation>
  <inkml:annotation type="data">AHMcA4CABAAAAAAAHQP0A1QDC0T/gQNQZkW9AkgUBQE4ESB6XEEKTS6C/DH4PmfhL8L/gb8F/jr8
P/hL8Z5Sbhv1fP8Hl934Hi8/HF/GfezRLYL8Mfhe2Rd53mwTvKuLFm5UosAAgn8Nxfw3GAAAAAAB
/DcY
</inkml:annotation>
  <inkml:annotation type="types">AAEBAQEBAQEBAQEBAQEBAQEBAQEBAQEBAQEBAQEBAQEBAQEBAQEBAQEBAQEBAQ==
</inkml:annotation>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&lt;#&gt;</a:t>
            </a:fld>
            <a:endParaRPr lang="zh-CN" altLang="en-US" sz="1200">
              <a:latin typeface="等线" pitchFamily="0" charset="0"/>
              <a:ea typeface="等线" pitchFamily="0" charset="0"/>
              <a:cs typeface="等线" pitchFamily="0" charset="0"/>
            </a:endParaRPr>
          </a:p>
        </p:txBody>
      </p:sp>
      <p:sp>
        <p:nvSpPr>
          <p:cNvPr id="7" name="文本框"/>
          <p:cNvSpPr>
            <a:spLocks noGrp="1"/>
          </p:cNvSpPr>
          <p:nvPr>
            <p:ph type="hdr"/>
          </p:nvPr>
        </p:nvSpPr>
        <p:spPr>
          <a:xfrm rot="0">
            <a:off x="0" y="0"/>
            <a:ext cx="2971799" cy="458787"/>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等线" pitchFamily="0" charset="0"/>
              <a:ea typeface="等线" pitchFamily="0" charset="0"/>
              <a:cs typeface="等线" pitchFamily="0" charset="0"/>
            </a:endParaRPr>
          </a:p>
        </p:txBody>
      </p:sp>
      <p:sp>
        <p:nvSpPr>
          <p:cNvPr id="8" name="文本框"/>
          <p:cNvSpPr>
            <a:spLocks noGrp="1"/>
          </p:cNvSpPr>
          <p:nvPr>
            <p:ph type="dt" idx="1"/>
          </p:nvPr>
        </p:nvSpPr>
        <p:spPr>
          <a:xfrm rot="0">
            <a:off x="3884613" y="0"/>
            <a:ext cx="2971800" cy="458787"/>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zh-CN" altLang="en-US" sz="1200">
                <a:latin typeface="等线" pitchFamily="0" charset="0"/>
                <a:ea typeface="等线" pitchFamily="0" charset="0"/>
                <a:cs typeface="等线" pitchFamily="0" charset="0"/>
              </a:rPr>
              <a:t>2025-11-9</a:t>
            </a:fld>
            <a:endParaRPr lang="zh-CN" altLang="en-US" sz="1200">
              <a:latin typeface="等线" pitchFamily="0" charset="0"/>
              <a:ea typeface="等线" pitchFamily="0" charset="0"/>
              <a:cs typeface="等线" pitchFamily="0" charset="0"/>
            </a:endParaRPr>
          </a:p>
        </p:txBody>
      </p:sp>
      <p:sp>
        <p:nvSpPr>
          <p:cNvPr id="9" name="对象"/>
          <p:cNvSpPr>
            <a:spLocks noGrp="1" noChangeAspect="1"/>
          </p:cNvSpPr>
          <p:nvPr>
            <p:ph type="sldImg" idx="2"/>
          </p:nvPr>
        </p:nvSpPr>
        <p:spPr>
          <a:xfrm rot="0">
            <a:off x="1371600" y="1143000"/>
            <a:ext cx="4114800" cy="3086100"/>
          </a:xfrm>
          <a:prstGeom prst="rect"/>
          <a:noFill/>
          <a:ln w="12700" cmpd="sng" cap="flat">
            <a:solidFill>
              <a:srgbClr val="000000"/>
            </a:solidFill>
            <a:prstDash val="solid"/>
            <a:round/>
          </a:ln>
        </p:spPr>
      </p:sp>
      <p:sp>
        <p:nvSpPr>
          <p:cNvPr id="10" name="文本框"/>
          <p:cNvSpPr>
            <a:spLocks noGrp="1"/>
          </p:cNvSpPr>
          <p:nvPr>
            <p:ph type="body" idx="3"/>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zh-CN" altLang="en-US"/>
              <a:t>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endParaRPr lang="zh-CN" altLang="en-US"/>
          </a:p>
        </p:txBody>
      </p:sp>
      <p:sp>
        <p:nvSpPr>
          <p:cNvPr id="11" name="文本框"/>
          <p:cNvSpPr>
            <a:spLocks noGrp="1"/>
          </p:cNvSpPr>
          <p:nvPr>
            <p:ph type="ftr" idx="4"/>
          </p:nvPr>
        </p:nvSpPr>
        <p:spPr>
          <a:xfrm rot="0">
            <a:off x="0" y="8685213"/>
            <a:ext cx="2971799" cy="458787"/>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1618439296"/>
      </p:ext>
    </p:extLst>
  </p:cSld>
  <p:clrMap bg1="lt1" tx1="dk1" bg2="lt2" tx2="dk2" accent1="accent1" accent2="accent2" accent3="accent3" accent4="accent4" accent5="accent5" accent6="accent6" hlink="hlink" folHlink="folHlink"/>
  <p:hf sldNum="1"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itchFamily="0" charset="0"/>
        <a:ea typeface="等线" pitchFamily="0" charset="0"/>
        <a:cs typeface="等线" pitchFamily="0"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itchFamily="0" charset="0"/>
        <a:ea typeface="等线" pitchFamily="0" charset="0"/>
        <a:cs typeface="等线" pitchFamily="0"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itchFamily="0" charset="0"/>
        <a:ea typeface="等线" pitchFamily="0" charset="0"/>
        <a:cs typeface="等线" pitchFamily="0"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itchFamily="0" charset="0"/>
        <a:ea typeface="等线" pitchFamily="0" charset="0"/>
        <a:cs typeface="等线" pitchFamily="0"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itchFamily="0" charset="0"/>
        <a:ea typeface="等线" pitchFamily="0" charset="0"/>
        <a:cs typeface="等线" pitchFamily="0"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itchFamily="0" charset="0"/>
        <a:ea typeface="等线" pitchFamily="0" charset="0"/>
        <a:cs typeface="等线" pitchFamily="0"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itchFamily="0" charset="0"/>
        <a:ea typeface="等线" pitchFamily="0" charset="0"/>
        <a:cs typeface="等线" pitchFamily="0"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itchFamily="0" charset="0"/>
        <a:ea typeface="等线" pitchFamily="0" charset="0"/>
        <a:cs typeface="等线" pitchFamily="0"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itchFamily="0" charset="0"/>
        <a:ea typeface="等线" pitchFamily="0" charset="0"/>
        <a:cs typeface="等线" pitchFamily="0"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1</a:t>
            </a:fld>
            <a:endParaRPr lang="zh-CN" altLang="en-US" sz="1200">
              <a:latin typeface="等线" pitchFamily="0" charset="0"/>
              <a:ea typeface="等线" pitchFamily="0" charset="0"/>
              <a:cs typeface="等线" pitchFamily="0" charset="0"/>
            </a:endParaRPr>
          </a:p>
        </p:txBody>
      </p:sp>
      <p:sp>
        <p:nvSpPr>
          <p:cNvPr id="32"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33"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4"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1</a:t>
            </a:fld>
            <a:endParaRPr lang="zh-CN" altLang="en-US"/>
          </a:p>
        </p:txBody>
      </p:sp>
    </p:spTree>
    <p:extLst>
      <p:ext uri="{BB962C8B-B14F-4D97-AF65-F5344CB8AC3E}">
        <p14:creationId xmlns:p14="http://schemas.microsoft.com/office/powerpoint/2010/main" val="1159838584"/>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2</a:t>
            </a:fld>
            <a:endParaRPr lang="zh-CN" altLang="en-US" sz="1200">
              <a:latin typeface="等线" pitchFamily="0" charset="0"/>
              <a:ea typeface="等线" pitchFamily="0" charset="0"/>
              <a:cs typeface="等线" pitchFamily="0" charset="0"/>
            </a:endParaRPr>
          </a:p>
        </p:txBody>
      </p:sp>
      <p:sp>
        <p:nvSpPr>
          <p:cNvPr id="47"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48"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49"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2</a:t>
            </a:fld>
            <a:endParaRPr lang="zh-CN" altLang="en-US"/>
          </a:p>
        </p:txBody>
      </p:sp>
    </p:spTree>
    <p:extLst>
      <p:ext uri="{BB962C8B-B14F-4D97-AF65-F5344CB8AC3E}">
        <p14:creationId xmlns:p14="http://schemas.microsoft.com/office/powerpoint/2010/main" val="1168665901"/>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3</a:t>
            </a:fld>
            <a:endParaRPr lang="zh-CN" altLang="en-US" sz="1200">
              <a:latin typeface="等线" pitchFamily="0" charset="0"/>
              <a:ea typeface="等线" pitchFamily="0" charset="0"/>
              <a:cs typeface="等线" pitchFamily="0" charset="0"/>
            </a:endParaRPr>
          </a:p>
        </p:txBody>
      </p:sp>
      <p:sp>
        <p:nvSpPr>
          <p:cNvPr id="57"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58"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9"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3</a:t>
            </a:fld>
            <a:endParaRPr lang="zh-CN" altLang="en-US"/>
          </a:p>
        </p:txBody>
      </p:sp>
    </p:spTree>
    <p:extLst>
      <p:ext uri="{BB962C8B-B14F-4D97-AF65-F5344CB8AC3E}">
        <p14:creationId xmlns:p14="http://schemas.microsoft.com/office/powerpoint/2010/main" val="275382087"/>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4</a:t>
            </a:fld>
            <a:endParaRPr lang="zh-CN" altLang="en-US" sz="1200">
              <a:latin typeface="等线" pitchFamily="0" charset="0"/>
              <a:ea typeface="等线" pitchFamily="0" charset="0"/>
              <a:cs typeface="等线" pitchFamily="0" charset="0"/>
            </a:endParaRPr>
          </a:p>
        </p:txBody>
      </p:sp>
      <p:sp>
        <p:nvSpPr>
          <p:cNvPr id="67"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68"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69"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4</a:t>
            </a:fld>
            <a:endParaRPr lang="zh-CN" altLang="en-US"/>
          </a:p>
        </p:txBody>
      </p:sp>
    </p:spTree>
    <p:extLst>
      <p:ext uri="{BB962C8B-B14F-4D97-AF65-F5344CB8AC3E}">
        <p14:creationId xmlns:p14="http://schemas.microsoft.com/office/powerpoint/2010/main" val="776777412"/>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5</a:t>
            </a:fld>
            <a:endParaRPr lang="zh-CN" altLang="en-US" sz="1200">
              <a:latin typeface="等线" pitchFamily="0" charset="0"/>
              <a:ea typeface="等线" pitchFamily="0" charset="0"/>
              <a:cs typeface="等线" pitchFamily="0" charset="0"/>
            </a:endParaRPr>
          </a:p>
        </p:txBody>
      </p:sp>
      <p:sp>
        <p:nvSpPr>
          <p:cNvPr id="77"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78"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79"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5</a:t>
            </a:fld>
            <a:endParaRPr lang="zh-CN" altLang="en-US"/>
          </a:p>
        </p:txBody>
      </p:sp>
    </p:spTree>
    <p:extLst>
      <p:ext uri="{BB962C8B-B14F-4D97-AF65-F5344CB8AC3E}">
        <p14:creationId xmlns:p14="http://schemas.microsoft.com/office/powerpoint/2010/main" val="299305958"/>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6</a:t>
            </a:fld>
            <a:endParaRPr lang="zh-CN" altLang="en-US" sz="1200">
              <a:latin typeface="等线" pitchFamily="0" charset="0"/>
              <a:ea typeface="等线" pitchFamily="0" charset="0"/>
              <a:cs typeface="等线" pitchFamily="0" charset="0"/>
            </a:endParaRPr>
          </a:p>
        </p:txBody>
      </p:sp>
      <p:sp>
        <p:nvSpPr>
          <p:cNvPr id="88"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89"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pPr marL="0" indent="0" algn="l" eaLnBrk="1" fontAlgn="auto" latinLnBrk="0" hangingPunct="1">
              <a:lnSpc>
                <a:spcPct val="100000"/>
              </a:lnSpc>
              <a:spcBef>
                <a:spcPts val="0"/>
              </a:spcBef>
              <a:spcAft>
                <a:spcPts val="0"/>
              </a:spcAft>
              <a:buNone/>
            </a:pPr>
            <a:r>
              <a:rPr lang="zh-CN" altLang="en-US" sz="1200">
                <a:latin typeface="Times New Roman" pitchFamily="0" charset="0"/>
                <a:ea typeface="Times New Roman" pitchFamily="0" charset="0"/>
                <a:cs typeface="Times New Roman" pitchFamily="0" charset="0"/>
                <a:sym typeface="等线" pitchFamily="0" charset="0"/>
              </a:rPr>
              <a:t>（灰度变换：针对像素的直接处理）</a:t>
            </a:r>
            <a:endParaRPr lang="en-US" altLang="zh-CN" sz="1200">
              <a:latin typeface="Times New Roman" pitchFamily="0" charset="0"/>
              <a:ea typeface="Times New Roman" pitchFamily="0" charset="0"/>
              <a:cs typeface="Times New Roman" pitchFamily="0" charset="0"/>
              <a:sym typeface="等线" pitchFamily="0" charset="0"/>
            </a:endParaRPr>
          </a:p>
          <a:p>
            <a:endParaRPr lang="zh-CN" altLang="en-US"/>
          </a:p>
        </p:txBody>
      </p:sp>
      <p:sp>
        <p:nvSpPr>
          <p:cNvPr id="90"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6</a:t>
            </a:fld>
            <a:endParaRPr lang="zh-CN" altLang="en-US"/>
          </a:p>
        </p:txBody>
      </p:sp>
    </p:spTree>
    <p:extLst>
      <p:ext uri="{BB962C8B-B14F-4D97-AF65-F5344CB8AC3E}">
        <p14:creationId xmlns:p14="http://schemas.microsoft.com/office/powerpoint/2010/main" val="728991994"/>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7</a:t>
            </a:fld>
            <a:endParaRPr lang="zh-CN" altLang="en-US" sz="1200">
              <a:latin typeface="等线" pitchFamily="0" charset="0"/>
              <a:ea typeface="等线" pitchFamily="0" charset="0"/>
              <a:cs typeface="等线" pitchFamily="0" charset="0"/>
            </a:endParaRPr>
          </a:p>
        </p:txBody>
      </p:sp>
      <p:sp>
        <p:nvSpPr>
          <p:cNvPr id="103"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104"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pPr marL="0" indent="0" algn="l" eaLnBrk="1" fontAlgn="auto" latinLnBrk="0" hangingPunct="1">
              <a:lnSpc>
                <a:spcPct val="100000"/>
              </a:lnSpc>
              <a:spcBef>
                <a:spcPts val="0"/>
              </a:spcBef>
              <a:spcAft>
                <a:spcPts val="0"/>
              </a:spcAft>
              <a:buNone/>
            </a:pPr>
            <a:r>
              <a:rPr lang="zh-CN" altLang="en-US" sz="1200">
                <a:latin typeface="Times New Roman" pitchFamily="0" charset="0"/>
                <a:cs typeface="Times New Roman" pitchFamily="0" charset="0"/>
                <a:sym typeface="等线" pitchFamily="0" charset="0"/>
              </a:rPr>
              <a:t>空间域滤波：针对多个像素的集体操作</a:t>
            </a:r>
            <a:endParaRPr lang="en-US" altLang="zh-CN" sz="1200">
              <a:latin typeface="Times New Roman" pitchFamily="0" charset="0"/>
              <a:cs typeface="Times New Roman" pitchFamily="0" charset="0"/>
              <a:sym typeface="等线" pitchFamily="0" charset="0"/>
            </a:endParaRPr>
          </a:p>
          <a:p>
            <a:pPr marL="0" indent="0" algn="l" eaLnBrk="1" fontAlgn="auto" latinLnBrk="0" hangingPunct="1">
              <a:lnSpc>
                <a:spcPct val="100000"/>
              </a:lnSpc>
              <a:spcBef>
                <a:spcPts val="0"/>
              </a:spcBef>
              <a:spcAft>
                <a:spcPts val="0"/>
              </a:spcAft>
              <a:buNone/>
            </a:pPr>
            <a:r>
              <a:rPr lang="zh-CN" altLang="en-US" sz="1200">
                <a:latin typeface="Times New Roman" pitchFamily="0" charset="0"/>
                <a:ea typeface="Times New Roman" pitchFamily="0" charset="0"/>
                <a:cs typeface="Times New Roman" pitchFamily="0" charset="0"/>
                <a:sym typeface="等线" pitchFamily="0" charset="0"/>
              </a:rPr>
              <a:t>平滑空间滤波器：邻域内的像素进行均值操作</a:t>
            </a:r>
            <a:endParaRPr lang="en-US" altLang="zh-CN" sz="1200">
              <a:latin typeface="Times New Roman" pitchFamily="0" charset="0"/>
              <a:ea typeface="Times New Roman" pitchFamily="0" charset="0"/>
              <a:cs typeface="Times New Roman" pitchFamily="0" charset="0"/>
              <a:sym typeface="等线" pitchFamily="0" charset="0"/>
            </a:endParaRPr>
          </a:p>
          <a:p>
            <a:pPr marL="0" indent="0" algn="l" eaLnBrk="1" fontAlgn="auto" latinLnBrk="0" hangingPunct="1">
              <a:lnSpc>
                <a:spcPct val="100000"/>
              </a:lnSpc>
              <a:spcBef>
                <a:spcPts val="0"/>
              </a:spcBef>
              <a:spcAft>
                <a:spcPts val="0"/>
              </a:spcAft>
              <a:buNone/>
            </a:pPr>
            <a:endParaRPr lang="zh-CN" altLang="en-US"/>
          </a:p>
        </p:txBody>
      </p:sp>
      <p:sp>
        <p:nvSpPr>
          <p:cNvPr id="105"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7</a:t>
            </a:fld>
            <a:endParaRPr lang="zh-CN" altLang="en-US"/>
          </a:p>
        </p:txBody>
      </p:sp>
    </p:spTree>
    <p:extLst>
      <p:ext uri="{BB962C8B-B14F-4D97-AF65-F5344CB8AC3E}">
        <p14:creationId xmlns:p14="http://schemas.microsoft.com/office/powerpoint/2010/main" val="447191762"/>
      </p:ext>
    </p:extLst>
  </p:cSld>
  <p:clrMapOvr>
    <a:masterClrMapping/>
  </p:clrMapOvr>
</p:notes>
</file>

<file path=ppt/notesSlides/notesSlide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8</a:t>
            </a:fld>
            <a:endParaRPr lang="zh-CN" altLang="en-US" sz="1200">
              <a:latin typeface="等线" pitchFamily="0" charset="0"/>
              <a:ea typeface="等线" pitchFamily="0" charset="0"/>
              <a:cs typeface="等线" pitchFamily="0" charset="0"/>
            </a:endParaRPr>
          </a:p>
        </p:txBody>
      </p:sp>
      <p:sp>
        <p:nvSpPr>
          <p:cNvPr id="113"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114"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15"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8</a:t>
            </a:fld>
            <a:endParaRPr lang="zh-CN" altLang="en-US"/>
          </a:p>
        </p:txBody>
      </p:sp>
    </p:spTree>
    <p:extLst>
      <p:ext uri="{BB962C8B-B14F-4D97-AF65-F5344CB8AC3E}">
        <p14:creationId xmlns:p14="http://schemas.microsoft.com/office/powerpoint/2010/main" val="1110125338"/>
      </p:ext>
    </p:extLst>
  </p:cSld>
  <p:clrMapOvr>
    <a:masterClrMapping/>
  </p:clrMapOvr>
</p:notes>
</file>

<file path=ppt/notesSlides/notesSlide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9</a:t>
            </a:fld>
            <a:endParaRPr lang="zh-CN" altLang="en-US" sz="1200">
              <a:latin typeface="等线" pitchFamily="0" charset="0"/>
              <a:ea typeface="等线" pitchFamily="0" charset="0"/>
              <a:cs typeface="等线" pitchFamily="0" charset="0"/>
            </a:endParaRPr>
          </a:p>
        </p:txBody>
      </p:sp>
      <p:sp>
        <p:nvSpPr>
          <p:cNvPr id="136"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137"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38"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9</a:t>
            </a:fld>
            <a:endParaRPr lang="zh-CN" altLang="en-US"/>
          </a:p>
        </p:txBody>
      </p:sp>
    </p:spTree>
    <p:extLst>
      <p:ext uri="{BB962C8B-B14F-4D97-AF65-F5344CB8AC3E}">
        <p14:creationId xmlns:p14="http://schemas.microsoft.com/office/powerpoint/2010/main" val="1779282438"/>
      </p:ext>
    </p:extLst>
  </p:cSld>
  <p:clrMapOvr>
    <a:masterClrMapping/>
  </p:clrMapOvr>
</p:notes>
</file>

<file path=ppt/notesSlides/notesSlide1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10</a:t>
            </a:fld>
            <a:endParaRPr lang="zh-CN" altLang="en-US" sz="1200">
              <a:latin typeface="等线" pitchFamily="0" charset="0"/>
              <a:ea typeface="等线" pitchFamily="0" charset="0"/>
              <a:cs typeface="等线" pitchFamily="0" charset="0"/>
            </a:endParaRPr>
          </a:p>
        </p:txBody>
      </p:sp>
      <p:sp>
        <p:nvSpPr>
          <p:cNvPr id="155"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156"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57"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10</a:t>
            </a:fld>
            <a:endParaRPr lang="zh-CN" altLang="en-US"/>
          </a:p>
        </p:txBody>
      </p:sp>
    </p:spTree>
    <p:extLst>
      <p:ext uri="{BB962C8B-B14F-4D97-AF65-F5344CB8AC3E}">
        <p14:creationId xmlns:p14="http://schemas.microsoft.com/office/powerpoint/2010/main" val="1855128174"/>
      </p:ext>
    </p:extLst>
  </p:cSld>
  <p:clrMapOvr>
    <a:masterClrMapping/>
  </p:clrMapOvr>
</p:notes>
</file>

<file path=ppt/notesSlides/notesSlide1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11</a:t>
            </a:fld>
            <a:endParaRPr lang="zh-CN" altLang="en-US" sz="1200">
              <a:latin typeface="等线" pitchFamily="0" charset="0"/>
              <a:ea typeface="等线" pitchFamily="0" charset="0"/>
              <a:cs typeface="等线" pitchFamily="0" charset="0"/>
            </a:endParaRPr>
          </a:p>
        </p:txBody>
      </p:sp>
      <p:sp>
        <p:nvSpPr>
          <p:cNvPr id="172"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173"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74"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11</a:t>
            </a:fld>
            <a:endParaRPr lang="zh-CN" altLang="en-US"/>
          </a:p>
        </p:txBody>
      </p:sp>
    </p:spTree>
    <p:extLst>
      <p:ext uri="{BB962C8B-B14F-4D97-AF65-F5344CB8AC3E}">
        <p14:creationId xmlns:p14="http://schemas.microsoft.com/office/powerpoint/2010/main" val="400312489"/>
      </p:ext>
    </p:extLst>
  </p:cSld>
  <p:clrMapOvr>
    <a:masterClrMapping/>
  </p:clrMapOvr>
</p:notes>
</file>

<file path=ppt/notesSlides/notesSlide1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12</a:t>
            </a:fld>
            <a:endParaRPr lang="zh-CN" altLang="en-US" sz="1200">
              <a:latin typeface="等线" pitchFamily="0" charset="0"/>
              <a:ea typeface="等线" pitchFamily="0" charset="0"/>
              <a:cs typeface="等线" pitchFamily="0" charset="0"/>
            </a:endParaRPr>
          </a:p>
        </p:txBody>
      </p:sp>
      <p:sp>
        <p:nvSpPr>
          <p:cNvPr id="185"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186"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87"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12</a:t>
            </a:fld>
            <a:endParaRPr lang="zh-CN" altLang="en-US"/>
          </a:p>
        </p:txBody>
      </p:sp>
    </p:spTree>
    <p:extLst>
      <p:ext uri="{BB962C8B-B14F-4D97-AF65-F5344CB8AC3E}">
        <p14:creationId xmlns:p14="http://schemas.microsoft.com/office/powerpoint/2010/main" val="1816548927"/>
      </p:ext>
    </p:extLst>
  </p:cSld>
  <p:clrMapOvr>
    <a:masterClrMapping/>
  </p:clrMapOvr>
</p:notes>
</file>

<file path=ppt/notesSlides/notesSlide1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13</a:t>
            </a:fld>
            <a:endParaRPr lang="zh-CN" altLang="en-US" sz="1200">
              <a:latin typeface="等线" pitchFamily="0" charset="0"/>
              <a:ea typeface="等线" pitchFamily="0" charset="0"/>
              <a:cs typeface="等线" pitchFamily="0" charset="0"/>
            </a:endParaRPr>
          </a:p>
        </p:txBody>
      </p:sp>
      <p:sp>
        <p:nvSpPr>
          <p:cNvPr id="195"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196"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97"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13</a:t>
            </a:fld>
            <a:endParaRPr lang="zh-CN" altLang="en-US"/>
          </a:p>
        </p:txBody>
      </p:sp>
    </p:spTree>
    <p:extLst>
      <p:ext uri="{BB962C8B-B14F-4D97-AF65-F5344CB8AC3E}">
        <p14:creationId xmlns:p14="http://schemas.microsoft.com/office/powerpoint/2010/main" val="504072067"/>
      </p:ext>
    </p:extLst>
  </p:cSld>
  <p:clrMapOvr>
    <a:masterClrMapping/>
  </p:clrMapOvr>
</p:notes>
</file>

<file path=ppt/notesSlides/notesSlide1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14</a:t>
            </a:fld>
            <a:endParaRPr lang="zh-CN" altLang="en-US" sz="1200">
              <a:latin typeface="等线" pitchFamily="0" charset="0"/>
              <a:ea typeface="等线" pitchFamily="0" charset="0"/>
              <a:cs typeface="等线" pitchFamily="0" charset="0"/>
            </a:endParaRPr>
          </a:p>
        </p:txBody>
      </p:sp>
      <p:sp>
        <p:nvSpPr>
          <p:cNvPr id="213"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214"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15"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14</a:t>
            </a:fld>
            <a:endParaRPr lang="zh-CN" altLang="en-US"/>
          </a:p>
        </p:txBody>
      </p:sp>
    </p:spTree>
    <p:extLst>
      <p:ext uri="{BB962C8B-B14F-4D97-AF65-F5344CB8AC3E}">
        <p14:creationId xmlns:p14="http://schemas.microsoft.com/office/powerpoint/2010/main" val="2074456905"/>
      </p:ext>
    </p:extLst>
  </p:cSld>
  <p:clrMapOvr>
    <a:masterClrMapping/>
  </p:clrMapOvr>
</p:notes>
</file>

<file path=ppt/notesSlides/notesSlide1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15</a:t>
            </a:fld>
            <a:endParaRPr lang="zh-CN" altLang="en-US" sz="1200">
              <a:latin typeface="等线" pitchFamily="0" charset="0"/>
              <a:ea typeface="等线" pitchFamily="0" charset="0"/>
              <a:cs typeface="等线" pitchFamily="0" charset="0"/>
            </a:endParaRPr>
          </a:p>
        </p:txBody>
      </p:sp>
      <p:sp>
        <p:nvSpPr>
          <p:cNvPr id="229"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230"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31"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15</a:t>
            </a:fld>
            <a:endParaRPr lang="zh-CN" altLang="en-US"/>
          </a:p>
        </p:txBody>
      </p:sp>
    </p:spTree>
    <p:extLst>
      <p:ext uri="{BB962C8B-B14F-4D97-AF65-F5344CB8AC3E}">
        <p14:creationId xmlns:p14="http://schemas.microsoft.com/office/powerpoint/2010/main" val="496675355"/>
      </p:ext>
    </p:extLst>
  </p:cSld>
  <p:clrMapOvr>
    <a:masterClrMapping/>
  </p:clrMapOvr>
</p:notes>
</file>

<file path=ppt/notesSlides/notesSlide1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16</a:t>
            </a:fld>
            <a:endParaRPr lang="zh-CN" altLang="en-US" sz="1200">
              <a:latin typeface="等线" pitchFamily="0" charset="0"/>
              <a:ea typeface="等线" pitchFamily="0" charset="0"/>
              <a:cs typeface="等线" pitchFamily="0" charset="0"/>
            </a:endParaRPr>
          </a:p>
        </p:txBody>
      </p:sp>
      <p:sp>
        <p:nvSpPr>
          <p:cNvPr id="245"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246"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47"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16</a:t>
            </a:fld>
            <a:endParaRPr lang="zh-CN" altLang="en-US"/>
          </a:p>
        </p:txBody>
      </p:sp>
    </p:spTree>
    <p:extLst>
      <p:ext uri="{BB962C8B-B14F-4D97-AF65-F5344CB8AC3E}">
        <p14:creationId xmlns:p14="http://schemas.microsoft.com/office/powerpoint/2010/main" val="1602236558"/>
      </p:ext>
    </p:extLst>
  </p:cSld>
  <p:clrMapOvr>
    <a:masterClrMapping/>
  </p:clrMapOvr>
</p:notes>
</file>

<file path=ppt/notesSlides/notesSlide1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17</a:t>
            </a:fld>
            <a:endParaRPr lang="zh-CN" altLang="en-US" sz="1200">
              <a:latin typeface="等线" pitchFamily="0" charset="0"/>
              <a:ea typeface="等线" pitchFamily="0" charset="0"/>
              <a:cs typeface="等线" pitchFamily="0" charset="0"/>
            </a:endParaRPr>
          </a:p>
        </p:txBody>
      </p:sp>
      <p:sp>
        <p:nvSpPr>
          <p:cNvPr id="261"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262"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63"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17</a:t>
            </a:fld>
            <a:endParaRPr lang="zh-CN" altLang="en-US"/>
          </a:p>
        </p:txBody>
      </p:sp>
    </p:spTree>
    <p:extLst>
      <p:ext uri="{BB962C8B-B14F-4D97-AF65-F5344CB8AC3E}">
        <p14:creationId xmlns:p14="http://schemas.microsoft.com/office/powerpoint/2010/main" val="1088410051"/>
      </p:ext>
    </p:extLst>
  </p:cSld>
  <p:clrMapOvr>
    <a:masterClrMapping/>
  </p:clrMapOvr>
</p:notes>
</file>

<file path=ppt/notesSlides/notesSlide1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18</a:t>
            </a:fld>
            <a:endParaRPr lang="zh-CN" altLang="en-US" sz="1200">
              <a:latin typeface="等线" pitchFamily="0" charset="0"/>
              <a:ea typeface="等线" pitchFamily="0" charset="0"/>
              <a:cs typeface="等线" pitchFamily="0" charset="0"/>
            </a:endParaRPr>
          </a:p>
        </p:txBody>
      </p:sp>
      <p:sp>
        <p:nvSpPr>
          <p:cNvPr id="271"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272"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73"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18</a:t>
            </a:fld>
            <a:endParaRPr lang="zh-CN" altLang="en-US"/>
          </a:p>
        </p:txBody>
      </p:sp>
    </p:spTree>
    <p:extLst>
      <p:ext uri="{BB962C8B-B14F-4D97-AF65-F5344CB8AC3E}">
        <p14:creationId xmlns:p14="http://schemas.microsoft.com/office/powerpoint/2010/main" val="1019824176"/>
      </p:ext>
    </p:extLst>
  </p:cSld>
  <p:clrMapOvr>
    <a:masterClrMapping/>
  </p:clrMapOvr>
</p:notes>
</file>

<file path=ppt/notesSlides/notesSlide1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19</a:t>
            </a:fld>
            <a:endParaRPr lang="zh-CN" altLang="en-US" sz="1200">
              <a:latin typeface="等线" pitchFamily="0" charset="0"/>
              <a:ea typeface="等线" pitchFamily="0" charset="0"/>
              <a:cs typeface="等线" pitchFamily="0" charset="0"/>
            </a:endParaRPr>
          </a:p>
        </p:txBody>
      </p:sp>
      <p:sp>
        <p:nvSpPr>
          <p:cNvPr id="281"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282"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83"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19</a:t>
            </a:fld>
            <a:endParaRPr lang="zh-CN" altLang="en-US"/>
          </a:p>
        </p:txBody>
      </p:sp>
    </p:spTree>
    <p:extLst>
      <p:ext uri="{BB962C8B-B14F-4D97-AF65-F5344CB8AC3E}">
        <p14:creationId xmlns:p14="http://schemas.microsoft.com/office/powerpoint/2010/main" val="1376502268"/>
      </p:ext>
    </p:extLst>
  </p:cSld>
  <p:clrMapOvr>
    <a:masterClrMapping/>
  </p:clrMapOvr>
</p:notes>
</file>

<file path=ppt/notesSlides/notesSlide2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20</a:t>
            </a:fld>
            <a:endParaRPr lang="zh-CN" altLang="en-US" sz="1200">
              <a:latin typeface="等线" pitchFamily="0" charset="0"/>
              <a:ea typeface="等线" pitchFamily="0" charset="0"/>
              <a:cs typeface="等线" pitchFamily="0" charset="0"/>
            </a:endParaRPr>
          </a:p>
        </p:txBody>
      </p:sp>
      <p:sp>
        <p:nvSpPr>
          <p:cNvPr id="291"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292"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93"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20</a:t>
            </a:fld>
            <a:endParaRPr lang="zh-CN" altLang="en-US"/>
          </a:p>
        </p:txBody>
      </p:sp>
    </p:spTree>
    <p:extLst>
      <p:ext uri="{BB962C8B-B14F-4D97-AF65-F5344CB8AC3E}">
        <p14:creationId xmlns:p14="http://schemas.microsoft.com/office/powerpoint/2010/main" val="1829988586"/>
      </p:ext>
    </p:extLst>
  </p:cSld>
  <p:clrMapOvr>
    <a:masterClrMapping/>
  </p:clrMapOvr>
</p:notes>
</file>

<file path=ppt/notesSlides/notesSlide2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21</a:t>
            </a:fld>
            <a:endParaRPr lang="zh-CN" altLang="en-US" sz="1200">
              <a:latin typeface="等线" pitchFamily="0" charset="0"/>
              <a:ea typeface="等线" pitchFamily="0" charset="0"/>
              <a:cs typeface="等线" pitchFamily="0" charset="0"/>
            </a:endParaRPr>
          </a:p>
        </p:txBody>
      </p:sp>
      <p:sp>
        <p:nvSpPr>
          <p:cNvPr id="301"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302"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03"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21</a:t>
            </a:fld>
            <a:endParaRPr lang="zh-CN" altLang="en-US"/>
          </a:p>
        </p:txBody>
      </p:sp>
    </p:spTree>
    <p:extLst>
      <p:ext uri="{BB962C8B-B14F-4D97-AF65-F5344CB8AC3E}">
        <p14:creationId xmlns:p14="http://schemas.microsoft.com/office/powerpoint/2010/main" val="1944330327"/>
      </p:ext>
    </p:extLst>
  </p:cSld>
  <p:clrMapOvr>
    <a:masterClrMapping/>
  </p:clrMapOvr>
</p:notes>
</file>

<file path=ppt/notesSlides/notesSlide2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22</a:t>
            </a:fld>
            <a:endParaRPr lang="zh-CN" altLang="en-US" sz="1200">
              <a:latin typeface="等线" pitchFamily="0" charset="0"/>
              <a:ea typeface="等线" pitchFamily="0" charset="0"/>
              <a:cs typeface="等线" pitchFamily="0" charset="0"/>
            </a:endParaRPr>
          </a:p>
        </p:txBody>
      </p:sp>
      <p:sp>
        <p:nvSpPr>
          <p:cNvPr id="311"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312"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13"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22</a:t>
            </a:fld>
            <a:endParaRPr lang="zh-CN" altLang="en-US"/>
          </a:p>
        </p:txBody>
      </p:sp>
    </p:spTree>
    <p:extLst>
      <p:ext uri="{BB962C8B-B14F-4D97-AF65-F5344CB8AC3E}">
        <p14:creationId xmlns:p14="http://schemas.microsoft.com/office/powerpoint/2010/main" val="1917990434"/>
      </p:ext>
    </p:extLst>
  </p:cSld>
  <p:clrMapOvr>
    <a:masterClrMapping/>
  </p:clrMapOvr>
</p:notes>
</file>

<file path=ppt/notesSlides/notesSlide2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23</a:t>
            </a:fld>
            <a:endParaRPr lang="zh-CN" altLang="en-US" sz="1200">
              <a:latin typeface="等线" pitchFamily="0" charset="0"/>
              <a:ea typeface="等线" pitchFamily="0" charset="0"/>
              <a:cs typeface="等线" pitchFamily="0" charset="0"/>
            </a:endParaRPr>
          </a:p>
        </p:txBody>
      </p:sp>
      <p:sp>
        <p:nvSpPr>
          <p:cNvPr id="329"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330"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pPr marL="0" indent="0" algn="l" eaLnBrk="1" fontAlgn="auto" latinLnBrk="0" hangingPunct="1">
              <a:lnSpc>
                <a:spcPct val="100000"/>
              </a:lnSpc>
              <a:spcBef>
                <a:spcPts val="0"/>
              </a:spcBef>
              <a:spcAft>
                <a:spcPts val="0"/>
              </a:spcAft>
              <a:buNone/>
            </a:pPr>
            <a:r>
              <a:rPr lang="zh-CN" altLang="en-US" sz="1200">
                <a:latin typeface="Times New Roman" pitchFamily="0" charset="0"/>
                <a:ea typeface="Times New Roman" pitchFamily="0" charset="0"/>
                <a:cs typeface="Times New Roman" pitchFamily="0" charset="0"/>
                <a:sym typeface="等线" pitchFamily="0" charset="0"/>
              </a:rPr>
              <a:t>（灰度变换：针对像素的直接处理）</a:t>
            </a:r>
            <a:endParaRPr lang="en-US" altLang="zh-CN" sz="1200">
              <a:latin typeface="Times New Roman" pitchFamily="0" charset="0"/>
              <a:ea typeface="Times New Roman" pitchFamily="0" charset="0"/>
              <a:cs typeface="Times New Roman" pitchFamily="0" charset="0"/>
              <a:sym typeface="等线" pitchFamily="0" charset="0"/>
            </a:endParaRPr>
          </a:p>
          <a:p>
            <a:endParaRPr lang="zh-CN" altLang="en-US"/>
          </a:p>
        </p:txBody>
      </p:sp>
      <p:sp>
        <p:nvSpPr>
          <p:cNvPr id="331"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23</a:t>
            </a:fld>
            <a:endParaRPr lang="zh-CN" altLang="en-US"/>
          </a:p>
        </p:txBody>
      </p:sp>
    </p:spTree>
    <p:extLst>
      <p:ext uri="{BB962C8B-B14F-4D97-AF65-F5344CB8AC3E}">
        <p14:creationId xmlns:p14="http://schemas.microsoft.com/office/powerpoint/2010/main" val="1378006859"/>
      </p:ext>
    </p:extLst>
  </p:cSld>
  <p:clrMapOvr>
    <a:masterClrMapping/>
  </p:clrMapOvr>
</p:notes>
</file>

<file path=ppt/notesSlides/notesSlide2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24</a:t>
            </a:fld>
            <a:endParaRPr lang="zh-CN" altLang="en-US" sz="1200">
              <a:latin typeface="等线" pitchFamily="0" charset="0"/>
              <a:ea typeface="等线" pitchFamily="0" charset="0"/>
              <a:cs typeface="等线" pitchFamily="0" charset="0"/>
            </a:endParaRPr>
          </a:p>
        </p:txBody>
      </p:sp>
      <p:sp>
        <p:nvSpPr>
          <p:cNvPr id="353"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354"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pPr marL="0" indent="0" algn="l" eaLnBrk="1" fontAlgn="auto" latinLnBrk="0" hangingPunct="1">
              <a:lnSpc>
                <a:spcPct val="100000"/>
              </a:lnSpc>
              <a:spcBef>
                <a:spcPts val="0"/>
              </a:spcBef>
              <a:spcAft>
                <a:spcPts val="0"/>
              </a:spcAft>
              <a:buNone/>
            </a:pPr>
            <a:r>
              <a:rPr lang="zh-CN" altLang="en-US" sz="1200">
                <a:latin typeface="Times New Roman" pitchFamily="0" charset="0"/>
                <a:ea typeface="Times New Roman" pitchFamily="0" charset="0"/>
                <a:cs typeface="Times New Roman" pitchFamily="0" charset="0"/>
                <a:sym typeface="等线" pitchFamily="0" charset="0"/>
              </a:rPr>
              <a:t>（灰度变换：针对像素的直接处理）</a:t>
            </a:r>
            <a:endParaRPr lang="en-US" altLang="zh-CN" sz="1200">
              <a:latin typeface="Times New Roman" pitchFamily="0" charset="0"/>
              <a:ea typeface="Times New Roman" pitchFamily="0" charset="0"/>
              <a:cs typeface="Times New Roman" pitchFamily="0" charset="0"/>
              <a:sym typeface="等线" pitchFamily="0" charset="0"/>
            </a:endParaRPr>
          </a:p>
          <a:p>
            <a:endParaRPr lang="zh-CN" altLang="en-US"/>
          </a:p>
        </p:txBody>
      </p:sp>
      <p:sp>
        <p:nvSpPr>
          <p:cNvPr id="355"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24</a:t>
            </a:fld>
            <a:endParaRPr lang="zh-CN" altLang="en-US"/>
          </a:p>
        </p:txBody>
      </p:sp>
    </p:spTree>
    <p:extLst>
      <p:ext uri="{BB962C8B-B14F-4D97-AF65-F5344CB8AC3E}">
        <p14:creationId xmlns:p14="http://schemas.microsoft.com/office/powerpoint/2010/main" val="334402460"/>
      </p:ext>
    </p:extLst>
  </p:cSld>
  <p:clrMapOvr>
    <a:masterClrMapping/>
  </p:clrMapOvr>
</p:notes>
</file>

<file path=ppt/notesSlides/notesSlide2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25</a:t>
            </a:fld>
            <a:endParaRPr lang="zh-CN" altLang="en-US" sz="1200">
              <a:latin typeface="等线" pitchFamily="0" charset="0"/>
              <a:ea typeface="等线" pitchFamily="0" charset="0"/>
              <a:cs typeface="等线" pitchFamily="0" charset="0"/>
            </a:endParaRPr>
          </a:p>
        </p:txBody>
      </p:sp>
      <p:sp>
        <p:nvSpPr>
          <p:cNvPr id="363"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364"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65"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25</a:t>
            </a:fld>
            <a:endParaRPr lang="zh-CN" altLang="en-US"/>
          </a:p>
        </p:txBody>
      </p:sp>
    </p:spTree>
    <p:extLst>
      <p:ext uri="{BB962C8B-B14F-4D97-AF65-F5344CB8AC3E}">
        <p14:creationId xmlns:p14="http://schemas.microsoft.com/office/powerpoint/2010/main" val="1275097065"/>
      </p:ext>
    </p:extLst>
  </p:cSld>
  <p:clrMapOvr>
    <a:masterClrMapping/>
  </p:clrMapOvr>
</p:notes>
</file>

<file path=ppt/notesSlides/notesSlide2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26</a:t>
            </a:fld>
            <a:endParaRPr lang="zh-CN" altLang="en-US" sz="1200">
              <a:latin typeface="等线" pitchFamily="0" charset="0"/>
              <a:ea typeface="等线" pitchFamily="0" charset="0"/>
              <a:cs typeface="等线" pitchFamily="0" charset="0"/>
            </a:endParaRPr>
          </a:p>
        </p:txBody>
      </p:sp>
      <p:sp>
        <p:nvSpPr>
          <p:cNvPr id="388"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389"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pPr marL="0" indent="0" algn="l" eaLnBrk="1" fontAlgn="auto" latinLnBrk="0" hangingPunct="1">
              <a:lnSpc>
                <a:spcPct val="100000"/>
              </a:lnSpc>
              <a:spcBef>
                <a:spcPts val="0"/>
              </a:spcBef>
              <a:spcAft>
                <a:spcPts val="0"/>
              </a:spcAft>
              <a:buNone/>
            </a:pPr>
            <a:r>
              <a:rPr lang="zh-CN" altLang="en-US" sz="1200">
                <a:latin typeface="Times New Roman" pitchFamily="0" charset="0"/>
                <a:ea typeface="Times New Roman" pitchFamily="0" charset="0"/>
                <a:cs typeface="Times New Roman" pitchFamily="0" charset="0"/>
                <a:sym typeface="等线" pitchFamily="0" charset="0"/>
              </a:rPr>
              <a:t>（灰度变换：针对像素的直接处理）</a:t>
            </a:r>
            <a:endParaRPr lang="en-US" altLang="zh-CN" sz="1200">
              <a:latin typeface="Times New Roman" pitchFamily="0" charset="0"/>
              <a:ea typeface="Times New Roman" pitchFamily="0" charset="0"/>
              <a:cs typeface="Times New Roman" pitchFamily="0" charset="0"/>
              <a:sym typeface="等线" pitchFamily="0" charset="0"/>
            </a:endParaRPr>
          </a:p>
          <a:p>
            <a:endParaRPr lang="zh-CN" altLang="en-US"/>
          </a:p>
        </p:txBody>
      </p:sp>
      <p:sp>
        <p:nvSpPr>
          <p:cNvPr id="390"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26</a:t>
            </a:fld>
            <a:endParaRPr lang="zh-CN" altLang="en-US"/>
          </a:p>
        </p:txBody>
      </p:sp>
    </p:spTree>
    <p:extLst>
      <p:ext uri="{BB962C8B-B14F-4D97-AF65-F5344CB8AC3E}">
        <p14:creationId xmlns:p14="http://schemas.microsoft.com/office/powerpoint/2010/main" val="439283957"/>
      </p:ext>
    </p:extLst>
  </p:cSld>
  <p:clrMapOvr>
    <a:masterClrMapping/>
  </p:clrMapOvr>
</p:notes>
</file>

<file path=ppt/notesSlides/notesSlide2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27</a:t>
            </a:fld>
            <a:endParaRPr lang="zh-CN" altLang="en-US" sz="1200">
              <a:latin typeface="等线" pitchFamily="0" charset="0"/>
              <a:ea typeface="等线" pitchFamily="0" charset="0"/>
              <a:cs typeface="等线" pitchFamily="0" charset="0"/>
            </a:endParaRPr>
          </a:p>
        </p:txBody>
      </p:sp>
      <p:sp>
        <p:nvSpPr>
          <p:cNvPr id="398"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399"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400"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27</a:t>
            </a:fld>
            <a:endParaRPr lang="zh-CN" altLang="en-US"/>
          </a:p>
        </p:txBody>
      </p:sp>
    </p:spTree>
    <p:extLst>
      <p:ext uri="{BB962C8B-B14F-4D97-AF65-F5344CB8AC3E}">
        <p14:creationId xmlns:p14="http://schemas.microsoft.com/office/powerpoint/2010/main" val="1924571663"/>
      </p:ext>
    </p:extLst>
  </p:cSld>
  <p:clrMapOvr>
    <a:masterClrMapping/>
  </p:clrMapOvr>
</p:notes>
</file>

<file path=ppt/notesSlides/notesSlide2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28</a:t>
            </a:fld>
            <a:endParaRPr lang="zh-CN" altLang="en-US" sz="1200">
              <a:latin typeface="等线" pitchFamily="0" charset="0"/>
              <a:ea typeface="等线" pitchFamily="0" charset="0"/>
              <a:cs typeface="等线" pitchFamily="0" charset="0"/>
            </a:endParaRPr>
          </a:p>
        </p:txBody>
      </p:sp>
      <p:sp>
        <p:nvSpPr>
          <p:cNvPr id="408"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409"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410"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28</a:t>
            </a:fld>
            <a:endParaRPr lang="zh-CN" altLang="en-US"/>
          </a:p>
        </p:txBody>
      </p:sp>
    </p:spTree>
    <p:extLst>
      <p:ext uri="{BB962C8B-B14F-4D97-AF65-F5344CB8AC3E}">
        <p14:creationId xmlns:p14="http://schemas.microsoft.com/office/powerpoint/2010/main" val="373000748"/>
      </p:ext>
    </p:extLst>
  </p:cSld>
  <p:clrMapOvr>
    <a:masterClrMapping/>
  </p:clrMapOvr>
</p:notes>
</file>

<file path=ppt/notesSlides/notesSlide2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等线" pitchFamily="0" charset="0"/>
                <a:ea typeface="等线" pitchFamily="0" charset="0"/>
                <a:cs typeface="等线" pitchFamily="0" charset="0"/>
              </a:rPr>
              <a:t>29</a:t>
            </a:fld>
            <a:endParaRPr lang="zh-CN" altLang="en-US" sz="1200">
              <a:latin typeface="等线" pitchFamily="0" charset="0"/>
              <a:ea typeface="等线" pitchFamily="0" charset="0"/>
              <a:cs typeface="等线" pitchFamily="0" charset="0"/>
            </a:endParaRPr>
          </a:p>
        </p:txBody>
      </p:sp>
      <p:sp>
        <p:nvSpPr>
          <p:cNvPr id="418" name="对象"/>
          <p:cNvSpPr>
            <a:spLocks noGrp="1" noChangeAspect="1"/>
          </p:cNvSpPr>
          <p:nvPr>
            <p:ph type="sldImg"/>
          </p:nvPr>
        </p:nvSpPr>
        <p:spPr>
          <a:xfrm rot="0">
            <a:off x="1371600" y="1143000"/>
            <a:ext cx="4114800" cy="3086100"/>
          </a:xfrm>
          <a:prstGeom prst="rect"/>
          <a:noFill/>
          <a:ln w="12700" cmpd="sng" cap="flat">
            <a:noFill/>
            <a:prstDash val="solid"/>
            <a:miter/>
          </a:ln>
        </p:spPr>
      </p:sp>
      <p:sp>
        <p:nvSpPr>
          <p:cNvPr id="419"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420" name="文本框"/>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29</a:t>
            </a:fld>
            <a:endParaRPr lang="zh-CN" altLang="en-US"/>
          </a:p>
        </p:txBody>
      </p:sp>
    </p:spTree>
    <p:extLst>
      <p:ext uri="{BB962C8B-B14F-4D97-AF65-F5344CB8AC3E}">
        <p14:creationId xmlns:p14="http://schemas.microsoft.com/office/powerpoint/2010/main" val="17670453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showMasterSp="0" type="title" preserve="1">
  <p:cSld name="标题幻灯片">
    <p:bg>
      <p:bgPr>
        <a:solidFill>
          <a:schemeClr val="bg1"/>
        </a:solidFill>
      </p:bgPr>
    </p:bg>
    <p:spTree>
      <p:nvGrpSpPr>
        <p:cNvPr id="1" name=""/>
        <p:cNvGrpSpPr/>
        <p:nvPr/>
      </p:nvGrpSpPr>
      <p:grpSpPr>
        <a:xfrm>
          <a:off x="0" y="0"/>
          <a:ext cx="0" cy="0"/>
          <a:chOff x="0" y="0"/>
          <a:chExt cx="0" cy="0"/>
        </a:xfrm>
      </p:grpSpPr>
      <p:sp>
        <p:nvSpPr>
          <p:cNvPr id="13" name="文本框"/>
          <p:cNvSpPr>
            <a:spLocks noGrp="1"/>
          </p:cNvSpPr>
          <p:nvPr>
            <p:ph type="ctrTitle"/>
          </p:nvPr>
        </p:nvSpPr>
        <p:spPr>
          <a:xfrm rot="0">
            <a:off x="685800" y="1122363"/>
            <a:ext cx="7772400" cy="2387600"/>
          </a:xfrm>
          <a:prstGeom prst="rect"/>
          <a:noFill/>
          <a:ln w="12700" cmpd="sng" cap="flat">
            <a:noFill/>
            <a:prstDash val="solid"/>
            <a:miter/>
          </a:ln>
        </p:spPr>
        <p:txBody>
          <a:bodyPr vert="horz" wrap="square" lIns="91440" tIns="45720" rIns="91440" bIns="45720" anchor="b" anchorCtr="0">
            <a:prstTxWarp prst="textNoShape"/>
          </a:bodyPr>
          <a:lstStyle/>
          <a:p>
            <a:pPr marL="0" indent="0" algn="ctr">
              <a:lnSpc>
                <a:spcPct val="90000"/>
              </a:lnSpc>
              <a:spcBef>
                <a:spcPts val="0"/>
              </a:spcBef>
              <a:spcAft>
                <a:spcPts val="0"/>
              </a:spcAft>
              <a:buNone/>
            </a:pPr>
            <a:r>
              <a:rPr lang="zh-CN" altLang="en-US" sz="6000" b="0" i="0" u="none" strike="noStrike" kern="1200" cap="none" spc="0" baseline="0">
                <a:solidFill>
                  <a:schemeClr val="tx1"/>
                </a:solidFill>
                <a:latin typeface="Calibri Light" pitchFamily="0" charset="0"/>
                <a:ea typeface="等线 Light" pitchFamily="0" charset="0"/>
                <a:cs typeface="Lucida Sans"/>
              </a:rPr>
              <a:t>单击此处编辑母版标题样式</a:t>
            </a:r>
            <a:endParaRPr lang="zh-CN" altLang="en-US" sz="6000" b="0" i="0" u="none" strike="noStrike" kern="1200" cap="none" spc="0" baseline="0">
              <a:solidFill>
                <a:schemeClr val="tx1"/>
              </a:solidFill>
              <a:latin typeface="Calibri Light" pitchFamily="0" charset="0"/>
              <a:ea typeface="等线 Light" pitchFamily="0" charset="0"/>
              <a:cs typeface="Lucida Sans"/>
            </a:endParaRPr>
          </a:p>
        </p:txBody>
      </p:sp>
      <p:sp>
        <p:nvSpPr>
          <p:cNvPr id="14" name="文本框"/>
          <p:cNvSpPr>
            <a:spLocks noGrp="1"/>
          </p:cNvSpPr>
          <p:nvPr>
            <p:ph type="subTitle" idx="1"/>
          </p:nvPr>
        </p:nvSpPr>
        <p:spPr>
          <a:xfrm rot="0">
            <a:off x="1143000" y="3602038"/>
            <a:ext cx="6858000" cy="1655762"/>
          </a:xfrm>
          <a:prstGeom prst="rect"/>
          <a:noFill/>
          <a:ln w="12700" cmpd="sng" cap="flat">
            <a:noFill/>
            <a:prstDash val="solid"/>
            <a:miter/>
          </a:ln>
        </p:spPr>
        <p:txBody>
          <a:bodyPr vert="horz" wrap="square" lIns="91440" tIns="45720" rIns="91440" bIns="45720" anchor="t" anchorCtr="0">
            <a:prstTxWarp prst="textNoShape"/>
          </a:bodyPr>
          <a:lstStyle/>
          <a:p>
            <a:pPr marL="0" indent="0" algn="ctr">
              <a:lnSpc>
                <a:spcPct val="90000"/>
              </a:lnSpc>
              <a:spcBef>
                <a:spcPts val="1000"/>
              </a:spcBef>
              <a:spcAft>
                <a:spcPts val="0"/>
              </a:spcAft>
              <a:buNone/>
            </a:pPr>
            <a:r>
              <a:rPr lang="zh-CN" altLang="en-US" sz="2400" b="0" i="0" u="none" strike="noStrike" kern="1200" cap="none" spc="0" baseline="0">
                <a:solidFill>
                  <a:schemeClr val="tx1"/>
                </a:solidFill>
                <a:latin typeface="Calibri" pitchFamily="0" charset="0"/>
                <a:ea typeface="等线" pitchFamily="0" charset="0"/>
                <a:cs typeface="Lucida Sans"/>
              </a:rPr>
              <a:t>单击以编辑母版副标题样式</a:t>
            </a:r>
            <a:endParaRPr lang="zh-CN" altLang="en-US" sz="2400" b="0" i="0" u="none" strike="noStrike" kern="1200" cap="none" spc="0" baseline="0">
              <a:solidFill>
                <a:schemeClr val="tx1"/>
              </a:solidFill>
              <a:latin typeface="Calibri" pitchFamily="0" charset="0"/>
              <a:ea typeface="等线" pitchFamily="0" charset="0"/>
              <a:cs typeface="Lucida Sans"/>
            </a:endParaRPr>
          </a:p>
        </p:txBody>
      </p:sp>
      <p:sp>
        <p:nvSpPr>
          <p:cNvPr id="15" name="文本框"/>
          <p:cNvSpPr>
            <a:spLocks noGrp="1"/>
          </p:cNvSpPr>
          <p:nvPr>
            <p:ph type="dt" idx="10"/>
          </p:nvPr>
        </p:nvSpPr>
        <p:spPr>
          <a:xfrm rot="0">
            <a:off x="628650" y="6356351"/>
            <a:ext cx="2057399" cy="365125"/>
          </a:xfrm>
          <a:prstGeom prst="rect"/>
          <a:noFill/>
          <a:ln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zh-CN" altLang="en-US" sz="1200" b="0" i="0" u="none" strike="noStrike" kern="1200" cap="none" spc="0" baseline="0">
                <a:solidFill>
                  <a:srgbClr val="898989"/>
                </a:solidFill>
                <a:latin typeface="Calibri" pitchFamily="0" charset="0"/>
                <a:ea typeface="等线" pitchFamily="0" charset="0"/>
                <a:cs typeface="Calibri" pitchFamily="0" charset="0"/>
              </a:rPr>
              <a:t>《日期/时间》</a:t>
            </a:r>
            <a:endParaRPr lang="zh-CN" altLang="en-US" sz="1200" b="0" i="0" u="none" strike="noStrike" kern="1200" cap="none" spc="0" baseline="0">
              <a:solidFill>
                <a:srgbClr val="898989"/>
              </a:solidFill>
              <a:latin typeface="Calibri" pitchFamily="0" charset="0"/>
              <a:ea typeface="等线" pitchFamily="0" charset="0"/>
              <a:cs typeface="Calibri" pitchFamily="0" charset="0"/>
            </a:endParaRPr>
          </a:p>
        </p:txBody>
      </p:sp>
      <p:sp>
        <p:nvSpPr>
          <p:cNvPr id="16" name="文本框"/>
          <p:cNvSpPr>
            <a:spLocks noGrp="1"/>
          </p:cNvSpPr>
          <p:nvPr>
            <p:ph type="ftr" idx="11"/>
          </p:nvPr>
        </p:nvSpPr>
        <p:spPr>
          <a:xfrm rot="0">
            <a:off x="3028950" y="6356351"/>
            <a:ext cx="3086100" cy="365125"/>
          </a:xfrm>
          <a:prstGeom prst="rect"/>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endParaRPr lang="zh-CN" altLang="en-US" sz="1200" b="0" i="0" u="none" strike="noStrike" kern="1200" cap="none" spc="0" baseline="0">
              <a:solidFill>
                <a:srgbClr val="898989"/>
              </a:solidFill>
              <a:latin typeface="Calibri" pitchFamily="0" charset="0"/>
              <a:ea typeface="等线" pitchFamily="0" charset="0"/>
              <a:cs typeface="Calibri" pitchFamily="0" charset="0"/>
            </a:endParaRPr>
          </a:p>
        </p:txBody>
      </p:sp>
      <p:sp>
        <p:nvSpPr>
          <p:cNvPr id="17" name="文本框"/>
          <p:cNvSpPr>
            <a:spLocks noGrp="1"/>
          </p:cNvSpPr>
          <p:nvPr>
            <p:ph type="sldNum" idx="12"/>
          </p:nvPr>
        </p:nvSpPr>
        <p:spPr>
          <a:xfrm rot="0">
            <a:off x="6457950" y="6356351"/>
            <a:ext cx="2057400"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0" charset="0"/>
                <a:ea typeface="等线" pitchFamily="0" charset="0"/>
                <a:cs typeface="Calibri" pitchFamily="0" charset="0"/>
              </a:rPr>
              <a:t>&lt;#&gt;</a:t>
            </a:fld>
            <a:endParaRPr lang="zh-CN" altLang="en-US" sz="1200" b="0" i="0" u="none" strike="noStrike" kern="1200" cap="none" spc="0" baseline="0">
              <a:solidFill>
                <a:srgbClr val="89898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588616805"/>
      </p:ext>
    </p:extLst>
  </p:cSld>
  <p:clrMapOvr>
    <a:masterClrMapping/>
  </p:clrMapOvr>
</p:sldLayout>
</file>

<file path=ppt/slideLayouts/slideLayout2.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582648695"/>
      </p:ext>
    </p:extLst>
  </p:cSld>
  <p:clrMapOvr>
    <a:masterClrMapping/>
  </p:clrMapOvr>
</p:sldLayout>
</file>

<file path=ppt/slideLayouts/slideLayout3.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369046966"/>
      </p:ext>
    </p:extLst>
  </p:cSld>
  <p:clrMapOvr>
    <a:masterClrMapping/>
  </p:clrMapOvr>
</p:sldLayout>
</file>

<file path=ppt/slideLayouts/slideLayout4.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000669599"/>
      </p:ext>
    </p:extLst>
  </p:cSld>
  <p:clrMapOvr>
    <a:masterClrMapping/>
  </p:clrMapOvr>
</p:sldLayout>
</file>

<file path=ppt/slideLayouts/slideLayout5.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047859448"/>
      </p:ext>
    </p:extLst>
  </p:cSld>
  <p:clrMapOvr>
    <a:masterClrMapping/>
  </p:clrMapOvr>
</p:sldLayout>
</file>

<file path=ppt/slideLayouts/slideLayout6.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707469727"/>
      </p:ext>
    </p:extLst>
  </p:cSld>
  <p:clrMapOvr>
    <a:masterClrMapping/>
  </p:clrMapOvr>
</p:sldLayout>
</file>

<file path=ppt/slideLayouts/slideLayout7.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877263076"/>
      </p:ext>
    </p:extLst>
  </p:cSld>
  <p:clrMapOvr>
    <a:masterClrMapping/>
  </p:clrMapOvr>
</p:sldLayout>
</file>

<file path=ppt/slideLayouts/slideLayout8.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029512597"/>
      </p:ext>
    </p:extLst>
  </p:cSld>
  <p:clrMapOvr>
    <a:masterClrMapping/>
  </p:clrMapOvr>
</p:sldLayout>
</file>

<file path=ppt/slideLayouts/slideLayout9.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256830242"/>
      </p:ext>
    </p:extLst>
  </p:cSld>
  <p:clrMapOvr>
    <a:masterClrMapping/>
  </p:clrMapOvr>
</p:sldLayout>
</file>

<file path=ppt/slideLayouts/slideLayout10.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859983806"/>
      </p:ext>
    </p:extLst>
  </p:cSld>
  <p:clrMapOvr>
    <a:masterClrMapping/>
  </p:clrMapOvr>
</p:sldLayout>
</file>

<file path=ppt/slideLayouts/slideLayout11.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371072581"/>
      </p:ext>
    </p:extLst>
  </p:cSld>
  <p:clrMapOvr>
    <a:masterClrMapping/>
  </p:clrMapOvr>
</p:sldLayout>
</file>

<file path=ppt/slideLayouts/slideLayout12.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sp>
        <p:nvSpPr>
          <p:cNvPr id="35" name="文本框"/>
          <p:cNvSpPr>
            <a:spLocks noGrp="1"/>
          </p:cNvSpPr>
          <p:nvPr>
            <p:ph type="title"/>
          </p:nvPr>
        </p:nvSpPr>
        <p:spPr>
          <a:xfrm rot="0">
            <a:off x="628650" y="365126"/>
            <a:ext cx="7886700" cy="1325563"/>
          </a:xfrm>
          <a:prstGeom prst="rect"/>
          <a:noFill/>
          <a:ln w="12700" cmpd="sng" cap="flat">
            <a:noFill/>
            <a:prstDash val="solid"/>
            <a:miter/>
          </a:ln>
        </p:spPr>
        <p:txBody>
          <a:bodyPr vert="horz" wrap="square" lIns="91440" tIns="45720" rIns="91440" bIns="45720" anchor="ctr" anchorCtr="0">
            <a:prstTxWarp prst="textNoShape"/>
          </a:bodyPr>
          <a:lstStyle/>
          <a:p>
            <a:r>
              <a:rPr lang="zh-CN" altLang="en-US"/>
              <a:t>单击此处编辑母版标题样式</a:t>
            </a:r>
            <a:endParaRPr lang="zh-CN" altLang="en-US"/>
          </a:p>
        </p:txBody>
      </p:sp>
      <p:sp>
        <p:nvSpPr>
          <p:cNvPr id="36" name="文本框"/>
          <p:cNvSpPr>
            <a:spLocks noGrp="1"/>
          </p:cNvSpPr>
          <p:nvPr>
            <p:ph type="body" idx="1"/>
          </p:nvPr>
        </p:nvSpPr>
        <p:spPr>
          <a:xfrm rot="0">
            <a:off x="628650" y="1825625"/>
            <a:ext cx="7886700" cy="4351338"/>
          </a:xfrm>
          <a:prstGeom prst="rect"/>
          <a:noFill/>
          <a:ln w="12700" cmpd="sng" cap="flat">
            <a:noFill/>
            <a:prstDash val="solid"/>
            <a:miter/>
          </a:ln>
        </p:spPr>
        <p:txBody>
          <a:bodyPr vert="horz" wrap="square" lIns="91440" tIns="45720" rIns="91440" bIns="45720" anchor="t" anchorCtr="0">
            <a:prstTxWarp prst="textNoShape"/>
          </a:bodyPr>
          <a:lstStyle/>
          <a:p>
            <a:r>
              <a:rPr lang="zh-CN" altLang="en-US"/>
              <a:t>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endParaRPr lang="zh-CN" altLang="en-US"/>
          </a:p>
        </p:txBody>
      </p:sp>
      <p:sp>
        <p:nvSpPr>
          <p:cNvPr id="37" name="文本框"/>
          <p:cNvSpPr>
            <a:spLocks noGrp="1"/>
          </p:cNvSpPr>
          <p:nvPr>
            <p:ph type="dt" idx="10"/>
          </p:nvPr>
        </p:nvSpPr>
        <p:spPr>
          <a:xfrm rot="0">
            <a:off x="628650" y="6356351"/>
            <a:ext cx="2057399" cy="365125"/>
          </a:xfrm>
          <a:prstGeom prst="rect"/>
          <a:noFill/>
          <a:ln cmpd="sng" cap="flat">
            <a:noFill/>
            <a:prstDash val="solid"/>
            <a:miter/>
          </a:ln>
        </p:spPr>
        <p:txBody>
          <a:bodyPr vert="horz" wrap="square" lIns="91440" tIns="45720" rIns="91440" bIns="45720" anchor="ctr" anchorCtr="0">
            <a:prstTxWarp prst="textNoShape"/>
          </a:bodyPr>
          <a:lstStyle/>
          <a:p>
            <a:pPr algn="l"/>
            <a:r>
              <a:rPr lang="zh-CN" altLang="en-US" sz="1200">
                <a:solidFill>
                  <a:srgbClr val="898989"/>
                </a:solidFill>
                <a:latin typeface="Calibri" pitchFamily="0" charset="0"/>
                <a:ea typeface="等线" pitchFamily="0" charset="0"/>
                <a:cs typeface="Calibri" pitchFamily="0" charset="0"/>
              </a:rPr>
              <a:t>《日期/时间》</a:t>
            </a:r>
            <a:endParaRPr lang="zh-CN" altLang="en-US" sz="1200">
              <a:solidFill>
                <a:srgbClr val="898989"/>
              </a:solidFill>
              <a:latin typeface="Calibri" pitchFamily="0" charset="0"/>
              <a:ea typeface="等线" pitchFamily="0" charset="0"/>
              <a:cs typeface="Calibri" pitchFamily="0" charset="0"/>
            </a:endParaRPr>
          </a:p>
        </p:txBody>
      </p:sp>
      <p:sp>
        <p:nvSpPr>
          <p:cNvPr id="38" name="文本框"/>
          <p:cNvSpPr>
            <a:spLocks noGrp="1"/>
          </p:cNvSpPr>
          <p:nvPr>
            <p:ph type="ftr" idx="11"/>
          </p:nvPr>
        </p:nvSpPr>
        <p:spPr>
          <a:xfrm rot="0">
            <a:off x="3028950" y="6356351"/>
            <a:ext cx="3086100" cy="365125"/>
          </a:xfrm>
          <a:prstGeom prst="rect"/>
          <a:noFill/>
          <a:ln cmpd="sng" cap="flat">
            <a:noFill/>
            <a:prstDash val="solid"/>
            <a:miter/>
          </a:ln>
        </p:spPr>
        <p:txBody>
          <a:bodyPr vert="horz" wrap="square" lIns="91440" tIns="45720" rIns="91440" bIns="45720" anchor="ctr" anchorCtr="0">
            <a:prstTxWarp prst="textNoShape"/>
          </a:bodyPr>
          <a:lstStyle/>
          <a:p>
            <a:pPr algn="ctr"/>
            <a:endParaRPr lang="zh-CN" altLang="en-US" sz="1200">
              <a:solidFill>
                <a:srgbClr val="898989"/>
              </a:solidFill>
              <a:latin typeface="Calibri" pitchFamily="0" charset="0"/>
              <a:ea typeface="等线" pitchFamily="0" charset="0"/>
              <a:cs typeface="Calibri" pitchFamily="0" charset="0"/>
            </a:endParaRPr>
          </a:p>
        </p:txBody>
      </p:sp>
      <p:sp>
        <p:nvSpPr>
          <p:cNvPr id="39" name="文本框"/>
          <p:cNvSpPr>
            <a:spLocks noGrp="1"/>
          </p:cNvSpPr>
          <p:nvPr>
            <p:ph type="sldNum" idx="12"/>
          </p:nvPr>
        </p:nvSpPr>
        <p:spPr>
          <a:xfrm rot="0">
            <a:off x="6457950" y="6356351"/>
            <a:ext cx="2057400" cy="365125"/>
          </a:xfrm>
          <a:prstGeom prst="rect"/>
          <a:noFill/>
          <a:ln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等线" pitchFamily="0" charset="0"/>
                <a:cs typeface="Calibri" pitchFamily="0" charset="0"/>
              </a:rPr>
              <a:t>&lt;#&gt;</a:t>
            </a:fld>
            <a:endParaRPr lang="zh-CN" altLang="en-US" sz="1200">
              <a:solidFill>
                <a:srgbClr val="89898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983886089"/>
      </p:ext>
    </p:extLst>
  </p:cSld>
  <p:clrMapOvr>
    <a:masterClrMapping/>
  </p:clrMapOvr>
  <p:hf sldNum="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文本框"/>
          <p:cNvSpPr>
            <a:spLocks noGrp="1"/>
          </p:cNvSpPr>
          <p:nvPr>
            <p:ph type="title"/>
          </p:nvPr>
        </p:nvSpPr>
        <p:spPr>
          <a:xfrm rot="0">
            <a:off x="628650" y="365126"/>
            <a:ext cx="7886700" cy="1325563"/>
          </a:xfrm>
          <a:prstGeom prst="rect"/>
          <a:noFill/>
          <a:ln w="12700" cmpd="sng" cap="flat">
            <a:noFill/>
            <a:prstDash val="solid"/>
            <a:miter/>
          </a:ln>
        </p:spPr>
        <p:txBody>
          <a:bodyPr vert="horz" wrap="square" lIns="91440" tIns="45720" rIns="91440" bIns="45720" anchor="ctr" anchorCtr="0">
            <a:prstTxWarp prst="textNoShape"/>
          </a:bodyPr>
          <a:lstStyle/>
          <a:p>
            <a:r>
              <a:rPr lang="zh-CN" altLang="en-US"/>
              <a:t>单击此处编辑母版标题样式</a:t>
            </a:r>
            <a:endParaRPr lang="zh-CN" altLang="en-US"/>
          </a:p>
        </p:txBody>
      </p:sp>
      <p:sp>
        <p:nvSpPr>
          <p:cNvPr id="3" name="文本框"/>
          <p:cNvSpPr>
            <a:spLocks noGrp="1"/>
          </p:cNvSpPr>
          <p:nvPr>
            <p:ph type="body" idx="1"/>
          </p:nvPr>
        </p:nvSpPr>
        <p:spPr>
          <a:xfrm rot="0">
            <a:off x="628650" y="1825625"/>
            <a:ext cx="7886700" cy="4351338"/>
          </a:xfrm>
          <a:prstGeom prst="rect"/>
          <a:noFill/>
          <a:ln w="12700" cmpd="sng" cap="flat">
            <a:noFill/>
            <a:prstDash val="solid"/>
            <a:miter/>
          </a:ln>
        </p:spPr>
        <p:txBody>
          <a:bodyPr vert="horz" wrap="square" lIns="91440" tIns="45720" rIns="91440" bIns="45720" anchor="t" anchorCtr="0">
            <a:prstTxWarp prst="textNoShape"/>
          </a:bodyPr>
          <a:lstStyle/>
          <a:p>
            <a:r>
              <a:rPr lang="zh-CN" altLang="en-US"/>
              <a:t>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endParaRPr lang="zh-CN" altLang="en-US"/>
          </a:p>
        </p:txBody>
      </p:sp>
      <p:sp>
        <p:nvSpPr>
          <p:cNvPr id="4" name="文本框"/>
          <p:cNvSpPr>
            <a:spLocks noGrp="1"/>
          </p:cNvSpPr>
          <p:nvPr>
            <p:ph type="dt" idx="2"/>
          </p:nvPr>
        </p:nvSpPr>
        <p:spPr>
          <a:xfrm rot="0">
            <a:off x="628650" y="6356351"/>
            <a:ext cx="2057399" cy="365125"/>
          </a:xfrm>
          <a:prstGeom prst="rect"/>
          <a:noFill/>
          <a:ln w="12700" cmpd="sng" cap="flat">
            <a:noFill/>
            <a:prstDash val="solid"/>
            <a:miter/>
          </a:ln>
        </p:spPr>
        <p:txBody>
          <a:bodyPr vert="horz" wrap="square" lIns="91440" tIns="45720" rIns="91440" bIns="45720" anchor="ctr" anchorCtr="0">
            <a:prstTxWarp prst="textNoShape"/>
          </a:bodyPr>
          <a:lstStyle/>
          <a:p>
            <a:pPr algn="l"/>
            <a:fld id="{CAD2D6BD-DE1B-4B5F-8B41-2702339687B9}" type="datetime1">
              <a:rPr lang="zh-CN" altLang="en-US" sz="1200">
                <a:solidFill>
                  <a:srgbClr val="898989"/>
                </a:solidFill>
                <a:latin typeface="Calibri" pitchFamily="0" charset="0"/>
                <a:ea typeface="等线" pitchFamily="0" charset="0"/>
                <a:cs typeface="Calibri" pitchFamily="0" charset="0"/>
              </a:rPr>
              <a:t>2025-11-9</a:t>
            </a:fld>
            <a:endParaRPr lang="zh-CN" altLang="en-US" sz="1200">
              <a:solidFill>
                <a:srgbClr val="898989"/>
              </a:solidFill>
              <a:latin typeface="Calibri" pitchFamily="0" charset="0"/>
              <a:ea typeface="等线" pitchFamily="0" charset="0"/>
              <a:cs typeface="Calibri" pitchFamily="0" charset="0"/>
            </a:endParaRPr>
          </a:p>
        </p:txBody>
      </p:sp>
      <p:sp>
        <p:nvSpPr>
          <p:cNvPr id="5" name="文本框"/>
          <p:cNvSpPr>
            <a:spLocks noGrp="1"/>
          </p:cNvSpPr>
          <p:nvPr>
            <p:ph type="ftr" idx="3"/>
          </p:nvPr>
        </p:nvSpPr>
        <p:spPr>
          <a:xfrm rot="0">
            <a:off x="3028950" y="6356351"/>
            <a:ext cx="3086100" cy="365125"/>
          </a:xfrm>
          <a:prstGeom prst="rect"/>
          <a:noFill/>
          <a:ln w="12700" cmpd="sng" cap="flat">
            <a:noFill/>
            <a:prstDash val="solid"/>
            <a:miter/>
          </a:ln>
        </p:spPr>
        <p:txBody>
          <a:bodyPr vert="horz" wrap="square" lIns="91440" tIns="45720" rIns="91440" bIns="45720" anchor="ctr" anchorCtr="0">
            <a:prstTxWarp prst="textNoShape"/>
          </a:bodyPr>
          <a:lstStyle/>
          <a:p>
            <a:pPr algn="ctr"/>
            <a:endParaRPr lang="zh-CN" altLang="en-US" sz="1200">
              <a:solidFill>
                <a:srgbClr val="898989"/>
              </a:solidFill>
              <a:latin typeface="Calibri" pitchFamily="0" charset="0"/>
              <a:ea typeface="等线" pitchFamily="0" charset="0"/>
              <a:cs typeface="Calibri" pitchFamily="0" charset="0"/>
            </a:endParaRPr>
          </a:p>
        </p:txBody>
      </p:sp>
      <p:sp>
        <p:nvSpPr>
          <p:cNvPr id="6" name="文本框"/>
          <p:cNvSpPr>
            <a:spLocks noGrp="1"/>
          </p:cNvSpPr>
          <p:nvPr>
            <p:ph type="sldNum" idx="4"/>
          </p:nvPr>
        </p:nvSpPr>
        <p:spPr>
          <a:xfrm rot="0">
            <a:off x="6457950" y="6356351"/>
            <a:ext cx="2057400"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等线" pitchFamily="0" charset="0"/>
                <a:cs typeface="Calibri" pitchFamily="0" charset="0"/>
              </a:rPr>
              <a:t>&lt;#&gt;</a:t>
            </a:fld>
            <a:endParaRPr lang="zh-CN" altLang="en-US" sz="1200">
              <a:solidFill>
                <a:srgbClr val="89898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274927999"/>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l" defTabSz="914400" eaLnBrk="1" fontAlgn="auto" latinLnBrk="0" hangingPunct="1">
        <a:lnSpc>
          <a:spcPct val="90000"/>
        </a:lnSpc>
        <a:spcBef>
          <a:spcPts val="0"/>
        </a:spcBef>
        <a:buNone/>
        <a:defRPr sz="4400" kern="1200">
          <a:solidFill>
            <a:schemeClr val="tx1"/>
          </a:solidFill>
          <a:latin typeface="Calibri Light" pitchFamily="0" charset="0"/>
          <a:ea typeface="等线 Light" pitchFamily="0" charset="0"/>
          <a:cs typeface="Calibri Light" pitchFamily="0" charset="0"/>
        </a:defRPr>
      </a:lvl1pPr>
    </p:titleStyle>
    <p:bodyStyle>
      <a:lvl1pPr marL="228600" indent="-228600" algn="l" defTabSz="914400" eaLnBrk="1" fontAlgn="auto" latinLnBrk="0" hangingPunct="1">
        <a:lnSpc>
          <a:spcPct val="90000"/>
        </a:lnSpc>
        <a:spcBef>
          <a:spcPts val="1000"/>
        </a:spcBef>
        <a:buFont typeface="Arial" pitchFamily="34" charset="0"/>
        <a:buChar char="•"/>
        <a:defRPr sz="2800" kern="1200">
          <a:solidFill>
            <a:schemeClr val="tx1"/>
          </a:solidFill>
          <a:latin typeface="Calibri" pitchFamily="0" charset="0"/>
          <a:ea typeface="等线" pitchFamily="0" charset="0"/>
          <a:cs typeface="Calibri" pitchFamily="0" charset="0"/>
        </a:defRPr>
      </a:lvl1pPr>
      <a:lvl2pPr marL="685800" indent="-228600" algn="l" defTabSz="914400" eaLnBrk="1" fontAlgn="auto" latinLnBrk="0" hangingPunct="1">
        <a:lnSpc>
          <a:spcPct val="90000"/>
        </a:lnSpc>
        <a:spcBef>
          <a:spcPts val="500"/>
        </a:spcBef>
        <a:buFont typeface="Arial" pitchFamily="34" charset="0"/>
        <a:buChar char="•"/>
        <a:defRPr sz="2400" kern="1200">
          <a:solidFill>
            <a:schemeClr val="tx1"/>
          </a:solidFill>
          <a:latin typeface="Calibri" pitchFamily="0" charset="0"/>
          <a:ea typeface="等线" pitchFamily="0" charset="0"/>
          <a:cs typeface="Calibri" pitchFamily="0" charset="0"/>
        </a:defRPr>
      </a:lvl2pPr>
      <a:lvl3pPr marL="1143000" indent="-228600" algn="l" defTabSz="914400" eaLnBrk="1" fontAlgn="auto" latinLnBrk="0" hangingPunct="1">
        <a:lnSpc>
          <a:spcPct val="90000"/>
        </a:lnSpc>
        <a:spcBef>
          <a:spcPts val="500"/>
        </a:spcBef>
        <a:buFont typeface="Arial" pitchFamily="34" charset="0"/>
        <a:buChar char="•"/>
        <a:defRPr sz="2000" kern="1200">
          <a:solidFill>
            <a:schemeClr val="tx1"/>
          </a:solidFill>
          <a:latin typeface="Calibri" pitchFamily="0" charset="0"/>
          <a:ea typeface="等线" pitchFamily="0" charset="0"/>
          <a:cs typeface="Calibri" pitchFamily="0" charset="0"/>
        </a:defRPr>
      </a:lvl3pPr>
      <a:lvl4pPr marL="16002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4pPr>
      <a:lvl5pPr marL="20574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5pPr>
      <a:lvl6pPr marL="25146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6pPr>
      <a:lvl7pPr marL="29718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7pPr>
      <a:lvl8pPr marL="34290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8pPr>
      <a:lvl9pPr marL="34290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pimg1.jpg"/><Relationship Id="rId2" Type="http://schemas.openxmlformats.org/officeDocument/2006/relationships/image" Target="../media/1.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1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1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1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1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image" Target="../media/2.png"/><Relationship Id="rId3" Type="http://schemas.openxmlformats.org/officeDocument/2006/relationships/customXml" Target="../ink/ink1.xml"/><Relationship Id="rId4" Type="http://schemas.openxmlformats.org/officeDocument/2006/relationships/slideLayout" Target="../slideLayouts/slideLayout1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image" Target="../media/3.png"/><Relationship Id="rId3" Type="http://schemas.openxmlformats.org/officeDocument/2006/relationships/image" Target="../media/4.png"/><Relationship Id="rId4" Type="http://schemas.openxmlformats.org/officeDocument/2006/relationships/image" Target="../media/5.png"/><Relationship Id="rId5" Type="http://schemas.openxmlformats.org/officeDocument/2006/relationships/customXml" Target="../ink/ink2.xml"/><Relationship Id="rId6" Type="http://schemas.openxmlformats.org/officeDocument/2006/relationships/customXml" Target="../ink/ink3.xml"/><Relationship Id="rId7" Type="http://schemas.openxmlformats.org/officeDocument/2006/relationships/customXml" Target="../ink/ink4.xml"/><Relationship Id="rId8" Type="http://schemas.openxmlformats.org/officeDocument/2006/relationships/customXml" Target="../ink/ink5.xml"/><Relationship Id="rId9" Type="http://schemas.openxmlformats.org/officeDocument/2006/relationships/customXml" Target="../ink/ink6.xml"/><Relationship Id="rId10" Type="http://schemas.openxmlformats.org/officeDocument/2006/relationships/customXml" Target="../ink/ink7.xml"/><Relationship Id="rId11" Type="http://schemas.openxmlformats.org/officeDocument/2006/relationships/slideLayout" Target="../slideLayouts/slideLayout12.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1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image" Target="../media/6.png"/><Relationship Id="rId3" Type="http://schemas.openxmlformats.org/officeDocument/2006/relationships/image" Target="../media/7.png"/><Relationship Id="rId4" Type="http://schemas.openxmlformats.org/officeDocument/2006/relationships/image" Target="../media/8.png"/><Relationship Id="rId5" Type="http://schemas.openxmlformats.org/officeDocument/2006/relationships/image" Target="../media/9.png"/><Relationship Id="rId6" Type="http://schemas.openxmlformats.org/officeDocument/2006/relationships/image" Target="../media/10.png"/><Relationship Id="rId7" Type="http://schemas.openxmlformats.org/officeDocument/2006/relationships/image" Target="../media/11.png"/><Relationship Id="rId8" Type="http://schemas.openxmlformats.org/officeDocument/2006/relationships/slideLayout" Target="../slideLayouts/slideLayout1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image" Target="../media/12.png"/><Relationship Id="rId3" Type="http://schemas.openxmlformats.org/officeDocument/2006/relationships/image" Target="../media/13.png"/><Relationship Id="rId4" Type="http://schemas.openxmlformats.org/officeDocument/2006/relationships/image" Target="../media/14.png"/><Relationship Id="rId5" Type="http://schemas.openxmlformats.org/officeDocument/2006/relationships/slideLayout" Target="../slideLayouts/slideLayout1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image" Target="../media/15.png"/><Relationship Id="rId3" Type="http://schemas.openxmlformats.org/officeDocument/2006/relationships/image" Target="../media/16.png"/><Relationship Id="rId4" Type="http://schemas.openxmlformats.org/officeDocument/2006/relationships/slideLayout" Target="../slideLayouts/slideLayout1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1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image" Target="../media/17.png"/><Relationship Id="rId3" Type="http://schemas.openxmlformats.org/officeDocument/2006/relationships/slideLayout" Target="../slideLayouts/slideLayout1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image" Target="../media/18.png"/><Relationship Id="rId3" Type="http://schemas.openxmlformats.org/officeDocument/2006/relationships/image" Target="../media/19.png"/><Relationship Id="rId4" Type="http://schemas.openxmlformats.org/officeDocument/2006/relationships/image" Target="../media/20.png"/><Relationship Id="rId5" Type="http://schemas.openxmlformats.org/officeDocument/2006/relationships/image" Target="../media/21.png"/><Relationship Id="rId6" Type="http://schemas.openxmlformats.org/officeDocument/2006/relationships/slideLayout" Target="../slideLayouts/slideLayout1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image" Target="../media/22.png"/><Relationship Id="rId3" Type="http://schemas.openxmlformats.org/officeDocument/2006/relationships/image" Target="../media/23.png"/><Relationship Id="rId4" Type="http://schemas.openxmlformats.org/officeDocument/2006/relationships/image" Target="../media/24.png"/><Relationship Id="rId5" Type="http://schemas.openxmlformats.org/officeDocument/2006/relationships/image" Target="../media/25.png"/><Relationship Id="rId6" Type="http://schemas.openxmlformats.org/officeDocument/2006/relationships/slideLayout" Target="../slideLayouts/slideLayout1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image" Target="../media/26.png"/><Relationship Id="rId3" Type="http://schemas.openxmlformats.org/officeDocument/2006/relationships/image" Target="../media/27.png"/><Relationship Id="rId4" Type="http://schemas.openxmlformats.org/officeDocument/2006/relationships/image" Target="../media/27.png"/><Relationship Id="rId5" Type="http://schemas.openxmlformats.org/officeDocument/2006/relationships/slideLayout" Target="../slideLayouts/slideLayout1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1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image" Target="../media/pimg2.png"/><Relationship Id="rId3" Type="http://schemas.openxmlformats.org/officeDocument/2006/relationships/slideLayout" Target="../slideLayouts/slideLayout1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1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1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1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image" Target="../media/28.png"/><Relationship Id="rId3" Type="http://schemas.openxmlformats.org/officeDocument/2006/relationships/image" Target="../media/29.png"/><Relationship Id="rId4" Type="http://schemas.openxmlformats.org/officeDocument/2006/relationships/image" Target="../media/30.png"/><Relationship Id="rId5" Type="http://schemas.openxmlformats.org/officeDocument/2006/relationships/image" Target="../media/31.png"/><Relationship Id="rId6" Type="http://schemas.openxmlformats.org/officeDocument/2006/relationships/slideLayout" Target="../slideLayouts/slideLayout1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image" Target="../media/32.png"/><Relationship Id="rId3" Type="http://schemas.openxmlformats.org/officeDocument/2006/relationships/image" Target="../media/33.png"/><Relationship Id="rId4" Type="http://schemas.openxmlformats.org/officeDocument/2006/relationships/image" Target="../media/34.png"/><Relationship Id="rId5" Type="http://schemas.openxmlformats.org/officeDocument/2006/relationships/image" Target="../media/35.png"/><Relationship Id="rId6" Type="http://schemas.openxmlformats.org/officeDocument/2006/relationships/image" Target="../media/36.png"/><Relationship Id="rId7" Type="http://schemas.openxmlformats.org/officeDocument/2006/relationships/image" Target="../media/37.png"/><Relationship Id="rId8" Type="http://schemas.openxmlformats.org/officeDocument/2006/relationships/slideLayout" Target="../slideLayouts/slideLayout12.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1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1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1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1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12.xml"/><Relationship Id="rId3" Type="http://schemas.openxmlformats.org/officeDocument/2006/relationships/notesSlide" Target="../notesSlides/notesSlide29.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8" name="矩形"/>
          <p:cNvSpPr>
            <a:spLocks/>
          </p:cNvSpPr>
          <p:nvPr/>
        </p:nvSpPr>
        <p:spPr>
          <a:xfrm rot="0">
            <a:off x="0" y="-26378"/>
            <a:ext cx="9144000" cy="4941277"/>
          </a:xfrm>
          <a:prstGeom prst="rect"/>
          <a:blipFill rotWithShape="1">
            <a:blip r:embed="rId1"/>
            <a:stretch/>
          </a:blipFill>
          <a:ln w="12700" cmpd="sng" cap="flat">
            <a:solidFill>
              <a:srgbClr val="5B9BD5"/>
            </a:solidFill>
            <a:prstDash val="solid"/>
            <a:round/>
          </a:ln>
        </p:spPr>
      </p:sp>
      <p:grpSp>
        <p:nvGrpSpPr>
          <p:cNvPr id="21" name="组合"/>
          <p:cNvGrpSpPr>
            <a:grpSpLocks/>
          </p:cNvGrpSpPr>
          <p:nvPr/>
        </p:nvGrpSpPr>
        <p:grpSpPr>
          <a:xfrm>
            <a:off x="1193920" y="5886856"/>
            <a:ext cx="7102248" cy="738289"/>
            <a:chOff x="1193920" y="5886856"/>
            <a:chExt cx="7102248" cy="738289"/>
          </a:xfrm>
        </p:grpSpPr>
        <p:sp>
          <p:nvSpPr>
            <p:cNvPr id="19" name="矩形"/>
            <p:cNvSpPr>
              <a:spLocks/>
            </p:cNvSpPr>
            <p:nvPr/>
          </p:nvSpPr>
          <p:spPr>
            <a:xfrm rot="0">
              <a:off x="1193920" y="5886856"/>
              <a:ext cx="6871855" cy="354267"/>
            </a:xfrm>
            <a:prstGeom prst="rect"/>
            <a:noFill/>
            <a:ln w="12700" cmpd="sng" cap="flat">
              <a:noFill/>
              <a:prstDash val="solid"/>
              <a:miter/>
            </a:ln>
          </p:spPr>
          <p:txBody>
            <a:bodyPr vert="horz" wrap="square" lIns="91440" tIns="45720" rIns="91440" bIns="45720" anchor="t" anchorCtr="0">
              <a:prstTxWarp prst="textNoShape"/>
            </a:bodyPr>
            <a:lstStyle/>
            <a:p>
              <a:pPr marL="0" indent="0" algn="ctr" eaLnBrk="1" latinLnBrk="0" hangingPunct="1">
                <a:lnSpc>
                  <a:spcPct val="90000"/>
                </a:lnSpc>
                <a:spcBef>
                  <a:spcPts val="1000"/>
                </a:spcBef>
                <a:spcAft>
                  <a:spcPts val="0"/>
                </a:spcAft>
                <a:buNone/>
              </a:pPr>
              <a:r>
                <a:rPr lang="zh-CN" altLang="en-US" sz="1800" b="1" i="0" u="none" strike="noStrike" kern="1200" cap="none" spc="0" baseline="0">
                  <a:solidFill>
                    <a:srgbClr val="C55A11"/>
                  </a:solidFill>
                  <a:latin typeface="SimHei" pitchFamily="0" charset="-122"/>
                  <a:ea typeface="SimHei" pitchFamily="0" charset="-122"/>
                  <a:cs typeface="SimHei" pitchFamily="0" charset="-122"/>
                </a:rPr>
                <a:t>南京信息工程大学</a:t>
              </a:r>
              <a:endParaRPr lang="zh-CN" altLang="en-US" sz="1800" b="1" i="0" u="none" strike="noStrike" kern="1200" cap="none" spc="0" baseline="0">
                <a:solidFill>
                  <a:srgbClr val="C55A11"/>
                </a:solidFill>
                <a:latin typeface="SimHei" pitchFamily="0" charset="-122"/>
                <a:ea typeface="SimHei" pitchFamily="0" charset="-122"/>
                <a:cs typeface="SimHei" pitchFamily="0" charset="-122"/>
              </a:endParaRPr>
            </a:p>
          </p:txBody>
        </p:sp>
        <p:sp>
          <p:nvSpPr>
            <p:cNvPr id="20" name="矩形"/>
            <p:cNvSpPr>
              <a:spLocks/>
            </p:cNvSpPr>
            <p:nvPr/>
          </p:nvSpPr>
          <p:spPr>
            <a:xfrm rot="0">
              <a:off x="1424313" y="6270878"/>
              <a:ext cx="6871855" cy="354267"/>
            </a:xfrm>
            <a:prstGeom prst="rect"/>
            <a:noFill/>
            <a:ln w="12700" cmpd="sng" cap="flat">
              <a:noFill/>
              <a:prstDash val="solid"/>
              <a:miter/>
            </a:ln>
          </p:spPr>
          <p:txBody>
            <a:bodyPr vert="horz" wrap="square" lIns="91440" tIns="45720" rIns="91440" bIns="45720" anchor="t" anchorCtr="0">
              <a:prstTxWarp prst="textNoShape"/>
            </a:bodyPr>
            <a:lstStyle/>
            <a:p>
              <a:pPr marL="0" indent="0" algn="ctr" eaLnBrk="1" latinLnBrk="0" hangingPunct="1">
                <a:lnSpc>
                  <a:spcPct val="90000"/>
                </a:lnSpc>
                <a:spcBef>
                  <a:spcPts val="1000"/>
                </a:spcBef>
                <a:spcAft>
                  <a:spcPts val="0"/>
                </a:spcAft>
                <a:buNone/>
              </a:pPr>
              <a:r>
                <a:rPr lang="en-US" altLang="zh-CN" sz="1800" b="0" i="0" u="none" strike="noStrike" kern="1200" cap="none" spc="0" baseline="0">
                  <a:solidFill>
                    <a:srgbClr val="3C6488"/>
                  </a:solidFill>
                  <a:latin typeface="Times New Roman" pitchFamily="0" charset="0"/>
                  <a:ea typeface="宋体" pitchFamily="0" charset="0"/>
                  <a:cs typeface="Times New Roman" pitchFamily="0" charset="0"/>
                </a:rPr>
                <a:t>Nanjing University of Information Science and Technology</a:t>
              </a:r>
              <a:endParaRPr lang="zh-CN" altLang="en-US" sz="1800" b="0" i="0" u="none" strike="noStrike" kern="1200" cap="none" spc="0" baseline="0">
                <a:solidFill>
                  <a:srgbClr val="3C6488"/>
                </a:solidFill>
                <a:latin typeface="Times New Roman" pitchFamily="0" charset="0"/>
                <a:ea typeface="宋体" pitchFamily="0" charset="0"/>
                <a:cs typeface="Times New Roman" pitchFamily="0" charset="0"/>
              </a:endParaRPr>
            </a:p>
          </p:txBody>
        </p:sp>
      </p:grpSp>
      <p:sp>
        <p:nvSpPr>
          <p:cNvPr id="22" name="文本框"/>
          <p:cNvSpPr>
            <a:spLocks noGrp="1"/>
          </p:cNvSpPr>
          <p:nvPr>
            <p:ph type="ctrTitle"/>
          </p:nvPr>
        </p:nvSpPr>
        <p:spPr>
          <a:xfrm rot="0">
            <a:off x="-88900" y="1324819"/>
            <a:ext cx="9232900" cy="1223745"/>
          </a:xfrm>
          <a:prstGeom prst="rect"/>
          <a:solidFill>
            <a:srgbClr val="FFFFFF">
              <a:alpha val="30000"/>
            </a:srgbClr>
          </a:solidFill>
          <a:ln w="12700"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7200" b="1" i="0" u="none" strike="noStrike" kern="1200" cap="none" spc="0" baseline="0">
                <a:solidFill>
                  <a:schemeClr val="bg1"/>
                </a:solidFill>
                <a:latin typeface="SimHei" pitchFamily="0" charset="-122"/>
                <a:ea typeface="SimHei" pitchFamily="0" charset="-122"/>
                <a:cs typeface="SimHei" pitchFamily="0" charset="-122"/>
              </a:rPr>
              <a:t>数字图像处理</a:t>
            </a:r>
            <a:endParaRPr lang="zh-CN" altLang="en-US" sz="7200" b="1" i="0" u="none" strike="noStrike" kern="1200" cap="none" spc="0" baseline="0">
              <a:solidFill>
                <a:schemeClr val="bg1"/>
              </a:solidFill>
              <a:latin typeface="SimHei" pitchFamily="0" charset="-122"/>
              <a:ea typeface="SimHei" pitchFamily="0" charset="-122"/>
              <a:cs typeface="SimHei" pitchFamily="0" charset="-122"/>
            </a:endParaRPr>
          </a:p>
        </p:txBody>
      </p:sp>
      <p:sp>
        <p:nvSpPr>
          <p:cNvPr id="23" name="文本框"/>
          <p:cNvSpPr>
            <a:spLocks noGrp="1"/>
          </p:cNvSpPr>
          <p:nvPr>
            <p:ph type="subTitle" idx="1"/>
          </p:nvPr>
        </p:nvSpPr>
        <p:spPr>
          <a:xfrm rot="0">
            <a:off x="1091622" y="5428784"/>
            <a:ext cx="6871855" cy="795535"/>
          </a:xfrm>
          <a:prstGeom prst="rect"/>
          <a:noFill/>
          <a:ln w="12700" cmpd="sng" cap="flat">
            <a:noFill/>
            <a:prstDash val="solid"/>
            <a:miter/>
          </a:ln>
        </p:spPr>
        <p:txBody>
          <a:bodyPr vert="horz" wrap="square" lIns="91440" tIns="45720" rIns="91440" bIns="45720" anchor="t" anchorCtr="0">
            <a:prstTxWarp prst="textNoShape"/>
          </a:bodyPr>
          <a:lstStyle/>
          <a:p>
            <a:pPr marL="0" indent="0" algn="ctr">
              <a:lnSpc>
                <a:spcPct val="90000"/>
              </a:lnSpc>
              <a:spcBef>
                <a:spcPts val="1000"/>
              </a:spcBef>
              <a:spcAft>
                <a:spcPts val="0"/>
              </a:spcAft>
              <a:buNone/>
            </a:pPr>
            <a:r>
              <a:rPr lang="zh-CN" altLang="en-US" sz="2400" b="0" i="0" u="none" strike="noStrike" kern="1200" cap="none" spc="0" baseline="0">
                <a:solidFill>
                  <a:schemeClr val="tx1"/>
                </a:solidFill>
                <a:latin typeface="华光标题宋_CNKI" pitchFamily="2" charset="-122"/>
                <a:ea typeface="华光标题宋_CNKI" pitchFamily="2" charset="-122"/>
                <a:cs typeface="SimHei" pitchFamily="0" charset="-122"/>
              </a:rPr>
              <a:t>复  习</a:t>
            </a:r>
            <a:endParaRPr lang="zh-CN" altLang="en-US" sz="2400" b="0" i="0" u="none" strike="noStrike" kern="1200" cap="none" spc="0" baseline="0">
              <a:solidFill>
                <a:schemeClr val="tx1"/>
              </a:solidFill>
              <a:latin typeface="华光标题宋_CNKI" pitchFamily="2" charset="-122"/>
              <a:ea typeface="华光标题宋_CNKI" pitchFamily="2" charset="-122"/>
              <a:cs typeface="SimHei" pitchFamily="0" charset="-122"/>
            </a:endParaRPr>
          </a:p>
        </p:txBody>
      </p:sp>
      <p:pic>
        <p:nvPicPr>
          <p:cNvPr id="24" name="图片"/>
          <p:cNvPicPr>
            <a:picLocks noChangeAspect="1"/>
          </p:cNvPicPr>
          <p:nvPr/>
        </p:nvPicPr>
        <p:blipFill>
          <a:blip r:embed="rId2" cstate="print"/>
          <a:stretch>
            <a:fillRect/>
          </a:stretch>
        </p:blipFill>
        <p:spPr>
          <a:xfrm rot="0">
            <a:off x="8143424" y="5535177"/>
            <a:ext cx="875115" cy="855973"/>
          </a:xfrm>
          <a:prstGeom prst="rect"/>
          <a:noFill/>
          <a:ln w="12700" cmpd="sng" cap="flat">
            <a:noFill/>
            <a:prstDash val="solid"/>
            <a:miter/>
          </a:ln>
        </p:spPr>
      </p:pic>
      <p:sp>
        <p:nvSpPr>
          <p:cNvPr id="25" name="矩形"/>
          <p:cNvSpPr>
            <a:spLocks/>
          </p:cNvSpPr>
          <p:nvPr/>
        </p:nvSpPr>
        <p:spPr>
          <a:xfrm rot="2696006">
            <a:off x="3770155" y="3709790"/>
            <a:ext cx="1320758" cy="1320758"/>
          </a:xfrm>
          <a:prstGeom prst="rect"/>
          <a:noFill/>
          <a:ln w="63500" cmpd="sng" cap="flat">
            <a:solidFill>
              <a:srgbClr val="FFE8CB"/>
            </a:solidFill>
            <a:prstDash val="solid"/>
            <a:round/>
          </a:ln>
        </p:spPr>
      </p:sp>
      <p:sp>
        <p:nvSpPr>
          <p:cNvPr id="26" name="矩形"/>
          <p:cNvSpPr>
            <a:spLocks/>
          </p:cNvSpPr>
          <p:nvPr/>
        </p:nvSpPr>
        <p:spPr>
          <a:xfrm rot="2696006">
            <a:off x="3938998" y="3708437"/>
            <a:ext cx="1320758" cy="1320759"/>
          </a:xfrm>
          <a:prstGeom prst="rect"/>
          <a:noFill/>
          <a:ln w="25400" cmpd="sng" cap="flat">
            <a:solidFill>
              <a:srgbClr val="EDEDED"/>
            </a:solidFill>
            <a:prstDash val="solid"/>
            <a:round/>
          </a:ln>
        </p:spPr>
      </p:sp>
      <p:sp>
        <p:nvSpPr>
          <p:cNvPr id="27" name="直线"/>
          <p:cNvSpPr>
            <a:spLocks/>
          </p:cNvSpPr>
          <p:nvPr/>
        </p:nvSpPr>
        <p:spPr>
          <a:xfrm flipH="1" rot="0">
            <a:off x="0" y="4371869"/>
            <a:ext cx="3174023" cy="0"/>
          </a:xfrm>
          <a:prstGeom prst="line"/>
          <a:noFill/>
          <a:ln w="19050" cmpd="sng" cap="flat">
            <a:solidFill>
              <a:srgbClr val="FFFFFF"/>
            </a:solidFill>
            <a:prstDash val="solid"/>
            <a:round/>
          </a:ln>
        </p:spPr>
      </p:sp>
      <p:sp>
        <p:nvSpPr>
          <p:cNvPr id="28" name="直线"/>
          <p:cNvSpPr>
            <a:spLocks/>
          </p:cNvSpPr>
          <p:nvPr/>
        </p:nvSpPr>
        <p:spPr>
          <a:xfrm flipH="1" rot="0">
            <a:off x="5882050" y="4371866"/>
            <a:ext cx="3261950" cy="0"/>
          </a:xfrm>
          <a:prstGeom prst="line"/>
          <a:noFill/>
          <a:ln w="19050" cmpd="sng" cap="flat">
            <a:solidFill>
              <a:srgbClr val="FFFFFF"/>
            </a:solidFill>
            <a:prstDash val="solid"/>
            <a:round/>
          </a:ln>
        </p:spPr>
      </p:sp>
      <p:sp>
        <p:nvSpPr>
          <p:cNvPr id="29" name="矩形"/>
          <p:cNvSpPr>
            <a:spLocks/>
          </p:cNvSpPr>
          <p:nvPr/>
        </p:nvSpPr>
        <p:spPr>
          <a:xfrm rot="0">
            <a:off x="0" y="2658721"/>
            <a:ext cx="9144000" cy="664881"/>
          </a:xfrm>
          <a:prstGeom prst="rect"/>
          <a:solidFill>
            <a:srgbClr val="FFFFFF">
              <a:alpha val="30000"/>
            </a:srgbClr>
          </a:solidFill>
          <a:ln w="12700" cmpd="sng" cap="flat">
            <a:noFill/>
            <a:prstDash val="solid"/>
            <a:miter/>
          </a:ln>
        </p:spPr>
        <p:txBody>
          <a:bodyPr vert="horz" wrap="square" lIns="91440" tIns="45720" rIns="91440" bIns="45720" anchor="b" anchorCtr="0">
            <a:prstTxWarp prst="textNoShape"/>
          </a:bodyPr>
          <a:lstStyle/>
          <a:p>
            <a:pPr marL="0" indent="0" algn="ctr" eaLnBrk="1" latinLnBrk="0" hangingPunct="1">
              <a:lnSpc>
                <a:spcPct val="90000"/>
              </a:lnSpc>
              <a:spcBef>
                <a:spcPts val="0"/>
              </a:spcBef>
              <a:spcAft>
                <a:spcPts val="0"/>
              </a:spcAft>
              <a:buNone/>
            </a:pPr>
            <a:r>
              <a:rPr lang="en-US" altLang="zh-CN" sz="3600" b="0" i="0" u="none" strike="noStrike" kern="1200" cap="none" spc="0" baseline="0">
                <a:solidFill>
                  <a:schemeClr val="bg1"/>
                </a:solidFill>
                <a:latin typeface="Times New Roman" pitchFamily="0" charset="0"/>
                <a:ea typeface="SimHei" pitchFamily="0" charset="-122"/>
                <a:cs typeface="Times New Roman" pitchFamily="0" charset="0"/>
              </a:rPr>
              <a:t>Digital Image Processing</a:t>
            </a:r>
            <a:endParaRPr lang="zh-CN" altLang="en-US" sz="3600" b="0" i="0" u="none" strike="noStrike" kern="1200" cap="none" spc="0" baseline="0">
              <a:solidFill>
                <a:schemeClr val="bg1"/>
              </a:solidFill>
              <a:latin typeface="Times New Roman" pitchFamily="0" charset="0"/>
              <a:ea typeface="SimHei" pitchFamily="0" charset="-122"/>
              <a:cs typeface="Times New Roman" pitchFamily="0" charset="0"/>
            </a:endParaRPr>
          </a:p>
        </p:txBody>
      </p:sp>
      <p:sp>
        <p:nvSpPr>
          <p:cNvPr id="30" name="直线"/>
          <p:cNvSpPr>
            <a:spLocks/>
          </p:cNvSpPr>
          <p:nvPr/>
        </p:nvSpPr>
        <p:spPr>
          <a:xfrm flipH="1" rot="0">
            <a:off x="0" y="4425735"/>
            <a:ext cx="3174023" cy="0"/>
          </a:xfrm>
          <a:prstGeom prst="line"/>
          <a:noFill/>
          <a:ln w="12700" cmpd="sng" cap="flat">
            <a:solidFill>
              <a:srgbClr val="FFFFFF"/>
            </a:solidFill>
            <a:prstDash val="solid"/>
            <a:round/>
          </a:ln>
        </p:spPr>
      </p:sp>
      <p:sp>
        <p:nvSpPr>
          <p:cNvPr id="31" name="直线"/>
          <p:cNvSpPr>
            <a:spLocks/>
          </p:cNvSpPr>
          <p:nvPr/>
        </p:nvSpPr>
        <p:spPr>
          <a:xfrm flipH="1" rot="0">
            <a:off x="5882050" y="4425732"/>
            <a:ext cx="3261950" cy="0"/>
          </a:xfrm>
          <a:prstGeom prst="line"/>
          <a:noFill/>
          <a:ln w="12700" cmpd="sng" cap="flat">
            <a:solidFill>
              <a:srgbClr val="FFFFFF"/>
            </a:solidFill>
            <a:prstDash val="solid"/>
            <a:round/>
          </a:ln>
        </p:spPr>
      </p:sp>
    </p:spTree>
    <p:extLst>
      <p:ext uri="{BB962C8B-B14F-4D97-AF65-F5344CB8AC3E}">
        <p14:creationId xmlns:p14="http://schemas.microsoft.com/office/powerpoint/2010/main" val="983519800"/>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0" name="文本框"/>
          <p:cNvSpPr>
            <a:spLocks noGrp="1"/>
          </p:cNvSpPr>
          <p:nvPr>
            <p:ph type="title"/>
          </p:nvPr>
        </p:nvSpPr>
        <p:spPr>
          <a:xfrm rot="0">
            <a:off x="318051" y="102604"/>
            <a:ext cx="1331844" cy="795654"/>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90000"/>
              </a:lnSpc>
              <a:spcBef>
                <a:spcPts val="0"/>
              </a:spcBef>
              <a:spcAft>
                <a:spcPts val="0"/>
              </a:spcAft>
              <a:buNone/>
            </a:pPr>
            <a:r>
              <a:rPr lang="zh-CN" altLang="en-US" sz="3600" b="1" i="0" u="none" strike="noStrike" kern="1200" cap="none" spc="0" baseline="0">
                <a:solidFill>
                  <a:srgbClr val="1F4E79"/>
                </a:solidFill>
                <a:latin typeface="SimHei" pitchFamily="0" charset="-122"/>
                <a:ea typeface="SimHei" pitchFamily="0" charset="-122"/>
                <a:cs typeface="SimHei" pitchFamily="0" charset="-122"/>
              </a:rPr>
              <a:t>目录</a:t>
            </a:r>
            <a:endParaRPr lang="zh-CN" altLang="en-US" sz="3600" b="1" i="0" u="none" strike="noStrike" kern="1200" cap="none" spc="0" baseline="0">
              <a:solidFill>
                <a:srgbClr val="1F4E79"/>
              </a:solidFill>
              <a:latin typeface="SimHei" pitchFamily="0" charset="-122"/>
              <a:ea typeface="SimHei" pitchFamily="0" charset="-122"/>
              <a:cs typeface="SimHei" pitchFamily="0" charset="-122"/>
            </a:endParaRPr>
          </a:p>
        </p:txBody>
      </p:sp>
      <p:pic>
        <p:nvPicPr>
          <p:cNvPr id="41"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42" name="直线"/>
          <p:cNvSpPr>
            <a:spLocks/>
          </p:cNvSpPr>
          <p:nvPr/>
        </p:nvSpPr>
        <p:spPr>
          <a:xfrm rot="0">
            <a:off x="1481267" y="539660"/>
            <a:ext cx="1749287" cy="0"/>
          </a:xfrm>
          <a:prstGeom prst="line"/>
          <a:noFill/>
          <a:ln w="6350" cmpd="sng" cap="flat">
            <a:solidFill>
              <a:srgbClr val="000000"/>
            </a:solidFill>
            <a:prstDash val="solid"/>
            <a:round/>
          </a:ln>
        </p:spPr>
      </p:sp>
      <p:sp>
        <p:nvSpPr>
          <p:cNvPr id="43" name="矩形"/>
          <p:cNvSpPr>
            <a:spLocks/>
          </p:cNvSpPr>
          <p:nvPr/>
        </p:nvSpPr>
        <p:spPr>
          <a:xfrm rot="0">
            <a:off x="505366" y="431055"/>
            <a:ext cx="3230555" cy="1089426"/>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Contents</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44"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45"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46" name="矩形"/>
          <p:cNvSpPr>
            <a:spLocks/>
          </p:cNvSpPr>
          <p:nvPr/>
        </p:nvSpPr>
        <p:spPr>
          <a:xfrm rot="0">
            <a:off x="402487" y="1226710"/>
            <a:ext cx="6666865" cy="4977764"/>
          </a:xfrm>
          <a:prstGeom prst="rect"/>
          <a:noFill/>
          <a:ln w="12700" cmpd="sng" cap="flat">
            <a:noFill/>
            <a:prstDash val="solid"/>
            <a:miter/>
          </a:ln>
        </p:spPr>
        <p:txBody>
          <a:bodyPr vert="horz" wrap="square" lIns="91440" tIns="45720" rIns="91440" bIns="45720" anchor="t" anchorCtr="0">
            <a:prstTxWarp prst="textNoShape"/>
            <a:spAutoFit/>
          </a:bodyPr>
          <a:lstStyle/>
          <a:p>
            <a:pPr marL="342900" indent="-342900" algn="l">
              <a:lnSpc>
                <a:spcPct val="150000"/>
              </a:lnSpc>
              <a:spcBef>
                <a:spcPts val="0"/>
              </a:spcBef>
              <a:spcAft>
                <a:spcPts val="0"/>
              </a:spcAft>
              <a:buFont typeface="Wingdings" pitchFamily="2" charset="2"/>
              <a:buChar char="n"/>
            </a:pP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第一章：绪论</a:t>
            </a:r>
            <a:endParaRPr lang="en-US" altLang="zh-CN" sz="2400" b="0" i="0" u="none" strike="noStrike" kern="1200" cap="none" spc="0" baseline="0">
              <a:solidFill>
                <a:schemeClr val="tx1"/>
              </a:solidFill>
              <a:latin typeface="Times New Roman" pitchFamily="0" charset="0"/>
              <a:ea typeface="宋体" pitchFamily="0" charset="0"/>
              <a:cs typeface="Times New Roman" pitchFamily="0" charset="0"/>
            </a:endParaRPr>
          </a:p>
          <a:p>
            <a:pPr marL="342900" indent="-342900" algn="l">
              <a:lnSpc>
                <a:spcPct val="150000"/>
              </a:lnSpc>
              <a:spcBef>
                <a:spcPts val="0"/>
              </a:spcBef>
              <a:spcAft>
                <a:spcPts val="0"/>
              </a:spcAft>
              <a:buFont typeface="Wingdings" pitchFamily="2" charset="2"/>
              <a:buChar char="n"/>
            </a:pP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rPr>
              <a:t>第二章：数字图像基础</a:t>
            </a:r>
            <a:endParaRPr lang="en-US" altLang="zh-CN" sz="2400" b="0" i="0" u="none" strike="noStrike" kern="1200" cap="none" spc="0" baseline="0">
              <a:solidFill>
                <a:schemeClr val="tx1"/>
              </a:solidFill>
              <a:latin typeface="Times New Roman" pitchFamily="0" charset="0"/>
              <a:ea typeface="宋体" pitchFamily="0" charset="0"/>
              <a:cs typeface="Times New Roman" pitchFamily="0" charset="0"/>
            </a:endParaRPr>
          </a:p>
          <a:p>
            <a:pPr marL="342900" indent="-342900" algn="l">
              <a:lnSpc>
                <a:spcPct val="150000"/>
              </a:lnSpc>
              <a:spcBef>
                <a:spcPts val="0"/>
              </a:spcBef>
              <a:spcAft>
                <a:spcPts val="0"/>
              </a:spcAft>
              <a:buFont typeface="Wingdings" pitchFamily="2" charset="2"/>
              <a:buChar char="n"/>
            </a:pP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rPr>
              <a:t>第三章：灰度变换与空间滤波</a:t>
            </a:r>
            <a:r>
              <a:rPr lang="zh-CN" altLang="en-US" sz="2400" b="0" i="0" u="none" strike="noStrike" kern="1200" cap="none" spc="0" baseline="0">
                <a:solidFill>
                  <a:schemeClr val="tx1"/>
                </a:solidFill>
                <a:latin typeface="宋体" pitchFamily="0" charset="0"/>
                <a:ea typeface="宋体" pitchFamily="0" charset="0"/>
                <a:cs typeface="Times New Roman" pitchFamily="0" charset="0"/>
              </a:rPr>
              <a:t>（图像增强）</a:t>
            </a:r>
            <a:endParaRPr lang="en-US" altLang="zh-CN" sz="2400" b="0" i="0" u="none" strike="noStrike" kern="1200" cap="none" spc="0" baseline="0">
              <a:solidFill>
                <a:schemeClr val="tx1"/>
              </a:solidFill>
              <a:latin typeface="Times New Roman" pitchFamily="0" charset="0"/>
              <a:ea typeface="宋体" pitchFamily="0" charset="0"/>
              <a:cs typeface="Times New Roman" pitchFamily="0" charset="0"/>
            </a:endParaRPr>
          </a:p>
          <a:p>
            <a:pPr marL="342900" indent="-342900" algn="l">
              <a:lnSpc>
                <a:spcPct val="150000"/>
              </a:lnSpc>
              <a:spcBef>
                <a:spcPts val="0"/>
              </a:spcBef>
              <a:spcAft>
                <a:spcPts val="0"/>
              </a:spcAft>
              <a:buFont typeface="Wingdings" pitchFamily="2" charset="2"/>
              <a:buChar char="n"/>
            </a:pP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rPr>
              <a:t>第四章：频率域滤波</a:t>
            </a:r>
            <a:r>
              <a:rPr lang="zh-CN" altLang="en-US" sz="2400" b="0" i="0" u="none" strike="noStrike" kern="1200" cap="none" spc="0" baseline="0">
                <a:solidFill>
                  <a:schemeClr val="tx1"/>
                </a:solidFill>
                <a:latin typeface="宋体" pitchFamily="0" charset="0"/>
                <a:ea typeface="宋体" pitchFamily="0" charset="0"/>
                <a:cs typeface="Times New Roman" pitchFamily="0" charset="0"/>
              </a:rPr>
              <a:t>（图像增强）</a:t>
            </a:r>
            <a:endParaRPr lang="en-US" altLang="zh-CN" sz="2400" b="0" i="0" u="none" strike="noStrike" kern="1200" cap="none" spc="0" baseline="0">
              <a:solidFill>
                <a:schemeClr val="tx1"/>
              </a:solidFill>
              <a:latin typeface="Times New Roman" pitchFamily="0" charset="0"/>
              <a:ea typeface="宋体" pitchFamily="0" charset="0"/>
              <a:cs typeface="Times New Roman" pitchFamily="0" charset="0"/>
            </a:endParaRPr>
          </a:p>
          <a:p>
            <a:pPr marL="342900" indent="-342900" algn="l">
              <a:lnSpc>
                <a:spcPct val="150000"/>
              </a:lnSpc>
              <a:spcBef>
                <a:spcPts val="0"/>
              </a:spcBef>
              <a:spcAft>
                <a:spcPts val="0"/>
              </a:spcAft>
              <a:buFont typeface="Wingdings" pitchFamily="2" charset="2"/>
              <a:buChar char="n"/>
            </a:pP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rPr>
              <a:t>第五章：图像复原与重建</a:t>
            </a:r>
            <a:endParaRPr lang="en-US" altLang="zh-CN" sz="2400" b="0" i="0" u="none" strike="noStrike" kern="1200" cap="none" spc="0" baseline="0">
              <a:solidFill>
                <a:schemeClr val="tx1"/>
              </a:solidFill>
              <a:latin typeface="Times New Roman" pitchFamily="0" charset="0"/>
              <a:ea typeface="宋体" pitchFamily="0" charset="0"/>
              <a:cs typeface="Times New Roman" pitchFamily="0" charset="0"/>
            </a:endParaRPr>
          </a:p>
          <a:p>
            <a:pPr marL="342900" indent="-342900" algn="l">
              <a:lnSpc>
                <a:spcPct val="150000"/>
              </a:lnSpc>
              <a:spcBef>
                <a:spcPts val="0"/>
              </a:spcBef>
              <a:spcAft>
                <a:spcPts val="0"/>
              </a:spcAft>
              <a:buFont typeface="Wingdings" pitchFamily="2" charset="2"/>
              <a:buChar char="n"/>
            </a:pP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rPr>
              <a:t>第六章：彩色图像处理</a:t>
            </a:r>
            <a:endParaRPr lang="en-US" altLang="zh-CN" sz="2400" b="0" i="0" u="none" strike="noStrike" kern="1200" cap="none" spc="0" baseline="0">
              <a:solidFill>
                <a:schemeClr val="tx1"/>
              </a:solidFill>
              <a:latin typeface="Times New Roman" pitchFamily="0" charset="0"/>
              <a:ea typeface="宋体" pitchFamily="0" charset="0"/>
              <a:cs typeface="Times New Roman" pitchFamily="0" charset="0"/>
            </a:endParaRPr>
          </a:p>
          <a:p>
            <a:pPr marL="342900" indent="-342900" algn="l">
              <a:lnSpc>
                <a:spcPct val="150000"/>
              </a:lnSpc>
              <a:spcBef>
                <a:spcPts val="0"/>
              </a:spcBef>
              <a:spcAft>
                <a:spcPts val="0"/>
              </a:spcAft>
              <a:buFont typeface="Wingdings" pitchFamily="2" charset="2"/>
              <a:buChar char="n"/>
            </a:pP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rPr>
              <a:t>第八章：图像压缩和水印</a:t>
            </a:r>
            <a:endParaRPr lang="en-US" altLang="zh-CN" sz="2400" b="0" i="0" u="none" strike="noStrike" kern="1200" cap="none" spc="0" baseline="0">
              <a:solidFill>
                <a:schemeClr val="tx1"/>
              </a:solidFill>
              <a:latin typeface="Times New Roman" pitchFamily="0" charset="0"/>
              <a:ea typeface="宋体" pitchFamily="0" charset="0"/>
              <a:cs typeface="Times New Roman" pitchFamily="0" charset="0"/>
            </a:endParaRPr>
          </a:p>
          <a:p>
            <a:pPr marL="342900" indent="-342900" algn="l">
              <a:lnSpc>
                <a:spcPct val="150000"/>
              </a:lnSpc>
              <a:spcBef>
                <a:spcPts val="0"/>
              </a:spcBef>
              <a:spcAft>
                <a:spcPts val="0"/>
              </a:spcAft>
              <a:buFont typeface="Wingdings" pitchFamily="2" charset="2"/>
              <a:buChar char="n"/>
            </a:pP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rPr>
              <a:t>第九章：形态学图像处理</a:t>
            </a:r>
            <a:endParaRPr lang="en-US" altLang="zh-CN" sz="2400" b="0" i="0" u="none" strike="noStrike" kern="1200" cap="none" spc="0" baseline="0">
              <a:solidFill>
                <a:schemeClr val="tx1"/>
              </a:solidFill>
              <a:latin typeface="Times New Roman" pitchFamily="0" charset="0"/>
              <a:ea typeface="宋体" pitchFamily="0" charset="0"/>
              <a:cs typeface="Times New Roman" pitchFamily="0" charset="0"/>
            </a:endParaRPr>
          </a:p>
          <a:p>
            <a:pPr marL="342900" indent="-342900" algn="l">
              <a:lnSpc>
                <a:spcPct val="150000"/>
              </a:lnSpc>
              <a:spcBef>
                <a:spcPts val="0"/>
              </a:spcBef>
              <a:spcAft>
                <a:spcPts val="0"/>
              </a:spcAft>
              <a:buFont typeface="Wingdings" pitchFamily="2" charset="2"/>
              <a:buChar char="n"/>
            </a:pP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rPr>
              <a:t>第十章：图像分割</a:t>
            </a:r>
            <a:endParaRPr lang="zh-CN" altLang="en-US" sz="2400" b="0" i="0" u="none" strike="noStrike" kern="1200" cap="none" spc="0" baseline="0">
              <a:solidFill>
                <a:schemeClr val="tx1"/>
              </a:solidFill>
              <a:latin typeface="Times New Roman" pitchFamily="0" charset="0"/>
              <a:ea typeface="宋体" pitchFamily="0" charset="0"/>
              <a:cs typeface="Times New Roman" pitchFamily="0" charset="0"/>
            </a:endParaRPr>
          </a:p>
        </p:txBody>
      </p:sp>
    </p:spTree>
    <p:extLst>
      <p:ext uri="{BB962C8B-B14F-4D97-AF65-F5344CB8AC3E}">
        <p14:creationId xmlns:p14="http://schemas.microsoft.com/office/powerpoint/2010/main" val="859144735"/>
      </p:ext>
    </p:ext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50"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51"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52"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数字图像处理</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53" name="直线"/>
          <p:cNvSpPr>
            <a:spLocks/>
          </p:cNvSpPr>
          <p:nvPr/>
        </p:nvSpPr>
        <p:spPr>
          <a:xfrm rot="0">
            <a:off x="3009712" y="525055"/>
            <a:ext cx="1749287" cy="0"/>
          </a:xfrm>
          <a:prstGeom prst="line"/>
          <a:noFill/>
          <a:ln w="6350" cmpd="sng" cap="flat">
            <a:solidFill>
              <a:srgbClr val="000000"/>
            </a:solidFill>
            <a:prstDash val="solid"/>
            <a:round/>
          </a:ln>
        </p:spPr>
      </p:sp>
      <p:sp>
        <p:nvSpPr>
          <p:cNvPr id="54"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55"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Processing</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56" name="矩形"/>
          <p:cNvSpPr>
            <a:spLocks/>
          </p:cNvSpPr>
          <p:nvPr/>
        </p:nvSpPr>
        <p:spPr>
          <a:xfrm rot="0">
            <a:off x="1284958" y="3159236"/>
            <a:ext cx="6688453" cy="996315"/>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6000" b="0" i="0" u="none" strike="noStrike" kern="1200" cap="none" spc="0" baseline="0">
                <a:solidFill>
                  <a:srgbClr val="1F4E79"/>
                </a:solidFill>
                <a:latin typeface="SimHei" pitchFamily="0" charset="-122"/>
                <a:ea typeface="SimHei" pitchFamily="0" charset="-122"/>
                <a:cs typeface="SimHei" pitchFamily="0" charset="-122"/>
              </a:rPr>
              <a:t>绪论</a:t>
            </a:r>
            <a:r>
              <a:rPr lang="en-US" altLang="zh-CN" sz="6000" b="0" i="0" u="none" strike="noStrike" kern="1200" cap="none" spc="0" baseline="0">
                <a:solidFill>
                  <a:srgbClr val="1F4E79"/>
                </a:solidFill>
                <a:latin typeface="SimHei" pitchFamily="0" charset="-122"/>
                <a:ea typeface="SimHei" pitchFamily="0" charset="-122"/>
                <a:cs typeface="SimHei" pitchFamily="0" charset="-122"/>
              </a:rPr>
              <a:t>&amp;</a:t>
            </a:r>
            <a:r>
              <a:rPr lang="zh-CN" altLang="en-US" sz="6000" b="0" i="0" u="none" strike="noStrike" kern="1200" cap="none" spc="0" baseline="0">
                <a:solidFill>
                  <a:srgbClr val="1F4E79"/>
                </a:solidFill>
                <a:latin typeface="SimHei" pitchFamily="0" charset="-122"/>
                <a:ea typeface="SimHei" pitchFamily="0" charset="-122"/>
                <a:cs typeface="SimHei" pitchFamily="0" charset="-122"/>
              </a:rPr>
              <a:t>数字图像基础</a:t>
            </a:r>
            <a:endParaRPr lang="zh-CN" altLang="en-US" sz="6000" b="0" i="0" u="none" strike="noStrike" kern="1200" cap="none" spc="0" baseline="0">
              <a:solidFill>
                <a:srgbClr val="1F4E79"/>
              </a:solidFill>
              <a:latin typeface="SimHei" pitchFamily="0" charset="-122"/>
              <a:ea typeface="SimHei" pitchFamily="0" charset="-122"/>
              <a:cs typeface="SimHei" pitchFamily="0" charset="-122"/>
            </a:endParaRPr>
          </a:p>
        </p:txBody>
      </p:sp>
    </p:spTree>
    <p:extLst>
      <p:ext uri="{BB962C8B-B14F-4D97-AF65-F5344CB8AC3E}">
        <p14:creationId xmlns:p14="http://schemas.microsoft.com/office/powerpoint/2010/main" val="813449249"/>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60"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61"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62"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数字图像基础</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63" name="直线"/>
          <p:cNvSpPr>
            <a:spLocks/>
          </p:cNvSpPr>
          <p:nvPr/>
        </p:nvSpPr>
        <p:spPr>
          <a:xfrm rot="0">
            <a:off x="3009712" y="525055"/>
            <a:ext cx="1749287" cy="0"/>
          </a:xfrm>
          <a:prstGeom prst="line"/>
          <a:noFill/>
          <a:ln w="6350" cmpd="sng" cap="flat">
            <a:solidFill>
              <a:srgbClr val="000000"/>
            </a:solidFill>
            <a:prstDash val="solid"/>
            <a:round/>
          </a:ln>
        </p:spPr>
      </p:sp>
      <p:sp>
        <p:nvSpPr>
          <p:cNvPr id="64"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65"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Fundamentals</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66" name="矩形"/>
          <p:cNvSpPr>
            <a:spLocks/>
          </p:cNvSpPr>
          <p:nvPr/>
        </p:nvSpPr>
        <p:spPr>
          <a:xfrm rot="0">
            <a:off x="400050" y="1341119"/>
            <a:ext cx="8161021" cy="4806315"/>
          </a:xfrm>
          <a:prstGeom prst="rect"/>
          <a:noFill/>
          <a:ln w="12700" cmpd="sng" cap="flat">
            <a:noFill/>
            <a:prstDash val="solid"/>
            <a:miter/>
          </a:ln>
        </p:spPr>
        <p:txBody>
          <a:bodyPr vert="horz" wrap="square" lIns="91440" tIns="45720" rIns="91440" bIns="45720" anchor="t" anchorCtr="0">
            <a:prstTxWarp prst="textNoShape"/>
            <a:spAutoFit/>
          </a:bodyPr>
          <a:lstStyle/>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基本概念：数字图像离散化、像素、灰度级、采样、量化、对比度</a:t>
            </a:r>
            <a:endParaRPr lang="en-US" altLang="zh-CN"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数字图像处理的基本步骤、图像处理系统的组成、广义图像处理从低级到高级包含哪三层次</a:t>
            </a:r>
            <a:endParaRPr lang="en-US" altLang="zh-CN"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图像数字化过程：采样和量化、数字图像的表示、图像的空间分辨率、灰度分辨率</a:t>
            </a:r>
            <a:endParaRPr lang="en-US" altLang="zh-CN"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像素之间的基本关系：邻域、邻接（</a:t>
            </a:r>
            <a:r>
              <a:rPr lang="en-US" altLang="zh-CN"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4-</a:t>
            </a:r>
            <a:r>
              <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邻接、</a:t>
            </a:r>
            <a:r>
              <a:rPr lang="en-US" altLang="zh-CN"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8-</a:t>
            </a:r>
            <a:r>
              <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邻接、</a:t>
            </a:r>
            <a:r>
              <a:rPr lang="en-US" altLang="zh-CN"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m-</a:t>
            </a:r>
            <a:r>
              <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邻接、满足邻接关系的必要条件）、连通性、边界、不同的距离定义</a:t>
            </a:r>
            <a:endParaRPr lang="en-US" altLang="zh-CN"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p:txBody>
      </p:sp>
    </p:spTree>
    <p:extLst>
      <p:ext uri="{BB962C8B-B14F-4D97-AF65-F5344CB8AC3E}">
        <p14:creationId xmlns:p14="http://schemas.microsoft.com/office/powerpoint/2010/main" val="1957967032"/>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70"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71"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72"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数字图像处理</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73" name="直线"/>
          <p:cNvSpPr>
            <a:spLocks/>
          </p:cNvSpPr>
          <p:nvPr/>
        </p:nvSpPr>
        <p:spPr>
          <a:xfrm rot="0">
            <a:off x="3009712" y="525055"/>
            <a:ext cx="1749287" cy="0"/>
          </a:xfrm>
          <a:prstGeom prst="line"/>
          <a:noFill/>
          <a:ln w="6350" cmpd="sng" cap="flat">
            <a:solidFill>
              <a:srgbClr val="000000"/>
            </a:solidFill>
            <a:prstDash val="solid"/>
            <a:round/>
          </a:ln>
        </p:spPr>
      </p:sp>
      <p:sp>
        <p:nvSpPr>
          <p:cNvPr id="74"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75"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Processing</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76" name="矩形"/>
          <p:cNvSpPr>
            <a:spLocks/>
          </p:cNvSpPr>
          <p:nvPr/>
        </p:nvSpPr>
        <p:spPr>
          <a:xfrm rot="0">
            <a:off x="1172563" y="3168761"/>
            <a:ext cx="6913244" cy="996315"/>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6000" b="0" i="0" u="none" strike="noStrike" kern="1200" cap="none" spc="0" baseline="0">
                <a:solidFill>
                  <a:srgbClr val="1F4E79"/>
                </a:solidFill>
                <a:latin typeface="SimHei" pitchFamily="0" charset="-122"/>
                <a:ea typeface="SimHei" pitchFamily="0" charset="-122"/>
                <a:cs typeface="SimHei" pitchFamily="0" charset="-122"/>
              </a:rPr>
              <a:t>灰度变换与空间滤波</a:t>
            </a:r>
            <a:endParaRPr lang="zh-CN" altLang="en-US" sz="6000" b="0" i="0" u="none" strike="noStrike" kern="1200" cap="none" spc="0" baseline="0">
              <a:solidFill>
                <a:srgbClr val="1F4E79"/>
              </a:solidFill>
              <a:latin typeface="SimHei" pitchFamily="0" charset="-122"/>
              <a:ea typeface="SimHei" pitchFamily="0" charset="-122"/>
              <a:cs typeface="SimHei" pitchFamily="0" charset="-122"/>
            </a:endParaRPr>
          </a:p>
        </p:txBody>
      </p:sp>
    </p:spTree>
    <p:extLst>
      <p:ext uri="{BB962C8B-B14F-4D97-AF65-F5344CB8AC3E}">
        <p14:creationId xmlns:p14="http://schemas.microsoft.com/office/powerpoint/2010/main" val="550503807"/>
      </p:ext>
    </p:extLst>
  </p:cSld>
  <p:clrMapOvr>
    <a:masterClrMapping/>
  </p:clrMapOvr>
</p:sld>
</file>

<file path=ppt/slides/slide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80"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81"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82"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数字图像基础</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83" name="直线"/>
          <p:cNvSpPr>
            <a:spLocks/>
          </p:cNvSpPr>
          <p:nvPr/>
        </p:nvSpPr>
        <p:spPr>
          <a:xfrm rot="0">
            <a:off x="3009712" y="525055"/>
            <a:ext cx="1749287" cy="0"/>
          </a:xfrm>
          <a:prstGeom prst="line"/>
          <a:noFill/>
          <a:ln w="6350" cmpd="sng" cap="flat">
            <a:solidFill>
              <a:srgbClr val="000000"/>
            </a:solidFill>
            <a:prstDash val="solid"/>
            <a:round/>
          </a:ln>
        </p:spPr>
      </p:sp>
      <p:sp>
        <p:nvSpPr>
          <p:cNvPr id="84"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85"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Fundamentals</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86" name="矩形"/>
          <p:cNvSpPr>
            <a:spLocks/>
          </p:cNvSpPr>
          <p:nvPr/>
        </p:nvSpPr>
        <p:spPr>
          <a:xfrm rot="0">
            <a:off x="400050" y="1341119"/>
            <a:ext cx="8161021" cy="2663190"/>
          </a:xfrm>
          <a:prstGeom prst="rect"/>
          <a:noFill/>
          <a:ln w="12700" cmpd="sng" cap="flat">
            <a:noFill/>
            <a:prstDash val="solid"/>
            <a:miter/>
          </a:ln>
        </p:spPr>
        <p:txBody>
          <a:bodyPr vert="horz" wrap="square" lIns="91440" tIns="45720" rIns="91440" bIns="45720" anchor="t" anchorCtr="0">
            <a:prstTxWarp prst="textNoShape"/>
            <a:spAutoFit/>
          </a:bodyPr>
          <a:lstStyle/>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图像的</a:t>
            </a:r>
            <a:r>
              <a:rPr lang="zh-CN" altLang="en-US" sz="2800" b="1" i="0" u="none" strike="noStrike" kern="1200" cap="none" spc="0" baseline="0">
                <a:solidFill>
                  <a:srgbClr val="FF0000"/>
                </a:solidFill>
                <a:latin typeface="宋体" pitchFamily="0" charset="0"/>
                <a:ea typeface="宋体" pitchFamily="0" charset="0"/>
                <a:cs typeface="Times New Roman" pitchFamily="0" charset="0"/>
                <a:sym typeface="等线" pitchFamily="0" charset="0"/>
              </a:rPr>
              <a:t>空间域</a:t>
            </a:r>
            <a:r>
              <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处理</a:t>
            </a:r>
            <a:endParaRPr lang="en-US" altLang="zh-CN"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方法：灰度变换（点处理）、</a:t>
            </a:r>
            <a:r>
              <a:rPr lang="zh-CN" altLang="en-US" sz="2800" b="1"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空间滤波</a:t>
            </a:r>
            <a:endParaRPr lang="en-US" altLang="zh-CN" sz="2800" b="1"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r>
              <a:rPr lang="zh-CN" altLang="en-US" sz="2800" b="1"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基本的灰度变换</a:t>
            </a:r>
            <a:r>
              <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：恒等变换、图像反转、幂律变换、分段线性变换（对比拉伸、阈值变换）</a:t>
            </a:r>
            <a:endParaRPr lang="en-US" altLang="zh-CN"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直方图处理：</a:t>
            </a:r>
            <a:r>
              <a:rPr lang="zh-CN" altLang="en-US" sz="2800" b="1" i="0" u="none" strike="noStrike" kern="1200" cap="none" spc="0" baseline="0">
                <a:solidFill>
                  <a:srgbClr val="FF0000"/>
                </a:solidFill>
                <a:latin typeface="宋体" pitchFamily="0" charset="0"/>
                <a:ea typeface="宋体" pitchFamily="0" charset="0"/>
                <a:cs typeface="Times New Roman" pitchFamily="0" charset="0"/>
                <a:sym typeface="等线" pitchFamily="0" charset="0"/>
              </a:rPr>
              <a:t>直方图均衡化、直方图规定化</a:t>
            </a:r>
            <a:r>
              <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、直方图有哪些作用（包括后续章节里面）</a:t>
            </a:r>
            <a:endPar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p:txBody>
      </p:sp>
      <p:pic>
        <p:nvPicPr>
          <p:cNvPr id="87" name="图片"/>
          <p:cNvPicPr>
            <a:picLocks noChangeAspect="1"/>
          </p:cNvPicPr>
          <p:nvPr/>
        </p:nvPicPr>
        <p:blipFill>
          <a:blip r:embed="rId2" cstate="print"/>
          <a:stretch>
            <a:fillRect/>
          </a:stretch>
        </p:blipFill>
        <p:spPr>
          <a:xfrm rot="0">
            <a:off x="1430964" y="4303847"/>
            <a:ext cx="6656072" cy="2252400"/>
          </a:xfrm>
          <a:prstGeom prst="rect"/>
          <a:noFill/>
          <a:ln w="12700" cmpd="sng" cap="flat">
            <a:noFill/>
            <a:prstDash val="solid"/>
            <a:miter/>
          </a:ln>
        </p:spPr>
      </p:pic>
      <mc:AlternateContent xmlns:mc="http://schemas.openxmlformats.org/markup-compatibility/2006">
        <mc:Choice xmlns:p14="http://schemas.microsoft.com/office/powerpoint/2010/main" Requires="p14">
          <p:contentPart r:id="rId3">
            <p14:nvContentPartPr>
              <p14:cNvPr id="421" name="平板用户"/>
              <p14:cNvContentPartPr>
                <a14:cpLocks xmlns:a14="http://schemas.microsoft.com/office/drawing/2010/main" noSelect="1" noChangeArrowheads="1"/>
              </p14:cNvContentPartPr>
              <p14:nvPr/>
            </p14:nvContentPartPr>
            <p14:xfrm>
              <a:off x="1759082" y="1866299"/>
              <a:ext cx="3261782" cy="300147"/>
            </p14:xfrm>
          </p:contentPart>
        </mc:Choice>
        <mc:Fallback/>
      </mc:AlternateContent>
    </p:spTree>
    <p:extLst>
      <p:ext uri="{BB962C8B-B14F-4D97-AF65-F5344CB8AC3E}">
        <p14:creationId xmlns:p14="http://schemas.microsoft.com/office/powerpoint/2010/main" val="1925488073"/>
      </p:ext>
    </p:extLst>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91"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92"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93"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数字图像基础</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94" name="直线"/>
          <p:cNvSpPr>
            <a:spLocks/>
          </p:cNvSpPr>
          <p:nvPr/>
        </p:nvSpPr>
        <p:spPr>
          <a:xfrm rot="0">
            <a:off x="3009712" y="525055"/>
            <a:ext cx="1749287" cy="0"/>
          </a:xfrm>
          <a:prstGeom prst="line"/>
          <a:noFill/>
          <a:ln w="6350" cmpd="sng" cap="flat">
            <a:solidFill>
              <a:srgbClr val="000000"/>
            </a:solidFill>
            <a:prstDash val="solid"/>
            <a:round/>
          </a:ln>
        </p:spPr>
      </p:sp>
      <p:sp>
        <p:nvSpPr>
          <p:cNvPr id="95"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96"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Fundamentals</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97" name="矩形"/>
          <p:cNvSpPr>
            <a:spLocks/>
          </p:cNvSpPr>
          <p:nvPr/>
        </p:nvSpPr>
        <p:spPr>
          <a:xfrm rot="0">
            <a:off x="400050" y="1341119"/>
            <a:ext cx="8445478" cy="5234940"/>
          </a:xfrm>
          <a:prstGeom prst="rect"/>
          <a:noFill/>
          <a:ln w="12700" cmpd="sng" cap="flat">
            <a:noFill/>
            <a:prstDash val="solid"/>
            <a:miter/>
          </a:ln>
        </p:spPr>
        <p:txBody>
          <a:bodyPr vert="horz" wrap="square" lIns="91440" tIns="45720" rIns="91440" bIns="45720" anchor="t" anchorCtr="0">
            <a:prstTxWarp prst="textNoShape"/>
            <a:spAutoFit/>
          </a:bodyPr>
          <a:lstStyle/>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图像的</a:t>
            </a:r>
            <a:r>
              <a:rPr lang="zh-CN" altLang="en-US" sz="2800" b="1" i="0" u="none" strike="noStrike" kern="1200" cap="none" spc="0" baseline="0">
                <a:solidFill>
                  <a:srgbClr val="FF0000"/>
                </a:solidFill>
                <a:latin typeface="宋体" pitchFamily="0" charset="0"/>
                <a:ea typeface="宋体" pitchFamily="0" charset="0"/>
                <a:cs typeface="Times New Roman" pitchFamily="0" charset="0"/>
                <a:sym typeface="等线" pitchFamily="0" charset="0"/>
              </a:rPr>
              <a:t>空间域</a:t>
            </a:r>
            <a:r>
              <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处理</a:t>
            </a:r>
            <a:endParaRPr lang="en-US" altLang="zh-CN"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方法：灰度变换、</a:t>
            </a:r>
            <a:r>
              <a:rPr lang="zh-CN" altLang="en-US" sz="2800" b="1" i="0" u="none" strike="noStrike" kern="1200" cap="none" spc="0" baseline="0">
                <a:solidFill>
                  <a:srgbClr val="FF0000"/>
                </a:solidFill>
                <a:latin typeface="宋体" pitchFamily="0" charset="0"/>
                <a:ea typeface="宋体" pitchFamily="0" charset="0"/>
                <a:cs typeface="Times New Roman" pitchFamily="0" charset="0"/>
                <a:sym typeface="等线" pitchFamily="0" charset="0"/>
              </a:rPr>
              <a:t>空间滤波（邻域处理）</a:t>
            </a:r>
            <a:endParaRPr lang="en-US" altLang="zh-CN" sz="2800" b="1" i="0" u="none" strike="noStrike" kern="1200" cap="none" spc="0" baseline="0">
              <a:solidFill>
                <a:srgbClr val="FF0000"/>
              </a:solidFill>
              <a:latin typeface="宋体"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基本概念：核、空间相关、空间卷积</a:t>
            </a:r>
            <a:endParaRPr lang="en-US" altLang="zh-CN"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r>
              <a:rPr lang="zh-CN" altLang="en-US" sz="24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平滑空间滤波器</a:t>
            </a:r>
            <a:r>
              <a:rPr lang="zh-CN" altLang="en-US" sz="1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（均值操作模糊图像）</a:t>
            </a:r>
            <a:r>
              <a:rPr lang="zh-CN" altLang="en-US" sz="24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：盒式均值滤波器、高斯均值滤波器</a:t>
            </a:r>
            <a:endParaRPr lang="en-US" altLang="zh-CN" sz="24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r>
              <a:rPr lang="zh-CN" altLang="en-US" sz="24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锐化空间滤波器</a:t>
            </a:r>
            <a:r>
              <a:rPr lang="zh-CN" altLang="en-US" sz="1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（微分操作突出灰度变化）</a:t>
            </a:r>
            <a:r>
              <a:rPr lang="zh-CN" altLang="en-US" sz="24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：拉普拉斯滤波器</a:t>
            </a:r>
            <a:endParaRPr lang="en-US" altLang="zh-CN" sz="24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r>
              <a:rPr lang="zh-CN" altLang="en-US" sz="24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空间滤波前后图像的大小发生改变，该如何控制</a:t>
            </a:r>
            <a:r>
              <a:rPr lang="zh-CN" altLang="en-US" sz="1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a:t>
            </a:r>
            <a:r>
              <a:rPr lang="en-US" altLang="zh-CN" sz="1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0</a:t>
            </a:r>
            <a:r>
              <a:rPr lang="zh-CN" altLang="en-US" sz="18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填充、复制、镜像等）</a:t>
            </a:r>
            <a:endParaRPr lang="zh-CN" altLang="en-US" sz="24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p:txBody>
      </p:sp>
      <p:pic>
        <p:nvPicPr>
          <p:cNvPr id="98" name="图片"/>
          <p:cNvPicPr>
            <a:picLocks noChangeAspect="1"/>
          </p:cNvPicPr>
          <p:nvPr/>
        </p:nvPicPr>
        <p:blipFill>
          <a:blip r:embed="rId2" cstate="print"/>
          <a:stretch>
            <a:fillRect/>
          </a:stretch>
        </p:blipFill>
        <p:spPr>
          <a:xfrm rot="0">
            <a:off x="400050" y="2726115"/>
            <a:ext cx="4902835" cy="1225549"/>
          </a:xfrm>
          <a:prstGeom prst="rect"/>
          <a:noFill/>
          <a:ln w="12700" cmpd="sng" cap="flat">
            <a:noFill/>
            <a:prstDash val="solid"/>
            <a:miter/>
          </a:ln>
        </p:spPr>
      </p:pic>
      <p:pic>
        <p:nvPicPr>
          <p:cNvPr id="99" name="图片"/>
          <p:cNvPicPr>
            <a:picLocks noChangeAspect="1"/>
          </p:cNvPicPr>
          <p:nvPr/>
        </p:nvPicPr>
        <p:blipFill>
          <a:blip r:embed="rId3" cstate="print"/>
          <a:stretch>
            <a:fillRect/>
          </a:stretch>
        </p:blipFill>
        <p:spPr>
          <a:xfrm rot="0">
            <a:off x="3955415" y="3799540"/>
            <a:ext cx="5114155" cy="866438"/>
          </a:xfrm>
          <a:prstGeom prst="rect"/>
          <a:noFill/>
          <a:ln w="12700" cmpd="sng" cap="flat">
            <a:noFill/>
            <a:prstDash val="solid"/>
            <a:miter/>
          </a:ln>
        </p:spPr>
      </p:pic>
      <p:cxnSp>
        <p:nvCxnSpPr>
          <p:cNvPr id="100" name="直线连接线"/>
          <p:cNvCxnSpPr>
            <a:cxnSpLocks/>
          </p:cNvCxnSpPr>
          <p:nvPr/>
        </p:nvCxnSpPr>
        <p:spPr>
          <a:xfrm flipH="1" rot="21600000">
            <a:off x="3442908" y="2755012"/>
            <a:ext cx="512505" cy="336365"/>
          </a:xfrm>
          <a:prstGeom prst="straightConnector1"/>
          <a:noFill/>
          <a:ln w="6350" cmpd="sng" cap="flat">
            <a:solidFill>
              <a:srgbClr val="5B9BD5"/>
            </a:solidFill>
            <a:prstDash val="solid"/>
            <a:round/>
            <a:tailEnd type="triangle" w="med" len="med"/>
          </a:ln>
        </p:spPr>
      </p:cxnSp>
      <p:cxnSp>
        <p:nvCxnSpPr>
          <p:cNvPr id="101" name="直线连接线"/>
          <p:cNvCxnSpPr>
            <a:cxnSpLocks/>
          </p:cNvCxnSpPr>
          <p:nvPr/>
        </p:nvCxnSpPr>
        <p:spPr>
          <a:xfrm rot="0">
            <a:off x="5840730" y="2726115"/>
            <a:ext cx="834993" cy="920055"/>
          </a:xfrm>
          <a:prstGeom prst="straightConnector1"/>
          <a:noFill/>
          <a:ln w="6350" cmpd="sng" cap="flat">
            <a:solidFill>
              <a:srgbClr val="5B9BD5"/>
            </a:solidFill>
            <a:prstDash val="solid"/>
            <a:round/>
            <a:tailEnd type="triangle" w="med" len="med"/>
          </a:ln>
        </p:spPr>
      </p:cxnSp>
      <p:pic>
        <p:nvPicPr>
          <p:cNvPr id="102" name="图片"/>
          <p:cNvPicPr>
            <a:picLocks noChangeAspect="1"/>
          </p:cNvPicPr>
          <p:nvPr/>
        </p:nvPicPr>
        <p:blipFill>
          <a:blip r:embed="rId4" cstate="print"/>
          <a:stretch>
            <a:fillRect/>
          </a:stretch>
        </p:blipFill>
        <p:spPr>
          <a:xfrm rot="0">
            <a:off x="7160516" y="1447928"/>
            <a:ext cx="1629229" cy="1677253"/>
          </a:xfrm>
          <a:prstGeom prst="rect"/>
          <a:noFill/>
          <a:ln w="12700" cmpd="sng" cap="flat">
            <a:noFill/>
            <a:prstDash val="solid"/>
            <a:miter/>
          </a:ln>
        </p:spPr>
      </p:pic>
      <mc:AlternateContent xmlns:mc="http://schemas.openxmlformats.org/markup-compatibility/2006">
        <mc:Choice xmlns:p14="http://schemas.microsoft.com/office/powerpoint/2010/main" Requires="p14">
          <p:contentPart r:id="rId5">
            <p14:nvContentPartPr>
              <p14:cNvPr id="422" name="平板用户"/>
              <p14:cNvContentPartPr>
                <a14:cpLocks xmlns:a14="http://schemas.microsoft.com/office/drawing/2010/main" noSelect="1" noChangeArrowheads="1"/>
              </p14:cNvContentPartPr>
              <p14:nvPr/>
            </p14:nvContentPartPr>
            <p14:xfrm>
              <a:off x="3457608" y="1931032"/>
              <a:ext cx="3573721" cy="292180"/>
            </p14:xfrm>
          </p:contentPart>
        </mc:Choice>
        <mc:Fallback/>
      </mc:AlternateContent>
      <mc:AlternateContent xmlns:mc="http://schemas.openxmlformats.org/markup-compatibility/2006">
        <mc:Choice xmlns:p14="http://schemas.microsoft.com/office/powerpoint/2010/main" Requires="p14">
          <p:contentPart r:id="rId6">
            <p14:nvContentPartPr>
              <p14:cNvPr id="423" name="平板用户"/>
              <p14:cNvContentPartPr>
                <a14:cpLocks xmlns:a14="http://schemas.microsoft.com/office/drawing/2010/main" noSelect="1" noChangeArrowheads="1"/>
              </p14:cNvContentPartPr>
              <p14:nvPr/>
            </p14:nvContentPartPr>
            <p14:xfrm>
              <a:off x="688143" y="4832428"/>
              <a:ext cx="2355691" cy="319426"/>
            </p14:xfrm>
          </p:contentPart>
        </mc:Choice>
        <mc:Fallback/>
      </mc:AlternateContent>
      <mc:AlternateContent xmlns:mc="http://schemas.openxmlformats.org/markup-compatibility/2006">
        <mc:Choice xmlns:p14="http://schemas.microsoft.com/office/powerpoint/2010/main" Requires="p14">
          <p:contentPart r:id="rId7">
            <p14:nvContentPartPr>
              <p14:cNvPr id="424" name="平板用户"/>
              <p14:cNvContentPartPr>
                <a14:cpLocks xmlns:a14="http://schemas.microsoft.com/office/drawing/2010/main" noSelect="1" noChangeArrowheads="1"/>
              </p14:cNvContentPartPr>
              <p14:nvPr/>
            </p14:nvContentPartPr>
            <p14:xfrm>
              <a:off x="5400323" y="4773404"/>
              <a:ext cx="3151289" cy="312287"/>
            </p14:xfrm>
          </p:contentPart>
        </mc:Choice>
        <mc:Fallback/>
      </mc:AlternateContent>
      <mc:AlternateContent xmlns:mc="http://schemas.openxmlformats.org/markup-compatibility/2006">
        <mc:Choice xmlns:p14="http://schemas.microsoft.com/office/powerpoint/2010/main" Requires="p14">
          <p:contentPart r:id="rId8">
            <p14:nvContentPartPr>
              <p14:cNvPr id="425" name="平板用户"/>
              <p14:cNvContentPartPr>
                <a14:cpLocks xmlns:a14="http://schemas.microsoft.com/office/drawing/2010/main" noSelect="1" noChangeArrowheads="1"/>
              </p14:cNvContentPartPr>
              <p14:nvPr/>
            </p14:nvContentPartPr>
            <p14:xfrm>
              <a:off x="659564" y="5192542"/>
              <a:ext cx="1890810" cy="304114"/>
            </p14:xfrm>
          </p:contentPart>
        </mc:Choice>
        <mc:Fallback/>
      </mc:AlternateContent>
      <mc:AlternateContent xmlns:mc="http://schemas.openxmlformats.org/markup-compatibility/2006">
        <mc:Choice xmlns:p14="http://schemas.microsoft.com/office/powerpoint/2010/main" Requires="p14">
          <p:contentPart r:id="rId9">
            <p14:nvContentPartPr>
              <p14:cNvPr id="426" name="平板用户"/>
              <p14:cNvContentPartPr>
                <a14:cpLocks xmlns:a14="http://schemas.microsoft.com/office/drawing/2010/main" noSelect="1" noChangeArrowheads="1"/>
              </p14:cNvContentPartPr>
              <p14:nvPr/>
            </p14:nvContentPartPr>
            <p14:xfrm>
              <a:off x="695513" y="5569560"/>
              <a:ext cx="2327138" cy="277184"/>
            </p14:xfrm>
          </p:contentPart>
        </mc:Choice>
        <mc:Fallback/>
      </mc:AlternateContent>
      <mc:AlternateContent xmlns:mc="http://schemas.openxmlformats.org/markup-compatibility/2006">
        <mc:Choice xmlns:p14="http://schemas.microsoft.com/office/powerpoint/2010/main" Requires="p14">
          <p:contentPart r:id="rId10">
            <p14:nvContentPartPr>
              <p14:cNvPr id="427" name="平板用户"/>
              <p14:cNvContentPartPr>
                <a14:cpLocks xmlns:a14="http://schemas.microsoft.com/office/drawing/2010/main" noSelect="1" noChangeArrowheads="1"/>
              </p14:cNvContentPartPr>
              <p14:nvPr/>
            </p14:nvContentPartPr>
            <p14:xfrm>
              <a:off x="5784833" y="5618094"/>
              <a:ext cx="2265102" cy="268050"/>
            </p14:xfrm>
          </p:contentPart>
        </mc:Choice>
        <mc:Fallback/>
      </mc:AlternateContent>
    </p:spTree>
    <p:extLst>
      <p:ext uri="{BB962C8B-B14F-4D97-AF65-F5344CB8AC3E}">
        <p14:creationId xmlns:p14="http://schemas.microsoft.com/office/powerpoint/2010/main" val="1699794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106"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107"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108"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数字图像处理</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109" name="直线"/>
          <p:cNvSpPr>
            <a:spLocks/>
          </p:cNvSpPr>
          <p:nvPr/>
        </p:nvSpPr>
        <p:spPr>
          <a:xfrm rot="0">
            <a:off x="3009712" y="525055"/>
            <a:ext cx="1749287" cy="0"/>
          </a:xfrm>
          <a:prstGeom prst="line"/>
          <a:noFill/>
          <a:ln w="6350" cmpd="sng" cap="flat">
            <a:solidFill>
              <a:srgbClr val="000000"/>
            </a:solidFill>
            <a:prstDash val="solid"/>
            <a:round/>
          </a:ln>
        </p:spPr>
      </p:sp>
      <p:sp>
        <p:nvSpPr>
          <p:cNvPr id="110"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111"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Processing</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112" name="矩形"/>
          <p:cNvSpPr>
            <a:spLocks/>
          </p:cNvSpPr>
          <p:nvPr/>
        </p:nvSpPr>
        <p:spPr>
          <a:xfrm rot="0">
            <a:off x="2666085" y="3168761"/>
            <a:ext cx="3926205" cy="996315"/>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6000" b="0" i="0" u="none" strike="noStrike" kern="1200" cap="none" spc="0" baseline="0">
                <a:solidFill>
                  <a:srgbClr val="1F4E79"/>
                </a:solidFill>
                <a:latin typeface="SimHei" pitchFamily="0" charset="-122"/>
                <a:ea typeface="SimHei" pitchFamily="0" charset="-122"/>
                <a:cs typeface="SimHei" pitchFamily="0" charset="-122"/>
              </a:rPr>
              <a:t>频率域滤波</a:t>
            </a:r>
            <a:endParaRPr lang="zh-CN" altLang="en-US" sz="6000" b="0" i="0" u="none" strike="noStrike" kern="1200" cap="none" spc="0" baseline="0">
              <a:solidFill>
                <a:srgbClr val="1F4E79"/>
              </a:solidFill>
              <a:latin typeface="SimHei" pitchFamily="0" charset="-122"/>
              <a:ea typeface="SimHei" pitchFamily="0" charset="-122"/>
              <a:cs typeface="SimHei" pitchFamily="0" charset="-122"/>
            </a:endParaRPr>
          </a:p>
        </p:txBody>
      </p:sp>
    </p:spTree>
    <p:extLst>
      <p:ext uri="{BB962C8B-B14F-4D97-AF65-F5344CB8AC3E}">
        <p14:creationId xmlns:p14="http://schemas.microsoft.com/office/powerpoint/2010/main" val="1110838226"/>
      </p:ext>
    </p:extLst>
  </p:cSld>
  <p:clrMapOvr>
    <a:masterClrMapping/>
  </p:clrMapOvr>
</p:sld>
</file>

<file path=ppt/slides/slide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116"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117"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118"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数字图像基础</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119" name="直线"/>
          <p:cNvSpPr>
            <a:spLocks/>
          </p:cNvSpPr>
          <p:nvPr/>
        </p:nvSpPr>
        <p:spPr>
          <a:xfrm rot="0">
            <a:off x="3009712" y="525055"/>
            <a:ext cx="1749287" cy="0"/>
          </a:xfrm>
          <a:prstGeom prst="line"/>
          <a:noFill/>
          <a:ln w="6350" cmpd="sng" cap="flat">
            <a:solidFill>
              <a:srgbClr val="000000"/>
            </a:solidFill>
            <a:prstDash val="solid"/>
            <a:round/>
          </a:ln>
        </p:spPr>
      </p:sp>
      <p:sp>
        <p:nvSpPr>
          <p:cNvPr id="120"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121"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Fundamentals</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122" name="矩形"/>
          <p:cNvSpPr>
            <a:spLocks/>
          </p:cNvSpPr>
          <p:nvPr/>
        </p:nvSpPr>
        <p:spPr>
          <a:xfrm rot="0">
            <a:off x="400050" y="1341119"/>
            <a:ext cx="8350250" cy="3520440"/>
          </a:xfrm>
          <a:prstGeom prst="rect"/>
          <a:noFill/>
          <a:ln w="12700" cmpd="sng" cap="flat">
            <a:noFill/>
            <a:prstDash val="solid"/>
            <a:miter/>
          </a:ln>
        </p:spPr>
        <p:txBody>
          <a:bodyPr vert="horz" wrap="square" lIns="91440" tIns="45720" rIns="91440" bIns="45720" anchor="t" anchorCtr="0">
            <a:prstTxWarp prst="textNoShape"/>
            <a:spAutoFit/>
          </a:bodyPr>
          <a:lstStyle/>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图像的</a:t>
            </a:r>
            <a:r>
              <a:rPr lang="zh-CN" altLang="en-US"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rPr>
              <a:t>频率域</a:t>
            </a: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处理</a:t>
            </a: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基本概念：傅里叶变换、傅里叶反变换、冲激函数</a:t>
            </a: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0" indent="0" algn="l" fontAlgn="auto">
              <a:lnSpc>
                <a:spcPct val="100000"/>
              </a:lnSpc>
              <a:spcBef>
                <a:spcPts val="0"/>
              </a:spcBef>
              <a:spcAft>
                <a:spcPts val="0"/>
              </a:spcAft>
              <a:buNone/>
            </a:pPr>
            <a:r>
              <a:rPr lang="zh-CN" altLang="en-US" sz="28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    离散傅里叶变换</a:t>
            </a:r>
            <a:endParaRPr lang="zh-CN" altLang="en-US" sz="28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p:txBody>
      </p:sp>
      <p:grpSp>
        <p:nvGrpSpPr>
          <p:cNvPr id="125" name="组合"/>
          <p:cNvGrpSpPr>
            <a:grpSpLocks/>
          </p:cNvGrpSpPr>
          <p:nvPr/>
        </p:nvGrpSpPr>
        <p:grpSpPr>
          <a:xfrm>
            <a:off x="318051" y="2612292"/>
            <a:ext cx="3743826" cy="768013"/>
            <a:chOff x="318051" y="2612292"/>
            <a:chExt cx="3743826" cy="768013"/>
          </a:xfrm>
        </p:grpSpPr>
        <p:pic>
          <p:nvPicPr>
            <p:cNvPr id="123" name="图片"/>
            <p:cNvPicPr>
              <a:picLocks noChangeAspect="1"/>
            </p:cNvPicPr>
            <p:nvPr/>
          </p:nvPicPr>
          <p:blipFill>
            <a:blip r:embed="rId2" cstate="print"/>
            <a:stretch>
              <a:fillRect/>
            </a:stretch>
          </p:blipFill>
          <p:spPr>
            <a:xfrm rot="0">
              <a:off x="951898" y="2612292"/>
              <a:ext cx="3109978" cy="768013"/>
            </a:xfrm>
            <a:prstGeom prst="rect"/>
            <a:noFill/>
            <a:ln w="12700" cmpd="sng" cap="flat">
              <a:noFill/>
              <a:prstDash val="solid"/>
              <a:miter/>
            </a:ln>
          </p:spPr>
        </p:pic>
        <p:pic>
          <p:nvPicPr>
            <p:cNvPr id="124" name="图片"/>
            <p:cNvPicPr>
              <a:picLocks noChangeAspect="1"/>
            </p:cNvPicPr>
            <p:nvPr/>
          </p:nvPicPr>
          <p:blipFill>
            <a:blip r:embed="rId3" cstate="print"/>
            <a:stretch>
              <a:fillRect/>
            </a:stretch>
          </p:blipFill>
          <p:spPr>
            <a:xfrm rot="0">
              <a:off x="318051" y="2659700"/>
              <a:ext cx="768012" cy="483563"/>
            </a:xfrm>
            <a:prstGeom prst="rect"/>
            <a:noFill/>
            <a:ln w="12700" cmpd="sng" cap="flat">
              <a:noFill/>
              <a:prstDash val="solid"/>
              <a:miter/>
            </a:ln>
          </p:spPr>
        </p:pic>
      </p:grpSp>
      <p:pic>
        <p:nvPicPr>
          <p:cNvPr id="126" name="图片"/>
          <p:cNvPicPr>
            <a:picLocks noChangeAspect="1"/>
          </p:cNvPicPr>
          <p:nvPr/>
        </p:nvPicPr>
        <p:blipFill>
          <a:blip r:embed="rId4" cstate="print"/>
          <a:stretch>
            <a:fillRect/>
          </a:stretch>
        </p:blipFill>
        <p:spPr>
          <a:xfrm rot="0">
            <a:off x="2723496" y="3314463"/>
            <a:ext cx="3404285" cy="954106"/>
          </a:xfrm>
          <a:prstGeom prst="rect"/>
          <a:noFill/>
          <a:ln w="12700" cmpd="sng" cap="flat">
            <a:noFill/>
            <a:prstDash val="solid"/>
            <a:miter/>
          </a:ln>
        </p:spPr>
      </p:pic>
      <p:pic>
        <p:nvPicPr>
          <p:cNvPr id="127" name="图片"/>
          <p:cNvPicPr>
            <a:picLocks noChangeAspect="1"/>
          </p:cNvPicPr>
          <p:nvPr/>
        </p:nvPicPr>
        <p:blipFill>
          <a:blip r:embed="rId5" cstate="print"/>
          <a:stretch>
            <a:fillRect/>
          </a:stretch>
        </p:blipFill>
        <p:spPr>
          <a:xfrm rot="0">
            <a:off x="5701489" y="2558922"/>
            <a:ext cx="3256060" cy="755540"/>
          </a:xfrm>
          <a:prstGeom prst="rect"/>
          <a:noFill/>
          <a:ln w="12700" cmpd="sng" cap="flat">
            <a:noFill/>
            <a:prstDash val="solid"/>
            <a:miter/>
          </a:ln>
        </p:spPr>
      </p:pic>
      <p:cxnSp>
        <p:nvCxnSpPr>
          <p:cNvPr id="128" name="直线连接线"/>
          <p:cNvCxnSpPr>
            <a:cxnSpLocks/>
          </p:cNvCxnSpPr>
          <p:nvPr/>
        </p:nvCxnSpPr>
        <p:spPr>
          <a:xfrm flipH="1" rot="21600000">
            <a:off x="2789082" y="2289173"/>
            <a:ext cx="355194" cy="370526"/>
          </a:xfrm>
          <a:prstGeom prst="straightConnector1"/>
          <a:noFill/>
          <a:ln w="6350" cmpd="sng" cap="flat">
            <a:solidFill>
              <a:srgbClr val="5B9BD5"/>
            </a:solidFill>
            <a:prstDash val="solid"/>
            <a:round/>
            <a:tailEnd type="triangle" w="med" len="med"/>
          </a:ln>
        </p:spPr>
      </p:cxnSp>
      <p:cxnSp>
        <p:nvCxnSpPr>
          <p:cNvPr id="129" name="直线连接线"/>
          <p:cNvCxnSpPr>
            <a:cxnSpLocks/>
            <a:endCxn id="126" idx="0"/>
          </p:cNvCxnSpPr>
          <p:nvPr/>
        </p:nvCxnSpPr>
        <p:spPr>
          <a:xfrm flipH="1" rot="21600000">
            <a:off x="4425639" y="2295227"/>
            <a:ext cx="781361" cy="1019235"/>
          </a:xfrm>
          <a:prstGeom prst="straightConnector1"/>
          <a:noFill/>
          <a:ln w="6350" cmpd="sng" cap="flat">
            <a:solidFill>
              <a:srgbClr val="5B9BD5"/>
            </a:solidFill>
            <a:prstDash val="solid"/>
            <a:round/>
            <a:tailEnd type="triangle" w="med" len="med"/>
          </a:ln>
        </p:spPr>
      </p:cxnSp>
      <p:cxnSp>
        <p:nvCxnSpPr>
          <p:cNvPr id="130" name="直线连接线"/>
          <p:cNvCxnSpPr>
            <a:cxnSpLocks/>
          </p:cNvCxnSpPr>
          <p:nvPr/>
        </p:nvCxnSpPr>
        <p:spPr>
          <a:xfrm rot="0">
            <a:off x="7759700" y="2295227"/>
            <a:ext cx="215431" cy="263695"/>
          </a:xfrm>
          <a:prstGeom prst="straightConnector1"/>
          <a:noFill/>
          <a:ln w="6350" cmpd="sng" cap="flat">
            <a:solidFill>
              <a:srgbClr val="5B9BD5"/>
            </a:solidFill>
            <a:prstDash val="solid"/>
            <a:round/>
            <a:tailEnd type="triangle" w="med" len="med"/>
          </a:ln>
        </p:spPr>
      </p:cxnSp>
      <p:pic>
        <p:nvPicPr>
          <p:cNvPr id="131" name="图片"/>
          <p:cNvPicPr>
            <a:picLocks noChangeAspect="1"/>
          </p:cNvPicPr>
          <p:nvPr/>
        </p:nvPicPr>
        <p:blipFill>
          <a:blip r:embed="rId6" cstate="print"/>
          <a:stretch>
            <a:fillRect/>
          </a:stretch>
        </p:blipFill>
        <p:spPr>
          <a:xfrm rot="0">
            <a:off x="19878" y="4859865"/>
            <a:ext cx="5718968" cy="926560"/>
          </a:xfrm>
          <a:prstGeom prst="rect"/>
          <a:noFill/>
          <a:ln w="12700" cmpd="sng" cap="flat">
            <a:noFill/>
            <a:prstDash val="solid"/>
            <a:miter/>
          </a:ln>
        </p:spPr>
      </p:pic>
      <p:pic>
        <p:nvPicPr>
          <p:cNvPr id="132" name="图片"/>
          <p:cNvPicPr>
            <a:picLocks noChangeAspect="1"/>
          </p:cNvPicPr>
          <p:nvPr/>
        </p:nvPicPr>
        <p:blipFill>
          <a:blip r:embed="rId7" cstate="print"/>
          <a:stretch>
            <a:fillRect/>
          </a:stretch>
        </p:blipFill>
        <p:spPr>
          <a:xfrm rot="0">
            <a:off x="2789082" y="5516880"/>
            <a:ext cx="6334520" cy="1026832"/>
          </a:xfrm>
          <a:prstGeom prst="rect"/>
          <a:noFill/>
          <a:ln w="12700" cmpd="sng" cap="flat">
            <a:noFill/>
            <a:prstDash val="solid"/>
            <a:miter/>
          </a:ln>
        </p:spPr>
      </p:pic>
      <p:sp>
        <p:nvSpPr>
          <p:cNvPr id="133" name="矩形"/>
          <p:cNvSpPr>
            <a:spLocks/>
          </p:cNvSpPr>
          <p:nvPr/>
        </p:nvSpPr>
        <p:spPr>
          <a:xfrm rot="0">
            <a:off x="5701489" y="4435746"/>
            <a:ext cx="3521948" cy="52321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8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离散傅里叶反变换</a:t>
            </a:r>
            <a:endParaRPr lang="zh-CN" altLang="en-US" sz="2800" b="0" i="0" u="none" strike="noStrike" kern="1200" cap="none" spc="0" baseline="0">
              <a:solidFill>
                <a:schemeClr val="tx1"/>
              </a:solidFill>
              <a:latin typeface="Calibri" pitchFamily="0" charset="0"/>
              <a:ea typeface="等线" pitchFamily="0" charset="0"/>
              <a:cs typeface="Calibri" pitchFamily="0" charset="0"/>
            </a:endParaRPr>
          </a:p>
        </p:txBody>
      </p:sp>
      <p:cxnSp>
        <p:nvCxnSpPr>
          <p:cNvPr id="134" name="直线连接线"/>
          <p:cNvCxnSpPr>
            <a:cxnSpLocks/>
          </p:cNvCxnSpPr>
          <p:nvPr/>
        </p:nvCxnSpPr>
        <p:spPr>
          <a:xfrm rot="0">
            <a:off x="3557312" y="4572000"/>
            <a:ext cx="595586" cy="449922"/>
          </a:xfrm>
          <a:prstGeom prst="straightConnector1"/>
          <a:noFill/>
          <a:ln w="6350" cmpd="sng" cap="flat">
            <a:solidFill>
              <a:srgbClr val="5B9BD5"/>
            </a:solidFill>
            <a:prstDash val="solid"/>
            <a:round/>
            <a:tailEnd type="triangle" w="med" len="med"/>
          </a:ln>
        </p:spPr>
      </p:cxnSp>
      <p:cxnSp>
        <p:nvCxnSpPr>
          <p:cNvPr id="135" name="直线连接线"/>
          <p:cNvCxnSpPr>
            <a:cxnSpLocks/>
          </p:cNvCxnSpPr>
          <p:nvPr/>
        </p:nvCxnSpPr>
        <p:spPr>
          <a:xfrm flipH="1" rot="21600000">
            <a:off x="6743700" y="4886083"/>
            <a:ext cx="737442" cy="709212"/>
          </a:xfrm>
          <a:prstGeom prst="straightConnector1"/>
          <a:noFill/>
          <a:ln w="6350" cmpd="sng" cap="flat">
            <a:solidFill>
              <a:srgbClr val="5B9BD5"/>
            </a:solidFill>
            <a:prstDash val="solid"/>
            <a:round/>
            <a:tailEnd type="triangle" w="med" len="med"/>
          </a:ln>
        </p:spPr>
      </p:cxnSp>
    </p:spTree>
    <p:extLst>
      <p:ext uri="{BB962C8B-B14F-4D97-AF65-F5344CB8AC3E}">
        <p14:creationId xmlns:p14="http://schemas.microsoft.com/office/powerpoint/2010/main" val="55671259"/>
      </p:ext>
    </p:extLst>
  </p:cSld>
  <p:clrMapOvr>
    <a:masterClrMapping/>
  </p:clrMapOvr>
</p:sld>
</file>

<file path=ppt/slides/slide1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139"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140"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141"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数字图像基础</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142" name="直线"/>
          <p:cNvSpPr>
            <a:spLocks/>
          </p:cNvSpPr>
          <p:nvPr/>
        </p:nvSpPr>
        <p:spPr>
          <a:xfrm rot="0">
            <a:off x="3009712" y="525055"/>
            <a:ext cx="1749287" cy="0"/>
          </a:xfrm>
          <a:prstGeom prst="line"/>
          <a:noFill/>
          <a:ln w="6350" cmpd="sng" cap="flat">
            <a:solidFill>
              <a:srgbClr val="000000"/>
            </a:solidFill>
            <a:prstDash val="solid"/>
            <a:round/>
          </a:ln>
        </p:spPr>
      </p:sp>
      <p:sp>
        <p:nvSpPr>
          <p:cNvPr id="143"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144"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Fundamentals</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145" name="矩形"/>
          <p:cNvSpPr>
            <a:spLocks/>
          </p:cNvSpPr>
          <p:nvPr/>
        </p:nvSpPr>
        <p:spPr>
          <a:xfrm rot="0">
            <a:off x="400050" y="1341119"/>
            <a:ext cx="8350250" cy="5234940"/>
          </a:xfrm>
          <a:prstGeom prst="rect"/>
          <a:noFill/>
          <a:ln w="12700" cmpd="sng" cap="flat">
            <a:noFill/>
            <a:prstDash val="solid"/>
            <a:miter/>
          </a:ln>
        </p:spPr>
        <p:txBody>
          <a:bodyPr vert="horz" wrap="square" lIns="91440" tIns="45720" rIns="91440" bIns="45720" anchor="t" anchorCtr="0">
            <a:prstTxWarp prst="textNoShape"/>
            <a:spAutoFit/>
          </a:bodyPr>
          <a:lstStyle/>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图像的</a:t>
            </a:r>
            <a:r>
              <a:rPr lang="zh-CN" altLang="en-US"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rPr>
              <a:t>频率域</a:t>
            </a: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处理</a:t>
            </a: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二维离散傅里叶变换</a:t>
            </a:r>
            <a:r>
              <a:rPr lang="zh-CN" altLang="en-US"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rPr>
              <a:t>性质</a:t>
            </a: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：周期性、平移性</a:t>
            </a: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0" indent="0" algn="l" fontAlgn="auto">
              <a:lnSpc>
                <a:spcPct val="100000"/>
              </a:lnSpc>
              <a:spcBef>
                <a:spcPts val="0"/>
              </a:spcBef>
              <a:spcAft>
                <a:spcPts val="0"/>
              </a:spcAft>
              <a:buNone/>
            </a:pPr>
            <a:r>
              <a:rPr lang="en-US" altLang="zh-CN" sz="28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   </a:t>
            </a:r>
            <a:endParaRPr lang="zh-CN" altLang="en-US" sz="28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p:txBody>
      </p:sp>
      <p:sp>
        <p:nvSpPr>
          <p:cNvPr id="146" name="矩形"/>
          <p:cNvSpPr>
            <a:spLocks/>
          </p:cNvSpPr>
          <p:nvPr/>
        </p:nvSpPr>
        <p:spPr>
          <a:xfrm rot="0">
            <a:off x="502919" y="1992094"/>
            <a:ext cx="3586480" cy="523219"/>
          </a:xfrm>
          <a:prstGeom prst="rect"/>
          <a:solidFill>
            <a:srgbClr val="FFC000"/>
          </a:solidFill>
          <a:ln w="12700" cmpd="sng" cap="flat">
            <a:noFill/>
            <a:prstDash val="solid"/>
            <a:miter/>
          </a:ln>
          <a:effectLst>
            <a:outerShdw sx="100000" sy="100000" algn="t" rotWithShape="0" blurRad="50800" dist="38100" dir="5400000">
              <a:srgbClr val="000000">
                <a:alpha val="39607"/>
              </a:srgbClr>
            </a:outerShdw>
          </a:effectLst>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8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 二维离散傅里叶变换</a:t>
            </a:r>
            <a:endParaRPr lang="zh-CN" altLang="en-US" sz="2800" b="0" i="0" u="none" strike="noStrike" kern="1200" cap="none" spc="0" baseline="0">
              <a:solidFill>
                <a:schemeClr val="tx1"/>
              </a:solidFill>
              <a:latin typeface="Calibri" pitchFamily="0" charset="0"/>
              <a:ea typeface="等线" pitchFamily="0" charset="0"/>
              <a:cs typeface="Calibri" pitchFamily="0" charset="0"/>
            </a:endParaRPr>
          </a:p>
        </p:txBody>
      </p:sp>
      <p:sp>
        <p:nvSpPr>
          <p:cNvPr id="147" name="矩形"/>
          <p:cNvSpPr>
            <a:spLocks/>
          </p:cNvSpPr>
          <p:nvPr/>
        </p:nvSpPr>
        <p:spPr>
          <a:xfrm rot="0">
            <a:off x="4759000" y="1992094"/>
            <a:ext cx="3882080" cy="523219"/>
          </a:xfrm>
          <a:prstGeom prst="rect"/>
          <a:solidFill>
            <a:srgbClr val="FFC000"/>
          </a:solidFill>
          <a:ln w="12700" cmpd="sng" cap="flat">
            <a:noFill/>
            <a:prstDash val="solid"/>
            <a:miter/>
          </a:ln>
          <a:effectLst>
            <a:outerShdw sx="100000" sy="100000" algn="t" rotWithShape="0" blurRad="50800" dist="38100" dir="5400000">
              <a:srgbClr val="000000">
                <a:alpha val="39607"/>
              </a:srgbClr>
            </a:outerShdw>
          </a:effectLst>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8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 二维离散傅里叶反变换</a:t>
            </a:r>
            <a:endParaRPr lang="zh-CN" altLang="en-US" sz="2800" b="0" i="0" u="none" strike="noStrike" kern="1200" cap="none" spc="0" baseline="0">
              <a:solidFill>
                <a:schemeClr val="tx1"/>
              </a:solidFill>
              <a:latin typeface="Calibri" pitchFamily="0" charset="0"/>
              <a:ea typeface="等线" pitchFamily="0" charset="0"/>
              <a:cs typeface="Calibri" pitchFamily="0" charset="0"/>
            </a:endParaRPr>
          </a:p>
        </p:txBody>
      </p:sp>
      <p:pic>
        <p:nvPicPr>
          <p:cNvPr id="148" name="图片"/>
          <p:cNvPicPr>
            <a:picLocks noChangeAspect="1"/>
          </p:cNvPicPr>
          <p:nvPr/>
        </p:nvPicPr>
        <p:blipFill>
          <a:blip r:embed="rId2" cstate="print"/>
          <a:stretch>
            <a:fillRect/>
          </a:stretch>
        </p:blipFill>
        <p:spPr>
          <a:xfrm rot="0">
            <a:off x="24323" y="2742216"/>
            <a:ext cx="4401184" cy="922657"/>
          </a:xfrm>
          <a:prstGeom prst="rect"/>
          <a:noFill/>
          <a:ln w="12700" cmpd="sng" cap="flat">
            <a:noFill/>
            <a:prstDash val="solid"/>
            <a:miter/>
          </a:ln>
        </p:spPr>
      </p:pic>
      <p:pic>
        <p:nvPicPr>
          <p:cNvPr id="149" name="图片"/>
          <p:cNvPicPr>
            <a:picLocks noChangeAspect="1"/>
          </p:cNvPicPr>
          <p:nvPr/>
        </p:nvPicPr>
        <p:blipFill>
          <a:blip r:embed="rId3" cstate="print"/>
          <a:stretch>
            <a:fillRect/>
          </a:stretch>
        </p:blipFill>
        <p:spPr>
          <a:xfrm rot="0">
            <a:off x="4425508" y="2705097"/>
            <a:ext cx="5197110" cy="996894"/>
          </a:xfrm>
          <a:prstGeom prst="rect"/>
          <a:noFill/>
          <a:ln w="12700" cmpd="sng" cap="flat">
            <a:noFill/>
            <a:prstDash val="solid"/>
            <a:miter/>
          </a:ln>
        </p:spPr>
      </p:pic>
      <p:pic>
        <p:nvPicPr>
          <p:cNvPr id="150" name="图片"/>
          <p:cNvPicPr>
            <a:picLocks noChangeAspect="1"/>
          </p:cNvPicPr>
          <p:nvPr/>
        </p:nvPicPr>
        <p:blipFill>
          <a:blip r:embed="rId4" cstate="print"/>
          <a:stretch>
            <a:fillRect/>
          </a:stretch>
        </p:blipFill>
        <p:spPr>
          <a:xfrm rot="0">
            <a:off x="1624510" y="4411803"/>
            <a:ext cx="2433841" cy="2449099"/>
          </a:xfrm>
          <a:prstGeom prst="rect"/>
          <a:noFill/>
          <a:ln w="12700" cmpd="sng" cap="flat">
            <a:noFill/>
            <a:prstDash val="solid"/>
            <a:miter/>
          </a:ln>
        </p:spPr>
      </p:pic>
      <p:sp>
        <p:nvSpPr>
          <p:cNvPr id="151" name="下箭头"/>
          <p:cNvSpPr>
            <a:spLocks/>
          </p:cNvSpPr>
          <p:nvPr/>
        </p:nvSpPr>
        <p:spPr>
          <a:xfrm rot="0">
            <a:off x="6096000" y="4572000"/>
            <a:ext cx="634999" cy="397448"/>
          </a:xfrm>
          <a:prstGeom prst="downArrow">
            <a:avLst>
              <a:gd name="adj1" fmla="val 50000"/>
              <a:gd name="adj2" fmla="val 25000"/>
            </a:avLst>
          </a:prstGeom>
          <a:noFill/>
          <a:ln w="12700" cmpd="sng" cap="flat">
            <a:solidFill>
              <a:srgbClr val="41719C"/>
            </a:solidFill>
            <a:prstDash val="solid"/>
            <a:miter/>
          </a:ln>
        </p:spPr>
      </p:sp>
      <p:sp>
        <p:nvSpPr>
          <p:cNvPr id="152" name="矩形"/>
          <p:cNvSpPr>
            <a:spLocks/>
          </p:cNvSpPr>
          <p:nvPr/>
        </p:nvSpPr>
        <p:spPr>
          <a:xfrm rot="0">
            <a:off x="5438899" y="5255270"/>
            <a:ext cx="1932879" cy="523219"/>
          </a:xfrm>
          <a:prstGeom prst="rect"/>
          <a:solidFill>
            <a:srgbClr val="FFC000"/>
          </a:solidFill>
          <a:ln w="12700" cmpd="sng" cap="flat">
            <a:noFill/>
            <a:prstDash val="solid"/>
            <a:miter/>
          </a:ln>
          <a:effectLst>
            <a:outerShdw sx="100000" sy="100000" algn="t" rotWithShape="0" blurRad="50800" dist="38100" dir="5400000">
              <a:srgbClr val="000000">
                <a:alpha val="39607"/>
              </a:srgbClr>
            </a:outerShdw>
          </a:effectLst>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2800" b="1" i="0" u="none" strike="noStrike" kern="1200" cap="none" spc="0" baseline="0">
                <a:solidFill>
                  <a:schemeClr val="tx1"/>
                </a:solidFill>
                <a:latin typeface="Times New Roman" pitchFamily="0" charset="0"/>
                <a:ea typeface="等线" pitchFamily="0" charset="0"/>
                <a:cs typeface="Times New Roman" pitchFamily="0" charset="0"/>
                <a:sym typeface="等线" pitchFamily="0" charset="0"/>
              </a:rPr>
              <a:t>中心变换</a:t>
            </a:r>
            <a:endParaRPr lang="zh-CN" altLang="en-US" sz="2800" b="0" i="0" u="none" strike="noStrike" kern="1200" cap="none" spc="0" baseline="0">
              <a:solidFill>
                <a:schemeClr val="tx1"/>
              </a:solidFill>
              <a:latin typeface="Calibri" pitchFamily="0" charset="0"/>
              <a:ea typeface="等线" pitchFamily="0" charset="0"/>
              <a:cs typeface="Calibri" pitchFamily="0" charset="0"/>
            </a:endParaRPr>
          </a:p>
        </p:txBody>
      </p:sp>
      <p:sp>
        <p:nvSpPr>
          <p:cNvPr id="153" name="右箭头"/>
          <p:cNvSpPr>
            <a:spLocks/>
          </p:cNvSpPr>
          <p:nvPr/>
        </p:nvSpPr>
        <p:spPr>
          <a:xfrm rot="10800000">
            <a:off x="4209261" y="5182156"/>
            <a:ext cx="714640" cy="652817"/>
          </a:xfrm>
          <a:prstGeom prst="rightArrow">
            <a:avLst>
              <a:gd name="adj1" fmla="val 50000"/>
              <a:gd name="adj2" fmla="val 68119"/>
            </a:avLst>
          </a:prstGeom>
          <a:noFill/>
          <a:ln w="12700" cmpd="sng" cap="flat">
            <a:solidFill>
              <a:srgbClr val="41719C"/>
            </a:solidFill>
            <a:prstDash val="solid"/>
            <a:miter/>
          </a:ln>
        </p:spPr>
      </p:sp>
      <p:sp>
        <p:nvSpPr>
          <p:cNvPr id="154" name="矩形"/>
          <p:cNvSpPr>
            <a:spLocks/>
          </p:cNvSpPr>
          <p:nvPr/>
        </p:nvSpPr>
        <p:spPr>
          <a:xfrm rot="0">
            <a:off x="4155312" y="6040899"/>
            <a:ext cx="4826642" cy="8153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fontAlgn="auto">
              <a:lnSpc>
                <a:spcPct val="100000"/>
              </a:lnSpc>
              <a:spcBef>
                <a:spcPts val="0"/>
              </a:spcBef>
              <a:spcAft>
                <a:spcPts val="0"/>
              </a:spcAft>
              <a:buNone/>
            </a:pPr>
            <a:r>
              <a:rPr lang="zh-CN" altLang="en-US" sz="24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rPr>
              <a:t>中心变换前后频谱图像有什么变化？</a:t>
            </a:r>
            <a:endParaRPr lang="zh-CN" altLang="en-US" sz="2400" b="0" i="0" u="none" strike="noStrike" kern="1200" cap="none" spc="0" baseline="0">
              <a:solidFill>
                <a:schemeClr val="tx1"/>
              </a:solidFill>
              <a:latin typeface="宋体" pitchFamily="0" charset="0"/>
              <a:ea typeface="宋体" pitchFamily="0" charset="0"/>
              <a:cs typeface="Times New Roman" pitchFamily="0" charset="0"/>
              <a:sym typeface="等线" pitchFamily="0" charset="0"/>
            </a:endParaRPr>
          </a:p>
        </p:txBody>
      </p:sp>
    </p:spTree>
    <p:extLst>
      <p:ext uri="{BB962C8B-B14F-4D97-AF65-F5344CB8AC3E}">
        <p14:creationId xmlns:p14="http://schemas.microsoft.com/office/powerpoint/2010/main" val="650045890"/>
      </p:ext>
    </p:extLst>
  </p:cSld>
  <p:clrMapOvr>
    <a:masterClrMapping/>
  </p:clrMapOvr>
</p:sld>
</file>

<file path=ppt/slides/slide1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158"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159"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数字图像基础</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160" name="直线"/>
          <p:cNvSpPr>
            <a:spLocks/>
          </p:cNvSpPr>
          <p:nvPr/>
        </p:nvSpPr>
        <p:spPr>
          <a:xfrm rot="0">
            <a:off x="3009712" y="525055"/>
            <a:ext cx="1749287" cy="0"/>
          </a:xfrm>
          <a:prstGeom prst="line"/>
          <a:noFill/>
          <a:ln w="6350" cmpd="sng" cap="flat">
            <a:solidFill>
              <a:srgbClr val="000000"/>
            </a:solidFill>
            <a:prstDash val="solid"/>
            <a:round/>
          </a:ln>
        </p:spPr>
      </p:sp>
      <p:sp>
        <p:nvSpPr>
          <p:cNvPr id="161"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162"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Fundamentals</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163" name="矩形"/>
          <p:cNvSpPr>
            <a:spLocks/>
          </p:cNvSpPr>
          <p:nvPr/>
        </p:nvSpPr>
        <p:spPr>
          <a:xfrm rot="0">
            <a:off x="400050" y="1341119"/>
            <a:ext cx="8350250" cy="2663190"/>
          </a:xfrm>
          <a:prstGeom prst="rect"/>
          <a:noFill/>
          <a:ln w="12700" cmpd="sng" cap="flat">
            <a:noFill/>
            <a:prstDash val="solid"/>
            <a:miter/>
          </a:ln>
        </p:spPr>
        <p:txBody>
          <a:bodyPr vert="horz" wrap="square" lIns="91440" tIns="45720" rIns="91440" bIns="45720" anchor="t" anchorCtr="0">
            <a:prstTxWarp prst="textNoShape"/>
            <a:spAutoFit/>
          </a:bodyPr>
          <a:lstStyle/>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图像的</a:t>
            </a:r>
            <a:r>
              <a:rPr lang="zh-CN" altLang="en-US"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rPr>
              <a:t>频率域</a:t>
            </a: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处理</a:t>
            </a: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0" indent="0" algn="l" fontAlgn="auto">
              <a:lnSpc>
                <a:spcPct val="100000"/>
              </a:lnSpc>
              <a:spcBef>
                <a:spcPts val="0"/>
              </a:spcBef>
              <a:spcAft>
                <a:spcPts val="0"/>
              </a:spcAft>
              <a:buNone/>
            </a:pPr>
            <a:r>
              <a:rPr lang="en-US" altLang="zh-CN" sz="28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   </a:t>
            </a:r>
            <a:endParaRPr lang="zh-CN" altLang="en-US" sz="28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p:txBody>
      </p:sp>
      <p:sp>
        <p:nvSpPr>
          <p:cNvPr id="164" name="矩形"/>
          <p:cNvSpPr>
            <a:spLocks/>
          </p:cNvSpPr>
          <p:nvPr/>
        </p:nvSpPr>
        <p:spPr>
          <a:xfrm rot="0">
            <a:off x="502919" y="1997759"/>
            <a:ext cx="5670550" cy="453390"/>
          </a:xfrm>
          <a:prstGeom prst="rect"/>
          <a:solidFill>
            <a:srgbClr val="FCBE01"/>
          </a:solidFill>
          <a:ln w="12700" cmpd="sng" cap="flat">
            <a:noFill/>
            <a:prstDash val="solid"/>
            <a:miter/>
          </a:ln>
          <a:effectLst>
            <a:outerShdw sx="100000" sy="100000" algn="t" rotWithShape="0" blurRad="50800" dist="38100" dir="5400000">
              <a:srgbClr val="000000">
                <a:alpha val="39607"/>
              </a:srgbClr>
            </a:outerShdw>
          </a:effectLst>
        </p:spPr>
        <p:txBody>
          <a:bodyPr vert="horz" wrap="square" lIns="91440" tIns="45720" rIns="91440" bIns="45720" anchor="t" anchorCtr="0">
            <a:prstTxWarp prst="textNoShape"/>
            <a:spAutoFit/>
          </a:bodyPr>
          <a:lstStyle/>
          <a:p>
            <a:pPr marL="0" indent="0" algn="ctr" fontAlgn="auto">
              <a:lnSpc>
                <a:spcPct val="100000"/>
              </a:lnSpc>
              <a:spcBef>
                <a:spcPts val="0"/>
              </a:spcBef>
              <a:spcAft>
                <a:spcPts val="0"/>
              </a:spcAft>
              <a:buNone/>
            </a:pPr>
            <a:r>
              <a:rPr lang="zh-CN" altLang="en-US" sz="24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空间域中两个函数的卷积的傅立叶变换</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p:txBody>
      </p:sp>
      <p:sp>
        <p:nvSpPr>
          <p:cNvPr id="165" name="矩形"/>
          <p:cNvSpPr>
            <a:spLocks/>
          </p:cNvSpPr>
          <p:nvPr/>
        </p:nvSpPr>
        <p:spPr>
          <a:xfrm rot="0">
            <a:off x="3176950" y="3116062"/>
            <a:ext cx="5670550" cy="453390"/>
          </a:xfrm>
          <a:prstGeom prst="rect"/>
          <a:solidFill>
            <a:srgbClr val="FCBE01"/>
          </a:solidFill>
          <a:ln w="12700" cmpd="sng" cap="flat">
            <a:noFill/>
            <a:prstDash val="solid"/>
            <a:miter/>
          </a:ln>
          <a:effectLst>
            <a:outerShdw sx="100000" sy="100000" algn="t" rotWithShape="0" blurRad="50800" dist="38100" dir="5400000">
              <a:srgbClr val="000000">
                <a:alpha val="39607"/>
              </a:srgbClr>
            </a:outerShdw>
          </a:effectLst>
        </p:spPr>
        <p:txBody>
          <a:bodyPr vert="horz" wrap="square" lIns="91440" tIns="45720" rIns="91440" bIns="45720" anchor="t" anchorCtr="0">
            <a:prstTxWarp prst="textNoShape"/>
            <a:spAutoFit/>
          </a:bodyPr>
          <a:lstStyle/>
          <a:p>
            <a:pPr marL="0" indent="0" algn="ctr" fontAlgn="auto">
              <a:lnSpc>
                <a:spcPct val="100000"/>
              </a:lnSpc>
              <a:spcBef>
                <a:spcPts val="0"/>
              </a:spcBef>
              <a:spcAft>
                <a:spcPts val="0"/>
              </a:spcAft>
              <a:buNone/>
            </a:pPr>
            <a:r>
              <a:rPr lang="zh-CN" altLang="en-US" sz="24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频率域中两个傅立叶变换函数的乘积</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p:txBody>
      </p:sp>
      <p:sp>
        <p:nvSpPr>
          <p:cNvPr id="166" name="矩形"/>
          <p:cNvSpPr>
            <a:spLocks/>
          </p:cNvSpPr>
          <p:nvPr/>
        </p:nvSpPr>
        <p:spPr>
          <a:xfrm rot="0">
            <a:off x="593151" y="4118693"/>
            <a:ext cx="5490088" cy="453390"/>
          </a:xfrm>
          <a:prstGeom prst="rect"/>
          <a:solidFill>
            <a:srgbClr val="9DC3E6"/>
          </a:solidFill>
          <a:ln w="12700" cmpd="sng" cap="flat">
            <a:noFill/>
            <a:prstDash val="solid"/>
            <a:miter/>
          </a:ln>
          <a:effectLst>
            <a:outerShdw sx="100000" sy="100000" algn="t" rotWithShape="0" blurRad="50800" dist="38100" dir="5400000">
              <a:srgbClr val="000000">
                <a:alpha val="39607"/>
              </a:srgbClr>
            </a:outerShdw>
          </a:effectLst>
        </p:spPr>
        <p:txBody>
          <a:bodyPr vert="horz" wrap="square" lIns="91440" tIns="45720" rIns="91440" bIns="45720" anchor="t" anchorCtr="0">
            <a:prstTxWarp prst="textNoShape"/>
            <a:spAutoFit/>
          </a:bodyPr>
          <a:lstStyle/>
          <a:p>
            <a:pPr marL="0" indent="0" algn="ctr" fontAlgn="auto">
              <a:lnSpc>
                <a:spcPct val="100000"/>
              </a:lnSpc>
              <a:spcBef>
                <a:spcPts val="0"/>
              </a:spcBef>
              <a:spcAft>
                <a:spcPts val="0"/>
              </a:spcAft>
              <a:buNone/>
            </a:pPr>
            <a:r>
              <a:rPr lang="zh-CN" altLang="en-US" sz="24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空间域中两个函数的乘积的傅立叶变换</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p:txBody>
      </p:sp>
      <p:sp>
        <p:nvSpPr>
          <p:cNvPr id="167" name="矩形"/>
          <p:cNvSpPr>
            <a:spLocks/>
          </p:cNvSpPr>
          <p:nvPr/>
        </p:nvSpPr>
        <p:spPr>
          <a:xfrm rot="0">
            <a:off x="3357413" y="5174534"/>
            <a:ext cx="5490088" cy="453389"/>
          </a:xfrm>
          <a:prstGeom prst="rect"/>
          <a:solidFill>
            <a:srgbClr val="9DC3E6"/>
          </a:solidFill>
          <a:ln w="12700" cmpd="sng" cap="flat">
            <a:noFill/>
            <a:prstDash val="solid"/>
            <a:miter/>
          </a:ln>
          <a:effectLst>
            <a:outerShdw sx="100000" sy="100000" algn="t" rotWithShape="0" blurRad="50800" dist="38100" dir="5400000">
              <a:srgbClr val="000000">
                <a:alpha val="39607"/>
              </a:srgbClr>
            </a:outerShdw>
          </a:effectLst>
        </p:spPr>
        <p:txBody>
          <a:bodyPr vert="horz" wrap="square" lIns="91440" tIns="45720" rIns="91440" bIns="45720" anchor="t" anchorCtr="0">
            <a:prstTxWarp prst="textNoShape"/>
            <a:spAutoFit/>
          </a:bodyPr>
          <a:lstStyle/>
          <a:p>
            <a:pPr marL="0" indent="0" algn="ctr" fontAlgn="auto">
              <a:lnSpc>
                <a:spcPct val="100000"/>
              </a:lnSpc>
              <a:spcBef>
                <a:spcPts val="0"/>
              </a:spcBef>
              <a:spcAft>
                <a:spcPts val="0"/>
              </a:spcAft>
              <a:buNone/>
            </a:pPr>
            <a:r>
              <a:rPr lang="zh-CN" altLang="en-US" sz="24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频率域中两个傅立叶变换函数的卷积</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p:txBody>
      </p:sp>
      <p:sp>
        <p:nvSpPr>
          <p:cNvPr id="168" name="右弧形箭头"/>
          <p:cNvSpPr>
            <a:spLocks/>
          </p:cNvSpPr>
          <p:nvPr/>
        </p:nvSpPr>
        <p:spPr>
          <a:xfrm rot="0">
            <a:off x="6739913" y="2117618"/>
            <a:ext cx="558165" cy="701675"/>
          </a:xfrm>
          <a:prstGeom prst="curvedLeftArrow">
            <a:avLst>
              <a:gd name="adj1" fmla="val 25000"/>
              <a:gd name="adj2" fmla="val 50004"/>
              <a:gd name="adj3" fmla="val 25000"/>
            </a:avLst>
          </a:prstGeom>
          <a:noFill/>
          <a:ln w="12700" cmpd="sng" cap="flat">
            <a:solidFill>
              <a:srgbClr val="41719C"/>
            </a:solidFill>
            <a:prstDash val="solid"/>
            <a:miter/>
          </a:ln>
        </p:spPr>
      </p:sp>
      <p:sp>
        <p:nvSpPr>
          <p:cNvPr id="169" name="矩形"/>
          <p:cNvSpPr>
            <a:spLocks/>
          </p:cNvSpPr>
          <p:nvPr/>
        </p:nvSpPr>
        <p:spPr>
          <a:xfrm rot="0">
            <a:off x="7516518" y="2207153"/>
            <a:ext cx="894080" cy="521969"/>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800" b="0" i="0" u="none" strike="noStrike" kern="1200" cap="none" spc="0" baseline="0">
                <a:solidFill>
                  <a:schemeClr val="tx1"/>
                </a:solidFill>
                <a:latin typeface="Times New Roman" pitchFamily="0" charset="0"/>
                <a:ea typeface="Songti SC Regular" pitchFamily="0" charset="-122"/>
                <a:cs typeface="Calibri" pitchFamily="0" charset="0"/>
              </a:rPr>
              <a:t>等价</a:t>
            </a:r>
            <a:endParaRPr lang="zh-CN" altLang="en-US" sz="2800" b="0" i="0" u="none" strike="noStrike" kern="1200" cap="none" spc="0" baseline="0">
              <a:solidFill>
                <a:schemeClr val="tx1"/>
              </a:solidFill>
              <a:latin typeface="Times New Roman" pitchFamily="0" charset="0"/>
              <a:ea typeface="Songti SC Regular" pitchFamily="0" charset="-122"/>
              <a:cs typeface="Calibri" pitchFamily="0" charset="0"/>
            </a:endParaRPr>
          </a:p>
        </p:txBody>
      </p:sp>
      <p:sp>
        <p:nvSpPr>
          <p:cNvPr id="170" name="右弧形箭头"/>
          <p:cNvSpPr>
            <a:spLocks/>
          </p:cNvSpPr>
          <p:nvPr/>
        </p:nvSpPr>
        <p:spPr>
          <a:xfrm rot="0">
            <a:off x="6521473" y="4223335"/>
            <a:ext cx="558165" cy="701675"/>
          </a:xfrm>
          <a:prstGeom prst="curvedLeftArrow">
            <a:avLst>
              <a:gd name="adj1" fmla="val 25000"/>
              <a:gd name="adj2" fmla="val 50004"/>
              <a:gd name="adj3" fmla="val 25000"/>
            </a:avLst>
          </a:prstGeom>
          <a:noFill/>
          <a:ln w="12700" cmpd="sng" cap="flat">
            <a:solidFill>
              <a:srgbClr val="41719C"/>
            </a:solidFill>
            <a:prstDash val="solid"/>
            <a:miter/>
          </a:ln>
        </p:spPr>
      </p:sp>
      <p:sp>
        <p:nvSpPr>
          <p:cNvPr id="171" name="矩形"/>
          <p:cNvSpPr>
            <a:spLocks/>
          </p:cNvSpPr>
          <p:nvPr/>
        </p:nvSpPr>
        <p:spPr>
          <a:xfrm rot="0">
            <a:off x="7298078" y="4312870"/>
            <a:ext cx="894080" cy="521970"/>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800" b="0" i="0" u="none" strike="noStrike" kern="1200" cap="none" spc="0" baseline="0">
                <a:solidFill>
                  <a:schemeClr val="tx1"/>
                </a:solidFill>
                <a:latin typeface="Times New Roman" pitchFamily="0" charset="0"/>
                <a:ea typeface="Songti SC Regular" pitchFamily="0" charset="-122"/>
                <a:cs typeface="Calibri" pitchFamily="0" charset="0"/>
              </a:rPr>
              <a:t>等价</a:t>
            </a:r>
            <a:endParaRPr lang="zh-CN" altLang="en-US" sz="2800" b="0" i="0" u="none" strike="noStrike" kern="1200" cap="none" spc="0" baseline="0">
              <a:solidFill>
                <a:schemeClr val="tx1"/>
              </a:solidFill>
              <a:latin typeface="Times New Roman" pitchFamily="0" charset="0"/>
              <a:ea typeface="Songti SC Regular" pitchFamily="0" charset="-122"/>
              <a:cs typeface="Calibri" pitchFamily="0" charset="0"/>
            </a:endParaRPr>
          </a:p>
        </p:txBody>
      </p:sp>
    </p:spTree>
    <p:extLst>
      <p:ext uri="{BB962C8B-B14F-4D97-AF65-F5344CB8AC3E}">
        <p14:creationId xmlns:p14="http://schemas.microsoft.com/office/powerpoint/2010/main" val="1936947437"/>
      </p:ext>
    </p:extLst>
  </p:cSld>
  <p:clrMapOvr>
    <a:masterClrMapping/>
  </p:clrMapOvr>
</p:sld>
</file>

<file path=ppt/slides/slide1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175"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176"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数字图像基础</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177" name="直线"/>
          <p:cNvSpPr>
            <a:spLocks/>
          </p:cNvSpPr>
          <p:nvPr/>
        </p:nvSpPr>
        <p:spPr>
          <a:xfrm rot="0">
            <a:off x="3009712" y="525055"/>
            <a:ext cx="1749287" cy="0"/>
          </a:xfrm>
          <a:prstGeom prst="line"/>
          <a:noFill/>
          <a:ln w="6350" cmpd="sng" cap="flat">
            <a:solidFill>
              <a:srgbClr val="000000"/>
            </a:solidFill>
            <a:prstDash val="solid"/>
            <a:round/>
          </a:ln>
        </p:spPr>
      </p:sp>
      <p:sp>
        <p:nvSpPr>
          <p:cNvPr id="178"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179"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Fundamentals</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180" name="矩形"/>
          <p:cNvSpPr>
            <a:spLocks/>
          </p:cNvSpPr>
          <p:nvPr/>
        </p:nvSpPr>
        <p:spPr>
          <a:xfrm rot="0">
            <a:off x="400050" y="1341119"/>
            <a:ext cx="8350250" cy="2663190"/>
          </a:xfrm>
          <a:prstGeom prst="rect"/>
          <a:noFill/>
          <a:ln w="12700" cmpd="sng" cap="flat">
            <a:noFill/>
            <a:prstDash val="solid"/>
            <a:miter/>
          </a:ln>
        </p:spPr>
        <p:txBody>
          <a:bodyPr vert="horz" wrap="square" lIns="91440" tIns="45720" rIns="91440" bIns="45720" anchor="t" anchorCtr="0">
            <a:prstTxWarp prst="textNoShape"/>
            <a:spAutoFit/>
          </a:bodyPr>
          <a:lstStyle/>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图像的</a:t>
            </a:r>
            <a:r>
              <a:rPr lang="zh-CN" altLang="en-US"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rPr>
              <a:t>频率域滤波</a:t>
            </a:r>
            <a:endParaRPr lang="en-US" altLang="zh-CN"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0" indent="0" algn="l" fontAlgn="auto">
              <a:lnSpc>
                <a:spcPct val="100000"/>
              </a:lnSpc>
              <a:spcBef>
                <a:spcPts val="0"/>
              </a:spcBef>
              <a:spcAft>
                <a:spcPts val="0"/>
              </a:spcAft>
              <a:buNone/>
            </a:pPr>
            <a:r>
              <a:rPr lang="en-US" altLang="zh-CN" sz="28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   </a:t>
            </a:r>
            <a:endParaRPr lang="zh-CN" altLang="en-US" sz="28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p:txBody>
      </p:sp>
      <p:graphicFrame>
        <p:nvGraphicFramePr>
          <p:cNvPr id="181" name="表格"/>
          <p:cNvGraphicFramePr>
            <a:graphicFrameLocks noGrp="1"/>
          </p:cNvGraphicFramePr>
          <p:nvPr>
            <p:extLst>
              <p:ext uri="{D42A27DB-BD31-4B8C-83A1-F6EECF244321}"/>
            </p:extLst>
          </p:nvPr>
        </p:nvGraphicFramePr>
        <p:xfrm>
          <a:off x="1043506" y="2007096"/>
          <a:ext cx="7056987" cy="4023359"/>
        </p:xfrm>
        <a:graphic>
          <a:graphicData uri="http://schemas.openxmlformats.org/drawingml/2006/table">
            <a:tbl>
              <a:tblPr bandRow="1">
                <a:noFill/>
              </a:tblPr>
              <a:tblGrid>
                <a:gridCol w="2352306"/>
                <a:gridCol w="2352306"/>
                <a:gridCol w="2352306"/>
              </a:tblGrid>
              <a:tr h="370831">
                <a:tc>
                  <a:txBody>
                    <a:bodyPr/>
                    <a:lstStyle/>
                    <a:p>
                      <a:pPr marL="0" indent="0" algn="ctr" eaLnBrk="1" latinLnBrk="0" hangingPunct="1">
                        <a:lnSpc>
                          <a:spcPct val="100000"/>
                        </a:lnSpc>
                        <a:spcBef>
                          <a:spcPts val="0"/>
                        </a:spcBef>
                        <a:spcAft>
                          <a:spcPts val="0"/>
                        </a:spcAft>
                        <a:buNone/>
                      </a:pPr>
                      <a:endParaRPr lang="zh-CN" altLang="en-US" sz="2400" b="1" i="0" u="none" strike="noStrike" kern="1200" cap="none" spc="0" baseline="0">
                        <a:solidFill>
                          <a:srgbClr val="FFFFFF"/>
                        </a:solidFill>
                        <a:latin typeface="Calibri" pitchFamily="0" charset="0"/>
                        <a:ea typeface="等线"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B9BD5"/>
                    </a:solidFill>
                  </a:tcPr>
                </a:tc>
                <a:tc>
                  <a:txBody>
                    <a:bodyPr/>
                    <a:lstStyle/>
                    <a:p>
                      <a:pPr marL="0" indent="0" algn="ctr" eaLnBrk="1" latinLnBrk="0" hangingPunct="1">
                        <a:lnSpc>
                          <a:spcPct val="100000"/>
                        </a:lnSpc>
                        <a:spcBef>
                          <a:spcPts val="0"/>
                        </a:spcBef>
                        <a:spcAft>
                          <a:spcPts val="0"/>
                        </a:spcAft>
                        <a:buNone/>
                      </a:pPr>
                      <a:r>
                        <a:rPr lang="zh-CN" altLang="en-US" sz="2400" b="1" i="0" u="none" strike="noStrike" kern="1200" cap="none" spc="0" baseline="0">
                          <a:solidFill>
                            <a:srgbClr val="FFFFFF"/>
                          </a:solidFill>
                          <a:latin typeface="Calibri" pitchFamily="0" charset="0"/>
                          <a:ea typeface="等线" pitchFamily="0" charset="0"/>
                          <a:cs typeface="Calibri" pitchFamily="0" charset="0"/>
                        </a:rPr>
                        <a:t>低频</a:t>
                      </a:r>
                      <a:endParaRPr lang="zh-CN" altLang="en-US" sz="2400" b="1" i="0" u="none" strike="noStrike" kern="1200" cap="none" spc="0" baseline="0">
                        <a:solidFill>
                          <a:srgbClr val="FFFFFF"/>
                        </a:solidFill>
                        <a:latin typeface="Calibri" pitchFamily="0" charset="0"/>
                        <a:ea typeface="等线"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B9BD5"/>
                    </a:solidFill>
                  </a:tcPr>
                </a:tc>
                <a:tc>
                  <a:txBody>
                    <a:bodyPr/>
                    <a:lstStyle/>
                    <a:p>
                      <a:pPr marL="0" indent="0" algn="ctr" eaLnBrk="1" latinLnBrk="0" hangingPunct="1">
                        <a:lnSpc>
                          <a:spcPct val="100000"/>
                        </a:lnSpc>
                        <a:spcBef>
                          <a:spcPts val="0"/>
                        </a:spcBef>
                        <a:spcAft>
                          <a:spcPts val="0"/>
                        </a:spcAft>
                        <a:buNone/>
                      </a:pPr>
                      <a:r>
                        <a:rPr lang="zh-CN" altLang="en-US" sz="2400" b="1" i="0" u="none" strike="noStrike" kern="1200" cap="none" spc="0" baseline="0">
                          <a:solidFill>
                            <a:srgbClr val="FFFFFF"/>
                          </a:solidFill>
                          <a:latin typeface="Calibri" pitchFamily="0" charset="0"/>
                          <a:ea typeface="等线" pitchFamily="0" charset="0"/>
                          <a:cs typeface="Calibri" pitchFamily="0" charset="0"/>
                        </a:rPr>
                        <a:t>高频</a:t>
                      </a:r>
                      <a:endParaRPr lang="zh-CN" altLang="en-US" sz="2400" b="1" i="0" u="none" strike="noStrike" kern="1200" cap="none" spc="0" baseline="0">
                        <a:solidFill>
                          <a:srgbClr val="FFFFFF"/>
                        </a:solidFill>
                        <a:latin typeface="Calibri" pitchFamily="0" charset="0"/>
                        <a:ea typeface="等线"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B9BD5"/>
                    </a:solidFill>
                  </a:tcPr>
                </a:tc>
              </a:tr>
              <a:tr h="370831">
                <a:tc>
                  <a:txBody>
                    <a:bodyPr/>
                    <a:lstStyle/>
                    <a:p>
                      <a:pPr marL="0" indent="0" algn="ctr" eaLnBrk="1" latinLnBrk="0" hangingPunct="1">
                        <a:lnSpc>
                          <a:spcPct val="100000"/>
                        </a:lnSpc>
                        <a:spcBef>
                          <a:spcPts val="0"/>
                        </a:spcBef>
                        <a:spcAft>
                          <a:spcPts val="0"/>
                        </a:spcAft>
                        <a:buNone/>
                      </a:pPr>
                      <a:r>
                        <a:rPr lang="zh-CN" altLang="en-US" sz="2400" b="0" i="0" u="none" strike="noStrike" kern="1200" cap="none" spc="0" baseline="0">
                          <a:solidFill>
                            <a:srgbClr val="000000"/>
                          </a:solidFill>
                          <a:latin typeface="宋体" pitchFamily="0" charset="0"/>
                          <a:ea typeface="宋体" pitchFamily="0" charset="0"/>
                          <a:cs typeface="Calibri" pitchFamily="0" charset="0"/>
                        </a:rPr>
                        <a:t>频谱与灰度关系</a:t>
                      </a:r>
                      <a:endParaRPr lang="zh-CN" altLang="en-US" sz="24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EEF"/>
                    </a:solidFill>
                  </a:tcPr>
                </a:tc>
                <a:tc>
                  <a:txBody>
                    <a:bodyPr/>
                    <a:lstStyle/>
                    <a:p>
                      <a:pPr marL="0" indent="0" algn="ctr" eaLnBrk="1" latinLnBrk="0" hangingPunct="1">
                        <a:lnSpc>
                          <a:spcPct val="100000"/>
                        </a:lnSpc>
                        <a:spcBef>
                          <a:spcPts val="0"/>
                        </a:spcBef>
                        <a:spcAft>
                          <a:spcPts val="0"/>
                        </a:spcAft>
                        <a:buNone/>
                      </a:pPr>
                      <a:r>
                        <a:rPr lang="zh-CN" altLang="en-US" sz="2400" b="0" i="0" u="none" strike="noStrike" kern="1200" cap="none" spc="0" baseline="0">
                          <a:solidFill>
                            <a:srgbClr val="000000"/>
                          </a:solidFill>
                          <a:latin typeface="宋体" pitchFamily="0" charset="0"/>
                          <a:ea typeface="宋体" pitchFamily="0" charset="0"/>
                          <a:cs typeface="Calibri" pitchFamily="0" charset="0"/>
                        </a:rPr>
                        <a:t>变化缓慢的灰度分量</a:t>
                      </a:r>
                      <a:endParaRPr lang="zh-CN" altLang="en-US" sz="24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EEF"/>
                    </a:solidFill>
                  </a:tcPr>
                </a:tc>
                <a:tc>
                  <a:txBody>
                    <a:bodyPr/>
                    <a:lstStyle/>
                    <a:p>
                      <a:pPr marL="0" indent="0" algn="ctr" eaLnBrk="1" latinLnBrk="0" hangingPunct="1">
                        <a:lnSpc>
                          <a:spcPct val="100000"/>
                        </a:lnSpc>
                        <a:spcBef>
                          <a:spcPts val="0"/>
                        </a:spcBef>
                        <a:spcAft>
                          <a:spcPts val="0"/>
                        </a:spcAft>
                        <a:buNone/>
                      </a:pPr>
                      <a:r>
                        <a:rPr lang="zh-CN" altLang="en-US" sz="2400" b="0" i="0" u="none" strike="noStrike" kern="1200" cap="none" spc="0" baseline="0">
                          <a:solidFill>
                            <a:srgbClr val="000000"/>
                          </a:solidFill>
                          <a:latin typeface="宋体" pitchFamily="0" charset="0"/>
                          <a:ea typeface="宋体" pitchFamily="0" charset="0"/>
                          <a:cs typeface="Songti SC Regular" pitchFamily="0" charset="-122"/>
                          <a:sym typeface="等线" pitchFamily="0" charset="0"/>
                        </a:rPr>
                        <a:t>灰度级快速变化部分</a:t>
                      </a:r>
                      <a:endParaRPr lang="zh-CN" altLang="en-US" sz="24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EEF"/>
                    </a:solidFill>
                  </a:tcPr>
                </a:tc>
              </a:tr>
              <a:tr h="194307">
                <a:tc>
                  <a:txBody>
                    <a:bodyPr/>
                    <a:lstStyle/>
                    <a:p>
                      <a:pPr marL="0" indent="0" algn="ctr" eaLnBrk="1" latinLnBrk="0" hangingPunct="1">
                        <a:lnSpc>
                          <a:spcPct val="100000"/>
                        </a:lnSpc>
                        <a:spcBef>
                          <a:spcPts val="0"/>
                        </a:spcBef>
                        <a:spcAft>
                          <a:spcPts val="0"/>
                        </a:spcAft>
                        <a:buNone/>
                      </a:pPr>
                      <a:r>
                        <a:rPr lang="zh-CN" altLang="en-US" sz="2400" b="0" i="0" u="none" strike="noStrike" kern="1200" cap="none" spc="0" baseline="0">
                          <a:solidFill>
                            <a:srgbClr val="000000"/>
                          </a:solidFill>
                          <a:latin typeface="宋体" pitchFamily="0" charset="0"/>
                          <a:ea typeface="宋体" pitchFamily="0" charset="0"/>
                          <a:cs typeface="Calibri" pitchFamily="0" charset="0"/>
                        </a:rPr>
                        <a:t>滤波器</a:t>
                      </a:r>
                      <a:endParaRPr lang="en-US" altLang="zh-CN" sz="2400" b="0" i="0" u="none" strike="noStrike" kern="1200" cap="none" spc="0" baseline="0">
                        <a:solidFill>
                          <a:srgbClr val="000000"/>
                        </a:solidFill>
                        <a:latin typeface="宋体" pitchFamily="0" charset="0"/>
                        <a:ea typeface="宋体" pitchFamily="0" charset="0"/>
                        <a:cs typeface="Calibri" pitchFamily="0" charset="0"/>
                      </a:endParaRPr>
                    </a:p>
                    <a:p>
                      <a:pPr marL="0" indent="0" algn="ctr" eaLnBrk="1" latinLnBrk="0" hangingPunct="1">
                        <a:lnSpc>
                          <a:spcPct val="100000"/>
                        </a:lnSpc>
                        <a:spcBef>
                          <a:spcPts val="0"/>
                        </a:spcBef>
                        <a:spcAft>
                          <a:spcPts val="0"/>
                        </a:spcAft>
                        <a:buNone/>
                      </a:pPr>
                      <a:r>
                        <a:rPr lang="zh-CN" altLang="en-US" sz="2400" b="0" i="0" u="none" strike="noStrike" kern="1200" cap="none" spc="0" baseline="0">
                          <a:solidFill>
                            <a:srgbClr val="000000"/>
                          </a:solidFill>
                          <a:latin typeface="宋体" pitchFamily="0" charset="0"/>
                          <a:ea typeface="宋体" pitchFamily="0" charset="0"/>
                          <a:cs typeface="Calibri" pitchFamily="0" charset="0"/>
                        </a:rPr>
                        <a:t>（理想滤波器、高斯滤波器、巴特沃斯滤波器）</a:t>
                      </a:r>
                      <a:endParaRPr lang="en-US" altLang="zh-CN" sz="2400" b="0" i="0" u="none" strike="noStrike" kern="1200" cap="none" spc="0" baseline="0">
                        <a:solidFill>
                          <a:srgbClr val="000000"/>
                        </a:solidFill>
                        <a:latin typeface="宋体" pitchFamily="0" charset="0"/>
                        <a:ea typeface="宋体" pitchFamily="0" charset="0"/>
                        <a:cs typeface="Calibri" pitchFamily="0" charset="0"/>
                      </a:endParaRPr>
                    </a:p>
                    <a:p>
                      <a:pPr marL="0" indent="0" algn="ctr" eaLnBrk="1" latinLnBrk="0" hangingPunct="1">
                        <a:lnSpc>
                          <a:spcPct val="100000"/>
                        </a:lnSpc>
                        <a:spcBef>
                          <a:spcPts val="0"/>
                        </a:spcBef>
                        <a:spcAft>
                          <a:spcPts val="0"/>
                        </a:spcAft>
                        <a:buNone/>
                      </a:pPr>
                      <a:endParaRPr lang="zh-CN" altLang="en-US" sz="24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9EFF7"/>
                    </a:solidFill>
                  </a:tcPr>
                </a:tc>
                <a:tc>
                  <a:txBody>
                    <a:bodyPr/>
                    <a:lstStyle/>
                    <a:p>
                      <a:pPr marL="0" indent="0" algn="ctr" eaLnBrk="1" latinLnBrk="0" hangingPunct="1">
                        <a:lnSpc>
                          <a:spcPct val="100000"/>
                        </a:lnSpc>
                        <a:spcBef>
                          <a:spcPts val="0"/>
                        </a:spcBef>
                        <a:spcAft>
                          <a:spcPts val="0"/>
                        </a:spcAft>
                        <a:buNone/>
                      </a:pPr>
                      <a:endParaRPr lang="en-US" altLang="zh-CN" sz="2400" b="0" i="0" u="none" strike="noStrike" kern="1200" cap="none" spc="0" baseline="0">
                        <a:solidFill>
                          <a:srgbClr val="000000"/>
                        </a:solidFill>
                        <a:latin typeface="宋体" pitchFamily="0" charset="0"/>
                        <a:ea typeface="宋体" pitchFamily="0" charset="0"/>
                        <a:cs typeface="Calibri" pitchFamily="0" charset="0"/>
                      </a:endParaRPr>
                    </a:p>
                    <a:p>
                      <a:pPr marL="0" indent="0" algn="ctr" eaLnBrk="1" latinLnBrk="0" hangingPunct="1">
                        <a:lnSpc>
                          <a:spcPct val="100000"/>
                        </a:lnSpc>
                        <a:spcBef>
                          <a:spcPts val="0"/>
                        </a:spcBef>
                        <a:spcAft>
                          <a:spcPts val="0"/>
                        </a:spcAft>
                        <a:buNone/>
                      </a:pPr>
                      <a:endParaRPr lang="en-US" altLang="zh-CN" sz="2400" b="0" i="0" u="none" strike="noStrike" kern="1200" cap="none" spc="0" baseline="0">
                        <a:solidFill>
                          <a:srgbClr val="000000"/>
                        </a:solidFill>
                        <a:latin typeface="宋体" pitchFamily="0" charset="0"/>
                        <a:ea typeface="宋体" pitchFamily="0" charset="0"/>
                        <a:cs typeface="Calibri" pitchFamily="0" charset="0"/>
                      </a:endParaRPr>
                    </a:p>
                    <a:p>
                      <a:pPr marL="0" indent="0" algn="ctr" eaLnBrk="1" latinLnBrk="0" hangingPunct="1">
                        <a:lnSpc>
                          <a:spcPct val="100000"/>
                        </a:lnSpc>
                        <a:spcBef>
                          <a:spcPts val="0"/>
                        </a:spcBef>
                        <a:spcAft>
                          <a:spcPts val="0"/>
                        </a:spcAft>
                        <a:buNone/>
                      </a:pPr>
                      <a:endParaRPr lang="en-US" altLang="zh-CN" sz="2400" b="0" i="0" u="none" strike="noStrike" kern="1200" cap="none" spc="0" baseline="0">
                        <a:solidFill>
                          <a:srgbClr val="000000"/>
                        </a:solidFill>
                        <a:latin typeface="宋体" pitchFamily="0" charset="0"/>
                        <a:ea typeface="宋体" pitchFamily="0" charset="0"/>
                        <a:cs typeface="Calibri" pitchFamily="0" charset="0"/>
                      </a:endParaRPr>
                    </a:p>
                    <a:p>
                      <a:pPr marL="0" indent="0" algn="ctr" eaLnBrk="1" latinLnBrk="0" hangingPunct="1">
                        <a:lnSpc>
                          <a:spcPct val="100000"/>
                        </a:lnSpc>
                        <a:spcBef>
                          <a:spcPts val="0"/>
                        </a:spcBef>
                        <a:spcAft>
                          <a:spcPts val="0"/>
                        </a:spcAft>
                        <a:buNone/>
                      </a:pPr>
                      <a:endParaRPr lang="en-US" altLang="zh-CN" sz="2400" b="0" i="0" u="none" strike="noStrike" kern="1200" cap="none" spc="0" baseline="0">
                        <a:solidFill>
                          <a:srgbClr val="000000"/>
                        </a:solidFill>
                        <a:latin typeface="宋体" pitchFamily="0" charset="0"/>
                        <a:ea typeface="宋体" pitchFamily="0" charset="0"/>
                        <a:cs typeface="Calibri" pitchFamily="0" charset="0"/>
                      </a:endParaRPr>
                    </a:p>
                    <a:p>
                      <a:pPr marL="0" indent="0" algn="ctr" eaLnBrk="1" latinLnBrk="0" hangingPunct="1">
                        <a:lnSpc>
                          <a:spcPct val="100000"/>
                        </a:lnSpc>
                        <a:spcBef>
                          <a:spcPts val="0"/>
                        </a:spcBef>
                        <a:spcAft>
                          <a:spcPts val="0"/>
                        </a:spcAft>
                        <a:buNone/>
                      </a:pPr>
                      <a:endParaRPr lang="en-US" altLang="zh-CN" sz="2400" b="0" i="0" u="none" strike="noStrike" kern="1200" cap="none" spc="0" baseline="0">
                        <a:solidFill>
                          <a:srgbClr val="000000"/>
                        </a:solidFill>
                        <a:latin typeface="宋体" pitchFamily="0" charset="0"/>
                        <a:ea typeface="宋体" pitchFamily="0" charset="0"/>
                        <a:cs typeface="Calibri" pitchFamily="0" charset="0"/>
                      </a:endParaRPr>
                    </a:p>
                    <a:p>
                      <a:pPr marL="0" indent="0" algn="ctr" eaLnBrk="1" latinLnBrk="0" hangingPunct="1">
                        <a:lnSpc>
                          <a:spcPct val="100000"/>
                        </a:lnSpc>
                        <a:spcBef>
                          <a:spcPts val="0"/>
                        </a:spcBef>
                        <a:spcAft>
                          <a:spcPts val="0"/>
                        </a:spcAft>
                        <a:buNone/>
                      </a:pPr>
                      <a:r>
                        <a:rPr lang="zh-CN" altLang="en-US" sz="2400" b="0" i="0" u="none" strike="noStrike" kern="1200" cap="none" spc="0" baseline="0">
                          <a:solidFill>
                            <a:srgbClr val="000000"/>
                          </a:solidFill>
                          <a:latin typeface="宋体" pitchFamily="0" charset="0"/>
                          <a:ea typeface="宋体" pitchFamily="0" charset="0"/>
                          <a:cs typeface="Calibri" pitchFamily="0" charset="0"/>
                        </a:rPr>
                        <a:t>低通滤波器</a:t>
                      </a:r>
                      <a:endParaRPr lang="zh-CN" altLang="en-US" sz="24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9EFF7"/>
                    </a:solidFill>
                  </a:tcPr>
                </a:tc>
                <a:tc>
                  <a:txBody>
                    <a:bodyPr/>
                    <a:lstStyle/>
                    <a:p>
                      <a:pPr marL="0" indent="0" algn="ctr" eaLnBrk="1" latinLnBrk="0" hangingPunct="1">
                        <a:lnSpc>
                          <a:spcPct val="100000"/>
                        </a:lnSpc>
                        <a:spcBef>
                          <a:spcPts val="0"/>
                        </a:spcBef>
                        <a:spcAft>
                          <a:spcPts val="0"/>
                        </a:spcAft>
                        <a:buNone/>
                      </a:pPr>
                      <a:endParaRPr lang="en-US" altLang="zh-CN" sz="2400" b="0" i="0" u="none" strike="noStrike" kern="1200" cap="none" spc="0" baseline="0">
                        <a:solidFill>
                          <a:srgbClr val="000000"/>
                        </a:solidFill>
                        <a:latin typeface="宋体" pitchFamily="0" charset="0"/>
                        <a:ea typeface="宋体" pitchFamily="0" charset="0"/>
                        <a:cs typeface="Calibri" pitchFamily="0" charset="0"/>
                      </a:endParaRPr>
                    </a:p>
                    <a:p>
                      <a:pPr marL="0" indent="0" algn="ctr" eaLnBrk="1" latinLnBrk="0" hangingPunct="1">
                        <a:lnSpc>
                          <a:spcPct val="100000"/>
                        </a:lnSpc>
                        <a:spcBef>
                          <a:spcPts val="0"/>
                        </a:spcBef>
                        <a:spcAft>
                          <a:spcPts val="0"/>
                        </a:spcAft>
                        <a:buNone/>
                      </a:pPr>
                      <a:endParaRPr lang="en-US" altLang="zh-CN" sz="2400" b="0" i="0" u="none" strike="noStrike" kern="1200" cap="none" spc="0" baseline="0">
                        <a:solidFill>
                          <a:srgbClr val="000000"/>
                        </a:solidFill>
                        <a:latin typeface="宋体" pitchFamily="0" charset="0"/>
                        <a:ea typeface="宋体" pitchFamily="0" charset="0"/>
                        <a:cs typeface="Calibri" pitchFamily="0" charset="0"/>
                      </a:endParaRPr>
                    </a:p>
                    <a:p>
                      <a:pPr marL="0" indent="0" algn="ctr" eaLnBrk="1" latinLnBrk="0" hangingPunct="1">
                        <a:lnSpc>
                          <a:spcPct val="100000"/>
                        </a:lnSpc>
                        <a:spcBef>
                          <a:spcPts val="0"/>
                        </a:spcBef>
                        <a:spcAft>
                          <a:spcPts val="0"/>
                        </a:spcAft>
                        <a:buNone/>
                      </a:pPr>
                      <a:endParaRPr lang="en-US" altLang="zh-CN" sz="2400" b="0" i="0" u="none" strike="noStrike" kern="1200" cap="none" spc="0" baseline="0">
                        <a:solidFill>
                          <a:srgbClr val="000000"/>
                        </a:solidFill>
                        <a:latin typeface="宋体" pitchFamily="0" charset="0"/>
                        <a:ea typeface="宋体" pitchFamily="0" charset="0"/>
                        <a:cs typeface="Calibri" pitchFamily="0" charset="0"/>
                      </a:endParaRPr>
                    </a:p>
                    <a:p>
                      <a:pPr marL="0" indent="0" algn="ctr" eaLnBrk="1" latinLnBrk="0" hangingPunct="1">
                        <a:lnSpc>
                          <a:spcPct val="100000"/>
                        </a:lnSpc>
                        <a:spcBef>
                          <a:spcPts val="0"/>
                        </a:spcBef>
                        <a:spcAft>
                          <a:spcPts val="0"/>
                        </a:spcAft>
                        <a:buNone/>
                      </a:pPr>
                      <a:endParaRPr lang="en-US" altLang="zh-CN" sz="2400" b="0" i="0" u="none" strike="noStrike" kern="1200" cap="none" spc="0" baseline="0">
                        <a:solidFill>
                          <a:srgbClr val="000000"/>
                        </a:solidFill>
                        <a:latin typeface="宋体" pitchFamily="0" charset="0"/>
                        <a:ea typeface="宋体" pitchFamily="0" charset="0"/>
                        <a:cs typeface="Calibri" pitchFamily="0" charset="0"/>
                      </a:endParaRPr>
                    </a:p>
                    <a:p>
                      <a:pPr marL="0" indent="0" algn="ctr" eaLnBrk="1" latinLnBrk="0" hangingPunct="1">
                        <a:lnSpc>
                          <a:spcPct val="100000"/>
                        </a:lnSpc>
                        <a:spcBef>
                          <a:spcPts val="0"/>
                        </a:spcBef>
                        <a:spcAft>
                          <a:spcPts val="0"/>
                        </a:spcAft>
                        <a:buNone/>
                      </a:pPr>
                      <a:endParaRPr lang="en-US" altLang="zh-CN" sz="2400" b="0" i="0" u="none" strike="noStrike" kern="1200" cap="none" spc="0" baseline="0">
                        <a:solidFill>
                          <a:srgbClr val="000000"/>
                        </a:solidFill>
                        <a:latin typeface="宋体" pitchFamily="0" charset="0"/>
                        <a:ea typeface="宋体" pitchFamily="0" charset="0"/>
                        <a:cs typeface="Calibri" pitchFamily="0" charset="0"/>
                      </a:endParaRPr>
                    </a:p>
                    <a:p>
                      <a:pPr marL="0" indent="0" algn="ctr" eaLnBrk="1" latinLnBrk="0" hangingPunct="1">
                        <a:lnSpc>
                          <a:spcPct val="100000"/>
                        </a:lnSpc>
                        <a:spcBef>
                          <a:spcPts val="0"/>
                        </a:spcBef>
                        <a:spcAft>
                          <a:spcPts val="0"/>
                        </a:spcAft>
                        <a:buNone/>
                      </a:pPr>
                      <a:r>
                        <a:rPr lang="zh-CN" altLang="en-US" sz="2400" b="0" i="0" u="none" strike="noStrike" kern="1200" cap="none" spc="0" baseline="0">
                          <a:solidFill>
                            <a:srgbClr val="000000"/>
                          </a:solidFill>
                          <a:latin typeface="宋体" pitchFamily="0" charset="0"/>
                          <a:ea typeface="宋体" pitchFamily="0" charset="0"/>
                          <a:cs typeface="Calibri" pitchFamily="0" charset="0"/>
                        </a:rPr>
                        <a:t>高通滤波器</a:t>
                      </a:r>
                      <a:endParaRPr lang="zh-CN" altLang="en-US" sz="24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9EFF7"/>
                    </a:solidFill>
                  </a:tcPr>
                </a:tc>
              </a:tr>
              <a:tr h="370831">
                <a:tc>
                  <a:txBody>
                    <a:bodyPr/>
                    <a:lstStyle/>
                    <a:p>
                      <a:pPr marL="0" indent="0" algn="ctr" eaLnBrk="1" latinLnBrk="0" hangingPunct="1">
                        <a:lnSpc>
                          <a:spcPct val="100000"/>
                        </a:lnSpc>
                        <a:spcBef>
                          <a:spcPts val="0"/>
                        </a:spcBef>
                        <a:spcAft>
                          <a:spcPts val="0"/>
                        </a:spcAft>
                        <a:buNone/>
                      </a:pPr>
                      <a:r>
                        <a:rPr lang="zh-CN" altLang="en-US" sz="2400" b="0" i="0" u="none" strike="noStrike" kern="1200" cap="none" spc="0" baseline="0">
                          <a:solidFill>
                            <a:srgbClr val="000000"/>
                          </a:solidFill>
                          <a:latin typeface="宋体" pitchFamily="0" charset="0"/>
                          <a:ea typeface="宋体" pitchFamily="0" charset="0"/>
                          <a:cs typeface="Calibri" pitchFamily="0" charset="0"/>
                        </a:rPr>
                        <a:t>作用</a:t>
                      </a:r>
                      <a:endParaRPr lang="zh-CN" altLang="en-US" sz="24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EEF"/>
                    </a:solidFill>
                  </a:tcPr>
                </a:tc>
                <a:tc>
                  <a:txBody>
                    <a:bodyPr/>
                    <a:lstStyle/>
                    <a:p>
                      <a:pPr marL="0" indent="0" algn="ctr" eaLnBrk="1" latinLnBrk="0" hangingPunct="1">
                        <a:lnSpc>
                          <a:spcPct val="100000"/>
                        </a:lnSpc>
                        <a:spcBef>
                          <a:spcPts val="0"/>
                        </a:spcBef>
                        <a:spcAft>
                          <a:spcPts val="0"/>
                        </a:spcAft>
                        <a:buNone/>
                      </a:pPr>
                      <a:r>
                        <a:rPr lang="zh-CN" altLang="en-US" sz="2400" b="0" i="0" u="none" strike="noStrike" kern="1200" cap="none" spc="0" baseline="0">
                          <a:solidFill>
                            <a:srgbClr val="000000"/>
                          </a:solidFill>
                          <a:latin typeface="宋体" pitchFamily="0" charset="0"/>
                          <a:ea typeface="宋体" pitchFamily="0" charset="0"/>
                          <a:cs typeface="Calibri" pitchFamily="0" charset="0"/>
                        </a:rPr>
                        <a:t>模糊图像</a:t>
                      </a:r>
                      <a:endParaRPr lang="zh-CN" altLang="en-US" sz="24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EEF"/>
                    </a:solidFill>
                  </a:tcPr>
                </a:tc>
                <a:tc>
                  <a:txBody>
                    <a:bodyPr/>
                    <a:lstStyle/>
                    <a:p>
                      <a:pPr marL="0" indent="0" algn="ctr" eaLnBrk="1" latinLnBrk="0" hangingPunct="1">
                        <a:lnSpc>
                          <a:spcPct val="100000"/>
                        </a:lnSpc>
                        <a:spcBef>
                          <a:spcPts val="0"/>
                        </a:spcBef>
                        <a:spcAft>
                          <a:spcPts val="0"/>
                        </a:spcAft>
                        <a:buNone/>
                      </a:pPr>
                      <a:r>
                        <a:rPr lang="zh-CN" altLang="en-US" sz="2400" b="0" i="0" u="none" strike="noStrike" kern="1200" cap="none" spc="0" baseline="0">
                          <a:solidFill>
                            <a:srgbClr val="000000"/>
                          </a:solidFill>
                          <a:latin typeface="宋体" pitchFamily="0" charset="0"/>
                          <a:ea typeface="宋体" pitchFamily="0" charset="0"/>
                          <a:cs typeface="Calibri" pitchFamily="0" charset="0"/>
                        </a:rPr>
                        <a:t>锐化图像</a:t>
                      </a:r>
                      <a:endParaRPr lang="zh-CN" altLang="en-US" sz="24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EEF"/>
                    </a:solidFill>
                  </a:tcPr>
                </a:tc>
              </a:tr>
            </a:tbl>
          </a:graphicData>
        </a:graphic>
      </p:graphicFrame>
      <p:pic>
        <p:nvPicPr>
          <p:cNvPr id="182" name="图片"/>
          <p:cNvPicPr>
            <a:picLocks noChangeAspect="1"/>
          </p:cNvPicPr>
          <p:nvPr/>
        </p:nvPicPr>
        <p:blipFill>
          <a:blip r:embed="rId2" cstate="print"/>
          <a:stretch>
            <a:fillRect/>
          </a:stretch>
        </p:blipFill>
        <p:spPr>
          <a:xfrm rot="0">
            <a:off x="3767826" y="3561172"/>
            <a:ext cx="1718838" cy="1347787"/>
          </a:xfrm>
          <a:prstGeom prst="rect"/>
          <a:noFill/>
          <a:ln w="12700" cmpd="sng" cap="flat">
            <a:noFill/>
            <a:prstDash val="solid"/>
            <a:miter/>
          </a:ln>
        </p:spPr>
      </p:pic>
      <p:pic>
        <p:nvPicPr>
          <p:cNvPr id="183" name="图片"/>
          <p:cNvPicPr>
            <a:picLocks noChangeAspect="1"/>
          </p:cNvPicPr>
          <p:nvPr/>
        </p:nvPicPr>
        <p:blipFill>
          <a:blip r:embed="rId3" cstate="print"/>
          <a:stretch>
            <a:fillRect/>
          </a:stretch>
        </p:blipFill>
        <p:spPr>
          <a:xfrm rot="0">
            <a:off x="6130120" y="3561172"/>
            <a:ext cx="1722015" cy="1363028"/>
          </a:xfrm>
          <a:prstGeom prst="rect"/>
          <a:noFill/>
          <a:ln w="12700" cmpd="sng" cap="flat">
            <a:noFill/>
            <a:prstDash val="solid"/>
            <a:miter/>
          </a:ln>
        </p:spPr>
      </p:pic>
      <p:sp>
        <p:nvSpPr>
          <p:cNvPr id="184" name="矩形"/>
          <p:cNvSpPr>
            <a:spLocks/>
          </p:cNvSpPr>
          <p:nvPr/>
        </p:nvSpPr>
        <p:spPr>
          <a:xfrm rot="0">
            <a:off x="688490" y="6138247"/>
            <a:ext cx="8455510" cy="45338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400" b="0" i="0" u="none" strike="noStrike" kern="1200" cap="none" spc="0" baseline="0">
                <a:solidFill>
                  <a:schemeClr val="tx1"/>
                </a:solidFill>
                <a:latin typeface="宋体" pitchFamily="0" charset="0"/>
                <a:ea typeface="宋体" pitchFamily="0" charset="0"/>
                <a:cs typeface="Calibri" pitchFamily="0" charset="0"/>
              </a:rPr>
              <a:t>其它基本概念：周期噪声、带通滤波、带阻滤波、陷波滤波</a:t>
            </a:r>
            <a:endParaRPr lang="zh-CN" altLang="en-US" sz="2400" b="0" i="0" u="none" strike="noStrike" kern="1200" cap="none" spc="0" baseline="0">
              <a:solidFill>
                <a:schemeClr val="tx1"/>
              </a:solidFill>
              <a:latin typeface="宋体" pitchFamily="0" charset="0"/>
              <a:ea typeface="宋体" pitchFamily="0" charset="0"/>
              <a:cs typeface="Calibri" pitchFamily="0" charset="0"/>
            </a:endParaRPr>
          </a:p>
        </p:txBody>
      </p:sp>
    </p:spTree>
    <p:extLst>
      <p:ext uri="{BB962C8B-B14F-4D97-AF65-F5344CB8AC3E}">
        <p14:creationId xmlns:p14="http://schemas.microsoft.com/office/powerpoint/2010/main" val="2062097833"/>
      </p:ext>
    </p:extLst>
  </p:cSld>
  <p:clrMapOvr>
    <a:masterClrMapping/>
  </p:clrMapOvr>
</p:sld>
</file>

<file path=ppt/slides/slide1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188"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189"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190"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数字图像处理</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191" name="直线"/>
          <p:cNvSpPr>
            <a:spLocks/>
          </p:cNvSpPr>
          <p:nvPr/>
        </p:nvSpPr>
        <p:spPr>
          <a:xfrm rot="0">
            <a:off x="3009712" y="525055"/>
            <a:ext cx="1749287" cy="0"/>
          </a:xfrm>
          <a:prstGeom prst="line"/>
          <a:noFill/>
          <a:ln w="6350" cmpd="sng" cap="flat">
            <a:solidFill>
              <a:srgbClr val="000000"/>
            </a:solidFill>
            <a:prstDash val="solid"/>
            <a:round/>
          </a:ln>
        </p:spPr>
      </p:sp>
      <p:sp>
        <p:nvSpPr>
          <p:cNvPr id="192"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193"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Processing</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194" name="矩形"/>
          <p:cNvSpPr>
            <a:spLocks/>
          </p:cNvSpPr>
          <p:nvPr/>
        </p:nvSpPr>
        <p:spPr>
          <a:xfrm rot="0">
            <a:off x="1919329" y="3168761"/>
            <a:ext cx="5419725" cy="996315"/>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6000" b="0" i="0" u="none" strike="noStrike" kern="1200" cap="none" spc="0" baseline="0">
                <a:solidFill>
                  <a:srgbClr val="1F4E79"/>
                </a:solidFill>
                <a:latin typeface="SimHei" pitchFamily="0" charset="-122"/>
                <a:ea typeface="SimHei" pitchFamily="0" charset="-122"/>
                <a:cs typeface="SimHei" pitchFamily="0" charset="-122"/>
              </a:rPr>
              <a:t>图像复原与重建</a:t>
            </a:r>
            <a:endParaRPr lang="zh-CN" altLang="en-US" sz="6000" b="0" i="0" u="none" strike="noStrike" kern="1200" cap="none" spc="0" baseline="0">
              <a:solidFill>
                <a:srgbClr val="1F4E79"/>
              </a:solidFill>
              <a:latin typeface="SimHei" pitchFamily="0" charset="-122"/>
              <a:ea typeface="SimHei" pitchFamily="0" charset="-122"/>
              <a:cs typeface="SimHei" pitchFamily="0" charset="-122"/>
            </a:endParaRPr>
          </a:p>
        </p:txBody>
      </p:sp>
    </p:spTree>
    <p:extLst>
      <p:ext uri="{BB962C8B-B14F-4D97-AF65-F5344CB8AC3E}">
        <p14:creationId xmlns:p14="http://schemas.microsoft.com/office/powerpoint/2010/main" val="576960364"/>
      </p:ext>
    </p:extLst>
  </p:cSld>
  <p:clrMapOvr>
    <a:masterClrMapping/>
  </p:clrMapOvr>
</p:sld>
</file>

<file path=ppt/slides/slide1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198"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199"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200"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数字图像基础</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201" name="直线"/>
          <p:cNvSpPr>
            <a:spLocks/>
          </p:cNvSpPr>
          <p:nvPr/>
        </p:nvSpPr>
        <p:spPr>
          <a:xfrm rot="0">
            <a:off x="3009712" y="525055"/>
            <a:ext cx="1749287" cy="0"/>
          </a:xfrm>
          <a:prstGeom prst="line"/>
          <a:noFill/>
          <a:ln w="6350" cmpd="sng" cap="flat">
            <a:solidFill>
              <a:srgbClr val="000000"/>
            </a:solidFill>
            <a:prstDash val="solid"/>
            <a:round/>
          </a:ln>
        </p:spPr>
      </p:sp>
      <p:sp>
        <p:nvSpPr>
          <p:cNvPr id="202"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203"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Fundamentals</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204" name="矩形"/>
          <p:cNvSpPr>
            <a:spLocks/>
          </p:cNvSpPr>
          <p:nvPr/>
        </p:nvSpPr>
        <p:spPr>
          <a:xfrm rot="0">
            <a:off x="400050" y="1341119"/>
            <a:ext cx="8161021" cy="5663565"/>
          </a:xfrm>
          <a:prstGeom prst="rect"/>
          <a:noFill/>
          <a:ln w="12700" cmpd="sng" cap="flat">
            <a:noFill/>
            <a:prstDash val="solid"/>
            <a:miter/>
          </a:ln>
        </p:spPr>
        <p:txBody>
          <a:bodyPr vert="horz" wrap="square" lIns="91440" tIns="45720" rIns="91440" bIns="45720" anchor="t" anchorCtr="0">
            <a:prstTxWarp prst="textNoShape"/>
            <a:spAutoFit/>
          </a:bodyPr>
          <a:lstStyle/>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图像退化</a:t>
            </a:r>
            <a:r>
              <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a:t>
            </a: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复原模型</a:t>
            </a: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r>
              <a:rPr lang="zh-CN" altLang="en-US"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rPr>
              <a:t>噪声模型</a:t>
            </a: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：高斯噪声、瑞利噪声、伽马噪声、指数噪声、均值噪声、椒盐噪声</a:t>
            </a: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r>
              <a:rPr lang="zh-CN" altLang="en-US"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rPr>
              <a:t>噪声复原</a:t>
            </a: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：均值滤波器、统计排序滤波器、自适应滤波器</a:t>
            </a: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p:txBody>
      </p:sp>
      <p:grpSp>
        <p:nvGrpSpPr>
          <p:cNvPr id="212" name="组合"/>
          <p:cNvGrpSpPr>
            <a:grpSpLocks/>
          </p:cNvGrpSpPr>
          <p:nvPr/>
        </p:nvGrpSpPr>
        <p:grpSpPr>
          <a:xfrm>
            <a:off x="1377950" y="1959610"/>
            <a:ext cx="6498591" cy="2286198"/>
            <a:chOff x="1377950" y="1959610"/>
            <a:chExt cx="6498591" cy="2286198"/>
          </a:xfrm>
        </p:grpSpPr>
        <p:pic>
          <p:nvPicPr>
            <p:cNvPr id="205" name="图片"/>
            <p:cNvPicPr>
              <a:picLocks noChangeAspect="1"/>
            </p:cNvPicPr>
            <p:nvPr/>
          </p:nvPicPr>
          <p:blipFill>
            <a:blip r:embed="rId2" cstate="print"/>
            <a:stretch>
              <a:fillRect/>
            </a:stretch>
          </p:blipFill>
          <p:spPr>
            <a:xfrm rot="0">
              <a:off x="1377950" y="1959610"/>
              <a:ext cx="6498591" cy="2286198"/>
            </a:xfrm>
            <a:prstGeom prst="rect"/>
            <a:noFill/>
            <a:ln w="12700" cmpd="sng" cap="flat">
              <a:noFill/>
              <a:prstDash val="solid"/>
              <a:miter/>
            </a:ln>
          </p:spPr>
        </p:pic>
        <p:grpSp>
          <p:nvGrpSpPr>
            <p:cNvPr id="211" name="组合"/>
            <p:cNvGrpSpPr>
              <a:grpSpLocks/>
            </p:cNvGrpSpPr>
            <p:nvPr/>
          </p:nvGrpSpPr>
          <p:grpSpPr>
            <a:xfrm>
              <a:off x="2531010" y="2458115"/>
              <a:ext cx="4487020" cy="1660996"/>
              <a:chOff x="2531010" y="2458115"/>
              <a:chExt cx="4487020" cy="1660996"/>
            </a:xfrm>
          </p:grpSpPr>
          <p:sp>
            <p:nvSpPr>
              <p:cNvPr id="206" name="矩形"/>
              <p:cNvSpPr>
                <a:spLocks/>
              </p:cNvSpPr>
              <p:nvPr/>
            </p:nvSpPr>
            <p:spPr>
              <a:xfrm rot="0">
                <a:off x="3061768" y="3665721"/>
                <a:ext cx="1606979" cy="453390"/>
              </a:xfrm>
              <a:prstGeom prst="rect"/>
              <a:solidFill>
                <a:schemeClr val="bg1"/>
              </a:solidFill>
              <a:ln w="12700" cmpd="sng" cap="flat">
                <a:no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2400" b="1" i="0" u="none" strike="noStrike" kern="1200" cap="none" spc="0" baseline="0">
                    <a:solidFill>
                      <a:schemeClr val="tx1"/>
                    </a:solidFill>
                    <a:latin typeface="Times New Roman" pitchFamily="0" charset="0"/>
                    <a:ea typeface="Songti SC Bold" pitchFamily="0" charset="-122"/>
                    <a:cs typeface="Calibri" pitchFamily="0" charset="0"/>
                  </a:rPr>
                  <a:t>图像退化</a:t>
                </a:r>
                <a:endParaRPr lang="zh-CN" altLang="en-US" sz="2400" b="1" i="0" u="none" strike="noStrike" kern="1200" cap="none" spc="0" baseline="0">
                  <a:solidFill>
                    <a:schemeClr val="tx1"/>
                  </a:solidFill>
                  <a:latin typeface="Times New Roman" pitchFamily="0" charset="0"/>
                  <a:ea typeface="Songti SC Bold" pitchFamily="0" charset="-122"/>
                  <a:cs typeface="Calibri" pitchFamily="0" charset="0"/>
                </a:endParaRPr>
              </a:p>
            </p:txBody>
          </p:sp>
          <p:sp>
            <p:nvSpPr>
              <p:cNvPr id="207" name="矩形"/>
              <p:cNvSpPr>
                <a:spLocks/>
              </p:cNvSpPr>
              <p:nvPr/>
            </p:nvSpPr>
            <p:spPr>
              <a:xfrm rot="0">
                <a:off x="5529630" y="3665721"/>
                <a:ext cx="1488400" cy="453390"/>
              </a:xfrm>
              <a:prstGeom prst="rect"/>
              <a:solidFill>
                <a:schemeClr val="bg1"/>
              </a:solidFill>
              <a:ln w="12700" cmpd="sng" cap="flat">
                <a:no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2400" b="1" i="0" u="none" strike="noStrike" kern="1200" cap="none" spc="0" baseline="0">
                    <a:solidFill>
                      <a:schemeClr val="tx1"/>
                    </a:solidFill>
                    <a:latin typeface="Times New Roman" pitchFamily="0" charset="0"/>
                    <a:ea typeface="Songti SC Bold" pitchFamily="0" charset="-122"/>
                    <a:cs typeface="Calibri" pitchFamily="0" charset="0"/>
                  </a:rPr>
                  <a:t>图像复原</a:t>
                </a:r>
                <a:endParaRPr lang="zh-CN" altLang="en-US" sz="2400" b="1" i="0" u="none" strike="noStrike" kern="1200" cap="none" spc="0" baseline="0">
                  <a:solidFill>
                    <a:schemeClr val="tx1"/>
                  </a:solidFill>
                  <a:latin typeface="Times New Roman" pitchFamily="0" charset="0"/>
                  <a:ea typeface="Songti SC Bold" pitchFamily="0" charset="-122"/>
                  <a:cs typeface="Calibri" pitchFamily="0" charset="0"/>
                </a:endParaRPr>
              </a:p>
            </p:txBody>
          </p:sp>
          <p:sp>
            <p:nvSpPr>
              <p:cNvPr id="208" name="矩形"/>
              <p:cNvSpPr>
                <a:spLocks/>
              </p:cNvSpPr>
              <p:nvPr/>
            </p:nvSpPr>
            <p:spPr>
              <a:xfrm rot="0">
                <a:off x="2531010" y="2551081"/>
                <a:ext cx="1083335" cy="510540"/>
              </a:xfrm>
              <a:prstGeom prst="rect"/>
              <a:solidFill>
                <a:schemeClr val="bg1"/>
              </a:solidFill>
              <a:ln w="12700" cmpd="sng" cap="flat">
                <a:no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1400" b="0" i="0" u="none" strike="noStrike" kern="1200" cap="none" spc="0" baseline="0">
                    <a:solidFill>
                      <a:schemeClr val="tx1"/>
                    </a:solidFill>
                    <a:latin typeface="Times New Roman" pitchFamily="0" charset="0"/>
                    <a:ea typeface="Songti SC" pitchFamily="0" charset="-122"/>
                    <a:cs typeface="Calibri" pitchFamily="0" charset="0"/>
                  </a:rPr>
                  <a:t>退化函数</a:t>
                </a:r>
                <a:endParaRPr lang="en-US" altLang="zh-CN" sz="1400" b="0" i="0" u="none" strike="noStrike" kern="1200" cap="none" spc="0" baseline="0">
                  <a:solidFill>
                    <a:schemeClr val="tx1"/>
                  </a:solidFill>
                  <a:latin typeface="Times New Roman" pitchFamily="0" charset="0"/>
                  <a:ea typeface="Songti SC" pitchFamily="0" charset="-122"/>
                  <a:cs typeface="Calibri" pitchFamily="0" charset="0"/>
                </a:endParaRPr>
              </a:p>
              <a:p>
                <a:pPr marL="0" indent="0" algn="ctr">
                  <a:lnSpc>
                    <a:spcPct val="100000"/>
                  </a:lnSpc>
                  <a:spcBef>
                    <a:spcPts val="0"/>
                  </a:spcBef>
                  <a:spcAft>
                    <a:spcPts val="0"/>
                  </a:spcAft>
                  <a:buNone/>
                </a:pPr>
                <a:endParaRPr lang="zh-CN" altLang="en-US" sz="1400" b="0" i="0" u="none" strike="noStrike" kern="1200" cap="none" spc="0" baseline="0">
                  <a:solidFill>
                    <a:schemeClr val="tx1"/>
                  </a:solidFill>
                  <a:latin typeface="Times New Roman" pitchFamily="0" charset="0"/>
                  <a:ea typeface="Songti SC" pitchFamily="0" charset="-122"/>
                  <a:cs typeface="Calibri" pitchFamily="0" charset="0"/>
                </a:endParaRPr>
              </a:p>
            </p:txBody>
          </p:sp>
          <p:sp>
            <p:nvSpPr>
              <p:cNvPr id="209" name="矩形"/>
              <p:cNvSpPr>
                <a:spLocks/>
              </p:cNvSpPr>
              <p:nvPr/>
            </p:nvSpPr>
            <p:spPr>
              <a:xfrm rot="0">
                <a:off x="5806630" y="2458115"/>
                <a:ext cx="933925" cy="567690"/>
              </a:xfrm>
              <a:prstGeom prst="rect"/>
              <a:solidFill>
                <a:schemeClr val="bg1"/>
              </a:solidFill>
              <a:ln w="12700" cmpd="sng" cap="flat">
                <a:no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1600" b="0" i="0" u="none" strike="noStrike" kern="1200" cap="none" spc="0" baseline="0">
                    <a:solidFill>
                      <a:schemeClr val="tx1"/>
                    </a:solidFill>
                    <a:latin typeface="Times New Roman" pitchFamily="0" charset="0"/>
                    <a:ea typeface="Songti SC" pitchFamily="0" charset="-122"/>
                    <a:cs typeface="Calibri" pitchFamily="0" charset="0"/>
                  </a:rPr>
                  <a:t>复原滤波器</a:t>
                </a:r>
                <a:endParaRPr lang="zh-CN" altLang="en-US" sz="1600" b="0" i="0" u="none" strike="noStrike" kern="1200" cap="none" spc="0" baseline="0">
                  <a:solidFill>
                    <a:schemeClr val="tx1"/>
                  </a:solidFill>
                  <a:latin typeface="Times New Roman" pitchFamily="0" charset="0"/>
                  <a:ea typeface="Songti SC" pitchFamily="0" charset="-122"/>
                  <a:cs typeface="Calibri" pitchFamily="0" charset="0"/>
                </a:endParaRPr>
              </a:p>
            </p:txBody>
          </p:sp>
          <p:sp>
            <p:nvSpPr>
              <p:cNvPr id="210" name="矩形"/>
              <p:cNvSpPr>
                <a:spLocks/>
              </p:cNvSpPr>
              <p:nvPr/>
            </p:nvSpPr>
            <p:spPr>
              <a:xfrm rot="0">
                <a:off x="4734677" y="2904919"/>
                <a:ext cx="613763" cy="329564"/>
              </a:xfrm>
              <a:prstGeom prst="rect"/>
              <a:solidFill>
                <a:schemeClr val="bg1"/>
              </a:solidFill>
              <a:ln w="12700" cmpd="sng" cap="flat">
                <a:no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1600" b="0" i="0" u="none" strike="noStrike" kern="1200" cap="none" spc="0" baseline="0">
                    <a:solidFill>
                      <a:schemeClr val="tx1"/>
                    </a:solidFill>
                    <a:latin typeface="Times New Roman" pitchFamily="0" charset="0"/>
                    <a:ea typeface="Songti SC" pitchFamily="0" charset="-122"/>
                    <a:cs typeface="Calibri" pitchFamily="0" charset="0"/>
                  </a:rPr>
                  <a:t>噪声</a:t>
                </a:r>
                <a:endParaRPr lang="zh-CN" altLang="en-US" sz="1600" b="0" i="0" u="none" strike="noStrike" kern="1200" cap="none" spc="0" baseline="0">
                  <a:solidFill>
                    <a:schemeClr val="tx1"/>
                  </a:solidFill>
                  <a:latin typeface="Times New Roman" pitchFamily="0" charset="0"/>
                  <a:ea typeface="Songti SC" pitchFamily="0" charset="-122"/>
                  <a:cs typeface="Calibri" pitchFamily="0" charset="0"/>
                </a:endParaRPr>
              </a:p>
            </p:txBody>
          </p:sp>
        </p:grpSp>
      </p:grpSp>
    </p:spTree>
    <p:extLst>
      <p:ext uri="{BB962C8B-B14F-4D97-AF65-F5344CB8AC3E}">
        <p14:creationId xmlns:p14="http://schemas.microsoft.com/office/powerpoint/2010/main" val="910137819"/>
      </p:ext>
    </p:extLst>
  </p:cSld>
  <p:clrMapOvr>
    <a:masterClrMapping/>
  </p:clrMapOvr>
</p:sld>
</file>

<file path=ppt/slides/slide1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216"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217"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218"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数字图像基础</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219" name="直线"/>
          <p:cNvSpPr>
            <a:spLocks/>
          </p:cNvSpPr>
          <p:nvPr/>
        </p:nvSpPr>
        <p:spPr>
          <a:xfrm rot="0">
            <a:off x="3009712" y="525055"/>
            <a:ext cx="1749287" cy="0"/>
          </a:xfrm>
          <a:prstGeom prst="line"/>
          <a:noFill/>
          <a:ln w="6350" cmpd="sng" cap="flat">
            <a:solidFill>
              <a:srgbClr val="000000"/>
            </a:solidFill>
            <a:prstDash val="solid"/>
            <a:round/>
          </a:ln>
        </p:spPr>
      </p:sp>
      <p:sp>
        <p:nvSpPr>
          <p:cNvPr id="220"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221"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Fundamentals</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222" name="矩形"/>
          <p:cNvSpPr>
            <a:spLocks/>
          </p:cNvSpPr>
          <p:nvPr/>
        </p:nvSpPr>
        <p:spPr>
          <a:xfrm rot="0">
            <a:off x="400050" y="1341119"/>
            <a:ext cx="8161021" cy="5663564"/>
          </a:xfrm>
          <a:prstGeom prst="rect"/>
          <a:noFill/>
          <a:ln w="12700" cmpd="sng" cap="flat">
            <a:noFill/>
            <a:prstDash val="solid"/>
            <a:miter/>
          </a:ln>
        </p:spPr>
        <p:txBody>
          <a:bodyPr vert="horz" wrap="square" lIns="91440" tIns="45720" rIns="91440" bIns="45720" anchor="t" anchorCtr="0">
            <a:prstTxWarp prst="textNoShape"/>
            <a:spAutoFit/>
          </a:bodyPr>
          <a:lstStyle/>
          <a:p>
            <a:pPr marL="342900" indent="-342900" algn="l" fontAlgn="auto">
              <a:lnSpc>
                <a:spcPct val="100000"/>
              </a:lnSpc>
              <a:spcBef>
                <a:spcPts val="0"/>
              </a:spcBef>
              <a:spcAft>
                <a:spcPts val="0"/>
              </a:spcAft>
              <a:buFont typeface="Wingdings" pitchFamily="2" charset="2"/>
              <a:buChar char="n"/>
            </a:pPr>
            <a:r>
              <a:rPr lang="zh-CN" altLang="en-US"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rPr>
              <a:t>均值滤波器</a:t>
            </a:r>
            <a:endParaRPr lang="en-US" altLang="zh-CN"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lvl="1" marL="800100" indent="-342900" algn="l">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lvl="1" marL="800100" indent="-342900" algn="l">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p:txBody>
      </p:sp>
      <p:graphicFrame>
        <p:nvGraphicFramePr>
          <p:cNvPr id="223" name="表格"/>
          <p:cNvGraphicFramePr>
            <a:graphicFrameLocks noGrp="1"/>
          </p:cNvGraphicFramePr>
          <p:nvPr>
            <p:extLst>
              <p:ext uri="{D42A27DB-BD31-4B8C-83A1-F6EECF244321}"/>
            </p:extLst>
          </p:nvPr>
        </p:nvGraphicFramePr>
        <p:xfrm>
          <a:off x="318133" y="1940894"/>
          <a:ext cx="7808596" cy="2356786"/>
        </p:xfrm>
        <a:graphic>
          <a:graphicData uri="http://schemas.openxmlformats.org/drawingml/2006/table">
            <a:tbl>
              <a:tblPr bandRow="1">
                <a:noFill/>
              </a:tblPr>
              <a:tblGrid>
                <a:gridCol w="3904285"/>
                <a:gridCol w="3904285"/>
              </a:tblGrid>
              <a:tr h="392776">
                <a:tc>
                  <a:txBody>
                    <a:bodyPr/>
                    <a:lstStyle/>
                    <a:p>
                      <a:pPr marL="0" indent="0" algn="ctr" eaLnBrk="1" fontAlgn="auto" latinLnBrk="0" hangingPunct="1">
                        <a:lnSpc>
                          <a:spcPct val="100000"/>
                        </a:lnSpc>
                        <a:spcBef>
                          <a:spcPts val="0"/>
                        </a:spcBef>
                        <a:spcAft>
                          <a:spcPts val="0"/>
                        </a:spcAft>
                        <a:buNone/>
                      </a:pPr>
                      <a:r>
                        <a:rPr lang="zh-CN" altLang="en-US" sz="1800" b="1" i="0" u="none" strike="noStrike" kern="1200" cap="none" spc="0" baseline="0">
                          <a:solidFill>
                            <a:srgbClr val="FFFFFF"/>
                          </a:solidFill>
                          <a:latin typeface="Times New Roman" pitchFamily="0" charset="0"/>
                          <a:ea typeface="宋体" pitchFamily="0" charset="0"/>
                          <a:cs typeface="Times New Roman" pitchFamily="0" charset="0"/>
                          <a:sym typeface="等线" pitchFamily="0" charset="0"/>
                        </a:rPr>
                        <a:t>算术平均滤波器</a:t>
                      </a:r>
                      <a:endParaRPr lang="zh-CN" altLang="en-US" sz="1800" b="1" i="0" u="none" strike="noStrike" kern="1200" cap="none" spc="0" baseline="0">
                        <a:solidFill>
                          <a:srgbClr val="FFFFFF"/>
                        </a:solidFill>
                        <a:latin typeface="Times New Roman" pitchFamily="0" charset="0"/>
                        <a:ea typeface="宋体" pitchFamily="0" charset="0"/>
                        <a:cs typeface="Times New Roman" pitchFamily="0" charset="0"/>
                        <a:sym typeface="等线"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B9BD5"/>
                    </a:solidFill>
                  </a:tcPr>
                </a:tc>
                <a:tc>
                  <a:txBody>
                    <a:bodyPr/>
                    <a:lstStyle/>
                    <a:p>
                      <a:pPr marL="0" indent="0" algn="ctr" eaLnBrk="1" fontAlgn="auto" latinLnBrk="0" hangingPunct="1">
                        <a:lnSpc>
                          <a:spcPct val="100000"/>
                        </a:lnSpc>
                        <a:spcBef>
                          <a:spcPts val="0"/>
                        </a:spcBef>
                        <a:spcAft>
                          <a:spcPts val="0"/>
                        </a:spcAft>
                        <a:buNone/>
                      </a:pPr>
                      <a:r>
                        <a:rPr lang="zh-CN" altLang="en-US" sz="1800" b="1" i="0" u="none" strike="noStrike" kern="1200" cap="none" spc="0" baseline="0">
                          <a:solidFill>
                            <a:srgbClr val="FFFFFF"/>
                          </a:solidFill>
                          <a:latin typeface="Times New Roman" pitchFamily="0" charset="0"/>
                          <a:ea typeface="宋体" pitchFamily="0" charset="0"/>
                          <a:cs typeface="Times New Roman" pitchFamily="0" charset="0"/>
                          <a:sym typeface="等线" pitchFamily="0" charset="0"/>
                        </a:rPr>
                        <a:t>几何平均滤波器</a:t>
                      </a:r>
                      <a:endParaRPr lang="zh-CN" altLang="en-US" sz="1800" b="1" i="0" u="none" strike="noStrike" kern="1200" cap="none" spc="0" baseline="0">
                        <a:solidFill>
                          <a:srgbClr val="FFFFFF"/>
                        </a:solidFill>
                        <a:latin typeface="Times New Roman" pitchFamily="0" charset="0"/>
                        <a:ea typeface="宋体" pitchFamily="0" charset="0"/>
                        <a:cs typeface="Times New Roman" pitchFamily="0" charset="0"/>
                        <a:sym typeface="等线"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B9BD5"/>
                    </a:solidFill>
                  </a:tcPr>
                </a:tc>
              </a:tr>
              <a:tr h="1276587">
                <a:tc>
                  <a:txBody>
                    <a:bodyPr/>
                    <a:lstStyle/>
                    <a:p>
                      <a:pPr marL="0" indent="0" algn="ctr" eaLnBrk="1" latinLnBrk="0" hangingPunct="1">
                        <a:lnSpc>
                          <a:spcPct val="100000"/>
                        </a:lnSpc>
                        <a:spcBef>
                          <a:spcPts val="0"/>
                        </a:spcBef>
                        <a:spcAft>
                          <a:spcPts val="0"/>
                        </a:spcAft>
                        <a:buNone/>
                      </a:pPr>
                      <a:endParaRPr lang="en-US" altLang="zh-CN" sz="1800" b="0" i="0" u="none" strike="noStrike" kern="1200" cap="none" spc="0" baseline="0">
                        <a:solidFill>
                          <a:srgbClr val="000000"/>
                        </a:solidFill>
                        <a:latin typeface="Calibri" pitchFamily="0" charset="0"/>
                        <a:ea typeface="等线" pitchFamily="0" charset="0"/>
                        <a:cs typeface="Calibri" pitchFamily="0" charset="0"/>
                      </a:endParaRPr>
                    </a:p>
                    <a:p>
                      <a:pPr marL="0" indent="0" algn="ctr" eaLnBrk="1" latinLnBrk="0" hangingPunct="1">
                        <a:lnSpc>
                          <a:spcPct val="100000"/>
                        </a:lnSpc>
                        <a:spcBef>
                          <a:spcPts val="0"/>
                        </a:spcBef>
                        <a:spcAft>
                          <a:spcPts val="0"/>
                        </a:spcAft>
                        <a:buNone/>
                      </a:pPr>
                      <a:endParaRPr lang="en-US" altLang="zh-CN" sz="1800" b="0" i="0" u="none" strike="noStrike" kern="1200" cap="none" spc="0" baseline="0">
                        <a:solidFill>
                          <a:srgbClr val="000000"/>
                        </a:solidFill>
                        <a:latin typeface="Calibri" pitchFamily="0" charset="0"/>
                        <a:ea typeface="等线" pitchFamily="0" charset="0"/>
                        <a:cs typeface="Calibri" pitchFamily="0" charset="0"/>
                      </a:endParaRPr>
                    </a:p>
                    <a:p>
                      <a:pPr marL="0" indent="0" algn="ctr" eaLnBrk="1" latinLnBrk="0" hangingPunct="1">
                        <a:lnSpc>
                          <a:spcPct val="100000"/>
                        </a:lnSpc>
                        <a:spcBef>
                          <a:spcPts val="0"/>
                        </a:spcBef>
                        <a:spcAft>
                          <a:spcPts val="0"/>
                        </a:spcAft>
                        <a:buNone/>
                      </a:pPr>
                      <a:endParaRPr lang="en-US" altLang="zh-CN" sz="1800" b="0" i="0" u="none" strike="noStrike" kern="1200" cap="none" spc="0" baseline="0">
                        <a:solidFill>
                          <a:srgbClr val="000000"/>
                        </a:solidFill>
                        <a:latin typeface="Calibri" pitchFamily="0" charset="0"/>
                        <a:ea typeface="等线" pitchFamily="0" charset="0"/>
                        <a:cs typeface="Calibri" pitchFamily="0" charset="0"/>
                      </a:endParaRPr>
                    </a:p>
                    <a:p>
                      <a:pPr marL="0" indent="0" algn="ctr" eaLnBrk="1" latinLnBrk="0" hangingPunct="1">
                        <a:lnSpc>
                          <a:spcPct val="100000"/>
                        </a:lnSpc>
                        <a:spcBef>
                          <a:spcPts val="0"/>
                        </a:spcBef>
                        <a:spcAft>
                          <a:spcPts val="0"/>
                        </a:spcAft>
                        <a:buNone/>
                      </a:pPr>
                      <a:endParaRPr lang="zh-CN" altLang="en-US" sz="1800" b="0" i="0" u="none" strike="noStrike" kern="1200" cap="none" spc="0" baseline="0">
                        <a:solidFill>
                          <a:srgbClr val="000000"/>
                        </a:solidFill>
                        <a:latin typeface="Calibri" pitchFamily="0" charset="0"/>
                        <a:ea typeface="等线"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tcPr>
                </a:tc>
                <a:tc>
                  <a:txBody>
                    <a:bodyPr/>
                    <a:lstStyle/>
                    <a:p>
                      <a:pPr marL="0" indent="0" algn="ctr" eaLnBrk="1" latinLnBrk="0" hangingPunct="1">
                        <a:lnSpc>
                          <a:spcPct val="100000"/>
                        </a:lnSpc>
                        <a:spcBef>
                          <a:spcPts val="0"/>
                        </a:spcBef>
                        <a:spcAft>
                          <a:spcPts val="0"/>
                        </a:spcAft>
                        <a:buNone/>
                      </a:pPr>
                      <a:endParaRPr lang="en-US" altLang="zh-CN" sz="1800" b="0" i="0" u="none" strike="noStrike" kern="1200" cap="none" spc="0" baseline="0">
                        <a:solidFill>
                          <a:srgbClr val="000000"/>
                        </a:solidFill>
                        <a:latin typeface="Calibri" pitchFamily="0" charset="0"/>
                        <a:ea typeface="等线" pitchFamily="0" charset="0"/>
                        <a:cs typeface="Calibri" pitchFamily="0" charset="0"/>
                      </a:endParaRPr>
                    </a:p>
                    <a:p>
                      <a:pPr marL="0" indent="0" algn="ctr" eaLnBrk="1" latinLnBrk="0" hangingPunct="1">
                        <a:lnSpc>
                          <a:spcPct val="100000"/>
                        </a:lnSpc>
                        <a:spcBef>
                          <a:spcPts val="0"/>
                        </a:spcBef>
                        <a:spcAft>
                          <a:spcPts val="0"/>
                        </a:spcAft>
                        <a:buNone/>
                      </a:pPr>
                      <a:endParaRPr lang="zh-CN" altLang="en-US" sz="1800" b="0" i="0" u="none" strike="noStrike" kern="1200" cap="none" spc="0" baseline="0">
                        <a:solidFill>
                          <a:srgbClr val="000000"/>
                        </a:solidFill>
                        <a:latin typeface="Calibri" pitchFamily="0" charset="0"/>
                        <a:ea typeface="等线"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tcPr>
                </a:tc>
              </a:tr>
              <a:tr h="687380">
                <a:tc>
                  <a:txBody>
                    <a:bodyPr/>
                    <a:lstStyle/>
                    <a:p>
                      <a:pPr marL="0" indent="0" algn="ctr" eaLnBrk="1" latinLnBrk="0" hangingPunct="1">
                        <a:lnSpc>
                          <a:spcPct val="100000"/>
                        </a:lnSpc>
                        <a:spcBef>
                          <a:spcPts val="0"/>
                        </a:spcBef>
                        <a:spcAft>
                          <a:spcPts val="0"/>
                        </a:spcAft>
                        <a:buNone/>
                      </a:pPr>
                      <a:r>
                        <a:rPr lang="zh-CN" altLang="en-US" sz="1800" b="0" i="0" u="none" strike="noStrike" kern="1200" cap="none" spc="0" baseline="0">
                          <a:solidFill>
                            <a:srgbClr val="000000"/>
                          </a:solidFill>
                          <a:latin typeface="宋体" pitchFamily="0" charset="0"/>
                          <a:ea typeface="宋体" pitchFamily="0" charset="0"/>
                          <a:cs typeface="Calibri" pitchFamily="0" charset="0"/>
                        </a:rPr>
                        <a:t>计算简易，图像模糊</a:t>
                      </a:r>
                      <a:endParaRPr lang="zh-CN" altLang="en-US" sz="18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tcPr>
                </a:tc>
                <a:tc>
                  <a:txBody>
                    <a:bodyPr/>
                    <a:lstStyle/>
                    <a:p>
                      <a:pPr marL="0" indent="0" algn="ctr" eaLnBrk="1" latinLnBrk="0" hangingPunct="1">
                        <a:lnSpc>
                          <a:spcPct val="100000"/>
                        </a:lnSpc>
                        <a:spcBef>
                          <a:spcPts val="0"/>
                        </a:spcBef>
                        <a:spcAft>
                          <a:spcPts val="0"/>
                        </a:spcAft>
                        <a:buNone/>
                      </a:pPr>
                      <a:r>
                        <a:rPr lang="zh-CN" altLang="en-US" sz="1800" b="0" i="0" u="none" strike="noStrike" kern="1200" cap="none" spc="0" baseline="0">
                          <a:solidFill>
                            <a:srgbClr val="000000"/>
                          </a:solidFill>
                          <a:latin typeface="宋体" pitchFamily="0" charset="0"/>
                          <a:ea typeface="宋体" pitchFamily="0" charset="0"/>
                          <a:cs typeface="Calibri" pitchFamily="0" charset="0"/>
                        </a:rPr>
                        <a:t>计算复杂度高，保存图像细节</a:t>
                      </a:r>
                      <a:endParaRPr lang="zh-CN" altLang="en-US" sz="18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tcPr>
                </a:tc>
              </a:tr>
            </a:tbl>
          </a:graphicData>
        </a:graphic>
      </p:graphicFrame>
      <p:pic>
        <p:nvPicPr>
          <p:cNvPr id="224" name="图片"/>
          <p:cNvPicPr>
            <a:picLocks noChangeAspect="1"/>
          </p:cNvPicPr>
          <p:nvPr/>
        </p:nvPicPr>
        <p:blipFill>
          <a:blip r:embed="rId2" cstate="print"/>
          <a:stretch>
            <a:fillRect/>
          </a:stretch>
        </p:blipFill>
        <p:spPr>
          <a:xfrm rot="0">
            <a:off x="958740" y="2480009"/>
            <a:ext cx="2811780" cy="845562"/>
          </a:xfrm>
          <a:prstGeom prst="rect"/>
          <a:noFill/>
          <a:ln w="12700" cmpd="sng" cap="flat">
            <a:noFill/>
            <a:prstDash val="solid"/>
            <a:miter/>
          </a:ln>
        </p:spPr>
      </p:pic>
      <p:pic>
        <p:nvPicPr>
          <p:cNvPr id="225" name="图片"/>
          <p:cNvPicPr>
            <a:picLocks noChangeAspect="1"/>
          </p:cNvPicPr>
          <p:nvPr/>
        </p:nvPicPr>
        <p:blipFill>
          <a:blip r:embed="rId3" cstate="print"/>
          <a:stretch>
            <a:fillRect/>
          </a:stretch>
        </p:blipFill>
        <p:spPr>
          <a:xfrm rot="0">
            <a:off x="4848892" y="2484968"/>
            <a:ext cx="2514962" cy="835641"/>
          </a:xfrm>
          <a:prstGeom prst="rect"/>
          <a:noFill/>
          <a:ln w="12700" cmpd="sng" cap="flat">
            <a:noFill/>
            <a:prstDash val="solid"/>
            <a:miter/>
          </a:ln>
        </p:spPr>
      </p:pic>
      <p:graphicFrame>
        <p:nvGraphicFramePr>
          <p:cNvPr id="226" name="表格"/>
          <p:cNvGraphicFramePr>
            <a:graphicFrameLocks noGrp="1"/>
          </p:cNvGraphicFramePr>
          <p:nvPr>
            <p:extLst>
              <p:ext uri="{D42A27DB-BD31-4B8C-83A1-F6EECF244321}"/>
            </p:extLst>
          </p:nvPr>
        </p:nvGraphicFramePr>
        <p:xfrm>
          <a:off x="400050" y="4229671"/>
          <a:ext cx="7808596" cy="2356786"/>
        </p:xfrm>
        <a:graphic>
          <a:graphicData uri="http://schemas.openxmlformats.org/drawingml/2006/table">
            <a:tbl>
              <a:tblPr bandRow="1">
                <a:noFill/>
              </a:tblPr>
              <a:tblGrid>
                <a:gridCol w="3904285"/>
                <a:gridCol w="3904285"/>
              </a:tblGrid>
              <a:tr h="392776">
                <a:tc>
                  <a:txBody>
                    <a:bodyPr/>
                    <a:lstStyle/>
                    <a:p>
                      <a:pPr marL="0" indent="0" algn="ctr" eaLnBrk="1" fontAlgn="auto" latinLnBrk="0" hangingPunct="1">
                        <a:lnSpc>
                          <a:spcPct val="100000"/>
                        </a:lnSpc>
                        <a:spcBef>
                          <a:spcPts val="0"/>
                        </a:spcBef>
                        <a:spcAft>
                          <a:spcPts val="0"/>
                        </a:spcAft>
                        <a:buNone/>
                      </a:pPr>
                      <a:r>
                        <a:rPr lang="zh-CN" altLang="en-US" sz="1800" b="1" i="0" u="none" strike="noStrike" kern="1200" cap="none" spc="0" baseline="0">
                          <a:solidFill>
                            <a:srgbClr val="FFFFFF"/>
                          </a:solidFill>
                          <a:latin typeface="Times New Roman" pitchFamily="0" charset="0"/>
                          <a:ea typeface="宋体" pitchFamily="0" charset="0"/>
                          <a:cs typeface="Times New Roman" pitchFamily="0" charset="0"/>
                          <a:sym typeface="等线" pitchFamily="0" charset="0"/>
                        </a:rPr>
                        <a:t>谐波平均滤波器</a:t>
                      </a:r>
                      <a:endParaRPr lang="zh-CN" altLang="en-US" sz="1800" b="1" i="0" u="none" strike="noStrike" kern="1200" cap="none" spc="0" baseline="0">
                        <a:solidFill>
                          <a:srgbClr val="FFFFFF"/>
                        </a:solidFill>
                        <a:latin typeface="Times New Roman" pitchFamily="0" charset="0"/>
                        <a:ea typeface="宋体" pitchFamily="0" charset="0"/>
                        <a:cs typeface="Times New Roman" pitchFamily="0" charset="0"/>
                        <a:sym typeface="等线"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B9BD5"/>
                    </a:solidFill>
                  </a:tcPr>
                </a:tc>
                <a:tc>
                  <a:txBody>
                    <a:bodyPr/>
                    <a:lstStyle/>
                    <a:p>
                      <a:pPr marL="0" indent="0" algn="ctr" eaLnBrk="1" fontAlgn="auto" latinLnBrk="0" hangingPunct="1">
                        <a:lnSpc>
                          <a:spcPct val="100000"/>
                        </a:lnSpc>
                        <a:spcBef>
                          <a:spcPts val="0"/>
                        </a:spcBef>
                        <a:spcAft>
                          <a:spcPts val="0"/>
                        </a:spcAft>
                        <a:buNone/>
                      </a:pPr>
                      <a:r>
                        <a:rPr lang="zh-CN" altLang="en-US" sz="1800" b="1" i="0" u="none" strike="noStrike" kern="1200" cap="none" spc="0" baseline="0">
                          <a:solidFill>
                            <a:srgbClr val="FFFFFF"/>
                          </a:solidFill>
                          <a:latin typeface="Times New Roman" pitchFamily="0" charset="0"/>
                          <a:ea typeface="宋体" pitchFamily="0" charset="0"/>
                          <a:cs typeface="Times New Roman" pitchFamily="0" charset="0"/>
                          <a:sym typeface="等线" pitchFamily="0" charset="0"/>
                        </a:rPr>
                        <a:t>反谐波平均滤波器</a:t>
                      </a:r>
                      <a:endParaRPr lang="zh-CN" altLang="en-US" sz="1800" b="1" i="0" u="none" strike="noStrike" kern="1200" cap="none" spc="0" baseline="0">
                        <a:solidFill>
                          <a:srgbClr val="FFFFFF"/>
                        </a:solidFill>
                        <a:latin typeface="Times New Roman" pitchFamily="0" charset="0"/>
                        <a:ea typeface="宋体" pitchFamily="0" charset="0"/>
                        <a:cs typeface="Times New Roman" pitchFamily="0" charset="0"/>
                        <a:sym typeface="等线"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B9BD5"/>
                    </a:solidFill>
                  </a:tcPr>
                </a:tc>
              </a:tr>
              <a:tr h="1276587">
                <a:tc>
                  <a:txBody>
                    <a:bodyPr/>
                    <a:lstStyle/>
                    <a:p>
                      <a:pPr marL="0" indent="0" algn="ctr" eaLnBrk="1" latinLnBrk="0" hangingPunct="1">
                        <a:lnSpc>
                          <a:spcPct val="100000"/>
                        </a:lnSpc>
                        <a:spcBef>
                          <a:spcPts val="0"/>
                        </a:spcBef>
                        <a:spcAft>
                          <a:spcPts val="0"/>
                        </a:spcAft>
                        <a:buNone/>
                      </a:pPr>
                      <a:endParaRPr lang="zh-CN" altLang="en-US" sz="1800" b="0" i="0" u="none" strike="noStrike" kern="1200" cap="none" spc="0" baseline="0">
                        <a:solidFill>
                          <a:srgbClr val="000000"/>
                        </a:solidFill>
                        <a:latin typeface="Calibri" pitchFamily="0" charset="0"/>
                        <a:ea typeface="等线"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tcPr>
                </a:tc>
                <a:tc>
                  <a:txBody>
                    <a:bodyPr/>
                    <a:lstStyle/>
                    <a:p>
                      <a:pPr marL="0" indent="0" algn="ctr" eaLnBrk="1" latinLnBrk="0" hangingPunct="1">
                        <a:lnSpc>
                          <a:spcPct val="100000"/>
                        </a:lnSpc>
                        <a:spcBef>
                          <a:spcPts val="0"/>
                        </a:spcBef>
                        <a:spcAft>
                          <a:spcPts val="0"/>
                        </a:spcAft>
                        <a:buNone/>
                      </a:pPr>
                      <a:endParaRPr lang="zh-CN" altLang="en-US" sz="1800" b="0" i="0" u="none" strike="noStrike" kern="1200" cap="none" spc="0" baseline="0">
                        <a:solidFill>
                          <a:srgbClr val="000000"/>
                        </a:solidFill>
                        <a:latin typeface="Calibri" pitchFamily="0" charset="0"/>
                        <a:ea typeface="等线"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tcPr>
                </a:tc>
              </a:tr>
              <a:tr h="687380">
                <a:tc>
                  <a:txBody>
                    <a:bodyPr/>
                    <a:lstStyle/>
                    <a:p>
                      <a:pPr marL="0" indent="0" algn="ctr" eaLnBrk="1" latinLnBrk="0" hangingPunct="1">
                        <a:lnSpc>
                          <a:spcPct val="100000"/>
                        </a:lnSpc>
                        <a:spcBef>
                          <a:spcPts val="0"/>
                        </a:spcBef>
                        <a:spcAft>
                          <a:spcPts val="0"/>
                        </a:spcAft>
                        <a:buNone/>
                      </a:pPr>
                      <a:endParaRPr lang="en-US" altLang="zh-CN" sz="1800" b="0" i="0" u="none" strike="noStrike" kern="1200" cap="none" spc="0" baseline="0">
                        <a:solidFill>
                          <a:srgbClr val="000000"/>
                        </a:solidFill>
                        <a:latin typeface="宋体" pitchFamily="0" charset="0"/>
                        <a:ea typeface="宋体" pitchFamily="0" charset="0"/>
                        <a:cs typeface="Calibri" pitchFamily="0" charset="0"/>
                      </a:endParaRPr>
                    </a:p>
                    <a:p>
                      <a:pPr marL="0" indent="0" algn="ctr" eaLnBrk="1" latinLnBrk="0" hangingPunct="1">
                        <a:lnSpc>
                          <a:spcPct val="100000"/>
                        </a:lnSpc>
                        <a:spcBef>
                          <a:spcPts val="0"/>
                        </a:spcBef>
                        <a:spcAft>
                          <a:spcPts val="0"/>
                        </a:spcAft>
                        <a:buNone/>
                      </a:pPr>
                      <a:r>
                        <a:rPr lang="zh-CN" altLang="en-US" sz="1800" b="0" i="0" u="none" strike="noStrike" kern="1200" cap="none" spc="0" baseline="0">
                          <a:solidFill>
                            <a:srgbClr val="000000"/>
                          </a:solidFill>
                          <a:latin typeface="宋体" pitchFamily="0" charset="0"/>
                          <a:ea typeface="宋体" pitchFamily="0" charset="0"/>
                          <a:cs typeface="Calibri" pitchFamily="0" charset="0"/>
                        </a:rPr>
                        <a:t>能处理多种噪声（胡椒除外）</a:t>
                      </a:r>
                      <a:endParaRPr lang="zh-CN" altLang="en-US" sz="18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tcPr>
                </a:tc>
                <a:tc>
                  <a:txBody>
                    <a:bodyPr/>
                    <a:lstStyle/>
                    <a:p>
                      <a:pPr marL="0" indent="0" algn="ctr" eaLnBrk="1" latinLnBrk="0" hangingPunct="1">
                        <a:lnSpc>
                          <a:spcPct val="100000"/>
                        </a:lnSpc>
                        <a:spcBef>
                          <a:spcPts val="0"/>
                        </a:spcBef>
                        <a:spcAft>
                          <a:spcPts val="0"/>
                        </a:spcAft>
                        <a:buNone/>
                      </a:pPr>
                      <a:endParaRPr lang="en-US" altLang="zh-CN" sz="1800" b="0" i="0" u="none" strike="noStrike" kern="1200" cap="none" spc="0" baseline="0">
                        <a:solidFill>
                          <a:srgbClr val="000000"/>
                        </a:solidFill>
                        <a:latin typeface="宋体" pitchFamily="0" charset="0"/>
                        <a:ea typeface="宋体" pitchFamily="0" charset="0"/>
                        <a:cs typeface="Calibri" pitchFamily="0" charset="0"/>
                      </a:endParaRPr>
                    </a:p>
                    <a:p>
                      <a:pPr marL="0" indent="0" algn="ctr" eaLnBrk="1" latinLnBrk="0" hangingPunct="1">
                        <a:lnSpc>
                          <a:spcPct val="100000"/>
                        </a:lnSpc>
                        <a:spcBef>
                          <a:spcPts val="0"/>
                        </a:spcBef>
                        <a:spcAft>
                          <a:spcPts val="0"/>
                        </a:spcAft>
                        <a:buNone/>
                      </a:pPr>
                      <a:r>
                        <a:rPr lang="zh-CN" altLang="en-US" sz="1800" b="0" i="0" u="none" strike="noStrike" kern="1200" cap="none" spc="0" baseline="0">
                          <a:solidFill>
                            <a:srgbClr val="000000"/>
                          </a:solidFill>
                          <a:latin typeface="宋体" pitchFamily="0" charset="0"/>
                          <a:ea typeface="宋体" pitchFamily="0" charset="0"/>
                          <a:cs typeface="Calibri" pitchFamily="0" charset="0"/>
                        </a:rPr>
                        <a:t>不同</a:t>
                      </a:r>
                      <a:r>
                        <a:rPr lang="en-US" altLang="zh-CN" sz="1800" b="0" i="0" u="none" strike="noStrike" kern="1200" cap="none" spc="0" baseline="0">
                          <a:solidFill>
                            <a:srgbClr val="000000"/>
                          </a:solidFill>
                          <a:latin typeface="宋体" pitchFamily="0" charset="0"/>
                          <a:ea typeface="宋体" pitchFamily="0" charset="0"/>
                          <a:cs typeface="Calibri" pitchFamily="0" charset="0"/>
                        </a:rPr>
                        <a:t>Q</a:t>
                      </a:r>
                      <a:r>
                        <a:rPr lang="zh-CN" altLang="en-US" sz="1800" b="0" i="0" u="none" strike="noStrike" kern="1200" cap="none" spc="0" baseline="0">
                          <a:solidFill>
                            <a:srgbClr val="000000"/>
                          </a:solidFill>
                          <a:latin typeface="宋体" pitchFamily="0" charset="0"/>
                          <a:ea typeface="宋体" pitchFamily="0" charset="0"/>
                          <a:cs typeface="Calibri" pitchFamily="0" charset="0"/>
                        </a:rPr>
                        <a:t>值可以处理的不同噪声</a:t>
                      </a:r>
                      <a:endParaRPr lang="zh-CN" altLang="en-US" sz="18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tcPr>
                </a:tc>
              </a:tr>
            </a:tbl>
          </a:graphicData>
        </a:graphic>
      </p:graphicFrame>
      <p:pic>
        <p:nvPicPr>
          <p:cNvPr id="227" name="图片"/>
          <p:cNvPicPr>
            <a:picLocks noChangeAspect="1"/>
          </p:cNvPicPr>
          <p:nvPr/>
        </p:nvPicPr>
        <p:blipFill>
          <a:blip r:embed="rId4" cstate="print"/>
          <a:stretch>
            <a:fillRect/>
          </a:stretch>
        </p:blipFill>
        <p:spPr>
          <a:xfrm rot="0">
            <a:off x="1048053" y="4768786"/>
            <a:ext cx="2705901" cy="1035144"/>
          </a:xfrm>
          <a:prstGeom prst="rect"/>
          <a:noFill/>
          <a:ln w="12700" cmpd="sng" cap="flat">
            <a:noFill/>
            <a:prstDash val="solid"/>
            <a:miter/>
          </a:ln>
        </p:spPr>
      </p:pic>
      <p:pic>
        <p:nvPicPr>
          <p:cNvPr id="228" name="图片"/>
          <p:cNvPicPr>
            <a:picLocks noChangeAspect="1"/>
          </p:cNvPicPr>
          <p:nvPr/>
        </p:nvPicPr>
        <p:blipFill>
          <a:blip r:embed="rId5" cstate="print"/>
          <a:stretch>
            <a:fillRect/>
          </a:stretch>
        </p:blipFill>
        <p:spPr>
          <a:xfrm rot="0">
            <a:off x="4877963" y="4768786"/>
            <a:ext cx="2705901" cy="1275936"/>
          </a:xfrm>
          <a:prstGeom prst="rect"/>
          <a:noFill/>
          <a:ln w="12700" cmpd="sng" cap="flat">
            <a:noFill/>
            <a:prstDash val="solid"/>
            <a:miter/>
          </a:ln>
        </p:spPr>
      </p:pic>
    </p:spTree>
    <p:extLst>
      <p:ext uri="{BB962C8B-B14F-4D97-AF65-F5344CB8AC3E}">
        <p14:creationId xmlns:p14="http://schemas.microsoft.com/office/powerpoint/2010/main" val="1391849515"/>
      </p:ext>
    </p:extLst>
  </p:cSld>
  <p:clrMapOvr>
    <a:masterClrMapping/>
  </p:clrMapOvr>
</p:sld>
</file>

<file path=ppt/slides/slide1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232"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233"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234"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数字图像基础</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235" name="直线"/>
          <p:cNvSpPr>
            <a:spLocks/>
          </p:cNvSpPr>
          <p:nvPr/>
        </p:nvSpPr>
        <p:spPr>
          <a:xfrm rot="0">
            <a:off x="3009712" y="525055"/>
            <a:ext cx="1749287" cy="0"/>
          </a:xfrm>
          <a:prstGeom prst="line"/>
          <a:noFill/>
          <a:ln w="6350" cmpd="sng" cap="flat">
            <a:solidFill>
              <a:srgbClr val="000000"/>
            </a:solidFill>
            <a:prstDash val="solid"/>
            <a:round/>
          </a:ln>
        </p:spPr>
      </p:sp>
      <p:sp>
        <p:nvSpPr>
          <p:cNvPr id="236"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237"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Fundamentals</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238" name="矩形"/>
          <p:cNvSpPr>
            <a:spLocks/>
          </p:cNvSpPr>
          <p:nvPr/>
        </p:nvSpPr>
        <p:spPr>
          <a:xfrm rot="0">
            <a:off x="400050" y="1341119"/>
            <a:ext cx="8535606" cy="5663565"/>
          </a:xfrm>
          <a:prstGeom prst="rect"/>
          <a:noFill/>
          <a:ln w="12700" cmpd="sng" cap="flat">
            <a:noFill/>
            <a:prstDash val="solid"/>
            <a:miter/>
          </a:ln>
        </p:spPr>
        <p:txBody>
          <a:bodyPr vert="horz" wrap="square" lIns="91440" tIns="45720" rIns="91440" bIns="45720" anchor="t" anchorCtr="0">
            <a:prstTxWarp prst="textNoShape"/>
            <a:spAutoFit/>
          </a:bodyPr>
          <a:lstStyle/>
          <a:p>
            <a:pPr marL="342900" indent="-342900" algn="l">
              <a:lnSpc>
                <a:spcPct val="100000"/>
              </a:lnSpc>
              <a:spcBef>
                <a:spcPts val="0"/>
              </a:spcBef>
              <a:spcAft>
                <a:spcPts val="0"/>
              </a:spcAft>
              <a:buFont typeface="Wingdings" pitchFamily="2" charset="2"/>
              <a:buChar char="n"/>
            </a:pPr>
            <a:r>
              <a:rPr lang="zh-CN" altLang="en-US"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rPr>
              <a:t>统计排序滤波器</a:t>
            </a:r>
            <a:endParaRPr lang="en-US" altLang="zh-CN"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endParaRPr lang="en-US" altLang="zh-CN"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endParaRPr lang="en-US" altLang="zh-CN"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endParaRPr lang="en-US" altLang="zh-CN"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endParaRPr lang="en-US" altLang="zh-CN"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endParaRPr lang="en-US" altLang="zh-CN"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endParaRPr lang="en-US" altLang="zh-CN"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endParaRPr lang="en-US" altLang="zh-CN"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endParaRPr lang="en-US" altLang="zh-CN"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endParaRPr lang="en-US" altLang="zh-CN"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endParaRPr lang="en-US" altLang="zh-CN"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r>
              <a:rPr lang="zh-CN" altLang="en-US"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rPr>
              <a:t>自适应滤波器（思想及原理、利用直方图估计方差）</a:t>
            </a:r>
            <a:endPar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p:txBody>
      </p:sp>
      <p:graphicFrame>
        <p:nvGraphicFramePr>
          <p:cNvPr id="239" name="表格"/>
          <p:cNvGraphicFramePr>
            <a:graphicFrameLocks noGrp="1"/>
          </p:cNvGraphicFramePr>
          <p:nvPr>
            <p:extLst>
              <p:ext uri="{D42A27DB-BD31-4B8C-83A1-F6EECF244321}"/>
            </p:extLst>
          </p:nvPr>
        </p:nvGraphicFramePr>
        <p:xfrm>
          <a:off x="318133" y="1940894"/>
          <a:ext cx="7808596" cy="1896134"/>
        </p:xfrm>
        <a:graphic>
          <a:graphicData uri="http://schemas.openxmlformats.org/drawingml/2006/table">
            <a:tbl>
              <a:tblPr bandRow="1">
                <a:noFill/>
              </a:tblPr>
              <a:tblGrid>
                <a:gridCol w="3904285"/>
                <a:gridCol w="3904285"/>
              </a:tblGrid>
              <a:tr h="407235">
                <a:tc>
                  <a:txBody>
                    <a:bodyPr/>
                    <a:lstStyle/>
                    <a:p>
                      <a:pPr marL="457200" indent="0" algn="ctr">
                        <a:lnSpc>
                          <a:spcPct val="100000"/>
                        </a:lnSpc>
                        <a:spcBef>
                          <a:spcPts val="0"/>
                        </a:spcBef>
                        <a:spcAft>
                          <a:spcPts val="0"/>
                        </a:spcAft>
                        <a:buNone/>
                      </a:pP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中值滤波器</a:t>
                      </a:r>
                      <a:endParaRPr lang="zh-CN" altLang="en-US" sz="24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B9BD5"/>
                    </a:solidFill>
                  </a:tcPr>
                </a:tc>
                <a:tc>
                  <a:txBody>
                    <a:bodyPr/>
                    <a:lstStyle/>
                    <a:p>
                      <a:pPr marL="457200" indent="0" algn="ctr">
                        <a:lnSpc>
                          <a:spcPct val="100000"/>
                        </a:lnSpc>
                        <a:spcBef>
                          <a:spcPts val="0"/>
                        </a:spcBef>
                        <a:spcAft>
                          <a:spcPts val="0"/>
                        </a:spcAft>
                        <a:buNone/>
                      </a:pP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最大</a:t>
                      </a:r>
                      <a:r>
                        <a:rPr lang="en-US" altLang="zh-CN" sz="24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a:t>
                      </a: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小值滤波器</a:t>
                      </a:r>
                      <a:endParaRPr lang="zh-CN" altLang="en-US" sz="24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B9BD5"/>
                    </a:solidFill>
                  </a:tcPr>
                </a:tc>
              </a:tr>
              <a:tr h="826624">
                <a:tc>
                  <a:txBody>
                    <a:bodyPr/>
                    <a:lstStyle/>
                    <a:p>
                      <a:pPr marL="0" indent="0" algn="ctr" eaLnBrk="1" latinLnBrk="0" hangingPunct="1">
                        <a:lnSpc>
                          <a:spcPct val="100000"/>
                        </a:lnSpc>
                        <a:spcBef>
                          <a:spcPts val="0"/>
                        </a:spcBef>
                        <a:spcAft>
                          <a:spcPts val="0"/>
                        </a:spcAft>
                        <a:buNone/>
                      </a:pPr>
                      <a:endParaRPr lang="en-US" altLang="zh-CN" sz="1800" b="0" i="0" u="none" strike="noStrike" kern="1200" cap="none" spc="0" baseline="0">
                        <a:solidFill>
                          <a:srgbClr val="000000"/>
                        </a:solidFill>
                        <a:latin typeface="Calibri" pitchFamily="0" charset="0"/>
                        <a:ea typeface="等线" pitchFamily="0" charset="0"/>
                        <a:cs typeface="Calibri" pitchFamily="0" charset="0"/>
                      </a:endParaRPr>
                    </a:p>
                    <a:p>
                      <a:pPr marL="0" indent="0" algn="ctr" eaLnBrk="1" latinLnBrk="0" hangingPunct="1">
                        <a:lnSpc>
                          <a:spcPct val="100000"/>
                        </a:lnSpc>
                        <a:spcBef>
                          <a:spcPts val="0"/>
                        </a:spcBef>
                        <a:spcAft>
                          <a:spcPts val="0"/>
                        </a:spcAft>
                        <a:buNone/>
                      </a:pPr>
                      <a:endParaRPr lang="zh-CN" altLang="en-US" sz="1800" b="0" i="0" u="none" strike="noStrike" kern="1200" cap="none" spc="0" baseline="0">
                        <a:solidFill>
                          <a:srgbClr val="000000"/>
                        </a:solidFill>
                        <a:latin typeface="Calibri" pitchFamily="0" charset="0"/>
                        <a:ea typeface="等线"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tcPr>
                </a:tc>
                <a:tc>
                  <a:txBody>
                    <a:bodyPr/>
                    <a:lstStyle/>
                    <a:p>
                      <a:pPr marL="0" indent="0" algn="ctr" eaLnBrk="1" latinLnBrk="0" hangingPunct="1">
                        <a:lnSpc>
                          <a:spcPct val="100000"/>
                        </a:lnSpc>
                        <a:spcBef>
                          <a:spcPts val="0"/>
                        </a:spcBef>
                        <a:spcAft>
                          <a:spcPts val="0"/>
                        </a:spcAft>
                        <a:buNone/>
                      </a:pPr>
                      <a:endParaRPr lang="zh-CN" altLang="en-US" sz="1800" b="0" i="0" u="none" strike="noStrike" kern="1200" cap="none" spc="0" baseline="0">
                        <a:solidFill>
                          <a:srgbClr val="000000"/>
                        </a:solidFill>
                        <a:latin typeface="Calibri" pitchFamily="0" charset="0"/>
                        <a:ea typeface="等线"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tcPr>
                </a:tc>
              </a:tr>
              <a:tr h="612286">
                <a:tc>
                  <a:txBody>
                    <a:bodyPr/>
                    <a:lstStyle/>
                    <a:p>
                      <a:pPr marL="0" indent="0" algn="ctr" eaLnBrk="1" latinLnBrk="0" hangingPunct="1">
                        <a:lnSpc>
                          <a:spcPct val="100000"/>
                        </a:lnSpc>
                        <a:spcBef>
                          <a:spcPts val="0"/>
                        </a:spcBef>
                        <a:spcAft>
                          <a:spcPts val="0"/>
                        </a:spcAft>
                        <a:buNone/>
                      </a:pPr>
                      <a:r>
                        <a:rPr lang="zh-CN" altLang="en-US" sz="1800" b="0" i="0" u="none" strike="noStrike" kern="1200" cap="none" spc="0" baseline="0">
                          <a:solidFill>
                            <a:srgbClr val="000000"/>
                          </a:solidFill>
                          <a:latin typeface="宋体" pitchFamily="0" charset="0"/>
                          <a:ea typeface="宋体" pitchFamily="0" charset="0"/>
                          <a:cs typeface="Times New Roman" pitchFamily="0" charset="0"/>
                          <a:sym typeface="等线" pitchFamily="0" charset="0"/>
                        </a:rPr>
                        <a:t>降低孤立、随机噪声，且模糊度较小</a:t>
                      </a:r>
                      <a:endParaRPr lang="zh-CN" altLang="en-US" sz="18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tcPr>
                </a:tc>
                <a:tc>
                  <a:txBody>
                    <a:bodyPr/>
                    <a:lstStyle/>
                    <a:p>
                      <a:pPr marL="0" indent="0" algn="ctr" eaLnBrk="1" latinLnBrk="0" hangingPunct="1">
                        <a:lnSpc>
                          <a:spcPct val="100000"/>
                        </a:lnSpc>
                        <a:spcBef>
                          <a:spcPts val="0"/>
                        </a:spcBef>
                        <a:spcAft>
                          <a:spcPts val="0"/>
                        </a:spcAft>
                        <a:buNone/>
                      </a:pPr>
                      <a:r>
                        <a:rPr lang="zh-CN" altLang="en-US" sz="1800" b="0" i="0" u="none" strike="noStrike" kern="1200" cap="none" spc="0" baseline="0">
                          <a:solidFill>
                            <a:srgbClr val="000000"/>
                          </a:solidFill>
                          <a:latin typeface="宋体" pitchFamily="0" charset="0"/>
                          <a:ea typeface="宋体" pitchFamily="0" charset="0"/>
                          <a:cs typeface="Calibri" pitchFamily="0" charset="0"/>
                        </a:rPr>
                        <a:t>分别降低胡椒、盐粒噪声</a:t>
                      </a:r>
                      <a:endParaRPr lang="zh-CN" altLang="en-US" sz="18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tcPr>
                </a:tc>
              </a:tr>
            </a:tbl>
          </a:graphicData>
        </a:graphic>
      </p:graphicFrame>
      <p:graphicFrame>
        <p:nvGraphicFramePr>
          <p:cNvPr id="240" name="表格"/>
          <p:cNvGraphicFramePr>
            <a:graphicFrameLocks noGrp="1"/>
          </p:cNvGraphicFramePr>
          <p:nvPr>
            <p:extLst>
              <p:ext uri="{D42A27DB-BD31-4B8C-83A1-F6EECF244321}"/>
            </p:extLst>
          </p:nvPr>
        </p:nvGraphicFramePr>
        <p:xfrm>
          <a:off x="457834" y="3874313"/>
          <a:ext cx="7808596" cy="1956582"/>
        </p:xfrm>
        <a:graphic>
          <a:graphicData uri="http://schemas.openxmlformats.org/drawingml/2006/table">
            <a:tbl>
              <a:tblPr bandRow="1">
                <a:noFill/>
              </a:tblPr>
              <a:tblGrid>
                <a:gridCol w="3904285"/>
                <a:gridCol w="3904285"/>
              </a:tblGrid>
              <a:tr h="392776">
                <a:tc>
                  <a:txBody>
                    <a:bodyPr/>
                    <a:lstStyle/>
                    <a:p>
                      <a:pPr marL="457200" indent="0" algn="l">
                        <a:lnSpc>
                          <a:spcPct val="100000"/>
                        </a:lnSpc>
                        <a:spcBef>
                          <a:spcPts val="0"/>
                        </a:spcBef>
                        <a:spcAft>
                          <a:spcPts val="0"/>
                        </a:spcAft>
                        <a:buNone/>
                      </a:pP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中点滤波器</a:t>
                      </a:r>
                      <a:endParaRPr lang="zh-CN" altLang="en-US" sz="24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B9BD5"/>
                    </a:solidFill>
                  </a:tcPr>
                </a:tc>
                <a:tc>
                  <a:txBody>
                    <a:bodyPr/>
                    <a:lstStyle/>
                    <a:p>
                      <a:pPr marL="457200" indent="0" algn="l">
                        <a:lnSpc>
                          <a:spcPct val="100000"/>
                        </a:lnSpc>
                        <a:spcBef>
                          <a:spcPts val="0"/>
                        </a:spcBef>
                        <a:spcAft>
                          <a:spcPts val="0"/>
                        </a:spcAft>
                        <a:buNone/>
                      </a:pP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修正阿尔法均值滤波器</a:t>
                      </a:r>
                      <a:endParaRPr lang="zh-CN" altLang="en-US" sz="24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B9BD5"/>
                    </a:solidFill>
                  </a:tcPr>
                </a:tc>
              </a:tr>
              <a:tr h="811965">
                <a:tc>
                  <a:txBody>
                    <a:bodyPr/>
                    <a:lstStyle/>
                    <a:p>
                      <a:pPr marL="0" indent="0" algn="ctr" eaLnBrk="1" latinLnBrk="0" hangingPunct="1">
                        <a:lnSpc>
                          <a:spcPct val="100000"/>
                        </a:lnSpc>
                        <a:spcBef>
                          <a:spcPts val="0"/>
                        </a:spcBef>
                        <a:spcAft>
                          <a:spcPts val="0"/>
                        </a:spcAft>
                        <a:buNone/>
                      </a:pPr>
                      <a:endParaRPr lang="zh-CN" altLang="en-US" sz="1800" b="0" i="0" u="none" strike="noStrike" kern="1200" cap="none" spc="0" baseline="0">
                        <a:solidFill>
                          <a:srgbClr val="000000"/>
                        </a:solidFill>
                        <a:latin typeface="Calibri" pitchFamily="0" charset="0"/>
                        <a:ea typeface="等线"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tcPr>
                </a:tc>
                <a:tc>
                  <a:txBody>
                    <a:bodyPr/>
                    <a:lstStyle/>
                    <a:p>
                      <a:pPr marL="0" indent="0" algn="ctr" eaLnBrk="1" latinLnBrk="0" hangingPunct="1">
                        <a:lnSpc>
                          <a:spcPct val="100000"/>
                        </a:lnSpc>
                        <a:spcBef>
                          <a:spcPts val="0"/>
                        </a:spcBef>
                        <a:spcAft>
                          <a:spcPts val="0"/>
                        </a:spcAft>
                        <a:buNone/>
                      </a:pPr>
                      <a:endParaRPr lang="zh-CN" altLang="en-US" sz="1800" b="0" i="0" u="none" strike="noStrike" kern="1200" cap="none" spc="0" baseline="0">
                        <a:solidFill>
                          <a:srgbClr val="000000"/>
                        </a:solidFill>
                        <a:latin typeface="Calibri" pitchFamily="0" charset="0"/>
                        <a:ea typeface="等线"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tcPr>
                </a:tc>
              </a:tr>
              <a:tr h="687380">
                <a:tc>
                  <a:txBody>
                    <a:bodyPr/>
                    <a:lstStyle/>
                    <a:p>
                      <a:pPr marL="0" indent="0" algn="ctr" eaLnBrk="1" latinLnBrk="0" hangingPunct="1">
                        <a:lnSpc>
                          <a:spcPct val="100000"/>
                        </a:lnSpc>
                        <a:spcBef>
                          <a:spcPts val="0"/>
                        </a:spcBef>
                        <a:spcAft>
                          <a:spcPts val="0"/>
                        </a:spcAft>
                        <a:buNone/>
                      </a:pPr>
                      <a:endParaRPr lang="en-US" altLang="zh-CN" sz="1800" b="0" i="0" u="none" strike="noStrike" kern="1200" cap="none" spc="0" baseline="0">
                        <a:solidFill>
                          <a:srgbClr val="000000"/>
                        </a:solidFill>
                        <a:latin typeface="宋体" pitchFamily="0" charset="0"/>
                        <a:ea typeface="宋体" pitchFamily="0" charset="0"/>
                        <a:cs typeface="Calibri" pitchFamily="0" charset="0"/>
                      </a:endParaRPr>
                    </a:p>
                    <a:p>
                      <a:pPr marL="0" indent="0" algn="l" eaLnBrk="1" fontAlgn="auto" latinLnBrk="0" hangingPunct="1">
                        <a:lnSpc>
                          <a:spcPct val="100000"/>
                        </a:lnSpc>
                        <a:spcBef>
                          <a:spcPts val="0"/>
                        </a:spcBef>
                        <a:spcAft>
                          <a:spcPts val="0"/>
                        </a:spcAft>
                        <a:buNone/>
                      </a:pPr>
                      <a:r>
                        <a:rPr lang="zh-CN" altLang="en-US" sz="1800" b="0" i="0" u="none" strike="noStrike" kern="1200" cap="none" spc="0" baseline="0">
                          <a:solidFill>
                            <a:srgbClr val="000000"/>
                          </a:solidFill>
                          <a:latin typeface="宋体" pitchFamily="0" charset="0"/>
                          <a:ea typeface="宋体" pitchFamily="0" charset="0"/>
                          <a:cs typeface="Times New Roman" pitchFamily="0" charset="0"/>
                          <a:sym typeface="等线" pitchFamily="0" charset="0"/>
                        </a:rPr>
                        <a:t>统计排序滤波器与均值滤波器的结合</a:t>
                      </a:r>
                      <a:endParaRPr lang="zh-CN" altLang="en-US" sz="1800" b="0" i="0" u="none" strike="noStrike" kern="1200" cap="none" spc="0" baseline="0">
                        <a:solidFill>
                          <a:srgbClr val="000000"/>
                        </a:solidFill>
                        <a:latin typeface="宋体" pitchFamily="0" charset="0"/>
                        <a:ea typeface="宋体" pitchFamily="0" charset="0"/>
                        <a:cs typeface="Times New Roman" pitchFamily="0" charset="0"/>
                        <a:sym typeface="等线"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tcPr>
                </a:tc>
                <a:tc>
                  <a:txBody>
                    <a:bodyPr/>
                    <a:lstStyle/>
                    <a:p>
                      <a:pPr marL="0" indent="0" algn="ctr" eaLnBrk="1" latinLnBrk="0" hangingPunct="1">
                        <a:lnSpc>
                          <a:spcPct val="100000"/>
                        </a:lnSpc>
                        <a:spcBef>
                          <a:spcPts val="0"/>
                        </a:spcBef>
                        <a:spcAft>
                          <a:spcPts val="0"/>
                        </a:spcAft>
                        <a:buNone/>
                      </a:pPr>
                      <a:endParaRPr lang="en-US" altLang="zh-CN" sz="1800" b="0" i="0" u="none" strike="noStrike" kern="1200" cap="none" spc="0" baseline="0">
                        <a:solidFill>
                          <a:srgbClr val="000000"/>
                        </a:solidFill>
                        <a:latin typeface="宋体" pitchFamily="0" charset="0"/>
                        <a:ea typeface="宋体" pitchFamily="0" charset="0"/>
                        <a:cs typeface="Calibri" pitchFamily="0" charset="0"/>
                      </a:endParaRPr>
                    </a:p>
                    <a:p>
                      <a:pPr marL="0" indent="0" algn="ctr" eaLnBrk="1" latinLnBrk="0" hangingPunct="1">
                        <a:lnSpc>
                          <a:spcPct val="100000"/>
                        </a:lnSpc>
                        <a:spcBef>
                          <a:spcPts val="0"/>
                        </a:spcBef>
                        <a:spcAft>
                          <a:spcPts val="0"/>
                        </a:spcAft>
                        <a:buNone/>
                      </a:pPr>
                      <a:r>
                        <a:rPr lang="zh-CN" altLang="en-US" sz="1800" b="0" i="0" u="none" strike="noStrike" kern="1200" cap="none" spc="0" baseline="0">
                          <a:solidFill>
                            <a:srgbClr val="000000"/>
                          </a:solidFill>
                          <a:latin typeface="宋体" pitchFamily="0" charset="0"/>
                          <a:ea typeface="宋体" pitchFamily="0" charset="0"/>
                          <a:cs typeface="Times New Roman" pitchFamily="0" charset="0"/>
                          <a:sym typeface="等线" pitchFamily="0" charset="0"/>
                        </a:rPr>
                        <a:t>适用于多种混合噪声</a:t>
                      </a:r>
                      <a:endParaRPr lang="zh-CN" altLang="en-US" sz="18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tcPr>
                </a:tc>
              </a:tr>
            </a:tbl>
          </a:graphicData>
        </a:graphic>
      </p:graphicFrame>
      <p:pic>
        <p:nvPicPr>
          <p:cNvPr id="241" name="图片"/>
          <p:cNvPicPr>
            <a:picLocks noChangeAspect="1"/>
          </p:cNvPicPr>
          <p:nvPr/>
        </p:nvPicPr>
        <p:blipFill>
          <a:blip r:embed="rId2" cstate="print"/>
          <a:stretch>
            <a:fillRect/>
          </a:stretch>
        </p:blipFill>
        <p:spPr>
          <a:xfrm rot="0">
            <a:off x="731521" y="2480009"/>
            <a:ext cx="3191034" cy="578241"/>
          </a:xfrm>
          <a:prstGeom prst="rect"/>
          <a:noFill/>
          <a:ln w="12700" cmpd="sng" cap="flat">
            <a:noFill/>
            <a:prstDash val="solid"/>
            <a:miter/>
          </a:ln>
        </p:spPr>
      </p:pic>
      <p:pic>
        <p:nvPicPr>
          <p:cNvPr id="242" name="图片"/>
          <p:cNvPicPr>
            <a:picLocks noChangeAspect="1"/>
          </p:cNvPicPr>
          <p:nvPr/>
        </p:nvPicPr>
        <p:blipFill>
          <a:blip r:embed="rId3" cstate="print"/>
          <a:stretch>
            <a:fillRect/>
          </a:stretch>
        </p:blipFill>
        <p:spPr>
          <a:xfrm rot="0">
            <a:off x="4912360" y="2418605"/>
            <a:ext cx="2837180" cy="711765"/>
          </a:xfrm>
          <a:prstGeom prst="rect"/>
          <a:noFill/>
          <a:ln w="12700" cmpd="sng" cap="flat">
            <a:noFill/>
            <a:prstDash val="solid"/>
            <a:miter/>
          </a:ln>
        </p:spPr>
      </p:pic>
      <p:pic>
        <p:nvPicPr>
          <p:cNvPr id="243" name="图片"/>
          <p:cNvPicPr>
            <a:picLocks noChangeAspect="1"/>
          </p:cNvPicPr>
          <p:nvPr/>
        </p:nvPicPr>
        <p:blipFill>
          <a:blip r:embed="rId4" cstate="print"/>
          <a:stretch>
            <a:fillRect/>
          </a:stretch>
        </p:blipFill>
        <p:spPr>
          <a:xfrm rot="0">
            <a:off x="502919" y="4436802"/>
            <a:ext cx="3884111" cy="656507"/>
          </a:xfrm>
          <a:prstGeom prst="rect"/>
          <a:noFill/>
          <a:ln w="12700" cmpd="sng" cap="flat">
            <a:noFill/>
            <a:prstDash val="solid"/>
            <a:miter/>
          </a:ln>
        </p:spPr>
      </p:pic>
      <p:pic>
        <p:nvPicPr>
          <p:cNvPr id="244" name="图片"/>
          <p:cNvPicPr>
            <a:picLocks noChangeAspect="1"/>
          </p:cNvPicPr>
          <p:nvPr/>
        </p:nvPicPr>
        <p:blipFill>
          <a:blip r:embed="rId5" cstate="print"/>
          <a:stretch>
            <a:fillRect/>
          </a:stretch>
        </p:blipFill>
        <p:spPr>
          <a:xfrm rot="0">
            <a:off x="4649694" y="4339028"/>
            <a:ext cx="3362511" cy="795433"/>
          </a:xfrm>
          <a:prstGeom prst="rect"/>
          <a:noFill/>
          <a:ln w="12700" cmpd="sng" cap="flat">
            <a:noFill/>
            <a:prstDash val="solid"/>
            <a:miter/>
          </a:ln>
        </p:spPr>
      </p:pic>
    </p:spTree>
    <p:extLst>
      <p:ext uri="{BB962C8B-B14F-4D97-AF65-F5344CB8AC3E}">
        <p14:creationId xmlns:p14="http://schemas.microsoft.com/office/powerpoint/2010/main" val="1376084938"/>
      </p:ext>
    </p:extLst>
  </p:cSld>
  <p:clrMapOvr>
    <a:masterClrMapping/>
  </p:clrMapOvr>
</p:sld>
</file>

<file path=ppt/slides/slide1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248"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249"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250"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数字图像基础</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251" name="直线"/>
          <p:cNvSpPr>
            <a:spLocks/>
          </p:cNvSpPr>
          <p:nvPr/>
        </p:nvSpPr>
        <p:spPr>
          <a:xfrm rot="0">
            <a:off x="3009712" y="525055"/>
            <a:ext cx="1749287" cy="0"/>
          </a:xfrm>
          <a:prstGeom prst="line"/>
          <a:noFill/>
          <a:ln w="6350" cmpd="sng" cap="flat">
            <a:solidFill>
              <a:srgbClr val="000000"/>
            </a:solidFill>
            <a:prstDash val="solid"/>
            <a:round/>
          </a:ln>
        </p:spPr>
      </p:sp>
      <p:sp>
        <p:nvSpPr>
          <p:cNvPr id="252"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253"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Fundamentals</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254" name="矩形"/>
          <p:cNvSpPr>
            <a:spLocks/>
          </p:cNvSpPr>
          <p:nvPr/>
        </p:nvSpPr>
        <p:spPr>
          <a:xfrm rot="0">
            <a:off x="400050" y="1341119"/>
            <a:ext cx="8161021" cy="3091815"/>
          </a:xfrm>
          <a:prstGeom prst="rect"/>
          <a:noFill/>
          <a:ln w="12700" cmpd="sng" cap="flat">
            <a:noFill/>
            <a:prstDash val="solid"/>
            <a:miter/>
          </a:ln>
        </p:spPr>
        <p:txBody>
          <a:bodyPr vert="horz" wrap="square" lIns="91440" tIns="45720" rIns="91440" bIns="45720" anchor="t" anchorCtr="0">
            <a:prstTxWarp prst="textNoShape"/>
            <a:spAutoFit/>
          </a:bodyPr>
          <a:lstStyle/>
          <a:p>
            <a:pPr marL="342900" indent="-342900" algn="l" fontAlgn="auto">
              <a:lnSpc>
                <a:spcPct val="100000"/>
              </a:lnSpc>
              <a:spcBef>
                <a:spcPts val="0"/>
              </a:spcBef>
              <a:spcAft>
                <a:spcPts val="0"/>
              </a:spcAft>
              <a:buFont typeface="Wingdings" pitchFamily="2" charset="2"/>
              <a:buChar char="n"/>
            </a:pPr>
            <a:r>
              <a:rPr lang="zh-CN" altLang="en-US" sz="2800" b="1"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rPr>
              <a:t>估计退化函数</a:t>
            </a: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：观察法、实验法、建模法</a:t>
            </a: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数字图像复原</a:t>
            </a: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lvl="1" marL="800100" indent="-342900" algn="l">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lvl="1" marL="800100" indent="-342900" algn="l">
              <a:lnSpc>
                <a:spcPct val="100000"/>
              </a:lnSpc>
              <a:spcBef>
                <a:spcPts val="0"/>
              </a:spcBef>
              <a:spcAft>
                <a:spcPts val="0"/>
              </a:spcAft>
              <a:buFont typeface="Wingdings" pitchFamily="2" charset="2"/>
              <a:buChar char="n"/>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endPar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p:txBody>
      </p:sp>
      <p:graphicFrame>
        <p:nvGraphicFramePr>
          <p:cNvPr id="255" name="表格"/>
          <p:cNvGraphicFramePr>
            <a:graphicFrameLocks noGrp="1"/>
          </p:cNvGraphicFramePr>
          <p:nvPr>
            <p:extLst>
              <p:ext uri="{D42A27DB-BD31-4B8C-83A1-F6EECF244321}"/>
            </p:extLst>
          </p:nvPr>
        </p:nvGraphicFramePr>
        <p:xfrm>
          <a:off x="230082" y="2787216"/>
          <a:ext cx="8881110" cy="2834640"/>
        </p:xfrm>
        <a:graphic>
          <a:graphicData uri="http://schemas.openxmlformats.org/drawingml/2006/table">
            <a:tbl>
              <a:tblPr bandRow="1">
                <a:noFill/>
              </a:tblPr>
              <a:tblGrid>
                <a:gridCol w="2474709"/>
                <a:gridCol w="3223247"/>
                <a:gridCol w="3183102"/>
              </a:tblGrid>
              <a:tr h="370831">
                <a:tc>
                  <a:txBody>
                    <a:bodyPr/>
                    <a:lstStyle/>
                    <a:p>
                      <a:pPr marL="0" indent="0" algn="ctr" eaLnBrk="1" latinLnBrk="0" hangingPunct="1">
                        <a:lnSpc>
                          <a:spcPct val="100000"/>
                        </a:lnSpc>
                        <a:spcBef>
                          <a:spcPts val="0"/>
                        </a:spcBef>
                        <a:spcAft>
                          <a:spcPts val="0"/>
                        </a:spcAft>
                        <a:buNone/>
                      </a:pPr>
                      <a:r>
                        <a:rPr lang="zh-CN" altLang="en-US" sz="2400" b="1" i="0" u="none" strike="noStrike" kern="1200" cap="none" spc="0" baseline="0">
                          <a:solidFill>
                            <a:srgbClr val="FFFFFF"/>
                          </a:solidFill>
                          <a:latin typeface="宋体" pitchFamily="0" charset="0"/>
                          <a:ea typeface="宋体" pitchFamily="0" charset="0"/>
                          <a:cs typeface="Calibri" pitchFamily="0" charset="0"/>
                        </a:rPr>
                        <a:t>直接逆滤波</a:t>
                      </a:r>
                      <a:endParaRPr lang="zh-CN" altLang="en-US" sz="2400" b="1" i="0" u="none" strike="noStrike" kern="1200" cap="none" spc="0" baseline="0">
                        <a:solidFill>
                          <a:srgbClr val="FFFFFF"/>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B9BD5"/>
                    </a:solidFill>
                  </a:tcPr>
                </a:tc>
                <a:tc>
                  <a:txBody>
                    <a:bodyPr/>
                    <a:lstStyle/>
                    <a:p>
                      <a:pPr marL="0" indent="0" algn="ctr" eaLnBrk="1" latinLnBrk="0" hangingPunct="1">
                        <a:lnSpc>
                          <a:spcPct val="100000"/>
                        </a:lnSpc>
                        <a:spcBef>
                          <a:spcPts val="0"/>
                        </a:spcBef>
                        <a:spcAft>
                          <a:spcPts val="0"/>
                        </a:spcAft>
                        <a:buNone/>
                      </a:pPr>
                      <a:r>
                        <a:rPr lang="zh-CN" altLang="en-US" sz="2400" b="1" i="0" u="none" strike="noStrike" kern="1200" cap="none" spc="0" baseline="0">
                          <a:solidFill>
                            <a:srgbClr val="FFFFFF"/>
                          </a:solidFill>
                          <a:latin typeface="宋体" pitchFamily="0" charset="0"/>
                          <a:ea typeface="宋体" pitchFamily="0" charset="0"/>
                          <a:cs typeface="Calibri" pitchFamily="0" charset="0"/>
                        </a:rPr>
                        <a:t>维纳滤波</a:t>
                      </a:r>
                      <a:endParaRPr lang="zh-CN" altLang="en-US" sz="2400" b="1" i="0" u="none" strike="noStrike" kern="1200" cap="none" spc="0" baseline="0">
                        <a:solidFill>
                          <a:srgbClr val="FFFFFF"/>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B9BD5"/>
                    </a:solidFill>
                  </a:tcPr>
                </a:tc>
                <a:tc>
                  <a:txBody>
                    <a:bodyPr/>
                    <a:lstStyle/>
                    <a:p>
                      <a:pPr marL="0" indent="0" algn="ctr" eaLnBrk="1" latinLnBrk="0" hangingPunct="1">
                        <a:lnSpc>
                          <a:spcPct val="100000"/>
                        </a:lnSpc>
                        <a:spcBef>
                          <a:spcPts val="0"/>
                        </a:spcBef>
                        <a:spcAft>
                          <a:spcPts val="0"/>
                        </a:spcAft>
                        <a:buNone/>
                      </a:pPr>
                      <a:r>
                        <a:rPr lang="zh-CN" altLang="en-US" sz="2400" b="1" i="0" u="none" strike="noStrike" kern="1200" cap="none" spc="0" baseline="0">
                          <a:solidFill>
                            <a:srgbClr val="FFFFFF"/>
                          </a:solidFill>
                          <a:latin typeface="宋体" pitchFamily="0" charset="0"/>
                          <a:ea typeface="宋体" pitchFamily="0" charset="0"/>
                          <a:cs typeface="Calibri" pitchFamily="0" charset="0"/>
                        </a:rPr>
                        <a:t>几何均值滤波</a:t>
                      </a:r>
                      <a:endParaRPr lang="zh-CN" altLang="en-US" sz="2400" b="1" i="0" u="none" strike="noStrike" kern="1200" cap="none" spc="0" baseline="0">
                        <a:solidFill>
                          <a:srgbClr val="FFFFFF"/>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B9BD5"/>
                    </a:solidFill>
                  </a:tcPr>
                </a:tc>
              </a:tr>
              <a:tr h="370831">
                <a:tc>
                  <a:txBody>
                    <a:bodyPr/>
                    <a:lstStyle/>
                    <a:p>
                      <a:pPr marL="0" indent="0" algn="l" eaLnBrk="1" latinLnBrk="0" hangingPunct="1">
                        <a:lnSpc>
                          <a:spcPct val="100000"/>
                        </a:lnSpc>
                        <a:spcBef>
                          <a:spcPts val="0"/>
                        </a:spcBef>
                        <a:spcAft>
                          <a:spcPts val="0"/>
                        </a:spcAft>
                        <a:buNone/>
                      </a:pPr>
                      <a:endParaRPr lang="en-US" altLang="zh-CN" sz="1800" b="0" i="0" u="none" strike="noStrike" kern="1200" cap="none" spc="0" baseline="0">
                        <a:solidFill>
                          <a:srgbClr val="000000"/>
                        </a:solidFill>
                        <a:latin typeface="Calibri" pitchFamily="0" charset="0"/>
                        <a:ea typeface="等线" pitchFamily="0" charset="0"/>
                        <a:cs typeface="Calibri" pitchFamily="0" charset="0"/>
                      </a:endParaRPr>
                    </a:p>
                    <a:p>
                      <a:pPr marL="0" indent="0" algn="l" eaLnBrk="1" latinLnBrk="0" hangingPunct="1">
                        <a:lnSpc>
                          <a:spcPct val="100000"/>
                        </a:lnSpc>
                        <a:spcBef>
                          <a:spcPts val="0"/>
                        </a:spcBef>
                        <a:spcAft>
                          <a:spcPts val="0"/>
                        </a:spcAft>
                        <a:buNone/>
                      </a:pPr>
                      <a:endParaRPr lang="en-US" altLang="zh-CN" sz="1800" b="0" i="0" u="none" strike="noStrike" kern="1200" cap="none" spc="0" baseline="0">
                        <a:solidFill>
                          <a:srgbClr val="000000"/>
                        </a:solidFill>
                        <a:latin typeface="Calibri" pitchFamily="0" charset="0"/>
                        <a:ea typeface="等线" pitchFamily="0" charset="0"/>
                        <a:cs typeface="Calibri" pitchFamily="0" charset="0"/>
                      </a:endParaRPr>
                    </a:p>
                    <a:p>
                      <a:pPr marL="0" indent="0" algn="l" eaLnBrk="1" latinLnBrk="0" hangingPunct="1">
                        <a:lnSpc>
                          <a:spcPct val="100000"/>
                        </a:lnSpc>
                        <a:spcBef>
                          <a:spcPts val="0"/>
                        </a:spcBef>
                        <a:spcAft>
                          <a:spcPts val="0"/>
                        </a:spcAft>
                        <a:buNone/>
                      </a:pPr>
                      <a:endParaRPr lang="en-US" altLang="zh-CN" sz="1800" b="0" i="0" u="none" strike="noStrike" kern="1200" cap="none" spc="0" baseline="0">
                        <a:solidFill>
                          <a:srgbClr val="000000"/>
                        </a:solidFill>
                        <a:latin typeface="Calibri" pitchFamily="0" charset="0"/>
                        <a:ea typeface="等线" pitchFamily="0" charset="0"/>
                        <a:cs typeface="Calibri" pitchFamily="0" charset="0"/>
                      </a:endParaRPr>
                    </a:p>
                    <a:p>
                      <a:pPr marL="0" indent="0" algn="l" eaLnBrk="1" latinLnBrk="0" hangingPunct="1">
                        <a:lnSpc>
                          <a:spcPct val="100000"/>
                        </a:lnSpc>
                        <a:spcBef>
                          <a:spcPts val="0"/>
                        </a:spcBef>
                        <a:spcAft>
                          <a:spcPts val="0"/>
                        </a:spcAft>
                        <a:buNone/>
                      </a:pPr>
                      <a:endParaRPr lang="zh-CN" altLang="en-US" sz="1800" b="0" i="0" u="none" strike="noStrike" kern="1200" cap="none" spc="0" baseline="0">
                        <a:solidFill>
                          <a:srgbClr val="000000"/>
                        </a:solidFill>
                        <a:latin typeface="Calibri" pitchFamily="0" charset="0"/>
                        <a:ea typeface="等线"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EEF"/>
                    </a:solidFill>
                  </a:tcPr>
                </a:tc>
                <a:tc>
                  <a:txBody>
                    <a:bodyPr/>
                    <a:lstStyle/>
                    <a:p>
                      <a:pPr marL="0" indent="0" algn="l" eaLnBrk="1" latinLnBrk="0" hangingPunct="1">
                        <a:lnSpc>
                          <a:spcPct val="100000"/>
                        </a:lnSpc>
                        <a:spcBef>
                          <a:spcPts val="0"/>
                        </a:spcBef>
                        <a:spcAft>
                          <a:spcPts val="0"/>
                        </a:spcAft>
                        <a:buNone/>
                      </a:pPr>
                      <a:endParaRPr lang="zh-CN" altLang="en-US" sz="1800" b="0" i="0" u="none" strike="noStrike" kern="1200" cap="none" spc="0" baseline="0">
                        <a:solidFill>
                          <a:srgbClr val="000000"/>
                        </a:solidFill>
                        <a:latin typeface="Calibri" pitchFamily="0" charset="0"/>
                        <a:ea typeface="等线"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EEF"/>
                    </a:solidFill>
                  </a:tcPr>
                </a:tc>
                <a:tc>
                  <a:txBody>
                    <a:bodyPr/>
                    <a:lstStyle/>
                    <a:p>
                      <a:pPr marL="0" indent="0" algn="l" eaLnBrk="1" latinLnBrk="0" hangingPunct="1">
                        <a:lnSpc>
                          <a:spcPct val="100000"/>
                        </a:lnSpc>
                        <a:spcBef>
                          <a:spcPts val="0"/>
                        </a:spcBef>
                        <a:spcAft>
                          <a:spcPts val="0"/>
                        </a:spcAft>
                        <a:buNone/>
                      </a:pPr>
                      <a:endParaRPr lang="zh-CN" altLang="en-US" sz="1800" b="0" i="0" u="none" strike="noStrike" kern="1200" cap="none" spc="0" baseline="0">
                        <a:solidFill>
                          <a:srgbClr val="000000"/>
                        </a:solidFill>
                        <a:latin typeface="Calibri" pitchFamily="0" charset="0"/>
                        <a:ea typeface="等线"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EEF"/>
                    </a:solidFill>
                  </a:tcPr>
                </a:tc>
              </a:tr>
              <a:tr h="370831">
                <a:tc>
                  <a:txBody>
                    <a:bodyPr/>
                    <a:lstStyle/>
                    <a:p>
                      <a:pPr marL="0" indent="0" algn="ctr" eaLnBrk="1" latinLnBrk="0" hangingPunct="1">
                        <a:lnSpc>
                          <a:spcPct val="100000"/>
                        </a:lnSpc>
                        <a:spcBef>
                          <a:spcPts val="0"/>
                        </a:spcBef>
                        <a:spcAft>
                          <a:spcPts val="0"/>
                        </a:spcAft>
                        <a:buNone/>
                      </a:pPr>
                      <a:r>
                        <a:rPr lang="zh-CN" altLang="en-US" sz="2400" b="0" i="0" u="none" strike="noStrike" kern="1200" cap="none" spc="0" baseline="0">
                          <a:solidFill>
                            <a:srgbClr val="000000"/>
                          </a:solidFill>
                          <a:latin typeface="宋体" pitchFamily="0" charset="0"/>
                          <a:ea typeface="宋体" pitchFamily="0" charset="0"/>
                          <a:cs typeface="Times New Roman" pitchFamily="0" charset="0"/>
                          <a:sym typeface="等线" pitchFamily="0" charset="0"/>
                        </a:rPr>
                        <a:t>当退化函数很小时，无法准确复原图像</a:t>
                      </a:r>
                      <a:endParaRPr lang="zh-CN" altLang="en-US" sz="24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9EFF7"/>
                    </a:solidFill>
                  </a:tcPr>
                </a:tc>
                <a:tc>
                  <a:txBody>
                    <a:bodyPr/>
                    <a:lstStyle/>
                    <a:p>
                      <a:pPr marL="0" indent="0" algn="ctr" eaLnBrk="1" latinLnBrk="0" hangingPunct="1">
                        <a:lnSpc>
                          <a:spcPct val="100000"/>
                        </a:lnSpc>
                        <a:spcBef>
                          <a:spcPts val="0"/>
                        </a:spcBef>
                        <a:spcAft>
                          <a:spcPts val="0"/>
                        </a:spcAft>
                        <a:buNone/>
                      </a:pPr>
                      <a:r>
                        <a:rPr lang="zh-CN" altLang="en-US" sz="2400" b="0" i="0" u="none" strike="noStrike" kern="1200" cap="none" spc="0" baseline="0">
                          <a:solidFill>
                            <a:srgbClr val="000000"/>
                          </a:solidFill>
                          <a:latin typeface="宋体" pitchFamily="0" charset="0"/>
                          <a:ea typeface="宋体" pitchFamily="0" charset="0"/>
                          <a:cs typeface="Calibri" pitchFamily="0" charset="0"/>
                        </a:rPr>
                        <a:t>综合考虑退化函数和噪声的统计特性</a:t>
                      </a:r>
                      <a:endParaRPr lang="en-US" altLang="zh-CN" sz="2400" b="0" i="0" u="none" strike="noStrike" kern="1200" cap="none" spc="0" baseline="0">
                        <a:solidFill>
                          <a:srgbClr val="000000"/>
                        </a:solidFill>
                        <a:latin typeface="宋体" pitchFamily="0" charset="0"/>
                        <a:ea typeface="宋体" pitchFamily="0" charset="0"/>
                        <a:cs typeface="Calibri" pitchFamily="0" charset="0"/>
                      </a:endParaRPr>
                    </a:p>
                    <a:p>
                      <a:pPr marL="0" indent="0" algn="ctr" eaLnBrk="1" latinLnBrk="0" hangingPunct="1">
                        <a:lnSpc>
                          <a:spcPct val="100000"/>
                        </a:lnSpc>
                        <a:spcBef>
                          <a:spcPts val="0"/>
                        </a:spcBef>
                        <a:spcAft>
                          <a:spcPts val="0"/>
                        </a:spcAft>
                        <a:buNone/>
                      </a:pPr>
                      <a:endParaRPr lang="zh-CN" altLang="en-US" sz="24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9EFF7"/>
                    </a:solidFill>
                  </a:tcPr>
                </a:tc>
                <a:tc>
                  <a:txBody>
                    <a:bodyPr/>
                    <a:lstStyle/>
                    <a:p>
                      <a:pPr marL="0" indent="0" algn="ctr" eaLnBrk="1" latinLnBrk="0" hangingPunct="1">
                        <a:lnSpc>
                          <a:spcPct val="100000"/>
                        </a:lnSpc>
                        <a:spcBef>
                          <a:spcPts val="0"/>
                        </a:spcBef>
                        <a:spcAft>
                          <a:spcPts val="0"/>
                        </a:spcAft>
                        <a:buNone/>
                      </a:pPr>
                      <a:r>
                        <a:rPr lang="zh-CN" altLang="en-US" sz="2400" b="0" i="0" u="none" strike="noStrike" kern="1200" cap="none" spc="0" baseline="0">
                          <a:solidFill>
                            <a:srgbClr val="000000"/>
                          </a:solidFill>
                          <a:latin typeface="宋体" pitchFamily="0" charset="0"/>
                          <a:ea typeface="宋体" pitchFamily="0" charset="0"/>
                          <a:cs typeface="Calibri" pitchFamily="0" charset="0"/>
                        </a:rPr>
                        <a:t>综合了逆滤波器与维纳滤波器，性能更强</a:t>
                      </a:r>
                      <a:endParaRPr lang="zh-CN" altLang="en-US" sz="2400" b="0" i="0" u="none" strike="noStrike" kern="1200" cap="none" spc="0" baseline="0">
                        <a:solidFill>
                          <a:srgbClr val="000000"/>
                        </a:solidFill>
                        <a:latin typeface="宋体" pitchFamily="0" charset="0"/>
                        <a:ea typeface="宋体" pitchFamily="0" charset="0"/>
                        <a:cs typeface="Calibri" pitchFamily="0" charset="0"/>
                      </a:endParaRPr>
                    </a:p>
                  </a:txBody>
                  <a:tcPr marL="91440" marT="45720" marR="91440" marB="4572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9EFF7"/>
                    </a:solidFill>
                  </a:tcPr>
                </a:tc>
              </a:tr>
            </a:tbl>
          </a:graphicData>
        </a:graphic>
      </p:graphicFrame>
      <p:pic>
        <p:nvPicPr>
          <p:cNvPr id="256" name="图片"/>
          <p:cNvPicPr>
            <a:picLocks noChangeAspect="1"/>
          </p:cNvPicPr>
          <p:nvPr/>
        </p:nvPicPr>
        <p:blipFill>
          <a:blip r:embed="rId2" cstate="print"/>
          <a:stretch>
            <a:fillRect/>
          </a:stretch>
        </p:blipFill>
        <p:spPr>
          <a:xfrm rot="0">
            <a:off x="524332" y="3481385"/>
            <a:ext cx="2009775" cy="659075"/>
          </a:xfrm>
          <a:prstGeom prst="rect"/>
          <a:noFill/>
          <a:ln w="12700" cmpd="sng" cap="flat">
            <a:noFill/>
            <a:prstDash val="solid"/>
            <a:miter/>
          </a:ln>
        </p:spPr>
      </p:pic>
      <p:pic>
        <p:nvPicPr>
          <p:cNvPr id="257" name="图片"/>
          <p:cNvPicPr>
            <a:picLocks noChangeAspect="1"/>
          </p:cNvPicPr>
          <p:nvPr/>
        </p:nvPicPr>
        <p:blipFill>
          <a:blip r:embed="rId3" cstate="print"/>
          <a:stretch>
            <a:fillRect/>
          </a:stretch>
        </p:blipFill>
        <p:spPr>
          <a:xfrm rot="0">
            <a:off x="2745697" y="3481385"/>
            <a:ext cx="3160050" cy="618383"/>
          </a:xfrm>
          <a:prstGeom prst="rect"/>
          <a:noFill/>
          <a:ln w="12700" cmpd="sng" cap="flat">
            <a:noFill/>
            <a:prstDash val="solid"/>
            <a:miter/>
          </a:ln>
        </p:spPr>
      </p:pic>
      <p:pic>
        <p:nvPicPr>
          <p:cNvPr id="258" name="图片"/>
          <p:cNvPicPr>
            <a:picLocks noChangeAspect="1"/>
          </p:cNvPicPr>
          <p:nvPr/>
        </p:nvPicPr>
        <p:blipFill>
          <a:blip r:embed="rId4" cstate="print"/>
          <a:stretch>
            <a:fillRect/>
          </a:stretch>
        </p:blipFill>
        <p:spPr>
          <a:xfrm rot="0">
            <a:off x="5994812" y="3481385"/>
            <a:ext cx="3160049" cy="618383"/>
          </a:xfrm>
          <a:prstGeom prst="rect"/>
          <a:noFill/>
          <a:ln w="12700" cmpd="sng" cap="flat">
            <a:noFill/>
            <a:prstDash val="solid"/>
            <a:miter/>
          </a:ln>
        </p:spPr>
      </p:pic>
      <p:sp>
        <p:nvSpPr>
          <p:cNvPr id="259" name="矩形"/>
          <p:cNvSpPr>
            <a:spLocks/>
          </p:cNvSpPr>
          <p:nvPr/>
        </p:nvSpPr>
        <p:spPr>
          <a:xfrm rot="0">
            <a:off x="8048368" y="1334093"/>
            <a:ext cx="1391163" cy="52321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800" b="0" i="1" u="none" strike="noStrike" kern="1200" cap="none" spc="0" baseline="0">
                <a:solidFill>
                  <a:srgbClr val="2E75B6"/>
                </a:solidFill>
                <a:latin typeface="Times New Roman" pitchFamily="0" charset="0"/>
                <a:ea typeface="宋体" pitchFamily="0" charset="0"/>
                <a:cs typeface="Times New Roman" pitchFamily="0" charset="0"/>
                <a:sym typeface="等线" pitchFamily="0" charset="0"/>
              </a:rPr>
              <a:t>H</a:t>
            </a:r>
            <a:r>
              <a:rPr lang="en-US" altLang="zh-CN" sz="2800" b="0" i="0" u="none" strike="noStrike" kern="1200" cap="none" spc="0" baseline="0">
                <a:solidFill>
                  <a:srgbClr val="2E75B6"/>
                </a:solidFill>
                <a:latin typeface="Times New Roman" pitchFamily="0" charset="0"/>
                <a:ea typeface="宋体" pitchFamily="0" charset="0"/>
                <a:cs typeface="Times New Roman" pitchFamily="0" charset="0"/>
                <a:sym typeface="等线" pitchFamily="0" charset="0"/>
              </a:rPr>
              <a:t>(</a:t>
            </a:r>
            <a:r>
              <a:rPr lang="en-US" altLang="zh-CN" sz="2800" b="0" i="1" u="none" strike="noStrike" kern="1200" cap="none" spc="0" baseline="0">
                <a:solidFill>
                  <a:srgbClr val="2E75B6"/>
                </a:solidFill>
                <a:latin typeface="Times New Roman" pitchFamily="0" charset="0"/>
                <a:ea typeface="宋体" pitchFamily="0" charset="0"/>
                <a:cs typeface="Times New Roman" pitchFamily="0" charset="0"/>
                <a:sym typeface="等线" pitchFamily="0" charset="0"/>
              </a:rPr>
              <a:t>u,v</a:t>
            </a:r>
            <a:r>
              <a:rPr lang="en-US" altLang="zh-CN" sz="2800" b="0" i="0" u="none" strike="noStrike" kern="1200" cap="none" spc="0" baseline="0">
                <a:solidFill>
                  <a:srgbClr val="2E75B6"/>
                </a:solidFill>
                <a:latin typeface="Times New Roman" pitchFamily="0" charset="0"/>
                <a:ea typeface="宋体" pitchFamily="0" charset="0"/>
                <a:cs typeface="Times New Roman" pitchFamily="0" charset="0"/>
                <a:sym typeface="等线" pitchFamily="0" charset="0"/>
              </a:rPr>
              <a:t>)</a:t>
            </a:r>
            <a:endParaRPr lang="zh-CN" altLang="en-US" sz="2800" b="0" i="0" u="none" strike="noStrike" kern="1200" cap="none" spc="0" baseline="0">
              <a:solidFill>
                <a:srgbClr val="2E75B6"/>
              </a:solidFill>
              <a:latin typeface="Calibri" pitchFamily="0" charset="0"/>
              <a:ea typeface="等线" pitchFamily="0" charset="0"/>
              <a:cs typeface="Calibri" pitchFamily="0" charset="0"/>
            </a:endParaRPr>
          </a:p>
        </p:txBody>
      </p:sp>
      <p:sp>
        <p:nvSpPr>
          <p:cNvPr id="260" name="右箭头"/>
          <p:cNvSpPr>
            <a:spLocks/>
          </p:cNvSpPr>
          <p:nvPr/>
        </p:nvSpPr>
        <p:spPr>
          <a:xfrm rot="0">
            <a:off x="7454365" y="1511545"/>
            <a:ext cx="520766" cy="159430"/>
          </a:xfrm>
          <a:prstGeom prst="rightArrow">
            <a:avLst>
              <a:gd name="adj1" fmla="val 50000"/>
              <a:gd name="adj2" fmla="val 135707"/>
            </a:avLst>
          </a:prstGeom>
          <a:noFill/>
          <a:ln w="12700" cmpd="sng" cap="flat">
            <a:solidFill>
              <a:srgbClr val="41719C"/>
            </a:solidFill>
            <a:prstDash val="solid"/>
            <a:miter/>
          </a:ln>
        </p:spPr>
      </p:sp>
    </p:spTree>
    <p:extLst>
      <p:ext uri="{BB962C8B-B14F-4D97-AF65-F5344CB8AC3E}">
        <p14:creationId xmlns:p14="http://schemas.microsoft.com/office/powerpoint/2010/main" val="1734340243"/>
      </p:ext>
    </p:extLst>
  </p:cSld>
  <p:clrMapOvr>
    <a:masterClrMapping/>
  </p:clrMapOvr>
</p:sld>
</file>

<file path=ppt/slides/slide1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264"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265"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266"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数字图像处理</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267" name="直线"/>
          <p:cNvSpPr>
            <a:spLocks/>
          </p:cNvSpPr>
          <p:nvPr/>
        </p:nvSpPr>
        <p:spPr>
          <a:xfrm rot="0">
            <a:off x="3009712" y="525055"/>
            <a:ext cx="1749287" cy="0"/>
          </a:xfrm>
          <a:prstGeom prst="line"/>
          <a:noFill/>
          <a:ln w="6350" cmpd="sng" cap="flat">
            <a:solidFill>
              <a:srgbClr val="000000"/>
            </a:solidFill>
            <a:prstDash val="solid"/>
            <a:round/>
          </a:ln>
        </p:spPr>
      </p:sp>
      <p:sp>
        <p:nvSpPr>
          <p:cNvPr id="268"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269"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Processing</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270" name="矩形"/>
          <p:cNvSpPr>
            <a:spLocks/>
          </p:cNvSpPr>
          <p:nvPr/>
        </p:nvSpPr>
        <p:spPr>
          <a:xfrm rot="0">
            <a:off x="2292709" y="3168761"/>
            <a:ext cx="4672964" cy="1901190"/>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6000" b="0" i="0" u="none" strike="noStrike" kern="1200" cap="none" spc="0" baseline="0">
                <a:solidFill>
                  <a:srgbClr val="1F4E79"/>
                </a:solidFill>
                <a:latin typeface="SimHei" pitchFamily="0" charset="-122"/>
                <a:ea typeface="SimHei" pitchFamily="0" charset="-122"/>
                <a:cs typeface="SimHei" pitchFamily="0" charset="-122"/>
              </a:rPr>
              <a:t>彩色图像处理</a:t>
            </a:r>
            <a:endParaRPr lang="en-US" altLang="zh-CN" sz="6000" b="0" i="0" u="none" strike="noStrike" kern="1200" cap="none" spc="0" baseline="0">
              <a:solidFill>
                <a:srgbClr val="1F4E79"/>
              </a:solidFill>
              <a:latin typeface="SimHei" pitchFamily="0" charset="-122"/>
              <a:ea typeface="SimHei" pitchFamily="0" charset="-122"/>
              <a:cs typeface="SimHei" pitchFamily="0" charset="-122"/>
            </a:endParaRPr>
          </a:p>
          <a:p>
            <a:pPr marL="0" indent="0" algn="ctr">
              <a:lnSpc>
                <a:spcPct val="100000"/>
              </a:lnSpc>
              <a:spcBef>
                <a:spcPts val="0"/>
              </a:spcBef>
              <a:spcAft>
                <a:spcPts val="0"/>
              </a:spcAft>
              <a:buNone/>
            </a:pPr>
            <a:endParaRPr lang="zh-CN" altLang="en-US" sz="6000" b="0" i="0" u="none" strike="noStrike" kern="1200" cap="none" spc="0" baseline="0">
              <a:solidFill>
                <a:srgbClr val="1F4E79"/>
              </a:solidFill>
              <a:latin typeface="SimHei" pitchFamily="0" charset="-122"/>
              <a:ea typeface="SimHei" pitchFamily="0" charset="-122"/>
              <a:cs typeface="SimHei" pitchFamily="0" charset="-122"/>
            </a:endParaRPr>
          </a:p>
        </p:txBody>
      </p:sp>
    </p:spTree>
    <p:extLst>
      <p:ext uri="{BB962C8B-B14F-4D97-AF65-F5344CB8AC3E}">
        <p14:creationId xmlns:p14="http://schemas.microsoft.com/office/powerpoint/2010/main" val="1676597378"/>
      </p:ext>
    </p:extLst>
  </p:cSld>
  <p:clrMapOvr>
    <a:masterClrMapping/>
  </p:clrMapOvr>
</p:sld>
</file>

<file path=ppt/slides/slide1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274"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275"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276"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数字图像处理</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277" name="直线"/>
          <p:cNvSpPr>
            <a:spLocks/>
          </p:cNvSpPr>
          <p:nvPr/>
        </p:nvSpPr>
        <p:spPr>
          <a:xfrm rot="0">
            <a:off x="3009712" y="525055"/>
            <a:ext cx="1749287" cy="0"/>
          </a:xfrm>
          <a:prstGeom prst="line"/>
          <a:noFill/>
          <a:ln w="6350" cmpd="sng" cap="flat">
            <a:solidFill>
              <a:srgbClr val="000000"/>
            </a:solidFill>
            <a:prstDash val="solid"/>
            <a:round/>
          </a:ln>
        </p:spPr>
      </p:sp>
      <p:sp>
        <p:nvSpPr>
          <p:cNvPr id="278"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279"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Processing</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280" name="矩形"/>
          <p:cNvSpPr>
            <a:spLocks noChangeAspect="1"/>
          </p:cNvSpPr>
          <p:nvPr/>
        </p:nvSpPr>
        <p:spPr>
          <a:xfrm rot="0">
            <a:off x="694481" y="1518285"/>
            <a:ext cx="7940233" cy="3108543"/>
          </a:xfrm>
          <a:prstGeom prst="rect"/>
          <a:blipFill rotWithShape="1">
            <a:blip r:embed="rId2"/>
            <a:stretch>
              <a:fillRect l="-1382" t="-2549" r="-3840"/>
            </a:stretch>
          </a:blip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1800" b="0" i="0" u="none" strike="noStrike" kern="1200" cap="none" spc="0" baseline="0">
                <a:noFill/>
                <a:latin typeface="Calibri" pitchFamily="0" charset="0"/>
                <a:ea typeface="等线" pitchFamily="0" charset="0"/>
                <a:cs typeface="Calibri" pitchFamily="0" charset="0"/>
              </a:rPr>
              <a:t> </a:t>
            </a:r>
            <a:endParaRPr lang="zh-CN" altLang="en-US" sz="1800" b="0" i="0" u="none" strike="noStrike" kern="1200" cap="none" spc="0" baseline="0">
              <a:no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729637282"/>
      </p:ext>
    </p:extLst>
  </p:cSld>
  <p:clrMapOvr>
    <a:masterClrMapping/>
  </p:clrMapOvr>
</p:sld>
</file>

<file path=ppt/slides/slide2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284"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285"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286"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数字图像处理</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287" name="直线"/>
          <p:cNvSpPr>
            <a:spLocks/>
          </p:cNvSpPr>
          <p:nvPr/>
        </p:nvSpPr>
        <p:spPr>
          <a:xfrm rot="0">
            <a:off x="3009712" y="525055"/>
            <a:ext cx="1749287" cy="0"/>
          </a:xfrm>
          <a:prstGeom prst="line"/>
          <a:noFill/>
          <a:ln w="6350" cmpd="sng" cap="flat">
            <a:solidFill>
              <a:srgbClr val="000000"/>
            </a:solidFill>
            <a:prstDash val="solid"/>
            <a:round/>
          </a:ln>
        </p:spPr>
      </p:sp>
      <p:sp>
        <p:nvSpPr>
          <p:cNvPr id="288"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289"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Processing</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290" name="矩形"/>
          <p:cNvSpPr>
            <a:spLocks/>
          </p:cNvSpPr>
          <p:nvPr/>
        </p:nvSpPr>
        <p:spPr>
          <a:xfrm rot="0">
            <a:off x="3039469" y="3168761"/>
            <a:ext cx="3179444" cy="996315"/>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6000" b="0" i="0" u="none" strike="noStrike" kern="1200" cap="none" spc="0" baseline="0">
                <a:solidFill>
                  <a:srgbClr val="1F4E79"/>
                </a:solidFill>
                <a:latin typeface="SimHei" pitchFamily="0" charset="-122"/>
                <a:ea typeface="SimHei" pitchFamily="0" charset="-122"/>
                <a:cs typeface="SimHei" pitchFamily="0" charset="-122"/>
              </a:rPr>
              <a:t>图像压缩</a:t>
            </a:r>
            <a:endParaRPr lang="zh-CN" altLang="en-US" sz="6000" b="0" i="0" u="none" strike="noStrike" kern="1200" cap="none" spc="0" baseline="0">
              <a:solidFill>
                <a:srgbClr val="1F4E79"/>
              </a:solidFill>
              <a:latin typeface="SimHei" pitchFamily="0" charset="-122"/>
              <a:ea typeface="SimHei" pitchFamily="0" charset="-122"/>
              <a:cs typeface="SimHei" pitchFamily="0" charset="-122"/>
            </a:endParaRPr>
          </a:p>
        </p:txBody>
      </p:sp>
    </p:spTree>
    <p:extLst>
      <p:ext uri="{BB962C8B-B14F-4D97-AF65-F5344CB8AC3E}">
        <p14:creationId xmlns:p14="http://schemas.microsoft.com/office/powerpoint/2010/main" val="651278652"/>
      </p:ext>
    </p:extLst>
  </p:cSld>
  <p:clrMapOvr>
    <a:masterClrMapping/>
  </p:clrMapOvr>
</p:sld>
</file>

<file path=ppt/slides/slide2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294"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295"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296"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数字图像处理</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297" name="直线"/>
          <p:cNvSpPr>
            <a:spLocks/>
          </p:cNvSpPr>
          <p:nvPr/>
        </p:nvSpPr>
        <p:spPr>
          <a:xfrm rot="0">
            <a:off x="3009712" y="525055"/>
            <a:ext cx="1749287" cy="0"/>
          </a:xfrm>
          <a:prstGeom prst="line"/>
          <a:noFill/>
          <a:ln w="6350" cmpd="sng" cap="flat">
            <a:solidFill>
              <a:srgbClr val="000000"/>
            </a:solidFill>
            <a:prstDash val="solid"/>
            <a:round/>
          </a:ln>
        </p:spPr>
      </p:sp>
      <p:sp>
        <p:nvSpPr>
          <p:cNvPr id="298"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299"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Processing</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300" name="矩形"/>
          <p:cNvSpPr>
            <a:spLocks/>
          </p:cNvSpPr>
          <p:nvPr/>
        </p:nvSpPr>
        <p:spPr>
          <a:xfrm rot="0">
            <a:off x="502919" y="1518285"/>
            <a:ext cx="8281035" cy="4739640"/>
          </a:xfrm>
          <a:prstGeom prst="rect"/>
          <a:noFill/>
          <a:ln w="12700" cmpd="sng" cap="flat">
            <a:noFill/>
            <a:prstDash val="solid"/>
            <a:miter/>
          </a:ln>
        </p:spPr>
        <p:txBody>
          <a:bodyPr vert="horz" wrap="square" lIns="91440" tIns="45720" rIns="91440" bIns="45720" anchor="t" anchorCtr="0">
            <a:prstTxWarp prst="textNoShape"/>
            <a:spAutoFit/>
          </a:bodyPr>
          <a:lstStyle/>
          <a:p>
            <a:pPr marL="457200" indent="-457200" algn="l">
              <a:lnSpc>
                <a:spcPct val="100000"/>
              </a:lnSpc>
              <a:spcBef>
                <a:spcPts val="0"/>
              </a:spcBef>
              <a:spcAft>
                <a:spcPts val="0"/>
              </a:spcAft>
              <a:buFont typeface="Wingdings" pitchFamily="2" charset="2"/>
              <a:buChar char=""/>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rPr>
              <a:t>基本概念：</a:t>
            </a: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endParaRPr>
          </a:p>
          <a:p>
            <a:pPr lvl="1" marL="914400" indent="-457200" algn="l">
              <a:lnSpc>
                <a:spcPct val="100000"/>
              </a:lnSpc>
              <a:spcBef>
                <a:spcPts val="0"/>
              </a:spcBef>
              <a:spcAft>
                <a:spcPts val="0"/>
              </a:spcAft>
              <a:buFont typeface="Wingdings" pitchFamily="2" charset="2"/>
              <a:buChar char=""/>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rPr>
              <a:t>图像压缩的基本概念及作用、压缩分类（有损与无损）、不同的冗余（编码冗余、时间与空间冗余、其它无关信息等）、变长编码、相对冗余、压缩前后的</a:t>
            </a:r>
            <a:r>
              <a:rPr lang="zh-CN" altLang="en-US" sz="2800" b="1" i="0" u="none" strike="noStrike" kern="1200" cap="none" spc="0" baseline="0">
                <a:solidFill>
                  <a:schemeClr val="tx1"/>
                </a:solidFill>
                <a:latin typeface="Times New Roman" pitchFamily="0" charset="0"/>
                <a:ea typeface="宋体" pitchFamily="0" charset="0"/>
                <a:cs typeface="Times New Roman" pitchFamily="0" charset="0"/>
              </a:rPr>
              <a:t>压缩率</a:t>
            </a: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rPr>
              <a:t>、如何计算图像的存储空间</a:t>
            </a: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endParaRPr>
          </a:p>
          <a:p>
            <a:pPr lvl="1" marL="914400" indent="-457200" algn="l">
              <a:lnSpc>
                <a:spcPct val="100000"/>
              </a:lnSpc>
              <a:spcBef>
                <a:spcPts val="0"/>
              </a:spcBef>
              <a:spcAft>
                <a:spcPts val="0"/>
              </a:spcAft>
              <a:buFont typeface="Wingdings" pitchFamily="2" charset="2"/>
              <a:buChar char=""/>
            </a:pP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rPr>
              <a:t>其中，</a:t>
            </a:r>
            <a:r>
              <a:rPr lang="en-US" altLang="zh-CN" sz="2400" b="0" i="0" u="none" strike="noStrike" kern="1200" cap="none" spc="0" baseline="0">
                <a:solidFill>
                  <a:schemeClr val="tx1"/>
                </a:solidFill>
                <a:latin typeface="Times New Roman" pitchFamily="0" charset="0"/>
                <a:ea typeface="宋体" pitchFamily="0" charset="0"/>
                <a:cs typeface="Times New Roman" pitchFamily="0" charset="0"/>
              </a:rPr>
              <a:t>1Byte=8bit</a:t>
            </a: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rPr>
              <a:t>，</a:t>
            </a:r>
            <a:r>
              <a:rPr lang="en-US" altLang="zh-CN" sz="2400" b="0" i="0" u="none" strike="noStrike" kern="1200" cap="none" spc="0" baseline="0">
                <a:solidFill>
                  <a:schemeClr val="tx1"/>
                </a:solidFill>
                <a:latin typeface="Times New Roman" pitchFamily="0" charset="0"/>
                <a:ea typeface="宋体" pitchFamily="0" charset="0"/>
                <a:cs typeface="Times New Roman" pitchFamily="0" charset="0"/>
              </a:rPr>
              <a:t>1KB=1024Byte</a:t>
            </a: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rPr>
              <a:t>，</a:t>
            </a:r>
            <a:r>
              <a:rPr lang="en-US" altLang="zh-CN" sz="2400" b="0" i="0" u="none" strike="noStrike" kern="1200" cap="none" spc="0" baseline="0">
                <a:solidFill>
                  <a:schemeClr val="tx1"/>
                </a:solidFill>
                <a:latin typeface="Times New Roman" pitchFamily="0" charset="0"/>
                <a:ea typeface="宋体" pitchFamily="0" charset="0"/>
                <a:cs typeface="Times New Roman" pitchFamily="0" charset="0"/>
              </a:rPr>
              <a:t>1MB=1024KB…</a:t>
            </a:r>
            <a:endParaRPr lang="en-US" altLang="zh-CN" sz="2400" b="0" i="0" u="none" strike="noStrike" kern="1200" cap="none" spc="0" baseline="0">
              <a:solidFill>
                <a:schemeClr val="tx1"/>
              </a:solidFill>
              <a:latin typeface="Times New Roman" pitchFamily="0" charset="0"/>
              <a:ea typeface="宋体" pitchFamily="0" charset="0"/>
              <a:cs typeface="Times New Roman" pitchFamily="0" charset="0"/>
            </a:endParaRPr>
          </a:p>
          <a:p>
            <a:pPr lvl="1" marL="457200" indent="0" algn="l">
              <a:lnSpc>
                <a:spcPct val="100000"/>
              </a:lnSpc>
              <a:spcBef>
                <a:spcPts val="0"/>
              </a:spcBef>
              <a:spcAft>
                <a:spcPts val="0"/>
              </a:spcAft>
              <a:buNone/>
            </a:pP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endParaRPr>
          </a:p>
          <a:p>
            <a:pPr marL="457200" indent="-457200" algn="l">
              <a:lnSpc>
                <a:spcPct val="100000"/>
              </a:lnSpc>
              <a:spcBef>
                <a:spcPts val="0"/>
              </a:spcBef>
              <a:spcAft>
                <a:spcPts val="0"/>
              </a:spcAft>
              <a:buFont typeface="Wingdings" pitchFamily="2" charset="2"/>
              <a:buChar char=""/>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rPr>
              <a:t>计算：</a:t>
            </a: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endParaRPr>
          </a:p>
          <a:p>
            <a:pPr lvl="1" marL="914400" indent="-457200" algn="l">
              <a:lnSpc>
                <a:spcPct val="100000"/>
              </a:lnSpc>
              <a:spcBef>
                <a:spcPts val="0"/>
              </a:spcBef>
              <a:spcAft>
                <a:spcPts val="0"/>
              </a:spcAft>
              <a:buFont typeface="Wingdings" pitchFamily="2" charset="2"/>
              <a:buChar char=""/>
            </a:pPr>
            <a:r>
              <a:rPr lang="zh-CN" altLang="en-US" sz="2800" b="1" i="0" u="none" strike="noStrike" kern="1200" cap="none" spc="0" baseline="0">
                <a:solidFill>
                  <a:srgbClr val="FF0000"/>
                </a:solidFill>
                <a:latin typeface="Times New Roman" pitchFamily="0" charset="0"/>
                <a:ea typeface="宋体" pitchFamily="0" charset="0"/>
                <a:cs typeface="Times New Roman" pitchFamily="0" charset="0"/>
              </a:rPr>
              <a:t>霍夫曼编码、行程编码、算术编码、</a:t>
            </a:r>
            <a:r>
              <a:rPr lang="en-US" altLang="zh-CN" sz="2800" b="1" i="0" u="none" strike="noStrike" kern="1200" cap="none" spc="0" baseline="0">
                <a:solidFill>
                  <a:srgbClr val="FF0000"/>
                </a:solidFill>
                <a:latin typeface="Times New Roman" pitchFamily="0" charset="0"/>
                <a:ea typeface="宋体" pitchFamily="0" charset="0"/>
                <a:cs typeface="Times New Roman" pitchFamily="0" charset="0"/>
              </a:rPr>
              <a:t>LZW</a:t>
            </a:r>
            <a:r>
              <a:rPr lang="zh-CN" altLang="en-US" sz="2800" b="1" i="0" u="none" strike="noStrike" kern="1200" cap="none" spc="0" baseline="0">
                <a:solidFill>
                  <a:srgbClr val="FF0000"/>
                </a:solidFill>
                <a:latin typeface="Times New Roman" pitchFamily="0" charset="0"/>
                <a:ea typeface="宋体" pitchFamily="0" charset="0"/>
                <a:cs typeface="Times New Roman" pitchFamily="0" charset="0"/>
              </a:rPr>
              <a:t>编码与解码</a:t>
            </a:r>
            <a:endParaRPr lang="zh-CN" altLang="en-US" sz="2800" b="1" i="0" u="none" strike="noStrike" kern="1200" cap="none" spc="0" baseline="0">
              <a:solidFill>
                <a:srgbClr val="FF0000"/>
              </a:solidFill>
              <a:latin typeface="Times New Roman" pitchFamily="0" charset="0"/>
              <a:ea typeface="宋体" pitchFamily="0" charset="0"/>
              <a:cs typeface="Times New Roman" pitchFamily="0" charset="0"/>
            </a:endParaRPr>
          </a:p>
        </p:txBody>
      </p:sp>
    </p:spTree>
    <p:extLst>
      <p:ext uri="{BB962C8B-B14F-4D97-AF65-F5344CB8AC3E}">
        <p14:creationId xmlns:p14="http://schemas.microsoft.com/office/powerpoint/2010/main" val="1269630114"/>
      </p:ext>
    </p:extLst>
  </p:cSld>
  <p:clrMapOvr>
    <a:masterClrMapping/>
  </p:clrMapOvr>
</p:sld>
</file>

<file path=ppt/slides/slide2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304"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305"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306"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数字图像处理</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307" name="直线"/>
          <p:cNvSpPr>
            <a:spLocks/>
          </p:cNvSpPr>
          <p:nvPr/>
        </p:nvSpPr>
        <p:spPr>
          <a:xfrm rot="0">
            <a:off x="3009712" y="525055"/>
            <a:ext cx="1749287" cy="0"/>
          </a:xfrm>
          <a:prstGeom prst="line"/>
          <a:noFill/>
          <a:ln w="6350" cmpd="sng" cap="flat">
            <a:solidFill>
              <a:srgbClr val="000000"/>
            </a:solidFill>
            <a:prstDash val="solid"/>
            <a:round/>
          </a:ln>
        </p:spPr>
      </p:sp>
      <p:sp>
        <p:nvSpPr>
          <p:cNvPr id="308"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309"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Processing</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310" name="矩形"/>
          <p:cNvSpPr>
            <a:spLocks/>
          </p:cNvSpPr>
          <p:nvPr/>
        </p:nvSpPr>
        <p:spPr>
          <a:xfrm rot="0">
            <a:off x="1919329" y="3168761"/>
            <a:ext cx="5419725" cy="996315"/>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6000" b="0" i="0" u="none" strike="noStrike" kern="1200" cap="none" spc="0" baseline="0">
                <a:solidFill>
                  <a:srgbClr val="1F4E79"/>
                </a:solidFill>
                <a:latin typeface="SimHei" pitchFamily="0" charset="-122"/>
                <a:ea typeface="SimHei" pitchFamily="0" charset="-122"/>
                <a:cs typeface="SimHei" pitchFamily="0" charset="-122"/>
              </a:rPr>
              <a:t>形态学图像处理</a:t>
            </a:r>
            <a:endParaRPr lang="zh-CN" altLang="en-US" sz="6000" b="0" i="0" u="none" strike="noStrike" kern="1200" cap="none" spc="0" baseline="0">
              <a:solidFill>
                <a:srgbClr val="1F4E79"/>
              </a:solidFill>
              <a:latin typeface="SimHei" pitchFamily="0" charset="-122"/>
              <a:ea typeface="SimHei" pitchFamily="0" charset="-122"/>
              <a:cs typeface="SimHei" pitchFamily="0" charset="-122"/>
            </a:endParaRPr>
          </a:p>
        </p:txBody>
      </p:sp>
    </p:spTree>
    <p:extLst>
      <p:ext uri="{BB962C8B-B14F-4D97-AF65-F5344CB8AC3E}">
        <p14:creationId xmlns:p14="http://schemas.microsoft.com/office/powerpoint/2010/main" val="1053583554"/>
      </p:ext>
    </p:extLst>
  </p:cSld>
  <p:clrMapOvr>
    <a:masterClrMapping/>
  </p:clrMapOvr>
</p:sld>
</file>

<file path=ppt/slides/slide2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314"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315"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316"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数字图像基础</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317" name="直线"/>
          <p:cNvSpPr>
            <a:spLocks/>
          </p:cNvSpPr>
          <p:nvPr/>
        </p:nvSpPr>
        <p:spPr>
          <a:xfrm rot="0">
            <a:off x="3009712" y="525055"/>
            <a:ext cx="1749287" cy="0"/>
          </a:xfrm>
          <a:prstGeom prst="line"/>
          <a:noFill/>
          <a:ln w="6350" cmpd="sng" cap="flat">
            <a:solidFill>
              <a:srgbClr val="000000"/>
            </a:solidFill>
            <a:prstDash val="solid"/>
            <a:round/>
          </a:ln>
        </p:spPr>
      </p:sp>
      <p:sp>
        <p:nvSpPr>
          <p:cNvPr id="318"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319"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Fundamentals</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320" name="矩形"/>
          <p:cNvSpPr>
            <a:spLocks/>
          </p:cNvSpPr>
          <p:nvPr/>
        </p:nvSpPr>
        <p:spPr>
          <a:xfrm rot="0">
            <a:off x="400050" y="1341119"/>
            <a:ext cx="8161021" cy="948690"/>
          </a:xfrm>
          <a:prstGeom prst="rect"/>
          <a:noFill/>
          <a:ln w="12700" cmpd="sng" cap="flat">
            <a:noFill/>
            <a:prstDash val="solid"/>
            <a:miter/>
          </a:ln>
        </p:spPr>
        <p:txBody>
          <a:bodyPr vert="horz" wrap="square" lIns="91440" tIns="45720" rIns="91440" bIns="45720" anchor="t" anchorCtr="0">
            <a:prstTxWarp prst="textNoShape"/>
            <a:spAutoFit/>
          </a:bodyPr>
          <a:lstStyle/>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基本概念：前景、背景、结构元、反射、平移</a:t>
            </a: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二值形态学基本操作及应用</a:t>
            </a:r>
            <a:r>
              <a:rPr lang="zh-CN" altLang="en-US" sz="20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（提取连通集、孔洞填充等）</a:t>
            </a:r>
            <a:endPar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p:txBody>
      </p:sp>
      <p:pic>
        <p:nvPicPr>
          <p:cNvPr id="321" name="图片"/>
          <p:cNvPicPr>
            <a:picLocks noChangeAspect="1"/>
          </p:cNvPicPr>
          <p:nvPr/>
        </p:nvPicPr>
        <p:blipFill>
          <a:blip r:embed="rId2" cstate="print"/>
          <a:srcRect b="50589" r="8014"/>
          <a:stretch>
            <a:fillRect/>
          </a:stretch>
        </p:blipFill>
        <p:spPr>
          <a:xfrm rot="0">
            <a:off x="-77000" y="2517448"/>
            <a:ext cx="4635347" cy="1669100"/>
          </a:xfrm>
          <a:prstGeom prst="rect"/>
          <a:noFill/>
          <a:ln w="12700" cmpd="sng" cap="flat">
            <a:noFill/>
            <a:prstDash val="solid"/>
            <a:miter/>
          </a:ln>
        </p:spPr>
      </p:pic>
      <p:pic>
        <p:nvPicPr>
          <p:cNvPr id="322" name="图片"/>
          <p:cNvPicPr>
            <a:picLocks noChangeAspect="1"/>
          </p:cNvPicPr>
          <p:nvPr/>
        </p:nvPicPr>
        <p:blipFill>
          <a:blip r:embed="rId3" cstate="print"/>
          <a:srcRect b="49944" r="1816"/>
          <a:stretch>
            <a:fillRect/>
          </a:stretch>
        </p:blipFill>
        <p:spPr>
          <a:xfrm rot="0">
            <a:off x="19878" y="4391986"/>
            <a:ext cx="4433606" cy="2164261"/>
          </a:xfrm>
          <a:prstGeom prst="rect"/>
          <a:noFill/>
          <a:ln w="12700" cmpd="sng" cap="flat">
            <a:noFill/>
            <a:prstDash val="solid"/>
            <a:miter/>
          </a:ln>
        </p:spPr>
      </p:pic>
      <p:sp>
        <p:nvSpPr>
          <p:cNvPr id="323" name="矩形"/>
          <p:cNvSpPr>
            <a:spLocks/>
          </p:cNvSpPr>
          <p:nvPr/>
        </p:nvSpPr>
        <p:spPr>
          <a:xfrm flipH="1" rot="0">
            <a:off x="1685290" y="2230063"/>
            <a:ext cx="895149" cy="35813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1800" b="0" i="0" u="none" strike="noStrike" kern="1200" cap="none" spc="0" baseline="0">
                <a:solidFill>
                  <a:srgbClr val="FF0000"/>
                </a:solidFill>
                <a:latin typeface="宋体" pitchFamily="0" charset="0"/>
                <a:ea typeface="宋体" pitchFamily="0" charset="0"/>
                <a:cs typeface="Calibri" pitchFamily="0" charset="0"/>
              </a:rPr>
              <a:t>腐蚀</a:t>
            </a:r>
            <a:endParaRPr lang="zh-CN" altLang="en-US" sz="1800" b="0" i="0" u="none" strike="noStrike" kern="1200" cap="none" spc="0" baseline="0">
              <a:solidFill>
                <a:srgbClr val="FF0000"/>
              </a:solidFill>
              <a:latin typeface="宋体" pitchFamily="0" charset="0"/>
              <a:ea typeface="宋体" pitchFamily="0" charset="0"/>
              <a:cs typeface="Calibri" pitchFamily="0" charset="0"/>
            </a:endParaRPr>
          </a:p>
        </p:txBody>
      </p:sp>
      <p:sp>
        <p:nvSpPr>
          <p:cNvPr id="324" name="矩形"/>
          <p:cNvSpPr>
            <a:spLocks/>
          </p:cNvSpPr>
          <p:nvPr/>
        </p:nvSpPr>
        <p:spPr>
          <a:xfrm flipH="1" rot="0">
            <a:off x="1789106" y="4224103"/>
            <a:ext cx="895148" cy="3581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1800" b="0" i="0" u="none" strike="noStrike" kern="1200" cap="none" spc="0" baseline="0">
                <a:solidFill>
                  <a:srgbClr val="FF0000"/>
                </a:solidFill>
                <a:latin typeface="宋体" pitchFamily="0" charset="0"/>
                <a:ea typeface="宋体" pitchFamily="0" charset="0"/>
                <a:cs typeface="Calibri" pitchFamily="0" charset="0"/>
              </a:rPr>
              <a:t>膨胀</a:t>
            </a:r>
            <a:endParaRPr lang="zh-CN" altLang="en-US" sz="1800" b="0" i="0" u="none" strike="noStrike" kern="1200" cap="none" spc="0" baseline="0">
              <a:solidFill>
                <a:srgbClr val="FF0000"/>
              </a:solidFill>
              <a:latin typeface="宋体" pitchFamily="0" charset="0"/>
              <a:ea typeface="宋体" pitchFamily="0" charset="0"/>
              <a:cs typeface="Calibri" pitchFamily="0" charset="0"/>
            </a:endParaRPr>
          </a:p>
        </p:txBody>
      </p:sp>
      <p:pic>
        <p:nvPicPr>
          <p:cNvPr id="325" name="图片"/>
          <p:cNvPicPr>
            <a:picLocks noChangeAspect="1"/>
          </p:cNvPicPr>
          <p:nvPr/>
        </p:nvPicPr>
        <p:blipFill>
          <a:blip r:embed="rId4" cstate="print"/>
          <a:srcRect t="50310"/>
          <a:stretch>
            <a:fillRect/>
          </a:stretch>
        </p:blipFill>
        <p:spPr>
          <a:xfrm rot="0">
            <a:off x="4558347" y="2864007"/>
            <a:ext cx="4463152" cy="1343110"/>
          </a:xfrm>
          <a:prstGeom prst="rect"/>
          <a:noFill/>
          <a:ln w="12700" cmpd="sng" cap="flat">
            <a:noFill/>
            <a:prstDash val="solid"/>
            <a:miter/>
          </a:ln>
        </p:spPr>
      </p:pic>
      <p:pic>
        <p:nvPicPr>
          <p:cNvPr id="326" name="图片"/>
          <p:cNvPicPr>
            <a:picLocks noChangeAspect="1"/>
          </p:cNvPicPr>
          <p:nvPr/>
        </p:nvPicPr>
        <p:blipFill>
          <a:blip r:embed="rId5" cstate="print"/>
          <a:srcRect t="50514"/>
          <a:stretch>
            <a:fillRect/>
          </a:stretch>
        </p:blipFill>
        <p:spPr>
          <a:xfrm rot="0">
            <a:off x="4572000" y="5003412"/>
            <a:ext cx="4370311" cy="1304008"/>
          </a:xfrm>
          <a:prstGeom prst="rect"/>
          <a:noFill/>
          <a:ln w="12700" cmpd="sng" cap="flat">
            <a:noFill/>
            <a:prstDash val="solid"/>
            <a:miter/>
          </a:ln>
        </p:spPr>
      </p:pic>
      <p:sp>
        <p:nvSpPr>
          <p:cNvPr id="327" name="矩形"/>
          <p:cNvSpPr>
            <a:spLocks/>
          </p:cNvSpPr>
          <p:nvPr/>
        </p:nvSpPr>
        <p:spPr>
          <a:xfrm flipH="1" rot="0">
            <a:off x="4788833" y="2160561"/>
            <a:ext cx="3936643" cy="6248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1800" b="0" i="0" u="none" strike="noStrike" kern="1200" cap="none" spc="0" baseline="0">
                <a:solidFill>
                  <a:srgbClr val="FF0000"/>
                </a:solidFill>
                <a:latin typeface="宋体" pitchFamily="0" charset="0"/>
                <a:ea typeface="宋体" pitchFamily="0" charset="0"/>
                <a:cs typeface="Calibri" pitchFamily="0" charset="0"/>
              </a:rPr>
              <a:t>开操作：先腐蚀，再膨胀</a:t>
            </a:r>
            <a:endParaRPr lang="en-US" altLang="zh-CN" sz="1800" b="0" i="0" u="none" strike="noStrike" kern="1200" cap="none" spc="0" baseline="0">
              <a:solidFill>
                <a:srgbClr val="FF0000"/>
              </a:solidFill>
              <a:latin typeface="宋体" pitchFamily="0" charset="0"/>
              <a:ea typeface="宋体" pitchFamily="0" charset="0"/>
              <a:cs typeface="Calibri" pitchFamily="0" charset="0"/>
            </a:endParaRPr>
          </a:p>
          <a:p>
            <a:pPr marL="0" indent="0" algn="ctr">
              <a:lnSpc>
                <a:spcPct val="100000"/>
              </a:lnSpc>
              <a:spcBef>
                <a:spcPts val="0"/>
              </a:spcBef>
              <a:spcAft>
                <a:spcPts val="0"/>
              </a:spcAft>
              <a:buNone/>
            </a:pPr>
            <a:r>
              <a:rPr lang="zh-CN" altLang="en-US" sz="1800" b="0" i="0" u="none" strike="noStrike" kern="1200" cap="none" spc="0" baseline="0">
                <a:solidFill>
                  <a:srgbClr val="000000"/>
                </a:solidFill>
                <a:latin typeface="Times New Roman" pitchFamily="0" charset="0"/>
                <a:ea typeface="宋体" pitchFamily="0" charset="0"/>
                <a:cs typeface="Times New Roman" pitchFamily="0" charset="0"/>
                <a:sym typeface="等线" pitchFamily="0" charset="0"/>
              </a:rPr>
              <a:t>断开狭窄的连接、消除细长的突出物</a:t>
            </a:r>
            <a:endParaRPr lang="zh-CN" altLang="en-US" sz="1800" b="0" i="0" u="none" strike="noStrike" kern="1200" cap="none" spc="0" baseline="0">
              <a:solidFill>
                <a:srgbClr val="FF0000"/>
              </a:solidFill>
              <a:latin typeface="宋体" pitchFamily="0" charset="0"/>
              <a:ea typeface="宋体" pitchFamily="0" charset="0"/>
              <a:cs typeface="Calibri" pitchFamily="0" charset="0"/>
            </a:endParaRPr>
          </a:p>
        </p:txBody>
      </p:sp>
      <p:sp>
        <p:nvSpPr>
          <p:cNvPr id="328" name="矩形"/>
          <p:cNvSpPr>
            <a:spLocks/>
          </p:cNvSpPr>
          <p:nvPr/>
        </p:nvSpPr>
        <p:spPr>
          <a:xfrm flipH="1" rot="0">
            <a:off x="4728621" y="4282099"/>
            <a:ext cx="4096282" cy="62483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1800" b="0" i="0" u="none" strike="noStrike" kern="1200" cap="none" spc="0" baseline="0">
                <a:solidFill>
                  <a:srgbClr val="FF0000"/>
                </a:solidFill>
                <a:latin typeface="宋体" pitchFamily="0" charset="0"/>
                <a:ea typeface="宋体" pitchFamily="0" charset="0"/>
                <a:cs typeface="Calibri" pitchFamily="0" charset="0"/>
              </a:rPr>
              <a:t>闭操作：先膨胀，再腐蚀</a:t>
            </a:r>
            <a:endParaRPr lang="en-US" altLang="zh-CN" sz="1800" b="0" i="0" u="none" strike="noStrike" kern="1200" cap="none" spc="0" baseline="0">
              <a:solidFill>
                <a:srgbClr val="FF0000"/>
              </a:solidFill>
              <a:latin typeface="宋体" pitchFamily="0" charset="0"/>
              <a:ea typeface="宋体" pitchFamily="0" charset="0"/>
              <a:cs typeface="Calibri" pitchFamily="0" charset="0"/>
            </a:endParaRPr>
          </a:p>
          <a:p>
            <a:pPr marL="0" indent="0" algn="ctr">
              <a:lnSpc>
                <a:spcPct val="100000"/>
              </a:lnSpc>
              <a:spcBef>
                <a:spcPts val="0"/>
              </a:spcBef>
              <a:spcAft>
                <a:spcPts val="0"/>
              </a:spcAft>
              <a:buNone/>
            </a:pPr>
            <a:r>
              <a:rPr lang="zh-CN" altLang="en-US" sz="1800" b="0" i="0" u="none" strike="noStrike" kern="1200" cap="none" spc="0" baseline="0">
                <a:solidFill>
                  <a:srgbClr val="000000"/>
                </a:solidFill>
                <a:latin typeface="Times New Roman" pitchFamily="0" charset="0"/>
                <a:ea typeface="宋体" pitchFamily="0" charset="0"/>
                <a:cs typeface="Times New Roman" pitchFamily="0" charset="0"/>
                <a:sym typeface="等线" pitchFamily="0" charset="0"/>
              </a:rPr>
              <a:t>弥合狭窄的断裂、消除小孔、填补缝隙</a:t>
            </a:r>
            <a:endParaRPr lang="zh-CN" altLang="en-US" sz="1800" b="0" i="0" u="none" strike="noStrike" kern="1200" cap="none" spc="0" baseline="0">
              <a:solidFill>
                <a:srgbClr val="FF0000"/>
              </a:solidFill>
              <a:latin typeface="宋体" pitchFamily="0" charset="0"/>
              <a:ea typeface="宋体" pitchFamily="0" charset="0"/>
              <a:cs typeface="Calibri" pitchFamily="0" charset="0"/>
            </a:endParaRPr>
          </a:p>
        </p:txBody>
      </p:sp>
    </p:spTree>
    <p:extLst>
      <p:ext uri="{BB962C8B-B14F-4D97-AF65-F5344CB8AC3E}">
        <p14:creationId xmlns:p14="http://schemas.microsoft.com/office/powerpoint/2010/main" val="2073472934"/>
      </p:ext>
    </p:extLst>
  </p:cSld>
  <p:clrMapOvr>
    <a:masterClrMapping/>
  </p:clrMapOvr>
</p:sld>
</file>

<file path=ppt/slides/slide2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332"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333"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334"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数字图像基础</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335" name="直线"/>
          <p:cNvSpPr>
            <a:spLocks/>
          </p:cNvSpPr>
          <p:nvPr/>
        </p:nvSpPr>
        <p:spPr>
          <a:xfrm rot="0">
            <a:off x="3009712" y="525055"/>
            <a:ext cx="1749287" cy="0"/>
          </a:xfrm>
          <a:prstGeom prst="line"/>
          <a:noFill/>
          <a:ln w="6350" cmpd="sng" cap="flat">
            <a:solidFill>
              <a:srgbClr val="000000"/>
            </a:solidFill>
            <a:prstDash val="solid"/>
            <a:round/>
          </a:ln>
        </p:spPr>
      </p:sp>
      <p:sp>
        <p:nvSpPr>
          <p:cNvPr id="336"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337"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Fundamentals</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338" name="矩形"/>
          <p:cNvSpPr>
            <a:spLocks/>
          </p:cNvSpPr>
          <p:nvPr/>
        </p:nvSpPr>
        <p:spPr>
          <a:xfrm rot="0">
            <a:off x="400050" y="1341119"/>
            <a:ext cx="8743950" cy="1215390"/>
          </a:xfrm>
          <a:prstGeom prst="rect"/>
          <a:noFill/>
          <a:ln w="12700" cmpd="sng" cap="flat">
            <a:noFill/>
            <a:prstDash val="solid"/>
            <a:miter/>
          </a:ln>
        </p:spPr>
        <p:txBody>
          <a:bodyPr vert="horz" wrap="square" lIns="91440" tIns="45720" rIns="91440" bIns="45720" anchor="t" anchorCtr="0">
            <a:prstTxWarp prst="textNoShape"/>
            <a:spAutoFit/>
          </a:bodyPr>
          <a:lstStyle/>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基本概念：平坦结构元、非平坦结构元</a:t>
            </a: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灰度图像形态学基本操作及应用</a:t>
            </a:r>
            <a:r>
              <a:rPr lang="zh-CN" altLang="en-US" sz="1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（平滑、纹理分割、顶帽底帽等）</a:t>
            </a:r>
            <a:endPar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p:txBody>
      </p:sp>
      <p:sp>
        <p:nvSpPr>
          <p:cNvPr id="339" name="矩形"/>
          <p:cNvSpPr>
            <a:spLocks/>
          </p:cNvSpPr>
          <p:nvPr/>
        </p:nvSpPr>
        <p:spPr>
          <a:xfrm rot="0">
            <a:off x="962326" y="2345843"/>
            <a:ext cx="1934844" cy="386715"/>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000" b="1" i="0" u="none" strike="noStrike" kern="1200" cap="none" spc="0" baseline="0">
                <a:solidFill>
                  <a:srgbClr val="FF0000"/>
                </a:solidFill>
                <a:latin typeface="Calibri" pitchFamily="0" charset="0"/>
                <a:ea typeface="等线" pitchFamily="0" charset="0"/>
                <a:cs typeface="Calibri" pitchFamily="0" charset="0"/>
              </a:rPr>
              <a:t>平坦结构元</a:t>
            </a:r>
            <a:r>
              <a:rPr lang="zh-CN" altLang="en-US" sz="2000" b="1" i="0" u="none" strike="noStrike" kern="1200" cap="none" spc="0" baseline="0">
                <a:solidFill>
                  <a:srgbClr val="2E75B6"/>
                </a:solidFill>
                <a:latin typeface="Calibri" pitchFamily="0" charset="0"/>
                <a:ea typeface="等线" pitchFamily="0" charset="0"/>
                <a:cs typeface="Calibri" pitchFamily="0" charset="0"/>
              </a:rPr>
              <a:t>腐蚀</a:t>
            </a:r>
            <a:endParaRPr lang="zh-CN" altLang="en-US" sz="2000" b="1" i="0" u="none" strike="noStrike" kern="1200" cap="none" spc="0" baseline="0">
              <a:solidFill>
                <a:srgbClr val="2E75B6"/>
              </a:solidFill>
              <a:latin typeface="Calibri" pitchFamily="0" charset="0"/>
              <a:ea typeface="等线" pitchFamily="0" charset="0"/>
              <a:cs typeface="Calibri" pitchFamily="0" charset="0"/>
            </a:endParaRPr>
          </a:p>
        </p:txBody>
      </p:sp>
      <p:pic>
        <p:nvPicPr>
          <p:cNvPr id="340" name="图片"/>
          <p:cNvPicPr>
            <a:picLocks noChangeAspect="1"/>
          </p:cNvPicPr>
          <p:nvPr/>
        </p:nvPicPr>
        <p:blipFill>
          <a:blip r:embed="rId2" cstate="print"/>
          <a:stretch>
            <a:fillRect/>
          </a:stretch>
        </p:blipFill>
        <p:spPr>
          <a:xfrm rot="0">
            <a:off x="3561017" y="2280102"/>
            <a:ext cx="3912826" cy="569717"/>
          </a:xfrm>
          <a:prstGeom prst="rect"/>
          <a:noFill/>
          <a:ln w="12700" cmpd="sng" cap="flat">
            <a:noFill/>
            <a:prstDash val="solid"/>
            <a:miter/>
          </a:ln>
        </p:spPr>
      </p:pic>
      <p:sp>
        <p:nvSpPr>
          <p:cNvPr id="341" name="矩形"/>
          <p:cNvSpPr>
            <a:spLocks/>
          </p:cNvSpPr>
          <p:nvPr/>
        </p:nvSpPr>
        <p:spPr>
          <a:xfrm rot="0">
            <a:off x="962326" y="2864965"/>
            <a:ext cx="1934844" cy="386715"/>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000" b="1" i="0" u="none" strike="noStrike" kern="1200" cap="none" spc="0" baseline="0">
                <a:solidFill>
                  <a:srgbClr val="FF0000"/>
                </a:solidFill>
                <a:latin typeface="Calibri" pitchFamily="0" charset="0"/>
                <a:ea typeface="等线" pitchFamily="0" charset="0"/>
                <a:cs typeface="Calibri" pitchFamily="0" charset="0"/>
              </a:rPr>
              <a:t>平坦结构元</a:t>
            </a:r>
            <a:r>
              <a:rPr lang="zh-CN" altLang="en-US" sz="2000" b="1" i="0" u="none" strike="noStrike" kern="1200" cap="none" spc="0" baseline="0">
                <a:solidFill>
                  <a:srgbClr val="2E75B6"/>
                </a:solidFill>
                <a:latin typeface="Calibri" pitchFamily="0" charset="0"/>
                <a:ea typeface="等线" pitchFamily="0" charset="0"/>
                <a:cs typeface="Calibri" pitchFamily="0" charset="0"/>
              </a:rPr>
              <a:t>膨胀</a:t>
            </a:r>
            <a:endParaRPr lang="zh-CN" altLang="en-US" sz="2000" b="1" i="0" u="none" strike="noStrike" kern="1200" cap="none" spc="0" baseline="0">
              <a:solidFill>
                <a:srgbClr val="2E75B6"/>
              </a:solidFill>
              <a:latin typeface="Calibri" pitchFamily="0" charset="0"/>
              <a:ea typeface="等线" pitchFamily="0" charset="0"/>
              <a:cs typeface="Calibri" pitchFamily="0" charset="0"/>
            </a:endParaRPr>
          </a:p>
        </p:txBody>
      </p:sp>
      <p:pic>
        <p:nvPicPr>
          <p:cNvPr id="342" name="图片"/>
          <p:cNvPicPr>
            <a:picLocks noChangeAspect="1"/>
          </p:cNvPicPr>
          <p:nvPr/>
        </p:nvPicPr>
        <p:blipFill>
          <a:blip r:embed="rId3" cstate="print"/>
          <a:stretch>
            <a:fillRect/>
          </a:stretch>
        </p:blipFill>
        <p:spPr>
          <a:xfrm rot="0">
            <a:off x="3636507" y="2737822"/>
            <a:ext cx="4006497" cy="733283"/>
          </a:xfrm>
          <a:prstGeom prst="rect"/>
          <a:noFill/>
          <a:ln w="12700" cmpd="sng" cap="flat">
            <a:noFill/>
            <a:prstDash val="solid"/>
            <a:miter/>
          </a:ln>
        </p:spPr>
      </p:pic>
      <p:sp>
        <p:nvSpPr>
          <p:cNvPr id="343" name="矩形"/>
          <p:cNvSpPr>
            <a:spLocks/>
          </p:cNvSpPr>
          <p:nvPr/>
        </p:nvSpPr>
        <p:spPr>
          <a:xfrm rot="0">
            <a:off x="897237" y="3388485"/>
            <a:ext cx="2183764" cy="386715"/>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000" b="1" i="0" u="none" strike="noStrike" kern="1200" cap="none" spc="0" baseline="0">
                <a:solidFill>
                  <a:srgbClr val="FF0000"/>
                </a:solidFill>
                <a:latin typeface="Calibri" pitchFamily="0" charset="0"/>
                <a:ea typeface="等线" pitchFamily="0" charset="0"/>
                <a:cs typeface="Calibri" pitchFamily="0" charset="0"/>
              </a:rPr>
              <a:t>非平坦结构元</a:t>
            </a:r>
            <a:r>
              <a:rPr lang="zh-CN" altLang="en-US" sz="2000" b="1" i="0" u="none" strike="noStrike" kern="1200" cap="none" spc="0" baseline="0">
                <a:solidFill>
                  <a:srgbClr val="2E75B6"/>
                </a:solidFill>
                <a:latin typeface="Calibri" pitchFamily="0" charset="0"/>
                <a:ea typeface="等线" pitchFamily="0" charset="0"/>
                <a:cs typeface="Calibri" pitchFamily="0" charset="0"/>
              </a:rPr>
              <a:t>腐蚀</a:t>
            </a:r>
            <a:endParaRPr lang="zh-CN" altLang="en-US" sz="2000" b="1" i="0" u="none" strike="noStrike" kern="1200" cap="none" spc="0" baseline="0">
              <a:solidFill>
                <a:srgbClr val="2E75B6"/>
              </a:solidFill>
              <a:latin typeface="Calibri" pitchFamily="0" charset="0"/>
              <a:ea typeface="等线" pitchFamily="0" charset="0"/>
              <a:cs typeface="Calibri" pitchFamily="0" charset="0"/>
            </a:endParaRPr>
          </a:p>
        </p:txBody>
      </p:sp>
      <p:sp>
        <p:nvSpPr>
          <p:cNvPr id="344" name="矩形"/>
          <p:cNvSpPr>
            <a:spLocks/>
          </p:cNvSpPr>
          <p:nvPr/>
        </p:nvSpPr>
        <p:spPr>
          <a:xfrm rot="0">
            <a:off x="897237" y="4024832"/>
            <a:ext cx="2183764" cy="386715"/>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000" b="1" i="0" u="none" strike="noStrike" kern="1200" cap="none" spc="0" baseline="0">
                <a:solidFill>
                  <a:srgbClr val="FF0000"/>
                </a:solidFill>
                <a:latin typeface="Calibri" pitchFamily="0" charset="0"/>
                <a:ea typeface="等线" pitchFamily="0" charset="0"/>
                <a:cs typeface="Calibri" pitchFamily="0" charset="0"/>
              </a:rPr>
              <a:t>非平坦结构元</a:t>
            </a:r>
            <a:r>
              <a:rPr lang="zh-CN" altLang="en-US" sz="2000" b="1" i="0" u="none" strike="noStrike" kern="1200" cap="none" spc="0" baseline="0">
                <a:solidFill>
                  <a:srgbClr val="2E75B6"/>
                </a:solidFill>
                <a:latin typeface="Calibri" pitchFamily="0" charset="0"/>
                <a:ea typeface="等线" pitchFamily="0" charset="0"/>
                <a:cs typeface="Calibri" pitchFamily="0" charset="0"/>
              </a:rPr>
              <a:t>膨胀</a:t>
            </a:r>
            <a:endParaRPr lang="zh-CN" altLang="en-US" sz="2000" b="1" i="0" u="none" strike="noStrike" kern="1200" cap="none" spc="0" baseline="0">
              <a:solidFill>
                <a:srgbClr val="2E75B6"/>
              </a:solidFill>
              <a:latin typeface="Calibri" pitchFamily="0" charset="0"/>
              <a:ea typeface="等线" pitchFamily="0" charset="0"/>
              <a:cs typeface="Calibri" pitchFamily="0" charset="0"/>
            </a:endParaRPr>
          </a:p>
        </p:txBody>
      </p:sp>
      <p:pic>
        <p:nvPicPr>
          <p:cNvPr id="345" name="图片"/>
          <p:cNvPicPr>
            <a:picLocks noChangeAspect="1"/>
          </p:cNvPicPr>
          <p:nvPr/>
        </p:nvPicPr>
        <p:blipFill>
          <a:blip r:embed="rId4" cstate="print"/>
          <a:stretch>
            <a:fillRect/>
          </a:stretch>
        </p:blipFill>
        <p:spPr>
          <a:xfrm rot="0">
            <a:off x="3449733" y="3374491"/>
            <a:ext cx="4731370" cy="526665"/>
          </a:xfrm>
          <a:prstGeom prst="rect"/>
          <a:noFill/>
          <a:ln w="12700" cmpd="sng" cap="flat">
            <a:noFill/>
            <a:prstDash val="solid"/>
            <a:miter/>
          </a:ln>
        </p:spPr>
      </p:pic>
      <p:pic>
        <p:nvPicPr>
          <p:cNvPr id="346" name="图片"/>
          <p:cNvPicPr>
            <a:picLocks noChangeAspect="1"/>
          </p:cNvPicPr>
          <p:nvPr/>
        </p:nvPicPr>
        <p:blipFill>
          <a:blip r:embed="rId5" cstate="print"/>
          <a:stretch>
            <a:fillRect/>
          </a:stretch>
        </p:blipFill>
        <p:spPr>
          <a:xfrm rot="0">
            <a:off x="3465153" y="3954526"/>
            <a:ext cx="4718499" cy="536143"/>
          </a:xfrm>
          <a:prstGeom prst="rect"/>
          <a:noFill/>
          <a:ln w="12700" cmpd="sng" cap="flat">
            <a:noFill/>
            <a:prstDash val="solid"/>
            <a:miter/>
          </a:ln>
        </p:spPr>
      </p:pic>
      <p:sp>
        <p:nvSpPr>
          <p:cNvPr id="347" name="矩形"/>
          <p:cNvSpPr>
            <a:spLocks/>
          </p:cNvSpPr>
          <p:nvPr/>
        </p:nvSpPr>
        <p:spPr>
          <a:xfrm rot="0">
            <a:off x="2089279" y="4604672"/>
            <a:ext cx="1840864" cy="45339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400" b="0"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rPr>
              <a:t>开操作</a:t>
            </a:r>
            <a:endParaRPr lang="zh-CN" altLang="en-US" sz="2400" b="0"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endParaRPr>
          </a:p>
        </p:txBody>
      </p:sp>
      <p:sp>
        <p:nvSpPr>
          <p:cNvPr id="348" name="矩形"/>
          <p:cNvSpPr>
            <a:spLocks/>
          </p:cNvSpPr>
          <p:nvPr/>
        </p:nvSpPr>
        <p:spPr>
          <a:xfrm rot="0">
            <a:off x="6114317" y="4550371"/>
            <a:ext cx="1675743" cy="45338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400" b="0"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rPr>
              <a:t>闭操作</a:t>
            </a:r>
            <a:endParaRPr lang="zh-CN" altLang="en-US" sz="2400" b="0" i="0" u="none" strike="noStrike" kern="1200" cap="none" spc="0" baseline="0">
              <a:solidFill>
                <a:srgbClr val="FF0000"/>
              </a:solidFill>
              <a:latin typeface="Times New Roman" pitchFamily="0" charset="0"/>
              <a:ea typeface="宋体" pitchFamily="0" charset="0"/>
              <a:cs typeface="Times New Roman" pitchFamily="0" charset="0"/>
              <a:sym typeface="等线" pitchFamily="0" charset="0"/>
            </a:endParaRPr>
          </a:p>
        </p:txBody>
      </p:sp>
      <p:pic>
        <p:nvPicPr>
          <p:cNvPr id="349" name="图片"/>
          <p:cNvPicPr>
            <a:picLocks noChangeAspect="1"/>
          </p:cNvPicPr>
          <p:nvPr/>
        </p:nvPicPr>
        <p:blipFill>
          <a:blip r:embed="rId6" cstate="print"/>
          <a:stretch>
            <a:fillRect/>
          </a:stretch>
        </p:blipFill>
        <p:spPr>
          <a:xfrm rot="0">
            <a:off x="967347" y="5114831"/>
            <a:ext cx="2962796" cy="1094256"/>
          </a:xfrm>
          <a:prstGeom prst="rect"/>
          <a:noFill/>
          <a:ln w="12700" cmpd="sng" cap="flat">
            <a:noFill/>
            <a:prstDash val="solid"/>
            <a:miter/>
          </a:ln>
        </p:spPr>
      </p:pic>
      <p:pic>
        <p:nvPicPr>
          <p:cNvPr id="350" name="图片"/>
          <p:cNvPicPr>
            <a:picLocks noChangeAspect="1"/>
          </p:cNvPicPr>
          <p:nvPr/>
        </p:nvPicPr>
        <p:blipFill>
          <a:blip r:embed="rId7" cstate="print"/>
          <a:stretch>
            <a:fillRect/>
          </a:stretch>
        </p:blipFill>
        <p:spPr>
          <a:xfrm rot="0">
            <a:off x="5375075" y="5050041"/>
            <a:ext cx="2600056" cy="1267895"/>
          </a:xfrm>
          <a:prstGeom prst="rect"/>
          <a:noFill/>
          <a:ln w="12700" cmpd="sng" cap="flat">
            <a:noFill/>
            <a:prstDash val="solid"/>
            <a:miter/>
          </a:ln>
        </p:spPr>
      </p:pic>
      <p:sp>
        <p:nvSpPr>
          <p:cNvPr id="351" name="矩形"/>
          <p:cNvSpPr>
            <a:spLocks/>
          </p:cNvSpPr>
          <p:nvPr/>
        </p:nvSpPr>
        <p:spPr>
          <a:xfrm rot="0">
            <a:off x="598211" y="6252645"/>
            <a:ext cx="3872310" cy="6248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eaLnBrk="1" fontAlgn="auto" latinLnBrk="0" hangingPunct="1">
              <a:lnSpc>
                <a:spcPct val="100000"/>
              </a:lnSpc>
              <a:spcBef>
                <a:spcPts val="0"/>
              </a:spcBef>
              <a:spcAft>
                <a:spcPts val="0"/>
              </a:spcAft>
              <a:buNone/>
            </a:pPr>
            <a:r>
              <a:rPr lang="zh-CN" altLang="en-US" sz="1800" b="0" i="0" u="none" strike="noStrike" kern="1200" cap="none" spc="0" baseline="0">
                <a:solidFill>
                  <a:srgbClr val="000000"/>
                </a:solidFill>
                <a:latin typeface="宋体" pitchFamily="0" charset="0"/>
                <a:ea typeface="宋体" pitchFamily="0" charset="0"/>
                <a:cs typeface="Times New Roman" pitchFamily="0" charset="0"/>
                <a:sym typeface="等线" pitchFamily="0" charset="0"/>
              </a:rPr>
              <a:t>用于去除较小的明亮细节，而保持整体灰度级和较大的明亮特征相对不变</a:t>
            </a:r>
            <a:endParaRPr lang="zh-CN" altLang="en-US" sz="1800" b="0" i="0" u="none" strike="noStrike" kern="1200" cap="none" spc="0" baseline="0">
              <a:solidFill>
                <a:srgbClr val="000000"/>
              </a:solidFill>
              <a:latin typeface="宋体" pitchFamily="0" charset="0"/>
              <a:ea typeface="宋体" pitchFamily="0" charset="0"/>
              <a:cs typeface="Times New Roman" pitchFamily="0" charset="0"/>
              <a:sym typeface="等线" pitchFamily="0" charset="0"/>
            </a:endParaRPr>
          </a:p>
        </p:txBody>
      </p:sp>
      <p:sp>
        <p:nvSpPr>
          <p:cNvPr id="352" name="矩形"/>
          <p:cNvSpPr>
            <a:spLocks/>
          </p:cNvSpPr>
          <p:nvPr/>
        </p:nvSpPr>
        <p:spPr>
          <a:xfrm rot="0">
            <a:off x="5211645" y="6252644"/>
            <a:ext cx="3481086" cy="6248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eaLnBrk="1" fontAlgn="auto" latinLnBrk="0" hangingPunct="1">
              <a:lnSpc>
                <a:spcPct val="100000"/>
              </a:lnSpc>
              <a:spcBef>
                <a:spcPts val="0"/>
              </a:spcBef>
              <a:spcAft>
                <a:spcPts val="0"/>
              </a:spcAft>
              <a:buNone/>
            </a:pPr>
            <a:r>
              <a:rPr lang="zh-CN" altLang="en-US" sz="1800" b="0" i="0" u="none" strike="noStrike" kern="1200" cap="none" spc="0" baseline="0">
                <a:solidFill>
                  <a:srgbClr val="000000"/>
                </a:solidFill>
                <a:latin typeface="宋体" pitchFamily="0" charset="0"/>
                <a:ea typeface="宋体" pitchFamily="0" charset="0"/>
                <a:cs typeface="Times New Roman" pitchFamily="0" charset="0"/>
                <a:sym typeface="等线" pitchFamily="0" charset="0"/>
              </a:rPr>
              <a:t>主要作用于削弱暗特征，而亮的细节和背景相对来说未受影响</a:t>
            </a:r>
            <a:endParaRPr lang="zh-CN" altLang="en-US" sz="1800" b="0" i="0" u="none" strike="noStrike" kern="1200" cap="none" spc="0" baseline="0">
              <a:solidFill>
                <a:srgbClr val="000000"/>
              </a:solidFill>
              <a:latin typeface="宋体" pitchFamily="0" charset="0"/>
              <a:ea typeface="宋体" pitchFamily="0" charset="0"/>
              <a:cs typeface="Times New Roman" pitchFamily="0" charset="0"/>
              <a:sym typeface="等线" pitchFamily="0" charset="0"/>
            </a:endParaRPr>
          </a:p>
        </p:txBody>
      </p:sp>
    </p:spTree>
    <p:extLst>
      <p:ext uri="{BB962C8B-B14F-4D97-AF65-F5344CB8AC3E}">
        <p14:creationId xmlns:p14="http://schemas.microsoft.com/office/powerpoint/2010/main" val="1638455710"/>
      </p:ext>
    </p:extLst>
  </p:cSld>
  <p:clrMapOvr>
    <a:masterClrMapping/>
  </p:clrMapOvr>
</p:sld>
</file>

<file path=ppt/slides/slide2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356"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357"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358"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数字图像处理</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359" name="直线"/>
          <p:cNvSpPr>
            <a:spLocks/>
          </p:cNvSpPr>
          <p:nvPr/>
        </p:nvSpPr>
        <p:spPr>
          <a:xfrm rot="0">
            <a:off x="3009712" y="525055"/>
            <a:ext cx="1749287" cy="0"/>
          </a:xfrm>
          <a:prstGeom prst="line"/>
          <a:noFill/>
          <a:ln w="6350" cmpd="sng" cap="flat">
            <a:solidFill>
              <a:srgbClr val="000000"/>
            </a:solidFill>
            <a:prstDash val="solid"/>
            <a:round/>
          </a:ln>
        </p:spPr>
      </p:sp>
      <p:sp>
        <p:nvSpPr>
          <p:cNvPr id="360"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361"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Processing</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362" name="矩形"/>
          <p:cNvSpPr>
            <a:spLocks/>
          </p:cNvSpPr>
          <p:nvPr/>
        </p:nvSpPr>
        <p:spPr>
          <a:xfrm rot="0">
            <a:off x="3039469" y="3168761"/>
            <a:ext cx="3179444" cy="996315"/>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6000" b="0" i="0" u="none" strike="noStrike" kern="1200" cap="none" spc="0" baseline="0">
                <a:solidFill>
                  <a:srgbClr val="1F4E79"/>
                </a:solidFill>
                <a:latin typeface="SimHei" pitchFamily="0" charset="-122"/>
                <a:ea typeface="SimHei" pitchFamily="0" charset="-122"/>
                <a:cs typeface="SimHei" pitchFamily="0" charset="-122"/>
              </a:rPr>
              <a:t>图像分割</a:t>
            </a:r>
            <a:endParaRPr lang="zh-CN" altLang="en-US" sz="6000" b="0" i="0" u="none" strike="noStrike" kern="1200" cap="none" spc="0" baseline="0">
              <a:solidFill>
                <a:srgbClr val="1F4E79"/>
              </a:solidFill>
              <a:latin typeface="SimHei" pitchFamily="0" charset="-122"/>
              <a:ea typeface="SimHei" pitchFamily="0" charset="-122"/>
              <a:cs typeface="SimHei" pitchFamily="0" charset="-122"/>
            </a:endParaRPr>
          </a:p>
        </p:txBody>
      </p:sp>
    </p:spTree>
    <p:extLst>
      <p:ext uri="{BB962C8B-B14F-4D97-AF65-F5344CB8AC3E}">
        <p14:creationId xmlns:p14="http://schemas.microsoft.com/office/powerpoint/2010/main" val="948478930"/>
      </p:ext>
    </p:extLst>
  </p:cSld>
  <p:clrMapOvr>
    <a:masterClrMapping/>
  </p:clrMapOvr>
</p:sld>
</file>

<file path=ppt/slides/slide2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366"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367"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368"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数字图像基础</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369" name="直线"/>
          <p:cNvSpPr>
            <a:spLocks/>
          </p:cNvSpPr>
          <p:nvPr/>
        </p:nvSpPr>
        <p:spPr>
          <a:xfrm rot="0">
            <a:off x="3009712" y="525055"/>
            <a:ext cx="1749287" cy="0"/>
          </a:xfrm>
          <a:prstGeom prst="line"/>
          <a:noFill/>
          <a:ln w="6350" cmpd="sng" cap="flat">
            <a:solidFill>
              <a:srgbClr val="000000"/>
            </a:solidFill>
            <a:prstDash val="solid"/>
            <a:round/>
          </a:ln>
        </p:spPr>
      </p:sp>
      <p:sp>
        <p:nvSpPr>
          <p:cNvPr id="370"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371"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Fundamentals</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372" name="矩形"/>
          <p:cNvSpPr>
            <a:spLocks/>
          </p:cNvSpPr>
          <p:nvPr/>
        </p:nvSpPr>
        <p:spPr>
          <a:xfrm rot="0">
            <a:off x="502919" y="2660126"/>
            <a:ext cx="8161020" cy="523219"/>
          </a:xfrm>
          <a:prstGeom prst="rect"/>
          <a:noFill/>
          <a:ln w="12700" cmpd="sng" cap="flat">
            <a:noFill/>
            <a:prstDash val="solid"/>
            <a:miter/>
          </a:ln>
        </p:spPr>
        <p:txBody>
          <a:bodyPr vert="horz" wrap="square" lIns="91440" tIns="45720" rIns="91440" bIns="45720" anchor="t" anchorCtr="0">
            <a:prstTxWarp prst="textNoShape"/>
            <a:spAutoFit/>
          </a:bodyPr>
          <a:lstStyle/>
          <a:p>
            <a:pPr marL="342900" indent="-342900" algn="l" fontAlgn="auto">
              <a:lnSpc>
                <a:spcPct val="100000"/>
              </a:lnSpc>
              <a:spcBef>
                <a:spcPts val="0"/>
              </a:spcBef>
              <a:spcAft>
                <a:spcPts val="0"/>
              </a:spcAft>
              <a:buFont typeface="Wingdings" pitchFamily="2" charset="2"/>
              <a:buChar char="n"/>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图像分割方法：</a:t>
            </a:r>
            <a:endParaRPr lang="zh-CN" altLang="en-US" sz="28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endParaRPr>
          </a:p>
        </p:txBody>
      </p:sp>
      <p:graphicFrame>
        <p:nvGraphicFramePr>
          <p:cNvPr id="373" name="表格"/>
          <p:cNvGraphicFramePr>
            <a:graphicFrameLocks noGrp="1"/>
          </p:cNvGraphicFramePr>
          <p:nvPr>
            <p:extLst>
              <p:ext uri="{D42A27DB-BD31-4B8C-83A1-F6EECF244321}"/>
            </p:extLst>
          </p:nvPr>
        </p:nvGraphicFramePr>
        <p:xfrm>
          <a:off x="812800" y="1480096"/>
          <a:ext cx="7321528" cy="1036319"/>
        </p:xfrm>
        <a:graphic>
          <a:graphicData uri="http://schemas.openxmlformats.org/drawingml/2006/table">
            <a:tbl>
              <a:tblPr bandRow="1">
                <a:noFill/>
              </a:tblPr>
              <a:tblGrid>
                <a:gridCol w="1830362"/>
                <a:gridCol w="1830374"/>
                <a:gridCol w="1830362"/>
                <a:gridCol w="1830374"/>
              </a:tblGrid>
              <a:tr h="370831">
                <a:tc gridSpan="2">
                  <a:txBody>
                    <a:bodyPr/>
                    <a:lstStyle/>
                    <a:p>
                      <a:pPr marL="0" indent="0" algn="ctr" eaLnBrk="1" latinLnBrk="0" hangingPunct="1">
                        <a:lnSpc>
                          <a:spcPct val="100000"/>
                        </a:lnSpc>
                        <a:spcBef>
                          <a:spcPts val="0"/>
                        </a:spcBef>
                        <a:spcAft>
                          <a:spcPts val="0"/>
                        </a:spcAft>
                        <a:buNone/>
                      </a:pPr>
                      <a:r>
                        <a:rPr lang="zh-CN" altLang="en-US" sz="2800" b="1" i="0" u="none" strike="noStrike" kern="1200" cap="none" spc="0" baseline="0">
                          <a:solidFill>
                            <a:schemeClr val="tx1"/>
                          </a:solidFill>
                          <a:latin typeface="宋体" pitchFamily="0" charset="0"/>
                          <a:ea typeface="宋体" pitchFamily="0" charset="0"/>
                          <a:cs typeface="Calibri" pitchFamily="0" charset="0"/>
                        </a:rPr>
                        <a:t>对图像的</a:t>
                      </a:r>
                      <a:r>
                        <a:rPr lang="zh-CN" altLang="en-US" sz="2800" b="1" i="0" u="none" strike="noStrike" kern="1200" cap="none" spc="0" baseline="0">
                          <a:solidFill>
                            <a:srgbClr val="FF0000"/>
                          </a:solidFill>
                          <a:latin typeface="宋体" pitchFamily="0" charset="0"/>
                          <a:ea typeface="宋体" pitchFamily="0" charset="0"/>
                          <a:cs typeface="Calibri" pitchFamily="0" charset="0"/>
                        </a:rPr>
                        <a:t>加工</a:t>
                      </a:r>
                      <a:r>
                        <a:rPr lang="zh-CN" altLang="en-US" sz="2800" b="1" i="0" u="none" strike="noStrike" kern="1200" cap="none" spc="0" baseline="0">
                          <a:solidFill>
                            <a:schemeClr val="tx1"/>
                          </a:solidFill>
                          <a:latin typeface="宋体" pitchFamily="0" charset="0"/>
                          <a:ea typeface="宋体" pitchFamily="0" charset="0"/>
                          <a:cs typeface="Calibri" pitchFamily="0" charset="0"/>
                        </a:rPr>
                        <a:t>与</a:t>
                      </a:r>
                      <a:r>
                        <a:rPr lang="zh-CN" altLang="en-US" sz="2800" b="1" i="0" u="none" strike="noStrike" kern="1200" cap="none" spc="0" baseline="0">
                          <a:solidFill>
                            <a:srgbClr val="FF0000"/>
                          </a:solidFill>
                          <a:latin typeface="宋体" pitchFamily="0" charset="0"/>
                          <a:ea typeface="宋体" pitchFamily="0" charset="0"/>
                          <a:cs typeface="Calibri" pitchFamily="0" charset="0"/>
                        </a:rPr>
                        <a:t>处理</a:t>
                      </a:r>
                      <a:endParaRPr lang="zh-CN" altLang="en-US" sz="2800" b="1" i="0" u="none" strike="noStrike" kern="1200" cap="none" spc="0" baseline="0">
                        <a:solidFill>
                          <a:srgbClr val="FF0000"/>
                        </a:solidFill>
                        <a:latin typeface="宋体" pitchFamily="0" charset="0"/>
                        <a:ea typeface="宋体" pitchFamily="0" charset="0"/>
                        <a:cs typeface="Calibri" pitchFamily="0" charset="0"/>
                      </a:endParaRPr>
                    </a:p>
                  </a:txBody>
                  <a:tcPr marL="91440" marT="45720" marR="91440" marB="45720" vert="horz">
                    <a:lnL w="12700">
                      <a:solidFill>
                        <a:srgbClr val="000000"/>
                      </a:solidFill>
                      <a:prstDash val="sysDot"/>
                      <a:headEnd type="none" w="med" len="med"/>
                      <a:tailEnd type="none" w="med" len="med"/>
                    </a:lnL>
                    <a:lnR w="12700">
                      <a:solidFill>
                        <a:srgbClr val="000000"/>
                      </a:solidFill>
                      <a:prstDash val="sysDot"/>
                      <a:headEnd type="none" w="med" len="med"/>
                      <a:tailEnd type="none" w="med" len="med"/>
                    </a:lnR>
                    <a:lnT w="12700">
                      <a:solidFill>
                        <a:srgbClr val="000000"/>
                      </a:solidFill>
                      <a:prstDash val="sysDot"/>
                      <a:headEnd type="none" w="med" len="med"/>
                      <a:tailEnd type="none" w="med" len="med"/>
                    </a:lnT>
                    <a:lnB w="12700">
                      <a:solidFill>
                        <a:srgbClr val="000000"/>
                      </a:solidFill>
                      <a:prstDash val="sysDot"/>
                      <a:headEnd type="none" w="med" len="med"/>
                      <a:tailEnd type="none" w="med" len="med"/>
                    </a:lnB>
                    <a:solidFill>
                      <a:srgbClr val="ADB9CA"/>
                    </a:solidFill>
                  </a:tcPr>
                </a:tc>
                <a:tc hMerge="1">
                  <a:txBody>
                    <a:bodyPr/>
                    <a:lstStyle/>
                    <a:p>
                      <a:endParaRPr lang="zh-CN" altLang="en-US"/>
                    </a:p>
                  </a:txBody>
                  <a:tcPr marL="68580" marT="0" marR="68580" marB="0" vert="horz">
                    <a:lnL w="12700">
                      <a:solidFill>
                        <a:srgbClr val="000000"/>
                      </a:solidFill>
                      <a:prstDash val="sysDot"/>
                      <a:headEnd type="none" w="med" len="med"/>
                      <a:tailEnd type="none" w="med" len="med"/>
                    </a:lnL>
                    <a:lnR w="12700">
                      <a:solidFill>
                        <a:srgbClr val="000000"/>
                      </a:solidFill>
                      <a:prstDash val="sysDot"/>
                      <a:headEnd type="none" w="med" len="med"/>
                      <a:tailEnd type="none" w="med" len="med"/>
                    </a:lnR>
                    <a:lnT w="12700">
                      <a:solidFill>
                        <a:srgbClr val="000000"/>
                      </a:solidFill>
                      <a:prstDash val="sysDot"/>
                      <a:headEnd type="none" w="med" len="med"/>
                      <a:tailEnd type="none" w="med" len="med"/>
                    </a:lnT>
                    <a:lnB w="12700">
                      <a:solidFill>
                        <a:srgbClr val="000000"/>
                      </a:solidFill>
                      <a:prstDash val="sysDot"/>
                      <a:headEnd type="none" w="med" len="med"/>
                      <a:tailEnd type="none" w="med" len="med"/>
                    </a:lnB>
                    <a:solidFill>
                      <a:srgbClr val="ADB9CA"/>
                    </a:solidFill>
                  </a:tcPr>
                </a:tc>
                <a:tc gridSpan="2">
                  <a:txBody>
                    <a:bodyPr/>
                    <a:lstStyle/>
                    <a:p>
                      <a:pPr marL="0" indent="0" algn="ctr" eaLnBrk="1" latinLnBrk="0" hangingPunct="1">
                        <a:lnSpc>
                          <a:spcPct val="100000"/>
                        </a:lnSpc>
                        <a:spcBef>
                          <a:spcPts val="0"/>
                        </a:spcBef>
                        <a:spcAft>
                          <a:spcPts val="0"/>
                        </a:spcAft>
                        <a:buNone/>
                      </a:pPr>
                      <a:r>
                        <a:rPr lang="zh-CN" altLang="en-US" sz="2800" b="1" i="0" u="none" strike="noStrike" kern="1200" cap="none" spc="0" baseline="0">
                          <a:solidFill>
                            <a:schemeClr val="tx1"/>
                          </a:solidFill>
                          <a:latin typeface="宋体" pitchFamily="0" charset="0"/>
                          <a:ea typeface="宋体" pitchFamily="0" charset="0"/>
                          <a:cs typeface="Calibri" pitchFamily="0" charset="0"/>
                        </a:rPr>
                        <a:t>对图像的</a:t>
                      </a:r>
                      <a:r>
                        <a:rPr lang="zh-CN" altLang="en-US" sz="2800" b="1" i="0" u="none" strike="noStrike" kern="1200" cap="none" spc="0" baseline="0">
                          <a:solidFill>
                            <a:srgbClr val="FF0000"/>
                          </a:solidFill>
                          <a:latin typeface="宋体" pitchFamily="0" charset="0"/>
                          <a:ea typeface="宋体" pitchFamily="0" charset="0"/>
                          <a:cs typeface="Calibri" pitchFamily="0" charset="0"/>
                        </a:rPr>
                        <a:t>分析</a:t>
                      </a:r>
                      <a:r>
                        <a:rPr lang="zh-CN" altLang="en-US" sz="2800" b="1" i="0" u="none" strike="noStrike" kern="1200" cap="none" spc="0" baseline="0">
                          <a:solidFill>
                            <a:schemeClr val="tx1"/>
                          </a:solidFill>
                          <a:latin typeface="宋体" pitchFamily="0" charset="0"/>
                          <a:ea typeface="宋体" pitchFamily="0" charset="0"/>
                          <a:cs typeface="Calibri" pitchFamily="0" charset="0"/>
                        </a:rPr>
                        <a:t>与</a:t>
                      </a:r>
                      <a:r>
                        <a:rPr lang="zh-CN" altLang="en-US" sz="2800" b="1" i="0" u="none" strike="noStrike" kern="1200" cap="none" spc="0" baseline="0">
                          <a:solidFill>
                            <a:srgbClr val="FF0000"/>
                          </a:solidFill>
                          <a:latin typeface="宋体" pitchFamily="0" charset="0"/>
                          <a:ea typeface="宋体" pitchFamily="0" charset="0"/>
                          <a:cs typeface="Calibri" pitchFamily="0" charset="0"/>
                        </a:rPr>
                        <a:t>理解</a:t>
                      </a:r>
                      <a:endParaRPr lang="zh-CN" altLang="en-US" sz="2800" b="1" i="0" u="none" strike="noStrike" kern="1200" cap="none" spc="0" baseline="0">
                        <a:solidFill>
                          <a:srgbClr val="FF0000"/>
                        </a:solidFill>
                        <a:latin typeface="宋体" pitchFamily="0" charset="0"/>
                        <a:ea typeface="宋体" pitchFamily="0" charset="0"/>
                        <a:cs typeface="Calibri" pitchFamily="0" charset="0"/>
                      </a:endParaRPr>
                    </a:p>
                  </a:txBody>
                  <a:tcPr marL="91440" marT="45720" marR="91440" marB="45720" vert="horz">
                    <a:lnL w="12700">
                      <a:solidFill>
                        <a:srgbClr val="000000"/>
                      </a:solidFill>
                      <a:prstDash val="sysDot"/>
                      <a:headEnd type="none" w="med" len="med"/>
                      <a:tailEnd type="none" w="med" len="med"/>
                    </a:lnL>
                    <a:lnR w="12700">
                      <a:solidFill>
                        <a:srgbClr val="000000"/>
                      </a:solidFill>
                      <a:prstDash val="sysDot"/>
                      <a:headEnd type="none" w="med" len="med"/>
                      <a:tailEnd type="none" w="med" len="med"/>
                    </a:lnR>
                    <a:lnT w="12700">
                      <a:solidFill>
                        <a:srgbClr val="000000"/>
                      </a:solidFill>
                      <a:prstDash val="sysDot"/>
                      <a:headEnd type="none" w="med" len="med"/>
                      <a:tailEnd type="none" w="med" len="med"/>
                    </a:lnT>
                    <a:lnB w="12700">
                      <a:solidFill>
                        <a:srgbClr val="000000"/>
                      </a:solidFill>
                      <a:prstDash val="sysDot"/>
                      <a:headEnd type="none" w="med" len="med"/>
                      <a:tailEnd type="none" w="med" len="med"/>
                    </a:lnB>
                    <a:solidFill>
                      <a:srgbClr val="ADB9CA"/>
                    </a:solidFill>
                  </a:tcPr>
                </a:tc>
                <a:tc hMerge="1">
                  <a:txBody>
                    <a:bodyPr/>
                    <a:lstStyle/>
                    <a:p>
                      <a:endParaRPr lang="zh-CN" altLang="en-US"/>
                    </a:p>
                  </a:txBody>
                  <a:tcPr marL="68580" marT="0" marR="68580" marB="0" vert="horz">
                    <a:lnL w="12700">
                      <a:solidFill>
                        <a:srgbClr val="000000"/>
                      </a:solidFill>
                      <a:prstDash val="sysDot"/>
                      <a:headEnd type="none" w="med" len="med"/>
                      <a:tailEnd type="none" w="med" len="med"/>
                    </a:lnL>
                    <a:lnR w="12700">
                      <a:solidFill>
                        <a:srgbClr val="000000"/>
                      </a:solidFill>
                      <a:prstDash val="sysDot"/>
                      <a:headEnd type="none" w="med" len="med"/>
                      <a:tailEnd type="none" w="med" len="med"/>
                    </a:lnR>
                    <a:lnT w="12700">
                      <a:solidFill>
                        <a:srgbClr val="000000"/>
                      </a:solidFill>
                      <a:prstDash val="sysDot"/>
                      <a:headEnd type="none" w="med" len="med"/>
                      <a:tailEnd type="none" w="med" len="med"/>
                    </a:lnT>
                    <a:lnB w="12700">
                      <a:solidFill>
                        <a:srgbClr val="000000"/>
                      </a:solidFill>
                      <a:prstDash val="sysDot"/>
                      <a:headEnd type="none" w="med" len="med"/>
                      <a:tailEnd type="none" w="med" len="med"/>
                    </a:lnB>
                    <a:solidFill>
                      <a:srgbClr val="ADB9CA"/>
                    </a:solidFill>
                  </a:tcPr>
                </a:tc>
              </a:tr>
              <a:tr h="370831">
                <a:tc>
                  <a:txBody>
                    <a:bodyPr/>
                    <a:lstStyle/>
                    <a:p>
                      <a:pPr marL="0" indent="0" algn="ctr" eaLnBrk="1" latinLnBrk="0" hangingPunct="1">
                        <a:lnSpc>
                          <a:spcPct val="100000"/>
                        </a:lnSpc>
                        <a:spcBef>
                          <a:spcPts val="0"/>
                        </a:spcBef>
                        <a:spcAft>
                          <a:spcPts val="0"/>
                        </a:spcAft>
                        <a:buNone/>
                      </a:pPr>
                      <a:r>
                        <a:rPr lang="zh-CN" altLang="en-US" sz="2800" b="0" i="0" u="none" strike="noStrike" kern="1200" cap="none" spc="0" baseline="0">
                          <a:solidFill>
                            <a:schemeClr val="tx1"/>
                          </a:solidFill>
                          <a:latin typeface="宋体" pitchFamily="0" charset="0"/>
                          <a:ea typeface="宋体" pitchFamily="0" charset="0"/>
                          <a:cs typeface="Calibri" pitchFamily="0" charset="0"/>
                        </a:rPr>
                        <a:t>图像增强</a:t>
                      </a:r>
                      <a:endParaRPr lang="zh-CN" altLang="en-US" sz="2800" b="0" i="0" u="none" strike="noStrike" kern="1200" cap="none" spc="0" baseline="0">
                        <a:solidFill>
                          <a:schemeClr val="tx1"/>
                        </a:solidFill>
                        <a:latin typeface="宋体" pitchFamily="0" charset="0"/>
                        <a:ea typeface="宋体" pitchFamily="0" charset="0"/>
                        <a:cs typeface="Calibri" pitchFamily="0" charset="0"/>
                      </a:endParaRPr>
                    </a:p>
                  </a:txBody>
                  <a:tcPr marL="91440" marT="45720" marR="91440" marB="45720" vert="horz">
                    <a:lnL w="12700">
                      <a:solidFill>
                        <a:srgbClr val="000000"/>
                      </a:solidFill>
                      <a:prstDash val="sysDot"/>
                      <a:headEnd type="none" w="med" len="med"/>
                      <a:tailEnd type="none" w="med" len="med"/>
                    </a:lnL>
                    <a:lnR w="12700">
                      <a:solidFill>
                        <a:srgbClr val="000000"/>
                      </a:solidFill>
                      <a:prstDash val="sysDot"/>
                      <a:headEnd type="none" w="med" len="med"/>
                      <a:tailEnd type="none" w="med" len="med"/>
                    </a:lnR>
                    <a:lnT w="12700">
                      <a:solidFill>
                        <a:srgbClr val="000000"/>
                      </a:solidFill>
                      <a:prstDash val="sysDot"/>
                      <a:headEnd type="none" w="med" len="med"/>
                      <a:tailEnd type="none" w="med" len="med"/>
                    </a:lnT>
                    <a:lnB w="12700">
                      <a:solidFill>
                        <a:srgbClr val="000000"/>
                      </a:solidFill>
                      <a:prstDash val="sysDot"/>
                      <a:headEnd type="none" w="med" len="med"/>
                      <a:tailEnd type="none" w="med" len="med"/>
                    </a:lnB>
                  </a:tcPr>
                </a:tc>
                <a:tc>
                  <a:txBody>
                    <a:bodyPr/>
                    <a:lstStyle/>
                    <a:p>
                      <a:pPr marL="0" indent="0" algn="ctr" eaLnBrk="1" latinLnBrk="0" hangingPunct="1">
                        <a:lnSpc>
                          <a:spcPct val="100000"/>
                        </a:lnSpc>
                        <a:spcBef>
                          <a:spcPts val="0"/>
                        </a:spcBef>
                        <a:spcAft>
                          <a:spcPts val="0"/>
                        </a:spcAft>
                        <a:buNone/>
                      </a:pPr>
                      <a:r>
                        <a:rPr lang="zh-CN" altLang="en-US" sz="2800" b="0" i="0" u="none" strike="noStrike" kern="1200" cap="none" spc="0" baseline="0">
                          <a:solidFill>
                            <a:schemeClr val="tx1"/>
                          </a:solidFill>
                          <a:latin typeface="宋体" pitchFamily="0" charset="0"/>
                          <a:ea typeface="宋体" pitchFamily="0" charset="0"/>
                          <a:cs typeface="Calibri" pitchFamily="0" charset="0"/>
                        </a:rPr>
                        <a:t>图像复原</a:t>
                      </a:r>
                      <a:endParaRPr lang="zh-CN" altLang="en-US" sz="2800" b="0" i="0" u="none" strike="noStrike" kern="1200" cap="none" spc="0" baseline="0">
                        <a:solidFill>
                          <a:schemeClr val="tx1"/>
                        </a:solidFill>
                        <a:latin typeface="宋体" pitchFamily="0" charset="0"/>
                        <a:ea typeface="宋体" pitchFamily="0" charset="0"/>
                        <a:cs typeface="Calibri" pitchFamily="0" charset="0"/>
                      </a:endParaRPr>
                    </a:p>
                  </a:txBody>
                  <a:tcPr marL="91440" marT="45720" marR="91440" marB="45720" vert="horz">
                    <a:lnL w="12700">
                      <a:solidFill>
                        <a:srgbClr val="000000"/>
                      </a:solidFill>
                      <a:prstDash val="sysDot"/>
                      <a:headEnd type="none" w="med" len="med"/>
                      <a:tailEnd type="none" w="med" len="med"/>
                    </a:lnL>
                    <a:lnR w="12700">
                      <a:solidFill>
                        <a:srgbClr val="000000"/>
                      </a:solidFill>
                      <a:prstDash val="sysDot"/>
                      <a:headEnd type="none" w="med" len="med"/>
                      <a:tailEnd type="none" w="med" len="med"/>
                    </a:lnR>
                    <a:lnT w="12700">
                      <a:solidFill>
                        <a:srgbClr val="000000"/>
                      </a:solidFill>
                      <a:prstDash val="sysDot"/>
                      <a:headEnd type="none" w="med" len="med"/>
                      <a:tailEnd type="none" w="med" len="med"/>
                    </a:lnT>
                    <a:lnB w="12700">
                      <a:solidFill>
                        <a:srgbClr val="000000"/>
                      </a:solidFill>
                      <a:prstDash val="sysDot"/>
                      <a:headEnd type="none" w="med" len="med"/>
                      <a:tailEnd type="none" w="med" len="med"/>
                    </a:lnB>
                  </a:tcPr>
                </a:tc>
                <a:tc>
                  <a:txBody>
                    <a:bodyPr/>
                    <a:lstStyle/>
                    <a:p>
                      <a:pPr marL="0" indent="0" algn="ctr" eaLnBrk="1" latinLnBrk="0" hangingPunct="1">
                        <a:lnSpc>
                          <a:spcPct val="100000"/>
                        </a:lnSpc>
                        <a:spcBef>
                          <a:spcPts val="0"/>
                        </a:spcBef>
                        <a:spcAft>
                          <a:spcPts val="0"/>
                        </a:spcAft>
                        <a:buNone/>
                      </a:pPr>
                      <a:r>
                        <a:rPr lang="zh-CN" altLang="en-US" sz="2800" b="1" i="0" u="none" strike="noStrike" kern="1200" cap="none" spc="0" baseline="0">
                          <a:solidFill>
                            <a:srgbClr val="2E75B6"/>
                          </a:solidFill>
                          <a:latin typeface="宋体" pitchFamily="0" charset="0"/>
                          <a:ea typeface="宋体" pitchFamily="0" charset="0"/>
                          <a:cs typeface="Calibri" pitchFamily="0" charset="0"/>
                        </a:rPr>
                        <a:t>图像分割</a:t>
                      </a:r>
                      <a:endParaRPr lang="zh-CN" altLang="en-US" sz="2800" b="1" i="0" u="none" strike="noStrike" kern="1200" cap="none" spc="0" baseline="0">
                        <a:solidFill>
                          <a:srgbClr val="2E75B6"/>
                        </a:solidFill>
                        <a:latin typeface="宋体" pitchFamily="0" charset="0"/>
                        <a:ea typeface="宋体" pitchFamily="0" charset="0"/>
                        <a:cs typeface="Calibri" pitchFamily="0" charset="0"/>
                      </a:endParaRPr>
                    </a:p>
                  </a:txBody>
                  <a:tcPr marL="91440" marT="45720" marR="91440" marB="45720" vert="horz">
                    <a:lnL w="12700">
                      <a:solidFill>
                        <a:srgbClr val="000000"/>
                      </a:solidFill>
                      <a:prstDash val="sysDot"/>
                      <a:headEnd type="none" w="med" len="med"/>
                      <a:tailEnd type="none" w="med" len="med"/>
                    </a:lnL>
                    <a:lnR w="12700">
                      <a:solidFill>
                        <a:srgbClr val="000000"/>
                      </a:solidFill>
                      <a:prstDash val="sysDot"/>
                      <a:headEnd type="none" w="med" len="med"/>
                      <a:tailEnd type="none" w="med" len="med"/>
                    </a:lnR>
                    <a:lnT w="12700">
                      <a:solidFill>
                        <a:srgbClr val="000000"/>
                      </a:solidFill>
                      <a:prstDash val="sysDot"/>
                      <a:headEnd type="none" w="med" len="med"/>
                      <a:tailEnd type="none" w="med" len="med"/>
                    </a:lnT>
                    <a:lnB w="12700">
                      <a:solidFill>
                        <a:srgbClr val="000000"/>
                      </a:solidFill>
                      <a:prstDash val="sysDot"/>
                      <a:headEnd type="none" w="med" len="med"/>
                      <a:tailEnd type="none" w="med" len="med"/>
                    </a:lnB>
                  </a:tcPr>
                </a:tc>
                <a:tc>
                  <a:txBody>
                    <a:bodyPr/>
                    <a:lstStyle/>
                    <a:p>
                      <a:pPr marL="0" indent="0" algn="ctr" eaLnBrk="1" latinLnBrk="0" hangingPunct="1">
                        <a:lnSpc>
                          <a:spcPct val="100000"/>
                        </a:lnSpc>
                        <a:spcBef>
                          <a:spcPts val="0"/>
                        </a:spcBef>
                        <a:spcAft>
                          <a:spcPts val="0"/>
                        </a:spcAft>
                        <a:buNone/>
                      </a:pPr>
                      <a:r>
                        <a:rPr lang="zh-CN" altLang="en-US" sz="2800" b="0" i="0" u="none" strike="noStrike" kern="1200" cap="none" spc="0" baseline="0">
                          <a:solidFill>
                            <a:schemeClr val="tx1"/>
                          </a:solidFill>
                          <a:latin typeface="宋体" pitchFamily="0" charset="0"/>
                          <a:ea typeface="宋体" pitchFamily="0" charset="0"/>
                          <a:cs typeface="Calibri" pitchFamily="0" charset="0"/>
                        </a:rPr>
                        <a:t>特征提取</a:t>
                      </a:r>
                      <a:endParaRPr lang="zh-CN" altLang="en-US" sz="2800" b="0" i="0" u="none" strike="noStrike" kern="1200" cap="none" spc="0" baseline="0">
                        <a:solidFill>
                          <a:schemeClr val="tx1"/>
                        </a:solidFill>
                        <a:latin typeface="宋体" pitchFamily="0" charset="0"/>
                        <a:ea typeface="宋体" pitchFamily="0" charset="0"/>
                        <a:cs typeface="Calibri" pitchFamily="0" charset="0"/>
                      </a:endParaRPr>
                    </a:p>
                  </a:txBody>
                  <a:tcPr marL="91440" marT="45720" marR="91440" marB="45720" vert="horz">
                    <a:lnL w="12700">
                      <a:solidFill>
                        <a:srgbClr val="000000"/>
                      </a:solidFill>
                      <a:prstDash val="sysDot"/>
                      <a:headEnd type="none" w="med" len="med"/>
                      <a:tailEnd type="none" w="med" len="med"/>
                    </a:lnL>
                    <a:lnR w="12700">
                      <a:solidFill>
                        <a:srgbClr val="000000"/>
                      </a:solidFill>
                      <a:prstDash val="sysDot"/>
                      <a:headEnd type="none" w="med" len="med"/>
                      <a:tailEnd type="none" w="med" len="med"/>
                    </a:lnR>
                    <a:lnT w="12700">
                      <a:solidFill>
                        <a:srgbClr val="000000"/>
                      </a:solidFill>
                      <a:prstDash val="sysDot"/>
                      <a:headEnd type="none" w="med" len="med"/>
                      <a:tailEnd type="none" w="med" len="med"/>
                    </a:lnT>
                    <a:lnB w="12700">
                      <a:solidFill>
                        <a:srgbClr val="000000"/>
                      </a:solidFill>
                      <a:prstDash val="sysDot"/>
                      <a:headEnd type="none" w="med" len="med"/>
                      <a:tailEnd type="none" w="med" len="med"/>
                    </a:lnB>
                  </a:tcPr>
                </a:tc>
              </a:tr>
            </a:tbl>
          </a:graphicData>
        </a:graphic>
      </p:graphicFrame>
      <p:sp>
        <p:nvSpPr>
          <p:cNvPr id="374" name="矩形"/>
          <p:cNvSpPr>
            <a:spLocks/>
          </p:cNvSpPr>
          <p:nvPr/>
        </p:nvSpPr>
        <p:spPr>
          <a:xfrm rot="0">
            <a:off x="1238250" y="3266482"/>
            <a:ext cx="2724150" cy="523219"/>
          </a:xfrm>
          <a:prstGeom prst="rect"/>
          <a:solidFill>
            <a:srgbClr val="FFE699"/>
          </a:solidFill>
          <a:ln w="12700" cmpd="sng" cap="flat">
            <a:noFill/>
            <a:prstDash val="solid"/>
            <a:miter/>
          </a:ln>
          <a:effectLst>
            <a:outerShdw sx="100000" sy="100000" algn="t" rotWithShape="0" blurRad="50800" dist="38100" dir="5400000">
              <a:srgbClr val="000000">
                <a:alpha val="39607"/>
              </a:srgbClr>
            </a:outerShdw>
          </a:effectLst>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8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基于边缘的分割</a:t>
            </a:r>
            <a:endParaRPr lang="zh-CN" altLang="en-US" sz="2800" b="0" i="0" u="none" strike="noStrike" kern="1200" cap="none" spc="0" baseline="0">
              <a:solidFill>
                <a:schemeClr val="tx1"/>
              </a:solidFill>
              <a:latin typeface="Calibri" pitchFamily="0" charset="0"/>
              <a:ea typeface="等线" pitchFamily="0" charset="0"/>
              <a:cs typeface="Calibri" pitchFamily="0" charset="0"/>
            </a:endParaRPr>
          </a:p>
        </p:txBody>
      </p:sp>
      <p:sp>
        <p:nvSpPr>
          <p:cNvPr id="375" name="矩形"/>
          <p:cNvSpPr>
            <a:spLocks/>
          </p:cNvSpPr>
          <p:nvPr/>
        </p:nvSpPr>
        <p:spPr>
          <a:xfrm rot="0">
            <a:off x="5367655" y="3261566"/>
            <a:ext cx="2836543" cy="523219"/>
          </a:xfrm>
          <a:prstGeom prst="rect"/>
          <a:solidFill>
            <a:srgbClr val="FFE699"/>
          </a:solidFill>
          <a:ln w="12700" cmpd="sng" cap="flat">
            <a:noFill/>
            <a:prstDash val="solid"/>
            <a:miter/>
          </a:ln>
          <a:effectLst>
            <a:outerShdw sx="100000" sy="100000" algn="t" rotWithShape="0" blurRad="50800" dist="38100" dir="5400000">
              <a:srgbClr val="000000">
                <a:alpha val="39607"/>
              </a:srgbClr>
            </a:outerShdw>
          </a:effectLst>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8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基于区域的分割</a:t>
            </a:r>
            <a:endParaRPr lang="zh-CN" altLang="en-US" sz="2800" b="0" i="0" u="none" strike="noStrike" kern="1200" cap="none" spc="0" baseline="0">
              <a:solidFill>
                <a:schemeClr val="tx1"/>
              </a:solidFill>
              <a:latin typeface="Calibri" pitchFamily="0" charset="0"/>
              <a:ea typeface="等线" pitchFamily="0" charset="0"/>
              <a:cs typeface="Calibri" pitchFamily="0" charset="0"/>
            </a:endParaRPr>
          </a:p>
        </p:txBody>
      </p:sp>
      <p:sp>
        <p:nvSpPr>
          <p:cNvPr id="376" name="矩形"/>
          <p:cNvSpPr>
            <a:spLocks/>
          </p:cNvSpPr>
          <p:nvPr/>
        </p:nvSpPr>
        <p:spPr>
          <a:xfrm rot="0">
            <a:off x="1238250" y="4174999"/>
            <a:ext cx="2851150" cy="45339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4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灰度局部急剧变化</a:t>
            </a:r>
            <a:endParaRPr lang="zh-CN" altLang="en-US" sz="2400" b="0" i="0" u="none" strike="noStrike" kern="1200" cap="none" spc="0" baseline="0">
              <a:solidFill>
                <a:schemeClr val="tx1"/>
              </a:solidFill>
              <a:latin typeface="Calibri" pitchFamily="0" charset="0"/>
              <a:ea typeface="等线" pitchFamily="0" charset="0"/>
              <a:cs typeface="Calibri" pitchFamily="0" charset="0"/>
            </a:endParaRPr>
          </a:p>
        </p:txBody>
      </p:sp>
      <p:sp>
        <p:nvSpPr>
          <p:cNvPr id="377" name="矩形"/>
          <p:cNvSpPr>
            <a:spLocks/>
          </p:cNvSpPr>
          <p:nvPr/>
        </p:nvSpPr>
        <p:spPr>
          <a:xfrm rot="0">
            <a:off x="954753" y="4910381"/>
            <a:ext cx="3291144" cy="8153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2400" b="1" i="0" u="none" strike="noStrike" kern="1200" cap="none" spc="0" baseline="0">
                <a:solidFill>
                  <a:schemeClr val="tx1"/>
                </a:solidFill>
                <a:latin typeface="宋体" pitchFamily="0" charset="0"/>
                <a:ea typeface="宋体" pitchFamily="0" charset="0"/>
                <a:cs typeface="Calibri" pitchFamily="0" charset="0"/>
              </a:rPr>
              <a:t>计算局部的梯度算子检测灰度变化的边缘</a:t>
            </a:r>
            <a:endParaRPr lang="zh-CN" altLang="en-US" sz="2400" b="1" i="0" u="none" strike="noStrike" kern="1200" cap="none" spc="0" baseline="0">
              <a:solidFill>
                <a:schemeClr val="tx1"/>
              </a:solidFill>
              <a:latin typeface="宋体" pitchFamily="0" charset="0"/>
              <a:ea typeface="宋体" pitchFamily="0" charset="0"/>
              <a:cs typeface="Calibri" pitchFamily="0" charset="0"/>
            </a:endParaRPr>
          </a:p>
        </p:txBody>
      </p:sp>
      <p:sp>
        <p:nvSpPr>
          <p:cNvPr id="378" name="矩形"/>
          <p:cNvSpPr>
            <a:spLocks/>
          </p:cNvSpPr>
          <p:nvPr/>
        </p:nvSpPr>
        <p:spPr>
          <a:xfrm rot="0">
            <a:off x="4684570" y="4256977"/>
            <a:ext cx="4385000" cy="45339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4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预先定义准则表示区域相似性</a:t>
            </a:r>
            <a:endParaRPr lang="zh-CN" altLang="en-US" sz="2400" b="0" i="0" u="none" strike="noStrike" kern="1200" cap="none" spc="0" baseline="0">
              <a:solidFill>
                <a:schemeClr val="tx1"/>
              </a:solidFill>
              <a:latin typeface="Calibri" pitchFamily="0" charset="0"/>
              <a:ea typeface="等线" pitchFamily="0" charset="0"/>
              <a:cs typeface="Calibri" pitchFamily="0" charset="0"/>
            </a:endParaRPr>
          </a:p>
        </p:txBody>
      </p:sp>
      <p:sp>
        <p:nvSpPr>
          <p:cNvPr id="379" name="矩形"/>
          <p:cNvSpPr>
            <a:spLocks/>
          </p:cNvSpPr>
          <p:nvPr/>
        </p:nvSpPr>
        <p:spPr>
          <a:xfrm rot="0">
            <a:off x="4356100" y="5175779"/>
            <a:ext cx="4787899" cy="8153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400" b="1" i="0" u="none" strike="noStrike" kern="1200" cap="none" spc="0" baseline="0">
                <a:solidFill>
                  <a:schemeClr val="tx1"/>
                </a:solidFill>
                <a:latin typeface="宋体" pitchFamily="0" charset="0"/>
                <a:ea typeface="宋体" pitchFamily="0" charset="0"/>
                <a:cs typeface="Calibri" pitchFamily="0" charset="0"/>
              </a:rPr>
              <a:t>阈值处理</a:t>
            </a:r>
            <a:r>
              <a:rPr lang="zh-CN" altLang="en-US" sz="2400" b="0" i="0" u="none" strike="noStrike" kern="1200" cap="none" spc="0" baseline="0">
                <a:solidFill>
                  <a:schemeClr val="tx1"/>
                </a:solidFill>
                <a:latin typeface="宋体" pitchFamily="0" charset="0"/>
                <a:ea typeface="宋体" pitchFamily="0" charset="0"/>
                <a:cs typeface="Calibri" pitchFamily="0" charset="0"/>
              </a:rPr>
              <a:t>（基本方法、</a:t>
            </a:r>
            <a:r>
              <a:rPr lang="en-US" altLang="zh-CN" sz="2400" b="0" i="0" u="none" strike="noStrike" kern="1200" cap="none" spc="0" baseline="0">
                <a:solidFill>
                  <a:schemeClr val="tx1"/>
                </a:solidFill>
                <a:latin typeface="宋体" pitchFamily="0" charset="0"/>
                <a:ea typeface="宋体" pitchFamily="0" charset="0"/>
                <a:cs typeface="Calibri" pitchFamily="0" charset="0"/>
              </a:rPr>
              <a:t>Otsu</a:t>
            </a:r>
            <a:r>
              <a:rPr lang="zh-CN" altLang="en-US" sz="2400" b="0" i="0" u="none" strike="noStrike" kern="1200" cap="none" spc="0" baseline="0">
                <a:solidFill>
                  <a:schemeClr val="tx1"/>
                </a:solidFill>
                <a:latin typeface="宋体" pitchFamily="0" charset="0"/>
                <a:ea typeface="宋体" pitchFamily="0" charset="0"/>
                <a:cs typeface="Calibri" pitchFamily="0" charset="0"/>
              </a:rPr>
              <a:t>最优法）</a:t>
            </a:r>
            <a:endParaRPr lang="zh-CN" altLang="en-US" sz="2400" b="0" i="0" u="none" strike="noStrike" kern="1200" cap="none" spc="0" baseline="0">
              <a:solidFill>
                <a:schemeClr val="tx1"/>
              </a:solidFill>
              <a:latin typeface="宋体" pitchFamily="0" charset="0"/>
              <a:ea typeface="宋体" pitchFamily="0" charset="0"/>
              <a:cs typeface="Calibri" pitchFamily="0" charset="0"/>
            </a:endParaRPr>
          </a:p>
        </p:txBody>
      </p:sp>
      <p:sp>
        <p:nvSpPr>
          <p:cNvPr id="380" name="下箭头"/>
          <p:cNvSpPr>
            <a:spLocks/>
          </p:cNvSpPr>
          <p:nvPr/>
        </p:nvSpPr>
        <p:spPr>
          <a:xfrm rot="0">
            <a:off x="2425700" y="3872838"/>
            <a:ext cx="165100" cy="373613"/>
          </a:xfrm>
          <a:prstGeom prst="downArrow">
            <a:avLst>
              <a:gd name="adj1" fmla="val 50000"/>
              <a:gd name="adj2" fmla="val 56573"/>
            </a:avLst>
          </a:prstGeom>
          <a:noFill/>
          <a:ln w="12700" cmpd="sng" cap="flat">
            <a:solidFill>
              <a:srgbClr val="41719C"/>
            </a:solidFill>
            <a:prstDash val="solid"/>
            <a:miter/>
          </a:ln>
        </p:spPr>
      </p:sp>
      <p:sp>
        <p:nvSpPr>
          <p:cNvPr id="381" name="下箭头"/>
          <p:cNvSpPr>
            <a:spLocks/>
          </p:cNvSpPr>
          <p:nvPr/>
        </p:nvSpPr>
        <p:spPr>
          <a:xfrm rot="0">
            <a:off x="2425700" y="4603929"/>
            <a:ext cx="165100" cy="373613"/>
          </a:xfrm>
          <a:prstGeom prst="downArrow">
            <a:avLst>
              <a:gd name="adj1" fmla="val 50000"/>
              <a:gd name="adj2" fmla="val 56573"/>
            </a:avLst>
          </a:prstGeom>
          <a:noFill/>
          <a:ln w="12700" cmpd="sng" cap="flat">
            <a:solidFill>
              <a:srgbClr val="41719C"/>
            </a:solidFill>
            <a:prstDash val="solid"/>
            <a:miter/>
          </a:ln>
        </p:spPr>
      </p:sp>
      <p:sp>
        <p:nvSpPr>
          <p:cNvPr id="382" name="下箭头"/>
          <p:cNvSpPr>
            <a:spLocks/>
          </p:cNvSpPr>
          <p:nvPr/>
        </p:nvSpPr>
        <p:spPr>
          <a:xfrm rot="0">
            <a:off x="6703376" y="3883362"/>
            <a:ext cx="165100" cy="373613"/>
          </a:xfrm>
          <a:prstGeom prst="downArrow">
            <a:avLst>
              <a:gd name="adj1" fmla="val 50000"/>
              <a:gd name="adj2" fmla="val 56573"/>
            </a:avLst>
          </a:prstGeom>
          <a:noFill/>
          <a:ln w="12700" cmpd="sng" cap="flat">
            <a:solidFill>
              <a:srgbClr val="41719C"/>
            </a:solidFill>
            <a:prstDash val="solid"/>
            <a:miter/>
          </a:ln>
        </p:spPr>
      </p:sp>
      <p:sp>
        <p:nvSpPr>
          <p:cNvPr id="383" name="下箭头"/>
          <p:cNvSpPr>
            <a:spLocks/>
          </p:cNvSpPr>
          <p:nvPr/>
        </p:nvSpPr>
        <p:spPr>
          <a:xfrm rot="0">
            <a:off x="6711970" y="4760403"/>
            <a:ext cx="165100" cy="373614"/>
          </a:xfrm>
          <a:prstGeom prst="downArrow">
            <a:avLst>
              <a:gd name="adj1" fmla="val 50000"/>
              <a:gd name="adj2" fmla="val 56573"/>
            </a:avLst>
          </a:prstGeom>
          <a:noFill/>
          <a:ln w="12700" cmpd="sng" cap="flat">
            <a:solidFill>
              <a:srgbClr val="41719C"/>
            </a:solidFill>
            <a:prstDash val="solid"/>
            <a:miter/>
          </a:ln>
        </p:spPr>
      </p:sp>
      <p:sp>
        <p:nvSpPr>
          <p:cNvPr id="384" name="下箭头"/>
          <p:cNvSpPr>
            <a:spLocks/>
          </p:cNvSpPr>
          <p:nvPr/>
        </p:nvSpPr>
        <p:spPr>
          <a:xfrm rot="0">
            <a:off x="2447606" y="5731757"/>
            <a:ext cx="165099" cy="373613"/>
          </a:xfrm>
          <a:prstGeom prst="downArrow">
            <a:avLst>
              <a:gd name="adj1" fmla="val 50000"/>
              <a:gd name="adj2" fmla="val 56574"/>
            </a:avLst>
          </a:prstGeom>
          <a:noFill/>
          <a:ln w="12700" cmpd="sng" cap="flat">
            <a:solidFill>
              <a:srgbClr val="41719C"/>
            </a:solidFill>
            <a:prstDash val="solid"/>
            <a:miter/>
          </a:ln>
        </p:spPr>
      </p:sp>
      <p:sp>
        <p:nvSpPr>
          <p:cNvPr id="385" name="矩形"/>
          <p:cNvSpPr>
            <a:spLocks/>
          </p:cNvSpPr>
          <p:nvPr/>
        </p:nvSpPr>
        <p:spPr>
          <a:xfrm rot="0">
            <a:off x="1238250" y="6098222"/>
            <a:ext cx="2851150" cy="117728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24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连接边缘点</a:t>
            </a: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（局部、全局方法</a:t>
            </a:r>
            <a:r>
              <a:rPr lang="en-US" altLang="zh-CN" sz="24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a:t>
            </a:r>
            <a:r>
              <a:rPr lang="zh-CN" altLang="en-US" sz="1600" b="0" i="0" u="none" strike="noStrike" kern="1200" cap="none" spc="0" baseline="0">
                <a:solidFill>
                  <a:schemeClr val="tx1"/>
                </a:solidFill>
                <a:latin typeface="Times New Roman" pitchFamily="0" charset="0"/>
                <a:ea typeface="宋体" pitchFamily="0" charset="0"/>
                <a:cs typeface="Times New Roman" pitchFamily="0" charset="0"/>
              </a:rPr>
              <a:t>霍夫变换</a:t>
            </a:r>
            <a:r>
              <a:rPr lang="zh-CN" altLang="en-US" sz="2400" b="0"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a:t>
            </a:r>
            <a:endParaRPr lang="zh-CN" altLang="en-US" sz="2400" b="0" i="0" u="none" strike="noStrike" kern="1200" cap="none" spc="0" baseline="0">
              <a:solidFill>
                <a:schemeClr val="tx1"/>
              </a:solidFill>
              <a:latin typeface="Calibri" pitchFamily="0" charset="0"/>
              <a:ea typeface="等线" pitchFamily="0" charset="0"/>
              <a:cs typeface="Calibri" pitchFamily="0" charset="0"/>
            </a:endParaRPr>
          </a:p>
        </p:txBody>
      </p:sp>
      <p:sp>
        <p:nvSpPr>
          <p:cNvPr id="386" name="矩形"/>
          <p:cNvSpPr>
            <a:spLocks/>
          </p:cNvSpPr>
          <p:nvPr/>
        </p:nvSpPr>
        <p:spPr>
          <a:xfrm rot="0">
            <a:off x="5416891" y="6094581"/>
            <a:ext cx="3247049" cy="45338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400" b="1" i="0" u="none" strike="noStrike" kern="1200" cap="none" spc="0" baseline="0">
                <a:solidFill>
                  <a:schemeClr val="tx1"/>
                </a:solidFill>
                <a:latin typeface="Times New Roman" pitchFamily="0" charset="0"/>
                <a:ea typeface="宋体" pitchFamily="0" charset="0"/>
                <a:cs typeface="Times New Roman" pitchFamily="0" charset="0"/>
                <a:sym typeface="等线" pitchFamily="0" charset="0"/>
              </a:rPr>
              <a:t>区域生长、区域分裂</a:t>
            </a:r>
            <a:endParaRPr lang="zh-CN" altLang="en-US" sz="2400" b="0" i="0" u="none" strike="noStrike" kern="1200" cap="none" spc="0" baseline="0">
              <a:solidFill>
                <a:schemeClr val="tx1"/>
              </a:solidFill>
              <a:latin typeface="Calibri" pitchFamily="0" charset="0"/>
              <a:ea typeface="等线" pitchFamily="0" charset="0"/>
              <a:cs typeface="Calibri" pitchFamily="0" charset="0"/>
            </a:endParaRPr>
          </a:p>
        </p:txBody>
      </p:sp>
      <p:sp>
        <p:nvSpPr>
          <p:cNvPr id="387" name="下箭头"/>
          <p:cNvSpPr>
            <a:spLocks/>
          </p:cNvSpPr>
          <p:nvPr/>
        </p:nvSpPr>
        <p:spPr>
          <a:xfrm rot="0">
            <a:off x="6677507" y="5711045"/>
            <a:ext cx="165100" cy="373613"/>
          </a:xfrm>
          <a:prstGeom prst="downArrow">
            <a:avLst>
              <a:gd name="adj1" fmla="val 50000"/>
              <a:gd name="adj2" fmla="val 56573"/>
            </a:avLst>
          </a:prstGeom>
          <a:noFill/>
          <a:ln w="12700" cmpd="sng" cap="flat">
            <a:solidFill>
              <a:srgbClr val="41719C"/>
            </a:solidFill>
            <a:prstDash val="solid"/>
            <a:miter/>
          </a:ln>
        </p:spPr>
      </p:sp>
    </p:spTree>
    <p:extLst>
      <p:ext uri="{BB962C8B-B14F-4D97-AF65-F5344CB8AC3E}">
        <p14:creationId xmlns:p14="http://schemas.microsoft.com/office/powerpoint/2010/main" val="1153651131"/>
      </p:ext>
    </p:extLst>
  </p:cSld>
  <p:clrMapOvr>
    <a:masterClrMapping/>
  </p:clrMapOvr>
</p:sld>
</file>

<file path=ppt/slides/slide2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391"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392"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393"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数字图像处理</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394" name="直线"/>
          <p:cNvSpPr>
            <a:spLocks/>
          </p:cNvSpPr>
          <p:nvPr/>
        </p:nvSpPr>
        <p:spPr>
          <a:xfrm rot="0">
            <a:off x="3009712" y="525055"/>
            <a:ext cx="1749287" cy="0"/>
          </a:xfrm>
          <a:prstGeom prst="line"/>
          <a:noFill/>
          <a:ln w="6350" cmpd="sng" cap="flat">
            <a:solidFill>
              <a:srgbClr val="000000"/>
            </a:solidFill>
            <a:prstDash val="solid"/>
            <a:round/>
          </a:ln>
        </p:spPr>
      </p:sp>
      <p:sp>
        <p:nvSpPr>
          <p:cNvPr id="395"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396"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Processing</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397" name="矩形"/>
          <p:cNvSpPr>
            <a:spLocks/>
          </p:cNvSpPr>
          <p:nvPr/>
        </p:nvSpPr>
        <p:spPr>
          <a:xfrm rot="0">
            <a:off x="625033" y="1537335"/>
            <a:ext cx="7750616" cy="3520440"/>
          </a:xfrm>
          <a:prstGeom prst="rect"/>
          <a:noFill/>
          <a:ln w="12700" cmpd="sng" cap="flat">
            <a:noFill/>
            <a:prstDash val="solid"/>
            <a:miter/>
          </a:ln>
        </p:spPr>
        <p:txBody>
          <a:bodyPr vert="horz" wrap="square" lIns="91440" tIns="45720" rIns="91440" bIns="45720" anchor="t" anchorCtr="0">
            <a:prstTxWarp prst="textNoShape"/>
            <a:spAutoFit/>
          </a:bodyPr>
          <a:lstStyle/>
          <a:p>
            <a:pPr marL="285750" indent="-285750" algn="l">
              <a:lnSpc>
                <a:spcPct val="100000"/>
              </a:lnSpc>
              <a:spcBef>
                <a:spcPts val="0"/>
              </a:spcBef>
              <a:spcAft>
                <a:spcPts val="0"/>
              </a:spcAft>
              <a:buFont typeface="Wingdings" pitchFamily="2" charset="2"/>
              <a:buChar char=""/>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rPr>
              <a:t>点、线和边缘检测：检测的基本算法、边缘检测算子及模型、连接边缘点</a:t>
            </a: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endParaRPr>
          </a:p>
          <a:p>
            <a:pPr marL="285750" indent="-285750" algn="l">
              <a:lnSpc>
                <a:spcPct val="100000"/>
              </a:lnSpc>
              <a:spcBef>
                <a:spcPts val="0"/>
              </a:spcBef>
              <a:spcAft>
                <a:spcPts val="0"/>
              </a:spcAft>
              <a:buFont typeface="Wingdings" pitchFamily="2" charset="2"/>
              <a:buChar char=""/>
            </a:pPr>
            <a:r>
              <a:rPr lang="en-US" altLang="zh-CN" sz="2800" b="1" i="0" u="none" strike="noStrike" kern="1200" cap="none" spc="0" baseline="0">
                <a:solidFill>
                  <a:schemeClr val="tx1"/>
                </a:solidFill>
                <a:latin typeface="Times New Roman" pitchFamily="0" charset="0"/>
                <a:ea typeface="宋体" pitchFamily="0" charset="0"/>
                <a:cs typeface="Times New Roman" pitchFamily="0" charset="0"/>
              </a:rPr>
              <a:t>Canny</a:t>
            </a:r>
            <a:r>
              <a:rPr lang="zh-CN" altLang="en-US" sz="2800" b="1" i="0" u="none" strike="noStrike" kern="1200" cap="none" spc="0" baseline="0">
                <a:solidFill>
                  <a:schemeClr val="tx1"/>
                </a:solidFill>
                <a:latin typeface="Times New Roman" pitchFamily="0" charset="0"/>
                <a:ea typeface="宋体" pitchFamily="0" charset="0"/>
                <a:cs typeface="Times New Roman" pitchFamily="0" charset="0"/>
              </a:rPr>
              <a:t>边缘检测</a:t>
            </a:r>
            <a:r>
              <a:rPr lang="en-US" altLang="zh-CN" sz="2800" b="1" i="0" u="none" strike="noStrike" kern="1200" cap="none" spc="0" baseline="0">
                <a:solidFill>
                  <a:schemeClr val="tx1"/>
                </a:solidFill>
                <a:latin typeface="Times New Roman" pitchFamily="0" charset="0"/>
                <a:ea typeface="宋体" pitchFamily="0" charset="0"/>
                <a:cs typeface="Times New Roman" pitchFamily="0" charset="0"/>
              </a:rPr>
              <a:t>4</a:t>
            </a:r>
            <a:r>
              <a:rPr lang="zh-CN" altLang="en-US" sz="2800" b="1" i="0" u="none" strike="noStrike" kern="1200" cap="none" spc="0" baseline="0">
                <a:solidFill>
                  <a:schemeClr val="tx1"/>
                </a:solidFill>
                <a:latin typeface="Times New Roman" pitchFamily="0" charset="0"/>
                <a:ea typeface="宋体" pitchFamily="0" charset="0"/>
                <a:cs typeface="Times New Roman" pitchFamily="0" charset="0"/>
              </a:rPr>
              <a:t>个步骤是怎么实施计算的</a:t>
            </a:r>
            <a:endParaRPr lang="en-US" altLang="zh-CN" sz="2800" b="1" i="0" u="none" strike="noStrike" kern="1200" cap="none" spc="0" baseline="0">
              <a:solidFill>
                <a:schemeClr val="tx1"/>
              </a:solidFill>
              <a:latin typeface="Times New Roman" pitchFamily="0" charset="0"/>
              <a:ea typeface="宋体" pitchFamily="0" charset="0"/>
              <a:cs typeface="Times New Roman" pitchFamily="0" charset="0"/>
            </a:endParaRPr>
          </a:p>
          <a:p>
            <a:pPr marL="285750" indent="-285750" algn="l">
              <a:lnSpc>
                <a:spcPct val="100000"/>
              </a:lnSpc>
              <a:spcBef>
                <a:spcPts val="0"/>
              </a:spcBef>
              <a:spcAft>
                <a:spcPts val="0"/>
              </a:spcAft>
              <a:buFont typeface="Wingdings" pitchFamily="2" charset="2"/>
              <a:buChar char=""/>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rPr>
              <a:t>阈值处理：阈值处理的基本概念、</a:t>
            </a:r>
            <a:r>
              <a:rPr lang="zh-CN" altLang="en-US" sz="2800" b="1" i="0" u="none" strike="noStrike" kern="1200" cap="none" spc="0" baseline="0">
                <a:solidFill>
                  <a:schemeClr val="tx1"/>
                </a:solidFill>
                <a:latin typeface="Times New Roman" pitchFamily="0" charset="0"/>
                <a:ea typeface="宋体" pitchFamily="0" charset="0"/>
                <a:cs typeface="Times New Roman" pitchFamily="0" charset="0"/>
              </a:rPr>
              <a:t>全局阈值处理、</a:t>
            </a:r>
            <a:r>
              <a:rPr lang="en-US" altLang="zh-CN" sz="2800" b="1" i="0" u="none" strike="noStrike" kern="1200" cap="none" spc="0" baseline="0">
                <a:solidFill>
                  <a:schemeClr val="tx1"/>
                </a:solidFill>
                <a:latin typeface="Times New Roman" pitchFamily="0" charset="0"/>
                <a:ea typeface="宋体" pitchFamily="0" charset="0"/>
                <a:cs typeface="Times New Roman" pitchFamily="0" charset="0"/>
              </a:rPr>
              <a:t>ostu</a:t>
            </a:r>
            <a:r>
              <a:rPr lang="zh-CN" altLang="en-US" sz="2800" b="1" i="0" u="none" strike="noStrike" kern="1200" cap="none" spc="0" baseline="0">
                <a:solidFill>
                  <a:schemeClr val="tx1"/>
                </a:solidFill>
                <a:latin typeface="Times New Roman" pitchFamily="0" charset="0"/>
                <a:ea typeface="宋体" pitchFamily="0" charset="0"/>
                <a:cs typeface="Times New Roman" pitchFamily="0" charset="0"/>
              </a:rPr>
              <a:t>算法的计算步骤</a:t>
            </a:r>
            <a:endParaRPr lang="en-US" altLang="zh-CN" sz="2800" b="1" i="0" u="none" strike="noStrike" kern="1200" cap="none" spc="0" baseline="0">
              <a:solidFill>
                <a:schemeClr val="tx1"/>
              </a:solidFill>
              <a:latin typeface="Times New Roman" pitchFamily="0" charset="0"/>
              <a:ea typeface="宋体" pitchFamily="0" charset="0"/>
              <a:cs typeface="Times New Roman" pitchFamily="0" charset="0"/>
            </a:endParaRPr>
          </a:p>
          <a:p>
            <a:pPr marL="285750" indent="-285750" algn="l">
              <a:lnSpc>
                <a:spcPct val="100000"/>
              </a:lnSpc>
              <a:spcBef>
                <a:spcPts val="0"/>
              </a:spcBef>
              <a:spcAft>
                <a:spcPts val="0"/>
              </a:spcAft>
              <a:buFont typeface="Wingdings" pitchFamily="2" charset="2"/>
              <a:buChar char=""/>
            </a:pPr>
            <a:r>
              <a:rPr lang="zh-CN" altLang="en-US" sz="2800" b="1" i="0" u="none" strike="noStrike" kern="1200" cap="none" spc="0" baseline="0">
                <a:solidFill>
                  <a:schemeClr val="tx1"/>
                </a:solidFill>
                <a:latin typeface="Times New Roman" pitchFamily="0" charset="0"/>
                <a:ea typeface="宋体" pitchFamily="0" charset="0"/>
                <a:cs typeface="Times New Roman" pitchFamily="0" charset="0"/>
              </a:rPr>
              <a:t>区域生长、区域分裂合并</a:t>
            </a:r>
            <a:endParaRPr lang="en-US" altLang="zh-CN" sz="2800" b="1" i="0" u="none" strike="noStrike" kern="1200" cap="none" spc="0" baseline="0">
              <a:solidFill>
                <a:schemeClr val="tx1"/>
              </a:solidFill>
              <a:latin typeface="Times New Roman" pitchFamily="0" charset="0"/>
              <a:ea typeface="宋体" pitchFamily="0" charset="0"/>
              <a:cs typeface="Times New Roman" pitchFamily="0" charset="0"/>
            </a:endParaRPr>
          </a:p>
          <a:p>
            <a:pPr marL="285750" indent="-285750" algn="l">
              <a:lnSpc>
                <a:spcPct val="100000"/>
              </a:lnSpc>
              <a:spcBef>
                <a:spcPts val="0"/>
              </a:spcBef>
              <a:spcAft>
                <a:spcPts val="0"/>
              </a:spcAft>
              <a:buFont typeface="Wingdings" pitchFamily="2" charset="2"/>
              <a:buChar char=""/>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rPr>
              <a:t>图割与分水岭的思想</a:t>
            </a:r>
            <a:endParaRPr lang="en-US" altLang="zh-CN" sz="2800" b="0" i="0" u="none" strike="noStrike" kern="1200" cap="none" spc="0" baseline="0">
              <a:solidFill>
                <a:schemeClr val="tx1"/>
              </a:solidFill>
              <a:latin typeface="Times New Roman" pitchFamily="0" charset="0"/>
              <a:ea typeface="宋体" pitchFamily="0" charset="0"/>
              <a:cs typeface="Times New Roman" pitchFamily="0" charset="0"/>
            </a:endParaRPr>
          </a:p>
          <a:p>
            <a:pPr marL="285750" indent="-285750" algn="l">
              <a:lnSpc>
                <a:spcPct val="100000"/>
              </a:lnSpc>
              <a:spcBef>
                <a:spcPts val="0"/>
              </a:spcBef>
              <a:spcAft>
                <a:spcPts val="0"/>
              </a:spcAft>
              <a:buFont typeface="Wingdings" pitchFamily="2" charset="2"/>
              <a:buChar char=""/>
            </a:pPr>
            <a:endParaRPr lang="zh-CN" altLang="en-US" sz="2800" b="0" i="0" u="none" strike="noStrike" kern="1200" cap="none" spc="0" baseline="0">
              <a:solidFill>
                <a:schemeClr val="tx1"/>
              </a:solidFill>
              <a:latin typeface="Times New Roman" pitchFamily="0" charset="0"/>
              <a:ea typeface="宋体" pitchFamily="0" charset="0"/>
              <a:cs typeface="Times New Roman" pitchFamily="0" charset="0"/>
            </a:endParaRPr>
          </a:p>
        </p:txBody>
      </p:sp>
    </p:spTree>
    <p:extLst>
      <p:ext uri="{BB962C8B-B14F-4D97-AF65-F5344CB8AC3E}">
        <p14:creationId xmlns:p14="http://schemas.microsoft.com/office/powerpoint/2010/main" val="73908100"/>
      </p:ext>
    </p:extLst>
  </p:cSld>
  <p:clrMapOvr>
    <a:masterClrMapping/>
  </p:clrMapOvr>
</p:sld>
</file>

<file path=ppt/slides/slide2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401"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402"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403"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数字图像处理</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404" name="直线"/>
          <p:cNvSpPr>
            <a:spLocks/>
          </p:cNvSpPr>
          <p:nvPr/>
        </p:nvSpPr>
        <p:spPr>
          <a:xfrm rot="0">
            <a:off x="3009712" y="525055"/>
            <a:ext cx="1749287" cy="0"/>
          </a:xfrm>
          <a:prstGeom prst="line"/>
          <a:noFill/>
          <a:ln w="6350" cmpd="sng" cap="flat">
            <a:solidFill>
              <a:srgbClr val="000000"/>
            </a:solidFill>
            <a:prstDash val="solid"/>
            <a:round/>
          </a:ln>
        </p:spPr>
      </p:sp>
      <p:sp>
        <p:nvSpPr>
          <p:cNvPr id="405"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406"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Processing</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407" name="矩形"/>
          <p:cNvSpPr>
            <a:spLocks/>
          </p:cNvSpPr>
          <p:nvPr/>
        </p:nvSpPr>
        <p:spPr>
          <a:xfrm rot="0">
            <a:off x="3786230" y="3168761"/>
            <a:ext cx="1685924" cy="996315"/>
          </a:xfrm>
          <a:prstGeom prst="rect"/>
          <a:noFill/>
          <a:ln w="12700" cmpd="sng" cap="flat">
            <a:noFill/>
            <a:prstDash val="solid"/>
            <a:miter/>
          </a:ln>
        </p:spPr>
        <p:txBody>
          <a:bodyPr vert="horz" wrap="non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6000" b="0" i="0" u="none" strike="noStrike" kern="1200" cap="none" spc="0" baseline="0">
                <a:solidFill>
                  <a:srgbClr val="1F4E79"/>
                </a:solidFill>
                <a:latin typeface="SimHei" pitchFamily="0" charset="-122"/>
                <a:ea typeface="SimHei" pitchFamily="0" charset="-122"/>
                <a:cs typeface="SimHei" pitchFamily="0" charset="-122"/>
              </a:rPr>
              <a:t>最后</a:t>
            </a:r>
            <a:endParaRPr lang="zh-CN" altLang="en-US" sz="6000" b="0" i="0" u="none" strike="noStrike" kern="1200" cap="none" spc="0" baseline="0">
              <a:solidFill>
                <a:srgbClr val="1F4E79"/>
              </a:solidFill>
              <a:latin typeface="SimHei" pitchFamily="0" charset="-122"/>
              <a:ea typeface="SimHei" pitchFamily="0" charset="-122"/>
              <a:cs typeface="SimHei" pitchFamily="0" charset="-122"/>
            </a:endParaRPr>
          </a:p>
        </p:txBody>
      </p:sp>
    </p:spTree>
    <p:extLst>
      <p:ext uri="{BB962C8B-B14F-4D97-AF65-F5344CB8AC3E}">
        <p14:creationId xmlns:p14="http://schemas.microsoft.com/office/powerpoint/2010/main" val="1936001423"/>
      </p:ext>
    </p:extLst>
  </p:cSld>
  <p:clrMapOvr>
    <a:masterClrMapping/>
  </p:clrMapOvr>
</p:sld>
</file>

<file path=ppt/slides/slide2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411" name="图片"/>
          <p:cNvPicPr>
            <a:picLocks noChangeAspect="1"/>
          </p:cNvPicPr>
          <p:nvPr/>
        </p:nvPicPr>
        <p:blipFill>
          <a:blip r:embed="rId1" cstate="print"/>
          <a:stretch>
            <a:fillRect/>
          </a:stretch>
        </p:blipFill>
        <p:spPr>
          <a:xfrm rot="0">
            <a:off x="7975131" y="271543"/>
            <a:ext cx="872370" cy="853287"/>
          </a:xfrm>
          <a:prstGeom prst="rect"/>
          <a:noFill/>
          <a:ln w="12700" cmpd="sng" cap="flat">
            <a:noFill/>
            <a:prstDash val="solid"/>
            <a:miter/>
          </a:ln>
        </p:spPr>
      </p:pic>
      <p:sp>
        <p:nvSpPr>
          <p:cNvPr id="412" name="矩形"/>
          <p:cNvSpPr>
            <a:spLocks/>
          </p:cNvSpPr>
          <p:nvPr/>
        </p:nvSpPr>
        <p:spPr>
          <a:xfrm rot="0">
            <a:off x="8845528" y="6556247"/>
            <a:ext cx="224042" cy="223374"/>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413" name="矩形"/>
          <p:cNvSpPr>
            <a:spLocks/>
          </p:cNvSpPr>
          <p:nvPr/>
        </p:nvSpPr>
        <p:spPr>
          <a:xfrm rot="0">
            <a:off x="318135" y="102870"/>
            <a:ext cx="2734310" cy="79565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zh-CN" altLang="en-US" sz="3200" b="1" i="0" u="none" strike="noStrike" kern="1200" cap="none" spc="0" baseline="0">
                <a:solidFill>
                  <a:srgbClr val="1F4E79"/>
                </a:solidFill>
                <a:latin typeface="SimHei" pitchFamily="0" charset="-122"/>
                <a:ea typeface="SimHei" pitchFamily="0" charset="-122"/>
                <a:cs typeface="SimHei" pitchFamily="0" charset="-122"/>
              </a:rPr>
              <a:t>数字图像处理</a:t>
            </a:r>
            <a:endParaRPr lang="zh-CN" altLang="en-US" sz="3200" b="1" i="0" u="none" strike="noStrike" kern="1200" cap="none" spc="0" baseline="0">
              <a:solidFill>
                <a:srgbClr val="1F4E79"/>
              </a:solidFill>
              <a:latin typeface="SimHei" pitchFamily="0" charset="-122"/>
              <a:ea typeface="SimHei" pitchFamily="0" charset="-122"/>
              <a:cs typeface="SimHei" pitchFamily="0" charset="-122"/>
            </a:endParaRPr>
          </a:p>
        </p:txBody>
      </p:sp>
      <p:sp>
        <p:nvSpPr>
          <p:cNvPr id="414" name="直线"/>
          <p:cNvSpPr>
            <a:spLocks/>
          </p:cNvSpPr>
          <p:nvPr/>
        </p:nvSpPr>
        <p:spPr>
          <a:xfrm rot="0">
            <a:off x="3009712" y="525055"/>
            <a:ext cx="1749287" cy="0"/>
          </a:xfrm>
          <a:prstGeom prst="line"/>
          <a:noFill/>
          <a:ln w="6350" cmpd="sng" cap="flat">
            <a:solidFill>
              <a:srgbClr val="000000"/>
            </a:solidFill>
            <a:prstDash val="solid"/>
            <a:round/>
          </a:ln>
        </p:spPr>
      </p:sp>
      <p:sp>
        <p:nvSpPr>
          <p:cNvPr id="415" name="矩形"/>
          <p:cNvSpPr>
            <a:spLocks/>
          </p:cNvSpPr>
          <p:nvPr/>
        </p:nvSpPr>
        <p:spPr>
          <a:xfrm rot="0">
            <a:off x="19878" y="183607"/>
            <a:ext cx="298172" cy="969332"/>
          </a:xfrm>
          <a:prstGeom prst="rect"/>
          <a:solidFill>
            <a:srgbClr val="1F4E79"/>
          </a:solidFill>
          <a:ln w="12700" cmpd="sng" cap="flat">
            <a:noFill/>
            <a:prstDash val="solid"/>
            <a:round/>
          </a:ln>
          <a:effectLst>
            <a:outerShdw sx="100000" sy="100000" algn="ctr" rotWithShape="0" blurRad="50800" dist="50800" dir="5400000">
              <a:srgbClr val="FFFFFF">
                <a:alpha val="99607"/>
              </a:srgbClr>
            </a:outerShdw>
          </a:effectLst>
        </p:spPr>
      </p:sp>
      <p:sp>
        <p:nvSpPr>
          <p:cNvPr id="416" name="矩形"/>
          <p:cNvSpPr>
            <a:spLocks/>
          </p:cNvSpPr>
          <p:nvPr/>
        </p:nvSpPr>
        <p:spPr>
          <a:xfrm rot="0">
            <a:off x="502919" y="624840"/>
            <a:ext cx="4124324" cy="812800"/>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90000"/>
              </a:lnSpc>
              <a:spcBef>
                <a:spcPts val="0"/>
              </a:spcBef>
              <a:spcAft>
                <a:spcPts val="0"/>
              </a:spcAft>
              <a:buNone/>
            </a:pPr>
            <a:r>
              <a:rPr lang="en-US" altLang="zh-CN" sz="2400" b="1" i="0" u="none" strike="noStrike" kern="1200" cap="none" spc="0" baseline="0">
                <a:solidFill>
                  <a:schemeClr val="tx1"/>
                </a:solidFill>
                <a:latin typeface="Times New Roman" pitchFamily="0" charset="0"/>
                <a:ea typeface="宋体" pitchFamily="0" charset="0"/>
                <a:cs typeface="Times New Roman" pitchFamily="0" charset="0"/>
              </a:rPr>
              <a:t>Digital Image Processing</a:t>
            </a:r>
            <a:endParaRPr lang="zh-CN" altLang="en-US" sz="2400" b="1" i="0" u="none" strike="noStrike" kern="1200" cap="none" spc="0" baseline="0">
              <a:solidFill>
                <a:schemeClr val="tx1"/>
              </a:solidFill>
              <a:latin typeface="Times New Roman" pitchFamily="0" charset="0"/>
              <a:ea typeface="宋体" pitchFamily="0" charset="0"/>
              <a:cs typeface="Times New Roman" pitchFamily="0" charset="0"/>
            </a:endParaRPr>
          </a:p>
        </p:txBody>
      </p:sp>
      <p:sp>
        <p:nvSpPr>
          <p:cNvPr id="417" name="矩形"/>
          <p:cNvSpPr>
            <a:spLocks/>
          </p:cNvSpPr>
          <p:nvPr/>
        </p:nvSpPr>
        <p:spPr>
          <a:xfrm rot="0">
            <a:off x="1024255" y="1537335"/>
            <a:ext cx="7351395" cy="523219"/>
          </a:xfrm>
          <a:prstGeom prst="rect"/>
          <a:noFill/>
          <a:ln w="12700" cmpd="sng" cap="flat">
            <a:noFill/>
            <a:prstDash val="solid"/>
            <a:miter/>
          </a:ln>
        </p:spPr>
        <p:txBody>
          <a:bodyPr vert="horz" wrap="square" lIns="91440" tIns="45720" rIns="91440" bIns="45720" anchor="t" anchorCtr="0">
            <a:prstTxWarp prst="textNoShape"/>
            <a:spAutoFit/>
          </a:bodyPr>
          <a:lstStyle/>
          <a:p>
            <a:pPr marL="285750" indent="-285750" algn="l">
              <a:lnSpc>
                <a:spcPct val="100000"/>
              </a:lnSpc>
              <a:spcBef>
                <a:spcPts val="0"/>
              </a:spcBef>
              <a:spcAft>
                <a:spcPts val="0"/>
              </a:spcAft>
              <a:buFont typeface="Wingdings" pitchFamily="2" charset="2"/>
              <a:buChar char=""/>
            </a:pP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rPr>
              <a:t>复习</a:t>
            </a:r>
            <a:r>
              <a:rPr lang="en-US" altLang="zh-CN" sz="2800" b="0" i="0" u="none" strike="noStrike" kern="1200" cap="none" spc="0" baseline="0">
                <a:solidFill>
                  <a:schemeClr val="tx1"/>
                </a:solidFill>
                <a:latin typeface="Times New Roman" pitchFamily="0" charset="0"/>
                <a:ea typeface="宋体" pitchFamily="0" charset="0"/>
                <a:cs typeface="Times New Roman" pitchFamily="0" charset="0"/>
              </a:rPr>
              <a:t>ppt</a:t>
            </a:r>
            <a:r>
              <a:rPr lang="zh-CN" altLang="en-US" sz="2800" b="0" i="0" u="none" strike="noStrike" kern="1200" cap="none" spc="0" baseline="0">
                <a:solidFill>
                  <a:schemeClr val="tx1"/>
                </a:solidFill>
                <a:latin typeface="Times New Roman" pitchFamily="0" charset="0"/>
                <a:ea typeface="宋体" pitchFamily="0" charset="0"/>
                <a:cs typeface="Times New Roman" pitchFamily="0" charset="0"/>
              </a:rPr>
              <a:t>上具体的示例、学习通作业</a:t>
            </a:r>
            <a:endParaRPr lang="zh-CN" altLang="en-US" sz="2800" b="0" i="0" u="none" strike="noStrike" kern="1200" cap="none" spc="0" baseline="0">
              <a:solidFill>
                <a:schemeClr val="tx1"/>
              </a:solidFill>
              <a:latin typeface="Times New Roman" pitchFamily="0" charset="0"/>
              <a:ea typeface="宋体" pitchFamily="0" charset="0"/>
              <a:cs typeface="Times New Roman" pitchFamily="0" charset="0"/>
            </a:endParaRPr>
          </a:p>
        </p:txBody>
      </p:sp>
    </p:spTree>
    <p:extLst>
      <p:ext uri="{BB962C8B-B14F-4D97-AF65-F5344CB8AC3E}">
        <p14:creationId xmlns:p14="http://schemas.microsoft.com/office/powerpoint/2010/main" val="1007473884"/>
      </p:ext>
    </p:extLst>
  </p:cSld>
  <p:clrMapOvr>
    <a:masterClrMapping/>
  </p:clrMapOvr>
</p:sld>
</file>

<file path=ppt/theme/theme1.xml><?xml version="1.0" encoding="utf-8"?>
<a:theme xmlns:a="http://schemas.openxmlformats.org/drawingml/2006/main" name="Office 主题​​">
  <a:themeElements>
    <a:clrScheme name="Office 主题​​">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
        <a:ea typeface=""/>
        <a:cs typeface=""/>
      </a:majorFont>
      <a:minorFont>
        <a:latin typeface=""/>
        <a:ea typeface=""/>
        <a:cs typeface=""/>
      </a:minorFont>
    </a:fontScheme>
    <a:fmtScheme name="Office 主题​​">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71</TotalTime>
  <Application>Office</Application>
  <Company>user</Company>
</Properties>
</file>

<file path=docProps/core.xml><?xml version="1.0" encoding="utf-8"?>
<cp:coreProperties xmlns:cp="http://schemas.openxmlformats.org/package/2006/metadata/core-properties" xmlns:dc="http://purl.org/dc/elements/1.1/" xmlns:dcterms="http://purl.org/dc/terms/" xmlns:xsi="http://www.w3.org/2001/XMLSchema-instance">
  <dc:title>PowerPoint 演示文稿</dc:title>
  <dc:creator>Yoyo Liu</dc:creator>
  <cp:lastModifiedBy>平板用户</cp:lastModifiedBy>
  <cp:revision>1445</cp:revision>
  <dcterms:created xsi:type="dcterms:W3CDTF">2023-06-01T16:01:01Z</dcterms:created>
  <dcterms:modified xsi:type="dcterms:W3CDTF">2025-11-09T12:03:07Z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KSOProductBuildVer">
    <vt:lpwstr>2052-5.4.1.7920</vt:lpwstr>
  </property>
  <property fmtid="{D5CDD505-2E9C-101B-9397-08002B2CF9AE}" pid="3" name="ICV">
    <vt:lpwstr>2046183468704B82E5B178643FD36D01_42</vt:lpwstr>
  </property>
</Properties>
</file>