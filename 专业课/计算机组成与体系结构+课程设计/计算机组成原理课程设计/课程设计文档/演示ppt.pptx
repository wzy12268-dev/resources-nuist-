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92" r:id="rId3"/>
    <p:sldId id="448" r:id="rId4"/>
    <p:sldId id="449" r:id="rId5"/>
    <p:sldId id="450" r:id="rId6"/>
    <p:sldId id="451" r:id="rId7"/>
    <p:sldId id="452" r:id="rId8"/>
    <p:sldId id="453" r:id="rId9"/>
    <p:sldId id="454" r:id="rId11"/>
    <p:sldId id="455" r:id="rId12"/>
    <p:sldId id="456" r:id="rId13"/>
    <p:sldId id="457" r:id="rId14"/>
    <p:sldId id="458" r:id="rId15"/>
    <p:sldId id="459" r:id="rId16"/>
    <p:sldId id="460" r:id="rId17"/>
    <p:sldId id="461" r:id="rId18"/>
    <p:sldId id="462" r:id="rId19"/>
    <p:sldId id="464" r:id="rId20"/>
    <p:sldId id="465" r:id="rId21"/>
    <p:sldId id="467" r:id="rId22"/>
    <p:sldId id="468" r:id="rId23"/>
    <p:sldId id="470" r:id="rId24"/>
    <p:sldId id="471" r:id="rId25"/>
    <p:sldId id="473" r:id="rId26"/>
    <p:sldId id="474" r:id="rId27"/>
    <p:sldId id="475" r:id="rId28"/>
    <p:sldId id="262" r:id="rId29"/>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gs" Target="tags/tag9.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7132FDF-EEB4-474E-AC2F-8E50AD97D06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7AB651-9852-4EAF-876E-AD1F2811382D}"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7132FDF-EEB4-474E-AC2F-8E50AD97D06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7AB651-9852-4EAF-876E-AD1F2811382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7132FDF-EEB4-474E-AC2F-8E50AD97D06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7AB651-9852-4EAF-876E-AD1F2811382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D7132FDF-EEB4-474E-AC2F-8E50AD97D06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7AB651-9852-4EAF-876E-AD1F2811382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D7132FDF-EEB4-474E-AC2F-8E50AD97D06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47AB651-9852-4EAF-876E-AD1F2811382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7132FDF-EEB4-474E-AC2F-8E50AD97D06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47AB651-9852-4EAF-876E-AD1F2811382D}"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7132FDF-EEB4-474E-AC2F-8E50AD97D06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47AB651-9852-4EAF-876E-AD1F2811382D}"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7132FDF-EEB4-474E-AC2F-8E50AD97D06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7AB651-9852-4EAF-876E-AD1F2811382D}"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7132FDF-EEB4-474E-AC2F-8E50AD97D06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7AB651-9852-4EAF-876E-AD1F2811382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7132FDF-EEB4-474E-AC2F-8E50AD97D06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7AB651-9852-4EAF-876E-AD1F2811382D}"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7132FDF-EEB4-474E-AC2F-8E50AD97D06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7AB651-9852-4EAF-876E-AD1F2811382D}"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9" name="图片 8"/>
          <p:cNvPicPr>
            <a:picLocks noChangeAspect="1"/>
          </p:cNvPicPr>
          <p:nvPr userDrawn="1"/>
        </p:nvPicPr>
        <p:blipFill rotWithShape="1">
          <a:blip r:embed="rId2">
            <a:alphaModFix amt="15000"/>
            <a:extLst>
              <a:ext uri="{28A0092B-C50C-407E-A947-70E740481C1C}">
                <a14:useLocalDpi xmlns:a14="http://schemas.microsoft.com/office/drawing/2010/main" val="0"/>
              </a:ext>
            </a:extLst>
          </a:blip>
          <a:srcRect t="14385" r="27228" b="14385"/>
          <a:stretch>
            <a:fillRect/>
          </a:stretch>
        </p:blipFill>
        <p:spPr>
          <a:xfrm>
            <a:off x="5185461" y="0"/>
            <a:ext cx="7006543" cy="6858000"/>
          </a:xfrm>
          <a:prstGeom prst="rect">
            <a:avLst/>
          </a:prstGeom>
        </p:spPr>
      </p:pic>
      <p:sp>
        <p:nvSpPr>
          <p:cNvPr id="2" name="标题 1"/>
          <p:cNvSpPr>
            <a:spLocks noGrp="1"/>
          </p:cNvSpPr>
          <p:nvPr>
            <p:ph type="ctrTitle" hasCustomPrompt="1"/>
          </p:nvPr>
        </p:nvSpPr>
        <p:spPr>
          <a:xfrm>
            <a:off x="838202" y="3344480"/>
            <a:ext cx="6243495" cy="798847"/>
          </a:xfrm>
        </p:spPr>
        <p:txBody>
          <a:bodyPr anchor="b">
            <a:normAutofit/>
          </a:bodyPr>
          <a:lstStyle>
            <a:lvl1pPr marL="0" algn="l" defTabSz="914400" rtl="0" eaLnBrk="1" latinLnBrk="0" hangingPunct="1">
              <a:defRPr lang="zh-CN" altLang="en-US" sz="4400" b="1" kern="1200" spc="200" dirty="0">
                <a:gradFill flip="none" rotWithShape="1">
                  <a:gsLst>
                    <a:gs pos="0">
                      <a:srgbClr val="2660AD"/>
                    </a:gs>
                    <a:gs pos="100000">
                      <a:srgbClr val="00679C"/>
                    </a:gs>
                  </a:gsLst>
                  <a:lin ang="16200000" scaled="1"/>
                  <a:tileRect/>
                </a:gradFill>
                <a:latin typeface="微软雅黑" panose="020B0503020204020204" pitchFamily="34" charset="-122"/>
                <a:ea typeface="微软雅黑" panose="020B0503020204020204" pitchFamily="34" charset="-122"/>
                <a:cs typeface="阿里巴巴普惠体 Medium" panose="00020600040101010101" pitchFamily="18" charset="-122"/>
              </a:defRPr>
            </a:lvl1pPr>
          </a:lstStyle>
          <a:p>
            <a:r>
              <a:rPr lang="zh-CN" altLang="en-US"/>
              <a:t>学术答辩通用</a:t>
            </a:r>
            <a:r>
              <a:rPr lang="en-US" altLang="zh-CN"/>
              <a:t>PPT</a:t>
            </a:r>
            <a:r>
              <a:rPr lang="zh-CN" altLang="en-US"/>
              <a:t>模板</a:t>
            </a:r>
            <a:endParaRPr lang="zh-CN" altLang="en-US"/>
          </a:p>
        </p:txBody>
      </p:sp>
      <p:sp>
        <p:nvSpPr>
          <p:cNvPr id="3" name="副标题 2"/>
          <p:cNvSpPr>
            <a:spLocks noGrp="1"/>
          </p:cNvSpPr>
          <p:nvPr>
            <p:ph type="subTitle" idx="1" hasCustomPrompt="1"/>
          </p:nvPr>
        </p:nvSpPr>
        <p:spPr>
          <a:xfrm>
            <a:off x="838202" y="2534563"/>
            <a:ext cx="6243495" cy="798847"/>
          </a:xfrm>
        </p:spPr>
        <p:txBody>
          <a:bodyPr anchor="ctr" anchorCtr="0">
            <a:normAutofit/>
          </a:bodyPr>
          <a:lstStyle>
            <a:lvl1pPr marL="0" indent="0" algn="l" defTabSz="914400" rtl="0" eaLnBrk="1" latinLnBrk="0" hangingPunct="1">
              <a:buNone/>
              <a:defRPr lang="zh-CN" altLang="en-US" sz="4400" b="1" kern="1200"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南京信息工程大学</a:t>
            </a:r>
            <a:endParaRPr lang="zh-CN" altLang="en-US"/>
          </a:p>
        </p:txBody>
      </p:sp>
      <p:sp>
        <p:nvSpPr>
          <p:cNvPr id="4" name="日期占位符 3"/>
          <p:cNvSpPr>
            <a:spLocks noGrp="1"/>
          </p:cNvSpPr>
          <p:nvPr>
            <p:ph type="dt" sz="half" idx="10"/>
          </p:nvPr>
        </p:nvSpPr>
        <p:spPr/>
        <p:txBody>
          <a:bodyPr/>
          <a:lstStyle/>
          <a:p>
            <a:fld id="{2456B7F3-024D-429A-ABCA-81F64A6B851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E17D63-A816-4E6A-BE97-618CAC8BA0E1}" type="slidenum">
              <a:rPr lang="zh-CN" altLang="en-US" smtClean="0"/>
            </a:fld>
            <a:endParaRPr lang="zh-CN" altLang="en-US"/>
          </a:p>
        </p:txBody>
      </p:sp>
      <p:sp>
        <p:nvSpPr>
          <p:cNvPr id="7" name="矩形 6"/>
          <p:cNvSpPr/>
          <p:nvPr userDrawn="1"/>
        </p:nvSpPr>
        <p:spPr>
          <a:xfrm>
            <a:off x="0" y="2390580"/>
            <a:ext cx="439839" cy="2754774"/>
          </a:xfrm>
          <a:prstGeom prst="rect">
            <a:avLst/>
          </a:prstGeom>
          <a:gradFill>
            <a:gsLst>
              <a:gs pos="0">
                <a:srgbClr val="00679C"/>
              </a:gs>
              <a:gs pos="100000">
                <a:srgbClr val="2660AD"/>
              </a:gs>
            </a:gsLst>
            <a:lin ang="12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descr="图片包含 游戏机, 猫&#10;&#10;描述已自动生成"/>
          <p:cNvPicPr>
            <a:picLocks noChangeAspect="1"/>
          </p:cNvPicPr>
          <p:nvPr userDrawn="1"/>
        </p:nvPicPr>
        <p:blipFill rotWithShape="1">
          <a:blip r:embed="rId3">
            <a:alphaModFix amt="15000"/>
            <a:extLst>
              <a:ext uri="{28A0092B-C50C-407E-A947-70E740481C1C}">
                <a14:useLocalDpi xmlns:a14="http://schemas.microsoft.com/office/drawing/2010/main" val="0"/>
              </a:ext>
            </a:extLst>
          </a:blip>
          <a:srcRect l="41388" t="67053" r="30179" b="26533"/>
          <a:stretch>
            <a:fillRect/>
          </a:stretch>
        </p:blipFill>
        <p:spPr>
          <a:xfrm rot="16200000">
            <a:off x="-1141186" y="3523983"/>
            <a:ext cx="2754777" cy="439839"/>
          </a:xfrm>
          <a:prstGeom prst="rect">
            <a:avLst/>
          </a:prstGeom>
          <a:noFill/>
        </p:spPr>
      </p:pic>
      <p:sp>
        <p:nvSpPr>
          <p:cNvPr id="11" name="文本框 10"/>
          <p:cNvSpPr txBox="1"/>
          <p:nvPr userDrawn="1"/>
        </p:nvSpPr>
        <p:spPr>
          <a:xfrm>
            <a:off x="838201" y="6017800"/>
            <a:ext cx="2903731" cy="338554"/>
          </a:xfrm>
          <a:prstGeom prst="rect">
            <a:avLst/>
          </a:prstGeom>
          <a:noFill/>
        </p:spPr>
        <p:txBody>
          <a:bodyPr wrap="square" rtlCol="0">
            <a:spAutoFit/>
          </a:bodyPr>
          <a:lstStyle/>
          <a:p>
            <a:r>
              <a:rPr lang="zh-CN" altLang="en-US" sz="1600" spc="700">
                <a:gradFill flip="none" rotWithShape="1">
                  <a:gsLst>
                    <a:gs pos="0">
                      <a:srgbClr val="2660AD"/>
                    </a:gs>
                    <a:gs pos="100000">
                      <a:srgbClr val="00679C"/>
                    </a:gs>
                  </a:gsLst>
                  <a:lin ang="16200000" scaled="1"/>
                  <a:tileRect/>
                </a:gradFill>
                <a:latin typeface="微软雅黑" panose="020B0503020204020204" pitchFamily="34" charset="-122"/>
                <a:ea typeface="微软雅黑" panose="020B0503020204020204" pitchFamily="34" charset="-122"/>
                <a:cs typeface="阿里巴巴普惠体 Medium" panose="00020600040101010101" pitchFamily="18" charset="-122"/>
              </a:rPr>
              <a:t>明德格物  立己达人</a:t>
            </a:r>
            <a:endParaRPr lang="en-US" altLang="zh-CN" sz="1600" spc="700">
              <a:gradFill flip="none" rotWithShape="1">
                <a:gsLst>
                  <a:gs pos="0">
                    <a:srgbClr val="2660AD"/>
                  </a:gs>
                  <a:gs pos="100000">
                    <a:srgbClr val="00679C"/>
                  </a:gs>
                </a:gsLst>
                <a:lin ang="16200000" scaled="1"/>
                <a:tileRect/>
              </a:gra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sp>
        <p:nvSpPr>
          <p:cNvPr id="15" name="文本占位符 53"/>
          <p:cNvSpPr>
            <a:spLocks noGrp="1"/>
          </p:cNvSpPr>
          <p:nvPr>
            <p:ph type="body" sz="quarter" idx="17" hasCustomPrompt="1"/>
          </p:nvPr>
        </p:nvSpPr>
        <p:spPr>
          <a:xfrm>
            <a:off x="838202" y="4225564"/>
            <a:ext cx="4065361" cy="418191"/>
          </a:xfrm>
          <a:prstGeom prst="rect">
            <a:avLst/>
          </a:prstGeom>
          <a:noFill/>
        </p:spPr>
        <p:txBody>
          <a:bodyPr wrap="square" rtlCol="0">
            <a:spAutoFit/>
          </a:bodyPr>
          <a:lstStyle>
            <a:lvl1pPr marL="0" indent="0">
              <a:buNone/>
              <a:defRPr lang="zh-CN" altLang="en-US" sz="1600" spc="200" dirty="0">
                <a:gradFill flip="none" rotWithShape="1">
                  <a:gsLst>
                    <a:gs pos="0">
                      <a:srgbClr val="2660AD"/>
                    </a:gs>
                    <a:gs pos="100000">
                      <a:srgbClr val="00679C"/>
                    </a:gs>
                  </a:gsLst>
                  <a:lin ang="16200000" scaled="1"/>
                  <a:tileRect/>
                </a:gradFill>
                <a:latin typeface="微软雅黑" panose="020B0503020204020204" pitchFamily="34" charset="-122"/>
                <a:ea typeface="微软雅黑" panose="020B0503020204020204" pitchFamily="34" charset="-122"/>
                <a:cs typeface="阿里巴巴普惠体 Medium" panose="00020600040101010101" pitchFamily="18" charset="-122"/>
              </a:defRPr>
            </a:lvl1pPr>
          </a:lstStyle>
          <a:p>
            <a:pPr marL="0" lvl="0">
              <a:lnSpc>
                <a:spcPct val="150000"/>
              </a:lnSpc>
            </a:pPr>
            <a:r>
              <a:rPr lang="en-US" altLang="zh-CN"/>
              <a:t>&gt;&gt;</a:t>
            </a:r>
            <a:r>
              <a:rPr lang="zh-CN" altLang="en-US"/>
              <a:t>答辩学生：魏子奇</a:t>
            </a:r>
            <a:endParaRPr lang="zh-CN" altLang="en-US"/>
          </a:p>
        </p:txBody>
      </p:sp>
      <p:sp>
        <p:nvSpPr>
          <p:cNvPr id="16" name="文本占位符 53"/>
          <p:cNvSpPr>
            <a:spLocks noGrp="1"/>
          </p:cNvSpPr>
          <p:nvPr>
            <p:ph type="body" sz="quarter" idx="18" hasCustomPrompt="1"/>
          </p:nvPr>
        </p:nvSpPr>
        <p:spPr>
          <a:xfrm>
            <a:off x="838202" y="4703491"/>
            <a:ext cx="4065361" cy="418191"/>
          </a:xfrm>
          <a:prstGeom prst="rect">
            <a:avLst/>
          </a:prstGeom>
          <a:noFill/>
        </p:spPr>
        <p:txBody>
          <a:bodyPr wrap="square" rtlCol="0">
            <a:spAutoFit/>
          </a:bodyPr>
          <a:lstStyle>
            <a:lvl1pPr marL="0" indent="0">
              <a:buNone/>
              <a:defRPr lang="zh-CN" altLang="en-US" sz="1600" spc="200" dirty="0">
                <a:gradFill flip="none" rotWithShape="1">
                  <a:gsLst>
                    <a:gs pos="0">
                      <a:srgbClr val="2660AD"/>
                    </a:gs>
                    <a:gs pos="100000">
                      <a:srgbClr val="00679C"/>
                    </a:gs>
                  </a:gsLst>
                  <a:lin ang="16200000" scaled="1"/>
                  <a:tileRect/>
                </a:gradFill>
                <a:latin typeface="微软雅黑" panose="020B0503020204020204" pitchFamily="34" charset="-122"/>
                <a:ea typeface="微软雅黑" panose="020B0503020204020204" pitchFamily="34" charset="-122"/>
                <a:cs typeface="阿里巴巴普惠体 Medium" panose="00020600040101010101" pitchFamily="18" charset="-122"/>
              </a:defRPr>
            </a:lvl1pPr>
          </a:lstStyle>
          <a:p>
            <a:pPr marL="0" lvl="0">
              <a:lnSpc>
                <a:spcPct val="150000"/>
              </a:lnSpc>
            </a:pPr>
            <a:r>
              <a:rPr lang="en-US" altLang="zh-CN"/>
              <a:t>&gt;&gt;</a:t>
            </a:r>
            <a:r>
              <a:rPr lang="zh-CN" altLang="en-US"/>
              <a:t>指导教师：</a:t>
            </a:r>
            <a:r>
              <a:rPr lang="en-US" altLang="zh-CN"/>
              <a:t>XXX</a:t>
            </a:r>
            <a:endParaRPr lang="zh-CN" altLang="en-US"/>
          </a:p>
        </p:txBody>
      </p:sp>
      <p:pic>
        <p:nvPicPr>
          <p:cNvPr id="14" name="图片 13" descr="图片包含 游戏机&#10;&#10;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38200" y="579196"/>
            <a:ext cx="2850764" cy="67875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自我介绍">
    <p:spTree>
      <p:nvGrpSpPr>
        <p:cNvPr id="1" name=""/>
        <p:cNvGrpSpPr/>
        <p:nvPr/>
      </p:nvGrpSpPr>
      <p:grpSpPr>
        <a:xfrm>
          <a:off x="0" y="0"/>
          <a:ext cx="0" cy="0"/>
          <a:chOff x="0" y="0"/>
          <a:chExt cx="0" cy="0"/>
        </a:xfrm>
      </p:grpSpPr>
      <p:sp>
        <p:nvSpPr>
          <p:cNvPr id="2" name="标题 1"/>
          <p:cNvSpPr>
            <a:spLocks noGrp="1"/>
          </p:cNvSpPr>
          <p:nvPr>
            <p:ph type="title"/>
          </p:nvPr>
        </p:nvSpPr>
        <p:spPr>
          <a:xfrm>
            <a:off x="1065158" y="428558"/>
            <a:ext cx="8089874" cy="595236"/>
          </a:xfrm>
        </p:spPr>
        <p:txBody>
          <a:bodyPr>
            <a:normAutofit/>
          </a:bodyPr>
          <a:lstStyle>
            <a:lvl1pPr>
              <a:defRPr sz="2400"/>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2456B7F3-024D-429A-ABCA-81F64A6B851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1E17D63-A816-4E6A-BE97-618CAC8BA0E1}" type="slidenum">
              <a:rPr lang="zh-CN" altLang="en-US" smtClean="0"/>
            </a:fld>
            <a:endParaRPr lang="zh-CN" altLang="en-US"/>
          </a:p>
        </p:txBody>
      </p:sp>
      <p:sp>
        <p:nvSpPr>
          <p:cNvPr id="7" name="矩形 6"/>
          <p:cNvSpPr/>
          <p:nvPr userDrawn="1"/>
        </p:nvSpPr>
        <p:spPr>
          <a:xfrm>
            <a:off x="486137" y="343812"/>
            <a:ext cx="352063" cy="679981"/>
          </a:xfrm>
          <a:prstGeom prst="rect">
            <a:avLst/>
          </a:prstGeom>
          <a:gradFill>
            <a:gsLst>
              <a:gs pos="0">
                <a:srgbClr val="00679C"/>
              </a:gs>
              <a:gs pos="100000">
                <a:srgbClr val="2660AD"/>
              </a:gs>
            </a:gsLst>
            <a:lin ang="12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cxnSp>
        <p:nvCxnSpPr>
          <p:cNvPr id="8" name="直接连接符 7"/>
          <p:cNvCxnSpPr/>
          <p:nvPr userDrawn="1"/>
        </p:nvCxnSpPr>
        <p:spPr>
          <a:xfrm flipV="1">
            <a:off x="1065158" y="1023793"/>
            <a:ext cx="8089874" cy="1"/>
          </a:xfrm>
          <a:prstGeom prst="line">
            <a:avLst/>
          </a:prstGeom>
          <a:ln w="12700">
            <a:solidFill>
              <a:srgbClr val="00679C"/>
            </a:solidFill>
          </a:ln>
        </p:spPr>
        <p:style>
          <a:lnRef idx="1">
            <a:schemeClr val="accent1"/>
          </a:lnRef>
          <a:fillRef idx="0">
            <a:schemeClr val="accent1"/>
          </a:fillRef>
          <a:effectRef idx="0">
            <a:schemeClr val="accent1"/>
          </a:effectRef>
          <a:fontRef idx="minor">
            <a:schemeClr val="tx1"/>
          </a:fontRef>
        </p:style>
      </p:cxnSp>
      <p:pic>
        <p:nvPicPr>
          <p:cNvPr id="9" name="图片 8" descr="图片包含 游戏机&#10;&#10;描述已自动生成"/>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59546" y="372457"/>
            <a:ext cx="2259354" cy="537942"/>
          </a:xfrm>
          <a:prstGeom prst="rect">
            <a:avLst/>
          </a:prstGeom>
        </p:spPr>
      </p:pic>
      <p:sp>
        <p:nvSpPr>
          <p:cNvPr id="10" name="图片占位符 9"/>
          <p:cNvSpPr>
            <a:spLocks noGrp="1"/>
          </p:cNvSpPr>
          <p:nvPr>
            <p:ph type="pic" sz="quarter" idx="13" hasCustomPrompt="1"/>
          </p:nvPr>
        </p:nvSpPr>
        <p:spPr>
          <a:xfrm>
            <a:off x="2028088" y="2193114"/>
            <a:ext cx="2397125" cy="2397125"/>
          </a:xfrm>
          <a:prstGeom prst="ellipse">
            <a:avLst/>
          </a:prstGeom>
          <a:ln w="12700">
            <a:solidFill>
              <a:srgbClr val="2660AD"/>
            </a:solidFill>
          </a:ln>
        </p:spPr>
        <p:txBody>
          <a:bodyPr/>
          <a:lstStyle/>
          <a:p>
            <a:r>
              <a:rPr lang="zh-CN" altLang="en-US" dirty="0"/>
              <a:t>单击图标添加照片</a:t>
            </a:r>
            <a:endParaRPr lang="zh-CN" altLang="en-US" dirty="0"/>
          </a:p>
        </p:txBody>
      </p:sp>
      <p:sp>
        <p:nvSpPr>
          <p:cNvPr id="12" name="文本占位符 11"/>
          <p:cNvSpPr>
            <a:spLocks noGrp="1"/>
          </p:cNvSpPr>
          <p:nvPr>
            <p:ph type="body" sz="quarter" idx="14" hasCustomPrompt="1"/>
          </p:nvPr>
        </p:nvSpPr>
        <p:spPr>
          <a:xfrm>
            <a:off x="5001530" y="2295234"/>
            <a:ext cx="2166257" cy="457296"/>
          </a:xfrm>
        </p:spPr>
        <p:txBody>
          <a:bodyPr>
            <a:normAutofit/>
          </a:bodyPr>
          <a:lstStyle>
            <a:lvl1pPr marL="0" indent="0" algn="l">
              <a:buNone/>
              <a:defRPr sz="2400">
                <a:solidFill>
                  <a:srgbClr val="2660AD"/>
                </a:solidFill>
                <a:latin typeface="+mj-lt"/>
              </a:defRPr>
            </a:lvl1pPr>
          </a:lstStyle>
          <a:p>
            <a:pPr lvl="0"/>
            <a:r>
              <a:rPr lang="zh-CN" altLang="en-US" dirty="0"/>
              <a:t>姓名：</a:t>
            </a:r>
            <a:r>
              <a:rPr lang="en-US" altLang="zh-CN" dirty="0"/>
              <a:t>XXX</a:t>
            </a:r>
            <a:endParaRPr lang="zh-CN" altLang="en-US" dirty="0"/>
          </a:p>
        </p:txBody>
      </p:sp>
      <p:sp>
        <p:nvSpPr>
          <p:cNvPr id="18" name="文本占位符 17"/>
          <p:cNvSpPr>
            <a:spLocks noGrp="1"/>
          </p:cNvSpPr>
          <p:nvPr>
            <p:ph type="body" sz="quarter" idx="15" hasCustomPrompt="1"/>
          </p:nvPr>
        </p:nvSpPr>
        <p:spPr>
          <a:xfrm>
            <a:off x="5001530" y="3134502"/>
            <a:ext cx="5116432" cy="1670050"/>
          </a:xfrm>
        </p:spPr>
        <p:txBody>
          <a:bodyPr>
            <a:normAutofit/>
          </a:bodyPr>
          <a:lstStyle>
            <a:lvl1pPr marL="0" indent="0">
              <a:lnSpc>
                <a:spcPct val="150000"/>
              </a:lnSpc>
              <a:buNone/>
              <a:defRPr sz="1800"/>
            </a:lvl1pPr>
          </a:lstStyle>
          <a:p>
            <a:pPr lvl="0"/>
            <a:r>
              <a:rPr lang="zh-CN" altLang="en-US" dirty="0"/>
              <a:t>个人概况</a:t>
            </a:r>
            <a:endParaRPr lang="zh-CN" altLang="en-US" dirty="0"/>
          </a:p>
        </p:txBody>
      </p:sp>
      <p:sp>
        <p:nvSpPr>
          <p:cNvPr id="19" name="文本占位符 11"/>
          <p:cNvSpPr>
            <a:spLocks noGrp="1"/>
          </p:cNvSpPr>
          <p:nvPr>
            <p:ph type="body" sz="quarter" idx="16" hasCustomPrompt="1"/>
          </p:nvPr>
        </p:nvSpPr>
        <p:spPr>
          <a:xfrm>
            <a:off x="7324853" y="2453953"/>
            <a:ext cx="1791477" cy="298577"/>
          </a:xfrm>
          <a:gradFill>
            <a:gsLst>
              <a:gs pos="0">
                <a:srgbClr val="00679C"/>
              </a:gs>
              <a:gs pos="100000">
                <a:srgbClr val="2660AD"/>
              </a:gs>
            </a:gsLst>
            <a:lin ang="12900000" scaled="0"/>
          </a:gradFill>
          <a:ln>
            <a:noFill/>
          </a:ln>
        </p:spPr>
        <p:txBody>
          <a:bodyPr>
            <a:noAutofit/>
          </a:bodyPr>
          <a:lstStyle>
            <a:lvl1pPr marL="0" indent="0" algn="ctr">
              <a:buNone/>
              <a:defRPr sz="1400">
                <a:solidFill>
                  <a:schemeClr val="bg1"/>
                </a:solidFill>
                <a:latin typeface="+mj-lt"/>
              </a:defRPr>
            </a:lvl1pPr>
          </a:lstStyle>
          <a:p>
            <a:pPr algn="ctr"/>
            <a:r>
              <a:rPr lang="zh-CN" altLang="en-US" sz="1400" dirty="0"/>
              <a:t>英文名或其他信息</a:t>
            </a:r>
            <a:endParaRPr lang="zh-CN" altLang="en-US" sz="140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结尾幻灯片">
    <p:spTree>
      <p:nvGrpSpPr>
        <p:cNvPr id="1" name=""/>
        <p:cNvGrpSpPr/>
        <p:nvPr/>
      </p:nvGrpSpPr>
      <p:grpSpPr>
        <a:xfrm>
          <a:off x="0" y="0"/>
          <a:ext cx="0" cy="0"/>
          <a:chOff x="0" y="0"/>
          <a:chExt cx="0" cy="0"/>
        </a:xfrm>
      </p:grpSpPr>
      <p:pic>
        <p:nvPicPr>
          <p:cNvPr id="9" name="图片 8"/>
          <p:cNvPicPr>
            <a:picLocks noChangeAspect="1"/>
          </p:cNvPicPr>
          <p:nvPr userDrawn="1"/>
        </p:nvPicPr>
        <p:blipFill rotWithShape="1">
          <a:blip r:embed="rId2">
            <a:alphaModFix amt="15000"/>
            <a:extLst>
              <a:ext uri="{28A0092B-C50C-407E-A947-70E740481C1C}">
                <a14:useLocalDpi xmlns:a14="http://schemas.microsoft.com/office/drawing/2010/main" val="0"/>
              </a:ext>
            </a:extLst>
          </a:blip>
          <a:srcRect t="14385" r="27228" b="14385"/>
          <a:stretch>
            <a:fillRect/>
          </a:stretch>
        </p:blipFill>
        <p:spPr>
          <a:xfrm>
            <a:off x="5185461" y="0"/>
            <a:ext cx="7006543" cy="6858000"/>
          </a:xfrm>
          <a:prstGeom prst="rect">
            <a:avLst/>
          </a:prstGeom>
        </p:spPr>
      </p:pic>
      <p:sp>
        <p:nvSpPr>
          <p:cNvPr id="2" name="标题 1"/>
          <p:cNvSpPr>
            <a:spLocks noGrp="1"/>
          </p:cNvSpPr>
          <p:nvPr>
            <p:ph type="ctrTitle" hasCustomPrompt="1"/>
          </p:nvPr>
        </p:nvSpPr>
        <p:spPr>
          <a:xfrm>
            <a:off x="2199410" y="2488461"/>
            <a:ext cx="7793178" cy="798847"/>
          </a:xfrm>
        </p:spPr>
        <p:txBody>
          <a:bodyPr anchor="b">
            <a:noAutofit/>
          </a:bodyPr>
          <a:lstStyle>
            <a:lvl1pPr marL="0" algn="ctr" defTabSz="914400" rtl="0" eaLnBrk="1" latinLnBrk="0" hangingPunct="1">
              <a:defRPr lang="zh-CN" altLang="en-US" sz="4800" b="1" kern="1200" spc="200" dirty="0">
                <a:gradFill flip="none" rotWithShape="1">
                  <a:gsLst>
                    <a:gs pos="0">
                      <a:srgbClr val="2660AD"/>
                    </a:gs>
                    <a:gs pos="100000">
                      <a:srgbClr val="00679C"/>
                    </a:gs>
                  </a:gsLst>
                  <a:lin ang="16200000" scaled="1"/>
                  <a:tileRect/>
                </a:gradFill>
                <a:latin typeface="微软雅黑" panose="020B0503020204020204" pitchFamily="34" charset="-122"/>
                <a:ea typeface="微软雅黑" panose="020B0503020204020204" pitchFamily="34" charset="-122"/>
                <a:cs typeface="阿里巴巴普惠体 Medium" panose="00020600040101010101" pitchFamily="18" charset="-122"/>
              </a:defRPr>
            </a:lvl1pPr>
          </a:lstStyle>
          <a:p>
            <a:r>
              <a:rPr lang="zh-CN" altLang="en-US" dirty="0"/>
              <a:t>感谢您的指导！</a:t>
            </a:r>
            <a:endParaRPr lang="zh-CN" altLang="en-US" dirty="0"/>
          </a:p>
        </p:txBody>
      </p:sp>
      <p:sp>
        <p:nvSpPr>
          <p:cNvPr id="3" name="副标题 2"/>
          <p:cNvSpPr>
            <a:spLocks noGrp="1"/>
          </p:cNvSpPr>
          <p:nvPr>
            <p:ph type="subTitle" idx="1" hasCustomPrompt="1"/>
          </p:nvPr>
        </p:nvSpPr>
        <p:spPr>
          <a:xfrm>
            <a:off x="2211206" y="3287308"/>
            <a:ext cx="7781382" cy="798847"/>
          </a:xfrm>
        </p:spPr>
        <p:txBody>
          <a:bodyPr anchor="ctr" anchorCtr="0">
            <a:normAutofit/>
          </a:bodyPr>
          <a:lstStyle>
            <a:lvl1pPr marL="0" indent="0" algn="ctr" defTabSz="914400" rtl="0" eaLnBrk="1" latinLnBrk="0" hangingPunct="1">
              <a:buNone/>
              <a:defRPr lang="zh-CN" altLang="en-US" sz="2000" b="0" kern="1200"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a:t>Thank you for your support and guidance!</a:t>
            </a:r>
            <a:endParaRPr lang="zh-CN" altLang="en-US" dirty="0"/>
          </a:p>
        </p:txBody>
      </p:sp>
      <p:sp>
        <p:nvSpPr>
          <p:cNvPr id="4" name="日期占位符 3"/>
          <p:cNvSpPr>
            <a:spLocks noGrp="1"/>
          </p:cNvSpPr>
          <p:nvPr>
            <p:ph type="dt" sz="half" idx="10"/>
          </p:nvPr>
        </p:nvSpPr>
        <p:spPr/>
        <p:txBody>
          <a:bodyPr/>
          <a:lstStyle/>
          <a:p>
            <a:fld id="{2456B7F3-024D-429A-ABCA-81F64A6B851E}" type="datetimeFigureOut">
              <a:rPr lang="zh-CN" altLang="en-US" smtClean="0"/>
            </a:fld>
            <a:endParaRPr lang="zh-CN" altLang="en-US"/>
          </a:p>
        </p:txBody>
      </p:sp>
      <p:sp>
        <p:nvSpPr>
          <p:cNvPr id="6" name="灯片编号占位符 5"/>
          <p:cNvSpPr>
            <a:spLocks noGrp="1"/>
          </p:cNvSpPr>
          <p:nvPr>
            <p:ph type="sldNum" sz="quarter" idx="12"/>
          </p:nvPr>
        </p:nvSpPr>
        <p:spPr/>
        <p:txBody>
          <a:bodyPr/>
          <a:lstStyle/>
          <a:p>
            <a:fld id="{B1E17D63-A816-4E6A-BE97-618CAC8BA0E1}" type="slidenum">
              <a:rPr lang="zh-CN" altLang="en-US" smtClean="0"/>
            </a:fld>
            <a:endParaRPr lang="zh-CN" altLang="en-US"/>
          </a:p>
        </p:txBody>
      </p:sp>
      <p:sp>
        <p:nvSpPr>
          <p:cNvPr id="7" name="矩形 6"/>
          <p:cNvSpPr/>
          <p:nvPr userDrawn="1"/>
        </p:nvSpPr>
        <p:spPr>
          <a:xfrm>
            <a:off x="2" y="2395959"/>
            <a:ext cx="439839" cy="2754774"/>
          </a:xfrm>
          <a:prstGeom prst="rect">
            <a:avLst/>
          </a:prstGeom>
          <a:gradFill>
            <a:gsLst>
              <a:gs pos="0">
                <a:srgbClr val="00679C"/>
              </a:gs>
              <a:gs pos="100000">
                <a:srgbClr val="2660AD"/>
              </a:gs>
            </a:gsLst>
            <a:lin ang="12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descr="图片包含 游戏机, 猫&#10;&#10;描述已自动生成"/>
          <p:cNvPicPr>
            <a:picLocks noChangeAspect="1"/>
          </p:cNvPicPr>
          <p:nvPr userDrawn="1"/>
        </p:nvPicPr>
        <p:blipFill rotWithShape="1">
          <a:blip r:embed="rId3">
            <a:alphaModFix amt="15000"/>
            <a:extLst>
              <a:ext uri="{28A0092B-C50C-407E-A947-70E740481C1C}">
                <a14:useLocalDpi xmlns:a14="http://schemas.microsoft.com/office/drawing/2010/main" val="0"/>
              </a:ext>
            </a:extLst>
          </a:blip>
          <a:srcRect l="41388" t="67053" r="30179" b="26533"/>
          <a:stretch>
            <a:fillRect/>
          </a:stretch>
        </p:blipFill>
        <p:spPr>
          <a:xfrm rot="16200000">
            <a:off x="-1157484" y="3553425"/>
            <a:ext cx="2754777" cy="439839"/>
          </a:xfrm>
          <a:prstGeom prst="rect">
            <a:avLst/>
          </a:prstGeom>
          <a:noFill/>
        </p:spPr>
      </p:pic>
      <p:sp>
        <p:nvSpPr>
          <p:cNvPr id="11" name="文本框 10"/>
          <p:cNvSpPr txBox="1"/>
          <p:nvPr userDrawn="1"/>
        </p:nvSpPr>
        <p:spPr>
          <a:xfrm>
            <a:off x="4644131" y="6369639"/>
            <a:ext cx="2903731" cy="338554"/>
          </a:xfrm>
          <a:prstGeom prst="rect">
            <a:avLst/>
          </a:prstGeom>
          <a:noFill/>
        </p:spPr>
        <p:txBody>
          <a:bodyPr wrap="square" rtlCol="0">
            <a:spAutoFit/>
          </a:bodyPr>
          <a:lstStyle/>
          <a:p>
            <a:pPr algn="ctr"/>
            <a:r>
              <a:rPr lang="zh-CN" altLang="en-US" sz="1600" spc="700" dirty="0">
                <a:gradFill flip="none" rotWithShape="1">
                  <a:gsLst>
                    <a:gs pos="0">
                      <a:srgbClr val="2660AD"/>
                    </a:gs>
                    <a:gs pos="100000">
                      <a:srgbClr val="00679C"/>
                    </a:gs>
                  </a:gsLst>
                  <a:lin ang="16200000" scaled="1"/>
                  <a:tileRect/>
                </a:gradFill>
                <a:latin typeface="微软雅黑" panose="020B0503020204020204" pitchFamily="34" charset="-122"/>
                <a:ea typeface="微软雅黑" panose="020B0503020204020204" pitchFamily="34" charset="-122"/>
                <a:cs typeface="阿里巴巴普惠体 Medium" panose="00020600040101010101" pitchFamily="18" charset="-122"/>
              </a:rPr>
              <a:t>明德格物  立己达人</a:t>
            </a:r>
            <a:endParaRPr lang="en-US" altLang="zh-CN" sz="1600" spc="700" dirty="0">
              <a:gradFill flip="none" rotWithShape="1">
                <a:gsLst>
                  <a:gs pos="0">
                    <a:srgbClr val="2660AD"/>
                  </a:gs>
                  <a:gs pos="100000">
                    <a:srgbClr val="00679C"/>
                  </a:gs>
                </a:gsLst>
                <a:lin ang="16200000" scaled="1"/>
                <a:tileRect/>
              </a:gra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sp>
        <p:nvSpPr>
          <p:cNvPr id="15" name="文本占位符 53"/>
          <p:cNvSpPr>
            <a:spLocks noGrp="1"/>
          </p:cNvSpPr>
          <p:nvPr>
            <p:ph type="body" sz="quarter" idx="17" hasCustomPrompt="1"/>
          </p:nvPr>
        </p:nvSpPr>
        <p:spPr>
          <a:xfrm>
            <a:off x="4063315" y="4277241"/>
            <a:ext cx="4065361" cy="418191"/>
          </a:xfrm>
          <a:prstGeom prst="rect">
            <a:avLst/>
          </a:prstGeom>
          <a:noFill/>
        </p:spPr>
        <p:txBody>
          <a:bodyPr wrap="square" rtlCol="0">
            <a:spAutoFit/>
          </a:bodyPr>
          <a:lstStyle>
            <a:lvl1pPr marL="0" indent="0" algn="ctr">
              <a:buNone/>
              <a:defRPr lang="zh-CN" altLang="en-US" sz="1600" spc="200" dirty="0">
                <a:gradFill flip="none" rotWithShape="1">
                  <a:gsLst>
                    <a:gs pos="0">
                      <a:srgbClr val="2660AD"/>
                    </a:gs>
                    <a:gs pos="100000">
                      <a:srgbClr val="00679C"/>
                    </a:gs>
                  </a:gsLst>
                  <a:lin ang="16200000" scaled="1"/>
                  <a:tileRect/>
                </a:gradFill>
                <a:latin typeface="微软雅黑" panose="020B0503020204020204" pitchFamily="34" charset="-122"/>
                <a:ea typeface="微软雅黑" panose="020B0503020204020204" pitchFamily="34" charset="-122"/>
                <a:cs typeface="阿里巴巴普惠体 Medium" panose="00020600040101010101" pitchFamily="18" charset="-122"/>
              </a:defRPr>
            </a:lvl1pPr>
          </a:lstStyle>
          <a:p>
            <a:pPr marL="0" lvl="0">
              <a:lnSpc>
                <a:spcPct val="150000"/>
              </a:lnSpc>
            </a:pPr>
            <a:r>
              <a:rPr lang="en-US" altLang="zh-CN" dirty="0"/>
              <a:t>&gt;&gt;</a:t>
            </a:r>
            <a:r>
              <a:rPr lang="zh-CN" altLang="en-US" dirty="0"/>
              <a:t>答辩学生：魏子奇</a:t>
            </a:r>
            <a:endParaRPr lang="zh-CN" altLang="en-US" dirty="0"/>
          </a:p>
        </p:txBody>
      </p:sp>
      <p:sp>
        <p:nvSpPr>
          <p:cNvPr id="16" name="文本占位符 53"/>
          <p:cNvSpPr>
            <a:spLocks noGrp="1"/>
          </p:cNvSpPr>
          <p:nvPr>
            <p:ph type="body" sz="quarter" idx="18" hasCustomPrompt="1"/>
          </p:nvPr>
        </p:nvSpPr>
        <p:spPr>
          <a:xfrm>
            <a:off x="4063314" y="4803063"/>
            <a:ext cx="4065361" cy="418191"/>
          </a:xfrm>
          <a:prstGeom prst="rect">
            <a:avLst/>
          </a:prstGeom>
          <a:noFill/>
        </p:spPr>
        <p:txBody>
          <a:bodyPr wrap="square" rtlCol="0">
            <a:spAutoFit/>
          </a:bodyPr>
          <a:lstStyle>
            <a:lvl1pPr marL="0" indent="0" algn="ctr">
              <a:buNone/>
              <a:defRPr lang="zh-CN" altLang="en-US" sz="1600" spc="200" dirty="0">
                <a:gradFill flip="none" rotWithShape="1">
                  <a:gsLst>
                    <a:gs pos="0">
                      <a:srgbClr val="2660AD"/>
                    </a:gs>
                    <a:gs pos="100000">
                      <a:srgbClr val="00679C"/>
                    </a:gs>
                  </a:gsLst>
                  <a:lin ang="16200000" scaled="1"/>
                  <a:tileRect/>
                </a:gradFill>
                <a:latin typeface="微软雅黑" panose="020B0503020204020204" pitchFamily="34" charset="-122"/>
                <a:ea typeface="微软雅黑" panose="020B0503020204020204" pitchFamily="34" charset="-122"/>
                <a:cs typeface="阿里巴巴普惠体 Medium" panose="00020600040101010101" pitchFamily="18" charset="-122"/>
              </a:defRPr>
            </a:lvl1pPr>
          </a:lstStyle>
          <a:p>
            <a:pPr marL="0" lvl="0">
              <a:lnSpc>
                <a:spcPct val="150000"/>
              </a:lnSpc>
            </a:pPr>
            <a:r>
              <a:rPr lang="en-US" altLang="zh-CN" dirty="0"/>
              <a:t>&gt;&gt;</a:t>
            </a:r>
            <a:r>
              <a:rPr lang="zh-CN" altLang="en-US" dirty="0"/>
              <a:t>指导教师：</a:t>
            </a:r>
            <a:r>
              <a:rPr lang="en-US" altLang="zh-CN" dirty="0"/>
              <a:t>XXX</a:t>
            </a:r>
            <a:endParaRPr lang="zh-CN" altLang="en-US" dirty="0"/>
          </a:p>
        </p:txBody>
      </p:sp>
      <p:pic>
        <p:nvPicPr>
          <p:cNvPr id="14" name="图片 13" descr="图片包含 游戏机&#10;&#10;描述已自动生成"/>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38200" y="579196"/>
            <a:ext cx="2850764" cy="67875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132FDF-EEB4-474E-AC2F-8E50AD97D06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7AB651-9852-4EAF-876E-AD1F2811382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3.xml"/><Relationship Id="rId6" Type="http://schemas.openxmlformats.org/officeDocument/2006/relationships/tags" Target="../tags/tag4.xml"/><Relationship Id="rId5" Type="http://schemas.openxmlformats.org/officeDocument/2006/relationships/image" Target="../media/image13.png"/><Relationship Id="rId4" Type="http://schemas.openxmlformats.org/officeDocument/2006/relationships/tags" Target="../tags/tag3.xml"/><Relationship Id="rId3" Type="http://schemas.openxmlformats.org/officeDocument/2006/relationships/image" Target="../media/image12.png"/><Relationship Id="rId2" Type="http://schemas.openxmlformats.org/officeDocument/2006/relationships/tags" Target="../tags/tag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5.png"/><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7.png"/><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9.png"/><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1.png"/><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3.png"/><Relationship Id="rId1"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5.png"/><Relationship Id="rId1" Type="http://schemas.openxmlformats.org/officeDocument/2006/relationships/image" Target="../media/image24.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image" Target="../media/image30.png"/><Relationship Id="rId3" Type="http://schemas.openxmlformats.org/officeDocument/2006/relationships/tags" Target="../tags/tag6.xml"/><Relationship Id="rId2" Type="http://schemas.openxmlformats.org/officeDocument/2006/relationships/image" Target="../media/image29.png"/><Relationship Id="rId1" Type="http://schemas.openxmlformats.org/officeDocument/2006/relationships/tags" Target="../tags/tag5.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5.png"/><Relationship Id="rId1"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7.png"/><Relationship Id="rId1"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9.png"/><Relationship Id="rId1"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1.png"/><Relationship Id="rId1" Type="http://schemas.openxmlformats.org/officeDocument/2006/relationships/image" Target="../media/image40.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2.png"/><Relationship Id="rId1"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7.png"/><Relationship Id="rId1" Type="http://schemas.openxmlformats.org/officeDocument/2006/relationships/image" Target="../media/image46.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9.png"/><Relationship Id="rId1" Type="http://schemas.openxmlformats.org/officeDocument/2006/relationships/image" Target="../media/image4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838200" y="3105785"/>
            <a:ext cx="8043545" cy="798830"/>
          </a:xfrm>
        </p:spPr>
        <p:txBody>
          <a:bodyPr>
            <a:normAutofit fontScale="90000"/>
          </a:bodyPr>
          <a:lstStyle/>
          <a:p>
            <a:r>
              <a:rPr dirty="0"/>
              <a:t>计算机组成及系统</a:t>
            </a:r>
            <a:r>
              <a:rPr dirty="0"/>
              <a:t>结构课程</a:t>
            </a:r>
            <a:r>
              <a:rPr dirty="0"/>
              <a:t>设计</a:t>
            </a:r>
            <a:endParaRPr dirty="0"/>
          </a:p>
        </p:txBody>
      </p:sp>
      <p:sp>
        <p:nvSpPr>
          <p:cNvPr id="3" name="副标题 2"/>
          <p:cNvSpPr>
            <a:spLocks noGrp="1"/>
          </p:cNvSpPr>
          <p:nvPr>
            <p:ph type="subTitle" idx="1"/>
          </p:nvPr>
        </p:nvSpPr>
        <p:spPr>
          <a:xfrm>
            <a:off x="838202" y="1985473"/>
            <a:ext cx="6243495" cy="798847"/>
          </a:xfrm>
        </p:spPr>
        <p:txBody>
          <a:bodyPr/>
          <a:lstStyle/>
          <a:p>
            <a:r>
              <a:rPr lang="zh-CN" altLang="en-US" dirty="0"/>
              <a:t>南京信息工程大学</a:t>
            </a:r>
            <a:endParaRPr lang="zh-CN" altLang="en-US" dirty="0"/>
          </a:p>
        </p:txBody>
      </p:sp>
      <p:sp>
        <p:nvSpPr>
          <p:cNvPr id="4" name="文本占位符 3"/>
          <p:cNvSpPr>
            <a:spLocks noGrp="1"/>
          </p:cNvSpPr>
          <p:nvPr>
            <p:ph type="body" sz="quarter" idx="17"/>
          </p:nvPr>
        </p:nvSpPr>
        <p:spPr>
          <a:xfrm>
            <a:off x="838205" y="4225560"/>
            <a:ext cx="4065361" cy="312420"/>
          </a:xfrm>
        </p:spPr>
        <p:txBody>
          <a:bodyPr/>
          <a:lstStyle/>
          <a:p>
            <a:r>
              <a:rPr lang="en-US" altLang="zh-CN" dirty="0"/>
              <a:t>&gt;&gt;</a:t>
            </a:r>
            <a:r>
              <a:rPr lang="zh-CN" altLang="en-US" dirty="0"/>
              <a:t>汇报人：</a:t>
            </a:r>
            <a:endParaRPr lang="zh-CN" altLang="en-US" dirty="0"/>
          </a:p>
        </p:txBody>
      </p:sp>
      <p:sp>
        <p:nvSpPr>
          <p:cNvPr id="5" name="文本占位符 4"/>
          <p:cNvSpPr>
            <a:spLocks noGrp="1"/>
          </p:cNvSpPr>
          <p:nvPr>
            <p:ph type="body" sz="quarter" idx="18"/>
          </p:nvPr>
        </p:nvSpPr>
        <p:spPr>
          <a:xfrm>
            <a:off x="838205" y="4703487"/>
            <a:ext cx="4065361" cy="312420"/>
          </a:xfrm>
        </p:spPr>
        <p:txBody>
          <a:bodyPr/>
          <a:lstStyle/>
          <a:p>
            <a:r>
              <a:rPr lang="en-US" altLang="zh-CN" dirty="0"/>
              <a:t>&gt;&gt;</a:t>
            </a:r>
            <a:r>
              <a:rPr lang="zh-CN" altLang="en-US" dirty="0"/>
              <a:t>指导老师：</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normAutofit/>
          </a:bodyPr>
          <a:p>
            <a:pPr algn="l">
              <a:spcBef>
                <a:spcPts val="1000"/>
              </a:spcBef>
              <a:buClrTx/>
              <a:buSzTx/>
              <a:buFont typeface="Arial" panose="020B0604020202020204" pitchFamily="34" charset="0"/>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rPr>
              <a:t>一、设计内容</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sp>
        <p:nvSpPr>
          <p:cNvPr id="3" name="文本框 2"/>
          <p:cNvSpPr txBox="1"/>
          <p:nvPr/>
        </p:nvSpPr>
        <p:spPr>
          <a:xfrm>
            <a:off x="1064895" y="1675130"/>
            <a:ext cx="8288020" cy="1814830"/>
          </a:xfrm>
          <a:prstGeom prst="rect">
            <a:avLst/>
          </a:prstGeom>
          <a:noFill/>
        </p:spPr>
        <p:txBody>
          <a:bodyPr wrap="square" rtlCol="0">
            <a:spAutoFit/>
          </a:bodyPr>
          <a:p>
            <a:r>
              <a:rPr lang="en-US" altLang="zh-CN" sz="2800">
                <a:latin typeface="黑体" panose="02010609060101010101" charset="-122"/>
                <a:ea typeface="黑体" panose="02010609060101010101" charset="-122"/>
                <a:cs typeface="黑体" panose="02010609060101010101" charset="-122"/>
              </a:rPr>
              <a:t>1</a:t>
            </a:r>
            <a:r>
              <a:rPr lang="zh-CN" altLang="en-US" sz="2800">
                <a:latin typeface="黑体" panose="02010609060101010101" charset="-122"/>
                <a:ea typeface="黑体" panose="02010609060101010101" charset="-122"/>
                <a:cs typeface="黑体" panose="02010609060101010101" charset="-122"/>
              </a:rPr>
              <a:t>、基于定长指令的单总线</a:t>
            </a:r>
            <a:r>
              <a:rPr lang="en-US" altLang="zh-CN" sz="2800">
                <a:latin typeface="黑体" panose="02010609060101010101" charset="-122"/>
                <a:ea typeface="黑体" panose="02010609060101010101" charset="-122"/>
                <a:cs typeface="黑体" panose="02010609060101010101" charset="-122"/>
              </a:rPr>
              <a:t>CPU</a:t>
            </a:r>
            <a:r>
              <a:rPr lang="zh-CN" altLang="en-US" sz="2800">
                <a:latin typeface="黑体" panose="02010609060101010101" charset="-122"/>
                <a:ea typeface="黑体" panose="02010609060101010101" charset="-122"/>
                <a:cs typeface="黑体" panose="02010609060101010101" charset="-122"/>
              </a:rPr>
              <a:t>三级时序设计</a:t>
            </a:r>
            <a:endParaRPr lang="zh-CN" altLang="en-US" sz="2800">
              <a:latin typeface="黑体" panose="02010609060101010101" charset="-122"/>
              <a:ea typeface="黑体" panose="02010609060101010101" charset="-122"/>
              <a:cs typeface="黑体" panose="02010609060101010101" charset="-122"/>
            </a:endParaRPr>
          </a:p>
          <a:p>
            <a:endParaRPr lang="zh-CN" altLang="en-US" sz="2800">
              <a:latin typeface="黑体" panose="02010609060101010101" charset="-122"/>
              <a:ea typeface="黑体" panose="02010609060101010101" charset="-122"/>
              <a:cs typeface="黑体" panose="02010609060101010101" charset="-122"/>
            </a:endParaRPr>
          </a:p>
          <a:p>
            <a:pPr algn="l">
              <a:buClrTx/>
              <a:buSzTx/>
              <a:buFontTx/>
            </a:pPr>
            <a:r>
              <a:rPr lang="en-US" altLang="zh-CN" sz="2800">
                <a:latin typeface="黑体" panose="02010609060101010101" charset="-122"/>
                <a:ea typeface="黑体" panose="02010609060101010101" charset="-122"/>
                <a:cs typeface="黑体" panose="02010609060101010101" charset="-122"/>
              </a:rPr>
              <a:t>2</a:t>
            </a:r>
            <a:r>
              <a:rPr lang="zh-CN" altLang="en-US" sz="2800">
                <a:latin typeface="黑体" panose="02010609060101010101" charset="-122"/>
                <a:ea typeface="黑体" panose="02010609060101010101" charset="-122"/>
                <a:cs typeface="黑体" panose="02010609060101010101" charset="-122"/>
              </a:rPr>
              <a:t>、</a:t>
            </a:r>
            <a:r>
              <a:rPr lang="zh-CN" altLang="en-US" sz="2800">
                <a:latin typeface="黑体" panose="02010609060101010101" charset="-122"/>
                <a:ea typeface="黑体" panose="02010609060101010101" charset="-122"/>
                <a:cs typeface="黑体" panose="02010609060101010101" charset="-122"/>
                <a:sym typeface="+mn-ea"/>
              </a:rPr>
              <a:t>现代时序单总线CPU设计</a:t>
            </a:r>
            <a:endParaRPr lang="zh-CN" altLang="en-US" sz="2800">
              <a:latin typeface="黑体" panose="02010609060101010101" charset="-122"/>
              <a:ea typeface="黑体" panose="02010609060101010101" charset="-122"/>
              <a:cs typeface="黑体" panose="02010609060101010101" charset="-122"/>
            </a:endParaRPr>
          </a:p>
          <a:p>
            <a:pPr algn="l">
              <a:buClrTx/>
              <a:buSzTx/>
              <a:buFontTx/>
            </a:pPr>
            <a:endParaRPr lang="zh-CN" altLang="en-US" sz="280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p>
            <a:pPr algn="l">
              <a:spcBef>
                <a:spcPts val="1000"/>
              </a:spcBef>
              <a:buClrTx/>
              <a:buSzTx/>
              <a:buFont typeface="Arial" panose="020B0604020202020204" pitchFamily="34" charset="0"/>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rPr>
              <a:t>二、定长单总线cpu设计</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sp>
        <p:nvSpPr>
          <p:cNvPr id="3" name="文本框 2"/>
          <p:cNvSpPr txBox="1"/>
          <p:nvPr/>
        </p:nvSpPr>
        <p:spPr>
          <a:xfrm>
            <a:off x="1064895" y="1215390"/>
            <a:ext cx="9952355" cy="1445260"/>
          </a:xfrm>
          <a:prstGeom prst="rect">
            <a:avLst/>
          </a:prstGeom>
          <a:noFill/>
        </p:spPr>
        <p:txBody>
          <a:bodyPr wrap="square" rtlCol="0">
            <a:spAutoFit/>
          </a:bodyPr>
          <a:p>
            <a:r>
              <a:rPr lang="en-US" altLang="zh-CN" sz="2400" b="1">
                <a:latin typeface="Calibri" panose="020F0502020204030204" charset="0"/>
                <a:ea typeface="宋体" panose="02010600030101010101" pitchFamily="2" charset="-122"/>
                <a:cs typeface="Calibri" panose="020F0502020204030204" charset="0"/>
              </a:rPr>
              <a:t>1</a:t>
            </a:r>
            <a:r>
              <a:rPr lang="zh-CN" altLang="en-US" sz="2400" b="1">
                <a:latin typeface="Calibri" panose="020F0502020204030204" charset="0"/>
                <a:ea typeface="宋体" panose="02010600030101010101" pitchFamily="2" charset="-122"/>
                <a:cs typeface="Calibri" panose="020F0502020204030204" charset="0"/>
              </a:rPr>
              <a:t>、</a:t>
            </a:r>
            <a:r>
              <a:rPr lang="en-US" altLang="zh-CN" sz="2400" b="1">
                <a:latin typeface="Calibri" panose="020F0502020204030204" charset="0"/>
                <a:ea typeface="宋体" panose="02010600030101010101" pitchFamily="2" charset="-122"/>
                <a:cs typeface="Calibri" panose="020F0502020204030204" charset="0"/>
              </a:rPr>
              <a:t>MIPS</a:t>
            </a:r>
            <a:r>
              <a:rPr lang="zh-CN" altLang="en-US" sz="2400" b="1">
                <a:latin typeface="Calibri" panose="020F0502020204030204" charset="0"/>
                <a:ea typeface="宋体" panose="02010600030101010101" pitchFamily="2" charset="-122"/>
                <a:cs typeface="Calibri" panose="020F0502020204030204" charset="0"/>
              </a:rPr>
              <a:t>指令译码器设计</a:t>
            </a:r>
            <a:endParaRPr lang="zh-CN" altLang="en-US" sz="2400" b="1">
              <a:latin typeface="Calibri" panose="020F0502020204030204" charset="0"/>
              <a:ea typeface="宋体" panose="02010600030101010101" pitchFamily="2" charset="-122"/>
              <a:cs typeface="Calibri" panose="020F0502020204030204" charset="0"/>
            </a:endParaRPr>
          </a:p>
          <a:p>
            <a:endParaRPr lang="zh-CN" altLang="en-US" sz="1000" b="1">
              <a:latin typeface="Calibri" panose="020F0502020204030204" charset="0"/>
              <a:ea typeface="宋体" panose="02010600030101010101" pitchFamily="2" charset="-122"/>
              <a:cs typeface="Calibri" panose="020F0502020204030204" charset="0"/>
            </a:endParaRPr>
          </a:p>
          <a:p>
            <a:pPr indent="457200"/>
            <a:r>
              <a:rPr lang="zh-CN" altLang="en-US" b="1">
                <a:latin typeface="Calibri" panose="020F0502020204030204" charset="0"/>
                <a:ea typeface="宋体" panose="02010600030101010101" pitchFamily="2" charset="-122"/>
                <a:cs typeface="Calibri" panose="020F0502020204030204" charset="0"/>
              </a:rPr>
              <a:t>指令译码功能</a:t>
            </a:r>
            <a:r>
              <a:rPr lang="zh-CN" altLang="en-US" b="1">
                <a:latin typeface="Calibri" panose="020F0502020204030204" charset="0"/>
                <a:ea typeface="宋体" panose="02010600030101010101" pitchFamily="2" charset="-122"/>
                <a:cs typeface="Calibri" panose="020F0502020204030204" charset="0"/>
              </a:rPr>
              <a:t>与设计目标：</a:t>
            </a:r>
            <a:r>
              <a:rPr lang="zh-CN" altLang="en-US">
                <a:latin typeface="Calibri" panose="020F0502020204030204" charset="0"/>
                <a:ea typeface="宋体" panose="02010600030101010101" pitchFamily="2" charset="-122"/>
                <a:cs typeface="Calibri" panose="020F0502020204030204" charset="0"/>
              </a:rPr>
              <a:t>利用比较器等功能模块将</a:t>
            </a:r>
            <a:r>
              <a:rPr lang="en-US" altLang="zh-CN">
                <a:latin typeface="Calibri" panose="020F0502020204030204" charset="0"/>
                <a:ea typeface="宋体" panose="02010600030101010101" pitchFamily="2" charset="-122"/>
                <a:cs typeface="Calibri" panose="020F0502020204030204" charset="0"/>
              </a:rPr>
              <a:t>32</a:t>
            </a:r>
            <a:r>
              <a:rPr lang="zh-CN" altLang="en-US">
                <a:latin typeface="Calibri" panose="020F0502020204030204" charset="0"/>
                <a:ea typeface="宋体" panose="02010600030101010101" pitchFamily="2" charset="-122"/>
                <a:cs typeface="Calibri" panose="020F0502020204030204" charset="0"/>
              </a:rPr>
              <a:t>位</a:t>
            </a:r>
            <a:r>
              <a:rPr lang="en-US" altLang="zh-CN">
                <a:latin typeface="Calibri" panose="020F0502020204030204" charset="0"/>
                <a:ea typeface="宋体" panose="02010600030101010101" pitchFamily="2" charset="-122"/>
                <a:cs typeface="Calibri" panose="020F0502020204030204" charset="0"/>
              </a:rPr>
              <a:t>MIPS </a:t>
            </a:r>
            <a:r>
              <a:rPr lang="zh-CN" altLang="en-US">
                <a:latin typeface="Calibri" panose="020F0502020204030204" charset="0"/>
                <a:ea typeface="宋体" panose="02010600030101010101" pitchFamily="2" charset="-122"/>
                <a:cs typeface="Calibri" panose="020F0502020204030204" charset="0"/>
              </a:rPr>
              <a:t>指令字译码生成</a:t>
            </a:r>
            <a:r>
              <a:rPr lang="en-US" altLang="zh-CN">
                <a:latin typeface="Calibri" panose="020F0502020204030204" charset="0"/>
                <a:ea typeface="宋体" panose="02010600030101010101" pitchFamily="2" charset="-122"/>
                <a:cs typeface="Calibri" panose="020F0502020204030204" charset="0"/>
              </a:rPr>
              <a:t>LW</a:t>
            </a:r>
            <a:r>
              <a:rPr lang="zh-CN" altLang="en-US">
                <a:latin typeface="Calibri" panose="020F0502020204030204" charset="0"/>
                <a:ea typeface="宋体" panose="02010600030101010101" pitchFamily="2" charset="-122"/>
                <a:cs typeface="Calibri" panose="020F0502020204030204" charset="0"/>
              </a:rPr>
              <a:t>、</a:t>
            </a:r>
            <a:r>
              <a:rPr lang="en-US" altLang="zh-CN">
                <a:latin typeface="Calibri" panose="020F0502020204030204" charset="0"/>
                <a:ea typeface="宋体" panose="02010600030101010101" pitchFamily="2" charset="-122"/>
                <a:cs typeface="Calibri" panose="020F0502020204030204" charset="0"/>
              </a:rPr>
              <a:t>SW</a:t>
            </a:r>
            <a:r>
              <a:rPr lang="zh-CN" altLang="en-US">
                <a:latin typeface="Calibri" panose="020F0502020204030204" charset="0"/>
                <a:ea typeface="宋体" panose="02010600030101010101" pitchFamily="2" charset="-122"/>
                <a:cs typeface="Calibri" panose="020F0502020204030204" charset="0"/>
              </a:rPr>
              <a:t>、</a:t>
            </a:r>
            <a:r>
              <a:rPr lang="en-US" altLang="zh-CN">
                <a:latin typeface="Calibri" panose="020F0502020204030204" charset="0"/>
                <a:ea typeface="宋体" panose="02010600030101010101" pitchFamily="2" charset="-122"/>
                <a:cs typeface="Calibri" panose="020F0502020204030204" charset="0"/>
              </a:rPr>
              <a:t>BEQ</a:t>
            </a:r>
            <a:r>
              <a:rPr lang="zh-CN" altLang="en-US">
                <a:latin typeface="Calibri" panose="020F0502020204030204" charset="0"/>
                <a:ea typeface="宋体" panose="02010600030101010101" pitchFamily="2" charset="-122"/>
                <a:cs typeface="Calibri" panose="020F0502020204030204" charset="0"/>
              </a:rPr>
              <a:t>、</a:t>
            </a:r>
            <a:r>
              <a:rPr lang="en-US" altLang="zh-CN">
                <a:latin typeface="Calibri" panose="020F0502020204030204" charset="0"/>
                <a:ea typeface="宋体" panose="02010600030101010101" pitchFamily="2" charset="-122"/>
                <a:cs typeface="Calibri" panose="020F0502020204030204" charset="0"/>
              </a:rPr>
              <a:t>SLT</a:t>
            </a:r>
            <a:r>
              <a:rPr lang="zh-CN" altLang="en-US">
                <a:latin typeface="Calibri" panose="020F0502020204030204" charset="0"/>
                <a:ea typeface="宋体" panose="02010600030101010101" pitchFamily="2" charset="-122"/>
                <a:cs typeface="Calibri" panose="020F0502020204030204" charset="0"/>
              </a:rPr>
              <a:t>、</a:t>
            </a:r>
            <a:r>
              <a:rPr lang="en-US" altLang="zh-CN">
                <a:latin typeface="Calibri" panose="020F0502020204030204" charset="0"/>
                <a:ea typeface="宋体" panose="02010600030101010101" pitchFamily="2" charset="-122"/>
                <a:cs typeface="Calibri" panose="020F0502020204030204" charset="0"/>
              </a:rPr>
              <a:t>ADDI</a:t>
            </a:r>
            <a:r>
              <a:rPr lang="zh-CN" altLang="en-US">
                <a:latin typeface="Calibri" panose="020F0502020204030204" charset="0"/>
                <a:ea typeface="宋体" panose="02010600030101010101" pitchFamily="2" charset="-122"/>
                <a:cs typeface="Calibri" panose="020F0502020204030204" charset="0"/>
              </a:rPr>
              <a:t>、</a:t>
            </a:r>
            <a:r>
              <a:rPr lang="en-US" altLang="zh-CN">
                <a:latin typeface="Calibri" panose="020F0502020204030204" charset="0"/>
                <a:ea typeface="宋体" panose="02010600030101010101" pitchFamily="2" charset="-122"/>
                <a:cs typeface="Calibri" panose="020F0502020204030204" charset="0"/>
              </a:rPr>
              <a:t>OtherInstr</a:t>
            </a:r>
            <a:r>
              <a:rPr lang="zh-CN" altLang="en-US">
                <a:latin typeface="Calibri" panose="020F0502020204030204" charset="0"/>
                <a:ea typeface="宋体" panose="02010600030101010101" pitchFamily="2" charset="-122"/>
                <a:cs typeface="Calibri" panose="020F0502020204030204" charset="0"/>
              </a:rPr>
              <a:t>等指令译码信号。指令译码器是控制器核心功能部件，负责将指令字翻译成一根根的指令译码信号，每一根指令译码信号代表一条具体的指令。</a:t>
            </a:r>
            <a:endParaRPr lang="zh-CN" altLang="en-US">
              <a:latin typeface="Calibri" panose="020F0502020204030204" charset="0"/>
              <a:ea typeface="宋体" panose="02010600030101010101" pitchFamily="2" charset="-122"/>
              <a:cs typeface="Calibri" panose="020F0502020204030204" charset="0"/>
            </a:endParaRPr>
          </a:p>
        </p:txBody>
      </p:sp>
      <p:pic>
        <p:nvPicPr>
          <p:cNvPr id="4" name="图片 3"/>
          <p:cNvPicPr>
            <a:picLocks noChangeAspect="1"/>
          </p:cNvPicPr>
          <p:nvPr/>
        </p:nvPicPr>
        <p:blipFill>
          <a:blip r:embed="rId1"/>
          <a:stretch>
            <a:fillRect/>
          </a:stretch>
        </p:blipFill>
        <p:spPr>
          <a:xfrm>
            <a:off x="1064895" y="3008630"/>
            <a:ext cx="6924040" cy="2046605"/>
          </a:xfrm>
          <a:prstGeom prst="rect">
            <a:avLst/>
          </a:prstGeom>
        </p:spPr>
      </p:pic>
      <p:sp>
        <p:nvSpPr>
          <p:cNvPr id="5" name="文本框 4"/>
          <p:cNvSpPr txBox="1"/>
          <p:nvPr/>
        </p:nvSpPr>
        <p:spPr>
          <a:xfrm>
            <a:off x="8164830" y="3008630"/>
            <a:ext cx="2851785" cy="2404110"/>
          </a:xfrm>
          <a:prstGeom prst="rect">
            <a:avLst/>
          </a:prstGeom>
          <a:noFill/>
        </p:spPr>
        <p:txBody>
          <a:bodyPr wrap="square" rtlCol="0">
            <a:noAutofit/>
          </a:bodyPr>
          <a:p>
            <a:pPr algn="l">
              <a:buClrTx/>
              <a:buSzTx/>
              <a:buFontTx/>
            </a:pPr>
            <a:r>
              <a:rPr lang="zh-CN" altLang="en-US" b="1">
                <a:latin typeface="Calibri" panose="020F0502020204030204" charset="0"/>
                <a:ea typeface="宋体" panose="02010600030101010101" pitchFamily="2" charset="-122"/>
                <a:cs typeface="Calibri" panose="020F0502020204030204" charset="0"/>
                <a:sym typeface="+mn-ea"/>
              </a:rPr>
              <a:t>设计思路：</a:t>
            </a:r>
            <a:r>
              <a:rPr lang="zh-CN" altLang="en-US">
                <a:latin typeface="Calibri" panose="020F0502020204030204" charset="0"/>
                <a:ea typeface="宋体" panose="02010600030101010101" pitchFamily="2" charset="-122"/>
                <a:cs typeface="Calibri" panose="020F0502020204030204" charset="0"/>
                <a:sym typeface="+mn-ea"/>
              </a:rPr>
              <a:t>首先了解各类指令的操作码（</a:t>
            </a:r>
            <a:r>
              <a:rPr lang="en-US" altLang="zh-CN">
                <a:latin typeface="Calibri" panose="020F0502020204030204" charset="0"/>
                <a:ea typeface="宋体" panose="02010600030101010101" pitchFamily="2" charset="-122"/>
                <a:cs typeface="Calibri" panose="020F0502020204030204" charset="0"/>
                <a:sym typeface="+mn-ea"/>
              </a:rPr>
              <a:t>op</a:t>
            </a:r>
            <a:r>
              <a:rPr lang="zh-CN" altLang="en-US">
                <a:latin typeface="Calibri" panose="020F0502020204030204" charset="0"/>
                <a:ea typeface="宋体" panose="02010600030101010101" pitchFamily="2" charset="-122"/>
                <a:cs typeface="Calibri" panose="020F0502020204030204" charset="0"/>
                <a:sym typeface="+mn-ea"/>
              </a:rPr>
              <a:t>）对应的十六进制</a:t>
            </a:r>
            <a:r>
              <a:rPr lang="zh-CN" altLang="en-US">
                <a:latin typeface="Calibri" panose="020F0502020204030204" charset="0"/>
                <a:ea typeface="宋体" panose="02010600030101010101" pitchFamily="2" charset="-122"/>
                <a:cs typeface="Calibri" panose="020F0502020204030204" charset="0"/>
                <a:sym typeface="+mn-ea"/>
              </a:rPr>
              <a:t>数；</a:t>
            </a:r>
            <a:r>
              <a:rPr lang="zh-CN" altLang="en-US">
                <a:latin typeface="Calibri" panose="020F0502020204030204" charset="0"/>
                <a:ea typeface="宋体" panose="02010600030101010101" pitchFamily="2" charset="-122"/>
                <a:cs typeface="Calibri" panose="020F0502020204030204" charset="0"/>
              </a:rPr>
              <a:t>其中 SLT 指令的识别不仅依赖于 OP 码，还需结合 FUNCT 字段。</a:t>
            </a:r>
            <a:endParaRPr lang="zh-CN" altLang="en-US">
              <a:latin typeface="Calibri" panose="020F0502020204030204" charset="0"/>
              <a:ea typeface="宋体" panose="02010600030101010101" pitchFamily="2" charset="-122"/>
              <a:cs typeface="Calibri" panose="020F050202020403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p>
            <a:pPr algn="l">
              <a:spcBef>
                <a:spcPts val="1000"/>
              </a:spcBef>
              <a:buClrTx/>
              <a:buSzTx/>
              <a:buFont typeface="Arial" panose="020B0604020202020204" pitchFamily="34" charset="0"/>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二、定长单总线cpu设计</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pic>
        <p:nvPicPr>
          <p:cNvPr id="3" name="图片 2"/>
          <p:cNvPicPr>
            <a:picLocks noChangeAspect="1"/>
          </p:cNvPicPr>
          <p:nvPr/>
        </p:nvPicPr>
        <p:blipFill>
          <a:blip r:embed="rId1"/>
          <a:stretch>
            <a:fillRect/>
          </a:stretch>
        </p:blipFill>
        <p:spPr>
          <a:xfrm>
            <a:off x="4067810" y="1167765"/>
            <a:ext cx="6955790" cy="2863215"/>
          </a:xfrm>
          <a:prstGeom prst="rect">
            <a:avLst/>
          </a:prstGeom>
        </p:spPr>
      </p:pic>
      <p:sp>
        <p:nvSpPr>
          <p:cNvPr id="4" name="文本框 3"/>
          <p:cNvSpPr txBox="1"/>
          <p:nvPr/>
        </p:nvSpPr>
        <p:spPr>
          <a:xfrm>
            <a:off x="1065530" y="1167765"/>
            <a:ext cx="2867660" cy="2493010"/>
          </a:xfrm>
          <a:prstGeom prst="rect">
            <a:avLst/>
          </a:prstGeom>
        </p:spPr>
        <p:txBody>
          <a:bodyPr wrap="square">
            <a:noAutofit/>
          </a:bodyPr>
          <a:p>
            <a:pPr indent="457200" algn="l">
              <a:buClrTx/>
              <a:buSzTx/>
              <a:buFontTx/>
            </a:pPr>
            <a:r>
              <a:rPr lang="zh-CN" altLang="en-US" sz="1800" b="1">
                <a:latin typeface="Calibri" panose="020F0502020204030204" charset="0"/>
                <a:ea typeface="宋体" panose="02010600030101010101" pitchFamily="2" charset="-122"/>
                <a:cs typeface="Calibri" panose="020F0502020204030204" charset="0"/>
              </a:rPr>
              <a:t>电路实现：</a:t>
            </a:r>
            <a:r>
              <a:rPr lang="zh-CN" altLang="en-US" sz="1800">
                <a:latin typeface="Calibri" panose="020F0502020204030204" charset="0"/>
                <a:ea typeface="宋体" panose="02010600030101010101" pitchFamily="2" charset="-122"/>
                <a:cs typeface="Calibri" panose="020F0502020204030204" charset="0"/>
              </a:rPr>
              <a:t>输入32位指令（IR寄存器），提取OP码与FUNCT字段。通过逻辑与门和或门实现对指令的判断。输出对应指令的译码信号，非识别指令输出OtherInstr。</a:t>
            </a:r>
            <a:endParaRPr lang="zh-CN" altLang="en-US" sz="1800">
              <a:latin typeface="Calibri" panose="020F0502020204030204" charset="0"/>
              <a:ea typeface="宋体" panose="02010600030101010101" pitchFamily="2" charset="-122"/>
              <a:cs typeface="Calibri" panose="020F0502020204030204" charset="0"/>
            </a:endParaRPr>
          </a:p>
          <a:p>
            <a:pPr algn="l">
              <a:buClrTx/>
              <a:buSzTx/>
              <a:buFontTx/>
            </a:pPr>
            <a:endParaRPr lang="zh-CN" altLang="en-US" sz="1600"/>
          </a:p>
        </p:txBody>
      </p:sp>
      <p:pic>
        <p:nvPicPr>
          <p:cNvPr id="5" name="图片 2"/>
          <p:cNvPicPr>
            <a:picLocks noChangeAspect="1"/>
          </p:cNvPicPr>
          <p:nvPr/>
        </p:nvPicPr>
        <p:blipFill>
          <a:blip r:embed="rId2"/>
          <a:stretch>
            <a:fillRect/>
          </a:stretch>
        </p:blipFill>
        <p:spPr>
          <a:xfrm>
            <a:off x="822960" y="3907790"/>
            <a:ext cx="6136640" cy="2479040"/>
          </a:xfrm>
          <a:prstGeom prst="rect">
            <a:avLst/>
          </a:prstGeom>
          <a:noFill/>
          <a:ln>
            <a:noFill/>
          </a:ln>
        </p:spPr>
      </p:pic>
      <p:sp>
        <p:nvSpPr>
          <p:cNvPr id="6" name="文本框 5"/>
          <p:cNvSpPr txBox="1"/>
          <p:nvPr/>
        </p:nvSpPr>
        <p:spPr>
          <a:xfrm>
            <a:off x="7370445" y="4227830"/>
            <a:ext cx="3653790" cy="1753235"/>
          </a:xfrm>
          <a:prstGeom prst="rect">
            <a:avLst/>
          </a:prstGeom>
          <a:noFill/>
        </p:spPr>
        <p:txBody>
          <a:bodyPr wrap="square" rtlCol="0">
            <a:spAutoFit/>
          </a:bodyPr>
          <a:p>
            <a:pPr indent="457200" algn="l">
              <a:buClrTx/>
              <a:buSzTx/>
              <a:buFontTx/>
            </a:pPr>
            <a:r>
              <a:rPr lang="zh-CN" altLang="en-US" b="1">
                <a:latin typeface="Calibri" panose="020F0502020204030204" charset="0"/>
                <a:ea typeface="宋体" panose="02010600030101010101" pitchFamily="2" charset="-122"/>
                <a:cs typeface="Calibri" panose="020F0502020204030204" charset="0"/>
                <a:sym typeface="+mn-ea"/>
              </a:rPr>
              <a:t>仿真结果：</a:t>
            </a:r>
            <a:r>
              <a:rPr lang="zh-CN" altLang="en-US">
                <a:latin typeface="Calibri" panose="020F0502020204030204" charset="0"/>
                <a:ea typeface="宋体" panose="02010600030101010101" pitchFamily="2" charset="-122"/>
                <a:cs typeface="Calibri" panose="020F0502020204030204" charset="0"/>
                <a:sym typeface="+mn-ea"/>
              </a:rPr>
              <a:t>仿真结果显示输入指令后，各类译码信号准确激活。</a:t>
            </a:r>
            <a:r>
              <a:rPr lang="zh-CN" altLang="en-US">
                <a:latin typeface="Calibri" panose="020F0502020204030204" charset="0"/>
                <a:ea typeface="宋体" panose="02010600030101010101" pitchFamily="2" charset="-122"/>
                <a:cs typeface="Calibri" panose="020F0502020204030204" charset="0"/>
              </a:rPr>
              <a:t>以编号Cnt为0000的测试样例为例，指令字IR的值为2010ffff时，对应指令的OP码为001000，对应指令为ADDI。</a:t>
            </a:r>
            <a:endParaRPr lang="zh-CN" altLang="en-US">
              <a:latin typeface="Calibri" panose="020F0502020204030204" charset="0"/>
              <a:ea typeface="宋体" panose="02010600030101010101" pitchFamily="2" charset="-122"/>
              <a:cs typeface="Calibri" panose="020F0502020204030204" charset="0"/>
            </a:endParaRPr>
          </a:p>
        </p:txBody>
      </p:sp>
      <p:sp>
        <p:nvSpPr>
          <p:cNvPr id="8" name="文本框 7"/>
          <p:cNvSpPr txBox="1"/>
          <p:nvPr/>
        </p:nvSpPr>
        <p:spPr>
          <a:xfrm>
            <a:off x="10838180" y="1630680"/>
            <a:ext cx="641350" cy="2030095"/>
          </a:xfrm>
          <a:prstGeom prst="rect">
            <a:avLst/>
          </a:prstGeom>
          <a:noFill/>
        </p:spPr>
        <p:txBody>
          <a:bodyPr wrap="square" rtlCol="0">
            <a:spAutoFit/>
          </a:bodyPr>
          <a:p>
            <a:pPr algn="ctr"/>
            <a:r>
              <a:rPr lang="en-US" altLang="zh-CN" sz="1400">
                <a:latin typeface="宋体" panose="02010600030101010101" pitchFamily="2" charset="-122"/>
                <a:ea typeface="宋体" panose="02010600030101010101" pitchFamily="2" charset="-122"/>
                <a:cs typeface="宋体" panose="02010600030101010101" pitchFamily="2" charset="-122"/>
              </a:rPr>
              <a:t>MIPS</a:t>
            </a:r>
            <a:r>
              <a:rPr lang="zh-CN" altLang="en-US" sz="1400">
                <a:latin typeface="宋体" panose="02010600030101010101" pitchFamily="2" charset="-122"/>
                <a:ea typeface="宋体" panose="02010600030101010101" pitchFamily="2" charset="-122"/>
                <a:cs typeface="宋体" panose="02010600030101010101" pitchFamily="2" charset="-122"/>
              </a:rPr>
              <a:t>指</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gn="ctr"/>
            <a:r>
              <a:rPr lang="zh-CN" altLang="en-US" sz="1400">
                <a:latin typeface="宋体" panose="02010600030101010101" pitchFamily="2" charset="-122"/>
                <a:ea typeface="宋体" panose="02010600030101010101" pitchFamily="2" charset="-122"/>
                <a:cs typeface="宋体" panose="02010600030101010101" pitchFamily="2" charset="-122"/>
              </a:rPr>
              <a:t>令</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gn="ctr"/>
            <a:r>
              <a:rPr lang="zh-CN" altLang="en-US" sz="1400">
                <a:latin typeface="宋体" panose="02010600030101010101" pitchFamily="2" charset="-122"/>
                <a:ea typeface="宋体" panose="02010600030101010101" pitchFamily="2" charset="-122"/>
                <a:cs typeface="宋体" panose="02010600030101010101" pitchFamily="2" charset="-122"/>
              </a:rPr>
              <a:t>译</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gn="ctr"/>
            <a:r>
              <a:rPr lang="zh-CN" altLang="en-US" sz="1400">
                <a:latin typeface="宋体" panose="02010600030101010101" pitchFamily="2" charset="-122"/>
                <a:ea typeface="宋体" panose="02010600030101010101" pitchFamily="2" charset="-122"/>
                <a:cs typeface="宋体" panose="02010600030101010101" pitchFamily="2" charset="-122"/>
              </a:rPr>
              <a:t>码</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gn="ctr"/>
            <a:r>
              <a:rPr lang="zh-CN" altLang="en-US" sz="1400">
                <a:latin typeface="宋体" panose="02010600030101010101" pitchFamily="2" charset="-122"/>
                <a:ea typeface="宋体" panose="02010600030101010101" pitchFamily="2" charset="-122"/>
                <a:cs typeface="宋体" panose="02010600030101010101" pitchFamily="2" charset="-122"/>
              </a:rPr>
              <a:t>器</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gn="ctr"/>
            <a:r>
              <a:rPr lang="zh-CN" altLang="en-US" sz="1400">
                <a:latin typeface="宋体" panose="02010600030101010101" pitchFamily="2" charset="-122"/>
                <a:ea typeface="宋体" panose="02010600030101010101" pitchFamily="2" charset="-122"/>
                <a:cs typeface="宋体" panose="02010600030101010101" pitchFamily="2" charset="-122"/>
              </a:rPr>
              <a:t>电</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gn="ctr"/>
            <a:r>
              <a:rPr lang="zh-CN" altLang="en-US" sz="1400">
                <a:latin typeface="宋体" panose="02010600030101010101" pitchFamily="2" charset="-122"/>
                <a:ea typeface="宋体" panose="02010600030101010101" pitchFamily="2" charset="-122"/>
                <a:cs typeface="宋体" panose="02010600030101010101" pitchFamily="2" charset="-122"/>
              </a:rPr>
              <a:t>路</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gn="ctr"/>
            <a:r>
              <a:rPr lang="zh-CN" altLang="en-US" sz="1400">
                <a:latin typeface="宋体" panose="02010600030101010101" pitchFamily="2" charset="-122"/>
                <a:ea typeface="宋体" panose="02010600030101010101" pitchFamily="2" charset="-122"/>
                <a:cs typeface="宋体" panose="02010600030101010101" pitchFamily="2" charset="-122"/>
              </a:rPr>
              <a:t>图</a:t>
            </a:r>
            <a:endParaRPr lang="zh-CN" altLang="en-US" sz="140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822960" y="6386830"/>
            <a:ext cx="6137275"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rPr>
              <a:t>头歌测试结果图</a:t>
            </a:r>
            <a:endParaRPr lang="zh-CN" altLang="en-US" sz="1400">
              <a:latin typeface="宋体" panose="02010600030101010101" pitchFamily="2" charset="-122"/>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p>
            <a:pPr algn="l">
              <a:spcBef>
                <a:spcPts val="1000"/>
              </a:spcBef>
              <a:buClrTx/>
              <a:buSzTx/>
              <a:buFont typeface="Arial" panose="020B0604020202020204" pitchFamily="34" charset="0"/>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二、定长单总线cpu设计</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sp>
        <p:nvSpPr>
          <p:cNvPr id="3" name="文本框 2"/>
          <p:cNvSpPr txBox="1"/>
          <p:nvPr/>
        </p:nvSpPr>
        <p:spPr>
          <a:xfrm>
            <a:off x="1064895" y="1215390"/>
            <a:ext cx="9952355" cy="1599565"/>
          </a:xfrm>
          <a:prstGeom prst="rect">
            <a:avLst/>
          </a:prstGeom>
          <a:noFill/>
        </p:spPr>
        <p:txBody>
          <a:bodyPr wrap="square" rtlCol="0">
            <a:spAutoFit/>
          </a:bodyPr>
          <a:p>
            <a:r>
              <a:rPr lang="en-US" altLang="zh-CN" sz="2400" b="1">
                <a:latin typeface="Calibri" panose="020F0502020204030204" charset="0"/>
                <a:ea typeface="宋体" panose="02010600030101010101" pitchFamily="2" charset="-122"/>
                <a:cs typeface="Calibri" panose="020F0502020204030204" charset="0"/>
              </a:rPr>
              <a:t>2</a:t>
            </a:r>
            <a:r>
              <a:rPr lang="zh-CN" altLang="en-US" sz="2400" b="1">
                <a:latin typeface="Calibri" panose="020F0502020204030204" charset="0"/>
                <a:ea typeface="宋体" panose="02010600030101010101" pitchFamily="2" charset="-122"/>
                <a:cs typeface="Calibri" panose="020F0502020204030204" charset="0"/>
              </a:rPr>
              <a:t>、时序发生器（定长指令周期）</a:t>
            </a:r>
            <a:r>
              <a:rPr lang="en-US" altLang="zh-CN" sz="2400" b="1">
                <a:latin typeface="Calibri" panose="020F0502020204030204" charset="0"/>
                <a:ea typeface="宋体" panose="02010600030101010101" pitchFamily="2" charset="-122"/>
                <a:cs typeface="Calibri" panose="020F0502020204030204" charset="0"/>
              </a:rPr>
              <a:t>FSM</a:t>
            </a:r>
            <a:r>
              <a:rPr lang="zh-CN" altLang="en-US" sz="2400" b="1">
                <a:latin typeface="Calibri" panose="020F0502020204030204" charset="0"/>
                <a:ea typeface="宋体" panose="02010600030101010101" pitchFamily="2" charset="-122"/>
                <a:cs typeface="Calibri" panose="020F0502020204030204" charset="0"/>
              </a:rPr>
              <a:t>设计</a:t>
            </a:r>
            <a:endParaRPr lang="zh-CN" altLang="en-US" sz="2400" b="1">
              <a:latin typeface="Calibri" panose="020F0502020204030204" charset="0"/>
              <a:ea typeface="宋体" panose="02010600030101010101" pitchFamily="2" charset="-122"/>
              <a:cs typeface="Calibri" panose="020F0502020204030204" charset="0"/>
            </a:endParaRPr>
          </a:p>
          <a:p>
            <a:endParaRPr lang="zh-CN" altLang="en-US" sz="1000" b="1">
              <a:latin typeface="Calibri" panose="020F0502020204030204" charset="0"/>
              <a:ea typeface="宋体" panose="02010600030101010101" pitchFamily="2" charset="-122"/>
              <a:cs typeface="Calibri" panose="020F0502020204030204" charset="0"/>
            </a:endParaRPr>
          </a:p>
          <a:p>
            <a:pPr indent="457200"/>
            <a:r>
              <a:rPr lang="en-US" altLang="zh-CN" b="1">
                <a:latin typeface="Calibri" panose="020F0502020204030204" charset="0"/>
                <a:ea typeface="宋体" panose="02010600030101010101" pitchFamily="2" charset="-122"/>
                <a:cs typeface="Calibri" panose="020F0502020204030204" charset="0"/>
              </a:rPr>
              <a:t>FSM</a:t>
            </a:r>
            <a:r>
              <a:rPr lang="zh-CN" altLang="en-US" b="1">
                <a:latin typeface="Calibri" panose="020F0502020204030204" charset="0"/>
                <a:ea typeface="宋体" panose="02010600030101010101" pitchFamily="2" charset="-122"/>
                <a:cs typeface="Calibri" panose="020F0502020204030204" charset="0"/>
              </a:rPr>
              <a:t>功能与</a:t>
            </a:r>
            <a:r>
              <a:rPr lang="zh-CN" altLang="en-US" b="1">
                <a:latin typeface="Calibri" panose="020F0502020204030204" charset="0"/>
                <a:ea typeface="宋体" panose="02010600030101010101" pitchFamily="2" charset="-122"/>
                <a:cs typeface="Calibri" panose="020F0502020204030204" charset="0"/>
              </a:rPr>
              <a:t>设计目标：</a:t>
            </a:r>
            <a:endParaRPr lang="zh-CN" altLang="en-US" b="1">
              <a:latin typeface="Calibri" panose="020F0502020204030204" charset="0"/>
              <a:ea typeface="宋体" panose="02010600030101010101" pitchFamily="2" charset="-122"/>
              <a:cs typeface="Calibri" panose="020F0502020204030204" charset="0"/>
            </a:endParaRPr>
          </a:p>
          <a:p>
            <a:pPr marL="457200" lvl="1" indent="457200"/>
            <a:r>
              <a:rPr lang="en-US" altLang="zh-CN">
                <a:latin typeface="Calibri" panose="020F0502020204030204" charset="0"/>
                <a:ea typeface="宋体" panose="02010600030101010101" pitchFamily="2" charset="-122"/>
                <a:cs typeface="Calibri" panose="020F0502020204030204" charset="0"/>
              </a:rPr>
              <a:t>1</a:t>
            </a:r>
            <a:r>
              <a:rPr lang="zh-CN" altLang="en-US">
                <a:latin typeface="Calibri" panose="020F0502020204030204" charset="0"/>
                <a:ea typeface="宋体" panose="02010600030101010101" pitchFamily="2" charset="-122"/>
                <a:cs typeface="Calibri" panose="020F0502020204030204" charset="0"/>
              </a:rPr>
              <a:t>：深入理解三级时序结构中</a:t>
            </a:r>
            <a:r>
              <a:rPr lang="en-US" altLang="zh-CN">
                <a:latin typeface="Calibri" panose="020F0502020204030204" charset="0"/>
                <a:ea typeface="宋体" panose="02010600030101010101" pitchFamily="2" charset="-122"/>
                <a:cs typeface="Calibri" panose="020F0502020204030204" charset="0"/>
              </a:rPr>
              <a:t>FSM</a:t>
            </a:r>
            <a:r>
              <a:rPr lang="zh-CN" altLang="en-US">
                <a:latin typeface="Calibri" panose="020F0502020204030204" charset="0"/>
                <a:ea typeface="宋体" panose="02010600030101010101" pitchFamily="2" charset="-122"/>
                <a:cs typeface="Calibri" panose="020F0502020204030204" charset="0"/>
              </a:rPr>
              <a:t>的作用和设计方法。</a:t>
            </a:r>
            <a:endParaRPr lang="zh-CN" altLang="en-US">
              <a:latin typeface="Calibri" panose="020F0502020204030204" charset="0"/>
              <a:ea typeface="宋体" panose="02010600030101010101" pitchFamily="2" charset="-122"/>
              <a:cs typeface="Calibri" panose="020F0502020204030204" charset="0"/>
            </a:endParaRPr>
          </a:p>
          <a:p>
            <a:pPr marL="457200" lvl="1" indent="457200"/>
            <a:endParaRPr lang="zh-CN" altLang="en-US" sz="1000">
              <a:latin typeface="Calibri" panose="020F0502020204030204" charset="0"/>
              <a:ea typeface="宋体" panose="02010600030101010101" pitchFamily="2" charset="-122"/>
              <a:cs typeface="Calibri" panose="020F0502020204030204" charset="0"/>
            </a:endParaRPr>
          </a:p>
          <a:p>
            <a:pPr marL="457200" lvl="1" indent="457200"/>
            <a:r>
              <a:rPr lang="en-US" altLang="zh-CN">
                <a:latin typeface="Calibri" panose="020F0502020204030204" charset="0"/>
                <a:ea typeface="宋体" panose="02010600030101010101" pitchFamily="2" charset="-122"/>
                <a:cs typeface="Calibri" panose="020F0502020204030204" charset="0"/>
              </a:rPr>
              <a:t>2</a:t>
            </a:r>
            <a:r>
              <a:rPr lang="zh-CN" altLang="en-US">
                <a:latin typeface="Calibri" panose="020F0502020204030204" charset="0"/>
                <a:ea typeface="宋体" panose="02010600030101010101" pitchFamily="2" charset="-122"/>
                <a:cs typeface="Calibri" panose="020F0502020204030204" charset="0"/>
              </a:rPr>
              <a:t>：完成指令周期时序发生器设计，确保状态机能精确控制时序转换。</a:t>
            </a:r>
            <a:endParaRPr lang="zh-CN" altLang="en-US">
              <a:latin typeface="Calibri" panose="020F0502020204030204" charset="0"/>
              <a:ea typeface="宋体" panose="02010600030101010101" pitchFamily="2" charset="-122"/>
              <a:cs typeface="Calibri" panose="020F0502020204030204" charset="0"/>
            </a:endParaRPr>
          </a:p>
        </p:txBody>
      </p:sp>
      <p:pic>
        <p:nvPicPr>
          <p:cNvPr id="4" name="图片 10"/>
          <p:cNvPicPr>
            <a:picLocks noChangeAspect="1"/>
          </p:cNvPicPr>
          <p:nvPr/>
        </p:nvPicPr>
        <p:blipFill>
          <a:blip r:embed="rId1"/>
          <a:stretch>
            <a:fillRect/>
          </a:stretch>
        </p:blipFill>
        <p:spPr>
          <a:xfrm>
            <a:off x="721043" y="3051493"/>
            <a:ext cx="3794125" cy="2914015"/>
          </a:xfrm>
          <a:prstGeom prst="rect">
            <a:avLst/>
          </a:prstGeom>
          <a:noFill/>
          <a:ln>
            <a:noFill/>
          </a:ln>
        </p:spPr>
      </p:pic>
      <p:sp>
        <p:nvSpPr>
          <p:cNvPr id="6" name="文本框 5"/>
          <p:cNvSpPr txBox="1"/>
          <p:nvPr/>
        </p:nvSpPr>
        <p:spPr>
          <a:xfrm>
            <a:off x="8806815" y="3051810"/>
            <a:ext cx="2210435" cy="3218180"/>
          </a:xfrm>
          <a:prstGeom prst="rect">
            <a:avLst/>
          </a:prstGeom>
          <a:noFill/>
        </p:spPr>
        <p:txBody>
          <a:bodyPr wrap="square" rtlCol="0">
            <a:noAutofit/>
          </a:bodyPr>
          <a:p>
            <a:pPr algn="l">
              <a:buClrTx/>
              <a:buSzTx/>
              <a:buFontTx/>
            </a:pPr>
            <a:r>
              <a:rPr lang="zh-CN" altLang="en-US" b="1">
                <a:latin typeface="Calibri" panose="020F0502020204030204" charset="0"/>
                <a:ea typeface="宋体" panose="02010600030101010101" pitchFamily="2" charset="-122"/>
                <a:cs typeface="Calibri" panose="020F0502020204030204" charset="0"/>
                <a:sym typeface="+mn-ea"/>
              </a:rPr>
              <a:t>设计思路：</a:t>
            </a:r>
            <a:endParaRPr lang="zh-CN" altLang="en-US" b="1">
              <a:latin typeface="Calibri" panose="020F0502020204030204" charset="0"/>
              <a:ea typeface="宋体" panose="02010600030101010101" pitchFamily="2" charset="-122"/>
              <a:cs typeface="Calibri" panose="020F0502020204030204" charset="0"/>
              <a:sym typeface="+mn-ea"/>
            </a:endParaRPr>
          </a:p>
          <a:p>
            <a:pPr indent="457200" algn="l">
              <a:buClrTx/>
              <a:buSzTx/>
              <a:buFontTx/>
            </a:pPr>
            <a:r>
              <a:rPr lang="zh-CN" altLang="en-US">
                <a:latin typeface="Calibri" panose="020F0502020204030204" charset="0"/>
                <a:ea typeface="宋体" panose="02010600030101010101" pitchFamily="2" charset="-122"/>
                <a:cs typeface="Calibri" panose="020F0502020204030204" charset="0"/>
              </a:rPr>
              <a:t>根据定长三级时序设计要求，明确取指、计算、执行三个周期。</a:t>
            </a:r>
            <a:endParaRPr lang="zh-CN" altLang="en-US">
              <a:latin typeface="Calibri" panose="020F0502020204030204" charset="0"/>
              <a:ea typeface="宋体" panose="02010600030101010101" pitchFamily="2" charset="-122"/>
              <a:cs typeface="Calibri" panose="020F0502020204030204" charset="0"/>
            </a:endParaRPr>
          </a:p>
          <a:p>
            <a:pPr indent="457200" algn="l">
              <a:buClrTx/>
              <a:buSzTx/>
              <a:buFontTx/>
            </a:pPr>
            <a:r>
              <a:rPr lang="zh-CN" altLang="en-US">
                <a:latin typeface="Calibri" panose="020F0502020204030204" charset="0"/>
                <a:ea typeface="宋体" panose="02010600030101010101" pitchFamily="2" charset="-122"/>
                <a:cs typeface="Calibri" panose="020F0502020204030204" charset="0"/>
              </a:rPr>
              <a:t>使用状态机组合逻辑与输出函数实现周期和节拍控制信号的生成。</a:t>
            </a:r>
            <a:endParaRPr lang="zh-CN" altLang="en-US">
              <a:latin typeface="Calibri" panose="020F0502020204030204" charset="0"/>
              <a:ea typeface="宋体" panose="02010600030101010101" pitchFamily="2" charset="-122"/>
              <a:cs typeface="Calibri" panose="020F0502020204030204" charset="0"/>
            </a:endParaRPr>
          </a:p>
        </p:txBody>
      </p:sp>
      <p:pic>
        <p:nvPicPr>
          <p:cNvPr id="12" name="图片 11"/>
          <p:cNvPicPr>
            <a:picLocks noChangeAspect="1"/>
          </p:cNvPicPr>
          <p:nvPr/>
        </p:nvPicPr>
        <p:blipFill>
          <a:blip r:embed="rId2"/>
          <a:stretch>
            <a:fillRect/>
          </a:stretch>
        </p:blipFill>
        <p:spPr>
          <a:xfrm>
            <a:off x="5036820" y="2755900"/>
            <a:ext cx="3538220" cy="3506470"/>
          </a:xfrm>
          <a:prstGeom prst="rect">
            <a:avLst/>
          </a:prstGeom>
          <a:noFill/>
          <a:ln>
            <a:noFill/>
          </a:ln>
        </p:spPr>
      </p:pic>
      <p:sp>
        <p:nvSpPr>
          <p:cNvPr id="8" name="文本框 7"/>
          <p:cNvSpPr txBox="1"/>
          <p:nvPr/>
        </p:nvSpPr>
        <p:spPr>
          <a:xfrm>
            <a:off x="4759960" y="6262370"/>
            <a:ext cx="3537585" cy="337185"/>
          </a:xfrm>
          <a:prstGeom prst="rect">
            <a:avLst/>
          </a:prstGeom>
          <a:noFill/>
        </p:spPr>
        <p:txBody>
          <a:bodyPr wrap="square" rtlCol="0">
            <a:spAutoFit/>
          </a:bodyPr>
          <a:p>
            <a:pPr indent="457200" algn="ctr">
              <a:buClrTx/>
              <a:buSzTx/>
              <a:buFontTx/>
            </a:pPr>
            <a:r>
              <a:rPr lang="zh-CN" altLang="en-US" sz="1600">
                <a:latin typeface="Calibri" panose="020F0502020204030204" charset="0"/>
                <a:ea typeface="宋体" panose="02010600030101010101" pitchFamily="2" charset="-122"/>
                <a:cs typeface="Calibri" panose="020F0502020204030204" charset="0"/>
              </a:rPr>
              <a:t>状态转换图</a:t>
            </a:r>
            <a:endParaRPr lang="zh-CN" altLang="en-US" sz="1600">
              <a:latin typeface="Calibri" panose="020F0502020204030204" charset="0"/>
              <a:ea typeface="宋体" panose="02010600030101010101" pitchFamily="2" charset="-122"/>
              <a:cs typeface="Calibri" panose="020F0502020204030204" charset="0"/>
            </a:endParaRPr>
          </a:p>
        </p:txBody>
      </p:sp>
      <p:sp>
        <p:nvSpPr>
          <p:cNvPr id="9" name="文本框 8"/>
          <p:cNvSpPr txBox="1"/>
          <p:nvPr/>
        </p:nvSpPr>
        <p:spPr>
          <a:xfrm>
            <a:off x="1229360" y="5925185"/>
            <a:ext cx="3286125" cy="337185"/>
          </a:xfrm>
          <a:prstGeom prst="rect">
            <a:avLst/>
          </a:prstGeom>
          <a:noFill/>
        </p:spPr>
        <p:txBody>
          <a:bodyPr wrap="square" rtlCol="0">
            <a:spAutoFit/>
          </a:bodyPr>
          <a:p>
            <a:pPr indent="457200" algn="l">
              <a:buClrTx/>
              <a:buSzTx/>
              <a:buFontTx/>
            </a:pPr>
            <a:r>
              <a:rPr lang="zh-CN" altLang="en-US" sz="1600">
                <a:latin typeface="Calibri" panose="020F0502020204030204" charset="0"/>
                <a:ea typeface="宋体" panose="02010600030101010101" pitchFamily="2" charset="-122"/>
                <a:cs typeface="Calibri" panose="020F0502020204030204" charset="0"/>
              </a:rPr>
              <a:t>时序发生器电路逻辑图</a:t>
            </a:r>
            <a:endParaRPr lang="zh-CN" altLang="en-US" sz="1600">
              <a:latin typeface="Calibri" panose="020F0502020204030204" charset="0"/>
              <a:ea typeface="宋体" panose="02010600030101010101" pitchFamily="2" charset="-122"/>
              <a:cs typeface="Calibri" panose="020F0502020204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p>
            <a:pPr algn="l">
              <a:spcBef>
                <a:spcPts val="1000"/>
              </a:spcBef>
              <a:buClrTx/>
              <a:buSzTx/>
              <a:buFont typeface="Arial" panose="020B0604020202020204" pitchFamily="34" charset="0"/>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二、定长单总线cpu设计</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sp>
        <p:nvSpPr>
          <p:cNvPr id="3" name="文本框 2"/>
          <p:cNvSpPr txBox="1"/>
          <p:nvPr/>
        </p:nvSpPr>
        <p:spPr>
          <a:xfrm>
            <a:off x="3932555" y="1193165"/>
            <a:ext cx="6664960" cy="368300"/>
          </a:xfrm>
          <a:prstGeom prst="rect">
            <a:avLst/>
          </a:prstGeom>
        </p:spPr>
        <p:txBody>
          <a:bodyPr wrap="square">
            <a:spAutoFit/>
          </a:bodyPr>
          <a:p>
            <a:pPr marL="0" algn="l" defTabSz="914400">
              <a:lnSpc>
                <a:spcPct val="100000"/>
              </a:lnSpc>
              <a:buClrTx/>
              <a:buSzTx/>
              <a:buFontTx/>
            </a:pPr>
            <a:r>
              <a:rPr lang="zh-CN" altLang="en-US" sz="1800" b="0">
                <a:latin typeface="Calibri" panose="020F0502020204030204" charset="0"/>
                <a:ea typeface="宋体" panose="02010600030101010101" pitchFamily="2" charset="-122"/>
                <a:cs typeface="Calibri" panose="020F0502020204030204" charset="0"/>
              </a:rPr>
              <a:t>接着根据状态转化图填写状态转化周期的excel表，如下图</a:t>
            </a:r>
            <a:r>
              <a:rPr lang="zh-CN" altLang="en-US" sz="1800" b="0">
                <a:latin typeface="Calibri" panose="020F0502020204030204" charset="0"/>
                <a:ea typeface="宋体" panose="02010600030101010101" pitchFamily="2" charset="-122"/>
                <a:cs typeface="Calibri" panose="020F0502020204030204" charset="0"/>
              </a:rPr>
              <a:t>所示。</a:t>
            </a:r>
            <a:endParaRPr lang="zh-CN" altLang="en-US" sz="1800" b="0">
              <a:latin typeface="Calibri" panose="020F0502020204030204" charset="0"/>
              <a:ea typeface="宋体" panose="02010600030101010101" pitchFamily="2" charset="-122"/>
              <a:cs typeface="Calibri" panose="020F0502020204030204" charset="0"/>
            </a:endParaRPr>
          </a:p>
        </p:txBody>
      </p:sp>
      <p:pic>
        <p:nvPicPr>
          <p:cNvPr id="22" name="图片 12"/>
          <p:cNvPicPr>
            <a:picLocks noChangeAspect="1"/>
          </p:cNvPicPr>
          <p:nvPr/>
        </p:nvPicPr>
        <p:blipFill>
          <a:blip r:embed="rId1"/>
          <a:stretch>
            <a:fillRect/>
          </a:stretch>
        </p:blipFill>
        <p:spPr>
          <a:xfrm>
            <a:off x="4508500" y="1561465"/>
            <a:ext cx="5087620" cy="2559050"/>
          </a:xfrm>
          <a:prstGeom prst="rect">
            <a:avLst/>
          </a:prstGeom>
          <a:noFill/>
          <a:ln>
            <a:solidFill>
              <a:schemeClr val="accent1"/>
            </a:solidFill>
          </a:ln>
        </p:spPr>
      </p:pic>
      <p:sp>
        <p:nvSpPr>
          <p:cNvPr id="4" name="文本框 3"/>
          <p:cNvSpPr txBox="1"/>
          <p:nvPr/>
        </p:nvSpPr>
        <p:spPr>
          <a:xfrm>
            <a:off x="3932555" y="4146550"/>
            <a:ext cx="6664325" cy="645160"/>
          </a:xfrm>
          <a:prstGeom prst="rect">
            <a:avLst/>
          </a:prstGeom>
          <a:noFill/>
        </p:spPr>
        <p:txBody>
          <a:bodyPr wrap="square" rtlCol="0">
            <a:spAutoFit/>
          </a:bodyPr>
          <a:p>
            <a:pPr indent="457200"/>
            <a:r>
              <a:rPr lang="zh-CN" altLang="en-US">
                <a:latin typeface="Calibri" panose="020F0502020204030204" charset="0"/>
                <a:ea typeface="宋体" panose="02010600030101010101" pitchFamily="2" charset="-122"/>
                <a:cs typeface="Calibri" panose="020F0502020204030204" charset="0"/>
              </a:rPr>
              <a:t>随后根据excel表自动生成的逻辑表达式自动生成电路，如右图所示，头歌测试结果如下图</a:t>
            </a:r>
            <a:r>
              <a:rPr lang="zh-CN" altLang="en-US">
                <a:latin typeface="Calibri" panose="020F0502020204030204" charset="0"/>
                <a:ea typeface="宋体" panose="02010600030101010101" pitchFamily="2" charset="-122"/>
                <a:cs typeface="Calibri" panose="020F0502020204030204" charset="0"/>
              </a:rPr>
              <a:t>所示。</a:t>
            </a:r>
            <a:endParaRPr lang="zh-CN" altLang="en-US"/>
          </a:p>
        </p:txBody>
      </p:sp>
      <p:pic>
        <p:nvPicPr>
          <p:cNvPr id="29" name="图片 19"/>
          <p:cNvPicPr>
            <a:picLocks noChangeAspect="1"/>
          </p:cNvPicPr>
          <p:nvPr/>
        </p:nvPicPr>
        <p:blipFill>
          <a:blip r:embed="rId2"/>
          <a:stretch>
            <a:fillRect/>
          </a:stretch>
        </p:blipFill>
        <p:spPr>
          <a:xfrm>
            <a:off x="1162685" y="1193165"/>
            <a:ext cx="2672715" cy="5417820"/>
          </a:xfrm>
          <a:prstGeom prst="rect">
            <a:avLst/>
          </a:prstGeom>
          <a:noFill/>
          <a:ln>
            <a:solidFill>
              <a:schemeClr val="accent2"/>
            </a:solidFill>
          </a:ln>
        </p:spPr>
      </p:pic>
      <p:pic>
        <p:nvPicPr>
          <p:cNvPr id="5" name="图片 3"/>
          <p:cNvPicPr>
            <a:picLocks noChangeAspect="1"/>
          </p:cNvPicPr>
          <p:nvPr/>
        </p:nvPicPr>
        <p:blipFill>
          <a:blip r:embed="rId3"/>
          <a:srcRect t="30862"/>
          <a:stretch>
            <a:fillRect/>
          </a:stretch>
        </p:blipFill>
        <p:spPr>
          <a:xfrm>
            <a:off x="4506595" y="4817110"/>
            <a:ext cx="5089525" cy="1675765"/>
          </a:xfrm>
          <a:prstGeom prst="rect">
            <a:avLst/>
          </a:prstGeom>
          <a:noFill/>
          <a:ln>
            <a:solidFill>
              <a:schemeClr val="accent1"/>
            </a:solidFill>
          </a:ln>
        </p:spPr>
      </p:pic>
      <p:sp>
        <p:nvSpPr>
          <p:cNvPr id="6" name="文本框 5"/>
          <p:cNvSpPr txBox="1"/>
          <p:nvPr/>
        </p:nvSpPr>
        <p:spPr>
          <a:xfrm>
            <a:off x="739775" y="2355850"/>
            <a:ext cx="325120" cy="2461260"/>
          </a:xfrm>
          <a:prstGeom prst="rect">
            <a:avLst/>
          </a:prstGeom>
          <a:noFill/>
        </p:spPr>
        <p:txBody>
          <a:bodyPr wrap="square" rtlCol="0">
            <a:spAutoFit/>
          </a:bodyPr>
          <a:p>
            <a:r>
              <a:rPr lang="zh-CN" altLang="en-US" sz="1400">
                <a:latin typeface="宋体" panose="02010600030101010101" pitchFamily="2" charset="-122"/>
                <a:ea typeface="宋体" panose="02010600030101010101" pitchFamily="2" charset="-122"/>
              </a:rPr>
              <a:t>时序发生器状态机电路图</a:t>
            </a:r>
            <a:endParaRPr lang="zh-CN" altLang="en-US" sz="1400">
              <a:latin typeface="宋体" panose="02010600030101010101" pitchFamily="2" charset="-122"/>
              <a:ea typeface="宋体" panose="02010600030101010101" pitchFamily="2" charset="-122"/>
            </a:endParaRPr>
          </a:p>
        </p:txBody>
      </p:sp>
      <p:sp>
        <p:nvSpPr>
          <p:cNvPr id="7" name="文本框 6"/>
          <p:cNvSpPr txBox="1"/>
          <p:nvPr/>
        </p:nvSpPr>
        <p:spPr>
          <a:xfrm>
            <a:off x="9596120" y="1838325"/>
            <a:ext cx="325120" cy="2004695"/>
          </a:xfrm>
          <a:prstGeom prst="rect">
            <a:avLst/>
          </a:prstGeom>
          <a:noFill/>
        </p:spPr>
        <p:txBody>
          <a:bodyPr wrap="square" rtlCol="0">
            <a:noAutofit/>
          </a:bodyPr>
          <a:p>
            <a:r>
              <a:rPr lang="zh-CN" altLang="en-US" sz="1400">
                <a:latin typeface="宋体" panose="02010600030101010101" pitchFamily="2" charset="-122"/>
                <a:ea typeface="宋体" panose="02010600030101010101" pitchFamily="2" charset="-122"/>
              </a:rPr>
              <a:t>定长指令周期</a:t>
            </a:r>
            <a:r>
              <a:rPr lang="zh-CN" altLang="en-US" sz="1400">
                <a:latin typeface="宋体" panose="02010600030101010101" pitchFamily="2" charset="-122"/>
                <a:ea typeface="宋体" panose="02010600030101010101" pitchFamily="2" charset="-122"/>
              </a:rPr>
              <a:t>转化表</a:t>
            </a:r>
            <a:endParaRPr lang="zh-CN" altLang="en-US" sz="1400">
              <a:latin typeface="宋体" panose="02010600030101010101" pitchFamily="2" charset="-122"/>
              <a:ea typeface="宋体" panose="02010600030101010101" pitchFamily="2" charset="-122"/>
            </a:endParaRPr>
          </a:p>
        </p:txBody>
      </p:sp>
      <p:sp>
        <p:nvSpPr>
          <p:cNvPr id="9" name="文本框 8"/>
          <p:cNvSpPr txBox="1"/>
          <p:nvPr/>
        </p:nvSpPr>
        <p:spPr>
          <a:xfrm>
            <a:off x="4506595" y="6492875"/>
            <a:ext cx="5088255"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rPr>
              <a:t>头歌测试结果图</a:t>
            </a:r>
            <a:endParaRPr lang="zh-CN" altLang="en-US" sz="1400">
              <a:latin typeface="宋体" panose="02010600030101010101" pitchFamily="2" charset="-122"/>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p>
            <a:pPr algn="l">
              <a:spcBef>
                <a:spcPts val="1000"/>
              </a:spcBef>
              <a:buClrTx/>
              <a:buSzTx/>
              <a:buFont typeface="Arial" panose="020B0604020202020204" pitchFamily="34" charset="0"/>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二、定长单总线cpu设计</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sp>
        <p:nvSpPr>
          <p:cNvPr id="3" name="文本框 2"/>
          <p:cNvSpPr txBox="1"/>
          <p:nvPr/>
        </p:nvSpPr>
        <p:spPr>
          <a:xfrm>
            <a:off x="1064895" y="1215390"/>
            <a:ext cx="9952355" cy="1599565"/>
          </a:xfrm>
          <a:prstGeom prst="rect">
            <a:avLst/>
          </a:prstGeom>
          <a:noFill/>
        </p:spPr>
        <p:txBody>
          <a:bodyPr wrap="square" rtlCol="0">
            <a:spAutoFit/>
          </a:bodyPr>
          <a:p>
            <a:r>
              <a:rPr lang="en-US" altLang="zh-CN" sz="2400" b="1">
                <a:latin typeface="Calibri" panose="020F0502020204030204" charset="0"/>
                <a:ea typeface="宋体" panose="02010600030101010101" pitchFamily="2" charset="-122"/>
                <a:cs typeface="Calibri" panose="020F0502020204030204" charset="0"/>
              </a:rPr>
              <a:t>3</a:t>
            </a:r>
            <a:r>
              <a:rPr lang="zh-CN" altLang="en-US" sz="2400" b="1">
                <a:latin typeface="Calibri" panose="020F0502020204030204" charset="0"/>
                <a:ea typeface="宋体" panose="02010600030101010101" pitchFamily="2" charset="-122"/>
                <a:cs typeface="Calibri" panose="020F0502020204030204" charset="0"/>
              </a:rPr>
              <a:t>、输出函数逻辑电路设计</a:t>
            </a:r>
            <a:endParaRPr lang="zh-CN" altLang="en-US" sz="2400" b="1">
              <a:latin typeface="Calibri" panose="020F0502020204030204" charset="0"/>
              <a:ea typeface="宋体" panose="02010600030101010101" pitchFamily="2" charset="-122"/>
              <a:cs typeface="Calibri" panose="020F0502020204030204" charset="0"/>
            </a:endParaRPr>
          </a:p>
          <a:p>
            <a:endParaRPr lang="zh-CN" altLang="en-US" sz="1000" b="1">
              <a:latin typeface="Calibri" panose="020F0502020204030204" charset="0"/>
              <a:ea typeface="宋体" panose="02010600030101010101" pitchFamily="2" charset="-122"/>
              <a:cs typeface="Calibri" panose="020F0502020204030204" charset="0"/>
            </a:endParaRPr>
          </a:p>
          <a:p>
            <a:pPr indent="457200"/>
            <a:r>
              <a:rPr lang="zh-CN" altLang="en-US" b="1">
                <a:latin typeface="Calibri" panose="020F0502020204030204" charset="0"/>
                <a:ea typeface="宋体" panose="02010600030101010101" pitchFamily="2" charset="-122"/>
                <a:cs typeface="Calibri" panose="020F0502020204030204" charset="0"/>
              </a:rPr>
              <a:t>输出函数</a:t>
            </a:r>
            <a:r>
              <a:rPr lang="zh-CN" altLang="en-US" b="1">
                <a:latin typeface="Calibri" panose="020F0502020204030204" charset="0"/>
                <a:ea typeface="宋体" panose="02010600030101010101" pitchFamily="2" charset="-122"/>
                <a:cs typeface="Calibri" panose="020F0502020204030204" charset="0"/>
              </a:rPr>
              <a:t>逻辑电路功能与</a:t>
            </a:r>
            <a:r>
              <a:rPr lang="zh-CN" altLang="en-US" b="1">
                <a:latin typeface="Calibri" panose="020F0502020204030204" charset="0"/>
                <a:ea typeface="宋体" panose="02010600030101010101" pitchFamily="2" charset="-122"/>
                <a:cs typeface="Calibri" panose="020F0502020204030204" charset="0"/>
              </a:rPr>
              <a:t>设计目标：</a:t>
            </a:r>
            <a:endParaRPr lang="zh-CN" altLang="en-US" b="1">
              <a:latin typeface="Calibri" panose="020F0502020204030204" charset="0"/>
              <a:ea typeface="宋体" panose="02010600030101010101" pitchFamily="2" charset="-122"/>
              <a:cs typeface="Calibri" panose="020F0502020204030204" charset="0"/>
            </a:endParaRPr>
          </a:p>
          <a:p>
            <a:pPr marL="457200" lvl="1" indent="457200"/>
            <a:r>
              <a:rPr lang="en-US" altLang="zh-CN">
                <a:latin typeface="Calibri" panose="020F0502020204030204" charset="0"/>
                <a:ea typeface="宋体" panose="02010600030101010101" pitchFamily="2" charset="-122"/>
                <a:cs typeface="Calibri" panose="020F0502020204030204" charset="0"/>
              </a:rPr>
              <a:t>1</a:t>
            </a:r>
            <a:r>
              <a:rPr lang="zh-CN" altLang="en-US">
                <a:latin typeface="Calibri" panose="020F0502020204030204" charset="0"/>
                <a:ea typeface="宋体" panose="02010600030101010101" pitchFamily="2" charset="-122"/>
                <a:cs typeface="Calibri" panose="020F0502020204030204" charset="0"/>
              </a:rPr>
              <a:t>：深入理解三级时序系统输出函数的原理。</a:t>
            </a:r>
            <a:endParaRPr lang="zh-CN" altLang="en-US">
              <a:latin typeface="Calibri" panose="020F0502020204030204" charset="0"/>
              <a:ea typeface="宋体" panose="02010600030101010101" pitchFamily="2" charset="-122"/>
              <a:cs typeface="Calibri" panose="020F0502020204030204" charset="0"/>
            </a:endParaRPr>
          </a:p>
          <a:p>
            <a:pPr indent="457200"/>
            <a:endParaRPr lang="zh-CN" altLang="en-US" sz="1000">
              <a:latin typeface="Calibri" panose="020F0502020204030204" charset="0"/>
              <a:ea typeface="宋体" panose="02010600030101010101" pitchFamily="2" charset="-122"/>
              <a:cs typeface="Calibri" panose="020F0502020204030204" charset="0"/>
            </a:endParaRPr>
          </a:p>
          <a:p>
            <a:pPr marL="457200" lvl="1" indent="457200"/>
            <a:r>
              <a:rPr lang="en-US" altLang="zh-CN">
                <a:latin typeface="Calibri" panose="020F0502020204030204" charset="0"/>
                <a:ea typeface="宋体" panose="02010600030101010101" pitchFamily="2" charset="-122"/>
                <a:cs typeface="Calibri" panose="020F0502020204030204" charset="0"/>
              </a:rPr>
              <a:t>2</a:t>
            </a:r>
            <a:r>
              <a:rPr lang="zh-CN" altLang="en-US">
                <a:latin typeface="Calibri" panose="020F0502020204030204" charset="0"/>
                <a:ea typeface="宋体" panose="02010600030101010101" pitchFamily="2" charset="-122"/>
                <a:cs typeface="Calibri" panose="020F0502020204030204" charset="0"/>
              </a:rPr>
              <a:t>：设计</a:t>
            </a:r>
            <a:r>
              <a:rPr lang="zh-CN" altLang="en-US">
                <a:latin typeface="Calibri" panose="020F0502020204030204" charset="0"/>
                <a:ea typeface="宋体" panose="02010600030101010101" pitchFamily="2" charset="-122"/>
                <a:cs typeface="Calibri" panose="020F0502020204030204" charset="0"/>
              </a:rPr>
              <a:t>电路实现精准的定长指令周期控制信号生成。</a:t>
            </a:r>
            <a:endParaRPr lang="zh-CN" altLang="en-US">
              <a:latin typeface="Calibri" panose="020F0502020204030204" charset="0"/>
              <a:ea typeface="宋体" panose="02010600030101010101" pitchFamily="2" charset="-122"/>
              <a:cs typeface="Calibri" panose="020F0502020204030204" charset="0"/>
            </a:endParaRPr>
          </a:p>
        </p:txBody>
      </p:sp>
      <p:sp>
        <p:nvSpPr>
          <p:cNvPr id="4" name="文本框 3"/>
          <p:cNvSpPr txBox="1"/>
          <p:nvPr>
            <p:custDataLst>
              <p:tags r:id="rId1"/>
            </p:custDataLst>
          </p:nvPr>
        </p:nvSpPr>
        <p:spPr>
          <a:xfrm>
            <a:off x="5937250" y="2965768"/>
            <a:ext cx="5080000" cy="1014730"/>
          </a:xfrm>
          <a:prstGeom prst="rect">
            <a:avLst/>
          </a:prstGeom>
        </p:spPr>
        <p:txBody>
          <a:bodyPr>
            <a:spAutoFit/>
          </a:bodyPr>
          <a:p>
            <a:pPr marL="0" indent="266700" algn="l" defTabSz="266700">
              <a:lnSpc>
                <a:spcPct val="125000"/>
              </a:lnSpc>
              <a:spcBef>
                <a:spcPct val="0"/>
              </a:spcBef>
              <a:spcAft>
                <a:spcPct val="0"/>
              </a:spcAft>
            </a:pPr>
            <a:r>
              <a:rPr lang="zh-CN" altLang="en-US" sz="1600" b="1">
                <a:solidFill>
                  <a:srgbClr val="000000"/>
                </a:solidFill>
                <a:latin typeface="Calibri" panose="020F0502020204030204" charset="0"/>
                <a:ea typeface="宋体" panose="02010600030101010101" pitchFamily="2" charset="-122"/>
              </a:rPr>
              <a:t>工作原理</a:t>
            </a:r>
            <a:r>
              <a:rPr lang="zh-CN" altLang="en-US" sz="1600" b="0">
                <a:solidFill>
                  <a:srgbClr val="000000"/>
                </a:solidFill>
                <a:latin typeface="Calibri" panose="020F0502020204030204" charset="0"/>
                <a:ea typeface="宋体" panose="02010600030101010101" pitchFamily="2" charset="-122"/>
              </a:rPr>
              <a:t>：输出函数以当前状态为输入，通过组合逻辑电路输出状态周期和节拍周期信号，驱动</a:t>
            </a:r>
            <a:r>
              <a:rPr lang="en-US" altLang="zh-CN" sz="1600" b="0">
                <a:solidFill>
                  <a:srgbClr val="000000"/>
                </a:solidFill>
                <a:latin typeface="Calibri" panose="020F0502020204030204" charset="0"/>
                <a:ea typeface="宋体" panose="02010600030101010101" pitchFamily="2" charset="-122"/>
              </a:rPr>
              <a:t>CPU</a:t>
            </a:r>
            <a:r>
              <a:rPr lang="zh-CN" altLang="en-US" sz="1600" b="0">
                <a:solidFill>
                  <a:srgbClr val="000000"/>
                </a:solidFill>
                <a:latin typeface="Calibri" panose="020F0502020204030204" charset="0"/>
                <a:ea typeface="宋体" panose="02010600030101010101" pitchFamily="2" charset="-122"/>
              </a:rPr>
              <a:t>内部各模块的工作。如左图</a:t>
            </a:r>
            <a:r>
              <a:rPr lang="zh-CN" altLang="en-US" sz="1600" b="0">
                <a:solidFill>
                  <a:srgbClr val="000000"/>
                </a:solidFill>
                <a:latin typeface="Calibri" panose="020F0502020204030204" charset="0"/>
                <a:ea typeface="宋体" panose="02010600030101010101" pitchFamily="2" charset="-122"/>
              </a:rPr>
              <a:t>所示。</a:t>
            </a:r>
            <a:endParaRPr lang="zh-CN" altLang="en-US" sz="1600" b="0">
              <a:solidFill>
                <a:srgbClr val="000000"/>
              </a:solidFill>
              <a:latin typeface="Calibri" panose="020F0502020204030204" charset="0"/>
              <a:ea typeface="宋体" panose="02010600030101010101" pitchFamily="2" charset="-122"/>
            </a:endParaRPr>
          </a:p>
        </p:txBody>
      </p:sp>
      <p:pic>
        <p:nvPicPr>
          <p:cNvPr id="10" name="图片 4" descr="IMG_256"/>
          <p:cNvPicPr>
            <a:picLocks noChangeAspect="1"/>
          </p:cNvPicPr>
          <p:nvPr>
            <p:custDataLst>
              <p:tags r:id="rId2"/>
            </p:custDataLst>
          </p:nvPr>
        </p:nvPicPr>
        <p:blipFill>
          <a:blip r:embed="rId3"/>
          <a:stretch>
            <a:fillRect/>
          </a:stretch>
        </p:blipFill>
        <p:spPr>
          <a:xfrm>
            <a:off x="848360" y="2901315"/>
            <a:ext cx="4905375" cy="1767840"/>
          </a:xfrm>
          <a:prstGeom prst="rect">
            <a:avLst/>
          </a:prstGeom>
          <a:noFill/>
          <a:ln w="9525">
            <a:solidFill>
              <a:schemeClr val="accent2"/>
            </a:solidFill>
          </a:ln>
        </p:spPr>
      </p:pic>
      <p:pic>
        <p:nvPicPr>
          <p:cNvPr id="28" name="图片 18"/>
          <p:cNvPicPr>
            <a:picLocks noChangeAspect="1"/>
          </p:cNvPicPr>
          <p:nvPr>
            <p:custDataLst>
              <p:tags r:id="rId4"/>
            </p:custDataLst>
          </p:nvPr>
        </p:nvPicPr>
        <p:blipFill>
          <a:blip r:embed="rId5"/>
          <a:stretch>
            <a:fillRect/>
          </a:stretch>
        </p:blipFill>
        <p:spPr>
          <a:xfrm>
            <a:off x="5937250" y="4669155"/>
            <a:ext cx="5079365" cy="1814195"/>
          </a:xfrm>
          <a:prstGeom prst="rect">
            <a:avLst/>
          </a:prstGeom>
          <a:noFill/>
          <a:ln>
            <a:solidFill>
              <a:schemeClr val="accent1"/>
            </a:solidFill>
          </a:ln>
        </p:spPr>
      </p:pic>
      <p:sp>
        <p:nvSpPr>
          <p:cNvPr id="5" name="文本框 4"/>
          <p:cNvSpPr txBox="1"/>
          <p:nvPr>
            <p:custDataLst>
              <p:tags r:id="rId6"/>
            </p:custDataLst>
          </p:nvPr>
        </p:nvSpPr>
        <p:spPr>
          <a:xfrm>
            <a:off x="965200" y="4819650"/>
            <a:ext cx="4671060" cy="1938020"/>
          </a:xfrm>
          <a:prstGeom prst="rect">
            <a:avLst/>
          </a:prstGeom>
          <a:noFill/>
        </p:spPr>
        <p:txBody>
          <a:bodyPr wrap="square" rtlCol="0">
            <a:spAutoFit/>
          </a:bodyPr>
          <a:p>
            <a:pPr indent="266700" algn="l" defTabSz="266700">
              <a:lnSpc>
                <a:spcPct val="125000"/>
              </a:lnSpc>
              <a:buClrTx/>
              <a:buSzTx/>
              <a:buFontTx/>
            </a:pPr>
            <a:r>
              <a:rPr lang="zh-CN" altLang="en-US" sz="1600" b="0">
                <a:solidFill>
                  <a:srgbClr val="000000"/>
                </a:solidFill>
                <a:latin typeface="Calibri" panose="020F0502020204030204" charset="0"/>
                <a:ea typeface="宋体" panose="02010600030101010101" pitchFamily="2" charset="-122"/>
                <a:cs typeface="Calibri" panose="020F0502020204030204" charset="0"/>
              </a:rPr>
              <a:t>根据三级时序状态转换图完成表格的填写。状态机包括三个主要阶段：取指周期（S0 - S3）、计算周期（S4 - S7）与执行周期（S8 - S11）。每个状态对应不同的控制信号组合，如Mif、Mcal、Mex等，配合时序信号T1 - T4共同驱动指令周期的完成。填写表格如图所示。</a:t>
            </a:r>
            <a:endParaRPr lang="zh-CN" altLang="en-US" sz="1600">
              <a:solidFill>
                <a:srgbClr val="000000"/>
              </a:solidFill>
              <a:latin typeface="Calibri" panose="020F0502020204030204" charset="0"/>
              <a:ea typeface="宋体" panose="02010600030101010101" pitchFamily="2" charset="-122"/>
              <a:cs typeface="Calibri" panose="020F0502020204030204" charset="0"/>
            </a:endParaRPr>
          </a:p>
        </p:txBody>
      </p:sp>
      <p:sp>
        <p:nvSpPr>
          <p:cNvPr id="6" name="文本框 5"/>
          <p:cNvSpPr txBox="1"/>
          <p:nvPr/>
        </p:nvSpPr>
        <p:spPr>
          <a:xfrm>
            <a:off x="491490" y="2574290"/>
            <a:ext cx="274320" cy="2245360"/>
          </a:xfrm>
          <a:prstGeom prst="rect">
            <a:avLst/>
          </a:prstGeom>
          <a:noFill/>
        </p:spPr>
        <p:txBody>
          <a:bodyPr wrap="square" rtlCol="0">
            <a:spAutoFit/>
          </a:bodyPr>
          <a:p>
            <a:r>
              <a:rPr lang="en-US" altLang="zh-CN" sz="1400">
                <a:latin typeface="宋体" panose="02010600030101010101" pitchFamily="2" charset="-122"/>
                <a:ea typeface="宋体" panose="02010600030101010101" pitchFamily="2" charset="-122"/>
                <a:cs typeface="宋体" panose="02010600030101010101" pitchFamily="2" charset="-122"/>
              </a:rPr>
              <a:t> </a:t>
            </a:r>
            <a:r>
              <a:rPr lang="zh-CN" altLang="en-US" sz="1400">
                <a:latin typeface="宋体" panose="02010600030101010101" pitchFamily="2" charset="-122"/>
                <a:ea typeface="宋体" panose="02010600030101010101" pitchFamily="2" charset="-122"/>
                <a:cs typeface="宋体" panose="02010600030101010101" pitchFamily="2" charset="-122"/>
              </a:rPr>
              <a:t>三级时序状态转换图</a:t>
            </a:r>
            <a:endParaRPr lang="zh-CN" altLang="en-US" sz="1400">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p:cNvSpPr txBox="1"/>
          <p:nvPr/>
        </p:nvSpPr>
        <p:spPr>
          <a:xfrm>
            <a:off x="5936615" y="6483350"/>
            <a:ext cx="5079365"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rPr>
              <a:t>输出函数表</a:t>
            </a:r>
            <a:endParaRPr lang="zh-CN" altLang="en-US" sz="1400">
              <a:latin typeface="宋体" panose="02010600030101010101" pitchFamily="2" charset="-122"/>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p>
            <a:pPr algn="l">
              <a:spcBef>
                <a:spcPts val="1000"/>
              </a:spcBef>
              <a:buClrTx/>
              <a:buSzTx/>
              <a:buFont typeface="Arial" panose="020B0604020202020204" pitchFamily="34" charset="0"/>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二、定长单总线cpu设计</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sp>
        <p:nvSpPr>
          <p:cNvPr id="3" name="文本框 2"/>
          <p:cNvSpPr txBox="1"/>
          <p:nvPr/>
        </p:nvSpPr>
        <p:spPr>
          <a:xfrm>
            <a:off x="4478020" y="1642110"/>
            <a:ext cx="5905500" cy="829945"/>
          </a:xfrm>
          <a:prstGeom prst="rect">
            <a:avLst/>
          </a:prstGeom>
          <a:noFill/>
        </p:spPr>
        <p:txBody>
          <a:bodyPr wrap="square" rtlCol="0">
            <a:spAutoFit/>
          </a:bodyPr>
          <a:p>
            <a:pPr indent="457200" algn="l">
              <a:buClrTx/>
              <a:buSzTx/>
              <a:buFontTx/>
            </a:pPr>
            <a:r>
              <a:rPr lang="zh-CN" altLang="en-US" sz="1600">
                <a:solidFill>
                  <a:srgbClr val="000000"/>
                </a:solidFill>
                <a:latin typeface="宋体" panose="02010600030101010101" pitchFamily="2" charset="-122"/>
                <a:ea typeface="宋体" panose="02010600030101010101" pitchFamily="2" charset="-122"/>
              </a:rPr>
              <a:t>根据输出函数生成的</a:t>
            </a:r>
            <a:r>
              <a:rPr lang="zh-CN" altLang="en-US" sz="1600">
                <a:solidFill>
                  <a:srgbClr val="000000"/>
                </a:solidFill>
                <a:latin typeface="宋体" panose="02010600030101010101" pitchFamily="2" charset="-122"/>
                <a:ea typeface="宋体" panose="02010600030101010101" pitchFamily="2" charset="-122"/>
                <a:sym typeface="+mn-ea"/>
              </a:rPr>
              <a:t>每个控制信号的</a:t>
            </a:r>
            <a:r>
              <a:rPr lang="zh-CN" altLang="en-US" sz="1600">
                <a:solidFill>
                  <a:srgbClr val="000000"/>
                </a:solidFill>
                <a:latin typeface="宋体" panose="02010600030101010101" pitchFamily="2" charset="-122"/>
                <a:ea typeface="宋体" panose="02010600030101010101" pitchFamily="2" charset="-122"/>
              </a:rPr>
              <a:t>逻辑表达式，利用</a:t>
            </a:r>
            <a:r>
              <a:rPr lang="en-US" altLang="zh-CN" sz="1600">
                <a:solidFill>
                  <a:srgbClr val="000000"/>
                </a:solidFill>
                <a:latin typeface="宋体" panose="02010600030101010101" pitchFamily="2" charset="-122"/>
                <a:ea typeface="宋体" panose="02010600030101010101" pitchFamily="2" charset="-122"/>
              </a:rPr>
              <a:t>logisim</a:t>
            </a:r>
            <a:r>
              <a:rPr lang="zh-CN" altLang="en-US" sz="1600">
                <a:solidFill>
                  <a:srgbClr val="000000"/>
                </a:solidFill>
                <a:latin typeface="宋体" panose="02010600030101010101" pitchFamily="2" charset="-122"/>
                <a:ea typeface="宋体" panose="02010600030101010101" pitchFamily="2" charset="-122"/>
              </a:rPr>
              <a:t>自动生成实验电路，如左图所示。每个函数均以当前状态（</a:t>
            </a:r>
            <a:r>
              <a:rPr lang="en-US" altLang="zh-CN" sz="1600">
                <a:solidFill>
                  <a:srgbClr val="000000"/>
                </a:solidFill>
                <a:latin typeface="宋体" panose="02010600030101010101" pitchFamily="2" charset="-122"/>
                <a:ea typeface="宋体" panose="02010600030101010101" pitchFamily="2" charset="-122"/>
              </a:rPr>
              <a:t>S3-S0</a:t>
            </a:r>
            <a:r>
              <a:rPr lang="zh-CN" altLang="en-US" sz="1600">
                <a:solidFill>
                  <a:srgbClr val="000000"/>
                </a:solidFill>
                <a:latin typeface="宋体" panose="02010600030101010101" pitchFamily="2" charset="-122"/>
                <a:ea typeface="宋体" panose="02010600030101010101" pitchFamily="2" charset="-122"/>
              </a:rPr>
              <a:t>）作为输入</a:t>
            </a:r>
            <a:r>
              <a:rPr lang="zh-CN" altLang="en-US" sz="1600">
                <a:solidFill>
                  <a:srgbClr val="000000"/>
                </a:solidFill>
                <a:latin typeface="宋体" panose="02010600030101010101" pitchFamily="2" charset="-122"/>
                <a:ea typeface="宋体" panose="02010600030101010101" pitchFamily="2" charset="-122"/>
              </a:rPr>
              <a:t>，实现了对控制信号的精确输出。</a:t>
            </a:r>
            <a:endParaRPr lang="zh-CN" altLang="en-US" sz="1600">
              <a:solidFill>
                <a:srgbClr val="000000"/>
              </a:solidFill>
              <a:latin typeface="宋体" panose="02010600030101010101" pitchFamily="2" charset="-122"/>
              <a:ea typeface="宋体" panose="02010600030101010101" pitchFamily="2" charset="-122"/>
            </a:endParaRPr>
          </a:p>
        </p:txBody>
      </p:sp>
      <p:pic>
        <p:nvPicPr>
          <p:cNvPr id="31" name="图片 21"/>
          <p:cNvPicPr>
            <a:picLocks noChangeAspect="1"/>
          </p:cNvPicPr>
          <p:nvPr/>
        </p:nvPicPr>
        <p:blipFill>
          <a:blip r:embed="rId1"/>
          <a:stretch>
            <a:fillRect/>
          </a:stretch>
        </p:blipFill>
        <p:spPr>
          <a:xfrm>
            <a:off x="1064895" y="1193800"/>
            <a:ext cx="3170555" cy="5339715"/>
          </a:xfrm>
          <a:prstGeom prst="rect">
            <a:avLst/>
          </a:prstGeom>
          <a:noFill/>
          <a:ln>
            <a:solidFill>
              <a:schemeClr val="accent2"/>
            </a:solidFill>
          </a:ln>
        </p:spPr>
      </p:pic>
      <p:pic>
        <p:nvPicPr>
          <p:cNvPr id="36" name="图片 26"/>
          <p:cNvPicPr>
            <a:picLocks noChangeAspect="1"/>
          </p:cNvPicPr>
          <p:nvPr/>
        </p:nvPicPr>
        <p:blipFill>
          <a:blip r:embed="rId2"/>
          <a:stretch>
            <a:fillRect/>
          </a:stretch>
        </p:blipFill>
        <p:spPr>
          <a:xfrm>
            <a:off x="4443095" y="2788920"/>
            <a:ext cx="5940425" cy="2149475"/>
          </a:xfrm>
          <a:prstGeom prst="rect">
            <a:avLst/>
          </a:prstGeom>
          <a:noFill/>
          <a:ln>
            <a:solidFill>
              <a:schemeClr val="accent1"/>
            </a:solidFill>
          </a:ln>
        </p:spPr>
      </p:pic>
      <p:sp>
        <p:nvSpPr>
          <p:cNvPr id="4" name="文本框 3"/>
          <p:cNvSpPr txBox="1"/>
          <p:nvPr/>
        </p:nvSpPr>
        <p:spPr>
          <a:xfrm>
            <a:off x="4373245" y="5125720"/>
            <a:ext cx="5905500" cy="829945"/>
          </a:xfrm>
          <a:prstGeom prst="rect">
            <a:avLst/>
          </a:prstGeom>
          <a:noFill/>
        </p:spPr>
        <p:txBody>
          <a:bodyPr wrap="square" rtlCol="0">
            <a:spAutoFit/>
          </a:bodyPr>
          <a:p>
            <a:pPr indent="457200" algn="l">
              <a:buClrTx/>
              <a:buSzTx/>
              <a:buFontTx/>
            </a:pPr>
            <a:r>
              <a:rPr lang="zh-CN" altLang="en-US" sz="1600">
                <a:solidFill>
                  <a:srgbClr val="000000"/>
                </a:solidFill>
                <a:latin typeface="宋体" panose="02010600030101010101" pitchFamily="2" charset="-122"/>
                <a:ea typeface="宋体" panose="02010600030101010101" pitchFamily="2" charset="-122"/>
              </a:rPr>
              <a:t>在头歌平台的仿真测试中，以测试样例</a:t>
            </a:r>
            <a:r>
              <a:rPr lang="en-US" altLang="zh-CN" sz="1600">
                <a:solidFill>
                  <a:srgbClr val="000000"/>
                </a:solidFill>
                <a:latin typeface="宋体" panose="02010600030101010101" pitchFamily="2" charset="-122"/>
                <a:ea typeface="宋体" panose="02010600030101010101" pitchFamily="2" charset="-122"/>
              </a:rPr>
              <a:t>Cnt=03</a:t>
            </a:r>
            <a:r>
              <a:rPr lang="zh-CN" altLang="en-US" sz="1600">
                <a:solidFill>
                  <a:srgbClr val="000000"/>
                </a:solidFill>
                <a:latin typeface="宋体" panose="02010600030101010101" pitchFamily="2" charset="-122"/>
                <a:ea typeface="宋体" panose="02010600030101010101" pitchFamily="2" charset="-122"/>
              </a:rPr>
              <a:t>为例，我们能看到</a:t>
            </a:r>
            <a:r>
              <a:rPr lang="en-US" altLang="zh-CN" sz="1600">
                <a:solidFill>
                  <a:srgbClr val="000000"/>
                </a:solidFill>
                <a:latin typeface="宋体" panose="02010600030101010101" pitchFamily="2" charset="-122"/>
                <a:ea typeface="宋体" panose="02010600030101010101" pitchFamily="2" charset="-122"/>
              </a:rPr>
              <a:t>Mif</a:t>
            </a:r>
            <a:r>
              <a:rPr lang="zh-CN" altLang="en-US" sz="1600">
                <a:solidFill>
                  <a:srgbClr val="000000"/>
                </a:solidFill>
                <a:latin typeface="宋体" panose="02010600030101010101" pitchFamily="2" charset="-122"/>
                <a:ea typeface="宋体" panose="02010600030101010101" pitchFamily="2" charset="-122"/>
              </a:rPr>
              <a:t>与</a:t>
            </a:r>
            <a:r>
              <a:rPr lang="en-US" altLang="zh-CN" sz="1600">
                <a:solidFill>
                  <a:srgbClr val="000000"/>
                </a:solidFill>
                <a:latin typeface="宋体" panose="02010600030101010101" pitchFamily="2" charset="-122"/>
                <a:ea typeface="宋体" panose="02010600030101010101" pitchFamily="2" charset="-122"/>
              </a:rPr>
              <a:t>T4</a:t>
            </a:r>
            <a:r>
              <a:rPr lang="zh-CN" altLang="en-US" sz="1600">
                <a:solidFill>
                  <a:srgbClr val="000000"/>
                </a:solidFill>
                <a:latin typeface="宋体" panose="02010600030101010101" pitchFamily="2" charset="-122"/>
                <a:ea typeface="宋体" panose="02010600030101010101" pitchFamily="2" charset="-122"/>
              </a:rPr>
              <a:t>信号被正确激活，而其他信号保持为</a:t>
            </a:r>
            <a:r>
              <a:rPr lang="en-US" altLang="zh-CN" sz="1600">
                <a:solidFill>
                  <a:srgbClr val="000000"/>
                </a:solidFill>
                <a:latin typeface="宋体" panose="02010600030101010101" pitchFamily="2" charset="-122"/>
                <a:ea typeface="宋体" panose="02010600030101010101" pitchFamily="2" charset="-122"/>
              </a:rPr>
              <a:t>0</a:t>
            </a:r>
            <a:r>
              <a:rPr lang="zh-CN" altLang="en-US" sz="1600">
                <a:solidFill>
                  <a:srgbClr val="000000"/>
                </a:solidFill>
                <a:latin typeface="宋体" panose="02010600030101010101" pitchFamily="2" charset="-122"/>
                <a:ea typeface="宋体" panose="02010600030101010101" pitchFamily="2" charset="-122"/>
              </a:rPr>
              <a:t>，符合设计的预期目标。</a:t>
            </a:r>
            <a:endParaRPr lang="zh-CN" altLang="en-US" sz="1600">
              <a:solidFill>
                <a:srgbClr val="000000"/>
              </a:solidFill>
              <a:latin typeface="宋体" panose="02010600030101010101" pitchFamily="2" charset="-122"/>
              <a:ea typeface="宋体" panose="02010600030101010101" pitchFamily="2" charset="-122"/>
            </a:endParaRPr>
          </a:p>
        </p:txBody>
      </p:sp>
      <p:sp>
        <p:nvSpPr>
          <p:cNvPr id="5" name="文本框 4"/>
          <p:cNvSpPr txBox="1"/>
          <p:nvPr/>
        </p:nvSpPr>
        <p:spPr>
          <a:xfrm>
            <a:off x="704215" y="2882900"/>
            <a:ext cx="288925" cy="1599565"/>
          </a:xfrm>
          <a:prstGeom prst="rect">
            <a:avLst/>
          </a:prstGeom>
          <a:noFill/>
        </p:spPr>
        <p:txBody>
          <a:bodyPr wrap="square" rtlCol="0">
            <a:spAutoFit/>
          </a:bodyPr>
          <a:p>
            <a:r>
              <a:rPr lang="zh-CN" altLang="en-US" sz="1400">
                <a:latin typeface="宋体" panose="02010600030101010101" pitchFamily="2" charset="-122"/>
                <a:ea typeface="宋体" panose="02010600030101010101" pitchFamily="2" charset="-122"/>
              </a:rPr>
              <a:t>输出函数电路图</a:t>
            </a:r>
            <a:endParaRPr lang="zh-CN" altLang="en-US" sz="1400">
              <a:latin typeface="宋体" panose="02010600030101010101" pitchFamily="2" charset="-122"/>
              <a:ea typeface="宋体" panose="02010600030101010101" pitchFamily="2" charset="-122"/>
            </a:endParaRPr>
          </a:p>
        </p:txBody>
      </p:sp>
      <p:sp>
        <p:nvSpPr>
          <p:cNvPr id="6" name="文本框 5"/>
          <p:cNvSpPr txBox="1"/>
          <p:nvPr/>
        </p:nvSpPr>
        <p:spPr>
          <a:xfrm>
            <a:off x="10383520" y="3063875"/>
            <a:ext cx="309245" cy="1599565"/>
          </a:xfrm>
          <a:prstGeom prst="rect">
            <a:avLst/>
          </a:prstGeom>
          <a:noFill/>
        </p:spPr>
        <p:txBody>
          <a:bodyPr wrap="square" rtlCol="0">
            <a:spAutoFit/>
          </a:bodyPr>
          <a:p>
            <a:r>
              <a:rPr lang="zh-CN" altLang="en-US" sz="1400">
                <a:latin typeface="宋体" panose="02010600030101010101" pitchFamily="2" charset="-122"/>
                <a:ea typeface="宋体" panose="02010600030101010101" pitchFamily="2" charset="-122"/>
              </a:rPr>
              <a:t>头歌测试结果图</a:t>
            </a:r>
            <a:endParaRPr lang="zh-CN" altLang="en-US" sz="1400">
              <a:latin typeface="宋体" panose="02010600030101010101" pitchFamily="2" charset="-122"/>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p>
            <a:pPr algn="l">
              <a:spcBef>
                <a:spcPts val="1000"/>
              </a:spcBef>
              <a:buClrTx/>
              <a:buSzTx/>
              <a:buFont typeface="Arial" panose="020B0604020202020204" pitchFamily="34" charset="0"/>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二、定长单总线cpu设计</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sp>
        <p:nvSpPr>
          <p:cNvPr id="3" name="文本框 2"/>
          <p:cNvSpPr txBox="1"/>
          <p:nvPr/>
        </p:nvSpPr>
        <p:spPr>
          <a:xfrm>
            <a:off x="1064895" y="1215390"/>
            <a:ext cx="9952355" cy="1445260"/>
          </a:xfrm>
          <a:prstGeom prst="rect">
            <a:avLst/>
          </a:prstGeom>
          <a:noFill/>
        </p:spPr>
        <p:txBody>
          <a:bodyPr wrap="square" rtlCol="0">
            <a:spAutoFit/>
          </a:bodyPr>
          <a:p>
            <a:pPr algn="l">
              <a:buClrTx/>
              <a:buSzTx/>
              <a:buFontTx/>
            </a:pPr>
            <a:r>
              <a:rPr lang="en-US" altLang="zh-CN" sz="2400" b="1">
                <a:latin typeface="Calibri" panose="020F0502020204030204" charset="0"/>
                <a:ea typeface="宋体" panose="02010600030101010101" pitchFamily="2" charset="-122"/>
                <a:cs typeface="Calibri" panose="020F0502020204030204" charset="0"/>
              </a:rPr>
              <a:t>4、硬布线控制器组合逻辑单元</a:t>
            </a:r>
            <a:r>
              <a:rPr lang="zh-CN" altLang="en-US" sz="2400" b="1">
                <a:latin typeface="Calibri" panose="020F0502020204030204" charset="0"/>
                <a:ea typeface="宋体" panose="02010600030101010101" pitchFamily="2" charset="-122"/>
                <a:cs typeface="Calibri" panose="020F0502020204030204" charset="0"/>
              </a:rPr>
              <a:t>设计</a:t>
            </a:r>
            <a:endParaRPr lang="en-US" altLang="zh-CN" sz="2400" b="1">
              <a:latin typeface="Calibri" panose="020F0502020204030204" charset="0"/>
              <a:ea typeface="宋体" panose="02010600030101010101" pitchFamily="2" charset="-122"/>
              <a:cs typeface="Calibri" panose="020F0502020204030204" charset="0"/>
            </a:endParaRPr>
          </a:p>
          <a:p>
            <a:pPr indent="457200"/>
            <a:r>
              <a:rPr lang="zh-CN" altLang="en-US" b="1">
                <a:latin typeface="Calibri" panose="020F0502020204030204" charset="0"/>
                <a:ea typeface="宋体" panose="02010600030101010101" pitchFamily="2" charset="-122"/>
                <a:cs typeface="Calibri" panose="020F0502020204030204" charset="0"/>
              </a:rPr>
              <a:t>设计目标：</a:t>
            </a:r>
            <a:endParaRPr lang="zh-CN" altLang="en-US" b="1">
              <a:latin typeface="Calibri" panose="020F0502020204030204" charset="0"/>
              <a:ea typeface="宋体" panose="02010600030101010101" pitchFamily="2" charset="-122"/>
              <a:cs typeface="Calibri" panose="020F0502020204030204" charset="0"/>
            </a:endParaRPr>
          </a:p>
          <a:p>
            <a:pPr marL="457200" lvl="1" indent="457200"/>
            <a:r>
              <a:rPr lang="en-US" altLang="zh-CN">
                <a:latin typeface="Calibri" panose="020F0502020204030204" charset="0"/>
                <a:ea typeface="宋体" panose="02010600030101010101" pitchFamily="2" charset="-122"/>
                <a:cs typeface="Calibri" panose="020F0502020204030204" charset="0"/>
              </a:rPr>
              <a:t>1</a:t>
            </a:r>
            <a:r>
              <a:rPr lang="zh-CN" altLang="en-US">
                <a:latin typeface="Calibri" panose="020F0502020204030204" charset="0"/>
                <a:ea typeface="宋体" panose="02010600030101010101" pitchFamily="2" charset="-122"/>
                <a:cs typeface="Calibri" panose="020F0502020204030204" charset="0"/>
              </a:rPr>
              <a:t>：理解传统三级时序控制系统中硬布线控制器</a:t>
            </a:r>
            <a:r>
              <a:rPr lang="zh-CN" altLang="en-US">
                <a:latin typeface="Calibri" panose="020F0502020204030204" charset="0"/>
                <a:ea typeface="宋体" panose="02010600030101010101" pitchFamily="2" charset="-122"/>
                <a:cs typeface="Calibri" panose="020F0502020204030204" charset="0"/>
              </a:rPr>
              <a:t>逻辑单元的设计原理。</a:t>
            </a:r>
            <a:endParaRPr lang="zh-CN" altLang="en-US">
              <a:latin typeface="Calibri" panose="020F0502020204030204" charset="0"/>
              <a:ea typeface="宋体" panose="02010600030101010101" pitchFamily="2" charset="-122"/>
              <a:cs typeface="Calibri" panose="020F0502020204030204" charset="0"/>
            </a:endParaRPr>
          </a:p>
          <a:p>
            <a:pPr indent="457200"/>
            <a:endParaRPr lang="zh-CN" altLang="en-US" sz="1000">
              <a:latin typeface="Calibri" panose="020F0502020204030204" charset="0"/>
              <a:ea typeface="宋体" panose="02010600030101010101" pitchFamily="2" charset="-122"/>
              <a:cs typeface="Calibri" panose="020F0502020204030204" charset="0"/>
            </a:endParaRPr>
          </a:p>
          <a:p>
            <a:pPr marL="457200" lvl="1" indent="457200"/>
            <a:r>
              <a:rPr lang="en-US" altLang="zh-CN">
                <a:latin typeface="Calibri" panose="020F0502020204030204" charset="0"/>
                <a:ea typeface="宋体" panose="02010600030101010101" pitchFamily="2" charset="-122"/>
                <a:cs typeface="Calibri" panose="020F0502020204030204" charset="0"/>
              </a:rPr>
              <a:t>2</a:t>
            </a:r>
            <a:r>
              <a:rPr lang="zh-CN" altLang="en-US">
                <a:latin typeface="Calibri" panose="020F0502020204030204" charset="0"/>
                <a:ea typeface="宋体" panose="02010600030101010101" pitchFamily="2" charset="-122"/>
                <a:cs typeface="Calibri" panose="020F0502020204030204" charset="0"/>
              </a:rPr>
              <a:t>：完成硬布线控制器组合逻辑单元的设计。</a:t>
            </a:r>
            <a:endParaRPr lang="zh-CN" altLang="en-US">
              <a:latin typeface="Calibri" panose="020F0502020204030204" charset="0"/>
              <a:ea typeface="宋体" panose="02010600030101010101" pitchFamily="2" charset="-122"/>
              <a:cs typeface="Calibri" panose="020F0502020204030204" charset="0"/>
            </a:endParaRPr>
          </a:p>
        </p:txBody>
      </p:sp>
      <p:sp>
        <p:nvSpPr>
          <p:cNvPr id="4" name="文本框 3"/>
          <p:cNvSpPr txBox="1"/>
          <p:nvPr/>
        </p:nvSpPr>
        <p:spPr>
          <a:xfrm>
            <a:off x="1064895" y="5424170"/>
            <a:ext cx="9829800" cy="521970"/>
          </a:xfrm>
          <a:prstGeom prst="rect">
            <a:avLst/>
          </a:prstGeom>
        </p:spPr>
        <p:txBody>
          <a:bodyPr wrap="square">
            <a:spAutoFit/>
          </a:bodyPr>
          <a:p>
            <a:pPr marL="0" indent="457200" algn="just" defTabSz="266700">
              <a:spcBef>
                <a:spcPct val="0"/>
              </a:spcBef>
              <a:spcAft>
                <a:spcPct val="0"/>
              </a:spcAft>
            </a:pPr>
            <a:r>
              <a:rPr lang="zh-CN" altLang="en-US" sz="1400" b="0">
                <a:solidFill>
                  <a:srgbClr val="000000"/>
                </a:solidFill>
                <a:latin typeface="宋体" panose="02010600030101010101" pitchFamily="2" charset="-122"/>
                <a:ea typeface="宋体" panose="02010600030101010101" pitchFamily="2" charset="-122"/>
              </a:rPr>
              <a:t>构建对应的指令周期控制流程图（图左）和数据传递流程图（图右）。控制流程图明确划分了每条指令在不同时序下所需的控制信号输出；数据流图标明了各操作数在微操作过程中的传递路径，为控制信号生成提供了直接依据。</a:t>
            </a:r>
            <a:endParaRPr lang="zh-CN" altLang="en-US" sz="1400" b="0">
              <a:solidFill>
                <a:srgbClr val="000000"/>
              </a:solidFill>
              <a:latin typeface="宋体" panose="02010600030101010101" pitchFamily="2" charset="-122"/>
              <a:ea typeface="宋体" panose="02010600030101010101" pitchFamily="2" charset="-122"/>
            </a:endParaRPr>
          </a:p>
        </p:txBody>
      </p:sp>
      <p:pic>
        <p:nvPicPr>
          <p:cNvPr id="37" name="图片 27"/>
          <p:cNvPicPr>
            <a:picLocks noChangeAspect="1"/>
          </p:cNvPicPr>
          <p:nvPr/>
        </p:nvPicPr>
        <p:blipFill>
          <a:blip r:embed="rId1"/>
          <a:stretch>
            <a:fillRect/>
          </a:stretch>
        </p:blipFill>
        <p:spPr>
          <a:xfrm>
            <a:off x="1064578" y="2723833"/>
            <a:ext cx="4986655" cy="2687955"/>
          </a:xfrm>
          <a:prstGeom prst="rect">
            <a:avLst/>
          </a:prstGeom>
          <a:noFill/>
          <a:ln>
            <a:solidFill>
              <a:schemeClr val="accent2"/>
            </a:solidFill>
          </a:ln>
        </p:spPr>
      </p:pic>
      <p:pic>
        <p:nvPicPr>
          <p:cNvPr id="38" name="图片 28"/>
          <p:cNvPicPr>
            <a:picLocks noChangeAspect="1"/>
          </p:cNvPicPr>
          <p:nvPr/>
        </p:nvPicPr>
        <p:blipFill>
          <a:blip r:embed="rId2"/>
          <a:stretch>
            <a:fillRect/>
          </a:stretch>
        </p:blipFill>
        <p:spPr>
          <a:xfrm>
            <a:off x="6173470" y="2723515"/>
            <a:ext cx="4843780" cy="2688590"/>
          </a:xfrm>
          <a:prstGeom prst="rect">
            <a:avLst/>
          </a:prstGeom>
          <a:noFill/>
          <a:ln>
            <a:solidFill>
              <a:schemeClr val="accent1"/>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p>
            <a:pPr algn="l">
              <a:spcBef>
                <a:spcPts val="1000"/>
              </a:spcBef>
              <a:buClrTx/>
              <a:buSzTx/>
              <a:buFont typeface="Arial" panose="020B0604020202020204" pitchFamily="34" charset="0"/>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二、定长单总线cpu设计</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sp>
        <p:nvSpPr>
          <p:cNvPr id="4" name="文本框 3"/>
          <p:cNvSpPr txBox="1"/>
          <p:nvPr/>
        </p:nvSpPr>
        <p:spPr>
          <a:xfrm>
            <a:off x="1064895" y="1177925"/>
            <a:ext cx="9638665" cy="1129665"/>
          </a:xfrm>
          <a:prstGeom prst="rect">
            <a:avLst/>
          </a:prstGeom>
        </p:spPr>
        <p:txBody>
          <a:bodyPr wrap="square">
            <a:spAutoFit/>
          </a:bodyPr>
          <a:p>
            <a:pPr marL="0" indent="266700" algn="l" defTabSz="266700">
              <a:lnSpc>
                <a:spcPct val="125000"/>
              </a:lnSpc>
              <a:spcBef>
                <a:spcPct val="0"/>
              </a:spcBef>
              <a:spcAft>
                <a:spcPct val="0"/>
              </a:spcAft>
            </a:pPr>
            <a:r>
              <a:rPr lang="en-US" altLang="zh-CN" b="0">
                <a:solidFill>
                  <a:srgbClr val="000000"/>
                </a:solidFill>
                <a:latin typeface="宋体" panose="02010600030101010101" pitchFamily="2" charset="-122"/>
                <a:ea typeface="宋体" panose="02010600030101010101" pitchFamily="2" charset="-122"/>
              </a:rPr>
              <a:t>  </a:t>
            </a:r>
            <a:r>
              <a:rPr lang="zh-CN" altLang="en-US" b="0">
                <a:solidFill>
                  <a:srgbClr val="000000"/>
                </a:solidFill>
                <a:latin typeface="宋体" panose="02010600030101010101" pitchFamily="2" charset="-122"/>
                <a:ea typeface="宋体" panose="02010600030101010101" pitchFamily="2" charset="-122"/>
              </a:rPr>
              <a:t>结合指令周期控制流程图和数据传递流程图中的时序需求与指令类型划分，将每条指令按状态阶段进行展开，提取各阶段所需的控制信号，并用布尔表达式加以描述。各控制信号的生成条件遵循以下通用公式：</a:t>
            </a:r>
            <a:endParaRPr lang="zh-CN" altLang="en-US" b="0">
              <a:solidFill>
                <a:srgbClr val="000000"/>
              </a:solidFill>
              <a:latin typeface="宋体" panose="02010600030101010101" pitchFamily="2" charset="-122"/>
              <a:ea typeface="宋体" panose="02010600030101010101" pitchFamily="2" charset="-122"/>
            </a:endParaRPr>
          </a:p>
        </p:txBody>
      </p:sp>
      <p:pic>
        <p:nvPicPr>
          <p:cNvPr id="35" name="图片 25" descr="IMG_256"/>
          <p:cNvPicPr>
            <a:picLocks noChangeAspect="1"/>
          </p:cNvPicPr>
          <p:nvPr/>
        </p:nvPicPr>
        <p:blipFill>
          <a:blip r:embed="rId1"/>
          <a:stretch>
            <a:fillRect/>
          </a:stretch>
        </p:blipFill>
        <p:spPr>
          <a:xfrm>
            <a:off x="3931285" y="1914525"/>
            <a:ext cx="2985135" cy="410845"/>
          </a:xfrm>
          <a:prstGeom prst="rect">
            <a:avLst/>
          </a:prstGeom>
          <a:noFill/>
          <a:ln w="9525">
            <a:noFill/>
          </a:ln>
        </p:spPr>
      </p:pic>
      <p:pic>
        <p:nvPicPr>
          <p:cNvPr id="14" name="图片 6"/>
          <p:cNvPicPr>
            <a:picLocks noChangeAspect="1"/>
          </p:cNvPicPr>
          <p:nvPr/>
        </p:nvPicPr>
        <p:blipFill>
          <a:blip r:embed="rId2"/>
          <a:stretch>
            <a:fillRect/>
          </a:stretch>
        </p:blipFill>
        <p:spPr>
          <a:xfrm>
            <a:off x="1064895" y="2461895"/>
            <a:ext cx="7210425" cy="3635375"/>
          </a:xfrm>
          <a:prstGeom prst="rect">
            <a:avLst/>
          </a:prstGeom>
          <a:noFill/>
          <a:ln>
            <a:solidFill>
              <a:schemeClr val="accent1"/>
            </a:solidFill>
          </a:ln>
        </p:spPr>
      </p:pic>
      <p:sp>
        <p:nvSpPr>
          <p:cNvPr id="6" name="文本框 5"/>
          <p:cNvSpPr txBox="1"/>
          <p:nvPr/>
        </p:nvSpPr>
        <p:spPr>
          <a:xfrm>
            <a:off x="8479790" y="2461895"/>
            <a:ext cx="2223770" cy="3721100"/>
          </a:xfrm>
          <a:prstGeom prst="rect">
            <a:avLst/>
          </a:prstGeom>
          <a:noFill/>
        </p:spPr>
        <p:txBody>
          <a:bodyPr wrap="square" rtlCol="0">
            <a:noAutofit/>
          </a:bodyPr>
          <a:p>
            <a:pPr marL="0" indent="266700" algn="l" defTabSz="266700">
              <a:lnSpc>
                <a:spcPct val="125000"/>
              </a:lnSpc>
              <a:spcBef>
                <a:spcPct val="0"/>
              </a:spcBef>
              <a:spcAft>
                <a:spcPct val="0"/>
              </a:spcAft>
            </a:pPr>
            <a:endParaRPr lang="zh-CN" altLang="en-US" b="0">
              <a:solidFill>
                <a:srgbClr val="000000"/>
              </a:solidFill>
              <a:latin typeface="宋体" panose="02010600030101010101" pitchFamily="2" charset="-122"/>
              <a:ea typeface="宋体" panose="02010600030101010101" pitchFamily="2" charset="-122"/>
            </a:endParaRPr>
          </a:p>
          <a:p>
            <a:pPr marL="0" indent="266700" algn="l" defTabSz="266700">
              <a:lnSpc>
                <a:spcPct val="125000"/>
              </a:lnSpc>
              <a:spcBef>
                <a:spcPct val="0"/>
              </a:spcBef>
              <a:spcAft>
                <a:spcPct val="0"/>
              </a:spcAft>
            </a:pPr>
            <a:endParaRPr lang="zh-CN" altLang="en-US" b="0">
              <a:solidFill>
                <a:srgbClr val="000000"/>
              </a:solidFill>
              <a:latin typeface="宋体" panose="02010600030101010101" pitchFamily="2" charset="-122"/>
              <a:ea typeface="宋体" panose="02010600030101010101" pitchFamily="2" charset="-122"/>
            </a:endParaRPr>
          </a:p>
          <a:p>
            <a:pPr marL="0" indent="266700" algn="l" defTabSz="266700">
              <a:lnSpc>
                <a:spcPct val="125000"/>
              </a:lnSpc>
              <a:spcBef>
                <a:spcPct val="0"/>
              </a:spcBef>
              <a:spcAft>
                <a:spcPct val="0"/>
              </a:spcAft>
            </a:pPr>
            <a:r>
              <a:rPr lang="zh-CN" altLang="en-US" b="0">
                <a:solidFill>
                  <a:srgbClr val="000000"/>
                </a:solidFill>
                <a:latin typeface="宋体" panose="02010600030101010101" pitchFamily="2" charset="-122"/>
                <a:ea typeface="宋体" panose="02010600030101010101" pitchFamily="2" charset="-122"/>
              </a:rPr>
              <a:t>将所有控制信号的生成条件明确化，使用</a:t>
            </a:r>
            <a:r>
              <a:rPr lang="en-US" altLang="zh-CN" b="0">
                <a:solidFill>
                  <a:srgbClr val="000000"/>
                </a:solidFill>
                <a:latin typeface="宋体" panose="02010600030101010101" pitchFamily="2" charset="-122"/>
                <a:ea typeface="宋体" panose="02010600030101010101" pitchFamily="2" charset="-122"/>
              </a:rPr>
              <a:t>excel</a:t>
            </a:r>
            <a:r>
              <a:rPr lang="zh-CN" altLang="en-US" b="0">
                <a:solidFill>
                  <a:srgbClr val="000000"/>
                </a:solidFill>
                <a:latin typeface="宋体" panose="02010600030101010101" pitchFamily="2" charset="-122"/>
                <a:ea typeface="宋体" panose="02010600030101010101" pitchFamily="2" charset="-122"/>
              </a:rPr>
              <a:t>表自动生成布尔表达式，从而指导具体电路设计。</a:t>
            </a:r>
            <a:endParaRPr lang="zh-CN" altLang="en-US" b="0">
              <a:solidFill>
                <a:srgbClr val="000000"/>
              </a:solidFill>
              <a:latin typeface="宋体" panose="02010600030101010101" pitchFamily="2" charset="-122"/>
              <a:ea typeface="宋体" panose="02010600030101010101" pitchFamily="2" charset="-122"/>
            </a:endParaRPr>
          </a:p>
          <a:p>
            <a:pPr marL="0" indent="266700" algn="l" defTabSz="266700">
              <a:lnSpc>
                <a:spcPct val="125000"/>
              </a:lnSpc>
              <a:spcBef>
                <a:spcPct val="0"/>
              </a:spcBef>
              <a:spcAft>
                <a:spcPct val="0"/>
              </a:spcAft>
            </a:pPr>
            <a:endParaRPr lang="zh-CN" altLang="en-US" b="0">
              <a:solidFill>
                <a:srgbClr val="000000"/>
              </a:solidFill>
              <a:latin typeface="宋体" panose="02010600030101010101" pitchFamily="2" charset="-122"/>
              <a:ea typeface="宋体" panose="02010600030101010101" pitchFamily="2" charset="-122"/>
            </a:endParaRPr>
          </a:p>
          <a:p>
            <a:endParaRPr lang="zh-CN" altLang="en-US"/>
          </a:p>
        </p:txBody>
      </p:sp>
      <p:sp>
        <p:nvSpPr>
          <p:cNvPr id="7" name="文本框 6"/>
          <p:cNvSpPr txBox="1"/>
          <p:nvPr/>
        </p:nvSpPr>
        <p:spPr>
          <a:xfrm>
            <a:off x="1065530" y="6176010"/>
            <a:ext cx="7210425"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rPr>
              <a:t>控制信号生成逻辑表</a:t>
            </a:r>
            <a:endParaRPr lang="zh-CN" altLang="en-US" sz="1400">
              <a:latin typeface="宋体" panose="02010600030101010101" pitchFamily="2" charset="-122"/>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p>
            <a:pPr algn="l">
              <a:spcBef>
                <a:spcPts val="1000"/>
              </a:spcBef>
              <a:buClrTx/>
              <a:buSzTx/>
              <a:buFont typeface="Arial" panose="020B0604020202020204" pitchFamily="34" charset="0"/>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二、定长单总线cpu设计</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sp>
        <p:nvSpPr>
          <p:cNvPr id="3" name="文本框 2"/>
          <p:cNvSpPr txBox="1"/>
          <p:nvPr/>
        </p:nvSpPr>
        <p:spPr>
          <a:xfrm>
            <a:off x="1198245" y="6404610"/>
            <a:ext cx="3550920"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rPr>
              <a:t>自动生成实验电路图（部分）</a:t>
            </a:r>
            <a:endParaRPr lang="zh-CN" altLang="en-US" sz="1400">
              <a:latin typeface="宋体" panose="02010600030101010101" pitchFamily="2" charset="-122"/>
              <a:ea typeface="宋体" panose="02010600030101010101" pitchFamily="2" charset="-122"/>
            </a:endParaRPr>
          </a:p>
        </p:txBody>
      </p:sp>
      <p:pic>
        <p:nvPicPr>
          <p:cNvPr id="43" name="图片 33"/>
          <p:cNvPicPr>
            <a:picLocks noChangeAspect="1"/>
          </p:cNvPicPr>
          <p:nvPr/>
        </p:nvPicPr>
        <p:blipFill>
          <a:blip r:embed="rId1"/>
          <a:stretch>
            <a:fillRect/>
          </a:stretch>
        </p:blipFill>
        <p:spPr>
          <a:xfrm>
            <a:off x="5175250" y="3429000"/>
            <a:ext cx="5374005" cy="2637790"/>
          </a:xfrm>
          <a:prstGeom prst="rect">
            <a:avLst/>
          </a:prstGeom>
          <a:noFill/>
          <a:ln>
            <a:solidFill>
              <a:schemeClr val="accent1"/>
            </a:solidFill>
          </a:ln>
        </p:spPr>
      </p:pic>
      <p:sp>
        <p:nvSpPr>
          <p:cNvPr id="4" name="文本框 3"/>
          <p:cNvSpPr txBox="1"/>
          <p:nvPr/>
        </p:nvSpPr>
        <p:spPr>
          <a:xfrm>
            <a:off x="5280025" y="1766570"/>
            <a:ext cx="5269230" cy="1322070"/>
          </a:xfrm>
          <a:prstGeom prst="rect">
            <a:avLst/>
          </a:prstGeom>
        </p:spPr>
        <p:txBody>
          <a:bodyPr wrap="square">
            <a:spAutoFit/>
          </a:bodyPr>
          <a:p>
            <a:pPr marL="0" indent="266700" algn="l" defTabSz="266700">
              <a:lnSpc>
                <a:spcPct val="125000"/>
              </a:lnSpc>
              <a:spcBef>
                <a:spcPct val="0"/>
              </a:spcBef>
              <a:spcAft>
                <a:spcPct val="0"/>
              </a:spcAft>
            </a:pPr>
            <a:r>
              <a:rPr lang="zh-CN" altLang="en-US" sz="1600" b="0">
                <a:solidFill>
                  <a:srgbClr val="000000"/>
                </a:solidFill>
                <a:latin typeface="Times New Roman" panose="02020603050405020304"/>
                <a:ea typeface="宋体" panose="02010600030101010101" pitchFamily="2" charset="-122"/>
              </a:rPr>
              <a:t>左图为基于之前逻辑表达式实现的硬布线控制器组合逻辑单元的电路图。如下图</a:t>
            </a:r>
            <a:r>
              <a:rPr lang="zh-CN" altLang="en-US" sz="1600" b="0">
                <a:solidFill>
                  <a:srgbClr val="000000"/>
                </a:solidFill>
                <a:latin typeface="Times New Roman" panose="02020603050405020304"/>
                <a:ea typeface="宋体" panose="02010600030101010101" pitchFamily="2" charset="-122"/>
              </a:rPr>
              <a:t>所示，仿真测试清晰地表明，每个控制信号的输出结果与理论预期相符合，体现了整个电路设计的精确性和稳定性。</a:t>
            </a:r>
            <a:endParaRPr lang="zh-CN" altLang="en-US" sz="1600" b="0">
              <a:solidFill>
                <a:srgbClr val="000000"/>
              </a:solidFill>
              <a:latin typeface="Times New Roman" panose="02020603050405020304"/>
              <a:ea typeface="宋体" panose="02010600030101010101" pitchFamily="2" charset="-122"/>
            </a:endParaRPr>
          </a:p>
        </p:txBody>
      </p:sp>
      <p:pic>
        <p:nvPicPr>
          <p:cNvPr id="6" name="图片 5"/>
          <p:cNvPicPr>
            <a:picLocks noChangeAspect="1"/>
          </p:cNvPicPr>
          <p:nvPr/>
        </p:nvPicPr>
        <p:blipFill>
          <a:blip r:embed="rId2"/>
          <a:stretch>
            <a:fillRect/>
          </a:stretch>
        </p:blipFill>
        <p:spPr>
          <a:xfrm>
            <a:off x="1197610" y="1187450"/>
            <a:ext cx="3551555" cy="5217160"/>
          </a:xfrm>
          <a:prstGeom prst="rect">
            <a:avLst/>
          </a:prstGeom>
          <a:ln>
            <a:solidFill>
              <a:schemeClr val="accent2"/>
            </a:solidFill>
          </a:ln>
        </p:spPr>
      </p:pic>
      <p:sp>
        <p:nvSpPr>
          <p:cNvPr id="7" name="文本框 6"/>
          <p:cNvSpPr txBox="1"/>
          <p:nvPr/>
        </p:nvSpPr>
        <p:spPr>
          <a:xfrm>
            <a:off x="5175250" y="6202680"/>
            <a:ext cx="5370830"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rPr>
              <a:t>头歌测试结果图</a:t>
            </a:r>
            <a:endParaRPr lang="zh-CN" altLang="en-US" sz="1400">
              <a:latin typeface="宋体" panose="02010600030101010101" pitchFamily="2" charset="-122"/>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p>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二、定长单总线cpu设计</a:t>
            </a:r>
            <a:endParaRPr lang="zh-CN" altLang="en-US"/>
          </a:p>
        </p:txBody>
      </p:sp>
      <p:sp>
        <p:nvSpPr>
          <p:cNvPr id="3" name="文本框 2"/>
          <p:cNvSpPr txBox="1"/>
          <p:nvPr/>
        </p:nvSpPr>
        <p:spPr>
          <a:xfrm>
            <a:off x="1064895" y="1215390"/>
            <a:ext cx="9952355" cy="1445260"/>
          </a:xfrm>
          <a:prstGeom prst="rect">
            <a:avLst/>
          </a:prstGeom>
          <a:noFill/>
        </p:spPr>
        <p:txBody>
          <a:bodyPr wrap="square" rtlCol="0">
            <a:spAutoFit/>
          </a:bodyPr>
          <a:p>
            <a:pPr algn="l">
              <a:buClrTx/>
              <a:buSzTx/>
              <a:buFontTx/>
            </a:pPr>
            <a:r>
              <a:rPr lang="en-US" altLang="zh-CN" sz="2400" b="1">
                <a:latin typeface="Calibri" panose="020F0502020204030204" charset="0"/>
                <a:ea typeface="宋体" panose="02010600030101010101" pitchFamily="2" charset="-122"/>
                <a:cs typeface="Calibri" panose="020F0502020204030204" charset="0"/>
              </a:rPr>
              <a:t>5、硬布线控制器</a:t>
            </a:r>
            <a:r>
              <a:rPr lang="zh-CN" altLang="en-US" sz="2400" b="1">
                <a:latin typeface="Calibri" panose="020F0502020204030204" charset="0"/>
                <a:ea typeface="宋体" panose="02010600030101010101" pitchFamily="2" charset="-122"/>
                <a:cs typeface="Calibri" panose="020F0502020204030204" charset="0"/>
              </a:rPr>
              <a:t>设计</a:t>
            </a:r>
            <a:endParaRPr lang="en-US" altLang="zh-CN" sz="2400" b="1">
              <a:latin typeface="Calibri" panose="020F0502020204030204" charset="0"/>
              <a:ea typeface="宋体" panose="02010600030101010101" pitchFamily="2" charset="-122"/>
              <a:cs typeface="Calibri" panose="020F0502020204030204" charset="0"/>
            </a:endParaRPr>
          </a:p>
          <a:p>
            <a:pPr indent="457200"/>
            <a:r>
              <a:rPr lang="zh-CN" altLang="en-US" b="1">
                <a:latin typeface="Calibri" panose="020F0502020204030204" charset="0"/>
                <a:ea typeface="宋体" panose="02010600030101010101" pitchFamily="2" charset="-122"/>
                <a:cs typeface="Calibri" panose="020F0502020204030204" charset="0"/>
              </a:rPr>
              <a:t>设计目标：</a:t>
            </a:r>
            <a:endParaRPr lang="zh-CN" altLang="en-US" b="1">
              <a:latin typeface="Calibri" panose="020F0502020204030204" charset="0"/>
              <a:ea typeface="宋体" panose="02010600030101010101" pitchFamily="2" charset="-122"/>
              <a:cs typeface="Calibri" panose="020F0502020204030204" charset="0"/>
            </a:endParaRPr>
          </a:p>
          <a:p>
            <a:pPr marL="457200" lvl="1" indent="457200"/>
            <a:r>
              <a:rPr lang="en-US" altLang="zh-CN">
                <a:latin typeface="Calibri" panose="020F0502020204030204" charset="0"/>
                <a:ea typeface="宋体" panose="02010600030101010101" pitchFamily="2" charset="-122"/>
                <a:cs typeface="Calibri" panose="020F0502020204030204" charset="0"/>
              </a:rPr>
              <a:t>1</a:t>
            </a:r>
            <a:r>
              <a:rPr lang="zh-CN" altLang="en-US">
                <a:latin typeface="Calibri" panose="020F0502020204030204" charset="0"/>
                <a:ea typeface="宋体" panose="02010600030101010101" pitchFamily="2" charset="-122"/>
                <a:cs typeface="Calibri" panose="020F0502020204030204" charset="0"/>
              </a:rPr>
              <a:t>：深入理解传统三级时序系统的硬布线控制器原理。</a:t>
            </a:r>
            <a:endParaRPr lang="zh-CN" altLang="en-US">
              <a:latin typeface="Calibri" panose="020F0502020204030204" charset="0"/>
              <a:ea typeface="宋体" panose="02010600030101010101" pitchFamily="2" charset="-122"/>
              <a:cs typeface="Calibri" panose="020F0502020204030204" charset="0"/>
            </a:endParaRPr>
          </a:p>
          <a:p>
            <a:pPr indent="457200"/>
            <a:endParaRPr lang="zh-CN" altLang="en-US" sz="1000">
              <a:latin typeface="Calibri" panose="020F0502020204030204" charset="0"/>
              <a:ea typeface="宋体" panose="02010600030101010101" pitchFamily="2" charset="-122"/>
              <a:cs typeface="Calibri" panose="020F0502020204030204" charset="0"/>
            </a:endParaRPr>
          </a:p>
          <a:p>
            <a:pPr marL="457200" lvl="1" indent="457200"/>
            <a:r>
              <a:rPr lang="en-US" altLang="zh-CN">
                <a:latin typeface="Calibri" panose="020F0502020204030204" charset="0"/>
                <a:ea typeface="宋体" panose="02010600030101010101" pitchFamily="2" charset="-122"/>
                <a:cs typeface="Calibri" panose="020F0502020204030204" charset="0"/>
              </a:rPr>
              <a:t>2</a:t>
            </a:r>
            <a:r>
              <a:rPr lang="zh-CN" altLang="en-US">
                <a:latin typeface="Calibri" panose="020F0502020204030204" charset="0"/>
                <a:ea typeface="宋体" panose="02010600030101010101" pitchFamily="2" charset="-122"/>
                <a:cs typeface="Calibri" panose="020F0502020204030204" charset="0"/>
              </a:rPr>
              <a:t>：完成硬布线控制器的设计。</a:t>
            </a:r>
            <a:endParaRPr lang="zh-CN" altLang="en-US">
              <a:latin typeface="Calibri" panose="020F0502020204030204" charset="0"/>
              <a:ea typeface="宋体" panose="02010600030101010101" pitchFamily="2" charset="-122"/>
              <a:cs typeface="Calibri" panose="020F0502020204030204" charset="0"/>
            </a:endParaRPr>
          </a:p>
        </p:txBody>
      </p:sp>
      <p:pic>
        <p:nvPicPr>
          <p:cNvPr id="46" name="图片 36"/>
          <p:cNvPicPr>
            <a:picLocks noChangeAspect="1"/>
          </p:cNvPicPr>
          <p:nvPr/>
        </p:nvPicPr>
        <p:blipFill>
          <a:blip r:embed="rId1"/>
          <a:stretch>
            <a:fillRect/>
          </a:stretch>
        </p:blipFill>
        <p:spPr>
          <a:xfrm>
            <a:off x="7732395" y="1239520"/>
            <a:ext cx="3638550" cy="1859915"/>
          </a:xfrm>
          <a:prstGeom prst="rect">
            <a:avLst/>
          </a:prstGeom>
          <a:noFill/>
          <a:ln>
            <a:noFill/>
          </a:ln>
        </p:spPr>
      </p:pic>
      <p:sp>
        <p:nvSpPr>
          <p:cNvPr id="4" name="文本框 3"/>
          <p:cNvSpPr txBox="1"/>
          <p:nvPr/>
        </p:nvSpPr>
        <p:spPr>
          <a:xfrm>
            <a:off x="6095365" y="2660650"/>
            <a:ext cx="5274945" cy="4092575"/>
          </a:xfrm>
          <a:prstGeom prst="rect">
            <a:avLst/>
          </a:prstGeom>
        </p:spPr>
        <p:txBody>
          <a:bodyPr wrap="square">
            <a:spAutoFit/>
          </a:bodyPr>
          <a:p>
            <a:pPr marL="0" indent="266700" algn="l" defTabSz="266700">
              <a:lnSpc>
                <a:spcPct val="125000"/>
              </a:lnSpc>
              <a:spcBef>
                <a:spcPct val="0"/>
              </a:spcBef>
              <a:spcAft>
                <a:spcPct val="0"/>
              </a:spcAft>
            </a:pPr>
            <a:r>
              <a:rPr lang="zh-CN" altLang="en-US" sz="1600" b="1">
                <a:solidFill>
                  <a:srgbClr val="000000"/>
                </a:solidFill>
                <a:latin typeface="宋体" panose="02010600030101010101" pitchFamily="2" charset="-122"/>
                <a:ea typeface="宋体" panose="02010600030101010101" pitchFamily="2" charset="-122"/>
              </a:rPr>
              <a:t>设计思路与电路实现：</a:t>
            </a:r>
            <a:endParaRPr lang="zh-CN" altLang="en-US" sz="1600" b="1">
              <a:solidFill>
                <a:srgbClr val="000000"/>
              </a:solidFill>
              <a:latin typeface="宋体" panose="02010600030101010101" pitchFamily="2" charset="-122"/>
              <a:ea typeface="宋体" panose="02010600030101010101" pitchFamily="2" charset="-122"/>
            </a:endParaRPr>
          </a:p>
          <a:p>
            <a:pPr marL="0" indent="266700" algn="l" defTabSz="266700">
              <a:lnSpc>
                <a:spcPct val="125000"/>
              </a:lnSpc>
              <a:spcBef>
                <a:spcPct val="0"/>
              </a:spcBef>
              <a:spcAft>
                <a:spcPct val="0"/>
              </a:spcAft>
            </a:pPr>
            <a:r>
              <a:rPr lang="zh-CN" altLang="en-US" sz="1600" b="1">
                <a:solidFill>
                  <a:srgbClr val="000000"/>
                </a:solidFill>
                <a:latin typeface="宋体" panose="02010600030101010101" pitchFamily="2" charset="-122"/>
                <a:ea typeface="宋体" panose="02010600030101010101" pitchFamily="2" charset="-122"/>
              </a:rPr>
              <a:t> </a:t>
            </a:r>
            <a:r>
              <a:rPr lang="zh-CN" altLang="en-US" sz="1600" b="0">
                <a:solidFill>
                  <a:srgbClr val="000000"/>
                </a:solidFill>
                <a:latin typeface="宋体" panose="02010600030101010101" pitchFamily="2" charset="-122"/>
                <a:ea typeface="宋体" panose="02010600030101010101" pitchFamily="2" charset="-122"/>
              </a:rPr>
              <a:t>状态机与状态寄存器：状态寄存器以当前状态（</a:t>
            </a:r>
            <a:r>
              <a:rPr lang="en-US" altLang="zh-CN" sz="1600" b="0">
                <a:solidFill>
                  <a:srgbClr val="000000"/>
                </a:solidFill>
                <a:latin typeface="宋体" panose="02010600030101010101" pitchFamily="2" charset="-122"/>
                <a:ea typeface="宋体" panose="02010600030101010101" pitchFamily="2" charset="-122"/>
              </a:rPr>
              <a:t>S3S2S1S0</a:t>
            </a:r>
            <a:r>
              <a:rPr lang="zh-CN" altLang="en-US" sz="1600" b="0">
                <a:solidFill>
                  <a:srgbClr val="000000"/>
                </a:solidFill>
                <a:latin typeface="宋体" panose="02010600030101010101" pitchFamily="2" charset="-122"/>
                <a:ea typeface="宋体" panose="02010600030101010101" pitchFamily="2" charset="-122"/>
              </a:rPr>
              <a:t>）作为输入，下一状态由状态机计算得到。状态寄存器输出连接状态机输入端，实现循环反馈控制，保证状态连续稳定地转换。</a:t>
            </a:r>
            <a:endParaRPr lang="zh-CN" altLang="en-US" sz="1600" b="0">
              <a:solidFill>
                <a:srgbClr val="000000"/>
              </a:solidFill>
              <a:latin typeface="宋体" panose="02010600030101010101" pitchFamily="2" charset="-122"/>
              <a:ea typeface="宋体" panose="02010600030101010101" pitchFamily="2" charset="-122"/>
            </a:endParaRPr>
          </a:p>
          <a:p>
            <a:pPr marL="0" indent="266700" algn="l" defTabSz="266700">
              <a:lnSpc>
                <a:spcPct val="125000"/>
              </a:lnSpc>
              <a:spcBef>
                <a:spcPct val="0"/>
              </a:spcBef>
              <a:spcAft>
                <a:spcPct val="0"/>
              </a:spcAft>
            </a:pPr>
            <a:r>
              <a:rPr lang="zh-CN" altLang="en-US" sz="1600" b="0">
                <a:solidFill>
                  <a:srgbClr val="000000"/>
                </a:solidFill>
                <a:latin typeface="宋体" panose="02010600030101010101" pitchFamily="2" charset="-122"/>
                <a:ea typeface="宋体" panose="02010600030101010101" pitchFamily="2" charset="-122"/>
              </a:rPr>
              <a:t> 指令译码信号输入：</a:t>
            </a:r>
            <a:r>
              <a:rPr lang="en-US" altLang="zh-CN" sz="1600" b="0">
                <a:solidFill>
                  <a:srgbClr val="000000"/>
                </a:solidFill>
                <a:latin typeface="宋体" panose="02010600030101010101" pitchFamily="2" charset="-122"/>
                <a:ea typeface="宋体" panose="02010600030101010101" pitchFamily="2" charset="-122"/>
              </a:rPr>
              <a:t>ADDI</a:t>
            </a:r>
            <a:r>
              <a:rPr lang="zh-CN" altLang="en-US" sz="1600" b="0">
                <a:solidFill>
                  <a:srgbClr val="000000"/>
                </a:solidFill>
                <a:latin typeface="宋体" panose="02010600030101010101" pitchFamily="2" charset="-122"/>
                <a:ea typeface="宋体" panose="02010600030101010101" pitchFamily="2" charset="-122"/>
              </a:rPr>
              <a:t>、</a:t>
            </a:r>
            <a:r>
              <a:rPr lang="en-US" altLang="zh-CN" sz="1600" b="0">
                <a:solidFill>
                  <a:srgbClr val="000000"/>
                </a:solidFill>
                <a:latin typeface="宋体" panose="02010600030101010101" pitchFamily="2" charset="-122"/>
                <a:ea typeface="宋体" panose="02010600030101010101" pitchFamily="2" charset="-122"/>
              </a:rPr>
              <a:t>SLT</a:t>
            </a:r>
            <a:r>
              <a:rPr lang="zh-CN" altLang="en-US" sz="1600" b="0">
                <a:solidFill>
                  <a:srgbClr val="000000"/>
                </a:solidFill>
                <a:latin typeface="宋体" panose="02010600030101010101" pitchFamily="2" charset="-122"/>
                <a:ea typeface="宋体" panose="02010600030101010101" pitchFamily="2" charset="-122"/>
              </a:rPr>
              <a:t>、</a:t>
            </a:r>
            <a:r>
              <a:rPr lang="en-US" altLang="zh-CN" sz="1600" b="0">
                <a:solidFill>
                  <a:srgbClr val="000000"/>
                </a:solidFill>
                <a:latin typeface="宋体" panose="02010600030101010101" pitchFamily="2" charset="-122"/>
                <a:ea typeface="宋体" panose="02010600030101010101" pitchFamily="2" charset="-122"/>
              </a:rPr>
              <a:t>BEQ</a:t>
            </a:r>
            <a:r>
              <a:rPr lang="zh-CN" altLang="en-US" sz="1600" b="0">
                <a:solidFill>
                  <a:srgbClr val="000000"/>
                </a:solidFill>
                <a:latin typeface="宋体" panose="02010600030101010101" pitchFamily="2" charset="-122"/>
                <a:ea typeface="宋体" panose="02010600030101010101" pitchFamily="2" charset="-122"/>
              </a:rPr>
              <a:t>、</a:t>
            </a:r>
            <a:r>
              <a:rPr lang="en-US" altLang="zh-CN" sz="1600" b="0">
                <a:solidFill>
                  <a:srgbClr val="000000"/>
                </a:solidFill>
                <a:latin typeface="宋体" panose="02010600030101010101" pitchFamily="2" charset="-122"/>
                <a:ea typeface="宋体" panose="02010600030101010101" pitchFamily="2" charset="-122"/>
              </a:rPr>
              <a:t>SW</a:t>
            </a:r>
            <a:r>
              <a:rPr lang="zh-CN" altLang="en-US" sz="1600" b="0">
                <a:solidFill>
                  <a:srgbClr val="000000"/>
                </a:solidFill>
                <a:latin typeface="宋体" panose="02010600030101010101" pitchFamily="2" charset="-122"/>
                <a:ea typeface="宋体" panose="02010600030101010101" pitchFamily="2" charset="-122"/>
              </a:rPr>
              <a:t>、</a:t>
            </a:r>
            <a:r>
              <a:rPr lang="en-US" altLang="zh-CN" sz="1600" b="0">
                <a:solidFill>
                  <a:srgbClr val="000000"/>
                </a:solidFill>
                <a:latin typeface="宋体" panose="02010600030101010101" pitchFamily="2" charset="-122"/>
                <a:ea typeface="宋体" panose="02010600030101010101" pitchFamily="2" charset="-122"/>
              </a:rPr>
              <a:t>LW</a:t>
            </a:r>
            <a:r>
              <a:rPr lang="zh-CN" altLang="en-US" sz="1600" b="0">
                <a:solidFill>
                  <a:srgbClr val="000000"/>
                </a:solidFill>
                <a:latin typeface="宋体" panose="02010600030101010101" pitchFamily="2" charset="-122"/>
                <a:ea typeface="宋体" panose="02010600030101010101" pitchFamily="2" charset="-122"/>
              </a:rPr>
              <a:t>等指令信号经译码后，作为输入信号输入状态机。状态机根据当前状态和输入指令信号确定下一状态转移路径，实现精准的状态转换。</a:t>
            </a:r>
            <a:endParaRPr lang="zh-CN" altLang="en-US" sz="1600" b="0">
              <a:solidFill>
                <a:srgbClr val="000000"/>
              </a:solidFill>
              <a:latin typeface="宋体" panose="02010600030101010101" pitchFamily="2" charset="-122"/>
              <a:ea typeface="宋体" panose="02010600030101010101" pitchFamily="2" charset="-122"/>
            </a:endParaRPr>
          </a:p>
          <a:p>
            <a:pPr marL="0" indent="266700" algn="l" defTabSz="266700">
              <a:lnSpc>
                <a:spcPct val="125000"/>
              </a:lnSpc>
              <a:spcBef>
                <a:spcPct val="0"/>
              </a:spcBef>
              <a:spcAft>
                <a:spcPct val="0"/>
              </a:spcAft>
            </a:pPr>
            <a:r>
              <a:rPr lang="zh-CN" altLang="en-US" sz="1600" b="0">
                <a:solidFill>
                  <a:srgbClr val="000000"/>
                </a:solidFill>
                <a:latin typeface="宋体" panose="02010600030101010101" pitchFamily="2" charset="-122"/>
                <a:ea typeface="宋体" panose="02010600030101010101" pitchFamily="2" charset="-122"/>
              </a:rPr>
              <a:t> 输出函数组合逻辑电路：以状态寄存器的当前状态为输入（</a:t>
            </a:r>
            <a:r>
              <a:rPr lang="en-US" altLang="zh-CN" sz="1600" b="0">
                <a:solidFill>
                  <a:srgbClr val="000000"/>
                </a:solidFill>
                <a:latin typeface="宋体" panose="02010600030101010101" pitchFamily="2" charset="-122"/>
                <a:ea typeface="宋体" panose="02010600030101010101" pitchFamily="2" charset="-122"/>
              </a:rPr>
              <a:t>4</a:t>
            </a:r>
            <a:r>
              <a:rPr lang="zh-CN" altLang="en-US" sz="1600" b="0">
                <a:solidFill>
                  <a:srgbClr val="000000"/>
                </a:solidFill>
                <a:latin typeface="宋体" panose="02010600030101010101" pitchFamily="2" charset="-122"/>
                <a:ea typeface="宋体" panose="02010600030101010101" pitchFamily="2" charset="-122"/>
              </a:rPr>
              <a:t>位状态码</a:t>
            </a:r>
            <a:r>
              <a:rPr lang="en-US" altLang="zh-CN" sz="1600" b="0">
                <a:solidFill>
                  <a:srgbClr val="000000"/>
                </a:solidFill>
                <a:latin typeface="宋体" panose="02010600030101010101" pitchFamily="2" charset="-122"/>
                <a:ea typeface="宋体" panose="02010600030101010101" pitchFamily="2" charset="-122"/>
              </a:rPr>
              <a:t>S3S2S1S0</a:t>
            </a:r>
            <a:r>
              <a:rPr lang="zh-CN" altLang="en-US" sz="1600" b="0">
                <a:solidFill>
                  <a:srgbClr val="000000"/>
                </a:solidFill>
                <a:latin typeface="宋体" panose="02010600030101010101" pitchFamily="2" charset="-122"/>
                <a:ea typeface="宋体" panose="02010600030101010101" pitchFamily="2" charset="-122"/>
              </a:rPr>
              <a:t>）。输出函数电路将状态信号译为</a:t>
            </a:r>
            <a:r>
              <a:rPr lang="en-US" altLang="zh-CN" sz="1600" b="0">
                <a:solidFill>
                  <a:srgbClr val="000000"/>
                </a:solidFill>
                <a:latin typeface="宋体" panose="02010600030101010101" pitchFamily="2" charset="-122"/>
                <a:ea typeface="宋体" panose="02010600030101010101" pitchFamily="2" charset="-122"/>
              </a:rPr>
              <a:t>Mif</a:t>
            </a:r>
            <a:r>
              <a:rPr lang="zh-CN" altLang="en-US" sz="1600" b="0">
                <a:solidFill>
                  <a:srgbClr val="000000"/>
                </a:solidFill>
                <a:latin typeface="宋体" panose="02010600030101010101" pitchFamily="2" charset="-122"/>
                <a:ea typeface="宋体" panose="02010600030101010101" pitchFamily="2" charset="-122"/>
              </a:rPr>
              <a:t>、</a:t>
            </a:r>
            <a:r>
              <a:rPr lang="en-US" altLang="zh-CN" sz="1600" b="0">
                <a:solidFill>
                  <a:srgbClr val="000000"/>
                </a:solidFill>
                <a:latin typeface="宋体" panose="02010600030101010101" pitchFamily="2" charset="-122"/>
                <a:ea typeface="宋体" panose="02010600030101010101" pitchFamily="2" charset="-122"/>
              </a:rPr>
              <a:t>Mcal</a:t>
            </a:r>
            <a:r>
              <a:rPr lang="zh-CN" altLang="en-US" sz="1600" b="0">
                <a:solidFill>
                  <a:srgbClr val="000000"/>
                </a:solidFill>
                <a:latin typeface="宋体" panose="02010600030101010101" pitchFamily="2" charset="-122"/>
                <a:ea typeface="宋体" panose="02010600030101010101" pitchFamily="2" charset="-122"/>
              </a:rPr>
              <a:t>、</a:t>
            </a:r>
            <a:r>
              <a:rPr lang="en-US" altLang="zh-CN" sz="1600" b="0">
                <a:solidFill>
                  <a:srgbClr val="000000"/>
                </a:solidFill>
                <a:latin typeface="宋体" panose="02010600030101010101" pitchFamily="2" charset="-122"/>
                <a:ea typeface="宋体" panose="02010600030101010101" pitchFamily="2" charset="-122"/>
              </a:rPr>
              <a:t>Mex</a:t>
            </a:r>
            <a:r>
              <a:rPr lang="zh-CN" altLang="en-US" sz="1600" b="0">
                <a:solidFill>
                  <a:srgbClr val="000000"/>
                </a:solidFill>
                <a:latin typeface="宋体" panose="02010600030101010101" pitchFamily="2" charset="-122"/>
                <a:ea typeface="宋体" panose="02010600030101010101" pitchFamily="2" charset="-122"/>
              </a:rPr>
              <a:t>及</a:t>
            </a:r>
            <a:r>
              <a:rPr lang="en-US" altLang="zh-CN" sz="1600" b="0">
                <a:solidFill>
                  <a:srgbClr val="000000"/>
                </a:solidFill>
                <a:latin typeface="宋体" panose="02010600030101010101" pitchFamily="2" charset="-122"/>
                <a:ea typeface="宋体" panose="02010600030101010101" pitchFamily="2" charset="-122"/>
              </a:rPr>
              <a:t>T1-T4</a:t>
            </a:r>
            <a:r>
              <a:rPr lang="zh-CN" altLang="en-US" sz="1600" b="0">
                <a:solidFill>
                  <a:srgbClr val="000000"/>
                </a:solidFill>
                <a:latin typeface="宋体" panose="02010600030101010101" pitchFamily="2" charset="-122"/>
                <a:ea typeface="宋体" panose="02010600030101010101" pitchFamily="2" charset="-122"/>
              </a:rPr>
              <a:t>信号，这些信号分别代表状态周期和节拍周期，直接驱动后续的微操作信号生成。</a:t>
            </a:r>
            <a:endParaRPr lang="en-US" altLang="zh-CN" sz="1600" b="0">
              <a:solidFill>
                <a:srgbClr val="000000"/>
              </a:solidFill>
              <a:latin typeface="宋体" panose="02010600030101010101" pitchFamily="2" charset="-122"/>
              <a:ea typeface="宋体" panose="02010600030101010101" pitchFamily="2" charset="-122"/>
            </a:endParaRPr>
          </a:p>
        </p:txBody>
      </p:sp>
      <p:pic>
        <p:nvPicPr>
          <p:cNvPr id="7" name="图片 6"/>
          <p:cNvPicPr>
            <a:picLocks noChangeAspect="1"/>
          </p:cNvPicPr>
          <p:nvPr/>
        </p:nvPicPr>
        <p:blipFill>
          <a:blip r:embed="rId2"/>
          <a:stretch>
            <a:fillRect/>
          </a:stretch>
        </p:blipFill>
        <p:spPr>
          <a:xfrm>
            <a:off x="706120" y="2852420"/>
            <a:ext cx="5321300" cy="2839720"/>
          </a:xfrm>
          <a:prstGeom prst="rect">
            <a:avLst/>
          </a:prstGeom>
        </p:spPr>
      </p:pic>
      <p:cxnSp>
        <p:nvCxnSpPr>
          <p:cNvPr id="8" name="直接箭头连接符 7"/>
          <p:cNvCxnSpPr/>
          <p:nvPr/>
        </p:nvCxnSpPr>
        <p:spPr>
          <a:xfrm flipH="1">
            <a:off x="6008370" y="2129790"/>
            <a:ext cx="1697355" cy="760730"/>
          </a:xfrm>
          <a:prstGeom prst="straightConnector1">
            <a:avLst/>
          </a:prstGeom>
          <a:ln w="31750" cap="rnd">
            <a:solidFill>
              <a:srgbClr val="FF0000"/>
            </a:solidFill>
            <a:round/>
            <a:tailEnd type="arrow" w="med" len="med"/>
          </a:ln>
        </p:spPr>
        <p:style>
          <a:lnRef idx="0">
            <a:srgbClr val="FFFFFF"/>
          </a:lnRef>
          <a:fillRef idx="0">
            <a:srgbClr val="FFFFFF"/>
          </a:fillRef>
          <a:effectRef idx="0">
            <a:srgbClr val="FFFFFF"/>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p>
            <a:pPr algn="l">
              <a:buClrTx/>
              <a:buSzTx/>
              <a:buFontTx/>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二、定长单总线cpu设计</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pic>
        <p:nvPicPr>
          <p:cNvPr id="16" name="图片 17" descr="IMG_256"/>
          <p:cNvPicPr>
            <a:picLocks noChangeAspect="1"/>
          </p:cNvPicPr>
          <p:nvPr/>
        </p:nvPicPr>
        <p:blipFill>
          <a:blip r:embed="rId1"/>
          <a:stretch>
            <a:fillRect/>
          </a:stretch>
        </p:blipFill>
        <p:spPr>
          <a:xfrm>
            <a:off x="6495733" y="1250315"/>
            <a:ext cx="5095875" cy="1303020"/>
          </a:xfrm>
          <a:prstGeom prst="rect">
            <a:avLst/>
          </a:prstGeom>
          <a:noFill/>
          <a:ln w="9525">
            <a:noFill/>
          </a:ln>
        </p:spPr>
      </p:pic>
      <p:pic>
        <p:nvPicPr>
          <p:cNvPr id="47" name="图片 37"/>
          <p:cNvPicPr>
            <a:picLocks noChangeAspect="1"/>
          </p:cNvPicPr>
          <p:nvPr/>
        </p:nvPicPr>
        <p:blipFill>
          <a:blip r:embed="rId2"/>
          <a:stretch>
            <a:fillRect/>
          </a:stretch>
        </p:blipFill>
        <p:spPr>
          <a:xfrm>
            <a:off x="1024255" y="3067050"/>
            <a:ext cx="5382260" cy="2662555"/>
          </a:xfrm>
          <a:prstGeom prst="rect">
            <a:avLst/>
          </a:prstGeom>
          <a:noFill/>
          <a:ln>
            <a:solidFill>
              <a:schemeClr val="accent1"/>
            </a:solidFill>
          </a:ln>
        </p:spPr>
      </p:pic>
      <p:sp>
        <p:nvSpPr>
          <p:cNvPr id="3" name="文本框 2"/>
          <p:cNvSpPr txBox="1"/>
          <p:nvPr/>
        </p:nvSpPr>
        <p:spPr>
          <a:xfrm>
            <a:off x="6635750" y="3428683"/>
            <a:ext cx="5080000" cy="1630045"/>
          </a:xfrm>
          <a:prstGeom prst="rect">
            <a:avLst/>
          </a:prstGeom>
        </p:spPr>
        <p:txBody>
          <a:bodyPr>
            <a:spAutoFit/>
          </a:bodyPr>
          <a:p>
            <a:pPr marL="0" indent="266700" algn="l" defTabSz="266700">
              <a:lnSpc>
                <a:spcPct val="125000"/>
              </a:lnSpc>
              <a:buClrTx/>
              <a:buSzTx/>
              <a:buFontTx/>
            </a:pPr>
            <a:r>
              <a:rPr lang="zh-CN" altLang="en-US" sz="1600" b="0">
                <a:solidFill>
                  <a:srgbClr val="000000"/>
                </a:solidFill>
                <a:latin typeface="宋体" panose="02010600030101010101" pitchFamily="2" charset="-122"/>
                <a:ea typeface="宋体" panose="02010600030101010101" pitchFamily="2" charset="-122"/>
              </a:rPr>
              <a:t>在头歌平台进一步仿真测试后，所有测试用例均通过。以ADDI指令为例，我观察到Mif周期与T1时刻控制信号精准输出了PCout和MAR信号，ControlBus信号值与设计理论计算值完全一致，误差位ErrBit显示为xx，这表示我们的硬布线控制器的设计准确。</a:t>
            </a:r>
            <a:endParaRPr lang="zh-CN" altLang="en-US" sz="1600" b="0">
              <a:solidFill>
                <a:srgbClr val="000000"/>
              </a:solidFill>
              <a:latin typeface="宋体" panose="02010600030101010101" pitchFamily="2" charset="-122"/>
              <a:ea typeface="宋体" panose="02010600030101010101" pitchFamily="2" charset="-122"/>
            </a:endParaRPr>
          </a:p>
        </p:txBody>
      </p:sp>
      <p:sp>
        <p:nvSpPr>
          <p:cNvPr id="4" name="文本框 3"/>
          <p:cNvSpPr txBox="1"/>
          <p:nvPr/>
        </p:nvSpPr>
        <p:spPr>
          <a:xfrm>
            <a:off x="1175385" y="1311910"/>
            <a:ext cx="5080000" cy="1322070"/>
          </a:xfrm>
          <a:prstGeom prst="rect">
            <a:avLst/>
          </a:prstGeom>
        </p:spPr>
        <p:txBody>
          <a:bodyPr>
            <a:spAutoFit/>
          </a:bodyPr>
          <a:p>
            <a:pPr marL="0" indent="266700" algn="l" defTabSz="266700">
              <a:lnSpc>
                <a:spcPct val="125000"/>
              </a:lnSpc>
              <a:spcBef>
                <a:spcPct val="0"/>
              </a:spcBef>
              <a:spcAft>
                <a:spcPct val="0"/>
              </a:spcAft>
            </a:pPr>
            <a:r>
              <a:rPr lang="zh-CN" altLang="en-US" sz="1600">
                <a:solidFill>
                  <a:srgbClr val="000000"/>
                </a:solidFill>
                <a:latin typeface="宋体" panose="02010600030101010101" pitchFamily="2" charset="-122"/>
                <a:ea typeface="宋体" panose="02010600030101010101" pitchFamily="2" charset="-122"/>
                <a:sym typeface="+mn-ea"/>
              </a:rPr>
              <a:t>由右图</a:t>
            </a:r>
            <a:r>
              <a:rPr lang="zh-CN" altLang="en-US" sz="1600">
                <a:solidFill>
                  <a:srgbClr val="000000"/>
                </a:solidFill>
                <a:latin typeface="宋体" panose="02010600030101010101" pitchFamily="2" charset="-122"/>
                <a:ea typeface="宋体" panose="02010600030101010101" pitchFamily="2" charset="-122"/>
                <a:sym typeface="+mn-ea"/>
              </a:rPr>
              <a:t>可知，状态寄存器通过</a:t>
            </a:r>
            <a:r>
              <a:rPr lang="en-US" altLang="zh-CN" sz="1600">
                <a:solidFill>
                  <a:srgbClr val="000000"/>
                </a:solidFill>
                <a:latin typeface="宋体" panose="02010600030101010101" pitchFamily="2" charset="-122"/>
                <a:ea typeface="宋体" panose="02010600030101010101" pitchFamily="2" charset="-122"/>
                <a:sym typeface="+mn-ea"/>
              </a:rPr>
              <a:t>CLK</a:t>
            </a:r>
            <a:r>
              <a:rPr lang="zh-CN" altLang="en-US" sz="1600">
                <a:solidFill>
                  <a:srgbClr val="000000"/>
                </a:solidFill>
                <a:latin typeface="宋体" panose="02010600030101010101" pitchFamily="2" charset="-122"/>
                <a:ea typeface="宋体" panose="02010600030101010101" pitchFamily="2" charset="-122"/>
                <a:sym typeface="+mn-ea"/>
              </a:rPr>
              <a:t>（时钟信号）的下降沿触发，保证状态转换和控制信号变化稳定同步。</a:t>
            </a:r>
            <a:endParaRPr lang="en-US" altLang="zh-CN" sz="1600" b="0">
              <a:solidFill>
                <a:srgbClr val="000000"/>
              </a:solidFill>
              <a:latin typeface="宋体" panose="02010600030101010101" pitchFamily="2" charset="-122"/>
              <a:ea typeface="宋体" panose="02010600030101010101" pitchFamily="2" charset="-122"/>
            </a:endParaRPr>
          </a:p>
          <a:p>
            <a:pPr marL="0" indent="266700" algn="l" defTabSz="266700">
              <a:lnSpc>
                <a:spcPct val="125000"/>
              </a:lnSpc>
              <a:spcBef>
                <a:spcPct val="0"/>
              </a:spcBef>
              <a:spcAft>
                <a:spcPct val="0"/>
              </a:spcAft>
            </a:pPr>
            <a:r>
              <a:rPr lang="zh-CN" altLang="en-US" sz="1600">
                <a:solidFill>
                  <a:srgbClr val="000000"/>
                </a:solidFill>
                <a:latin typeface="宋体" panose="02010600030101010101" pitchFamily="2" charset="-122"/>
                <a:ea typeface="宋体" panose="02010600030101010101" pitchFamily="2" charset="-122"/>
                <a:sym typeface="+mn-ea"/>
              </a:rPr>
              <a:t>整体电路结构保证每个周期的控制信号精准输出，实现系统准确运行。</a:t>
            </a:r>
            <a:endParaRPr lang="zh-CN" altLang="en-US" sz="1600"/>
          </a:p>
        </p:txBody>
      </p:sp>
      <p:sp>
        <p:nvSpPr>
          <p:cNvPr id="6" name="文本框 5"/>
          <p:cNvSpPr txBox="1"/>
          <p:nvPr/>
        </p:nvSpPr>
        <p:spPr>
          <a:xfrm>
            <a:off x="6496050" y="2553335"/>
            <a:ext cx="5095875"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rPr>
              <a:t>时钟变化波形图</a:t>
            </a:r>
            <a:endParaRPr lang="zh-CN" altLang="en-US" sz="1400">
              <a:latin typeface="宋体" panose="02010600030101010101" pitchFamily="2" charset="-122"/>
              <a:ea typeface="宋体" panose="02010600030101010101" pitchFamily="2" charset="-122"/>
            </a:endParaRPr>
          </a:p>
        </p:txBody>
      </p:sp>
      <p:sp>
        <p:nvSpPr>
          <p:cNvPr id="7" name="文本框 6"/>
          <p:cNvSpPr txBox="1"/>
          <p:nvPr/>
        </p:nvSpPr>
        <p:spPr>
          <a:xfrm>
            <a:off x="1023620" y="5795010"/>
            <a:ext cx="5382895"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rPr>
              <a:t>头歌测试结果图</a:t>
            </a:r>
            <a:endParaRPr lang="zh-CN" altLang="en-US" sz="1400">
              <a:latin typeface="宋体" panose="02010600030101010101" pitchFamily="2" charset="-122"/>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图片 53"/>
          <p:cNvPicPr>
            <a:picLocks noChangeAspect="1"/>
          </p:cNvPicPr>
          <p:nvPr/>
        </p:nvPicPr>
        <p:blipFill>
          <a:blip r:embed="rId1"/>
          <a:srcRect t="50809"/>
          <a:stretch>
            <a:fillRect/>
          </a:stretch>
        </p:blipFill>
        <p:spPr>
          <a:xfrm>
            <a:off x="1064895" y="5704840"/>
            <a:ext cx="4596765" cy="965200"/>
          </a:xfrm>
          <a:prstGeom prst="rect">
            <a:avLst/>
          </a:prstGeom>
          <a:noFill/>
          <a:ln>
            <a:solidFill>
              <a:schemeClr val="accent2"/>
            </a:solidFill>
          </a:ln>
        </p:spPr>
      </p:pic>
      <p:sp>
        <p:nvSpPr>
          <p:cNvPr id="2" name="标题 1"/>
          <p:cNvSpPr/>
          <p:nvPr>
            <p:ph type="title"/>
          </p:nvPr>
        </p:nvSpPr>
        <p:spPr/>
        <p:txBody>
          <a:bodyPr/>
          <a:p>
            <a:pPr algn="l">
              <a:buClrTx/>
              <a:buSzTx/>
              <a:buFontTx/>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二、定长单总线cpu设计</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sp>
        <p:nvSpPr>
          <p:cNvPr id="3" name="文本框 2"/>
          <p:cNvSpPr txBox="1"/>
          <p:nvPr/>
        </p:nvSpPr>
        <p:spPr>
          <a:xfrm>
            <a:off x="1064895" y="1215390"/>
            <a:ext cx="9952355" cy="1445260"/>
          </a:xfrm>
          <a:prstGeom prst="rect">
            <a:avLst/>
          </a:prstGeom>
          <a:noFill/>
        </p:spPr>
        <p:txBody>
          <a:bodyPr wrap="square" rtlCol="0">
            <a:spAutoFit/>
          </a:bodyPr>
          <a:p>
            <a:pPr algn="l">
              <a:buClrTx/>
              <a:buSzTx/>
              <a:buFontTx/>
            </a:pPr>
            <a:r>
              <a:rPr lang="en-US" altLang="zh-CN" sz="2400" b="1">
                <a:latin typeface="Calibri" panose="020F0502020204030204" charset="0"/>
                <a:ea typeface="宋体" panose="02010600030101010101" pitchFamily="2" charset="-122"/>
                <a:cs typeface="Calibri" panose="020F0502020204030204" charset="0"/>
              </a:rPr>
              <a:t>6、</a:t>
            </a:r>
            <a:r>
              <a:rPr lang="zh-CN" altLang="en-US" sz="2400" b="1">
                <a:latin typeface="Calibri" panose="020F0502020204030204" charset="0"/>
                <a:ea typeface="宋体" panose="02010600030101010101" pitchFamily="2" charset="-122"/>
                <a:cs typeface="Calibri" panose="020F0502020204030204" charset="0"/>
              </a:rPr>
              <a:t>单总线</a:t>
            </a:r>
            <a:r>
              <a:rPr lang="en-US" altLang="zh-CN" sz="2400" b="1">
                <a:latin typeface="Calibri" panose="020F0502020204030204" charset="0"/>
                <a:ea typeface="宋体" panose="02010600030101010101" pitchFamily="2" charset="-122"/>
                <a:cs typeface="Calibri" panose="020F0502020204030204" charset="0"/>
              </a:rPr>
              <a:t>CPU</a:t>
            </a:r>
            <a:r>
              <a:rPr lang="zh-CN" altLang="en-US" sz="2400" b="1">
                <a:latin typeface="Calibri" panose="020F0502020204030204" charset="0"/>
                <a:ea typeface="宋体" panose="02010600030101010101" pitchFamily="2" charset="-122"/>
                <a:cs typeface="Calibri" panose="020F0502020204030204" charset="0"/>
              </a:rPr>
              <a:t>设计</a:t>
            </a:r>
            <a:endParaRPr lang="en-US" altLang="zh-CN" sz="2400" b="1">
              <a:latin typeface="Calibri" panose="020F0502020204030204" charset="0"/>
              <a:ea typeface="宋体" panose="02010600030101010101" pitchFamily="2" charset="-122"/>
              <a:cs typeface="Calibri" panose="020F0502020204030204" charset="0"/>
            </a:endParaRPr>
          </a:p>
          <a:p>
            <a:pPr indent="457200"/>
            <a:r>
              <a:rPr lang="zh-CN" altLang="en-US" b="1">
                <a:latin typeface="Calibri" panose="020F0502020204030204" charset="0"/>
                <a:ea typeface="宋体" panose="02010600030101010101" pitchFamily="2" charset="-122"/>
                <a:cs typeface="Calibri" panose="020F0502020204030204" charset="0"/>
              </a:rPr>
              <a:t>设计目标：</a:t>
            </a:r>
            <a:endParaRPr lang="zh-CN" altLang="en-US" b="1">
              <a:latin typeface="Calibri" panose="020F0502020204030204" charset="0"/>
              <a:ea typeface="宋体" panose="02010600030101010101" pitchFamily="2" charset="-122"/>
              <a:cs typeface="Calibri" panose="020F0502020204030204" charset="0"/>
            </a:endParaRPr>
          </a:p>
          <a:p>
            <a:pPr marL="457200" lvl="1" indent="457200" algn="l">
              <a:buClrTx/>
              <a:buSzTx/>
              <a:buFontTx/>
            </a:pPr>
            <a:r>
              <a:rPr lang="en-US" altLang="zh-CN">
                <a:latin typeface="Calibri" panose="020F0502020204030204" charset="0"/>
                <a:ea typeface="宋体" panose="02010600030101010101" pitchFamily="2" charset="-122"/>
                <a:cs typeface="Calibri" panose="020F0502020204030204" charset="0"/>
              </a:rPr>
              <a:t>1</a:t>
            </a:r>
            <a:r>
              <a:rPr lang="zh-CN" altLang="en-US">
                <a:latin typeface="Calibri" panose="020F0502020204030204" charset="0"/>
                <a:ea typeface="宋体" panose="02010600030101010101" pitchFamily="2" charset="-122"/>
                <a:cs typeface="Calibri" panose="020F0502020204030204" charset="0"/>
              </a:rPr>
              <a:t>：</a:t>
            </a:r>
            <a:r>
              <a:rPr lang="zh-CN" altLang="en-US" sz="1800">
                <a:latin typeface="Calibri" panose="020F0502020204030204" charset="0"/>
                <a:ea typeface="宋体" panose="02010600030101010101" pitchFamily="2" charset="-122"/>
                <a:cs typeface="Calibri" panose="020F0502020204030204" charset="0"/>
              </a:rPr>
              <a:t>掌握单总线结构</a:t>
            </a:r>
            <a:r>
              <a:rPr lang="en-US" altLang="zh-CN" sz="1800">
                <a:latin typeface="Calibri" panose="020F0502020204030204" charset="0"/>
                <a:ea typeface="宋体" panose="02010600030101010101" pitchFamily="2" charset="-122"/>
                <a:cs typeface="Calibri" panose="020F0502020204030204" charset="0"/>
              </a:rPr>
              <a:t>CPU</a:t>
            </a:r>
            <a:r>
              <a:rPr lang="zh-CN" altLang="en-US" sz="1800">
                <a:latin typeface="Calibri" panose="020F0502020204030204" charset="0"/>
                <a:ea typeface="宋体" panose="02010600030101010101" pitchFamily="2" charset="-122"/>
                <a:cs typeface="Calibri" panose="020F0502020204030204" charset="0"/>
              </a:rPr>
              <a:t>的基本运行原理</a:t>
            </a:r>
            <a:r>
              <a:rPr lang="zh-CN" altLang="en-US" sz="1800">
                <a:latin typeface="Calibri" panose="020F0502020204030204" charset="0"/>
                <a:ea typeface="宋体" panose="02010600030101010101" pitchFamily="2" charset="-122"/>
                <a:cs typeface="Calibri" panose="020F0502020204030204" charset="0"/>
              </a:rPr>
              <a:t>。</a:t>
            </a:r>
            <a:endParaRPr lang="zh-CN" altLang="en-US" sz="1800">
              <a:latin typeface="Calibri" panose="020F0502020204030204" charset="0"/>
              <a:ea typeface="宋体" panose="02010600030101010101" pitchFamily="2" charset="-122"/>
              <a:cs typeface="Calibri" panose="020F0502020204030204" charset="0"/>
            </a:endParaRPr>
          </a:p>
          <a:p>
            <a:pPr marL="457200" lvl="1" indent="457200" algn="l">
              <a:buClrTx/>
              <a:buSzTx/>
              <a:buFontTx/>
            </a:pPr>
            <a:endParaRPr lang="zh-CN" altLang="en-US" sz="1000">
              <a:latin typeface="Calibri" panose="020F0502020204030204" charset="0"/>
              <a:ea typeface="宋体" panose="02010600030101010101" pitchFamily="2" charset="-122"/>
              <a:cs typeface="Calibri" panose="020F0502020204030204" charset="0"/>
            </a:endParaRPr>
          </a:p>
          <a:p>
            <a:pPr marL="457200" lvl="1" indent="457200" algn="l">
              <a:buClrTx/>
              <a:buSzTx/>
              <a:buFontTx/>
            </a:pPr>
            <a:r>
              <a:rPr lang="zh-CN" altLang="en-US">
                <a:latin typeface="Calibri" panose="020F0502020204030204" charset="0"/>
                <a:ea typeface="宋体" panose="02010600030101010101" pitchFamily="2" charset="-122"/>
                <a:cs typeface="Calibri" panose="020F0502020204030204" charset="0"/>
              </a:rPr>
              <a:t>2：设计并运行</a:t>
            </a:r>
            <a:r>
              <a:rPr lang="en-US" altLang="zh-CN">
                <a:latin typeface="Calibri" panose="020F0502020204030204" charset="0"/>
                <a:ea typeface="宋体" panose="02010600030101010101" pitchFamily="2" charset="-122"/>
                <a:cs typeface="Calibri" panose="020F0502020204030204" charset="0"/>
              </a:rPr>
              <a:t>MIPS</a:t>
            </a:r>
            <a:r>
              <a:rPr lang="zh-CN" altLang="en-US">
                <a:latin typeface="Calibri" panose="020F0502020204030204" charset="0"/>
                <a:ea typeface="宋体" panose="02010600030101010101" pitchFamily="2" charset="-122"/>
                <a:cs typeface="Calibri" panose="020F0502020204030204" charset="0"/>
              </a:rPr>
              <a:t>指令的单总线</a:t>
            </a:r>
            <a:r>
              <a:rPr lang="en-US" altLang="zh-CN">
                <a:latin typeface="Calibri" panose="020F0502020204030204" charset="0"/>
                <a:ea typeface="宋体" panose="02010600030101010101" pitchFamily="2" charset="-122"/>
                <a:cs typeface="Calibri" panose="020F0502020204030204" charset="0"/>
              </a:rPr>
              <a:t>CPU</a:t>
            </a:r>
            <a:r>
              <a:rPr lang="zh-CN" altLang="en-US">
                <a:latin typeface="Calibri" panose="020F0502020204030204" charset="0"/>
                <a:ea typeface="宋体" panose="02010600030101010101" pitchFamily="2" charset="-122"/>
                <a:cs typeface="Calibri" panose="020F0502020204030204" charset="0"/>
              </a:rPr>
              <a:t>系统，并成功执行测试程序</a:t>
            </a:r>
            <a:r>
              <a:rPr lang="zh-CN" altLang="en-US">
                <a:latin typeface="Calibri" panose="020F0502020204030204" charset="0"/>
                <a:ea typeface="宋体" panose="02010600030101010101" pitchFamily="2" charset="-122"/>
                <a:cs typeface="Calibri" panose="020F0502020204030204" charset="0"/>
              </a:rPr>
              <a:t>。</a:t>
            </a:r>
            <a:endParaRPr lang="en-US" altLang="zh-CN">
              <a:latin typeface="Calibri" panose="020F0502020204030204" charset="0"/>
              <a:ea typeface="宋体" panose="02010600030101010101" pitchFamily="2" charset="-122"/>
              <a:cs typeface="Calibri" panose="020F0502020204030204" charset="0"/>
            </a:endParaRPr>
          </a:p>
        </p:txBody>
      </p:sp>
      <p:sp>
        <p:nvSpPr>
          <p:cNvPr id="4" name="文本框 3"/>
          <p:cNvSpPr txBox="1"/>
          <p:nvPr/>
        </p:nvSpPr>
        <p:spPr>
          <a:xfrm>
            <a:off x="5937250" y="2723515"/>
            <a:ext cx="5080000" cy="2861310"/>
          </a:xfrm>
          <a:prstGeom prst="rect">
            <a:avLst/>
          </a:prstGeom>
        </p:spPr>
        <p:txBody>
          <a:bodyPr>
            <a:spAutoFit/>
          </a:bodyPr>
          <a:p>
            <a:pPr marL="0" indent="266700" algn="l" defTabSz="266700">
              <a:lnSpc>
                <a:spcPct val="125000"/>
              </a:lnSpc>
              <a:spcBef>
                <a:spcPct val="0"/>
              </a:spcBef>
              <a:spcAft>
                <a:spcPct val="0"/>
              </a:spcAft>
            </a:pPr>
            <a:r>
              <a:rPr lang="zh-CN" altLang="en-US" sz="1600" b="1">
                <a:solidFill>
                  <a:srgbClr val="000000"/>
                </a:solidFill>
                <a:latin typeface="宋体" panose="02010600030101010101" pitchFamily="2" charset="-122"/>
                <a:ea typeface="宋体" panose="02010600030101010101" pitchFamily="2" charset="-122"/>
              </a:rPr>
              <a:t>实验步骤：</a:t>
            </a:r>
            <a:endParaRPr lang="zh-CN" altLang="en-US" sz="1600" b="1">
              <a:solidFill>
                <a:srgbClr val="000000"/>
              </a:solidFill>
              <a:latin typeface="宋体" panose="02010600030101010101" pitchFamily="2" charset="-122"/>
              <a:ea typeface="宋体" panose="02010600030101010101" pitchFamily="2" charset="-122"/>
            </a:endParaRPr>
          </a:p>
          <a:p>
            <a:pPr marL="0" indent="266700" algn="l" defTabSz="266700">
              <a:lnSpc>
                <a:spcPct val="125000"/>
              </a:lnSpc>
              <a:spcBef>
                <a:spcPct val="0"/>
              </a:spcBef>
              <a:spcAft>
                <a:spcPct val="0"/>
              </a:spcAft>
            </a:pPr>
            <a:r>
              <a:rPr lang="en-US" altLang="zh-CN" sz="1600" b="0">
                <a:solidFill>
                  <a:srgbClr val="000000"/>
                </a:solidFill>
                <a:latin typeface="宋体" panose="02010600030101010101" pitchFamily="2" charset="-122"/>
                <a:ea typeface="宋体" panose="02010600030101010101" pitchFamily="2" charset="-122"/>
              </a:rPr>
              <a:t>1</a:t>
            </a:r>
            <a:r>
              <a:rPr lang="zh-CN" altLang="en-US" sz="1600" b="0">
                <a:solidFill>
                  <a:srgbClr val="000000"/>
                </a:solidFill>
                <a:latin typeface="宋体" panose="02010600030101010101" pitchFamily="2" charset="-122"/>
                <a:ea typeface="宋体" panose="02010600030101010101" pitchFamily="2" charset="-122"/>
              </a:rPr>
              <a:t>：整合之前的</a:t>
            </a:r>
            <a:r>
              <a:rPr lang="en-US" altLang="zh-CN" sz="1600" b="0">
                <a:solidFill>
                  <a:srgbClr val="000000"/>
                </a:solidFill>
                <a:latin typeface="宋体" panose="02010600030101010101" pitchFamily="2" charset="-122"/>
                <a:ea typeface="宋体" panose="02010600030101010101" pitchFamily="2" charset="-122"/>
              </a:rPr>
              <a:t>FSM</a:t>
            </a:r>
            <a:r>
              <a:rPr lang="zh-CN" altLang="en-US" sz="1600" b="0">
                <a:solidFill>
                  <a:srgbClr val="000000"/>
                </a:solidFill>
                <a:latin typeface="宋体" panose="02010600030101010101" pitchFamily="2" charset="-122"/>
                <a:ea typeface="宋体" panose="02010600030101010101" pitchFamily="2" charset="-122"/>
              </a:rPr>
              <a:t>时序发生器、指令译码器、硬布线控制器和输出函数模块，构成完整的单总线</a:t>
            </a:r>
            <a:r>
              <a:rPr lang="en-US" altLang="zh-CN" sz="1600" b="0">
                <a:solidFill>
                  <a:srgbClr val="000000"/>
                </a:solidFill>
                <a:latin typeface="宋体" panose="02010600030101010101" pitchFamily="2" charset="-122"/>
                <a:ea typeface="宋体" panose="02010600030101010101" pitchFamily="2" charset="-122"/>
              </a:rPr>
              <a:t>CPU</a:t>
            </a:r>
            <a:r>
              <a:rPr lang="zh-CN" altLang="en-US" sz="1600" b="0">
                <a:solidFill>
                  <a:srgbClr val="000000"/>
                </a:solidFill>
                <a:latin typeface="宋体" panose="02010600030101010101" pitchFamily="2" charset="-122"/>
                <a:ea typeface="宋体" panose="02010600030101010101" pitchFamily="2" charset="-122"/>
              </a:rPr>
              <a:t>电路系统。</a:t>
            </a:r>
            <a:endParaRPr lang="zh-CN" altLang="en-US" sz="1600" b="0">
              <a:solidFill>
                <a:srgbClr val="000000"/>
              </a:solidFill>
              <a:latin typeface="宋体" panose="02010600030101010101" pitchFamily="2" charset="-122"/>
              <a:ea typeface="宋体" panose="02010600030101010101" pitchFamily="2" charset="-122"/>
            </a:endParaRPr>
          </a:p>
          <a:p>
            <a:pPr marL="0" indent="266700" algn="l" defTabSz="266700">
              <a:lnSpc>
                <a:spcPct val="125000"/>
              </a:lnSpc>
              <a:spcBef>
                <a:spcPct val="0"/>
              </a:spcBef>
              <a:spcAft>
                <a:spcPct val="0"/>
              </a:spcAft>
            </a:pPr>
            <a:r>
              <a:rPr lang="en-US" altLang="zh-CN" sz="1600" b="0">
                <a:solidFill>
                  <a:srgbClr val="000000"/>
                </a:solidFill>
                <a:latin typeface="宋体" panose="02010600030101010101" pitchFamily="2" charset="-122"/>
                <a:ea typeface="宋体" panose="02010600030101010101" pitchFamily="2" charset="-122"/>
              </a:rPr>
              <a:t>2</a:t>
            </a:r>
            <a:r>
              <a:rPr lang="zh-CN" altLang="en-US" sz="1600" b="0">
                <a:solidFill>
                  <a:srgbClr val="000000"/>
                </a:solidFill>
                <a:latin typeface="宋体" panose="02010600030101010101" pitchFamily="2" charset="-122"/>
                <a:ea typeface="宋体" panose="02010600030101010101" pitchFamily="2" charset="-122"/>
              </a:rPr>
              <a:t>：在</a:t>
            </a:r>
            <a:r>
              <a:rPr lang="en-US" altLang="zh-CN" sz="1600" b="0">
                <a:solidFill>
                  <a:srgbClr val="000000"/>
                </a:solidFill>
                <a:latin typeface="宋体" panose="02010600030101010101" pitchFamily="2" charset="-122"/>
                <a:ea typeface="宋体" panose="02010600030101010101" pitchFamily="2" charset="-122"/>
              </a:rPr>
              <a:t>RAM</a:t>
            </a:r>
            <a:r>
              <a:rPr lang="zh-CN" altLang="en-US" sz="1600" b="0">
                <a:solidFill>
                  <a:srgbClr val="000000"/>
                </a:solidFill>
                <a:latin typeface="宋体" panose="02010600030101010101" pitchFamily="2" charset="-122"/>
                <a:ea typeface="宋体" panose="02010600030101010101" pitchFamily="2" charset="-122"/>
              </a:rPr>
              <a:t>中加载了排序程序</a:t>
            </a:r>
            <a:r>
              <a:rPr lang="en-US" altLang="zh-CN" sz="1600" b="0">
                <a:solidFill>
                  <a:srgbClr val="000000"/>
                </a:solidFill>
                <a:latin typeface="宋体" panose="02010600030101010101" pitchFamily="2" charset="-122"/>
                <a:ea typeface="宋体" panose="02010600030101010101" pitchFamily="2" charset="-122"/>
              </a:rPr>
              <a:t>sort-5.hex</a:t>
            </a:r>
            <a:r>
              <a:rPr lang="zh-CN" altLang="en-US" sz="1600" b="0">
                <a:solidFill>
                  <a:srgbClr val="000000"/>
                </a:solidFill>
                <a:latin typeface="宋体" panose="02010600030101010101" pitchFamily="2" charset="-122"/>
                <a:ea typeface="宋体" panose="02010600030101010101" pitchFamily="2" charset="-122"/>
              </a:rPr>
              <a:t>，使用快捷键</a:t>
            </a:r>
            <a:r>
              <a:rPr lang="en-US" altLang="zh-CN" sz="1600" b="0">
                <a:solidFill>
                  <a:srgbClr val="000000"/>
                </a:solidFill>
                <a:latin typeface="宋体" panose="02010600030101010101" pitchFamily="2" charset="-122"/>
                <a:ea typeface="宋体" panose="02010600030101010101" pitchFamily="2" charset="-122"/>
              </a:rPr>
              <a:t>Ctrl+K</a:t>
            </a:r>
            <a:r>
              <a:rPr lang="zh-CN" altLang="en-US" sz="1600" b="0">
                <a:solidFill>
                  <a:srgbClr val="000000"/>
                </a:solidFill>
                <a:latin typeface="宋体" panose="02010600030101010101" pitchFamily="2" charset="-122"/>
                <a:ea typeface="宋体" panose="02010600030101010101" pitchFamily="2" charset="-122"/>
              </a:rPr>
              <a:t>进行自动运行。</a:t>
            </a:r>
            <a:endParaRPr lang="zh-CN" altLang="en-US" sz="1600" b="0">
              <a:solidFill>
                <a:srgbClr val="000000"/>
              </a:solidFill>
              <a:latin typeface="宋体" panose="02010600030101010101" pitchFamily="2" charset="-122"/>
              <a:ea typeface="宋体" panose="02010600030101010101" pitchFamily="2" charset="-122"/>
            </a:endParaRPr>
          </a:p>
          <a:p>
            <a:pPr marL="0" indent="266700" algn="l" defTabSz="266700">
              <a:lnSpc>
                <a:spcPct val="125000"/>
              </a:lnSpc>
              <a:spcBef>
                <a:spcPct val="0"/>
              </a:spcBef>
              <a:spcAft>
                <a:spcPct val="0"/>
              </a:spcAft>
            </a:pPr>
            <a:r>
              <a:rPr lang="en-US" altLang="zh-CN" sz="1600" b="0">
                <a:solidFill>
                  <a:srgbClr val="000000"/>
                </a:solidFill>
                <a:latin typeface="Times New Roman" panose="02020603050405020304"/>
                <a:ea typeface="宋体" panose="02010600030101010101" pitchFamily="2" charset="-122"/>
              </a:rPr>
              <a:t>3</a:t>
            </a:r>
            <a:r>
              <a:rPr lang="zh-CN" altLang="en-US" sz="1600" b="0">
                <a:solidFill>
                  <a:srgbClr val="000000"/>
                </a:solidFill>
                <a:latin typeface="Times New Roman" panose="02020603050405020304"/>
                <a:ea typeface="宋体" panose="02010600030101010101" pitchFamily="2" charset="-122"/>
              </a:rPr>
              <a:t>：程序执行共计</a:t>
            </a:r>
            <a:r>
              <a:rPr lang="en-US" altLang="zh-CN" sz="1600" b="0">
                <a:solidFill>
                  <a:srgbClr val="000000"/>
                </a:solidFill>
                <a:latin typeface="Times New Roman" panose="02020603050405020304"/>
                <a:ea typeface="宋体" panose="02010600030101010101" pitchFamily="2" charset="-122"/>
              </a:rPr>
              <a:t>251</a:t>
            </a:r>
            <a:r>
              <a:rPr lang="zh-CN" altLang="en-US" sz="1600" b="0">
                <a:solidFill>
                  <a:srgbClr val="000000"/>
                </a:solidFill>
                <a:latin typeface="Times New Roman" panose="02020603050405020304"/>
                <a:ea typeface="宋体" panose="02010600030101010101" pitchFamily="2" charset="-122"/>
              </a:rPr>
              <a:t>条指令，最终停留在地址</a:t>
            </a:r>
            <a:r>
              <a:rPr lang="en-US" altLang="zh-CN" sz="1600" b="0">
                <a:solidFill>
                  <a:srgbClr val="000000"/>
                </a:solidFill>
                <a:latin typeface="Times New Roman" panose="02020603050405020304"/>
                <a:ea typeface="宋体" panose="02010600030101010101" pitchFamily="2" charset="-122"/>
              </a:rPr>
              <a:t>0xbbb</a:t>
            </a:r>
            <a:r>
              <a:rPr lang="zh-CN" altLang="en-US" sz="1600" b="0">
                <a:solidFill>
                  <a:srgbClr val="000000"/>
                </a:solidFill>
                <a:latin typeface="Times New Roman" panose="02020603050405020304"/>
                <a:ea typeface="宋体" panose="02010600030101010101" pitchFamily="2" charset="-122"/>
              </a:rPr>
              <a:t>的</a:t>
            </a:r>
            <a:r>
              <a:rPr lang="en-US" altLang="zh-CN" sz="1600" b="0">
                <a:solidFill>
                  <a:srgbClr val="000000"/>
                </a:solidFill>
                <a:latin typeface="Times New Roman" panose="02020603050405020304"/>
                <a:ea typeface="宋体" panose="02010600030101010101" pitchFamily="2" charset="-122"/>
              </a:rPr>
              <a:t>BEQ</a:t>
            </a:r>
            <a:r>
              <a:rPr lang="zh-CN" altLang="en-US" sz="1600" b="0">
                <a:solidFill>
                  <a:srgbClr val="000000"/>
                </a:solidFill>
                <a:latin typeface="Times New Roman" panose="02020603050405020304"/>
                <a:ea typeface="宋体" panose="02010600030101010101" pitchFamily="2" charset="-122"/>
              </a:rPr>
              <a:t>指令处，此处构成程序的执行死循环，标志程序的正确运行终止。最终在头歌平台测试</a:t>
            </a:r>
            <a:r>
              <a:rPr lang="zh-CN" altLang="en-US" sz="1600" b="0">
                <a:solidFill>
                  <a:srgbClr val="000000"/>
                </a:solidFill>
                <a:latin typeface="Times New Roman" panose="02020603050405020304"/>
                <a:ea typeface="宋体" panose="02010600030101010101" pitchFamily="2" charset="-122"/>
              </a:rPr>
              <a:t>通过。</a:t>
            </a:r>
            <a:endParaRPr lang="zh-CN" altLang="en-US" sz="1600" b="0">
              <a:solidFill>
                <a:srgbClr val="000000"/>
              </a:solidFill>
              <a:latin typeface="Times New Roman" panose="02020603050405020304"/>
              <a:ea typeface="宋体" panose="02010600030101010101" pitchFamily="2" charset="-122"/>
            </a:endParaRPr>
          </a:p>
        </p:txBody>
      </p:sp>
      <p:pic>
        <p:nvPicPr>
          <p:cNvPr id="48" name="图片 38"/>
          <p:cNvPicPr>
            <a:picLocks noChangeAspect="1"/>
          </p:cNvPicPr>
          <p:nvPr/>
        </p:nvPicPr>
        <p:blipFill>
          <a:blip r:embed="rId2"/>
          <a:stretch>
            <a:fillRect/>
          </a:stretch>
        </p:blipFill>
        <p:spPr>
          <a:xfrm>
            <a:off x="1064895" y="2728595"/>
            <a:ext cx="4596130" cy="2788285"/>
          </a:xfrm>
          <a:prstGeom prst="rect">
            <a:avLst/>
          </a:prstGeom>
          <a:noFill/>
          <a:ln>
            <a:solidFill>
              <a:schemeClr val="accent2"/>
            </a:solidFill>
          </a:ln>
        </p:spPr>
      </p:pic>
      <p:pic>
        <p:nvPicPr>
          <p:cNvPr id="50" name="图片 40"/>
          <p:cNvPicPr>
            <a:picLocks noChangeAspect="1"/>
          </p:cNvPicPr>
          <p:nvPr/>
        </p:nvPicPr>
        <p:blipFill>
          <a:blip r:embed="rId3"/>
          <a:stretch>
            <a:fillRect/>
          </a:stretch>
        </p:blipFill>
        <p:spPr>
          <a:xfrm>
            <a:off x="5936615" y="5516880"/>
            <a:ext cx="5080635" cy="1200150"/>
          </a:xfrm>
          <a:prstGeom prst="rect">
            <a:avLst/>
          </a:prstGeom>
          <a:noFill/>
          <a:ln>
            <a:solidFill>
              <a:schemeClr val="accent1"/>
            </a:solidFill>
          </a:ln>
        </p:spPr>
      </p:pic>
      <p:sp>
        <p:nvSpPr>
          <p:cNvPr id="5" name="文本框 4"/>
          <p:cNvSpPr txBox="1"/>
          <p:nvPr/>
        </p:nvSpPr>
        <p:spPr>
          <a:xfrm>
            <a:off x="11017250" y="5516880"/>
            <a:ext cx="287655" cy="1168400"/>
          </a:xfrm>
          <a:prstGeom prst="rect">
            <a:avLst/>
          </a:prstGeom>
          <a:noFill/>
        </p:spPr>
        <p:txBody>
          <a:bodyPr wrap="square" rtlCol="0">
            <a:spAutoFit/>
          </a:bodyPr>
          <a:p>
            <a:r>
              <a:rPr lang="zh-CN" altLang="en-US" sz="1400">
                <a:latin typeface="宋体" panose="02010600030101010101" pitchFamily="2" charset="-122"/>
                <a:ea typeface="宋体" panose="02010600030101010101" pitchFamily="2" charset="-122"/>
              </a:rPr>
              <a:t>头歌</a:t>
            </a:r>
            <a:r>
              <a:rPr lang="zh-CN" altLang="en-US" sz="1400">
                <a:latin typeface="宋体" panose="02010600030101010101" pitchFamily="2" charset="-122"/>
                <a:ea typeface="宋体" panose="02010600030101010101" pitchFamily="2" charset="-122"/>
              </a:rPr>
              <a:t>测评图</a:t>
            </a:r>
            <a:endParaRPr lang="zh-CN" altLang="en-US" sz="1400">
              <a:latin typeface="宋体" panose="02010600030101010101" pitchFamily="2" charset="-122"/>
              <a:ea typeface="宋体" panose="02010600030101010101" pitchFamily="2" charset="-122"/>
            </a:endParaRPr>
          </a:p>
        </p:txBody>
      </p:sp>
      <p:sp>
        <p:nvSpPr>
          <p:cNvPr id="6" name="文本框 5"/>
          <p:cNvSpPr txBox="1"/>
          <p:nvPr/>
        </p:nvSpPr>
        <p:spPr>
          <a:xfrm>
            <a:off x="597535" y="3107690"/>
            <a:ext cx="467360" cy="2030095"/>
          </a:xfrm>
          <a:prstGeom prst="rect">
            <a:avLst/>
          </a:prstGeom>
          <a:noFill/>
        </p:spPr>
        <p:txBody>
          <a:bodyPr wrap="square" rtlCol="0">
            <a:spAutoFit/>
          </a:bodyPr>
          <a:p>
            <a:r>
              <a:rPr lang="zh-CN" altLang="en-US" sz="1400">
                <a:latin typeface="宋体" panose="02010600030101010101" pitchFamily="2" charset="-122"/>
                <a:ea typeface="宋体" panose="02010600030101010101" pitchFamily="2" charset="-122"/>
                <a:cs typeface="宋体" panose="02010600030101010101" pitchFamily="2" charset="-122"/>
              </a:rPr>
              <a:t>单总线</a:t>
            </a:r>
            <a:r>
              <a:rPr lang="en-US" altLang="zh-CN" sz="1400">
                <a:latin typeface="宋体" panose="02010600030101010101" pitchFamily="2" charset="-122"/>
                <a:ea typeface="宋体" panose="02010600030101010101" pitchFamily="2" charset="-122"/>
                <a:cs typeface="宋体" panose="02010600030101010101" pitchFamily="2" charset="-122"/>
              </a:rPr>
              <a:t>cpu</a:t>
            </a:r>
            <a:r>
              <a:rPr lang="zh-CN" altLang="en-US" sz="1400">
                <a:latin typeface="宋体" panose="02010600030101010101" pitchFamily="2" charset="-122"/>
                <a:ea typeface="宋体" panose="02010600030101010101" pitchFamily="2" charset="-122"/>
                <a:cs typeface="宋体" panose="02010600030101010101" pitchFamily="2" charset="-122"/>
              </a:rPr>
              <a:t>设计电路图</a:t>
            </a:r>
            <a:endParaRPr lang="zh-CN" altLang="en-US" sz="14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pPr algn="l">
              <a:buClrTx/>
              <a:buSzTx/>
              <a:buFontTx/>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rPr>
              <a:t>三、</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现代时序</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rPr>
              <a:t>单总线CPU设计</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sp>
        <p:nvSpPr>
          <p:cNvPr id="4" name="文本框 3"/>
          <p:cNvSpPr txBox="1"/>
          <p:nvPr/>
        </p:nvSpPr>
        <p:spPr>
          <a:xfrm>
            <a:off x="1064895" y="1215390"/>
            <a:ext cx="9952355" cy="1568450"/>
          </a:xfrm>
          <a:prstGeom prst="rect">
            <a:avLst/>
          </a:prstGeom>
          <a:noFill/>
        </p:spPr>
        <p:txBody>
          <a:bodyPr wrap="square" rtlCol="0">
            <a:spAutoFit/>
          </a:bodyPr>
          <a:p>
            <a:pPr algn="l">
              <a:buClrTx/>
              <a:buSzTx/>
              <a:buFontTx/>
            </a:pPr>
            <a:r>
              <a:rPr lang="en-US" altLang="zh-CN" sz="2400" b="1">
                <a:latin typeface="Calibri" panose="020F0502020204030204" charset="0"/>
                <a:ea typeface="宋体" panose="02010600030101010101" pitchFamily="2" charset="-122"/>
                <a:cs typeface="Calibri" panose="020F0502020204030204" charset="0"/>
              </a:rPr>
              <a:t>1、MIPS</a:t>
            </a:r>
            <a:r>
              <a:rPr lang="zh-CN" altLang="en-US" sz="2400" b="1">
                <a:latin typeface="Calibri" panose="020F0502020204030204" charset="0"/>
                <a:ea typeface="宋体" panose="02010600030101010101" pitchFamily="2" charset="-122"/>
                <a:cs typeface="Calibri" panose="020F0502020204030204" charset="0"/>
              </a:rPr>
              <a:t>指令译码器设计</a:t>
            </a:r>
            <a:endParaRPr lang="en-US" altLang="zh-CN" sz="2400" b="1">
              <a:latin typeface="Calibri" panose="020F0502020204030204" charset="0"/>
              <a:ea typeface="宋体" panose="02010600030101010101" pitchFamily="2" charset="-122"/>
              <a:cs typeface="Calibri" panose="020F0502020204030204" charset="0"/>
            </a:endParaRPr>
          </a:p>
          <a:p>
            <a:pPr indent="457200"/>
            <a:r>
              <a:rPr lang="zh-CN" altLang="en-US" b="1">
                <a:latin typeface="Calibri" panose="020F0502020204030204" charset="0"/>
                <a:ea typeface="宋体" panose="02010600030101010101" pitchFamily="2" charset="-122"/>
                <a:cs typeface="Calibri" panose="020F0502020204030204" charset="0"/>
                <a:sym typeface="+mn-ea"/>
              </a:rPr>
              <a:t>指令译码</a:t>
            </a:r>
            <a:r>
              <a:rPr lang="zh-CN" altLang="en-US" b="1">
                <a:latin typeface="Calibri" panose="020F0502020204030204" charset="0"/>
                <a:ea typeface="宋体" panose="02010600030101010101" pitchFamily="2" charset="-122"/>
                <a:cs typeface="Calibri" panose="020F0502020204030204" charset="0"/>
                <a:sym typeface="+mn-ea"/>
              </a:rPr>
              <a:t>器功能与设计目标：</a:t>
            </a:r>
            <a:r>
              <a:rPr lang="zh-CN" altLang="en-US">
                <a:latin typeface="Calibri" panose="020F0502020204030204" charset="0"/>
                <a:ea typeface="宋体" panose="02010600030101010101" pitchFamily="2" charset="-122"/>
                <a:cs typeface="Calibri" panose="020F0502020204030204" charset="0"/>
              </a:rPr>
              <a:t>明确实现对</a:t>
            </a:r>
            <a:r>
              <a:rPr lang="en-US" altLang="zh-CN">
                <a:latin typeface="Calibri" panose="020F0502020204030204" charset="0"/>
                <a:ea typeface="宋体" panose="02010600030101010101" pitchFamily="2" charset="-122"/>
                <a:cs typeface="Calibri" panose="020F0502020204030204" charset="0"/>
              </a:rPr>
              <a:t>LW</a:t>
            </a:r>
            <a:r>
              <a:rPr lang="zh-CN" altLang="en-US">
                <a:latin typeface="Calibri" panose="020F0502020204030204" charset="0"/>
                <a:ea typeface="宋体" panose="02010600030101010101" pitchFamily="2" charset="-122"/>
                <a:cs typeface="Calibri" panose="020F0502020204030204" charset="0"/>
              </a:rPr>
              <a:t>、</a:t>
            </a:r>
            <a:r>
              <a:rPr lang="en-US" altLang="zh-CN">
                <a:latin typeface="Calibri" panose="020F0502020204030204" charset="0"/>
                <a:ea typeface="宋体" panose="02010600030101010101" pitchFamily="2" charset="-122"/>
                <a:cs typeface="Calibri" panose="020F0502020204030204" charset="0"/>
              </a:rPr>
              <a:t>SW</a:t>
            </a:r>
            <a:r>
              <a:rPr lang="zh-CN" altLang="en-US">
                <a:latin typeface="Calibri" panose="020F0502020204030204" charset="0"/>
                <a:ea typeface="宋体" panose="02010600030101010101" pitchFamily="2" charset="-122"/>
                <a:cs typeface="Calibri" panose="020F0502020204030204" charset="0"/>
              </a:rPr>
              <a:t>、</a:t>
            </a:r>
            <a:r>
              <a:rPr lang="en-US" altLang="zh-CN">
                <a:latin typeface="Calibri" panose="020F0502020204030204" charset="0"/>
                <a:ea typeface="宋体" panose="02010600030101010101" pitchFamily="2" charset="-122"/>
                <a:cs typeface="Calibri" panose="020F0502020204030204" charset="0"/>
              </a:rPr>
              <a:t>BEQ</a:t>
            </a:r>
            <a:r>
              <a:rPr lang="zh-CN" altLang="en-US">
                <a:latin typeface="Calibri" panose="020F0502020204030204" charset="0"/>
                <a:ea typeface="宋体" panose="02010600030101010101" pitchFamily="2" charset="-122"/>
                <a:cs typeface="Calibri" panose="020F0502020204030204" charset="0"/>
              </a:rPr>
              <a:t>、</a:t>
            </a:r>
            <a:r>
              <a:rPr lang="en-US" altLang="zh-CN">
                <a:latin typeface="Calibri" panose="020F0502020204030204" charset="0"/>
                <a:ea typeface="宋体" panose="02010600030101010101" pitchFamily="2" charset="-122"/>
                <a:cs typeface="Calibri" panose="020F0502020204030204" charset="0"/>
              </a:rPr>
              <a:t>SLT</a:t>
            </a:r>
            <a:r>
              <a:rPr lang="zh-CN" altLang="en-US">
                <a:latin typeface="Calibri" panose="020F0502020204030204" charset="0"/>
                <a:ea typeface="宋体" panose="02010600030101010101" pitchFamily="2" charset="-122"/>
                <a:cs typeface="Calibri" panose="020F0502020204030204" charset="0"/>
              </a:rPr>
              <a:t>、</a:t>
            </a:r>
            <a:r>
              <a:rPr lang="en-US" altLang="zh-CN">
                <a:latin typeface="Calibri" panose="020F0502020204030204" charset="0"/>
                <a:ea typeface="宋体" panose="02010600030101010101" pitchFamily="2" charset="-122"/>
                <a:cs typeface="Calibri" panose="020F0502020204030204" charset="0"/>
              </a:rPr>
              <a:t>ADDI</a:t>
            </a:r>
            <a:r>
              <a:rPr lang="zh-CN" altLang="en-US">
                <a:latin typeface="Calibri" panose="020F0502020204030204" charset="0"/>
                <a:ea typeface="宋体" panose="02010600030101010101" pitchFamily="2" charset="-122"/>
                <a:cs typeface="Calibri" panose="020F0502020204030204" charset="0"/>
              </a:rPr>
              <a:t>等指令的译码功能，生成对应的控制信号。</a:t>
            </a:r>
            <a:endParaRPr lang="zh-CN" altLang="en-US">
              <a:latin typeface="Calibri" panose="020F0502020204030204" charset="0"/>
              <a:ea typeface="宋体" panose="02010600030101010101" pitchFamily="2" charset="-122"/>
              <a:cs typeface="Calibri" panose="020F0502020204030204" charset="0"/>
            </a:endParaRPr>
          </a:p>
          <a:p>
            <a:pPr indent="457200"/>
            <a:r>
              <a:rPr lang="zh-CN" altLang="en-US">
                <a:latin typeface="Calibri" panose="020F0502020204030204" charset="0"/>
                <a:ea typeface="宋体" panose="02010600030101010101" pitchFamily="2" charset="-122"/>
                <a:cs typeface="Calibri" panose="020F0502020204030204" charset="0"/>
              </a:rPr>
              <a:t>译码器采用逻辑门与</a:t>
            </a:r>
            <a:r>
              <a:rPr lang="en-US" altLang="zh-CN">
                <a:latin typeface="Calibri" panose="020F0502020204030204" charset="0"/>
                <a:ea typeface="宋体" panose="02010600030101010101" pitchFamily="2" charset="-122"/>
                <a:cs typeface="Calibri" panose="020F0502020204030204" charset="0"/>
              </a:rPr>
              <a:t>OP</a:t>
            </a:r>
            <a:r>
              <a:rPr lang="zh-CN" altLang="en-US">
                <a:latin typeface="Calibri" panose="020F0502020204030204" charset="0"/>
                <a:ea typeface="宋体" panose="02010600030101010101" pitchFamily="2" charset="-122"/>
                <a:cs typeface="Calibri" panose="020F0502020204030204" charset="0"/>
              </a:rPr>
              <a:t>码、</a:t>
            </a:r>
            <a:r>
              <a:rPr lang="en-US" altLang="zh-CN">
                <a:latin typeface="Calibri" panose="020F0502020204030204" charset="0"/>
                <a:ea typeface="宋体" panose="02010600030101010101" pitchFamily="2" charset="-122"/>
                <a:cs typeface="Calibri" panose="020F0502020204030204" charset="0"/>
              </a:rPr>
              <a:t>FUNCT</a:t>
            </a:r>
            <a:r>
              <a:rPr lang="zh-CN" altLang="en-US">
                <a:latin typeface="Calibri" panose="020F0502020204030204" charset="0"/>
                <a:ea typeface="宋体" panose="02010600030101010101" pitchFamily="2" charset="-122"/>
                <a:cs typeface="Calibri" panose="020F0502020204030204" charset="0"/>
              </a:rPr>
              <a:t>字段，实现准确识别不同指令并输出控制信号。仿真验证结果完全符合设计预期。</a:t>
            </a:r>
            <a:r>
              <a:rPr lang="zh-CN" altLang="en-US">
                <a:latin typeface="Calibri" panose="020F0502020204030204" charset="0"/>
                <a:ea typeface="宋体" panose="02010600030101010101" pitchFamily="2" charset="-122"/>
                <a:cs typeface="Calibri" panose="020F0502020204030204" charset="0"/>
              </a:rPr>
              <a:t>。</a:t>
            </a:r>
            <a:endParaRPr lang="zh-CN" altLang="en-US">
              <a:latin typeface="Calibri" panose="020F0502020204030204" charset="0"/>
              <a:ea typeface="宋体" panose="02010600030101010101" pitchFamily="2" charset="-122"/>
              <a:cs typeface="Calibri" panose="020F0502020204030204" charset="0"/>
            </a:endParaRPr>
          </a:p>
        </p:txBody>
      </p:sp>
      <p:pic>
        <p:nvPicPr>
          <p:cNvPr id="69" name="图片 58"/>
          <p:cNvPicPr/>
          <p:nvPr>
            <p:custDataLst>
              <p:tags r:id="rId1"/>
            </p:custDataLst>
          </p:nvPr>
        </p:nvPicPr>
        <p:blipFill>
          <a:blip r:embed="rId2"/>
          <a:stretch>
            <a:fillRect/>
          </a:stretch>
        </p:blipFill>
        <p:spPr>
          <a:xfrm>
            <a:off x="1064895" y="3116580"/>
            <a:ext cx="4739640" cy="2522220"/>
          </a:xfrm>
          <a:prstGeom prst="rect">
            <a:avLst/>
          </a:prstGeom>
          <a:noFill/>
          <a:ln>
            <a:solidFill>
              <a:schemeClr val="accent2"/>
            </a:solidFill>
          </a:ln>
        </p:spPr>
      </p:pic>
      <p:pic>
        <p:nvPicPr>
          <p:cNvPr id="52" name="图片 42"/>
          <p:cNvPicPr>
            <a:picLocks noChangeAspect="1"/>
          </p:cNvPicPr>
          <p:nvPr>
            <p:custDataLst>
              <p:tags r:id="rId3"/>
            </p:custDataLst>
          </p:nvPr>
        </p:nvPicPr>
        <p:blipFill>
          <a:blip r:embed="rId4"/>
          <a:stretch>
            <a:fillRect/>
          </a:stretch>
        </p:blipFill>
        <p:spPr>
          <a:xfrm>
            <a:off x="6064568" y="3116580"/>
            <a:ext cx="4952365" cy="2506980"/>
          </a:xfrm>
          <a:prstGeom prst="rect">
            <a:avLst/>
          </a:prstGeom>
          <a:noFill/>
          <a:ln>
            <a:solidFill>
              <a:schemeClr val="accent1"/>
            </a:solidFill>
          </a:ln>
        </p:spPr>
      </p:pic>
      <p:sp>
        <p:nvSpPr>
          <p:cNvPr id="6" name="文本框 5"/>
          <p:cNvSpPr txBox="1"/>
          <p:nvPr>
            <p:custDataLst>
              <p:tags r:id="rId5"/>
            </p:custDataLst>
          </p:nvPr>
        </p:nvSpPr>
        <p:spPr>
          <a:xfrm>
            <a:off x="1064895" y="5638800"/>
            <a:ext cx="4739640"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rPr>
              <a:t>指令译码器电路图</a:t>
            </a:r>
            <a:endParaRPr lang="zh-CN" altLang="en-US" sz="1400">
              <a:latin typeface="宋体" panose="02010600030101010101" pitchFamily="2" charset="-122"/>
              <a:ea typeface="宋体" panose="02010600030101010101" pitchFamily="2" charset="-122"/>
            </a:endParaRPr>
          </a:p>
        </p:txBody>
      </p:sp>
      <p:sp>
        <p:nvSpPr>
          <p:cNvPr id="7" name="文本框 6"/>
          <p:cNvSpPr txBox="1"/>
          <p:nvPr>
            <p:custDataLst>
              <p:tags r:id="rId6"/>
            </p:custDataLst>
          </p:nvPr>
        </p:nvSpPr>
        <p:spPr>
          <a:xfrm>
            <a:off x="6065520" y="5638800"/>
            <a:ext cx="4951730"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rPr>
              <a:t>头歌测试结果</a:t>
            </a:r>
            <a:r>
              <a:rPr lang="zh-CN" altLang="en-US" sz="1400">
                <a:latin typeface="宋体" panose="02010600030101010101" pitchFamily="2" charset="-122"/>
                <a:ea typeface="宋体" panose="02010600030101010101" pitchFamily="2" charset="-122"/>
              </a:rPr>
              <a:t>图</a:t>
            </a:r>
            <a:endParaRPr lang="zh-CN" altLang="en-US" sz="1400">
              <a:latin typeface="宋体" panose="02010600030101010101" pitchFamily="2" charset="-122"/>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pPr algn="l">
              <a:buClrTx/>
              <a:buSzTx/>
              <a:buFontTx/>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三、</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现代时序</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单总线CPU设计</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sp>
        <p:nvSpPr>
          <p:cNvPr id="2" name="文本框 1"/>
          <p:cNvSpPr txBox="1"/>
          <p:nvPr/>
        </p:nvSpPr>
        <p:spPr>
          <a:xfrm>
            <a:off x="1064895" y="1215390"/>
            <a:ext cx="9952355" cy="1445260"/>
          </a:xfrm>
          <a:prstGeom prst="rect">
            <a:avLst/>
          </a:prstGeom>
          <a:noFill/>
        </p:spPr>
        <p:txBody>
          <a:bodyPr wrap="square" rtlCol="0">
            <a:spAutoFit/>
          </a:bodyPr>
          <a:p>
            <a:pPr algn="l">
              <a:buClrTx/>
              <a:buSzTx/>
              <a:buFontTx/>
            </a:pPr>
            <a:r>
              <a:rPr lang="en-US" altLang="zh-CN" sz="2400" b="1">
                <a:latin typeface="Calibri" panose="020F0502020204030204" charset="0"/>
                <a:ea typeface="宋体" panose="02010600030101010101" pitchFamily="2" charset="-122"/>
                <a:cs typeface="Calibri" panose="020F0502020204030204" charset="0"/>
              </a:rPr>
              <a:t>2、</a:t>
            </a:r>
            <a:r>
              <a:rPr lang="zh-CN" altLang="en-US" sz="2400" b="1">
                <a:latin typeface="Calibri" panose="020F0502020204030204" charset="0"/>
                <a:ea typeface="宋体" panose="02010600030101010101" pitchFamily="2" charset="-122"/>
                <a:cs typeface="Calibri" panose="020F0502020204030204" charset="0"/>
              </a:rPr>
              <a:t>微程序入口查找逻辑电路</a:t>
            </a:r>
            <a:endParaRPr lang="en-US" altLang="zh-CN" sz="2400" b="1">
              <a:latin typeface="Calibri" panose="020F0502020204030204" charset="0"/>
              <a:ea typeface="宋体" panose="02010600030101010101" pitchFamily="2" charset="-122"/>
              <a:cs typeface="Calibri" panose="020F0502020204030204" charset="0"/>
            </a:endParaRPr>
          </a:p>
          <a:p>
            <a:pPr indent="457200"/>
            <a:r>
              <a:rPr lang="zh-CN" altLang="en-US" b="1">
                <a:latin typeface="Calibri" panose="020F0502020204030204" charset="0"/>
                <a:ea typeface="宋体" panose="02010600030101010101" pitchFamily="2" charset="-122"/>
                <a:cs typeface="Calibri" panose="020F0502020204030204" charset="0"/>
              </a:rPr>
              <a:t>设计目标：</a:t>
            </a:r>
            <a:endParaRPr lang="zh-CN" altLang="en-US" b="1">
              <a:latin typeface="Calibri" panose="020F0502020204030204" charset="0"/>
              <a:ea typeface="宋体" panose="02010600030101010101" pitchFamily="2" charset="-122"/>
              <a:cs typeface="Calibri" panose="020F0502020204030204" charset="0"/>
            </a:endParaRPr>
          </a:p>
          <a:p>
            <a:pPr marL="457200" lvl="1" indent="457200" algn="l">
              <a:buClrTx/>
              <a:buSzTx/>
              <a:buFontTx/>
            </a:pPr>
            <a:r>
              <a:rPr lang="en-US" altLang="zh-CN">
                <a:latin typeface="Calibri" panose="020F0502020204030204" charset="0"/>
                <a:ea typeface="宋体" panose="02010600030101010101" pitchFamily="2" charset="-122"/>
                <a:cs typeface="Calibri" panose="020F0502020204030204" charset="0"/>
              </a:rPr>
              <a:t>1</a:t>
            </a:r>
            <a:r>
              <a:rPr lang="zh-CN" altLang="en-US">
                <a:latin typeface="Calibri" panose="020F0502020204030204" charset="0"/>
                <a:ea typeface="宋体" panose="02010600030101010101" pitchFamily="2" charset="-122"/>
                <a:cs typeface="Calibri" panose="020F0502020204030204" charset="0"/>
              </a:rPr>
              <a:t>：</a:t>
            </a:r>
            <a:r>
              <a:rPr lang="zh-CN" altLang="en-US" sz="1800">
                <a:latin typeface="Calibri" panose="020F0502020204030204" charset="0"/>
                <a:ea typeface="宋体" panose="02010600030101010101" pitchFamily="2" charset="-122"/>
                <a:cs typeface="Calibri" panose="020F0502020204030204" charset="0"/>
              </a:rPr>
              <a:t>深入理解微程序控制器的微程序入口跳转机制</a:t>
            </a:r>
            <a:r>
              <a:rPr lang="zh-CN" altLang="en-US" sz="1800">
                <a:latin typeface="Calibri" panose="020F0502020204030204" charset="0"/>
                <a:ea typeface="宋体" panose="02010600030101010101" pitchFamily="2" charset="-122"/>
                <a:cs typeface="Calibri" panose="020F0502020204030204" charset="0"/>
              </a:rPr>
              <a:t>。</a:t>
            </a:r>
            <a:endParaRPr lang="zh-CN" altLang="en-US" sz="1800">
              <a:latin typeface="Calibri" panose="020F0502020204030204" charset="0"/>
              <a:ea typeface="宋体" panose="02010600030101010101" pitchFamily="2" charset="-122"/>
              <a:cs typeface="Calibri" panose="020F0502020204030204" charset="0"/>
            </a:endParaRPr>
          </a:p>
          <a:p>
            <a:pPr marL="457200" lvl="1" indent="457200" algn="l">
              <a:buClrTx/>
              <a:buSzTx/>
              <a:buFontTx/>
            </a:pPr>
            <a:endParaRPr lang="zh-CN" altLang="en-US" sz="1000">
              <a:latin typeface="Calibri" panose="020F0502020204030204" charset="0"/>
              <a:ea typeface="宋体" panose="02010600030101010101" pitchFamily="2" charset="-122"/>
              <a:cs typeface="Calibri" panose="020F0502020204030204" charset="0"/>
            </a:endParaRPr>
          </a:p>
          <a:p>
            <a:pPr marL="457200" lvl="1" indent="457200" algn="l">
              <a:buClrTx/>
              <a:buSzTx/>
              <a:buFontTx/>
            </a:pPr>
            <a:r>
              <a:rPr lang="zh-CN" altLang="en-US">
                <a:latin typeface="Calibri" panose="020F0502020204030204" charset="0"/>
                <a:ea typeface="宋体" panose="02010600030101010101" pitchFamily="2" charset="-122"/>
                <a:cs typeface="Calibri" panose="020F0502020204030204" charset="0"/>
              </a:rPr>
              <a:t>2：实现根据指令译码信号生成微程序入口地址。</a:t>
            </a:r>
            <a:endParaRPr lang="en-US" altLang="zh-CN">
              <a:latin typeface="Calibri" panose="020F0502020204030204" charset="0"/>
              <a:ea typeface="宋体" panose="02010600030101010101" pitchFamily="2" charset="-122"/>
              <a:cs typeface="Calibri" panose="020F0502020204030204" charset="0"/>
            </a:endParaRPr>
          </a:p>
        </p:txBody>
      </p:sp>
      <p:sp>
        <p:nvSpPr>
          <p:cNvPr id="4" name="文本框 3"/>
          <p:cNvSpPr txBox="1"/>
          <p:nvPr/>
        </p:nvSpPr>
        <p:spPr>
          <a:xfrm>
            <a:off x="5438775" y="2756535"/>
            <a:ext cx="5414645" cy="1568450"/>
          </a:xfrm>
          <a:prstGeom prst="rect">
            <a:avLst/>
          </a:prstGeom>
        </p:spPr>
        <p:txBody>
          <a:bodyPr wrap="square">
            <a:spAutoFit/>
          </a:bodyPr>
          <a:p>
            <a:pPr marL="0" indent="0" algn="just" defTabSz="266700">
              <a:spcBef>
                <a:spcPct val="0"/>
              </a:spcBef>
              <a:spcAft>
                <a:spcPct val="0"/>
              </a:spcAft>
            </a:pPr>
            <a:r>
              <a:rPr lang="zh-CN" altLang="en-US" sz="1600" b="1">
                <a:solidFill>
                  <a:srgbClr val="000000"/>
                </a:solidFill>
                <a:latin typeface="宋体" panose="02010600030101010101" pitchFamily="2" charset="-122"/>
                <a:ea typeface="宋体" panose="02010600030101010101" pitchFamily="2" charset="-122"/>
              </a:rPr>
              <a:t>设计步骤：</a:t>
            </a:r>
            <a:endParaRPr lang="zh-CN" altLang="en-US" sz="1600" b="1">
              <a:solidFill>
                <a:srgbClr val="000000"/>
              </a:solidFill>
              <a:latin typeface="宋体" panose="02010600030101010101" pitchFamily="2" charset="-122"/>
              <a:ea typeface="宋体" panose="02010600030101010101" pitchFamily="2" charset="-122"/>
            </a:endParaRPr>
          </a:p>
          <a:p>
            <a:pPr marL="0" indent="457200" algn="just" defTabSz="266700">
              <a:spcBef>
                <a:spcPct val="0"/>
              </a:spcBef>
              <a:spcAft>
                <a:spcPct val="0"/>
              </a:spcAft>
            </a:pPr>
            <a:r>
              <a:rPr lang="en-US" altLang="zh-CN" sz="1600" b="0">
                <a:solidFill>
                  <a:srgbClr val="000000"/>
                </a:solidFill>
                <a:latin typeface="宋体" panose="02010600030101010101" pitchFamily="2" charset="-122"/>
                <a:ea typeface="宋体" panose="02010600030101010101" pitchFamily="2" charset="-122"/>
              </a:rPr>
              <a:t>1</a:t>
            </a:r>
            <a:r>
              <a:rPr lang="zh-CN" altLang="en-US" sz="1600" b="0">
                <a:solidFill>
                  <a:srgbClr val="000000"/>
                </a:solidFill>
                <a:latin typeface="宋体" panose="02010600030101010101" pitchFamily="2" charset="-122"/>
                <a:ea typeface="宋体" panose="02010600030101010101" pitchFamily="2" charset="-122"/>
              </a:rPr>
              <a:t>：设计地址转换逻辑，根据译码信号生成微程序入口地址，保证微程序指令准确启动。</a:t>
            </a:r>
            <a:endParaRPr lang="zh-CN" altLang="en-US" sz="1600" b="0">
              <a:solidFill>
                <a:srgbClr val="000000"/>
              </a:solidFill>
              <a:latin typeface="宋体" panose="02010600030101010101" pitchFamily="2" charset="-122"/>
              <a:ea typeface="宋体" panose="02010600030101010101" pitchFamily="2" charset="-122"/>
            </a:endParaRPr>
          </a:p>
          <a:p>
            <a:pPr marL="0" indent="457200" algn="just" defTabSz="266700">
              <a:spcBef>
                <a:spcPct val="0"/>
              </a:spcBef>
              <a:spcAft>
                <a:spcPct val="0"/>
              </a:spcAft>
            </a:pPr>
            <a:r>
              <a:rPr lang="en-US" altLang="zh-CN" sz="1600" b="0">
                <a:solidFill>
                  <a:srgbClr val="000000"/>
                </a:solidFill>
                <a:latin typeface="宋体" panose="02010600030101010101" pitchFamily="2" charset="-122"/>
                <a:ea typeface="宋体" panose="02010600030101010101" pitchFamily="2" charset="-122"/>
              </a:rPr>
              <a:t>2</a:t>
            </a:r>
            <a:r>
              <a:rPr lang="zh-CN" altLang="en-US" sz="1600" b="0">
                <a:solidFill>
                  <a:srgbClr val="000000"/>
                </a:solidFill>
                <a:latin typeface="宋体" panose="02010600030101010101" pitchFamily="2" charset="-122"/>
                <a:ea typeface="宋体" panose="02010600030101010101" pitchFamily="2" charset="-122"/>
              </a:rPr>
              <a:t>：右图为状态转移图，根据指令执行流程，明确指令从取指状态跳转到对应功能状态，完成微程序入口地址表设计。</a:t>
            </a:r>
            <a:endParaRPr lang="zh-CN" altLang="en-US" sz="1600" b="0">
              <a:solidFill>
                <a:srgbClr val="000000"/>
              </a:solidFill>
              <a:latin typeface="宋体" panose="02010600030101010101" pitchFamily="2" charset="-122"/>
              <a:ea typeface="宋体" panose="02010600030101010101" pitchFamily="2" charset="-122"/>
            </a:endParaRPr>
          </a:p>
        </p:txBody>
      </p:sp>
      <p:pic>
        <p:nvPicPr>
          <p:cNvPr id="55" name="图片 45" descr="IMG_256"/>
          <p:cNvPicPr>
            <a:picLocks noChangeAspect="1"/>
          </p:cNvPicPr>
          <p:nvPr/>
        </p:nvPicPr>
        <p:blipFill>
          <a:blip r:embed="rId1"/>
          <a:stretch>
            <a:fillRect/>
          </a:stretch>
        </p:blipFill>
        <p:spPr>
          <a:xfrm>
            <a:off x="7604125" y="1110615"/>
            <a:ext cx="2697480" cy="1654810"/>
          </a:xfrm>
          <a:prstGeom prst="rect">
            <a:avLst/>
          </a:prstGeom>
          <a:noFill/>
          <a:ln w="9525">
            <a:solidFill>
              <a:schemeClr val="accent1"/>
            </a:solidFill>
          </a:ln>
        </p:spPr>
      </p:pic>
      <p:pic>
        <p:nvPicPr>
          <p:cNvPr id="56" name="图片 46"/>
          <p:cNvPicPr>
            <a:picLocks noChangeAspect="1"/>
          </p:cNvPicPr>
          <p:nvPr/>
        </p:nvPicPr>
        <p:blipFill>
          <a:blip r:embed="rId2"/>
          <a:srcRect l="12904" b="23687"/>
          <a:stretch>
            <a:fillRect/>
          </a:stretch>
        </p:blipFill>
        <p:spPr>
          <a:xfrm>
            <a:off x="1064895" y="2660650"/>
            <a:ext cx="3949700" cy="3818255"/>
          </a:xfrm>
          <a:prstGeom prst="rect">
            <a:avLst/>
          </a:prstGeom>
          <a:noFill/>
          <a:ln>
            <a:solidFill>
              <a:schemeClr val="accent2"/>
            </a:solidFill>
          </a:ln>
        </p:spPr>
      </p:pic>
      <p:pic>
        <p:nvPicPr>
          <p:cNvPr id="57" name="图片 47"/>
          <p:cNvPicPr>
            <a:picLocks noChangeAspect="1"/>
          </p:cNvPicPr>
          <p:nvPr/>
        </p:nvPicPr>
        <p:blipFill>
          <a:blip r:embed="rId3"/>
          <a:stretch>
            <a:fillRect/>
          </a:stretch>
        </p:blipFill>
        <p:spPr>
          <a:xfrm>
            <a:off x="5438775" y="4420870"/>
            <a:ext cx="5414645" cy="1992630"/>
          </a:xfrm>
          <a:prstGeom prst="rect">
            <a:avLst/>
          </a:prstGeom>
          <a:noFill/>
          <a:ln>
            <a:solidFill>
              <a:schemeClr val="accent1"/>
            </a:solidFill>
          </a:ln>
        </p:spPr>
      </p:pic>
      <p:sp>
        <p:nvSpPr>
          <p:cNvPr id="5" name="文本框 4"/>
          <p:cNvSpPr txBox="1"/>
          <p:nvPr/>
        </p:nvSpPr>
        <p:spPr>
          <a:xfrm>
            <a:off x="1064895" y="6478905"/>
            <a:ext cx="4064000"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rPr>
              <a:t>状态转换图</a:t>
            </a:r>
            <a:endParaRPr lang="zh-CN" altLang="en-US" sz="1400">
              <a:latin typeface="宋体" panose="02010600030101010101" pitchFamily="2" charset="-122"/>
              <a:ea typeface="宋体" panose="02010600030101010101" pitchFamily="2" charset="-122"/>
            </a:endParaRPr>
          </a:p>
        </p:txBody>
      </p:sp>
      <p:sp>
        <p:nvSpPr>
          <p:cNvPr id="6" name="文本框 5"/>
          <p:cNvSpPr txBox="1"/>
          <p:nvPr/>
        </p:nvSpPr>
        <p:spPr>
          <a:xfrm>
            <a:off x="5438775" y="6413500"/>
            <a:ext cx="5415280"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rPr>
              <a:t>微程序入口地址图</a:t>
            </a:r>
            <a:endParaRPr lang="zh-CN" altLang="en-US" sz="1400">
              <a:latin typeface="宋体" panose="02010600030101010101" pitchFamily="2" charset="-122"/>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pPr algn="l">
              <a:buClrTx/>
              <a:buSzTx/>
              <a:buFontTx/>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三、</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现代时序</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单总线CPU设计</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pic>
        <p:nvPicPr>
          <p:cNvPr id="58" name="图片 48"/>
          <p:cNvPicPr>
            <a:picLocks noChangeAspect="1"/>
          </p:cNvPicPr>
          <p:nvPr/>
        </p:nvPicPr>
        <p:blipFill>
          <a:blip r:embed="rId1"/>
          <a:stretch>
            <a:fillRect/>
          </a:stretch>
        </p:blipFill>
        <p:spPr>
          <a:xfrm>
            <a:off x="1064895" y="1223645"/>
            <a:ext cx="4426585" cy="4439920"/>
          </a:xfrm>
          <a:prstGeom prst="rect">
            <a:avLst/>
          </a:prstGeom>
          <a:noFill/>
          <a:ln>
            <a:solidFill>
              <a:schemeClr val="accent2"/>
            </a:solidFill>
          </a:ln>
        </p:spPr>
      </p:pic>
      <p:sp>
        <p:nvSpPr>
          <p:cNvPr id="2" name="文本框 1"/>
          <p:cNvSpPr txBox="1"/>
          <p:nvPr/>
        </p:nvSpPr>
        <p:spPr>
          <a:xfrm>
            <a:off x="5825490" y="1944370"/>
            <a:ext cx="5561965" cy="1322070"/>
          </a:xfrm>
          <a:prstGeom prst="rect">
            <a:avLst/>
          </a:prstGeom>
        </p:spPr>
        <p:txBody>
          <a:bodyPr wrap="square">
            <a:spAutoFit/>
          </a:bodyPr>
          <a:p>
            <a:pPr marL="0" indent="266700" algn="l" defTabSz="266700">
              <a:lnSpc>
                <a:spcPct val="125000"/>
              </a:lnSpc>
              <a:spcBef>
                <a:spcPct val="0"/>
              </a:spcBef>
              <a:spcAft>
                <a:spcPct val="0"/>
              </a:spcAft>
            </a:pPr>
            <a:r>
              <a:rPr lang="zh-CN" altLang="en-US" sz="1600" b="0">
                <a:solidFill>
                  <a:srgbClr val="000000"/>
                </a:solidFill>
                <a:latin typeface="宋体" panose="02010600030101010101" pitchFamily="2" charset="-122"/>
                <a:ea typeface="宋体" panose="02010600030101010101" pitchFamily="2" charset="-122"/>
              </a:rPr>
              <a:t>结合生成的逻辑表达式，在</a:t>
            </a:r>
            <a:r>
              <a:rPr lang="en-US" altLang="zh-CN" sz="1600" b="0">
                <a:solidFill>
                  <a:srgbClr val="000000"/>
                </a:solidFill>
                <a:latin typeface="宋体" panose="02010600030101010101" pitchFamily="2" charset="-122"/>
                <a:ea typeface="宋体" panose="02010600030101010101" pitchFamily="2" charset="-122"/>
              </a:rPr>
              <a:t>Logisim</a:t>
            </a:r>
            <a:r>
              <a:rPr lang="zh-CN" altLang="en-US" sz="1600" b="0">
                <a:solidFill>
                  <a:srgbClr val="000000"/>
                </a:solidFill>
                <a:latin typeface="宋体" panose="02010600030101010101" pitchFamily="2" charset="-122"/>
                <a:ea typeface="宋体" panose="02010600030101010101" pitchFamily="2" charset="-122"/>
              </a:rPr>
              <a:t>构建组合逻辑电路，如</a:t>
            </a:r>
            <a:r>
              <a:rPr lang="zh-CN" altLang="en-US" sz="1600" b="0">
                <a:solidFill>
                  <a:srgbClr val="000000"/>
                </a:solidFill>
                <a:latin typeface="宋体" panose="02010600030101010101" pitchFamily="2" charset="-122"/>
                <a:ea typeface="宋体" panose="02010600030101010101" pitchFamily="2" charset="-122"/>
              </a:rPr>
              <a:t>左图</a:t>
            </a:r>
            <a:r>
              <a:rPr lang="zh-CN" altLang="en-US" sz="1600" b="0">
                <a:solidFill>
                  <a:srgbClr val="000000"/>
                </a:solidFill>
                <a:latin typeface="宋体" panose="02010600030101010101" pitchFamily="2" charset="-122"/>
                <a:ea typeface="宋体" panose="02010600030101010101" pitchFamily="2" charset="-122"/>
              </a:rPr>
              <a:t>所示。</a:t>
            </a:r>
            <a:endParaRPr lang="zh-CN" altLang="en-US" sz="1600" b="0">
              <a:solidFill>
                <a:srgbClr val="000000"/>
              </a:solidFill>
              <a:latin typeface="宋体" panose="02010600030101010101" pitchFamily="2" charset="-122"/>
              <a:ea typeface="宋体" panose="02010600030101010101" pitchFamily="2" charset="-122"/>
            </a:endParaRPr>
          </a:p>
          <a:p>
            <a:pPr marL="0" indent="266700" algn="l" defTabSz="266700">
              <a:lnSpc>
                <a:spcPct val="125000"/>
              </a:lnSpc>
              <a:spcBef>
                <a:spcPct val="0"/>
              </a:spcBef>
              <a:spcAft>
                <a:spcPct val="0"/>
              </a:spcAft>
            </a:pPr>
            <a:r>
              <a:rPr lang="zh-CN" altLang="en-US" sz="1600" b="0">
                <a:solidFill>
                  <a:srgbClr val="000000"/>
                </a:solidFill>
                <a:latin typeface="宋体" panose="02010600030101010101" pitchFamily="2" charset="-122"/>
                <a:ea typeface="宋体" panose="02010600030101010101" pitchFamily="2" charset="-122"/>
              </a:rPr>
              <a:t>头歌测试结果如</a:t>
            </a:r>
            <a:r>
              <a:rPr lang="zh-CN" altLang="en-US" sz="1600" b="0">
                <a:solidFill>
                  <a:srgbClr val="000000"/>
                </a:solidFill>
                <a:latin typeface="宋体" panose="02010600030101010101" pitchFamily="2" charset="-122"/>
                <a:ea typeface="宋体" panose="02010600030101010101" pitchFamily="2" charset="-122"/>
              </a:rPr>
              <a:t>下图所示，各指令微地址均与理论设计完全一致，验证了设计正确性与稳定性。</a:t>
            </a:r>
            <a:endParaRPr lang="zh-CN" altLang="en-US" sz="1600" b="0">
              <a:solidFill>
                <a:srgbClr val="000000"/>
              </a:solidFill>
              <a:latin typeface="宋体" panose="02010600030101010101" pitchFamily="2" charset="-122"/>
              <a:ea typeface="宋体" panose="02010600030101010101" pitchFamily="2" charset="-122"/>
            </a:endParaRPr>
          </a:p>
        </p:txBody>
      </p:sp>
      <p:pic>
        <p:nvPicPr>
          <p:cNvPr id="59" name="图片 49"/>
          <p:cNvPicPr>
            <a:picLocks noChangeAspect="1"/>
          </p:cNvPicPr>
          <p:nvPr/>
        </p:nvPicPr>
        <p:blipFill>
          <a:blip r:embed="rId2"/>
          <a:stretch>
            <a:fillRect/>
          </a:stretch>
        </p:blipFill>
        <p:spPr>
          <a:xfrm>
            <a:off x="5825490" y="3429000"/>
            <a:ext cx="5561330" cy="1932305"/>
          </a:xfrm>
          <a:prstGeom prst="rect">
            <a:avLst/>
          </a:prstGeom>
          <a:noFill/>
          <a:ln>
            <a:noFill/>
          </a:ln>
        </p:spPr>
      </p:pic>
      <p:sp>
        <p:nvSpPr>
          <p:cNvPr id="5" name="文本框 4"/>
          <p:cNvSpPr txBox="1"/>
          <p:nvPr/>
        </p:nvSpPr>
        <p:spPr>
          <a:xfrm>
            <a:off x="1045845" y="5775960"/>
            <a:ext cx="4445635"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rPr>
              <a:t>入口查找逻辑电路图</a:t>
            </a:r>
            <a:endParaRPr lang="zh-CN" altLang="en-US" sz="1400">
              <a:latin typeface="宋体" panose="02010600030101010101" pitchFamily="2" charset="-122"/>
              <a:ea typeface="宋体" panose="02010600030101010101" pitchFamily="2" charset="-122"/>
            </a:endParaRPr>
          </a:p>
        </p:txBody>
      </p:sp>
      <p:sp>
        <p:nvSpPr>
          <p:cNvPr id="6" name="文本框 5"/>
          <p:cNvSpPr txBox="1"/>
          <p:nvPr/>
        </p:nvSpPr>
        <p:spPr>
          <a:xfrm>
            <a:off x="5825490" y="5361305"/>
            <a:ext cx="5562600"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rPr>
              <a:t>头歌测试结果图</a:t>
            </a:r>
            <a:endParaRPr lang="zh-CN" altLang="en-US" sz="1400">
              <a:latin typeface="宋体" panose="02010600030101010101" pitchFamily="2" charset="-122"/>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pPr algn="l">
              <a:buClrTx/>
              <a:buSzTx/>
              <a:buFontTx/>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三、</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现代时序</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单总线CPU设计</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sp>
        <p:nvSpPr>
          <p:cNvPr id="2" name="文本框 1"/>
          <p:cNvSpPr txBox="1"/>
          <p:nvPr/>
        </p:nvSpPr>
        <p:spPr>
          <a:xfrm>
            <a:off x="1064895" y="1215390"/>
            <a:ext cx="9952355" cy="1445260"/>
          </a:xfrm>
          <a:prstGeom prst="rect">
            <a:avLst/>
          </a:prstGeom>
          <a:noFill/>
        </p:spPr>
        <p:txBody>
          <a:bodyPr wrap="square" rtlCol="0">
            <a:spAutoFit/>
          </a:bodyPr>
          <a:p>
            <a:pPr algn="l">
              <a:buClrTx/>
              <a:buSzTx/>
              <a:buFontTx/>
            </a:pPr>
            <a:r>
              <a:rPr lang="en-US" altLang="zh-CN" sz="2400" b="1">
                <a:latin typeface="Calibri" panose="020F0502020204030204" charset="0"/>
                <a:ea typeface="宋体" panose="02010600030101010101" pitchFamily="2" charset="-122"/>
                <a:cs typeface="Calibri" panose="020F0502020204030204" charset="0"/>
              </a:rPr>
              <a:t>3、</a:t>
            </a:r>
            <a:r>
              <a:rPr lang="zh-CN" altLang="en-US" sz="2400" b="1">
                <a:latin typeface="Calibri" panose="020F0502020204030204" charset="0"/>
                <a:ea typeface="宋体" panose="02010600030101010101" pitchFamily="2" charset="-122"/>
                <a:cs typeface="Calibri" panose="020F0502020204030204" charset="0"/>
              </a:rPr>
              <a:t>微程序条件判断逻辑设计</a:t>
            </a:r>
            <a:endParaRPr lang="en-US" altLang="zh-CN" sz="2400" b="1">
              <a:latin typeface="Calibri" panose="020F0502020204030204" charset="0"/>
              <a:ea typeface="宋体" panose="02010600030101010101" pitchFamily="2" charset="-122"/>
              <a:cs typeface="Calibri" panose="020F0502020204030204" charset="0"/>
            </a:endParaRPr>
          </a:p>
          <a:p>
            <a:pPr indent="457200"/>
            <a:r>
              <a:rPr lang="zh-CN" altLang="en-US" b="1">
                <a:latin typeface="Calibri" panose="020F0502020204030204" charset="0"/>
                <a:ea typeface="宋体" panose="02010600030101010101" pitchFamily="2" charset="-122"/>
                <a:cs typeface="Calibri" panose="020F0502020204030204" charset="0"/>
              </a:rPr>
              <a:t>设计目标：</a:t>
            </a:r>
            <a:endParaRPr lang="zh-CN" altLang="en-US" b="1">
              <a:latin typeface="Calibri" panose="020F0502020204030204" charset="0"/>
              <a:ea typeface="宋体" panose="02010600030101010101" pitchFamily="2" charset="-122"/>
              <a:cs typeface="Calibri" panose="020F0502020204030204" charset="0"/>
            </a:endParaRPr>
          </a:p>
          <a:p>
            <a:pPr marL="457200" lvl="1" indent="457200" algn="l">
              <a:buClrTx/>
              <a:buSzTx/>
              <a:buFontTx/>
            </a:pPr>
            <a:r>
              <a:rPr lang="en-US" altLang="zh-CN">
                <a:latin typeface="Calibri" panose="020F0502020204030204" charset="0"/>
                <a:ea typeface="宋体" panose="02010600030101010101" pitchFamily="2" charset="-122"/>
                <a:cs typeface="Calibri" panose="020F0502020204030204" charset="0"/>
              </a:rPr>
              <a:t>1</a:t>
            </a:r>
            <a:r>
              <a:rPr lang="zh-CN" altLang="en-US">
                <a:latin typeface="Calibri" panose="020F0502020204030204" charset="0"/>
                <a:ea typeface="宋体" panose="02010600030101010101" pitchFamily="2" charset="-122"/>
                <a:cs typeface="Calibri" panose="020F0502020204030204" charset="0"/>
              </a:rPr>
              <a:t>：</a:t>
            </a:r>
            <a:r>
              <a:rPr lang="zh-CN" altLang="en-US" sz="1800">
                <a:latin typeface="Calibri" panose="020F0502020204030204" charset="0"/>
                <a:ea typeface="宋体" panose="02010600030101010101" pitchFamily="2" charset="-122"/>
                <a:cs typeface="Calibri" panose="020F0502020204030204" charset="0"/>
              </a:rPr>
              <a:t>掌握微程序控制器分支判别机制</a:t>
            </a:r>
            <a:r>
              <a:rPr lang="zh-CN" altLang="en-US" sz="1800">
                <a:latin typeface="Calibri" panose="020F0502020204030204" charset="0"/>
                <a:ea typeface="宋体" panose="02010600030101010101" pitchFamily="2" charset="-122"/>
                <a:cs typeface="Calibri" panose="020F0502020204030204" charset="0"/>
              </a:rPr>
              <a:t>。</a:t>
            </a:r>
            <a:endParaRPr lang="zh-CN" altLang="en-US" sz="1800">
              <a:latin typeface="Calibri" panose="020F0502020204030204" charset="0"/>
              <a:ea typeface="宋体" panose="02010600030101010101" pitchFamily="2" charset="-122"/>
              <a:cs typeface="Calibri" panose="020F0502020204030204" charset="0"/>
            </a:endParaRPr>
          </a:p>
          <a:p>
            <a:pPr marL="457200" lvl="1" indent="457200" algn="l">
              <a:buClrTx/>
              <a:buSzTx/>
              <a:buFontTx/>
            </a:pPr>
            <a:endParaRPr lang="zh-CN" altLang="en-US" sz="1000">
              <a:latin typeface="Calibri" panose="020F0502020204030204" charset="0"/>
              <a:ea typeface="宋体" panose="02010600030101010101" pitchFamily="2" charset="-122"/>
              <a:cs typeface="Calibri" panose="020F0502020204030204" charset="0"/>
            </a:endParaRPr>
          </a:p>
          <a:p>
            <a:pPr marL="457200" lvl="1" indent="457200" algn="l">
              <a:buClrTx/>
              <a:buSzTx/>
              <a:buFontTx/>
            </a:pPr>
            <a:r>
              <a:rPr lang="zh-CN" altLang="en-US">
                <a:latin typeface="Calibri" panose="020F0502020204030204" charset="0"/>
                <a:ea typeface="宋体" panose="02010600030101010101" pitchFamily="2" charset="-122"/>
                <a:cs typeface="Calibri" panose="020F0502020204030204" charset="0"/>
              </a:rPr>
              <a:t>2：根据微指令的判别字段设计逻辑电路，实现地址选择控制。</a:t>
            </a:r>
            <a:endParaRPr lang="en-US" altLang="zh-CN">
              <a:latin typeface="Calibri" panose="020F0502020204030204" charset="0"/>
              <a:ea typeface="宋体" panose="02010600030101010101" pitchFamily="2" charset="-122"/>
              <a:cs typeface="Calibri" panose="020F0502020204030204" charset="0"/>
            </a:endParaRPr>
          </a:p>
        </p:txBody>
      </p:sp>
      <p:sp>
        <p:nvSpPr>
          <p:cNvPr id="4" name="文本框 3"/>
          <p:cNvSpPr txBox="1"/>
          <p:nvPr/>
        </p:nvSpPr>
        <p:spPr>
          <a:xfrm>
            <a:off x="6470650" y="3362325"/>
            <a:ext cx="5080000" cy="1014730"/>
          </a:xfrm>
          <a:prstGeom prst="rect">
            <a:avLst/>
          </a:prstGeom>
        </p:spPr>
        <p:txBody>
          <a:bodyPr>
            <a:spAutoFit/>
          </a:bodyPr>
          <a:p>
            <a:pPr marL="0" indent="266700" algn="l" defTabSz="266700">
              <a:lnSpc>
                <a:spcPct val="125000"/>
              </a:lnSpc>
              <a:spcBef>
                <a:spcPct val="0"/>
              </a:spcBef>
              <a:spcAft>
                <a:spcPct val="0"/>
              </a:spcAft>
            </a:pPr>
            <a:r>
              <a:rPr lang="zh-CN" altLang="en-US" sz="1600" b="0">
                <a:solidFill>
                  <a:srgbClr val="000000"/>
                </a:solidFill>
                <a:latin typeface="宋体" panose="02010600030101010101" pitchFamily="2" charset="-122"/>
                <a:ea typeface="宋体" panose="02010600030101010101" pitchFamily="2" charset="-122"/>
              </a:rPr>
              <a:t>根据微程序的条件测试字段及反馈条件信息，先填写条件判别逻辑</a:t>
            </a:r>
            <a:r>
              <a:rPr lang="en-US" altLang="zh-CN" sz="1600" b="0">
                <a:solidFill>
                  <a:srgbClr val="000000"/>
                </a:solidFill>
                <a:latin typeface="宋体" panose="02010600030101010101" pitchFamily="2" charset="-122"/>
                <a:ea typeface="宋体" panose="02010600030101010101" pitchFamily="2" charset="-122"/>
              </a:rPr>
              <a:t>excel</a:t>
            </a:r>
            <a:r>
              <a:rPr lang="zh-CN" altLang="en-US" sz="1600" b="0">
                <a:solidFill>
                  <a:srgbClr val="000000"/>
                </a:solidFill>
                <a:latin typeface="宋体" panose="02010600030101010101" pitchFamily="2" charset="-122"/>
                <a:ea typeface="宋体" panose="02010600030101010101" pitchFamily="2" charset="-122"/>
              </a:rPr>
              <a:t>表，并根据生成的布尔逻辑表达式自动生成</a:t>
            </a:r>
            <a:r>
              <a:rPr lang="en-US" altLang="zh-CN" sz="1600" b="0">
                <a:solidFill>
                  <a:srgbClr val="000000"/>
                </a:solidFill>
                <a:latin typeface="宋体" panose="02010600030101010101" pitchFamily="2" charset="-122"/>
                <a:ea typeface="宋体" panose="02010600030101010101" pitchFamily="2" charset="-122"/>
              </a:rPr>
              <a:t>losisim</a:t>
            </a:r>
            <a:r>
              <a:rPr lang="zh-CN" altLang="en-US" sz="1600" b="0">
                <a:solidFill>
                  <a:srgbClr val="000000"/>
                </a:solidFill>
                <a:latin typeface="宋体" panose="02010600030101010101" pitchFamily="2" charset="-122"/>
                <a:ea typeface="宋体" panose="02010600030101010101" pitchFamily="2" charset="-122"/>
              </a:rPr>
              <a:t>电路，如</a:t>
            </a:r>
            <a:r>
              <a:rPr lang="zh-CN" altLang="en-US" sz="1600" b="0">
                <a:solidFill>
                  <a:srgbClr val="000000"/>
                </a:solidFill>
                <a:latin typeface="宋体" panose="02010600030101010101" pitchFamily="2" charset="-122"/>
                <a:ea typeface="宋体" panose="02010600030101010101" pitchFamily="2" charset="-122"/>
              </a:rPr>
              <a:t>左图</a:t>
            </a:r>
            <a:r>
              <a:rPr lang="zh-CN" altLang="en-US" sz="1600" b="0">
                <a:solidFill>
                  <a:srgbClr val="000000"/>
                </a:solidFill>
                <a:latin typeface="宋体" panose="02010600030101010101" pitchFamily="2" charset="-122"/>
                <a:ea typeface="宋体" panose="02010600030101010101" pitchFamily="2" charset="-122"/>
              </a:rPr>
              <a:t>所示。</a:t>
            </a:r>
            <a:endParaRPr lang="zh-CN" altLang="en-US" sz="1600" b="0">
              <a:solidFill>
                <a:srgbClr val="000000"/>
              </a:solidFill>
              <a:latin typeface="宋体" panose="02010600030101010101" pitchFamily="2" charset="-122"/>
              <a:ea typeface="宋体" panose="02010600030101010101" pitchFamily="2" charset="-122"/>
            </a:endParaRPr>
          </a:p>
        </p:txBody>
      </p:sp>
      <p:pic>
        <p:nvPicPr>
          <p:cNvPr id="70" name="图片 59"/>
          <p:cNvPicPr>
            <a:picLocks noChangeAspect="1"/>
          </p:cNvPicPr>
          <p:nvPr/>
        </p:nvPicPr>
        <p:blipFill>
          <a:blip r:embed="rId1"/>
          <a:stretch>
            <a:fillRect/>
          </a:stretch>
        </p:blipFill>
        <p:spPr>
          <a:xfrm>
            <a:off x="1064895" y="2803525"/>
            <a:ext cx="5031740" cy="2270125"/>
          </a:xfrm>
          <a:prstGeom prst="rect">
            <a:avLst/>
          </a:prstGeom>
          <a:noFill/>
          <a:ln>
            <a:solidFill>
              <a:schemeClr val="accent2"/>
            </a:solidFill>
          </a:ln>
        </p:spPr>
      </p:pic>
      <p:pic>
        <p:nvPicPr>
          <p:cNvPr id="61" name="图片 51"/>
          <p:cNvPicPr>
            <a:picLocks noChangeAspect="1"/>
          </p:cNvPicPr>
          <p:nvPr/>
        </p:nvPicPr>
        <p:blipFill>
          <a:blip r:embed="rId2"/>
          <a:stretch>
            <a:fillRect/>
          </a:stretch>
        </p:blipFill>
        <p:spPr>
          <a:xfrm>
            <a:off x="6470650" y="4785995"/>
            <a:ext cx="5157470" cy="1645285"/>
          </a:xfrm>
          <a:prstGeom prst="rect">
            <a:avLst/>
          </a:prstGeom>
          <a:noFill/>
          <a:ln>
            <a:solidFill>
              <a:schemeClr val="accent1"/>
            </a:solidFill>
          </a:ln>
        </p:spPr>
      </p:pic>
      <p:sp>
        <p:nvSpPr>
          <p:cNvPr id="6" name="文本框 5"/>
          <p:cNvSpPr txBox="1"/>
          <p:nvPr/>
        </p:nvSpPr>
        <p:spPr>
          <a:xfrm>
            <a:off x="1064895" y="5216525"/>
            <a:ext cx="5272405" cy="1014730"/>
          </a:xfrm>
          <a:prstGeom prst="rect">
            <a:avLst/>
          </a:prstGeom>
        </p:spPr>
        <p:txBody>
          <a:bodyPr wrap="square">
            <a:spAutoFit/>
          </a:bodyPr>
          <a:p>
            <a:pPr indent="266700" algn="l" defTabSz="266700">
              <a:lnSpc>
                <a:spcPct val="125000"/>
              </a:lnSpc>
              <a:buClrTx/>
              <a:buSzTx/>
              <a:buFontTx/>
            </a:pPr>
            <a:r>
              <a:rPr lang="zh-CN" altLang="en-US" sz="1600">
                <a:solidFill>
                  <a:srgbClr val="000000"/>
                </a:solidFill>
                <a:latin typeface="宋体" panose="02010600030101010101" pitchFamily="2" charset="-122"/>
                <a:ea typeface="宋体" panose="02010600030101010101" pitchFamily="2" charset="-122"/>
              </a:rPr>
              <a:t>头歌测试结果如右图所示，在五组不同测试条件下，组合逻辑电路稳定输出了正确的MuxSel选择信号，每组结果均符合理论预期。</a:t>
            </a:r>
            <a:endParaRPr lang="zh-CN" altLang="en-US" sz="1600">
              <a:solidFill>
                <a:srgbClr val="000000"/>
              </a:solidFill>
              <a:latin typeface="宋体" panose="02010600030101010101" pitchFamily="2" charset="-122"/>
              <a:ea typeface="宋体" panose="02010600030101010101" pitchFamily="2" charset="-122"/>
            </a:endParaRPr>
          </a:p>
        </p:txBody>
      </p:sp>
      <p:sp>
        <p:nvSpPr>
          <p:cNvPr id="7" name="文本框 6"/>
          <p:cNvSpPr txBox="1"/>
          <p:nvPr/>
        </p:nvSpPr>
        <p:spPr>
          <a:xfrm>
            <a:off x="736600" y="2813050"/>
            <a:ext cx="328295" cy="2251075"/>
          </a:xfrm>
          <a:prstGeom prst="rect">
            <a:avLst/>
          </a:prstGeom>
          <a:noFill/>
        </p:spPr>
        <p:txBody>
          <a:bodyPr wrap="square" rtlCol="0">
            <a:noAutofit/>
          </a:bodyPr>
          <a:p>
            <a:pPr algn="ctr"/>
            <a:r>
              <a:rPr lang="zh-CN" altLang="en-US" sz="1400">
                <a:latin typeface="宋体" panose="02010600030101010101" pitchFamily="2" charset="-122"/>
                <a:ea typeface="宋体" panose="02010600030101010101" pitchFamily="2" charset="-122"/>
              </a:rPr>
              <a:t>条</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件</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判</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别</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逻</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辑</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电</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路</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图</a:t>
            </a:r>
            <a:endParaRPr lang="zh-CN" altLang="en-US" sz="1400">
              <a:latin typeface="宋体" panose="02010600030101010101" pitchFamily="2" charset="-122"/>
              <a:ea typeface="宋体" panose="02010600030101010101" pitchFamily="2" charset="-122"/>
            </a:endParaRPr>
          </a:p>
        </p:txBody>
      </p:sp>
      <p:sp>
        <p:nvSpPr>
          <p:cNvPr id="8" name="文本框 7"/>
          <p:cNvSpPr txBox="1"/>
          <p:nvPr/>
        </p:nvSpPr>
        <p:spPr>
          <a:xfrm>
            <a:off x="6470015" y="6431280"/>
            <a:ext cx="5157470"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rPr>
              <a:t>头歌测试结果图</a:t>
            </a:r>
            <a:endParaRPr lang="zh-CN" altLang="en-US" sz="1400">
              <a:latin typeface="宋体" panose="02010600030101010101" pitchFamily="2" charset="-122"/>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pPr algn="l">
              <a:buClrTx/>
              <a:buSzTx/>
              <a:buFontTx/>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三、</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现代时序</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单总线CPU设计</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sp>
        <p:nvSpPr>
          <p:cNvPr id="5" name="文本框 4"/>
          <p:cNvSpPr txBox="1"/>
          <p:nvPr/>
        </p:nvSpPr>
        <p:spPr>
          <a:xfrm>
            <a:off x="1064895" y="1215390"/>
            <a:ext cx="10134600" cy="1445260"/>
          </a:xfrm>
          <a:prstGeom prst="rect">
            <a:avLst/>
          </a:prstGeom>
          <a:noFill/>
        </p:spPr>
        <p:txBody>
          <a:bodyPr wrap="square" rtlCol="0">
            <a:spAutoFit/>
          </a:bodyPr>
          <a:p>
            <a:pPr algn="l">
              <a:buClrTx/>
              <a:buSzTx/>
              <a:buFontTx/>
            </a:pPr>
            <a:r>
              <a:rPr lang="en-US" altLang="zh-CN" sz="2400" b="1">
                <a:latin typeface="Calibri" panose="020F0502020204030204" charset="0"/>
                <a:ea typeface="宋体" panose="02010600030101010101" pitchFamily="2" charset="-122"/>
                <a:cs typeface="Calibri" panose="020F0502020204030204" charset="0"/>
              </a:rPr>
              <a:t>4、</a:t>
            </a:r>
            <a:r>
              <a:rPr lang="zh-CN" altLang="en-US" sz="2400" b="1">
                <a:latin typeface="Calibri" panose="020F0502020204030204" charset="0"/>
                <a:ea typeface="宋体" panose="02010600030101010101" pitchFamily="2" charset="-122"/>
                <a:cs typeface="Calibri" panose="020F0502020204030204" charset="0"/>
              </a:rPr>
              <a:t>微程序控制器设计</a:t>
            </a:r>
            <a:endParaRPr lang="en-US" altLang="zh-CN" sz="2400" b="1">
              <a:latin typeface="Calibri" panose="020F0502020204030204" charset="0"/>
              <a:ea typeface="宋体" panose="02010600030101010101" pitchFamily="2" charset="-122"/>
              <a:cs typeface="Calibri" panose="020F0502020204030204" charset="0"/>
            </a:endParaRPr>
          </a:p>
          <a:p>
            <a:pPr indent="457200"/>
            <a:r>
              <a:rPr lang="zh-CN" altLang="en-US" b="1">
                <a:latin typeface="Calibri" panose="020F0502020204030204" charset="0"/>
                <a:ea typeface="宋体" panose="02010600030101010101" pitchFamily="2" charset="-122"/>
                <a:cs typeface="Calibri" panose="020F0502020204030204" charset="0"/>
              </a:rPr>
              <a:t>设计目标：</a:t>
            </a:r>
            <a:endParaRPr lang="zh-CN" altLang="en-US" b="1">
              <a:latin typeface="Calibri" panose="020F0502020204030204" charset="0"/>
              <a:ea typeface="宋体" panose="02010600030101010101" pitchFamily="2" charset="-122"/>
              <a:cs typeface="Calibri" panose="020F0502020204030204" charset="0"/>
            </a:endParaRPr>
          </a:p>
          <a:p>
            <a:pPr marL="457200" lvl="1" indent="457200" algn="l">
              <a:buClrTx/>
              <a:buSzTx/>
              <a:buFontTx/>
            </a:pPr>
            <a:r>
              <a:rPr lang="en-US" altLang="zh-CN">
                <a:latin typeface="Calibri" panose="020F0502020204030204" charset="0"/>
                <a:ea typeface="宋体" panose="02010600030101010101" pitchFamily="2" charset="-122"/>
                <a:cs typeface="Calibri" panose="020F0502020204030204" charset="0"/>
              </a:rPr>
              <a:t>1</a:t>
            </a:r>
            <a:r>
              <a:rPr lang="zh-CN" altLang="en-US">
                <a:latin typeface="Calibri" panose="020F0502020204030204" charset="0"/>
                <a:ea typeface="宋体" panose="02010600030101010101" pitchFamily="2" charset="-122"/>
                <a:cs typeface="Calibri" panose="020F0502020204030204" charset="0"/>
              </a:rPr>
              <a:t>：</a:t>
            </a:r>
            <a:r>
              <a:rPr lang="zh-CN" altLang="en-US" sz="1800">
                <a:latin typeface="Calibri" panose="020F0502020204030204" charset="0"/>
                <a:ea typeface="宋体" panose="02010600030101010101" pitchFamily="2" charset="-122"/>
                <a:cs typeface="Calibri" panose="020F0502020204030204" charset="0"/>
              </a:rPr>
              <a:t>理解微程序控制器工作原理与设计流程。</a:t>
            </a:r>
            <a:endParaRPr lang="zh-CN" altLang="en-US" sz="1800">
              <a:latin typeface="Calibri" panose="020F0502020204030204" charset="0"/>
              <a:ea typeface="宋体" panose="02010600030101010101" pitchFamily="2" charset="-122"/>
              <a:cs typeface="Calibri" panose="020F0502020204030204" charset="0"/>
            </a:endParaRPr>
          </a:p>
          <a:p>
            <a:pPr marL="457200" lvl="1" indent="457200" algn="l">
              <a:buClrTx/>
              <a:buSzTx/>
              <a:buFontTx/>
            </a:pPr>
            <a:endParaRPr lang="zh-CN" altLang="en-US" sz="1000">
              <a:latin typeface="Calibri" panose="020F0502020204030204" charset="0"/>
              <a:ea typeface="宋体" panose="02010600030101010101" pitchFamily="2" charset="-122"/>
              <a:cs typeface="Calibri" panose="020F0502020204030204" charset="0"/>
            </a:endParaRPr>
          </a:p>
          <a:p>
            <a:pPr marL="457200" lvl="1" indent="457200" algn="l">
              <a:buClrTx/>
              <a:buSzTx/>
              <a:buFontTx/>
            </a:pPr>
            <a:r>
              <a:rPr lang="zh-CN" altLang="en-US">
                <a:latin typeface="Calibri" panose="020F0502020204030204" charset="0"/>
                <a:ea typeface="宋体" panose="02010600030101010101" pitchFamily="2" charset="-122"/>
                <a:cs typeface="Calibri" panose="020F0502020204030204" charset="0"/>
              </a:rPr>
              <a:t>2：构建完整的微程序控制器，包括微程序入口查找逻辑、条件判别逻辑及控制存储器设计。</a:t>
            </a:r>
            <a:endParaRPr lang="en-US" altLang="zh-CN">
              <a:latin typeface="Calibri" panose="020F0502020204030204" charset="0"/>
              <a:ea typeface="宋体" panose="02010600030101010101" pitchFamily="2" charset="-122"/>
              <a:cs typeface="Calibri" panose="020F0502020204030204" charset="0"/>
            </a:endParaRPr>
          </a:p>
        </p:txBody>
      </p:sp>
      <p:pic>
        <p:nvPicPr>
          <p:cNvPr id="9" name="图片 52"/>
          <p:cNvPicPr>
            <a:picLocks noChangeAspect="1"/>
          </p:cNvPicPr>
          <p:nvPr/>
        </p:nvPicPr>
        <p:blipFill>
          <a:blip r:embed="rId1"/>
          <a:stretch>
            <a:fillRect/>
          </a:stretch>
        </p:blipFill>
        <p:spPr>
          <a:xfrm>
            <a:off x="1063943" y="3010218"/>
            <a:ext cx="4952365" cy="2320925"/>
          </a:xfrm>
          <a:prstGeom prst="rect">
            <a:avLst/>
          </a:prstGeom>
          <a:noFill/>
          <a:ln>
            <a:solidFill>
              <a:schemeClr val="accent2"/>
            </a:solidFill>
          </a:ln>
        </p:spPr>
      </p:pic>
      <p:sp>
        <p:nvSpPr>
          <p:cNvPr id="7" name="文本框 6"/>
          <p:cNvSpPr txBox="1"/>
          <p:nvPr/>
        </p:nvSpPr>
        <p:spPr>
          <a:xfrm>
            <a:off x="6276340" y="2929255"/>
            <a:ext cx="4845685" cy="829945"/>
          </a:xfrm>
          <a:prstGeom prst="rect">
            <a:avLst/>
          </a:prstGeom>
          <a:noFill/>
        </p:spPr>
        <p:txBody>
          <a:bodyPr wrap="square" rtlCol="0">
            <a:spAutoFit/>
          </a:bodyPr>
          <a:p>
            <a:r>
              <a:rPr lang="en-US" altLang="zh-CN" sz="1600">
                <a:latin typeface="Calibri" panose="020F0502020204030204" charset="0"/>
                <a:ea typeface="宋体" panose="02010600030101010101" pitchFamily="2" charset="-122"/>
                <a:cs typeface="Calibri" panose="020F0502020204030204" charset="0"/>
              </a:rPr>
              <a:t>         </a:t>
            </a:r>
            <a:r>
              <a:rPr lang="zh-CN" altLang="en-US" sz="1600">
                <a:latin typeface="Calibri" panose="020F0502020204030204" charset="0"/>
                <a:ea typeface="宋体" panose="02010600030101010101" pitchFamily="2" charset="-122"/>
                <a:cs typeface="Calibri" panose="020F0502020204030204" charset="0"/>
              </a:rPr>
              <a:t>根据指令周期节拍控制图（左图），确定各指令在不同时钟节拍所需控制信号，并</a:t>
            </a:r>
            <a:r>
              <a:rPr lang="zh-CN" altLang="en-US" sz="1600">
                <a:latin typeface="Calibri" panose="020F0502020204030204" charset="0"/>
                <a:ea typeface="宋体" panose="02010600030101010101" pitchFamily="2" charset="-122"/>
                <a:cs typeface="Calibri" panose="020F0502020204030204" charset="0"/>
              </a:rPr>
              <a:t>填写微程序控制器表格，为后续微程序设计逻辑</a:t>
            </a:r>
            <a:r>
              <a:rPr lang="zh-CN" altLang="en-US" sz="1600">
                <a:latin typeface="Calibri" panose="020F0502020204030204" charset="0"/>
                <a:ea typeface="宋体" panose="02010600030101010101" pitchFamily="2" charset="-122"/>
                <a:cs typeface="Calibri" panose="020F0502020204030204" charset="0"/>
              </a:rPr>
              <a:t>依据。</a:t>
            </a:r>
            <a:endParaRPr lang="zh-CN" altLang="en-US" sz="1600">
              <a:latin typeface="Calibri" panose="020F0502020204030204" charset="0"/>
            </a:endParaRPr>
          </a:p>
        </p:txBody>
      </p:sp>
      <p:sp>
        <p:nvSpPr>
          <p:cNvPr id="8" name="文本框 7"/>
          <p:cNvSpPr txBox="1"/>
          <p:nvPr/>
        </p:nvSpPr>
        <p:spPr>
          <a:xfrm>
            <a:off x="1064260" y="5331460"/>
            <a:ext cx="4951730"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rPr>
              <a:t>指令周期节拍控制图</a:t>
            </a:r>
            <a:endParaRPr lang="zh-CN" altLang="en-US" sz="1400">
              <a:latin typeface="宋体" panose="02010600030101010101" pitchFamily="2" charset="-122"/>
              <a:ea typeface="宋体" panose="02010600030101010101" pitchFamily="2" charset="-122"/>
            </a:endParaRPr>
          </a:p>
        </p:txBody>
      </p:sp>
      <p:pic>
        <p:nvPicPr>
          <p:cNvPr id="11" name="图片 54"/>
          <p:cNvPicPr>
            <a:picLocks noChangeAspect="1"/>
          </p:cNvPicPr>
          <p:nvPr/>
        </p:nvPicPr>
        <p:blipFill>
          <a:blip r:embed="rId2"/>
          <a:stretch>
            <a:fillRect/>
          </a:stretch>
        </p:blipFill>
        <p:spPr>
          <a:xfrm>
            <a:off x="6276023" y="3873818"/>
            <a:ext cx="4923155" cy="2475865"/>
          </a:xfrm>
          <a:prstGeom prst="rect">
            <a:avLst/>
          </a:prstGeom>
          <a:noFill/>
          <a:ln>
            <a:solidFill>
              <a:schemeClr val="accent1"/>
            </a:solidFill>
          </a:ln>
        </p:spPr>
      </p:pic>
      <p:sp>
        <p:nvSpPr>
          <p:cNvPr id="10" name="文本框 9"/>
          <p:cNvSpPr txBox="1"/>
          <p:nvPr/>
        </p:nvSpPr>
        <p:spPr>
          <a:xfrm>
            <a:off x="6276340" y="6350000"/>
            <a:ext cx="4923155"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cs typeface="宋体" panose="02010600030101010101" pitchFamily="2" charset="-122"/>
              </a:rPr>
              <a:t>微程序控制器</a:t>
            </a:r>
            <a:r>
              <a:rPr lang="en-US" altLang="zh-CN" sz="1400">
                <a:latin typeface="宋体" panose="02010600030101010101" pitchFamily="2" charset="-122"/>
                <a:ea typeface="宋体" panose="02010600030101010101" pitchFamily="2" charset="-122"/>
                <a:cs typeface="宋体" panose="02010600030101010101" pitchFamily="2" charset="-122"/>
              </a:rPr>
              <a:t>excel</a:t>
            </a:r>
            <a:r>
              <a:rPr lang="zh-CN" altLang="en-US" sz="1400">
                <a:latin typeface="宋体" panose="02010600030101010101" pitchFamily="2" charset="-122"/>
                <a:ea typeface="宋体" panose="02010600030101010101" pitchFamily="2" charset="-122"/>
                <a:cs typeface="宋体" panose="02010600030101010101" pitchFamily="2" charset="-122"/>
              </a:rPr>
              <a:t>表</a:t>
            </a:r>
            <a:endParaRPr lang="zh-CN" altLang="en-US" sz="1400">
              <a:latin typeface="宋体" panose="02010600030101010101" pitchFamily="2" charset="-122"/>
              <a:ea typeface="宋体" panose="02010600030101010101" pitchFamily="2" charset="-122"/>
              <a:cs typeface="宋体" panose="02010600030101010101" pitchFamily="2" charset="-122"/>
            </a:endParaRPr>
          </a:p>
        </p:txBody>
      </p:sp>
      <p:sp>
        <p:nvSpPr>
          <p:cNvPr id="12" name="文本框 11"/>
          <p:cNvSpPr txBox="1"/>
          <p:nvPr/>
        </p:nvSpPr>
        <p:spPr>
          <a:xfrm>
            <a:off x="1064260" y="5766435"/>
            <a:ext cx="4951095" cy="583565"/>
          </a:xfrm>
          <a:prstGeom prst="rect">
            <a:avLst/>
          </a:prstGeom>
          <a:noFill/>
        </p:spPr>
        <p:txBody>
          <a:bodyPr wrap="square" rtlCol="0">
            <a:spAutoFit/>
          </a:bodyPr>
          <a:p>
            <a:r>
              <a:rPr lang="en-US" altLang="zh-CN" sz="1600">
                <a:latin typeface="Calibri" panose="020F0502020204030204" charset="0"/>
                <a:ea typeface="宋体" panose="02010600030101010101" pitchFamily="2" charset="-122"/>
                <a:cs typeface="Calibri" panose="020F0502020204030204" charset="0"/>
                <a:sym typeface="+mn-ea"/>
              </a:rPr>
              <a:t>          excel</a:t>
            </a:r>
            <a:r>
              <a:rPr lang="zh-CN" altLang="en-US" sz="1600">
                <a:latin typeface="Calibri" panose="020F0502020204030204" charset="0"/>
                <a:ea typeface="宋体" panose="02010600030101010101" pitchFamily="2" charset="-122"/>
                <a:cs typeface="Calibri" panose="020F0502020204030204" charset="0"/>
                <a:sym typeface="+mn-ea"/>
              </a:rPr>
              <a:t>表中每行代表一条微指令，后续转换为具体的十六进制微指令，将其存储到控制存储器中。</a:t>
            </a:r>
            <a:endParaRPr lang="zh-CN" altLang="en-US">
              <a:latin typeface="Calibri" panose="020F0502020204030204" charset="0"/>
              <a:cs typeface="Calibri" panose="020F05020202040302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三、</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现代时序</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单总线CPU设计</a:t>
            </a:r>
            <a:endParaRPr lang="zh-CN" altLang="en-US"/>
          </a:p>
        </p:txBody>
      </p:sp>
      <p:pic>
        <p:nvPicPr>
          <p:cNvPr id="72" name="图片 61"/>
          <p:cNvPicPr>
            <a:picLocks noChangeAspect="1"/>
          </p:cNvPicPr>
          <p:nvPr/>
        </p:nvPicPr>
        <p:blipFill>
          <a:blip r:embed="rId1"/>
          <a:stretch>
            <a:fillRect/>
          </a:stretch>
        </p:blipFill>
        <p:spPr>
          <a:xfrm>
            <a:off x="1600835" y="1097915"/>
            <a:ext cx="8732520" cy="3486150"/>
          </a:xfrm>
          <a:prstGeom prst="rect">
            <a:avLst/>
          </a:prstGeom>
          <a:noFill/>
          <a:ln>
            <a:noFill/>
          </a:ln>
        </p:spPr>
      </p:pic>
      <p:pic>
        <p:nvPicPr>
          <p:cNvPr id="71" name="图片 60"/>
          <p:cNvPicPr>
            <a:picLocks noChangeAspect="1"/>
          </p:cNvPicPr>
          <p:nvPr/>
        </p:nvPicPr>
        <p:blipFill>
          <a:blip r:embed="rId2"/>
          <a:srcRect b="38837"/>
          <a:stretch>
            <a:fillRect/>
          </a:stretch>
        </p:blipFill>
        <p:spPr>
          <a:xfrm>
            <a:off x="6033770" y="4658360"/>
            <a:ext cx="4824095" cy="1710055"/>
          </a:xfrm>
          <a:prstGeom prst="rect">
            <a:avLst/>
          </a:prstGeom>
          <a:noFill/>
          <a:ln>
            <a:noFill/>
          </a:ln>
        </p:spPr>
      </p:pic>
      <p:sp>
        <p:nvSpPr>
          <p:cNvPr id="6" name="文本框 5"/>
          <p:cNvSpPr txBox="1"/>
          <p:nvPr/>
        </p:nvSpPr>
        <p:spPr>
          <a:xfrm>
            <a:off x="1213485" y="1097915"/>
            <a:ext cx="387350" cy="3486150"/>
          </a:xfrm>
          <a:prstGeom prst="rect">
            <a:avLst/>
          </a:prstGeom>
          <a:noFill/>
        </p:spPr>
        <p:txBody>
          <a:bodyPr wrap="square" rtlCol="0">
            <a:noAutofit/>
          </a:bodyPr>
          <a:p>
            <a:pPr algn="ctr"/>
            <a:endParaRPr lang="zh-CN" altLang="en-US" sz="1400">
              <a:latin typeface="宋体" panose="02010600030101010101" pitchFamily="2" charset="-122"/>
              <a:ea typeface="宋体" panose="02010600030101010101" pitchFamily="2" charset="-122"/>
            </a:endParaRPr>
          </a:p>
          <a:p>
            <a:pPr algn="ct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微</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程</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序</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控</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制</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器</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时</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序</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电</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路</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图</a:t>
            </a:r>
            <a:endParaRPr lang="zh-CN" altLang="en-US" sz="1400">
              <a:latin typeface="宋体" panose="02010600030101010101" pitchFamily="2" charset="-122"/>
              <a:ea typeface="宋体" panose="02010600030101010101" pitchFamily="2" charset="-122"/>
            </a:endParaRPr>
          </a:p>
        </p:txBody>
      </p:sp>
      <p:sp>
        <p:nvSpPr>
          <p:cNvPr id="7" name="文本框 6"/>
          <p:cNvSpPr txBox="1"/>
          <p:nvPr/>
        </p:nvSpPr>
        <p:spPr>
          <a:xfrm>
            <a:off x="1316990" y="4658995"/>
            <a:ext cx="4495165" cy="1710055"/>
          </a:xfrm>
          <a:prstGeom prst="rect">
            <a:avLst/>
          </a:prstGeom>
          <a:noFill/>
        </p:spPr>
        <p:txBody>
          <a:bodyPr wrap="square" rtlCol="0">
            <a:noAutofit/>
          </a:bodyPr>
          <a:p>
            <a:pPr marL="0" indent="266700" algn="l" defTabSz="266700">
              <a:lnSpc>
                <a:spcPct val="125000"/>
              </a:lnSpc>
              <a:spcBef>
                <a:spcPct val="0"/>
              </a:spcBef>
              <a:spcAft>
                <a:spcPct val="0"/>
              </a:spcAft>
            </a:pPr>
            <a:r>
              <a:rPr lang="en-US" altLang="zh-CN" sz="1600">
                <a:solidFill>
                  <a:srgbClr val="000000"/>
                </a:solidFill>
                <a:latin typeface="Calibri" panose="020F0502020204030204" charset="0"/>
                <a:ea typeface="宋体" panose="02010600030101010101" pitchFamily="2" charset="-122"/>
                <a:cs typeface="Calibri" panose="020F0502020204030204" charset="0"/>
                <a:sym typeface="+mn-ea"/>
              </a:rPr>
              <a:t>   </a:t>
            </a:r>
            <a:endParaRPr lang="en-US" altLang="zh-CN" sz="1600">
              <a:solidFill>
                <a:srgbClr val="000000"/>
              </a:solidFill>
              <a:latin typeface="Calibri" panose="020F0502020204030204" charset="0"/>
              <a:ea typeface="宋体" panose="02010600030101010101" pitchFamily="2" charset="-122"/>
              <a:cs typeface="Calibri" panose="020F0502020204030204" charset="0"/>
              <a:sym typeface="+mn-ea"/>
            </a:endParaRPr>
          </a:p>
          <a:p>
            <a:pPr marL="0" indent="266700" algn="l" defTabSz="266700">
              <a:lnSpc>
                <a:spcPct val="125000"/>
              </a:lnSpc>
              <a:spcBef>
                <a:spcPct val="0"/>
              </a:spcBef>
              <a:spcAft>
                <a:spcPct val="0"/>
              </a:spcAft>
            </a:pPr>
            <a:r>
              <a:rPr lang="zh-CN" altLang="en-US" sz="1600">
                <a:solidFill>
                  <a:srgbClr val="000000"/>
                </a:solidFill>
                <a:latin typeface="Calibri" panose="020F0502020204030204" charset="0"/>
                <a:ea typeface="宋体" panose="02010600030101010101" pitchFamily="2" charset="-122"/>
                <a:cs typeface="Calibri" panose="020F0502020204030204" charset="0"/>
                <a:sym typeface="+mn-ea"/>
              </a:rPr>
              <a:t>测试结果验证了微程序控制器设计的准确性。以</a:t>
            </a:r>
            <a:r>
              <a:rPr lang="en-US" altLang="zh-CN" sz="1600">
                <a:solidFill>
                  <a:srgbClr val="000000"/>
                </a:solidFill>
                <a:latin typeface="Calibri" panose="020F0502020204030204" charset="0"/>
                <a:ea typeface="宋体" panose="02010600030101010101" pitchFamily="2" charset="-122"/>
                <a:cs typeface="Calibri" panose="020F0502020204030204" charset="0"/>
                <a:sym typeface="+mn-ea"/>
              </a:rPr>
              <a:t>ADDI</a:t>
            </a:r>
            <a:r>
              <a:rPr lang="zh-CN" altLang="en-US" sz="1600">
                <a:solidFill>
                  <a:srgbClr val="000000"/>
                </a:solidFill>
                <a:latin typeface="Calibri" panose="020F0502020204030204" charset="0"/>
                <a:ea typeface="宋体" panose="02010600030101010101" pitchFamily="2" charset="-122"/>
                <a:cs typeface="Calibri" panose="020F0502020204030204" charset="0"/>
                <a:sym typeface="+mn-ea"/>
              </a:rPr>
              <a:t>和</a:t>
            </a:r>
            <a:r>
              <a:rPr lang="en-US" altLang="zh-CN" sz="1600">
                <a:solidFill>
                  <a:srgbClr val="000000"/>
                </a:solidFill>
                <a:latin typeface="Calibri" panose="020F0502020204030204" charset="0"/>
                <a:ea typeface="宋体" panose="02010600030101010101" pitchFamily="2" charset="-122"/>
                <a:cs typeface="Calibri" panose="020F0502020204030204" charset="0"/>
                <a:sym typeface="+mn-ea"/>
              </a:rPr>
              <a:t>BEQ</a:t>
            </a:r>
            <a:r>
              <a:rPr lang="zh-CN" altLang="en-US" sz="1600">
                <a:solidFill>
                  <a:srgbClr val="000000"/>
                </a:solidFill>
                <a:latin typeface="Calibri" panose="020F0502020204030204" charset="0"/>
                <a:ea typeface="宋体" panose="02010600030101010101" pitchFamily="2" charset="-122"/>
                <a:cs typeface="Calibri" panose="020F0502020204030204" charset="0"/>
                <a:sym typeface="+mn-ea"/>
              </a:rPr>
              <a:t>指令为例，微地址跳转精确且控制信号输出完全匹配设计预期，判别逻辑也验证有效。</a:t>
            </a:r>
            <a:endParaRPr lang="zh-CN" altLang="en-US" sz="1600">
              <a:latin typeface="Calibri" panose="020F0502020204030204" charset="0"/>
              <a:cs typeface="Calibri" panose="020F05020202040302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图片 64"/>
          <p:cNvPicPr>
            <a:picLocks noChangeAspect="1"/>
          </p:cNvPicPr>
          <p:nvPr/>
        </p:nvPicPr>
        <p:blipFill>
          <a:blip r:embed="rId1"/>
          <a:stretch>
            <a:fillRect/>
          </a:stretch>
        </p:blipFill>
        <p:spPr>
          <a:xfrm>
            <a:off x="7602220" y="4959985"/>
            <a:ext cx="4135755" cy="1398270"/>
          </a:xfrm>
          <a:prstGeom prst="rect">
            <a:avLst/>
          </a:prstGeom>
          <a:noFill/>
          <a:ln>
            <a:solidFill>
              <a:schemeClr val="accent1"/>
            </a:solidFill>
          </a:ln>
        </p:spPr>
      </p:pic>
      <p:sp>
        <p:nvSpPr>
          <p:cNvPr id="3" name="标题 2"/>
          <p:cNvSpPr/>
          <p:nvPr>
            <p:ph type="title"/>
          </p:nvPr>
        </p:nvSpPr>
        <p:spPr/>
        <p:txBody>
          <a:bodyPr/>
          <a:p>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三、</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现代时序</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单总线CPU设计</a:t>
            </a:r>
            <a:endParaRPr lang="zh-CN" altLang="en-US"/>
          </a:p>
        </p:txBody>
      </p:sp>
      <p:sp>
        <p:nvSpPr>
          <p:cNvPr id="5" name="文本框 4"/>
          <p:cNvSpPr txBox="1"/>
          <p:nvPr/>
        </p:nvSpPr>
        <p:spPr>
          <a:xfrm>
            <a:off x="1064895" y="1215390"/>
            <a:ext cx="9952355" cy="1445260"/>
          </a:xfrm>
          <a:prstGeom prst="rect">
            <a:avLst/>
          </a:prstGeom>
          <a:noFill/>
        </p:spPr>
        <p:txBody>
          <a:bodyPr wrap="square" rtlCol="0">
            <a:spAutoFit/>
          </a:bodyPr>
          <a:p>
            <a:pPr algn="l">
              <a:buClrTx/>
              <a:buSzTx/>
              <a:buFontTx/>
            </a:pPr>
            <a:r>
              <a:rPr lang="en-US" altLang="zh-CN" sz="2400" b="1">
                <a:latin typeface="Calibri" panose="020F0502020204030204" charset="0"/>
                <a:ea typeface="宋体" panose="02010600030101010101" pitchFamily="2" charset="-122"/>
                <a:cs typeface="Calibri" panose="020F0502020204030204" charset="0"/>
              </a:rPr>
              <a:t>5、</a:t>
            </a:r>
            <a:r>
              <a:rPr lang="zh-CN" altLang="en-US" sz="2400" b="1">
                <a:latin typeface="Calibri" panose="020F0502020204030204" charset="0"/>
                <a:ea typeface="宋体" panose="02010600030101010101" pitchFamily="2" charset="-122"/>
                <a:cs typeface="Calibri" panose="020F0502020204030204" charset="0"/>
              </a:rPr>
              <a:t>采用微程序的单总线</a:t>
            </a:r>
            <a:r>
              <a:rPr lang="en-US" altLang="zh-CN" sz="2400" b="1">
                <a:latin typeface="Calibri" panose="020F0502020204030204" charset="0"/>
                <a:ea typeface="宋体" panose="02010600030101010101" pitchFamily="2" charset="-122"/>
                <a:cs typeface="Calibri" panose="020F0502020204030204" charset="0"/>
              </a:rPr>
              <a:t>CPU</a:t>
            </a:r>
            <a:r>
              <a:rPr lang="zh-CN" altLang="en-US" sz="2400" b="1">
                <a:latin typeface="Calibri" panose="020F0502020204030204" charset="0"/>
                <a:ea typeface="宋体" panose="02010600030101010101" pitchFamily="2" charset="-122"/>
                <a:cs typeface="Calibri" panose="020F0502020204030204" charset="0"/>
              </a:rPr>
              <a:t>设计</a:t>
            </a:r>
            <a:endParaRPr lang="en-US" altLang="zh-CN" sz="2400" b="1">
              <a:latin typeface="Calibri" panose="020F0502020204030204" charset="0"/>
              <a:ea typeface="宋体" panose="02010600030101010101" pitchFamily="2" charset="-122"/>
              <a:cs typeface="Calibri" panose="020F0502020204030204" charset="0"/>
            </a:endParaRPr>
          </a:p>
          <a:p>
            <a:pPr indent="457200"/>
            <a:r>
              <a:rPr lang="zh-CN" altLang="en-US" b="1">
                <a:latin typeface="Calibri" panose="020F0502020204030204" charset="0"/>
                <a:ea typeface="宋体" panose="02010600030101010101" pitchFamily="2" charset="-122"/>
                <a:cs typeface="Calibri" panose="020F0502020204030204" charset="0"/>
              </a:rPr>
              <a:t>设计目标：</a:t>
            </a:r>
            <a:endParaRPr lang="zh-CN" altLang="en-US" b="1">
              <a:latin typeface="Calibri" panose="020F0502020204030204" charset="0"/>
              <a:ea typeface="宋体" panose="02010600030101010101" pitchFamily="2" charset="-122"/>
              <a:cs typeface="Calibri" panose="020F0502020204030204" charset="0"/>
            </a:endParaRPr>
          </a:p>
          <a:p>
            <a:pPr marL="457200" lvl="1" indent="457200" algn="l">
              <a:buClrTx/>
              <a:buSzTx/>
              <a:buFontTx/>
            </a:pPr>
            <a:r>
              <a:rPr lang="en-US" altLang="zh-CN">
                <a:latin typeface="Calibri" panose="020F0502020204030204" charset="0"/>
                <a:ea typeface="宋体" panose="02010600030101010101" pitchFamily="2" charset="-122"/>
                <a:cs typeface="Calibri" panose="020F0502020204030204" charset="0"/>
              </a:rPr>
              <a:t>1</a:t>
            </a:r>
            <a:r>
              <a:rPr lang="zh-CN" altLang="en-US">
                <a:latin typeface="Calibri" panose="020F0502020204030204" charset="0"/>
                <a:ea typeface="宋体" panose="02010600030101010101" pitchFamily="2" charset="-122"/>
                <a:cs typeface="Calibri" panose="020F0502020204030204" charset="0"/>
              </a:rPr>
              <a:t>：</a:t>
            </a:r>
            <a:r>
              <a:rPr lang="zh-CN" altLang="en-US" sz="1800">
                <a:latin typeface="Calibri" panose="020F0502020204030204" charset="0"/>
                <a:ea typeface="宋体" panose="02010600030101010101" pitchFamily="2" charset="-122"/>
                <a:cs typeface="Calibri" panose="020F0502020204030204" charset="0"/>
              </a:rPr>
              <a:t>掌握基于微程序控制器的单总线</a:t>
            </a:r>
            <a:r>
              <a:rPr lang="en-US" altLang="zh-CN" sz="1800">
                <a:latin typeface="Calibri" panose="020F0502020204030204" charset="0"/>
                <a:ea typeface="宋体" panose="02010600030101010101" pitchFamily="2" charset="-122"/>
                <a:cs typeface="Calibri" panose="020F0502020204030204" charset="0"/>
              </a:rPr>
              <a:t>CPU</a:t>
            </a:r>
            <a:r>
              <a:rPr lang="zh-CN" altLang="en-US" sz="1800">
                <a:latin typeface="Calibri" panose="020F0502020204030204" charset="0"/>
                <a:ea typeface="宋体" panose="02010600030101010101" pitchFamily="2" charset="-122"/>
                <a:cs typeface="Calibri" panose="020F0502020204030204" charset="0"/>
              </a:rPr>
              <a:t>整体结构和运行机制</a:t>
            </a:r>
            <a:r>
              <a:rPr lang="zh-CN" altLang="en-US" sz="1800">
                <a:latin typeface="Calibri" panose="020F0502020204030204" charset="0"/>
                <a:ea typeface="宋体" panose="02010600030101010101" pitchFamily="2" charset="-122"/>
                <a:cs typeface="Calibri" panose="020F0502020204030204" charset="0"/>
              </a:rPr>
              <a:t>。</a:t>
            </a:r>
            <a:endParaRPr lang="zh-CN" altLang="en-US" sz="1800">
              <a:latin typeface="Calibri" panose="020F0502020204030204" charset="0"/>
              <a:ea typeface="宋体" panose="02010600030101010101" pitchFamily="2" charset="-122"/>
              <a:cs typeface="Calibri" panose="020F0502020204030204" charset="0"/>
            </a:endParaRPr>
          </a:p>
          <a:p>
            <a:pPr marL="457200" lvl="1" indent="457200" algn="l">
              <a:buClrTx/>
              <a:buSzTx/>
              <a:buFontTx/>
            </a:pPr>
            <a:endParaRPr lang="zh-CN" altLang="en-US" sz="1000">
              <a:latin typeface="Calibri" panose="020F0502020204030204" charset="0"/>
              <a:ea typeface="宋体" panose="02010600030101010101" pitchFamily="2" charset="-122"/>
              <a:cs typeface="Calibri" panose="020F0502020204030204" charset="0"/>
            </a:endParaRPr>
          </a:p>
          <a:p>
            <a:pPr marL="457200" lvl="1" indent="457200" algn="l">
              <a:buClrTx/>
              <a:buSzTx/>
              <a:buFontTx/>
            </a:pPr>
            <a:r>
              <a:rPr lang="zh-CN" altLang="en-US">
                <a:latin typeface="Calibri" panose="020F0502020204030204" charset="0"/>
                <a:ea typeface="宋体" panose="02010600030101010101" pitchFamily="2" charset="-122"/>
                <a:cs typeface="Calibri" panose="020F0502020204030204" charset="0"/>
              </a:rPr>
              <a:t>2：运行</a:t>
            </a:r>
            <a:r>
              <a:rPr lang="en-US" altLang="zh-CN">
                <a:latin typeface="Calibri" panose="020F0502020204030204" charset="0"/>
                <a:ea typeface="宋体" panose="02010600030101010101" pitchFamily="2" charset="-122"/>
                <a:cs typeface="Calibri" panose="020F0502020204030204" charset="0"/>
              </a:rPr>
              <a:t>MIPS</a:t>
            </a:r>
            <a:r>
              <a:rPr lang="zh-CN" altLang="en-US">
                <a:latin typeface="Calibri" panose="020F0502020204030204" charset="0"/>
                <a:ea typeface="宋体" panose="02010600030101010101" pitchFamily="2" charset="-122"/>
                <a:cs typeface="Calibri" panose="020F0502020204030204" charset="0"/>
              </a:rPr>
              <a:t>排序程序</a:t>
            </a:r>
            <a:r>
              <a:rPr lang="en-US" altLang="zh-CN">
                <a:latin typeface="Calibri" panose="020F0502020204030204" charset="0"/>
                <a:ea typeface="宋体" panose="02010600030101010101" pitchFamily="2" charset="-122"/>
                <a:cs typeface="Calibri" panose="020F0502020204030204" charset="0"/>
              </a:rPr>
              <a:t>sort-5.hex</a:t>
            </a:r>
            <a:r>
              <a:rPr lang="zh-CN" altLang="en-US">
                <a:latin typeface="Calibri" panose="020F0502020204030204" charset="0"/>
                <a:ea typeface="宋体" panose="02010600030101010101" pitchFamily="2" charset="-122"/>
                <a:cs typeface="Calibri" panose="020F0502020204030204" charset="0"/>
              </a:rPr>
              <a:t>，验证微程序驱动的</a:t>
            </a:r>
            <a:r>
              <a:rPr lang="en-US" altLang="zh-CN">
                <a:latin typeface="Calibri" panose="020F0502020204030204" charset="0"/>
                <a:ea typeface="宋体" panose="02010600030101010101" pitchFamily="2" charset="-122"/>
                <a:cs typeface="Calibri" panose="020F0502020204030204" charset="0"/>
              </a:rPr>
              <a:t>CPU</a:t>
            </a:r>
            <a:r>
              <a:rPr lang="zh-CN" altLang="en-US">
                <a:latin typeface="Calibri" panose="020F0502020204030204" charset="0"/>
                <a:ea typeface="宋体" panose="02010600030101010101" pitchFamily="2" charset="-122"/>
                <a:cs typeface="Calibri" panose="020F0502020204030204" charset="0"/>
              </a:rPr>
              <a:t>系统是否稳定、控制是否准确</a:t>
            </a:r>
            <a:r>
              <a:rPr lang="zh-CN" altLang="en-US">
                <a:latin typeface="Calibri" panose="020F0502020204030204" charset="0"/>
                <a:ea typeface="宋体" panose="02010600030101010101" pitchFamily="2" charset="-122"/>
                <a:cs typeface="Calibri" panose="020F0502020204030204" charset="0"/>
              </a:rPr>
              <a:t>。</a:t>
            </a:r>
            <a:endParaRPr lang="en-US" altLang="zh-CN">
              <a:latin typeface="Calibri" panose="020F0502020204030204" charset="0"/>
              <a:ea typeface="宋体" panose="02010600030101010101" pitchFamily="2" charset="-122"/>
              <a:cs typeface="Calibri" panose="020F0502020204030204" charset="0"/>
            </a:endParaRPr>
          </a:p>
        </p:txBody>
      </p:sp>
      <p:sp>
        <p:nvSpPr>
          <p:cNvPr id="4" name="文本框 3"/>
          <p:cNvSpPr txBox="1"/>
          <p:nvPr/>
        </p:nvSpPr>
        <p:spPr>
          <a:xfrm>
            <a:off x="6015355" y="2660650"/>
            <a:ext cx="5575935" cy="1322070"/>
          </a:xfrm>
          <a:prstGeom prst="rect">
            <a:avLst/>
          </a:prstGeom>
          <a:noFill/>
        </p:spPr>
        <p:txBody>
          <a:bodyPr wrap="square" rtlCol="0">
            <a:spAutoFit/>
          </a:bodyPr>
          <a:p>
            <a:r>
              <a:rPr lang="zh-CN" altLang="en-US" sz="1600" b="1">
                <a:latin typeface="Calibri" panose="020F0502020204030204" charset="0"/>
                <a:ea typeface="宋体" panose="02010600030101010101" pitchFamily="2" charset="-122"/>
              </a:rPr>
              <a:t>实验步骤：</a:t>
            </a:r>
            <a:endParaRPr lang="zh-CN" altLang="en-US" sz="1600" b="1">
              <a:latin typeface="Calibri" panose="020F0502020204030204" charset="0"/>
              <a:ea typeface="宋体" panose="02010600030101010101" pitchFamily="2" charset="-122"/>
            </a:endParaRPr>
          </a:p>
          <a:p>
            <a:pPr indent="457200"/>
            <a:r>
              <a:rPr lang="en-US" altLang="zh-CN" sz="1600">
                <a:latin typeface="Calibri" panose="020F0502020204030204" charset="0"/>
                <a:ea typeface="宋体" panose="02010600030101010101" pitchFamily="2" charset="-122"/>
              </a:rPr>
              <a:t>1</a:t>
            </a:r>
            <a:r>
              <a:rPr lang="zh-CN" altLang="en-US" sz="1600">
                <a:latin typeface="Calibri" panose="020F0502020204030204" charset="0"/>
                <a:ea typeface="宋体" panose="02010600030101010101" pitchFamily="2" charset="-122"/>
              </a:rPr>
              <a:t>：加载程序</a:t>
            </a:r>
            <a:r>
              <a:rPr lang="en-US" altLang="zh-CN" sz="1600">
                <a:latin typeface="Calibri" panose="020F0502020204030204" charset="0"/>
                <a:ea typeface="宋体" panose="02010600030101010101" pitchFamily="2" charset="-122"/>
              </a:rPr>
              <a:t>sort-5.hex</a:t>
            </a:r>
            <a:r>
              <a:rPr lang="zh-CN" altLang="en-US" sz="1600">
                <a:latin typeface="Calibri" panose="020F0502020204030204" charset="0"/>
                <a:ea typeface="宋体" panose="02010600030101010101" pitchFamily="2" charset="-122"/>
              </a:rPr>
              <a:t>至</a:t>
            </a:r>
            <a:r>
              <a:rPr lang="en-US" altLang="zh-CN" sz="1600">
                <a:latin typeface="Calibri" panose="020F0502020204030204" charset="0"/>
                <a:ea typeface="宋体" panose="02010600030101010101" pitchFamily="2" charset="-122"/>
              </a:rPr>
              <a:t>RAM</a:t>
            </a:r>
            <a:r>
              <a:rPr lang="zh-CN" altLang="en-US" sz="1600">
                <a:latin typeface="Calibri" panose="020F0502020204030204" charset="0"/>
                <a:ea typeface="宋体" panose="02010600030101010101" pitchFamily="2" charset="-122"/>
              </a:rPr>
              <a:t>，</a:t>
            </a:r>
            <a:r>
              <a:rPr lang="en-US" altLang="zh-CN" sz="1600">
                <a:latin typeface="Calibri" panose="020F0502020204030204" charset="0"/>
                <a:ea typeface="宋体" panose="02010600030101010101" pitchFamily="2" charset="-122"/>
              </a:rPr>
              <a:t>Ctrl+K</a:t>
            </a:r>
            <a:r>
              <a:rPr lang="zh-CN" altLang="en-US" sz="1600">
                <a:latin typeface="Calibri" panose="020F0502020204030204" charset="0"/>
                <a:ea typeface="宋体" panose="02010600030101010101" pitchFamily="2" charset="-122"/>
              </a:rPr>
              <a:t>自动运行；</a:t>
            </a:r>
            <a:endParaRPr lang="zh-CN" altLang="en-US" sz="1600">
              <a:latin typeface="Calibri" panose="020F0502020204030204" charset="0"/>
              <a:ea typeface="宋体" panose="02010600030101010101" pitchFamily="2" charset="-122"/>
            </a:endParaRPr>
          </a:p>
          <a:p>
            <a:pPr indent="457200"/>
            <a:r>
              <a:rPr lang="en-US" altLang="zh-CN" sz="1600">
                <a:latin typeface="Calibri" panose="020F0502020204030204" charset="0"/>
                <a:ea typeface="宋体" panose="02010600030101010101" pitchFamily="2" charset="-122"/>
              </a:rPr>
              <a:t>2</a:t>
            </a:r>
            <a:r>
              <a:rPr lang="zh-CN" altLang="en-US" sz="1600">
                <a:latin typeface="Calibri" panose="020F0502020204030204" charset="0"/>
                <a:ea typeface="宋体" panose="02010600030101010101" pitchFamily="2" charset="-122"/>
              </a:rPr>
              <a:t>：程序运行至地址</a:t>
            </a:r>
            <a:r>
              <a:rPr lang="en-US" altLang="zh-CN" sz="1600">
                <a:latin typeface="Calibri" panose="020F0502020204030204" charset="0"/>
                <a:ea typeface="宋体" panose="02010600030101010101" pitchFamily="2" charset="-122"/>
              </a:rPr>
              <a:t>0x0bbb</a:t>
            </a:r>
            <a:r>
              <a:rPr lang="zh-CN" altLang="en-US" sz="1600">
                <a:latin typeface="Calibri" panose="020F0502020204030204" charset="0"/>
                <a:ea typeface="宋体" panose="02010600030101010101" pitchFamily="2" charset="-122"/>
              </a:rPr>
              <a:t>（死循环），指令计数为</a:t>
            </a:r>
            <a:r>
              <a:rPr lang="en-US" altLang="zh-CN" sz="1600">
                <a:latin typeface="Calibri" panose="020F0502020204030204" charset="0"/>
                <a:ea typeface="宋体" panose="02010600030101010101" pitchFamily="2" charset="-122"/>
              </a:rPr>
              <a:t>251</a:t>
            </a:r>
            <a:r>
              <a:rPr lang="zh-CN" altLang="en-US" sz="1600">
                <a:latin typeface="Calibri" panose="020F0502020204030204" charset="0"/>
                <a:ea typeface="宋体" panose="02010600030101010101" pitchFamily="2" charset="-122"/>
              </a:rPr>
              <a:t>条，</a:t>
            </a:r>
            <a:r>
              <a:rPr lang="zh-CN" altLang="en-US" sz="1600">
                <a:latin typeface="Calibri" panose="020F0502020204030204" charset="0"/>
                <a:ea typeface="宋体" panose="02010600030101010101" pitchFamily="2" charset="-122"/>
              </a:rPr>
              <a:t>说明微程序控制器驱动下，系统能完成取指、译码、执行与跳转。</a:t>
            </a:r>
            <a:endParaRPr lang="zh-CN" altLang="en-US" sz="1600">
              <a:latin typeface="Calibri" panose="020F0502020204030204" charset="0"/>
              <a:ea typeface="宋体" panose="02010600030101010101" pitchFamily="2" charset="-122"/>
            </a:endParaRPr>
          </a:p>
        </p:txBody>
      </p:sp>
      <p:pic>
        <p:nvPicPr>
          <p:cNvPr id="76" name="图片 65"/>
          <p:cNvPicPr>
            <a:picLocks noChangeAspect="1"/>
          </p:cNvPicPr>
          <p:nvPr/>
        </p:nvPicPr>
        <p:blipFill>
          <a:blip r:embed="rId2"/>
          <a:stretch>
            <a:fillRect/>
          </a:stretch>
        </p:blipFill>
        <p:spPr>
          <a:xfrm>
            <a:off x="6015355" y="4654550"/>
            <a:ext cx="2212975" cy="1332865"/>
          </a:xfrm>
          <a:prstGeom prst="rect">
            <a:avLst/>
          </a:prstGeom>
          <a:noFill/>
          <a:ln>
            <a:solidFill>
              <a:schemeClr val="accent1"/>
            </a:solidFill>
          </a:ln>
        </p:spPr>
      </p:pic>
      <p:sp>
        <p:nvSpPr>
          <p:cNvPr id="6" name="文本框 5"/>
          <p:cNvSpPr txBox="1"/>
          <p:nvPr/>
        </p:nvSpPr>
        <p:spPr>
          <a:xfrm>
            <a:off x="6015355" y="3924935"/>
            <a:ext cx="5575300" cy="583565"/>
          </a:xfrm>
          <a:prstGeom prst="rect">
            <a:avLst/>
          </a:prstGeom>
          <a:noFill/>
        </p:spPr>
        <p:txBody>
          <a:bodyPr wrap="square" rtlCol="0">
            <a:spAutoFit/>
          </a:bodyPr>
          <a:p>
            <a:r>
              <a:rPr lang="zh-CN" altLang="en-US" sz="1600" b="1">
                <a:latin typeface="Calibri" panose="020F0502020204030204" charset="0"/>
                <a:ea typeface="宋体" panose="02010600030101010101" pitchFamily="2" charset="-122"/>
                <a:cs typeface="Calibri" panose="020F0502020204030204" charset="0"/>
              </a:rPr>
              <a:t>实验测试结果：</a:t>
            </a:r>
            <a:r>
              <a:rPr lang="zh-CN" altLang="en-US" sz="1600">
                <a:latin typeface="Calibri" panose="020F0502020204030204" charset="0"/>
                <a:ea typeface="宋体" panose="02010600030101010101" pitchFamily="2" charset="-122"/>
                <a:cs typeface="Calibri" panose="020F0502020204030204" charset="0"/>
              </a:rPr>
              <a:t>Logisim </a:t>
            </a:r>
            <a:r>
              <a:rPr lang="zh-CN" altLang="en-US" sz="1600">
                <a:latin typeface="Calibri" panose="020F0502020204030204" charset="0"/>
                <a:ea typeface="宋体" panose="02010600030101010101" pitchFamily="2" charset="-122"/>
                <a:cs typeface="Calibri" panose="020F0502020204030204" charset="0"/>
              </a:rPr>
              <a:t>与头歌平台测试显示全部通过，说明微程序驱动的控制器逻辑正确、运行稳定。</a:t>
            </a:r>
            <a:endParaRPr lang="zh-CN" altLang="en-US" sz="1600">
              <a:latin typeface="Calibri" panose="020F0502020204030204" charset="0"/>
              <a:ea typeface="宋体" panose="02010600030101010101" pitchFamily="2" charset="-122"/>
              <a:cs typeface="Calibri" panose="020F0502020204030204" charset="0"/>
            </a:endParaRPr>
          </a:p>
        </p:txBody>
      </p:sp>
      <p:pic>
        <p:nvPicPr>
          <p:cNvPr id="73" name="图片 62"/>
          <p:cNvPicPr>
            <a:picLocks noChangeAspect="1"/>
          </p:cNvPicPr>
          <p:nvPr/>
        </p:nvPicPr>
        <p:blipFill>
          <a:blip r:embed="rId3"/>
          <a:stretch>
            <a:fillRect/>
          </a:stretch>
        </p:blipFill>
        <p:spPr>
          <a:xfrm>
            <a:off x="1064578" y="2660650"/>
            <a:ext cx="4744085" cy="3909060"/>
          </a:xfrm>
          <a:prstGeom prst="rect">
            <a:avLst/>
          </a:prstGeom>
          <a:noFill/>
          <a:ln>
            <a:solidFill>
              <a:schemeClr val="accent2"/>
            </a:solidFill>
          </a:ln>
        </p:spPr>
      </p:pic>
      <p:sp>
        <p:nvSpPr>
          <p:cNvPr id="8" name="文本框 7"/>
          <p:cNvSpPr txBox="1"/>
          <p:nvPr/>
        </p:nvSpPr>
        <p:spPr>
          <a:xfrm>
            <a:off x="572770" y="2872105"/>
            <a:ext cx="492125" cy="3486150"/>
          </a:xfrm>
          <a:prstGeom prst="rect">
            <a:avLst/>
          </a:prstGeom>
          <a:noFill/>
        </p:spPr>
        <p:txBody>
          <a:bodyPr wrap="square" rtlCol="0">
            <a:noAutofit/>
          </a:bodyPr>
          <a:p>
            <a:pPr algn="ctr"/>
            <a:endParaRPr lang="zh-CN" altLang="en-US" sz="1400">
              <a:latin typeface="宋体" panose="02010600030101010101" pitchFamily="2" charset="-122"/>
              <a:ea typeface="宋体" panose="02010600030101010101" pitchFamily="2" charset="-122"/>
            </a:endParaRPr>
          </a:p>
          <a:p>
            <a:pPr algn="ct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微</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程</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序</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的单总线</a:t>
            </a:r>
            <a:r>
              <a:rPr lang="en-US" altLang="zh-CN" sz="1400">
                <a:latin typeface="宋体" panose="02010600030101010101" pitchFamily="2" charset="-122"/>
                <a:ea typeface="宋体" panose="02010600030101010101" pitchFamily="2" charset="-122"/>
              </a:rPr>
              <a:t>CPU</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电</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路</a:t>
            </a:r>
            <a:endParaRPr lang="zh-CN" altLang="en-US" sz="1400">
              <a:latin typeface="宋体" panose="02010600030101010101" pitchFamily="2" charset="-122"/>
              <a:ea typeface="宋体" panose="02010600030101010101" pitchFamily="2" charset="-122"/>
            </a:endParaRPr>
          </a:p>
          <a:p>
            <a:pPr algn="ctr"/>
            <a:r>
              <a:rPr lang="zh-CN" altLang="en-US" sz="1400">
                <a:latin typeface="宋体" panose="02010600030101010101" pitchFamily="2" charset="-122"/>
                <a:ea typeface="宋体" panose="02010600030101010101" pitchFamily="2" charset="-122"/>
              </a:rPr>
              <a:t>图</a:t>
            </a:r>
            <a:endParaRPr lang="zh-CN" altLang="en-US" sz="1400">
              <a:latin typeface="宋体" panose="02010600030101010101" pitchFamily="2" charset="-122"/>
              <a:ea typeface="宋体" panose="02010600030101010101" pitchFamily="2" charset="-122"/>
            </a:endParaRPr>
          </a:p>
        </p:txBody>
      </p:sp>
      <p:sp>
        <p:nvSpPr>
          <p:cNvPr id="9" name="文本框 8"/>
          <p:cNvSpPr txBox="1"/>
          <p:nvPr/>
        </p:nvSpPr>
        <p:spPr>
          <a:xfrm>
            <a:off x="6015355" y="6358255"/>
            <a:ext cx="5642610"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rPr>
              <a:t>实验测试结果图</a:t>
            </a:r>
            <a:endParaRPr lang="zh-CN" altLang="en-US" sz="1400">
              <a:latin typeface="宋体" panose="02010600030101010101" pitchFamily="2" charset="-122"/>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三、</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现代时序</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单总线CPU设计</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sp>
        <p:nvSpPr>
          <p:cNvPr id="5" name="文本框 4"/>
          <p:cNvSpPr txBox="1"/>
          <p:nvPr/>
        </p:nvSpPr>
        <p:spPr>
          <a:xfrm>
            <a:off x="1064895" y="1215390"/>
            <a:ext cx="9952355" cy="1445260"/>
          </a:xfrm>
          <a:prstGeom prst="rect">
            <a:avLst/>
          </a:prstGeom>
          <a:noFill/>
        </p:spPr>
        <p:txBody>
          <a:bodyPr wrap="square" rtlCol="0">
            <a:spAutoFit/>
          </a:bodyPr>
          <a:p>
            <a:pPr algn="l">
              <a:buClrTx/>
              <a:buSzTx/>
              <a:buFontTx/>
            </a:pPr>
            <a:r>
              <a:rPr lang="en-US" altLang="zh-CN" sz="2400" b="1">
                <a:latin typeface="Calibri" panose="020F0502020204030204" charset="0"/>
                <a:ea typeface="宋体" panose="02010600030101010101" pitchFamily="2" charset="-122"/>
                <a:cs typeface="Calibri" panose="020F0502020204030204" charset="0"/>
              </a:rPr>
              <a:t>6、</a:t>
            </a:r>
            <a:r>
              <a:rPr lang="zh-CN" altLang="en-US" sz="2400" b="1">
                <a:latin typeface="Calibri" panose="020F0502020204030204" charset="0"/>
                <a:ea typeface="宋体" panose="02010600030101010101" pitchFamily="2" charset="-122"/>
                <a:cs typeface="Calibri" panose="020F0502020204030204" charset="0"/>
              </a:rPr>
              <a:t>现代时序硬布线控制器状态机设计</a:t>
            </a:r>
            <a:endParaRPr lang="zh-CN" altLang="en-US" sz="2400" b="1">
              <a:latin typeface="Calibri" panose="020F0502020204030204" charset="0"/>
              <a:ea typeface="宋体" panose="02010600030101010101" pitchFamily="2" charset="-122"/>
              <a:cs typeface="Calibri" panose="020F0502020204030204" charset="0"/>
            </a:endParaRPr>
          </a:p>
          <a:p>
            <a:pPr indent="457200"/>
            <a:r>
              <a:rPr lang="zh-CN" altLang="en-US" b="1">
                <a:latin typeface="Calibri" panose="020F0502020204030204" charset="0"/>
                <a:ea typeface="宋体" panose="02010600030101010101" pitchFamily="2" charset="-122"/>
                <a:cs typeface="Calibri" panose="020F0502020204030204" charset="0"/>
              </a:rPr>
              <a:t>设计目标：</a:t>
            </a:r>
            <a:endParaRPr lang="zh-CN" altLang="en-US" b="1">
              <a:latin typeface="Calibri" panose="020F0502020204030204" charset="0"/>
              <a:ea typeface="宋体" panose="02010600030101010101" pitchFamily="2" charset="-122"/>
              <a:cs typeface="Calibri" panose="020F0502020204030204" charset="0"/>
            </a:endParaRPr>
          </a:p>
          <a:p>
            <a:pPr marL="457200" lvl="1" indent="457200" algn="l">
              <a:buClrTx/>
              <a:buSzTx/>
              <a:buFontTx/>
            </a:pPr>
            <a:r>
              <a:rPr lang="en-US" altLang="zh-CN">
                <a:latin typeface="Calibri" panose="020F0502020204030204" charset="0"/>
                <a:ea typeface="宋体" panose="02010600030101010101" pitchFamily="2" charset="-122"/>
                <a:cs typeface="Calibri" panose="020F0502020204030204" charset="0"/>
              </a:rPr>
              <a:t>1</a:t>
            </a:r>
            <a:r>
              <a:rPr lang="zh-CN" altLang="en-US">
                <a:latin typeface="Calibri" panose="020F0502020204030204" charset="0"/>
                <a:ea typeface="宋体" panose="02010600030101010101" pitchFamily="2" charset="-122"/>
                <a:cs typeface="Calibri" panose="020F0502020204030204" charset="0"/>
              </a:rPr>
              <a:t>：</a:t>
            </a:r>
            <a:r>
              <a:rPr lang="zh-CN" altLang="en-US" sz="1800">
                <a:latin typeface="Calibri" panose="020F0502020204030204" charset="0"/>
                <a:ea typeface="宋体" panose="02010600030101010101" pitchFamily="2" charset="-122"/>
                <a:cs typeface="Calibri" panose="020F0502020204030204" charset="0"/>
              </a:rPr>
              <a:t>理解状态机在控制器中的作用与实现方式</a:t>
            </a:r>
            <a:r>
              <a:rPr lang="zh-CN" altLang="en-US" sz="1800">
                <a:latin typeface="Calibri" panose="020F0502020204030204" charset="0"/>
                <a:ea typeface="宋体" panose="02010600030101010101" pitchFamily="2" charset="-122"/>
                <a:cs typeface="Calibri" panose="020F0502020204030204" charset="0"/>
              </a:rPr>
              <a:t>。</a:t>
            </a:r>
            <a:endParaRPr lang="zh-CN" altLang="en-US" sz="1800">
              <a:latin typeface="Calibri" panose="020F0502020204030204" charset="0"/>
              <a:ea typeface="宋体" panose="02010600030101010101" pitchFamily="2" charset="-122"/>
              <a:cs typeface="Calibri" panose="020F0502020204030204" charset="0"/>
            </a:endParaRPr>
          </a:p>
          <a:p>
            <a:pPr marL="457200" lvl="1" indent="457200" algn="l">
              <a:buClrTx/>
              <a:buSzTx/>
              <a:buFontTx/>
            </a:pPr>
            <a:endParaRPr lang="zh-CN" altLang="en-US" sz="1000">
              <a:latin typeface="Calibri" panose="020F0502020204030204" charset="0"/>
              <a:ea typeface="宋体" panose="02010600030101010101" pitchFamily="2" charset="-122"/>
              <a:cs typeface="Calibri" panose="020F0502020204030204" charset="0"/>
            </a:endParaRPr>
          </a:p>
          <a:p>
            <a:pPr marL="457200" lvl="1" indent="457200" algn="l">
              <a:buClrTx/>
              <a:buSzTx/>
              <a:buFontTx/>
            </a:pPr>
            <a:r>
              <a:rPr lang="zh-CN" altLang="en-US">
                <a:latin typeface="Calibri" panose="020F0502020204030204" charset="0"/>
                <a:ea typeface="宋体" panose="02010600030101010101" pitchFamily="2" charset="-122"/>
                <a:cs typeface="Calibri" panose="020F0502020204030204" charset="0"/>
              </a:rPr>
              <a:t>2：基于状态转换逻辑，设计硬布线控制器的核心模块</a:t>
            </a:r>
            <a:r>
              <a:rPr lang="zh-CN" altLang="en-US">
                <a:latin typeface="Calibri" panose="020F0502020204030204" charset="0"/>
                <a:ea typeface="宋体" panose="02010600030101010101" pitchFamily="2" charset="-122"/>
                <a:cs typeface="Calibri" panose="020F0502020204030204" charset="0"/>
              </a:rPr>
              <a:t>状态机。</a:t>
            </a:r>
            <a:endParaRPr lang="en-US" altLang="zh-CN">
              <a:latin typeface="Calibri" panose="020F0502020204030204" charset="0"/>
              <a:ea typeface="宋体" panose="02010600030101010101" pitchFamily="2" charset="-122"/>
              <a:cs typeface="Calibri" panose="020F0502020204030204" charset="0"/>
            </a:endParaRPr>
          </a:p>
        </p:txBody>
      </p:sp>
      <p:pic>
        <p:nvPicPr>
          <p:cNvPr id="79" name="图片 66"/>
          <p:cNvPicPr>
            <a:picLocks noChangeAspect="1"/>
          </p:cNvPicPr>
          <p:nvPr/>
        </p:nvPicPr>
        <p:blipFill>
          <a:blip r:embed="rId1"/>
          <a:stretch>
            <a:fillRect/>
          </a:stretch>
        </p:blipFill>
        <p:spPr>
          <a:xfrm>
            <a:off x="7002780" y="2752725"/>
            <a:ext cx="4197350" cy="3694430"/>
          </a:xfrm>
          <a:prstGeom prst="rect">
            <a:avLst/>
          </a:prstGeom>
          <a:noFill/>
          <a:ln>
            <a:solidFill>
              <a:schemeClr val="accent1"/>
            </a:solidFill>
          </a:ln>
        </p:spPr>
      </p:pic>
      <p:pic>
        <p:nvPicPr>
          <p:cNvPr id="56" name="图片 46"/>
          <p:cNvPicPr>
            <a:picLocks noChangeAspect="1"/>
          </p:cNvPicPr>
          <p:nvPr/>
        </p:nvPicPr>
        <p:blipFill>
          <a:blip r:embed="rId2"/>
          <a:srcRect l="12904" b="23687"/>
          <a:stretch>
            <a:fillRect/>
          </a:stretch>
        </p:blipFill>
        <p:spPr>
          <a:xfrm>
            <a:off x="1064895" y="2752725"/>
            <a:ext cx="3821430" cy="3694430"/>
          </a:xfrm>
          <a:prstGeom prst="rect">
            <a:avLst/>
          </a:prstGeom>
          <a:noFill/>
          <a:ln>
            <a:solidFill>
              <a:schemeClr val="accent2"/>
            </a:solidFill>
          </a:ln>
        </p:spPr>
      </p:pic>
      <p:sp>
        <p:nvSpPr>
          <p:cNvPr id="4" name="文本框 3"/>
          <p:cNvSpPr txBox="1"/>
          <p:nvPr/>
        </p:nvSpPr>
        <p:spPr>
          <a:xfrm>
            <a:off x="5055870" y="3250565"/>
            <a:ext cx="1777365" cy="2553335"/>
          </a:xfrm>
          <a:prstGeom prst="rect">
            <a:avLst/>
          </a:prstGeom>
        </p:spPr>
        <p:txBody>
          <a:bodyPr wrap="square">
            <a:spAutoFit/>
          </a:bodyPr>
          <a:p>
            <a:pPr marL="0" indent="0" algn="just" defTabSz="266700">
              <a:spcBef>
                <a:spcPct val="0"/>
              </a:spcBef>
              <a:spcAft>
                <a:spcPct val="0"/>
              </a:spcAft>
            </a:pPr>
            <a:r>
              <a:rPr lang="en-US" altLang="zh-CN" sz="1600">
                <a:latin typeface="宋体" panose="02010600030101010101" pitchFamily="2" charset="-122"/>
                <a:ea typeface="宋体" panose="02010600030101010101" pitchFamily="2" charset="-122"/>
              </a:rPr>
              <a:t>    </a:t>
            </a:r>
            <a:r>
              <a:rPr lang="zh-CN" altLang="en-US" sz="1600">
                <a:latin typeface="宋体" panose="02010600030101010101" pitchFamily="2" charset="-122"/>
                <a:ea typeface="宋体" panose="02010600030101010101" pitchFamily="2" charset="-122"/>
              </a:rPr>
              <a:t>根据控制流程图构建了从</a:t>
            </a:r>
            <a:r>
              <a:rPr lang="en-US" altLang="zh-CN" sz="1600">
                <a:latin typeface="宋体" panose="02010600030101010101" pitchFamily="2" charset="-122"/>
                <a:ea typeface="宋体" panose="02010600030101010101" pitchFamily="2" charset="-122"/>
              </a:rPr>
              <a:t>S0</a:t>
            </a:r>
            <a:r>
              <a:rPr lang="zh-CN" altLang="en-US" sz="1600">
                <a:latin typeface="宋体" panose="02010600030101010101" pitchFamily="2" charset="-122"/>
                <a:ea typeface="宋体" panose="02010600030101010101" pitchFamily="2" charset="-122"/>
              </a:rPr>
              <a:t>到</a:t>
            </a:r>
            <a:r>
              <a:rPr lang="en-US" altLang="zh-CN" sz="1600">
                <a:latin typeface="宋体" panose="02010600030101010101" pitchFamily="2" charset="-122"/>
                <a:ea typeface="宋体" panose="02010600030101010101" pitchFamily="2" charset="-122"/>
              </a:rPr>
              <a:t>S24</a:t>
            </a:r>
            <a:r>
              <a:rPr lang="zh-CN" altLang="en-US" sz="1600">
                <a:latin typeface="宋体" panose="02010600030101010101" pitchFamily="2" charset="-122"/>
                <a:ea typeface="宋体" panose="02010600030101010101" pitchFamily="2" charset="-122"/>
              </a:rPr>
              <a:t>的状态转移图，接着将其转化为</a:t>
            </a:r>
            <a:r>
              <a:rPr lang="en-US" altLang="zh-CN" sz="1600">
                <a:latin typeface="宋体" panose="02010600030101010101" pitchFamily="2" charset="-122"/>
                <a:ea typeface="宋体" panose="02010600030101010101" pitchFamily="2" charset="-122"/>
              </a:rPr>
              <a:t>Excel</a:t>
            </a:r>
            <a:r>
              <a:rPr lang="zh-CN" altLang="en-US" sz="1600">
                <a:latin typeface="宋体" panose="02010600030101010101" pitchFamily="2" charset="-122"/>
                <a:ea typeface="宋体" panose="02010600030101010101" pitchFamily="2" charset="-122"/>
              </a:rPr>
              <a:t>表格，标注各状态在不同输入信号（如</a:t>
            </a:r>
            <a:r>
              <a:rPr lang="en-US" altLang="zh-CN" sz="1600">
                <a:latin typeface="宋体" panose="02010600030101010101" pitchFamily="2" charset="-122"/>
                <a:ea typeface="宋体" panose="02010600030101010101" pitchFamily="2" charset="-122"/>
              </a:rPr>
              <a:t>LW</a:t>
            </a:r>
            <a:r>
              <a:rPr lang="zh-CN" altLang="en-US" sz="1600">
                <a:latin typeface="宋体" panose="02010600030101010101" pitchFamily="2" charset="-122"/>
                <a:ea typeface="宋体" panose="02010600030101010101" pitchFamily="2" charset="-122"/>
              </a:rPr>
              <a:t>、</a:t>
            </a:r>
            <a:r>
              <a:rPr lang="en-US" altLang="zh-CN" sz="1600">
                <a:latin typeface="宋体" panose="02010600030101010101" pitchFamily="2" charset="-122"/>
                <a:ea typeface="宋体" panose="02010600030101010101" pitchFamily="2" charset="-122"/>
              </a:rPr>
              <a:t>SW</a:t>
            </a:r>
            <a:r>
              <a:rPr lang="zh-CN" altLang="en-US" sz="1600">
                <a:latin typeface="宋体" panose="02010600030101010101" pitchFamily="2" charset="-122"/>
                <a:ea typeface="宋体" panose="02010600030101010101" pitchFamily="2" charset="-122"/>
              </a:rPr>
              <a:t>）下应跳转到的“次态”（</a:t>
            </a:r>
            <a:r>
              <a:rPr lang="en-US" altLang="zh-CN" sz="1600">
                <a:latin typeface="宋体" panose="02010600030101010101" pitchFamily="2" charset="-122"/>
                <a:ea typeface="宋体" panose="02010600030101010101" pitchFamily="2" charset="-122"/>
              </a:rPr>
              <a:t>N3-N0</a:t>
            </a:r>
            <a:r>
              <a:rPr lang="zh-CN" altLang="en-US" sz="1600">
                <a:latin typeface="宋体" panose="02010600030101010101" pitchFamily="2" charset="-122"/>
                <a:ea typeface="宋体" panose="02010600030101010101" pitchFamily="2" charset="-122"/>
              </a:rPr>
              <a:t>）。</a:t>
            </a:r>
            <a:endParaRPr lang="zh-CN" altLang="en-US" sz="1600">
              <a:latin typeface="宋体" panose="02010600030101010101" pitchFamily="2" charset="-122"/>
              <a:ea typeface="宋体" panose="02010600030101010101" pitchFamily="2" charset="-122"/>
            </a:endParaRPr>
          </a:p>
        </p:txBody>
      </p:sp>
      <p:sp>
        <p:nvSpPr>
          <p:cNvPr id="6" name="文本框 5"/>
          <p:cNvSpPr txBox="1"/>
          <p:nvPr/>
        </p:nvSpPr>
        <p:spPr>
          <a:xfrm>
            <a:off x="644525" y="3957955"/>
            <a:ext cx="420370" cy="1312545"/>
          </a:xfrm>
          <a:prstGeom prst="rect">
            <a:avLst/>
          </a:prstGeom>
          <a:noFill/>
        </p:spPr>
        <p:txBody>
          <a:bodyPr wrap="square" rtlCol="0">
            <a:noAutofit/>
          </a:bodyPr>
          <a:p>
            <a:r>
              <a:rPr lang="zh-CN" altLang="en-US" sz="1400">
                <a:latin typeface="宋体" panose="02010600030101010101" pitchFamily="2" charset="-122"/>
                <a:ea typeface="宋体" panose="02010600030101010101" pitchFamily="2" charset="-122"/>
              </a:rPr>
              <a:t>状</a:t>
            </a:r>
            <a:endParaRPr lang="zh-CN" altLang="en-US" sz="1400">
              <a:latin typeface="宋体" panose="02010600030101010101" pitchFamily="2" charset="-122"/>
              <a:ea typeface="宋体" panose="02010600030101010101" pitchFamily="2" charset="-122"/>
            </a:endParaRPr>
          </a:p>
          <a:p>
            <a:r>
              <a:rPr lang="zh-CN" altLang="en-US" sz="1400">
                <a:latin typeface="宋体" panose="02010600030101010101" pitchFamily="2" charset="-122"/>
                <a:ea typeface="宋体" panose="02010600030101010101" pitchFamily="2" charset="-122"/>
              </a:rPr>
              <a:t>态</a:t>
            </a:r>
            <a:endParaRPr lang="zh-CN" altLang="en-US" sz="1400">
              <a:latin typeface="宋体" panose="02010600030101010101" pitchFamily="2" charset="-122"/>
              <a:ea typeface="宋体" panose="02010600030101010101" pitchFamily="2" charset="-122"/>
            </a:endParaRPr>
          </a:p>
          <a:p>
            <a:r>
              <a:rPr lang="zh-CN" altLang="en-US" sz="1400">
                <a:latin typeface="宋体" panose="02010600030101010101" pitchFamily="2" charset="-122"/>
                <a:ea typeface="宋体" panose="02010600030101010101" pitchFamily="2" charset="-122"/>
              </a:rPr>
              <a:t>转</a:t>
            </a:r>
            <a:endParaRPr lang="zh-CN" altLang="en-US" sz="1400">
              <a:latin typeface="宋体" panose="02010600030101010101" pitchFamily="2" charset="-122"/>
              <a:ea typeface="宋体" panose="02010600030101010101" pitchFamily="2" charset="-122"/>
            </a:endParaRPr>
          </a:p>
          <a:p>
            <a:r>
              <a:rPr lang="zh-CN" altLang="en-US" sz="1400">
                <a:latin typeface="宋体" panose="02010600030101010101" pitchFamily="2" charset="-122"/>
                <a:ea typeface="宋体" panose="02010600030101010101" pitchFamily="2" charset="-122"/>
              </a:rPr>
              <a:t>移</a:t>
            </a:r>
            <a:endParaRPr lang="zh-CN" altLang="en-US" sz="1400">
              <a:latin typeface="宋体" panose="02010600030101010101" pitchFamily="2" charset="-122"/>
              <a:ea typeface="宋体" panose="02010600030101010101" pitchFamily="2" charset="-122"/>
            </a:endParaRPr>
          </a:p>
          <a:p>
            <a:r>
              <a:rPr lang="zh-CN" altLang="en-US" sz="1400">
                <a:latin typeface="宋体" panose="02010600030101010101" pitchFamily="2" charset="-122"/>
                <a:ea typeface="宋体" panose="02010600030101010101" pitchFamily="2" charset="-122"/>
              </a:rPr>
              <a:t>图</a:t>
            </a:r>
            <a:endParaRPr lang="zh-CN" altLang="en-US" sz="1400">
              <a:latin typeface="宋体" panose="02010600030101010101" pitchFamily="2" charset="-122"/>
              <a:ea typeface="宋体" panose="02010600030101010101" pitchFamily="2" charset="-122"/>
            </a:endParaRPr>
          </a:p>
        </p:txBody>
      </p:sp>
      <p:sp>
        <p:nvSpPr>
          <p:cNvPr id="8" name="文本框 7"/>
          <p:cNvSpPr txBox="1"/>
          <p:nvPr/>
        </p:nvSpPr>
        <p:spPr>
          <a:xfrm>
            <a:off x="11200130" y="3957955"/>
            <a:ext cx="420370" cy="1312545"/>
          </a:xfrm>
          <a:prstGeom prst="rect">
            <a:avLst/>
          </a:prstGeom>
          <a:noFill/>
        </p:spPr>
        <p:txBody>
          <a:bodyPr wrap="square" rtlCol="0">
            <a:noAutofit/>
          </a:bodyPr>
          <a:p>
            <a:r>
              <a:rPr lang="zh-CN" altLang="en-US" sz="1400">
                <a:latin typeface="宋体" panose="02010600030101010101" pitchFamily="2" charset="-122"/>
                <a:ea typeface="宋体" panose="02010600030101010101" pitchFamily="2" charset="-122"/>
              </a:rPr>
              <a:t>状</a:t>
            </a:r>
            <a:endParaRPr lang="zh-CN" altLang="en-US" sz="1400">
              <a:latin typeface="宋体" panose="02010600030101010101" pitchFamily="2" charset="-122"/>
              <a:ea typeface="宋体" panose="02010600030101010101" pitchFamily="2" charset="-122"/>
            </a:endParaRPr>
          </a:p>
          <a:p>
            <a:r>
              <a:rPr lang="zh-CN" altLang="en-US" sz="1400">
                <a:latin typeface="宋体" panose="02010600030101010101" pitchFamily="2" charset="-122"/>
                <a:ea typeface="宋体" panose="02010600030101010101" pitchFamily="2" charset="-122"/>
              </a:rPr>
              <a:t>态</a:t>
            </a:r>
            <a:endParaRPr lang="zh-CN" altLang="en-US" sz="1400">
              <a:latin typeface="宋体" panose="02010600030101010101" pitchFamily="2" charset="-122"/>
              <a:ea typeface="宋体" panose="02010600030101010101" pitchFamily="2" charset="-122"/>
            </a:endParaRPr>
          </a:p>
          <a:p>
            <a:r>
              <a:rPr lang="zh-CN" altLang="en-US" sz="1400">
                <a:latin typeface="宋体" panose="02010600030101010101" pitchFamily="2" charset="-122"/>
                <a:ea typeface="宋体" panose="02010600030101010101" pitchFamily="2" charset="-122"/>
              </a:rPr>
              <a:t>转</a:t>
            </a:r>
            <a:endParaRPr lang="zh-CN" altLang="en-US" sz="1400">
              <a:latin typeface="宋体" panose="02010600030101010101" pitchFamily="2" charset="-122"/>
              <a:ea typeface="宋体" panose="02010600030101010101" pitchFamily="2" charset="-122"/>
            </a:endParaRPr>
          </a:p>
          <a:p>
            <a:r>
              <a:rPr lang="zh-CN" altLang="en-US" sz="1400">
                <a:latin typeface="宋体" panose="02010600030101010101" pitchFamily="2" charset="-122"/>
                <a:ea typeface="宋体" panose="02010600030101010101" pitchFamily="2" charset="-122"/>
              </a:rPr>
              <a:t>移</a:t>
            </a:r>
            <a:endParaRPr lang="zh-CN" altLang="en-US" sz="1400">
              <a:latin typeface="宋体" panose="02010600030101010101" pitchFamily="2" charset="-122"/>
              <a:ea typeface="宋体" panose="02010600030101010101" pitchFamily="2" charset="-122"/>
            </a:endParaRPr>
          </a:p>
          <a:p>
            <a:r>
              <a:rPr lang="zh-CN" altLang="en-US" sz="1400">
                <a:latin typeface="宋体" panose="02010600030101010101" pitchFamily="2" charset="-122"/>
                <a:ea typeface="宋体" panose="02010600030101010101" pitchFamily="2" charset="-122"/>
              </a:rPr>
              <a:t>表</a:t>
            </a:r>
            <a:endParaRPr lang="zh-CN" altLang="en-US" sz="1400">
              <a:latin typeface="宋体" panose="02010600030101010101" pitchFamily="2" charset="-122"/>
              <a:ea typeface="宋体" panose="02010600030101010101" pitchFamily="2" charset="-122"/>
            </a:endParaRPr>
          </a:p>
        </p:txBody>
      </p:sp>
      <p:cxnSp>
        <p:nvCxnSpPr>
          <p:cNvPr id="9" name="直接箭头连接符 8"/>
          <p:cNvCxnSpPr/>
          <p:nvPr/>
        </p:nvCxnSpPr>
        <p:spPr>
          <a:xfrm>
            <a:off x="4886325" y="4527550"/>
            <a:ext cx="2116455" cy="0"/>
          </a:xfrm>
          <a:prstGeom prst="straightConnector1">
            <a:avLst/>
          </a:prstGeom>
          <a:ln w="31750" cap="rnd">
            <a:solidFill>
              <a:srgbClr val="FF0000"/>
            </a:solidFill>
            <a:round/>
            <a:tailEnd type="arrow" w="med" len="med"/>
          </a:ln>
        </p:spPr>
        <p:style>
          <a:lnRef idx="0">
            <a:srgbClr val="FFFFFF"/>
          </a:lnRef>
          <a:fillRef idx="0">
            <a:srgbClr val="FFFFFF"/>
          </a:fillRef>
          <a:effectRef idx="0">
            <a:srgbClr val="FFFFFF"/>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pPr algn="l">
              <a:buClrTx/>
              <a:buSzTx/>
              <a:buFontTx/>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三、</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现代时序</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单总线CPU设计</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pic>
        <p:nvPicPr>
          <p:cNvPr id="80" name="图片 67"/>
          <p:cNvPicPr>
            <a:picLocks noChangeAspect="1"/>
          </p:cNvPicPr>
          <p:nvPr/>
        </p:nvPicPr>
        <p:blipFill>
          <a:blip r:embed="rId1"/>
          <a:stretch>
            <a:fillRect/>
          </a:stretch>
        </p:blipFill>
        <p:spPr>
          <a:xfrm>
            <a:off x="1155700" y="1242695"/>
            <a:ext cx="4721860" cy="5161280"/>
          </a:xfrm>
          <a:prstGeom prst="rect">
            <a:avLst/>
          </a:prstGeom>
          <a:noFill/>
          <a:ln>
            <a:solidFill>
              <a:schemeClr val="accent2"/>
            </a:solidFill>
          </a:ln>
        </p:spPr>
      </p:pic>
      <p:pic>
        <p:nvPicPr>
          <p:cNvPr id="82" name="图片 69"/>
          <p:cNvPicPr>
            <a:picLocks noChangeAspect="1"/>
          </p:cNvPicPr>
          <p:nvPr/>
        </p:nvPicPr>
        <p:blipFill>
          <a:blip r:embed="rId2"/>
          <a:stretch>
            <a:fillRect/>
          </a:stretch>
        </p:blipFill>
        <p:spPr>
          <a:xfrm>
            <a:off x="6096000" y="3542030"/>
            <a:ext cx="5107940" cy="2240915"/>
          </a:xfrm>
          <a:prstGeom prst="rect">
            <a:avLst/>
          </a:prstGeom>
          <a:noFill/>
          <a:ln>
            <a:solidFill>
              <a:schemeClr val="accent1"/>
            </a:solidFill>
          </a:ln>
        </p:spPr>
      </p:pic>
      <p:sp>
        <p:nvSpPr>
          <p:cNvPr id="4" name="文本框 3"/>
          <p:cNvSpPr txBox="1"/>
          <p:nvPr/>
        </p:nvSpPr>
        <p:spPr>
          <a:xfrm>
            <a:off x="6096000" y="1931035"/>
            <a:ext cx="5080000" cy="1322070"/>
          </a:xfrm>
          <a:prstGeom prst="rect">
            <a:avLst/>
          </a:prstGeom>
        </p:spPr>
        <p:txBody>
          <a:bodyPr>
            <a:spAutoFit/>
          </a:bodyPr>
          <a:p>
            <a:pPr marL="0" indent="266700" algn="just" defTabSz="266700">
              <a:spcBef>
                <a:spcPct val="0"/>
              </a:spcBef>
              <a:spcAft>
                <a:spcPct val="0"/>
              </a:spcAft>
            </a:pPr>
            <a:r>
              <a:rPr lang="zh-CN" altLang="en-US" sz="1600">
                <a:latin typeface="宋体" panose="02010600030101010101" pitchFamily="2" charset="-122"/>
                <a:ea typeface="宋体" panose="02010600030101010101" pitchFamily="2" charset="-122"/>
              </a:rPr>
              <a:t>接着根据状态转移布尔逻辑表达式，自动生成</a:t>
            </a:r>
            <a:r>
              <a:rPr lang="en-US" altLang="zh-CN" sz="1600">
                <a:latin typeface="宋体" panose="02010600030101010101" pitchFamily="2" charset="-122"/>
                <a:ea typeface="宋体" panose="02010600030101010101" pitchFamily="2" charset="-122"/>
              </a:rPr>
              <a:t>losisim</a:t>
            </a:r>
            <a:r>
              <a:rPr lang="zh-CN" altLang="en-US" sz="1600">
                <a:latin typeface="宋体" panose="02010600030101010101" pitchFamily="2" charset="-122"/>
                <a:ea typeface="宋体" panose="02010600030101010101" pitchFamily="2" charset="-122"/>
              </a:rPr>
              <a:t>电路（</a:t>
            </a:r>
            <a:r>
              <a:rPr lang="zh-CN" altLang="en-US" sz="1600">
                <a:latin typeface="宋体" panose="02010600030101010101" pitchFamily="2" charset="-122"/>
                <a:ea typeface="宋体" panose="02010600030101010101" pitchFamily="2" charset="-122"/>
              </a:rPr>
              <a:t>左图）。仿真测试如下图所示，以样例</a:t>
            </a:r>
            <a:r>
              <a:rPr lang="en-US" altLang="zh-CN" sz="1600">
                <a:latin typeface="宋体" panose="02010600030101010101" pitchFamily="2" charset="-122"/>
                <a:ea typeface="宋体" panose="02010600030101010101" pitchFamily="2" charset="-122"/>
              </a:rPr>
              <a:t>04</a:t>
            </a:r>
            <a:r>
              <a:rPr lang="zh-CN" altLang="en-US" sz="1600">
                <a:latin typeface="宋体" panose="02010600030101010101" pitchFamily="2" charset="-122"/>
                <a:ea typeface="宋体" panose="02010600030101010101" pitchFamily="2" charset="-122"/>
              </a:rPr>
              <a:t>为例，当前状态为</a:t>
            </a:r>
            <a:r>
              <a:rPr lang="en-US" altLang="zh-CN" sz="1600">
                <a:latin typeface="宋体" panose="02010600030101010101" pitchFamily="2" charset="-122"/>
                <a:ea typeface="宋体" panose="02010600030101010101" pitchFamily="2" charset="-122"/>
              </a:rPr>
              <a:t>S3</a:t>
            </a:r>
            <a:r>
              <a:rPr lang="zh-CN" altLang="en-US" sz="1600">
                <a:latin typeface="宋体" panose="02010600030101010101" pitchFamily="2" charset="-122"/>
                <a:ea typeface="宋体" panose="02010600030101010101" pitchFamily="2" charset="-122"/>
              </a:rPr>
              <a:t>，译码信号</a:t>
            </a:r>
            <a:r>
              <a:rPr lang="en-US" altLang="zh-CN" sz="1600">
                <a:latin typeface="宋体" panose="02010600030101010101" pitchFamily="2" charset="-122"/>
                <a:ea typeface="宋体" panose="02010600030101010101" pitchFamily="2" charset="-122"/>
              </a:rPr>
              <a:t>SW</a:t>
            </a:r>
            <a:r>
              <a:rPr lang="zh-CN" altLang="en-US" sz="1600">
                <a:latin typeface="宋体" panose="02010600030101010101" pitchFamily="2" charset="-122"/>
                <a:ea typeface="宋体" panose="02010600030101010101" pitchFamily="2" charset="-122"/>
              </a:rPr>
              <a:t>为</a:t>
            </a:r>
            <a:r>
              <a:rPr lang="en-US" altLang="zh-CN" sz="1600">
                <a:latin typeface="宋体" panose="02010600030101010101" pitchFamily="2" charset="-122"/>
                <a:ea typeface="宋体" panose="02010600030101010101" pitchFamily="2" charset="-122"/>
              </a:rPr>
              <a:t>1</a:t>
            </a:r>
            <a:r>
              <a:rPr lang="zh-CN" altLang="en-US" sz="1600">
                <a:latin typeface="宋体" panose="02010600030101010101" pitchFamily="2" charset="-122"/>
                <a:ea typeface="宋体" panose="02010600030101010101" pitchFamily="2" charset="-122"/>
              </a:rPr>
              <a:t>，</a:t>
            </a:r>
            <a:r>
              <a:rPr lang="en-US" altLang="zh-CN" sz="1600">
                <a:latin typeface="宋体" panose="02010600030101010101" pitchFamily="2" charset="-122"/>
                <a:ea typeface="宋体" panose="02010600030101010101" pitchFamily="2" charset="-122"/>
              </a:rPr>
              <a:t>equal</a:t>
            </a:r>
            <a:r>
              <a:rPr lang="zh-CN" altLang="en-US" sz="1600">
                <a:latin typeface="宋体" panose="02010600030101010101" pitchFamily="2" charset="-122"/>
                <a:ea typeface="宋体" panose="02010600030101010101" pitchFamily="2" charset="-122"/>
              </a:rPr>
              <a:t>为</a:t>
            </a:r>
            <a:r>
              <a:rPr lang="en-US" altLang="zh-CN" sz="1600">
                <a:latin typeface="宋体" panose="02010600030101010101" pitchFamily="2" charset="-122"/>
                <a:ea typeface="宋体" panose="02010600030101010101" pitchFamily="2" charset="-122"/>
              </a:rPr>
              <a:t>1</a:t>
            </a:r>
            <a:r>
              <a:rPr lang="zh-CN" altLang="en-US" sz="1600">
                <a:latin typeface="宋体" panose="02010600030101010101" pitchFamily="2" charset="-122"/>
                <a:ea typeface="宋体" panose="02010600030101010101" pitchFamily="2" charset="-122"/>
              </a:rPr>
              <a:t>，电路成功输出</a:t>
            </a:r>
            <a:r>
              <a:rPr lang="en-US" altLang="zh-CN" sz="1600">
                <a:latin typeface="宋体" panose="02010600030101010101" pitchFamily="2" charset="-122"/>
                <a:ea typeface="宋体" panose="02010600030101010101" pitchFamily="2" charset="-122"/>
              </a:rPr>
              <a:t>NS=9</a:t>
            </a:r>
            <a:r>
              <a:rPr lang="zh-CN" altLang="en-US" sz="1600">
                <a:latin typeface="宋体" panose="02010600030101010101" pitchFamily="2" charset="-122"/>
                <a:ea typeface="宋体" panose="02010600030101010101" pitchFamily="2" charset="-122"/>
              </a:rPr>
              <a:t>，与设计完全一致。所有测试结果均符合预测值，说明状态转移电路设计稳定可靠。</a:t>
            </a:r>
            <a:endParaRPr lang="zh-CN" altLang="en-US" sz="1600">
              <a:latin typeface="宋体" panose="02010600030101010101" pitchFamily="2" charset="-122"/>
              <a:ea typeface="宋体" panose="02010600030101010101" pitchFamily="2" charset="-122"/>
            </a:endParaRPr>
          </a:p>
        </p:txBody>
      </p:sp>
      <p:sp>
        <p:nvSpPr>
          <p:cNvPr id="5" name="文本框 4"/>
          <p:cNvSpPr txBox="1"/>
          <p:nvPr/>
        </p:nvSpPr>
        <p:spPr>
          <a:xfrm>
            <a:off x="699770" y="2484755"/>
            <a:ext cx="365125" cy="2676525"/>
          </a:xfrm>
          <a:prstGeom prst="rect">
            <a:avLst/>
          </a:prstGeom>
          <a:noFill/>
        </p:spPr>
        <p:txBody>
          <a:bodyPr wrap="square" rtlCol="0">
            <a:spAutoFit/>
          </a:bodyPr>
          <a:p>
            <a:r>
              <a:rPr lang="zh-CN" altLang="en-US" sz="1400">
                <a:latin typeface="宋体" panose="02010600030101010101" pitchFamily="2" charset="-122"/>
                <a:ea typeface="宋体" panose="02010600030101010101" pitchFamily="2" charset="-122"/>
              </a:rPr>
              <a:t>硬布线控制器状态机电路图</a:t>
            </a:r>
            <a:endParaRPr lang="zh-CN" altLang="en-US" sz="1400">
              <a:latin typeface="宋体" panose="02010600030101010101" pitchFamily="2" charset="-122"/>
              <a:ea typeface="宋体" panose="02010600030101010101" pitchFamily="2" charset="-122"/>
            </a:endParaRPr>
          </a:p>
        </p:txBody>
      </p:sp>
      <p:sp>
        <p:nvSpPr>
          <p:cNvPr id="9" name="文本框 8"/>
          <p:cNvSpPr txBox="1"/>
          <p:nvPr/>
        </p:nvSpPr>
        <p:spPr>
          <a:xfrm>
            <a:off x="6096000" y="5782945"/>
            <a:ext cx="5107940"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rPr>
              <a:t>头</a:t>
            </a:r>
            <a:r>
              <a:rPr lang="zh-CN" altLang="en-US" sz="1400">
                <a:latin typeface="宋体" panose="02010600030101010101" pitchFamily="2" charset="-122"/>
                <a:ea typeface="宋体" panose="02010600030101010101" pitchFamily="2" charset="-122"/>
              </a:rPr>
              <a:t>歌测试结果图</a:t>
            </a:r>
            <a:endParaRPr lang="zh-CN" altLang="en-US" sz="1400">
              <a:latin typeface="宋体" panose="02010600030101010101" pitchFamily="2" charset="-122"/>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pPr algn="l">
              <a:buClrTx/>
              <a:buSzTx/>
              <a:buFontTx/>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三、</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现代时序</a:t>
            </a: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单总线CPU设计</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endParaRPr>
          </a:p>
        </p:txBody>
      </p:sp>
      <p:sp>
        <p:nvSpPr>
          <p:cNvPr id="5" name="文本框 4"/>
          <p:cNvSpPr txBox="1"/>
          <p:nvPr/>
        </p:nvSpPr>
        <p:spPr>
          <a:xfrm>
            <a:off x="1064895" y="1215390"/>
            <a:ext cx="9952355" cy="1445260"/>
          </a:xfrm>
          <a:prstGeom prst="rect">
            <a:avLst/>
          </a:prstGeom>
          <a:noFill/>
        </p:spPr>
        <p:txBody>
          <a:bodyPr wrap="square" rtlCol="0">
            <a:spAutoFit/>
          </a:bodyPr>
          <a:p>
            <a:pPr algn="l">
              <a:buClrTx/>
              <a:buSzTx/>
              <a:buFontTx/>
            </a:pPr>
            <a:r>
              <a:rPr lang="en-US" altLang="zh-CN" sz="2400" b="1">
                <a:latin typeface="Calibri" panose="020F0502020204030204" charset="0"/>
                <a:ea typeface="宋体" panose="02010600030101010101" pitchFamily="2" charset="-122"/>
                <a:cs typeface="Calibri" panose="020F0502020204030204" charset="0"/>
              </a:rPr>
              <a:t>7、</a:t>
            </a:r>
            <a:r>
              <a:rPr lang="zh-CN" altLang="en-US" sz="2400" b="1">
                <a:latin typeface="Calibri" panose="020F0502020204030204" charset="0"/>
                <a:ea typeface="宋体" panose="02010600030101010101" pitchFamily="2" charset="-122"/>
                <a:cs typeface="Calibri" panose="020F0502020204030204" charset="0"/>
              </a:rPr>
              <a:t>现代时序硬布线控制器设计</a:t>
            </a:r>
            <a:endParaRPr lang="zh-CN" altLang="en-US" sz="2400" b="1">
              <a:latin typeface="Calibri" panose="020F0502020204030204" charset="0"/>
              <a:ea typeface="宋体" panose="02010600030101010101" pitchFamily="2" charset="-122"/>
              <a:cs typeface="Calibri" panose="020F0502020204030204" charset="0"/>
            </a:endParaRPr>
          </a:p>
          <a:p>
            <a:pPr indent="457200"/>
            <a:r>
              <a:rPr lang="zh-CN" altLang="en-US" b="1">
                <a:latin typeface="Calibri" panose="020F0502020204030204" charset="0"/>
                <a:ea typeface="宋体" panose="02010600030101010101" pitchFamily="2" charset="-122"/>
                <a:cs typeface="Calibri" panose="020F0502020204030204" charset="0"/>
              </a:rPr>
              <a:t>设计目标：</a:t>
            </a:r>
            <a:endParaRPr lang="zh-CN" altLang="en-US" b="1">
              <a:latin typeface="Calibri" panose="020F0502020204030204" charset="0"/>
              <a:ea typeface="宋体" panose="02010600030101010101" pitchFamily="2" charset="-122"/>
              <a:cs typeface="Calibri" panose="020F0502020204030204" charset="0"/>
            </a:endParaRPr>
          </a:p>
          <a:p>
            <a:pPr marL="457200" lvl="1" indent="457200" algn="l">
              <a:buClrTx/>
              <a:buSzTx/>
              <a:buFontTx/>
            </a:pPr>
            <a:r>
              <a:rPr lang="en-US" altLang="zh-CN">
                <a:latin typeface="Calibri" panose="020F0502020204030204" charset="0"/>
                <a:ea typeface="宋体" panose="02010600030101010101" pitchFamily="2" charset="-122"/>
                <a:cs typeface="Calibri" panose="020F0502020204030204" charset="0"/>
              </a:rPr>
              <a:t>1</a:t>
            </a:r>
            <a:r>
              <a:rPr lang="zh-CN" altLang="en-US">
                <a:latin typeface="Calibri" panose="020F0502020204030204" charset="0"/>
                <a:ea typeface="宋体" panose="02010600030101010101" pitchFamily="2" charset="-122"/>
                <a:cs typeface="Calibri" panose="020F0502020204030204" charset="0"/>
              </a:rPr>
              <a:t>：</a:t>
            </a:r>
            <a:r>
              <a:rPr lang="zh-CN" altLang="en-US" sz="1800">
                <a:latin typeface="Calibri" panose="020F0502020204030204" charset="0"/>
                <a:ea typeface="宋体" panose="02010600030101010101" pitchFamily="2" charset="-122"/>
                <a:cs typeface="Calibri" panose="020F0502020204030204" charset="0"/>
              </a:rPr>
              <a:t>理解现代时序系统中硬布线控制器的设计原理</a:t>
            </a:r>
            <a:r>
              <a:rPr lang="zh-CN" altLang="en-US" sz="1800">
                <a:latin typeface="Calibri" panose="020F0502020204030204" charset="0"/>
                <a:ea typeface="宋体" panose="02010600030101010101" pitchFamily="2" charset="-122"/>
                <a:cs typeface="Calibri" panose="020F0502020204030204" charset="0"/>
              </a:rPr>
              <a:t>。</a:t>
            </a:r>
            <a:endParaRPr lang="zh-CN" altLang="en-US" sz="1800">
              <a:latin typeface="Calibri" panose="020F0502020204030204" charset="0"/>
              <a:ea typeface="宋体" panose="02010600030101010101" pitchFamily="2" charset="-122"/>
              <a:cs typeface="Calibri" panose="020F0502020204030204" charset="0"/>
            </a:endParaRPr>
          </a:p>
          <a:p>
            <a:pPr marL="457200" lvl="1" indent="457200" algn="l">
              <a:buClrTx/>
              <a:buSzTx/>
              <a:buFontTx/>
            </a:pPr>
            <a:endParaRPr lang="zh-CN" altLang="en-US" sz="1000">
              <a:latin typeface="Calibri" panose="020F0502020204030204" charset="0"/>
              <a:ea typeface="宋体" panose="02010600030101010101" pitchFamily="2" charset="-122"/>
              <a:cs typeface="Calibri" panose="020F0502020204030204" charset="0"/>
            </a:endParaRPr>
          </a:p>
          <a:p>
            <a:pPr marL="457200" lvl="1" indent="457200" algn="l">
              <a:buClrTx/>
              <a:buSzTx/>
              <a:buFontTx/>
            </a:pPr>
            <a:r>
              <a:rPr lang="zh-CN" altLang="en-US">
                <a:latin typeface="Calibri" panose="020F0502020204030204" charset="0"/>
                <a:ea typeface="宋体" panose="02010600030101010101" pitchFamily="2" charset="-122"/>
                <a:cs typeface="Calibri" panose="020F0502020204030204" charset="0"/>
              </a:rPr>
              <a:t>2：完成硬布线控制器的整体设计。</a:t>
            </a:r>
            <a:endParaRPr lang="en-US" altLang="zh-CN">
              <a:latin typeface="Calibri" panose="020F0502020204030204" charset="0"/>
              <a:ea typeface="宋体" panose="02010600030101010101" pitchFamily="2" charset="-122"/>
              <a:cs typeface="Calibri" panose="020F0502020204030204" charset="0"/>
            </a:endParaRPr>
          </a:p>
        </p:txBody>
      </p:sp>
      <p:pic>
        <p:nvPicPr>
          <p:cNvPr id="83" name="图片 70"/>
          <p:cNvPicPr>
            <a:picLocks noChangeAspect="1"/>
          </p:cNvPicPr>
          <p:nvPr/>
        </p:nvPicPr>
        <p:blipFill>
          <a:blip r:embed="rId1"/>
          <a:stretch>
            <a:fillRect/>
          </a:stretch>
        </p:blipFill>
        <p:spPr>
          <a:xfrm>
            <a:off x="913765" y="2660650"/>
            <a:ext cx="7197725" cy="3728085"/>
          </a:xfrm>
          <a:prstGeom prst="rect">
            <a:avLst/>
          </a:prstGeom>
          <a:noFill/>
          <a:ln>
            <a:noFill/>
          </a:ln>
        </p:spPr>
      </p:pic>
      <p:sp>
        <p:nvSpPr>
          <p:cNvPr id="4" name="文本框 3"/>
          <p:cNvSpPr txBox="1"/>
          <p:nvPr/>
        </p:nvSpPr>
        <p:spPr>
          <a:xfrm>
            <a:off x="8110220" y="2249805"/>
            <a:ext cx="3855085" cy="2061210"/>
          </a:xfrm>
          <a:prstGeom prst="rect">
            <a:avLst/>
          </a:prstGeom>
        </p:spPr>
        <p:txBody>
          <a:bodyPr wrap="square">
            <a:spAutoFit/>
          </a:bodyPr>
          <a:p>
            <a:pPr indent="457200"/>
            <a:r>
              <a:rPr lang="zh-CN" altLang="en-US" sz="1600">
                <a:latin typeface="Calibri" panose="020F0502020204030204" charset="0"/>
                <a:ea typeface="宋体" panose="02010600030101010101" pitchFamily="2" charset="-122"/>
                <a:cs typeface="Calibri" panose="020F0502020204030204" charset="0"/>
              </a:rPr>
              <a:t>根据实验电路图（</a:t>
            </a:r>
            <a:r>
              <a:rPr lang="zh-CN" altLang="en-US" sz="1600">
                <a:latin typeface="Calibri" panose="020F0502020204030204" charset="0"/>
                <a:ea typeface="宋体" panose="02010600030101010101" pitchFamily="2" charset="-122"/>
                <a:cs typeface="Calibri" panose="020F0502020204030204" charset="0"/>
              </a:rPr>
              <a:t>左图），控制器由状态寄存器、组合逻辑模块、指令译码器与控制信号输出模块组成。</a:t>
            </a:r>
            <a:endParaRPr lang="zh-CN" altLang="en-US" sz="1600">
              <a:latin typeface="Calibri" panose="020F0502020204030204" charset="0"/>
              <a:ea typeface="宋体" panose="02010600030101010101" pitchFamily="2" charset="-122"/>
              <a:cs typeface="Calibri" panose="020F0502020204030204" charset="0"/>
            </a:endParaRPr>
          </a:p>
          <a:p>
            <a:pPr indent="457200"/>
            <a:r>
              <a:rPr lang="zh-CN" altLang="en-US" sz="1600">
                <a:latin typeface="Calibri" panose="020F0502020204030204" charset="0"/>
                <a:ea typeface="宋体" panose="02010600030101010101" pitchFamily="2" charset="-122"/>
                <a:cs typeface="Calibri" panose="020F0502020204030204" charset="0"/>
              </a:rPr>
              <a:t>相比传统微程序</a:t>
            </a:r>
            <a:r>
              <a:rPr lang="en-US" altLang="zh-CN" sz="1600">
                <a:latin typeface="Calibri" panose="020F0502020204030204" charset="0"/>
                <a:ea typeface="宋体" panose="02010600030101010101" pitchFamily="2" charset="-122"/>
                <a:cs typeface="Calibri" panose="020F0502020204030204" charset="0"/>
              </a:rPr>
              <a:t>ROM</a:t>
            </a:r>
            <a:r>
              <a:rPr lang="zh-CN" altLang="en-US" sz="1600">
                <a:latin typeface="Calibri" panose="020F0502020204030204" charset="0"/>
                <a:ea typeface="宋体" panose="02010600030101010101" pitchFamily="2" charset="-122"/>
                <a:cs typeface="Calibri" panose="020F0502020204030204" charset="0"/>
              </a:rPr>
              <a:t>查表方式，本设计通过硬布线逻辑直接产生控制信号，</a:t>
            </a:r>
            <a:r>
              <a:rPr lang="zh-CN" altLang="en-US" sz="1600">
                <a:latin typeface="Calibri" panose="020F0502020204030204" charset="0"/>
                <a:ea typeface="宋体" panose="02010600030101010101" pitchFamily="2" charset="-122"/>
                <a:cs typeface="Calibri" panose="020F0502020204030204" charset="0"/>
              </a:rPr>
              <a:t>更加高效。</a:t>
            </a:r>
            <a:endParaRPr lang="zh-CN" altLang="en-US" sz="1600">
              <a:latin typeface="Calibri" panose="020F0502020204030204" charset="0"/>
              <a:ea typeface="宋体" panose="02010600030101010101" pitchFamily="2" charset="-122"/>
              <a:cs typeface="Calibri" panose="020F0502020204030204" charset="0"/>
            </a:endParaRPr>
          </a:p>
          <a:p>
            <a:pPr indent="457200"/>
            <a:r>
              <a:rPr lang="zh-CN" altLang="en-US" sz="1600">
                <a:latin typeface="Calibri" panose="020F0502020204030204" charset="0"/>
                <a:ea typeface="宋体" panose="02010600030101010101" pitchFamily="2" charset="-122"/>
                <a:cs typeface="Calibri" panose="020F0502020204030204" charset="0"/>
              </a:rPr>
              <a:t>下图为头歌测试结果图，预测输出与实际输出完全一致，设计</a:t>
            </a:r>
            <a:r>
              <a:rPr lang="zh-CN" altLang="en-US" sz="1600">
                <a:latin typeface="Calibri" panose="020F0502020204030204" charset="0"/>
                <a:ea typeface="宋体" panose="02010600030101010101" pitchFamily="2" charset="-122"/>
                <a:cs typeface="Calibri" panose="020F0502020204030204" charset="0"/>
              </a:rPr>
              <a:t>准确。</a:t>
            </a:r>
            <a:endParaRPr lang="zh-CN" altLang="en-US" sz="1600">
              <a:latin typeface="Calibri" panose="020F0502020204030204" charset="0"/>
              <a:ea typeface="宋体" panose="02010600030101010101" pitchFamily="2" charset="-122"/>
              <a:cs typeface="Calibri" panose="020F0502020204030204" charset="0"/>
            </a:endParaRPr>
          </a:p>
        </p:txBody>
      </p:sp>
      <p:sp>
        <p:nvSpPr>
          <p:cNvPr id="7" name="文本框 6"/>
          <p:cNvSpPr txBox="1"/>
          <p:nvPr/>
        </p:nvSpPr>
        <p:spPr>
          <a:xfrm>
            <a:off x="548640" y="3123565"/>
            <a:ext cx="365125" cy="2891790"/>
          </a:xfrm>
          <a:prstGeom prst="rect">
            <a:avLst/>
          </a:prstGeom>
          <a:noFill/>
        </p:spPr>
        <p:txBody>
          <a:bodyPr wrap="square" rtlCol="0">
            <a:spAutoFit/>
          </a:bodyPr>
          <a:p>
            <a:r>
              <a:rPr lang="zh-CN" altLang="en-US" sz="1400">
                <a:latin typeface="宋体" panose="02010600030101010101" pitchFamily="2" charset="-122"/>
                <a:ea typeface="宋体" panose="02010600030101010101" pitchFamily="2" charset="-122"/>
              </a:rPr>
              <a:t>现代时序硬布线控制器电路图</a:t>
            </a:r>
            <a:endParaRPr lang="zh-CN" altLang="en-US" sz="1400">
              <a:latin typeface="宋体" panose="02010600030101010101" pitchFamily="2" charset="-122"/>
              <a:ea typeface="宋体" panose="02010600030101010101" pitchFamily="2" charset="-122"/>
            </a:endParaRPr>
          </a:p>
        </p:txBody>
      </p:sp>
      <p:pic>
        <p:nvPicPr>
          <p:cNvPr id="84" name="图片 71"/>
          <p:cNvPicPr>
            <a:picLocks noChangeAspect="1"/>
          </p:cNvPicPr>
          <p:nvPr/>
        </p:nvPicPr>
        <p:blipFill>
          <a:blip r:embed="rId2"/>
          <a:stretch>
            <a:fillRect/>
          </a:stretch>
        </p:blipFill>
        <p:spPr>
          <a:xfrm>
            <a:off x="8027035" y="4413885"/>
            <a:ext cx="3938905" cy="1974850"/>
          </a:xfrm>
          <a:prstGeom prst="rect">
            <a:avLst/>
          </a:prstGeom>
          <a:noFill/>
          <a:ln>
            <a:solidFill>
              <a:schemeClr val="accent1"/>
            </a:solidFill>
          </a:ln>
        </p:spPr>
      </p:pic>
      <p:sp>
        <p:nvSpPr>
          <p:cNvPr id="8" name="文本框 7"/>
          <p:cNvSpPr txBox="1"/>
          <p:nvPr/>
        </p:nvSpPr>
        <p:spPr>
          <a:xfrm>
            <a:off x="8027035" y="6388735"/>
            <a:ext cx="3938270" cy="306705"/>
          </a:xfrm>
          <a:prstGeom prst="rect">
            <a:avLst/>
          </a:prstGeom>
          <a:noFill/>
        </p:spPr>
        <p:txBody>
          <a:bodyPr wrap="square" rtlCol="0">
            <a:spAutoFit/>
          </a:bodyPr>
          <a:p>
            <a:pPr algn="ctr"/>
            <a:r>
              <a:rPr lang="zh-CN" altLang="en-US" sz="1400">
                <a:latin typeface="宋体" panose="02010600030101010101" pitchFamily="2" charset="-122"/>
                <a:ea typeface="宋体" panose="02010600030101010101" pitchFamily="2" charset="-122"/>
              </a:rPr>
              <a:t>头歌测试结果图</a:t>
            </a:r>
            <a:endParaRPr lang="zh-CN" altLang="en-US" sz="1400">
              <a:latin typeface="宋体" panose="02010600030101010101" pitchFamily="2" charset="-122"/>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pPr algn="l">
              <a:buClrTx/>
              <a:buSzTx/>
              <a:buFontTx/>
            </a:pPr>
            <a:r>
              <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rPr>
              <a:t>四、实验总结</a:t>
            </a:r>
            <a:endParaRPr lang="zh-CN" altLang="en-US" sz="3110" b="1" spc="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Medium" panose="00020600040101010101" pitchFamily="18" charset="-122"/>
              <a:sym typeface="+mn-ea"/>
            </a:endParaRPr>
          </a:p>
        </p:txBody>
      </p:sp>
      <p:sp>
        <p:nvSpPr>
          <p:cNvPr id="4" name="文本框 3"/>
          <p:cNvSpPr txBox="1"/>
          <p:nvPr/>
        </p:nvSpPr>
        <p:spPr>
          <a:xfrm>
            <a:off x="1132205" y="1214120"/>
            <a:ext cx="9164320" cy="3538220"/>
          </a:xfrm>
          <a:prstGeom prst="rect">
            <a:avLst/>
          </a:prstGeom>
        </p:spPr>
        <p:txBody>
          <a:bodyPr wrap="square">
            <a:spAutoFit/>
          </a:bodyPr>
          <a:p>
            <a:r>
              <a:rPr lang="zh-CN" altLang="en-US" sz="2400" b="1">
                <a:latin typeface="Calibri" panose="020F0502020204030204" charset="0"/>
                <a:ea typeface="宋体" panose="02010600030101010101" pitchFamily="2" charset="-122"/>
                <a:cs typeface="Calibri" panose="020F0502020204030204" charset="0"/>
              </a:rPr>
              <a:t>实验回顾：</a:t>
            </a:r>
            <a:endParaRPr lang="zh-CN" altLang="en-US" sz="1600">
              <a:latin typeface="Calibri" panose="020F0502020204030204" charset="0"/>
              <a:ea typeface="宋体" panose="02010600030101010101" pitchFamily="2" charset="-122"/>
              <a:cs typeface="Calibri" panose="020F0502020204030204" charset="0"/>
            </a:endParaRPr>
          </a:p>
          <a:p>
            <a:r>
              <a:rPr lang="en-US" altLang="zh-CN" sz="1600">
                <a:latin typeface="Calibri" panose="020F0502020204030204" charset="0"/>
                <a:ea typeface="宋体" panose="02010600030101010101" pitchFamily="2" charset="-122"/>
                <a:cs typeface="Calibri" panose="020F0502020204030204" charset="0"/>
              </a:rPr>
              <a:t>1</a:t>
            </a:r>
            <a:r>
              <a:rPr lang="zh-CN" altLang="en-US" sz="1600">
                <a:latin typeface="Calibri" panose="020F0502020204030204" charset="0"/>
                <a:ea typeface="宋体" panose="02010600030101010101" pitchFamily="2" charset="-122"/>
                <a:cs typeface="Calibri" panose="020F0502020204030204" charset="0"/>
              </a:rPr>
              <a:t>：第一个是前期做的</a:t>
            </a:r>
            <a:r>
              <a:rPr lang="en-US" altLang="zh-CN" sz="1600">
                <a:latin typeface="Calibri" panose="020F0502020204030204" charset="0"/>
                <a:ea typeface="宋体" panose="02010600030101010101" pitchFamily="2" charset="-122"/>
                <a:cs typeface="Calibri" panose="020F0502020204030204" charset="0"/>
              </a:rPr>
              <a:t>“</a:t>
            </a:r>
            <a:r>
              <a:rPr lang="zh-CN" altLang="en-US" sz="1600">
                <a:latin typeface="Calibri" panose="020F0502020204030204" charset="0"/>
                <a:ea typeface="宋体" panose="02010600030101010101" pitchFamily="2" charset="-122"/>
                <a:cs typeface="Calibri" panose="020F0502020204030204" charset="0"/>
              </a:rPr>
              <a:t>定长时序控制器</a:t>
            </a:r>
            <a:r>
              <a:rPr lang="en-US" altLang="zh-CN" sz="1600">
                <a:latin typeface="Calibri" panose="020F0502020204030204" charset="0"/>
                <a:ea typeface="宋体" panose="02010600030101010101" pitchFamily="2" charset="-122"/>
                <a:cs typeface="Calibri" panose="020F0502020204030204" charset="0"/>
              </a:rPr>
              <a:t>”</a:t>
            </a:r>
            <a:r>
              <a:rPr lang="zh-CN" altLang="en-US" sz="1600">
                <a:latin typeface="Calibri" panose="020F0502020204030204" charset="0"/>
                <a:ea typeface="宋体" panose="02010600030101010101" pitchFamily="2" charset="-122"/>
                <a:cs typeface="Calibri" panose="020F0502020204030204" charset="0"/>
              </a:rPr>
              <a:t>，它的控制流程是</a:t>
            </a:r>
            <a:r>
              <a:rPr lang="zh-CN" altLang="en-US" sz="1600">
                <a:solidFill>
                  <a:srgbClr val="FF0000"/>
                </a:solidFill>
                <a:latin typeface="Calibri" panose="020F0502020204030204" charset="0"/>
                <a:ea typeface="宋体" panose="02010600030101010101" pitchFamily="2" charset="-122"/>
                <a:cs typeface="Calibri" panose="020F0502020204030204" charset="0"/>
              </a:rPr>
              <a:t>固定</a:t>
            </a:r>
            <a:r>
              <a:rPr lang="zh-CN" altLang="en-US" sz="1600">
                <a:latin typeface="Calibri" panose="020F0502020204030204" charset="0"/>
                <a:ea typeface="宋体" panose="02010600030101010101" pitchFamily="2" charset="-122"/>
                <a:cs typeface="Calibri" panose="020F0502020204030204" charset="0"/>
              </a:rPr>
              <a:t>的。这种方式结构清晰，实现也比较稳定，适合理解。但它的缺点是</a:t>
            </a:r>
            <a:r>
              <a:rPr lang="zh-CN" altLang="en-US" sz="1600">
                <a:solidFill>
                  <a:srgbClr val="FF0000"/>
                </a:solidFill>
                <a:latin typeface="Calibri" panose="020F0502020204030204" charset="0"/>
                <a:ea typeface="宋体" panose="02010600030101010101" pitchFamily="2" charset="-122"/>
                <a:cs typeface="Calibri" panose="020F0502020204030204" charset="0"/>
              </a:rPr>
              <a:t>不够灵活</a:t>
            </a:r>
            <a:r>
              <a:rPr lang="zh-CN" altLang="en-US" sz="1600">
                <a:latin typeface="Calibri" panose="020F0502020204030204" charset="0"/>
                <a:ea typeface="宋体" panose="02010600030101010101" pitchFamily="2" charset="-122"/>
                <a:cs typeface="Calibri" panose="020F0502020204030204" charset="0"/>
              </a:rPr>
              <a:t>。比如</a:t>
            </a:r>
            <a:r>
              <a:rPr lang="en-US" altLang="zh-CN" sz="1600">
                <a:latin typeface="Calibri" panose="020F0502020204030204" charset="0"/>
                <a:ea typeface="宋体" panose="02010600030101010101" pitchFamily="2" charset="-122"/>
                <a:cs typeface="Calibri" panose="020F0502020204030204" charset="0"/>
              </a:rPr>
              <a:t>BEQ</a:t>
            </a:r>
            <a:r>
              <a:rPr lang="zh-CN" altLang="en-US" sz="1600">
                <a:latin typeface="Calibri" panose="020F0502020204030204" charset="0"/>
                <a:ea typeface="宋体" panose="02010600030101010101" pitchFamily="2" charset="-122"/>
                <a:cs typeface="Calibri" panose="020F0502020204030204" charset="0"/>
              </a:rPr>
              <a:t>指令明明不满足跳转条件，后面的状态根本不该执行，但在定长结构里它还是会执行所有周期，</a:t>
            </a:r>
            <a:r>
              <a:rPr lang="zh-CN" altLang="en-US" sz="1600">
                <a:solidFill>
                  <a:srgbClr val="FF0000"/>
                </a:solidFill>
                <a:latin typeface="Calibri" panose="020F0502020204030204" charset="0"/>
                <a:ea typeface="宋体" panose="02010600030101010101" pitchFamily="2" charset="-122"/>
                <a:cs typeface="Calibri" panose="020F0502020204030204" charset="0"/>
              </a:rPr>
              <a:t>不够高效</a:t>
            </a:r>
            <a:r>
              <a:rPr lang="zh-CN" altLang="en-US" sz="1600">
                <a:latin typeface="Calibri" panose="020F0502020204030204" charset="0"/>
                <a:ea typeface="宋体" panose="02010600030101010101" pitchFamily="2" charset="-122"/>
                <a:cs typeface="Calibri" panose="020F0502020204030204" charset="0"/>
              </a:rPr>
              <a:t>。</a:t>
            </a:r>
            <a:endParaRPr lang="zh-CN" altLang="en-US" sz="1600">
              <a:latin typeface="Calibri" panose="020F0502020204030204" charset="0"/>
              <a:ea typeface="宋体" panose="02010600030101010101" pitchFamily="2" charset="-122"/>
              <a:cs typeface="Calibri" panose="020F0502020204030204" charset="0"/>
            </a:endParaRPr>
          </a:p>
          <a:p>
            <a:r>
              <a:rPr lang="en-US" altLang="zh-CN" sz="1600">
                <a:latin typeface="Calibri" panose="020F0502020204030204" charset="0"/>
                <a:ea typeface="宋体" panose="02010600030101010101" pitchFamily="2" charset="-122"/>
                <a:cs typeface="Calibri" panose="020F0502020204030204" charset="0"/>
              </a:rPr>
              <a:t>2</a:t>
            </a:r>
            <a:r>
              <a:rPr lang="zh-CN" altLang="en-US" sz="1600">
                <a:latin typeface="Calibri" panose="020F0502020204030204" charset="0"/>
                <a:ea typeface="宋体" panose="02010600030101010101" pitchFamily="2" charset="-122"/>
                <a:cs typeface="Calibri" panose="020F0502020204030204" charset="0"/>
              </a:rPr>
              <a:t>：后期做的</a:t>
            </a:r>
            <a:r>
              <a:rPr lang="en-US" altLang="zh-CN" sz="1600">
                <a:latin typeface="Calibri" panose="020F0502020204030204" charset="0"/>
                <a:ea typeface="宋体" panose="02010600030101010101" pitchFamily="2" charset="-122"/>
                <a:cs typeface="Calibri" panose="020F0502020204030204" charset="0"/>
              </a:rPr>
              <a:t>“</a:t>
            </a:r>
            <a:r>
              <a:rPr lang="zh-CN" altLang="en-US" sz="1600">
                <a:latin typeface="Calibri" panose="020F0502020204030204" charset="0"/>
                <a:ea typeface="宋体" panose="02010600030101010101" pitchFamily="2" charset="-122"/>
                <a:cs typeface="Calibri" panose="020F0502020204030204" charset="0"/>
              </a:rPr>
              <a:t>现代时序硬布线控制器</a:t>
            </a:r>
            <a:r>
              <a:rPr lang="en-US" altLang="zh-CN" sz="1600">
                <a:latin typeface="Calibri" panose="020F0502020204030204" charset="0"/>
                <a:ea typeface="宋体" panose="02010600030101010101" pitchFamily="2" charset="-122"/>
                <a:cs typeface="Calibri" panose="020F0502020204030204" charset="0"/>
              </a:rPr>
              <a:t>”</a:t>
            </a:r>
            <a:r>
              <a:rPr lang="zh-CN" altLang="en-US" sz="1600">
                <a:latin typeface="Calibri" panose="020F0502020204030204" charset="0"/>
                <a:ea typeface="宋体" panose="02010600030101010101" pitchFamily="2" charset="-122"/>
                <a:cs typeface="Calibri" panose="020F0502020204030204" charset="0"/>
              </a:rPr>
              <a:t>，它较定长时序控制器</a:t>
            </a:r>
            <a:r>
              <a:rPr lang="zh-CN" altLang="en-US" sz="1600">
                <a:solidFill>
                  <a:srgbClr val="FF0000"/>
                </a:solidFill>
                <a:latin typeface="Calibri" panose="020F0502020204030204" charset="0"/>
                <a:ea typeface="宋体" panose="02010600030101010101" pitchFamily="2" charset="-122"/>
                <a:cs typeface="Calibri" panose="020F0502020204030204" charset="0"/>
              </a:rPr>
              <a:t>灵活</a:t>
            </a:r>
            <a:r>
              <a:rPr lang="zh-CN" altLang="en-US" sz="1600">
                <a:latin typeface="Calibri" panose="020F0502020204030204" charset="0"/>
                <a:ea typeface="宋体" panose="02010600030101010101" pitchFamily="2" charset="-122"/>
                <a:cs typeface="Calibri" panose="020F0502020204030204" charset="0"/>
              </a:rPr>
              <a:t>很多。这个控制器是</a:t>
            </a:r>
            <a:r>
              <a:rPr lang="zh-CN" altLang="en-US" sz="1600">
                <a:solidFill>
                  <a:srgbClr val="FF0000"/>
                </a:solidFill>
                <a:latin typeface="Calibri" panose="020F0502020204030204" charset="0"/>
                <a:ea typeface="宋体" panose="02010600030101010101" pitchFamily="2" charset="-122"/>
                <a:cs typeface="Calibri" panose="020F0502020204030204" charset="0"/>
              </a:rPr>
              <a:t>状态驱动</a:t>
            </a:r>
            <a:r>
              <a:rPr lang="zh-CN" altLang="en-US" sz="1600">
                <a:latin typeface="Calibri" panose="020F0502020204030204" charset="0"/>
                <a:ea typeface="宋体" panose="02010600030101010101" pitchFamily="2" charset="-122"/>
                <a:cs typeface="Calibri" panose="020F0502020204030204" charset="0"/>
              </a:rPr>
              <a:t>的，每个状态可以根据指令类型和条件判断跳到不同的下一个状态。且它不需要</a:t>
            </a:r>
            <a:r>
              <a:rPr lang="en-US" altLang="zh-CN" sz="1600">
                <a:latin typeface="Calibri" panose="020F0502020204030204" charset="0"/>
                <a:ea typeface="宋体" panose="02010600030101010101" pitchFamily="2" charset="-122"/>
                <a:cs typeface="Calibri" panose="020F0502020204030204" charset="0"/>
              </a:rPr>
              <a:t>ROM</a:t>
            </a:r>
            <a:r>
              <a:rPr lang="zh-CN" altLang="en-US" sz="1600">
                <a:latin typeface="Calibri" panose="020F0502020204030204" charset="0"/>
                <a:ea typeface="宋体" panose="02010600030101010101" pitchFamily="2" charset="-122"/>
                <a:cs typeface="Calibri" panose="020F0502020204030204" charset="0"/>
              </a:rPr>
              <a:t>查表，全是组合逻辑电路。通过状态寄存器</a:t>
            </a:r>
            <a:r>
              <a:rPr lang="en-US" altLang="zh-CN" sz="1600">
                <a:latin typeface="Calibri" panose="020F0502020204030204" charset="0"/>
                <a:ea typeface="宋体" panose="02010600030101010101" pitchFamily="2" charset="-122"/>
                <a:cs typeface="Calibri" panose="020F0502020204030204" charset="0"/>
              </a:rPr>
              <a:t>+</a:t>
            </a:r>
            <a:r>
              <a:rPr lang="zh-CN" altLang="en-US" sz="1600">
                <a:latin typeface="Calibri" panose="020F0502020204030204" charset="0"/>
                <a:ea typeface="宋体" panose="02010600030101010101" pitchFamily="2" charset="-122"/>
                <a:cs typeface="Calibri" panose="020F0502020204030204" charset="0"/>
              </a:rPr>
              <a:t>指令译码器</a:t>
            </a:r>
            <a:r>
              <a:rPr lang="en-US" altLang="zh-CN" sz="1600">
                <a:latin typeface="Calibri" panose="020F0502020204030204" charset="0"/>
                <a:ea typeface="宋体" panose="02010600030101010101" pitchFamily="2" charset="-122"/>
                <a:cs typeface="Calibri" panose="020F0502020204030204" charset="0"/>
              </a:rPr>
              <a:t>+</a:t>
            </a:r>
            <a:r>
              <a:rPr lang="zh-CN" altLang="en-US" sz="1600">
                <a:latin typeface="Calibri" panose="020F0502020204030204" charset="0"/>
                <a:ea typeface="宋体" panose="02010600030101010101" pitchFamily="2" charset="-122"/>
                <a:cs typeface="Calibri" panose="020F0502020204030204" charset="0"/>
              </a:rPr>
              <a:t>状态转移逻辑模块，动态输出下一状态和控制总线信号。设计方式虽然更复杂，但</a:t>
            </a:r>
            <a:r>
              <a:rPr lang="zh-CN" altLang="en-US" sz="1600">
                <a:solidFill>
                  <a:srgbClr val="FF0000"/>
                </a:solidFill>
                <a:latin typeface="Calibri" panose="020F0502020204030204" charset="0"/>
                <a:ea typeface="宋体" panose="02010600030101010101" pitchFamily="2" charset="-122"/>
                <a:cs typeface="Calibri" panose="020F0502020204030204" charset="0"/>
              </a:rPr>
              <a:t>效率更高</a:t>
            </a:r>
            <a:r>
              <a:rPr lang="zh-CN" altLang="en-US" sz="1600">
                <a:latin typeface="Calibri" panose="020F0502020204030204" charset="0"/>
                <a:ea typeface="宋体" panose="02010600030101010101" pitchFamily="2" charset="-122"/>
                <a:cs typeface="Calibri" panose="020F0502020204030204" charset="0"/>
              </a:rPr>
              <a:t>，控制逻辑也更贴近真实</a:t>
            </a:r>
            <a:r>
              <a:rPr lang="en-US" altLang="zh-CN" sz="1600">
                <a:latin typeface="Calibri" panose="020F0502020204030204" charset="0"/>
                <a:ea typeface="宋体" panose="02010600030101010101" pitchFamily="2" charset="-122"/>
                <a:cs typeface="Calibri" panose="020F0502020204030204" charset="0"/>
              </a:rPr>
              <a:t>CPU</a:t>
            </a:r>
            <a:r>
              <a:rPr lang="zh-CN" altLang="en-US" sz="1600">
                <a:latin typeface="Calibri" panose="020F0502020204030204" charset="0"/>
                <a:ea typeface="宋体" panose="02010600030101010101" pitchFamily="2" charset="-122"/>
                <a:cs typeface="Calibri" panose="020F0502020204030204" charset="0"/>
              </a:rPr>
              <a:t>。</a:t>
            </a:r>
            <a:endParaRPr lang="zh-CN" altLang="en-US" sz="1600">
              <a:latin typeface="Calibri" panose="020F0502020204030204" charset="0"/>
              <a:ea typeface="宋体" panose="02010600030101010101" pitchFamily="2" charset="-122"/>
              <a:cs typeface="Calibri" panose="020F0502020204030204" charset="0"/>
            </a:endParaRPr>
          </a:p>
          <a:p>
            <a:endParaRPr lang="zh-CN" altLang="en-US" sz="1600">
              <a:latin typeface="Calibri" panose="020F0502020204030204" charset="0"/>
              <a:ea typeface="宋体" panose="02010600030101010101" pitchFamily="2" charset="-122"/>
              <a:cs typeface="Calibri" panose="020F0502020204030204" charset="0"/>
            </a:endParaRPr>
          </a:p>
          <a:p>
            <a:r>
              <a:rPr lang="zh-CN" altLang="en-US" sz="2400" b="1">
                <a:latin typeface="Calibri" panose="020F0502020204030204" charset="0"/>
                <a:ea typeface="宋体" panose="02010600030101010101" pitchFamily="2" charset="-122"/>
                <a:cs typeface="Calibri" panose="020F0502020204030204" charset="0"/>
              </a:rPr>
              <a:t>实验心得：</a:t>
            </a:r>
            <a:r>
              <a:rPr lang="zh-CN" altLang="en-US" sz="1600">
                <a:latin typeface="Calibri" panose="020F0502020204030204" charset="0"/>
                <a:ea typeface="宋体" panose="02010600030101010101" pitchFamily="2" charset="-122"/>
                <a:cs typeface="Calibri" panose="020F0502020204030204" charset="0"/>
              </a:rPr>
              <a:t>定长时序像是</a:t>
            </a:r>
            <a:r>
              <a:rPr lang="en-US" altLang="zh-CN" sz="1600">
                <a:latin typeface="Calibri" panose="020F0502020204030204" charset="0"/>
                <a:ea typeface="宋体" panose="02010600030101010101" pitchFamily="2" charset="-122"/>
                <a:cs typeface="Calibri" panose="020F0502020204030204" charset="0"/>
              </a:rPr>
              <a:t>“</a:t>
            </a:r>
            <a:r>
              <a:rPr lang="zh-CN" altLang="en-US" sz="1600">
                <a:latin typeface="Calibri" panose="020F0502020204030204" charset="0"/>
                <a:ea typeface="宋体" panose="02010600030101010101" pitchFamily="2" charset="-122"/>
                <a:cs typeface="Calibri" panose="020F0502020204030204" charset="0"/>
              </a:rPr>
              <a:t>流水线工厂</a:t>
            </a:r>
            <a:r>
              <a:rPr lang="en-US" altLang="zh-CN" sz="1600">
                <a:latin typeface="Calibri" panose="020F0502020204030204" charset="0"/>
                <a:ea typeface="宋体" panose="02010600030101010101" pitchFamily="2" charset="-122"/>
                <a:cs typeface="Calibri" panose="020F0502020204030204" charset="0"/>
              </a:rPr>
              <a:t>”</a:t>
            </a:r>
            <a:r>
              <a:rPr lang="zh-CN" altLang="en-US" sz="1600">
                <a:latin typeface="Calibri" panose="020F0502020204030204" charset="0"/>
                <a:ea typeface="宋体" panose="02010600030101010101" pitchFamily="2" charset="-122"/>
                <a:cs typeface="Calibri" panose="020F0502020204030204" charset="0"/>
              </a:rPr>
              <a:t>，每一步都规定好走；而现代时序更像是</a:t>
            </a:r>
            <a:r>
              <a:rPr lang="en-US" altLang="zh-CN" sz="1600">
                <a:latin typeface="Calibri" panose="020F0502020204030204" charset="0"/>
                <a:ea typeface="宋体" panose="02010600030101010101" pitchFamily="2" charset="-122"/>
                <a:cs typeface="Calibri" panose="020F0502020204030204" charset="0"/>
              </a:rPr>
              <a:t>“</a:t>
            </a:r>
            <a:r>
              <a:rPr lang="zh-CN" altLang="en-US" sz="1600">
                <a:latin typeface="Calibri" panose="020F0502020204030204" charset="0"/>
                <a:ea typeface="宋体" panose="02010600030101010101" pitchFamily="2" charset="-122"/>
                <a:cs typeface="Calibri" panose="020F0502020204030204" charset="0"/>
              </a:rPr>
              <a:t>自主导航机器人</a:t>
            </a:r>
            <a:r>
              <a:rPr lang="en-US" altLang="zh-CN" sz="1600">
                <a:latin typeface="Calibri" panose="020F0502020204030204" charset="0"/>
                <a:ea typeface="宋体" panose="02010600030101010101" pitchFamily="2" charset="-122"/>
                <a:cs typeface="Calibri" panose="020F0502020204030204" charset="0"/>
              </a:rPr>
              <a:t>”</a:t>
            </a:r>
            <a:r>
              <a:rPr lang="zh-CN" altLang="en-US" sz="1600">
                <a:latin typeface="Calibri" panose="020F0502020204030204" charset="0"/>
                <a:ea typeface="宋体" panose="02010600030101010101" pitchFamily="2" charset="-122"/>
                <a:cs typeface="Calibri" panose="020F0502020204030204" charset="0"/>
              </a:rPr>
              <a:t>，根据不同的输入自己决定下一步走哪儿。通过对比两种设计方式，我不仅掌握了控制器从</a:t>
            </a:r>
            <a:r>
              <a:rPr lang="en-US" altLang="zh-CN" sz="1600">
                <a:latin typeface="Calibri" panose="020F0502020204030204" charset="0"/>
                <a:ea typeface="宋体" panose="02010600030101010101" pitchFamily="2" charset="-122"/>
                <a:cs typeface="Calibri" panose="020F0502020204030204" charset="0"/>
              </a:rPr>
              <a:t>“</a:t>
            </a:r>
            <a:r>
              <a:rPr lang="zh-CN" altLang="en-US" sz="1600">
                <a:latin typeface="Calibri" panose="020F0502020204030204" charset="0"/>
                <a:ea typeface="宋体" panose="02010600030101010101" pitchFamily="2" charset="-122"/>
                <a:cs typeface="Calibri" panose="020F0502020204030204" charset="0"/>
              </a:rPr>
              <a:t>流程固定</a:t>
            </a:r>
            <a:r>
              <a:rPr lang="en-US" altLang="zh-CN" sz="1600">
                <a:latin typeface="Calibri" panose="020F0502020204030204" charset="0"/>
                <a:ea typeface="宋体" panose="02010600030101010101" pitchFamily="2" charset="-122"/>
                <a:cs typeface="Calibri" panose="020F0502020204030204" charset="0"/>
              </a:rPr>
              <a:t>”</a:t>
            </a:r>
            <a:r>
              <a:rPr lang="zh-CN" altLang="en-US" sz="1600">
                <a:latin typeface="Calibri" panose="020F0502020204030204" charset="0"/>
                <a:ea typeface="宋体" panose="02010600030101010101" pitchFamily="2" charset="-122"/>
                <a:cs typeface="Calibri" panose="020F0502020204030204" charset="0"/>
              </a:rPr>
              <a:t>到</a:t>
            </a:r>
            <a:r>
              <a:rPr lang="en-US" altLang="zh-CN" sz="1600">
                <a:latin typeface="Calibri" panose="020F0502020204030204" charset="0"/>
                <a:ea typeface="宋体" panose="02010600030101010101" pitchFamily="2" charset="-122"/>
                <a:cs typeface="Calibri" panose="020F0502020204030204" charset="0"/>
              </a:rPr>
              <a:t>“</a:t>
            </a:r>
            <a:r>
              <a:rPr lang="zh-CN" altLang="en-US" sz="1600">
                <a:latin typeface="Calibri" panose="020F0502020204030204" charset="0"/>
                <a:ea typeface="宋体" panose="02010600030101010101" pitchFamily="2" charset="-122"/>
                <a:cs typeface="Calibri" panose="020F0502020204030204" charset="0"/>
              </a:rPr>
              <a:t>流程判断</a:t>
            </a:r>
            <a:r>
              <a:rPr lang="en-US" altLang="zh-CN" sz="1600">
                <a:latin typeface="Calibri" panose="020F0502020204030204" charset="0"/>
                <a:ea typeface="宋体" panose="02010600030101010101" pitchFamily="2" charset="-122"/>
                <a:cs typeface="Calibri" panose="020F0502020204030204" charset="0"/>
              </a:rPr>
              <a:t>”</a:t>
            </a:r>
            <a:r>
              <a:rPr lang="zh-CN" altLang="en-US" sz="1600">
                <a:latin typeface="Calibri" panose="020F0502020204030204" charset="0"/>
                <a:ea typeface="宋体" panose="02010600030101010101" pitchFamily="2" charset="-122"/>
                <a:cs typeface="Calibri" panose="020F0502020204030204" charset="0"/>
              </a:rPr>
              <a:t>的演进思路，也意识到</a:t>
            </a:r>
            <a:r>
              <a:rPr lang="en-US" altLang="zh-CN" sz="1600">
                <a:latin typeface="Calibri" panose="020F0502020204030204" charset="0"/>
                <a:ea typeface="宋体" panose="02010600030101010101" pitchFamily="2" charset="-122"/>
                <a:cs typeface="Calibri" panose="020F0502020204030204" charset="0"/>
              </a:rPr>
              <a:t>CPU</a:t>
            </a:r>
            <a:r>
              <a:rPr lang="zh-CN" altLang="en-US" sz="1600">
                <a:latin typeface="Calibri" panose="020F0502020204030204" charset="0"/>
                <a:ea typeface="宋体" panose="02010600030101010101" pitchFamily="2" charset="-122"/>
                <a:cs typeface="Calibri" panose="020F0502020204030204" charset="0"/>
              </a:rPr>
              <a:t>控制逻辑的核心不在于</a:t>
            </a:r>
            <a:r>
              <a:rPr lang="en-US" altLang="zh-CN" sz="1600">
                <a:latin typeface="Calibri" panose="020F0502020204030204" charset="0"/>
                <a:ea typeface="宋体" panose="02010600030101010101" pitchFamily="2" charset="-122"/>
                <a:cs typeface="Calibri" panose="020F0502020204030204" charset="0"/>
              </a:rPr>
              <a:t>“</a:t>
            </a:r>
            <a:r>
              <a:rPr lang="zh-CN" altLang="en-US" sz="1600">
                <a:latin typeface="Calibri" panose="020F0502020204030204" charset="0"/>
                <a:ea typeface="宋体" panose="02010600030101010101" pitchFamily="2" charset="-122"/>
                <a:cs typeface="Calibri" panose="020F0502020204030204" charset="0"/>
              </a:rPr>
              <a:t>会不会执行</a:t>
            </a:r>
            <a:r>
              <a:rPr lang="en-US" altLang="zh-CN" sz="1600">
                <a:latin typeface="Calibri" panose="020F0502020204030204" charset="0"/>
                <a:ea typeface="宋体" panose="02010600030101010101" pitchFamily="2" charset="-122"/>
                <a:cs typeface="Calibri" panose="020F0502020204030204" charset="0"/>
              </a:rPr>
              <a:t>”</a:t>
            </a:r>
            <a:r>
              <a:rPr lang="zh-CN" altLang="en-US" sz="1600">
                <a:latin typeface="Calibri" panose="020F0502020204030204" charset="0"/>
                <a:ea typeface="宋体" panose="02010600030101010101" pitchFamily="2" charset="-122"/>
                <a:cs typeface="Calibri" panose="020F0502020204030204" charset="0"/>
              </a:rPr>
              <a:t>，而在于</a:t>
            </a:r>
            <a:r>
              <a:rPr lang="en-US" altLang="zh-CN" sz="1600">
                <a:latin typeface="Calibri" panose="020F0502020204030204" charset="0"/>
                <a:ea typeface="宋体" panose="02010600030101010101" pitchFamily="2" charset="-122"/>
                <a:cs typeface="Calibri" panose="020F0502020204030204" charset="0"/>
              </a:rPr>
              <a:t>“</a:t>
            </a:r>
            <a:r>
              <a:rPr lang="zh-CN" altLang="en-US" sz="1600">
                <a:latin typeface="Calibri" panose="020F0502020204030204" charset="0"/>
                <a:ea typeface="宋体" panose="02010600030101010101" pitchFamily="2" charset="-122"/>
                <a:cs typeface="Calibri" panose="020F0502020204030204" charset="0"/>
              </a:rPr>
              <a:t>是否执行对的操作、执行效率如何</a:t>
            </a:r>
            <a:r>
              <a:rPr lang="en-US" altLang="zh-CN" sz="1600">
                <a:latin typeface="Calibri" panose="020F0502020204030204" charset="0"/>
                <a:ea typeface="宋体" panose="02010600030101010101" pitchFamily="2" charset="-122"/>
                <a:cs typeface="Calibri" panose="020F0502020204030204" charset="0"/>
              </a:rPr>
              <a:t>”</a:t>
            </a:r>
            <a:r>
              <a:rPr lang="zh-CN" altLang="en-US" sz="1600">
                <a:latin typeface="Calibri" panose="020F0502020204030204" charset="0"/>
                <a:ea typeface="宋体" panose="02010600030101010101" pitchFamily="2" charset="-122"/>
                <a:cs typeface="Calibri" panose="020F0502020204030204" charset="0"/>
              </a:rPr>
              <a:t>。这也是我在这个项目中最大的收获之一。</a:t>
            </a:r>
            <a:endParaRPr lang="zh-CN" altLang="en-US" sz="1600">
              <a:latin typeface="Calibri" panose="020F0502020204030204" charset="0"/>
              <a:ea typeface="宋体" panose="02010600030101010101" pitchFamily="2" charset="-122"/>
              <a:cs typeface="Calibri" panose="020F05020202040302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感谢您的指导！</a:t>
            </a:r>
            <a:endParaRPr lang="zh-CN" altLang="en-US" dirty="0"/>
          </a:p>
        </p:txBody>
      </p:sp>
      <p:sp>
        <p:nvSpPr>
          <p:cNvPr id="3" name="副标题 2"/>
          <p:cNvSpPr>
            <a:spLocks noGrp="1"/>
          </p:cNvSpPr>
          <p:nvPr>
            <p:ph type="subTitle" idx="1"/>
          </p:nvPr>
        </p:nvSpPr>
        <p:spPr/>
        <p:txBody>
          <a:bodyPr/>
          <a:lstStyle/>
          <a:p>
            <a:r>
              <a:rPr lang="en-US" altLang="zh-CN" dirty="0"/>
              <a:t>Thank you for your support and guidance!</a:t>
            </a:r>
            <a:endParaRPr lang="zh-CN" altLang="en-US" dirty="0"/>
          </a:p>
        </p:txBody>
      </p:sp>
      <p:sp>
        <p:nvSpPr>
          <p:cNvPr id="4" name="文本占位符 3"/>
          <p:cNvSpPr>
            <a:spLocks noGrp="1"/>
          </p:cNvSpPr>
          <p:nvPr>
            <p:ph type="body" sz="quarter" idx="17"/>
          </p:nvPr>
        </p:nvSpPr>
        <p:spPr>
          <a:xfrm>
            <a:off x="4063318" y="4285299"/>
            <a:ext cx="4065361" cy="312420"/>
          </a:xfrm>
        </p:spPr>
        <p:txBody>
          <a:bodyPr/>
          <a:lstStyle/>
          <a:p>
            <a:r>
              <a:rPr lang="en-US" altLang="zh-CN" dirty="0"/>
              <a:t>&gt;&gt;</a:t>
            </a:r>
            <a:r>
              <a:rPr lang="zh-CN" altLang="en-US" dirty="0"/>
              <a:t>汇报人：</a:t>
            </a:r>
            <a:endParaRPr lang="zh-CN" altLang="en-US" dirty="0"/>
          </a:p>
        </p:txBody>
      </p:sp>
      <p:sp>
        <p:nvSpPr>
          <p:cNvPr id="5" name="文本占位符 4"/>
          <p:cNvSpPr>
            <a:spLocks noGrp="1"/>
          </p:cNvSpPr>
          <p:nvPr>
            <p:ph type="body" sz="quarter" idx="18"/>
          </p:nvPr>
        </p:nvSpPr>
        <p:spPr>
          <a:xfrm>
            <a:off x="4063317" y="4803063"/>
            <a:ext cx="4065361" cy="312420"/>
          </a:xfrm>
        </p:spPr>
        <p:txBody>
          <a:bodyPr/>
          <a:lstStyle/>
          <a:p>
            <a:r>
              <a:rPr lang="en-US" altLang="zh-CN" dirty="0"/>
              <a:t>&gt;&gt;</a:t>
            </a:r>
            <a:r>
              <a:rPr lang="zh-CN" altLang="en-US" dirty="0"/>
              <a:t>指导老师：</a:t>
            </a:r>
            <a:endParaRPr lang="zh-CN" altLang="en-US" dirty="0"/>
          </a:p>
        </p:txBody>
      </p:sp>
    </p:spTree>
  </p:cSld>
  <p:clrMapOvr>
    <a:masterClrMapping/>
  </p:clrMapOvr>
</p:sld>
</file>

<file path=ppt/tags/tag1.xml><?xml version="1.0" encoding="utf-8"?>
<p:tagLst xmlns:p="http://schemas.openxmlformats.org/presentationml/2006/main">
  <p:tag name="KSO_WM_DIAGRAM_VIRTUALLY_FRAME" val="{&quot;height&quot;:341.025,&quot;left&quot;:57.55,&quot;top&quot;:220.125,&quot;width&quot;:809.95}"/>
</p:tagLst>
</file>

<file path=ppt/tags/tag2.xml><?xml version="1.0" encoding="utf-8"?>
<p:tagLst xmlns:p="http://schemas.openxmlformats.org/presentationml/2006/main">
  <p:tag name="KSO_WM_DIAGRAM_VIRTUALLY_FRAME" val="{&quot;height&quot;:341.025,&quot;left&quot;:57.55,&quot;top&quot;:220.125,&quot;width&quot;:809.95}"/>
</p:tagLst>
</file>

<file path=ppt/tags/tag3.xml><?xml version="1.0" encoding="utf-8"?>
<p:tagLst xmlns:p="http://schemas.openxmlformats.org/presentationml/2006/main">
  <p:tag name="KSO_WM_DIAGRAM_VIRTUALLY_FRAME" val="{&quot;height&quot;:341.025,&quot;left&quot;:57.55,&quot;top&quot;:220.125,&quot;width&quot;:809.95}"/>
</p:tagLst>
</file>

<file path=ppt/tags/tag4.xml><?xml version="1.0" encoding="utf-8"?>
<p:tagLst xmlns:p="http://schemas.openxmlformats.org/presentationml/2006/main">
  <p:tag name="KSO_WM_DIAGRAM_VIRTUALLY_FRAME" val="{&quot;height&quot;:341.025,&quot;left&quot;:57.55,&quot;top&quot;:220.125,&quot;width&quot;:809.95}"/>
</p:tagLst>
</file>

<file path=ppt/tags/tag5.xml><?xml version="1.0" encoding="utf-8"?>
<p:tagLst xmlns:p="http://schemas.openxmlformats.org/presentationml/2006/main">
  <p:tag name="KSO_WM_DIAGRAM_VIRTUALLY_FRAME" val="{&quot;height&quot;:222.75,&quot;left&quot;:83.85,&quot;top&quot;:245.4,&quot;width&quot;:783.65}"/>
</p:tagLst>
</file>

<file path=ppt/tags/tag6.xml><?xml version="1.0" encoding="utf-8"?>
<p:tagLst xmlns:p="http://schemas.openxmlformats.org/presentationml/2006/main">
  <p:tag name="KSO_WM_DIAGRAM_VIRTUALLY_FRAME" val="{&quot;height&quot;:222.75,&quot;left&quot;:83.85,&quot;top&quot;:245.4,&quot;width&quot;:783.65}"/>
</p:tagLst>
</file>

<file path=ppt/tags/tag7.xml><?xml version="1.0" encoding="utf-8"?>
<p:tagLst xmlns:p="http://schemas.openxmlformats.org/presentationml/2006/main">
  <p:tag name="KSO_WM_DIAGRAM_VIRTUALLY_FRAME" val="{&quot;height&quot;:222.75,&quot;left&quot;:83.85,&quot;top&quot;:245.4,&quot;width&quot;:783.65}"/>
</p:tagLst>
</file>

<file path=ppt/tags/tag8.xml><?xml version="1.0" encoding="utf-8"?>
<p:tagLst xmlns:p="http://schemas.openxmlformats.org/presentationml/2006/main">
  <p:tag name="KSO_WM_DIAGRAM_VIRTUALLY_FRAME" val="{&quot;height&quot;:222.75,&quot;left&quot;:83.85,&quot;top&quot;:245.4,&quot;width&quot;:783.65}"/>
</p:tagLst>
</file>

<file path=ppt/tags/tag9.xml><?xml version="1.0" encoding="utf-8"?>
<p:tagLst xmlns:p="http://schemas.openxmlformats.org/presentationml/2006/main">
  <p:tag name="KSO_WPP_MARK_KEY" val="34d61f9e-3541-4672-8892-cbd69bc7eca0"/>
  <p:tag name="COMMONDATA" val="eyJoZGlkIjoiMzZmMDEyZGY2ZDNhYzkyMDExYzlhMzJjMjc3NzVkNz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4918</Words>
  <Application>WPS 演示</Application>
  <PresentationFormat>宽屏</PresentationFormat>
  <Paragraphs>347</Paragraphs>
  <Slides>26</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26</vt:i4>
      </vt:variant>
    </vt:vector>
  </HeadingPairs>
  <TitlesOfParts>
    <vt:vector size="38" baseType="lpstr">
      <vt:lpstr>Arial</vt:lpstr>
      <vt:lpstr>宋体</vt:lpstr>
      <vt:lpstr>Wingdings</vt:lpstr>
      <vt:lpstr>微软雅黑</vt:lpstr>
      <vt:lpstr>阿里巴巴普惠体 Medium</vt:lpstr>
      <vt:lpstr>黑体</vt:lpstr>
      <vt:lpstr>Calibri</vt:lpstr>
      <vt:lpstr>等线</vt:lpstr>
      <vt:lpstr>Arial Unicode MS</vt:lpstr>
      <vt:lpstr>等线 Light</vt:lpstr>
      <vt:lpstr>Times New Roman</vt:lpstr>
      <vt:lpstr>Office 主题​​</vt:lpstr>
      <vt:lpstr>计算机组成及系统结构课程设计</vt:lpstr>
      <vt:lpstr>一、设计内容</vt:lpstr>
      <vt:lpstr>二、定长单总线cpu设计</vt:lpstr>
      <vt:lpstr>二、定长单总线cpu设计</vt:lpstr>
      <vt:lpstr>二、定长单总线cpu设计</vt:lpstr>
      <vt:lpstr>二、定长单总线cpu设计</vt:lpstr>
      <vt:lpstr>二、定长单总线cpu设计</vt:lpstr>
      <vt:lpstr>二、定长单总线cpu设计</vt:lpstr>
      <vt:lpstr>二、定长单总线cpu设计</vt:lpstr>
      <vt:lpstr>二、定长单总线cpu设计</vt:lpstr>
      <vt:lpstr>二、定长单总线cpu设计</vt:lpstr>
      <vt:lpstr>二、定长单总线cpu设计</vt:lpstr>
      <vt:lpstr>二、定长单总线cpu设计</vt:lpstr>
      <vt:lpstr>二、定长单总线cpu设计</vt:lpstr>
      <vt:lpstr>三、现代时序单总线CPU设计</vt:lpstr>
      <vt:lpstr>三、现代时序单总线CPU设计</vt:lpstr>
      <vt:lpstr>三、现代时序单总线CPU设计</vt:lpstr>
      <vt:lpstr>三、现代时序单总线CPU设计</vt:lpstr>
      <vt:lpstr>三、现代时序单总线CPU设计</vt:lpstr>
      <vt:lpstr>三、现代时序单总线CPU设计</vt:lpstr>
      <vt:lpstr>三、现代时序单总线CPU设计</vt:lpstr>
      <vt:lpstr>三、现代时序单总线CPU设计</vt:lpstr>
      <vt:lpstr>三、现代时序单总线CPU设计</vt:lpstr>
      <vt:lpstr>三、现代时序单总线CPU设计</vt:lpstr>
      <vt:lpstr>四、实验总结</vt:lpstr>
      <vt:lpstr>感谢您的指导！</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论文汇报5.21</dc:title>
  <dc:creator>玉林 汪</dc:creator>
  <cp:lastModifiedBy>我爱学习*~*</cp:lastModifiedBy>
  <cp:revision>47</cp:revision>
  <dcterms:created xsi:type="dcterms:W3CDTF">2024-05-24T18:25:00Z</dcterms:created>
  <dcterms:modified xsi:type="dcterms:W3CDTF">2026-02-24T04:22:19Z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EC0A5CF2D46E40BC96DAAA239F8AB933_13</vt:lpwstr>
  </property>
  <property fmtid="{D5CDD505-2E9C-101B-9397-08002B2CF9AE}" pid="3" name="KSOProductBuildVer">
    <vt:lpwstr>2052-12.1.0.20305</vt:lpwstr>
  </property>
</Properties>
</file>