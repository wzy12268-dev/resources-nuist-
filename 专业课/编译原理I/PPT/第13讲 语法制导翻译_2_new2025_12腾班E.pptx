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88" r:id="rId1"/>
    <p:sldMasterId id="2147485183" r:id="rId2"/>
    <p:sldMasterId id="2147485201" r:id="rId3"/>
  </p:sldMasterIdLst>
  <p:notesMasterIdLst>
    <p:notesMasterId r:id="rId51"/>
  </p:notesMasterIdLst>
  <p:handoutMasterIdLst>
    <p:handoutMasterId r:id="rId52"/>
  </p:handoutMasterIdLst>
  <p:sldIdLst>
    <p:sldId id="755" r:id="rId4"/>
    <p:sldId id="886" r:id="rId5"/>
    <p:sldId id="771" r:id="rId6"/>
    <p:sldId id="776" r:id="rId7"/>
    <p:sldId id="888" r:id="rId8"/>
    <p:sldId id="778" r:id="rId9"/>
    <p:sldId id="779" r:id="rId10"/>
    <p:sldId id="782" r:id="rId11"/>
    <p:sldId id="775" r:id="rId12"/>
    <p:sldId id="783" r:id="rId13"/>
    <p:sldId id="784" r:id="rId14"/>
    <p:sldId id="818" r:id="rId15"/>
    <p:sldId id="785" r:id="rId16"/>
    <p:sldId id="787" r:id="rId17"/>
    <p:sldId id="852" r:id="rId18"/>
    <p:sldId id="887" r:id="rId19"/>
    <p:sldId id="854" r:id="rId20"/>
    <p:sldId id="855" r:id="rId21"/>
    <p:sldId id="856" r:id="rId22"/>
    <p:sldId id="857" r:id="rId23"/>
    <p:sldId id="858" r:id="rId24"/>
    <p:sldId id="859" r:id="rId25"/>
    <p:sldId id="860" r:id="rId26"/>
    <p:sldId id="861" r:id="rId27"/>
    <p:sldId id="862" r:id="rId28"/>
    <p:sldId id="863" r:id="rId29"/>
    <p:sldId id="864" r:id="rId30"/>
    <p:sldId id="865" r:id="rId31"/>
    <p:sldId id="866" r:id="rId32"/>
    <p:sldId id="867" r:id="rId33"/>
    <p:sldId id="868" r:id="rId34"/>
    <p:sldId id="869" r:id="rId35"/>
    <p:sldId id="870" r:id="rId36"/>
    <p:sldId id="871" r:id="rId37"/>
    <p:sldId id="872" r:id="rId38"/>
    <p:sldId id="873" r:id="rId39"/>
    <p:sldId id="874" r:id="rId40"/>
    <p:sldId id="875" r:id="rId41"/>
    <p:sldId id="876" r:id="rId42"/>
    <p:sldId id="878" r:id="rId43"/>
    <p:sldId id="879" r:id="rId44"/>
    <p:sldId id="880" r:id="rId45"/>
    <p:sldId id="881" r:id="rId46"/>
    <p:sldId id="882" r:id="rId47"/>
    <p:sldId id="883" r:id="rId48"/>
    <p:sldId id="884" r:id="rId49"/>
    <p:sldId id="885" r:id="rId50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00"/>
    <a:srgbClr val="FF0000"/>
    <a:srgbClr val="0000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8" autoAdjust="0"/>
    <p:restoredTop sz="62652" autoAdjust="0"/>
  </p:normalViewPr>
  <p:slideViewPr>
    <p:cSldViewPr>
      <p:cViewPr varScale="1">
        <p:scale>
          <a:sx n="107" d="100"/>
          <a:sy n="107" d="100"/>
        </p:scale>
        <p:origin x="936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5076"/>
    </p:cViewPr>
  </p:sorterViewPr>
  <p:notesViewPr>
    <p:cSldViewPr>
      <p:cViewPr varScale="1">
        <p:scale>
          <a:sx n="82" d="100"/>
          <a:sy n="82" d="100"/>
        </p:scale>
        <p:origin x="5592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4E5B63-2548-4848-8591-495FE90E847C}" type="datetimeFigureOut">
              <a:rPr lang="zh-CN" altLang="en-US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CAF0D7-3BDE-43A3-8944-7B4199017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19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8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8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8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A920CE-4A67-4588-AB44-6478EEAE43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76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5B2ED-851D-418B-8FDE-29E1E5C36A69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6287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72654" indent="-272654"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8F9D4E-6451-45E8-9E54-888B209FB616}" type="slidenum">
              <a:rPr lang="zh-CN" altLang="en-US" smtClean="0">
                <a:solidFill>
                  <a:srgbClr val="000000"/>
                </a:solidFill>
              </a:rPr>
              <a:pPr/>
              <a:t>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10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4" tIns="45717" rIns="91434" bIns="45717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1CB9F0DA-54F9-401C-8701-33A07A812C4A}" type="slidenum">
              <a:rPr lang="zh-CN" altLang="en-US" sz="1200" b="0">
                <a:solidFill>
                  <a:srgbClr val="000000"/>
                </a:solidFill>
                <a:latin typeface="Arial" panose="020B0604020202020204" pitchFamily="34" charset="0"/>
              </a:rPr>
              <a:pPr algn="r" eaLnBrk="1" hangingPunct="1"/>
              <a:t>3</a:t>
            </a:fld>
            <a:endParaRPr lang="en-US" altLang="zh-CN" sz="12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5692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610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kumimoji="1" lang="en-US" altLang="zh-CN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8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99583B-4D2B-4E9C-A2CC-69A2944144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40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3FFA14-F990-4115-9439-D056B790C1A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921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E0B80-C84A-4965-AA2F-B4F32A28A3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670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F89AF7-017E-43B2-803C-33AD3594A9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223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C7611F-08FD-4DB5-9B4C-44FA60D721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06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E7B01E-D4C0-431B-BD35-03A707E6A9E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569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ECC9E3-2E3C-4003-A551-47213DBABE7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649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ED2BE8-95C0-4341-B4FE-98D7B1B8FE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3875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8F7542-4965-458F-8C5D-6353AB1FC8DB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3118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71A7676-7DFD-4F5D-97E1-51D63F8F495F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203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9D3BECB-6849-4A7D-86EB-F1BB61B18D23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858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466CCB-1547-4827-BD1E-5E577C22CD8C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124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ECD81D-0022-4D66-9234-AF85E5627918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18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672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13C1784-10E1-4861-8B81-A39909DFD314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19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004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46D8E1-7223-43B1-866D-1743669A127A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20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889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6578E3-474A-4E38-A8D0-557A39EE1179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21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A8C5A1A-243E-4324-B3BA-17FFEE8C02A6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22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234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462788E-2030-41A3-8A97-69D2C36FFACD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23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659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D181A00-283E-4A8D-B84C-3B206FE6AF66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24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10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7B366C-D902-467C-ABF2-67E61689E303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873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81B99B-909C-44DA-A3BA-65A0261A1AB0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55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4BFDDE-7B17-4DFB-A6EB-E94D6FC6FCF1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617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A6357B-54C5-49F4-A3C5-1BD40CDE040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28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323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7FA17C0-CAF5-4D4E-86F2-EC14D016605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29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386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BFD00FE-B18F-4D8F-8F60-ED96BED00E06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30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400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70D264-23CE-42BF-8D2F-9A3DAD5A6CA5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31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657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55BF95-96C2-4BE9-A614-B9C9DF92B328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32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3668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CA3A6F5-106F-4061-89FC-18929FA9D751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33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005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6E33054-5113-4EFC-9B86-AC433E48E4DF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34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0021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93CF28-94EE-41E9-81F1-9857E9BBF43D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929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A10AD0-1190-407E-B733-0FA6961FDC12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91236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E992F2-A5E6-48EC-8CDD-0831FD9519E7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37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305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6035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5235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96458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4121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34170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29359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15150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B81236-5CA4-44F1-8C15-3E70EA21C685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45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5512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ED9AD98-3C1A-477E-B2C8-3B706606D4ED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46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6037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B32195-EB09-4B13-8A7F-494F93DDBD70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17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0CD80FF-98D6-4AB8-B36A-38B9D1CC97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96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 b="1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CFE75A21-4D54-4A6B-95C2-C3F87DD39E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4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442B0-65F0-423C-9435-98AA9BE52A52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49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79493-E21D-422A-98EC-F13B3769586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42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01EAF-2024-420B-89FD-CB2E5CA27F4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30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F02C9-C14D-482A-B52F-3589E799176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95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94CBE-1E17-4CEF-A3A7-170C0570938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25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313C-52AD-4199-90BE-6E73990C806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2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DDFC5-9F9A-46EA-BC67-EFFA405F2CB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0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6696-D5F5-4DA4-BB3B-4C6D2C0C6789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8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6F351-3068-44AA-80EE-7C0A002AFEE5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6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F4327-437C-4671-8E57-EFE09BBB6570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517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4ACF3-8C5F-4551-86EA-D6BD487FB7F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03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17963" y="195486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6B4237-9F78-486C-8693-380A31267B76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6713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F28F9A2-09C9-4AF8-AF7C-3585CC9924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70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259485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ADF5252-5F77-44FA-92FC-74752EF2DF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74" r:id="rId1"/>
    <p:sldLayoutId id="214748517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 b="0">
              <a:solidFill>
                <a:srgbClr val="000000"/>
              </a:solidFill>
            </a:endParaRPr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E98608-490A-41B4-86CC-75532A80593C}" type="slidenum">
              <a:rPr lang="zh-CN" altLang="en-US" b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34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4" r:id="rId1"/>
    <p:sldLayoutId id="2147485185" r:id="rId2"/>
    <p:sldLayoutId id="2147485186" r:id="rId3"/>
    <p:sldLayoutId id="2147485187" r:id="rId4"/>
    <p:sldLayoutId id="2147485188" r:id="rId5"/>
    <p:sldLayoutId id="2147485189" r:id="rId6"/>
    <p:sldLayoutId id="2147485190" r:id="rId7"/>
    <p:sldLayoutId id="2147485191" r:id="rId8"/>
    <p:sldLayoutId id="2147485192" r:id="rId9"/>
    <p:sldLayoutId id="2147485193" r:id="rId10"/>
    <p:sldLayoutId id="21474851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 b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A306ABB-A670-4062-9ADB-C4AF3A631345}" type="slidenum">
              <a:rPr lang="zh-CN" altLang="en-US" b="0"/>
              <a:pPr>
                <a:defRPr/>
              </a:pPr>
              <a:t>‹#›</a:t>
            </a:fld>
            <a:endParaRPr lang="en-US" altLang="zh-CN" b="0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103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755"/>
            <a:ext cx="8352928" cy="5125991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284663" y="162401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endParaRPr lang="zh-CN" altLang="en-US" sz="35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19672" y="819151"/>
            <a:ext cx="6119912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lvl="0" eaLnBrk="1" fontAlgn="auto" hangingPunct="1">
              <a:spcAft>
                <a:spcPts val="0"/>
              </a:spcAft>
              <a:defRPr/>
            </a:pPr>
            <a:r>
              <a:rPr lang="zh-CN" altLang="en-US" sz="4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第五章  语法制导翻译</a:t>
            </a:r>
            <a:r>
              <a:rPr lang="en-US" altLang="zh-CN" sz="4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40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zh-CN" altLang="en-US" sz="36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60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C32FFA-EA69-47F7-AFFE-12C640E3505D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9149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32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南信大 计软院 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 凌妙根</a:t>
            </a:r>
            <a:endParaRPr lang="en-US" altLang="zh-CN" sz="2800" dirty="0">
              <a:solidFill>
                <a:prstClr val="white"/>
              </a:solidFill>
              <a:latin typeface="Candara"/>
              <a:ea typeface="楷体" pitchFamily="49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2025</a:t>
            </a:r>
            <a:r>
              <a:rPr lang="zh-CN" altLang="en-US" sz="28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年秋</a:t>
            </a:r>
            <a:endParaRPr lang="zh-CN" altLang="en-US" sz="28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73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7825" y="411163"/>
            <a:ext cx="8874695" cy="4306919"/>
          </a:xfrm>
        </p:spPr>
        <p:txBody>
          <a:bodyPr/>
          <a:lstStyle/>
          <a:p>
            <a:pPr marL="646112" lvl="1" indent="-342900" eaLnBrk="1" hangingPunct="1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solidFill>
                  <a:srgbClr val="0000FF"/>
                </a:solidFill>
                <a:latin typeface="华文楷体" panose="02010600040101010101" pitchFamily="2" charset="-122"/>
              </a:rPr>
              <a:t>S-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pitchFamily="2" charset="-122"/>
              </a:rPr>
              <a:t>属性定义和</a:t>
            </a:r>
            <a:r>
              <a:rPr lang="en-US" altLang="zh-CN" sz="2800" dirty="0">
                <a:solidFill>
                  <a:srgbClr val="0000FF"/>
                </a:solidFill>
                <a:latin typeface="华文楷体" panose="02010600040101010101" pitchFamily="2" charset="-122"/>
              </a:rPr>
              <a:t>L-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pitchFamily="2" charset="-122"/>
              </a:rPr>
              <a:t>属性定义？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46112" lvl="1" indent="-342900" eaLnBrk="1" hangingPunct="1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仅仅使用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称为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cs typeface="Times New Roman" pitchFamily="18" charset="0"/>
              </a:rPr>
              <a:t>属性定义，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S-SDD</a:t>
            </a:r>
            <a:endParaRPr kumimoji="1" lang="zh-CN" altLang="en-US" sz="2400" b="1" i="1" dirty="0">
              <a:solidFill>
                <a:srgbClr val="FF0000"/>
              </a:solidFill>
              <a:cs typeface="Times New Roman" pitchFamily="18" charset="0"/>
            </a:endParaRPr>
          </a:p>
          <a:p>
            <a:pPr marL="646112" lvl="1" indent="-342900" eaLnBrk="1" hangingPunct="1">
              <a:lnSpc>
                <a:spcPts val="4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一个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L</a:t>
            </a:r>
            <a:r>
              <a:rPr kumimoji="1" lang="en-US" altLang="zh-CN" sz="2400" b="1" dirty="0">
                <a:solidFill>
                  <a:srgbClr val="FF0000"/>
                </a:solidFill>
                <a:cs typeface="Times New Roman" pitchFamily="18" charset="0"/>
              </a:rPr>
              <a:t>-</a:t>
            </a:r>
            <a:r>
              <a:rPr kumimoji="1" lang="zh-CN" altLang="en-US" sz="2400" b="1" dirty="0">
                <a:solidFill>
                  <a:srgbClr val="FF0000"/>
                </a:solidFill>
                <a:cs typeface="Times New Roman" pitchFamily="18" charset="0"/>
              </a:rPr>
              <a:t>属性定义（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itchFamily="18" charset="0"/>
              </a:rPr>
              <a:t> L-SDD </a:t>
            </a:r>
            <a:r>
              <a:rPr kumimoji="1" lang="zh-CN" altLang="en-US" sz="2400" b="1" dirty="0">
                <a:solidFill>
                  <a:srgbClr val="FF0000"/>
                </a:solidFill>
                <a:cs typeface="Times New Roman" pitchFamily="18" charset="0"/>
              </a:rPr>
              <a:t>），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当且仅当它的每个属性要么是一个</a:t>
            </a:r>
            <a:r>
              <a:rPr kumimoji="1"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，要么是满足如下条件的继承属性：假设存在一个产生式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  <a:r>
              <a:rPr kumimoji="1"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，其右部符号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schemeClr val="tx1"/>
                </a:solidFill>
                <a:cs typeface="Times New Roman" pitchFamily="18" charset="0"/>
              </a:rPr>
              <a:t>i 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(1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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kumimoji="1"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仅依赖于下列属性：</a:t>
            </a: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继承属性</a:t>
            </a:r>
            <a:endParaRPr lang="en-US" altLang="zh-CN" sz="2400" b="1" dirty="0">
              <a:solidFill>
                <a:srgbClr val="073E87">
                  <a:lumMod val="60000"/>
                  <a:lumOff val="40000"/>
                </a:srgbClr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产生式中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kumimoji="1"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左边</a:t>
            </a:r>
            <a:r>
              <a:rPr kumimoji="1"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的符号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kumimoji="1"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, … , 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i-</a:t>
            </a:r>
            <a:r>
              <a:rPr kumimoji="1" lang="en-US" altLang="zh-CN" sz="2400" b="1" baseline="-25000" dirty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的属性</a:t>
            </a:r>
            <a:endParaRPr lang="en-US" altLang="zh-CN" sz="2400" b="1" dirty="0">
              <a:solidFill>
                <a:prstClr val="black"/>
              </a:solidFill>
              <a:cs typeface="Times New Roman" pitchFamily="18" charset="0"/>
            </a:endParaRPr>
          </a:p>
          <a:p>
            <a:pPr marL="575072" lvl="1" indent="-272654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本身的属性，但</a:t>
            </a:r>
            <a:r>
              <a:rPr kumimoji="1"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X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cs typeface="Times New Roman" pitchFamily="18" charset="0"/>
              </a:rPr>
              <a:t>i 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的全部属性不能在依赖图中形成环路</a:t>
            </a:r>
          </a:p>
          <a:p>
            <a:pPr marL="342900" lvl="1" indent="-342900">
              <a:buFontTx/>
              <a:buChar char="•"/>
              <a:defRPr/>
            </a:pPr>
            <a:endParaRPr lang="en-US" altLang="zh-CN" sz="2800" b="1" dirty="0"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2800" dirty="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899279" y="241300"/>
            <a:ext cx="1162050" cy="273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A914DB-FCC2-4F09-92D0-9A9936016B22}" type="slidenum">
              <a:rPr lang="zh-CN" altLang="en-US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55650" y="106362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2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  <a:r>
              <a:rPr lang="en-US" altLang="zh-CN" sz="32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grpSp>
        <p:nvGrpSpPr>
          <p:cNvPr id="27653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rgbClr val="C6E7FC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ysClr val="window" lastClr="FFFFFF">
                <a:alpha val="3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b="0" kern="0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856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1640" y="1048040"/>
            <a:ext cx="6480720" cy="3423085"/>
            <a:chOff x="214313" y="1211263"/>
            <a:chExt cx="4598987" cy="342308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214313" y="1211263"/>
              <a:ext cx="4598987" cy="34230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1400" b="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   </a:t>
              </a:r>
              <a:r>
                <a:rPr kumimoji="1" lang="zh-CN" altLang="en-US" sz="2400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产生式         语义规则</a:t>
              </a:r>
            </a:p>
            <a:p>
              <a:pPr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(1)</a:t>
              </a:r>
              <a:r>
                <a:rPr kumimoji="1" lang="zh-CN" altLang="en-US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	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= F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            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	           	</a:t>
              </a:r>
              <a:r>
                <a:rPr kumimoji="1"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endPara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marL="457200" indent="-457200"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(2) 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*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F T</a:t>
              </a:r>
              <a:r>
                <a:rPr kumimoji="1" lang="en-US" altLang="zh-CN" sz="2400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	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400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inh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× </a:t>
              </a:r>
              <a:r>
                <a:rPr kumimoji="1"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endPara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marL="457200" indent="-457200"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              	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=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kumimoji="1" lang="en-US" altLang="zh-CN" sz="2400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.syn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     </a:t>
              </a:r>
              <a:endPara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(3) 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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ε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        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	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syn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T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inh</a:t>
              </a:r>
              <a:endPara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  <a:p>
              <a:pPr eaLnBrk="1" hangingPunct="1">
                <a:lnSpc>
                  <a:spcPts val="2500"/>
                </a:lnSpc>
                <a:spcBef>
                  <a:spcPct val="500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(4)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  digit       	</a:t>
              </a:r>
              <a:r>
                <a:rPr kumimoji="1"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  <a:sym typeface="Symbol" pitchFamily="18" charset="2"/>
                </a:rPr>
                <a:t>F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.val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= </a:t>
              </a:r>
              <a:r>
                <a:rPr lang="en-US" altLang="zh-CN" sz="2400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digit</a:t>
              </a:r>
              <a:r>
                <a:rPr lang="en-US" altLang="zh-CN" sz="2400" i="1" dirty="0" err="1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.lexval</a:t>
              </a:r>
              <a:endPara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93222" name="Line 7"/>
            <p:cNvSpPr>
              <a:spLocks noChangeShapeType="1"/>
            </p:cNvSpPr>
            <p:nvPr/>
          </p:nvSpPr>
          <p:spPr bwMode="auto">
            <a:xfrm>
              <a:off x="231775" y="1571303"/>
              <a:ext cx="4581525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cxnSp>
          <p:nvCxnSpPr>
            <p:cNvPr id="93223" name="直接连接符 2"/>
            <p:cNvCxnSpPr>
              <a:cxnSpLocks noChangeShapeType="1"/>
            </p:cNvCxnSpPr>
            <p:nvPr/>
          </p:nvCxnSpPr>
          <p:spPr bwMode="auto">
            <a:xfrm flipH="1">
              <a:off x="572012" y="1211263"/>
              <a:ext cx="1588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3224" name="直接连接符 4"/>
            <p:cNvCxnSpPr>
              <a:cxnSpLocks noChangeShapeType="1"/>
            </p:cNvCxnSpPr>
            <p:nvPr/>
          </p:nvCxnSpPr>
          <p:spPr bwMode="auto">
            <a:xfrm>
              <a:off x="2100263" y="1211263"/>
              <a:ext cx="4745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zh-CN" altLang="en-US" sz="3000" i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3" name="组合 47"/>
          <p:cNvGrpSpPr>
            <a:grpSpLocks/>
          </p:cNvGrpSpPr>
          <p:nvPr/>
        </p:nvGrpSpPr>
        <p:grpSpPr bwMode="auto">
          <a:xfrm>
            <a:off x="1568450" y="2055813"/>
            <a:ext cx="3517900" cy="2944812"/>
            <a:chOff x="3371542" y="2780928"/>
            <a:chExt cx="3516546" cy="2944504"/>
          </a:xfrm>
        </p:grpSpPr>
        <p:sp>
          <p:nvSpPr>
            <p:cNvPr id="49" name="矩形 48"/>
            <p:cNvSpPr>
              <a:spLocks noChangeArrowheads="1"/>
            </p:cNvSpPr>
            <p:nvPr/>
          </p:nvSpPr>
          <p:spPr bwMode="auto">
            <a:xfrm>
              <a:off x="5880414" y="2780928"/>
              <a:ext cx="86326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0" name="矩形 49"/>
            <p:cNvSpPr>
              <a:spLocks noChangeArrowheads="1"/>
            </p:cNvSpPr>
            <p:nvPr/>
          </p:nvSpPr>
          <p:spPr bwMode="auto">
            <a:xfrm>
              <a:off x="5880414" y="3715867"/>
              <a:ext cx="1007674" cy="360325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1" name="矩形 50"/>
            <p:cNvSpPr>
              <a:spLocks noChangeArrowheads="1"/>
            </p:cNvSpPr>
            <p:nvPr/>
          </p:nvSpPr>
          <p:spPr bwMode="auto">
            <a:xfrm>
              <a:off x="5951823" y="4796842"/>
              <a:ext cx="79185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2" name="矩形 51"/>
            <p:cNvSpPr>
              <a:spLocks noChangeArrowheads="1"/>
            </p:cNvSpPr>
            <p:nvPr/>
          </p:nvSpPr>
          <p:spPr bwMode="auto">
            <a:xfrm>
              <a:off x="5951823" y="4292070"/>
              <a:ext cx="864855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prstClr val="blac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3" name="Line 5"/>
            <p:cNvSpPr>
              <a:spLocks noChangeShapeType="1"/>
            </p:cNvSpPr>
            <p:nvPr/>
          </p:nvSpPr>
          <p:spPr bwMode="auto">
            <a:xfrm flipH="1">
              <a:off x="4913998" y="2923788"/>
              <a:ext cx="963242" cy="253814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 flipH="1">
              <a:off x="4991756" y="3901586"/>
              <a:ext cx="880723" cy="143653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55" name="Line 5"/>
            <p:cNvSpPr>
              <a:spLocks noChangeShapeType="1"/>
            </p:cNvSpPr>
            <p:nvPr/>
          </p:nvSpPr>
          <p:spPr bwMode="auto">
            <a:xfrm flipH="1">
              <a:off x="4994930" y="4652394"/>
              <a:ext cx="953720" cy="685728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56" name="Line 5"/>
            <p:cNvSpPr>
              <a:spLocks noChangeShapeType="1"/>
            </p:cNvSpPr>
            <p:nvPr/>
          </p:nvSpPr>
          <p:spPr bwMode="auto">
            <a:xfrm flipH="1">
              <a:off x="4994930" y="5227009"/>
              <a:ext cx="953720" cy="18413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headE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solidFill>
                  <a:prstClr val="black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7843" name="矩形 56"/>
            <p:cNvSpPr>
              <a:spLocks noChangeArrowheads="1"/>
            </p:cNvSpPr>
            <p:nvPr/>
          </p:nvSpPr>
          <p:spPr bwMode="auto">
            <a:xfrm>
              <a:off x="3371542" y="5201612"/>
              <a:ext cx="1620214" cy="523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综合属性</a:t>
              </a:r>
              <a:endParaRPr lang="zh-CN" altLang="en-US">
                <a:solidFill>
                  <a:srgbClr val="2D83F4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57"/>
          <p:cNvGrpSpPr>
            <a:grpSpLocks/>
          </p:cNvGrpSpPr>
          <p:nvPr/>
        </p:nvGrpSpPr>
        <p:grpSpPr bwMode="auto">
          <a:xfrm>
            <a:off x="4057650" y="330200"/>
            <a:ext cx="4171950" cy="2552700"/>
            <a:chOff x="5872829" y="1141583"/>
            <a:chExt cx="4171708" cy="2552806"/>
          </a:xfrm>
        </p:grpSpPr>
        <p:sp>
          <p:nvSpPr>
            <p:cNvPr id="77830" name="矩形 48"/>
            <p:cNvSpPr>
              <a:spLocks noChangeArrowheads="1"/>
            </p:cNvSpPr>
            <p:nvPr/>
          </p:nvSpPr>
          <p:spPr bwMode="auto">
            <a:xfrm>
              <a:off x="5902296" y="2384375"/>
              <a:ext cx="864096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831" name="矩形 49"/>
            <p:cNvSpPr>
              <a:spLocks noChangeArrowheads="1"/>
            </p:cNvSpPr>
            <p:nvPr/>
          </p:nvSpPr>
          <p:spPr bwMode="auto">
            <a:xfrm>
              <a:off x="5872829" y="3334026"/>
              <a:ext cx="985792" cy="360363"/>
            </a:xfrm>
            <a:prstGeom prst="rect">
              <a:avLst/>
            </a:prstGeom>
            <a:noFill/>
            <a:ln w="38100" algn="ctr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832" name="Line 5"/>
            <p:cNvSpPr>
              <a:spLocks noChangeShapeType="1"/>
            </p:cNvSpPr>
            <p:nvPr/>
          </p:nvSpPr>
          <p:spPr bwMode="auto">
            <a:xfrm flipV="1">
              <a:off x="6851798" y="1349950"/>
              <a:ext cx="1584177" cy="11585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833" name="Line 5"/>
            <p:cNvSpPr>
              <a:spLocks noChangeShapeType="1"/>
            </p:cNvSpPr>
            <p:nvPr/>
          </p:nvSpPr>
          <p:spPr bwMode="auto">
            <a:xfrm flipV="1">
              <a:off x="6858621" y="1406352"/>
              <a:ext cx="1522417" cy="20953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77834" name="矩形 52"/>
            <p:cNvSpPr>
              <a:spLocks noChangeArrowheads="1"/>
            </p:cNvSpPr>
            <p:nvPr/>
          </p:nvSpPr>
          <p:spPr bwMode="auto">
            <a:xfrm>
              <a:off x="8423580" y="1141583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继承属性</a:t>
              </a:r>
              <a:endParaRPr lang="zh-CN" altLang="en-US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75A21-4D54-4A6B-95C2-C3F87DD39E44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8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370318" y="1957831"/>
            <a:ext cx="1274762" cy="771525"/>
          </a:xfrm>
        </p:spPr>
        <p:txBody>
          <a:bodyPr/>
          <a:lstStyle/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kumimoji="1" lang="en-US" altLang="zh-CN" sz="5000" dirty="0"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algn="ctr" eaLnBrk="1" hangingPunct="1"/>
            <a:r>
              <a:rPr kumimoji="1"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内容回顾</a:t>
            </a:r>
            <a:r>
              <a:rPr kumimoji="1"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kumimoji="1"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699792" y="1985263"/>
            <a:ext cx="4278312" cy="2416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63538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66763" indent="-3635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39825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2413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947863" indent="-3032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377381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804090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30799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509" indent="-304792" algn="l" defTabSz="1219170" rtl="0" eaLnBrk="1" latinLnBrk="0" hangingPunct="1">
              <a:spcBef>
                <a:spcPts val="512"/>
              </a:spcBef>
              <a:buClr>
                <a:schemeClr val="accent1"/>
              </a:buClr>
              <a:buFont typeface="Symbol" pitchFamily="18" charset="2"/>
              <a:buChar char="*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id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0050" y="707231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语法制导翻译方案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？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是在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产生式右部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中嵌入了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程序片段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语义动作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的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CFG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3B8A51-55A0-4B73-A4EC-9A39A52F17C7}"/>
              </a:ext>
            </a:extLst>
          </p:cNvPr>
          <p:cNvSpPr/>
          <p:nvPr/>
        </p:nvSpPr>
        <p:spPr>
          <a:xfrm>
            <a:off x="400050" y="4500563"/>
            <a:ext cx="8315325" cy="4619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indent="0" eaLnBrk="1" hangingPunct="1">
              <a:spcBef>
                <a:spcPct val="30000"/>
              </a:spcBef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一个语义动作在产生式中的位置决定了这个动作的执行时间</a:t>
            </a:r>
          </a:p>
        </p:txBody>
      </p:sp>
    </p:spTree>
    <p:extLst>
      <p:ext uri="{BB962C8B-B14F-4D97-AF65-F5344CB8AC3E}">
        <p14:creationId xmlns:p14="http://schemas.microsoft.com/office/powerpoint/2010/main" val="217691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algn="ctr" eaLnBrk="1" hangingPunct="1"/>
            <a:r>
              <a:rPr kumimoji="1"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内容回顾</a:t>
            </a:r>
            <a:r>
              <a:rPr kumimoji="1"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kumimoji="1"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0050" y="707231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654" lvl="0" indent="-272654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S-SDD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转换为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？</a:t>
            </a:r>
          </a:p>
          <a:p>
            <a:pPr marL="272654" lvl="0" indent="-272654">
              <a:lnSpc>
                <a:spcPts val="4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L-SDD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转换为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SDT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？</a:t>
            </a:r>
          </a:p>
          <a:p>
            <a:pPr marL="272654" marR="0" lvl="0" indent="-272654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1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76055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28625" y="857250"/>
            <a:ext cx="8429625" cy="3225800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将一个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转换为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的方法：将每个语义动作都放在产生式的最后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4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转换为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endParaRPr lang="zh-CN" altLang="en-US" sz="30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697538" y="2386013"/>
            <a:ext cx="1303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25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254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SDT</a:t>
            </a:r>
          </a:p>
        </p:txBody>
      </p:sp>
      <p:grpSp>
        <p:nvGrpSpPr>
          <p:cNvPr id="4" name="组合 7"/>
          <p:cNvGrpSpPr>
            <a:grpSpLocks/>
          </p:cNvGrpSpPr>
          <p:nvPr/>
        </p:nvGrpSpPr>
        <p:grpSpPr bwMode="auto">
          <a:xfrm>
            <a:off x="357188" y="2511425"/>
            <a:ext cx="4232275" cy="2338388"/>
            <a:chOff x="1376363" y="3787775"/>
            <a:chExt cx="4232275" cy="2338388"/>
          </a:xfrm>
        </p:grpSpPr>
        <p:sp>
          <p:nvSpPr>
            <p:cNvPr id="9" name="矩形 8"/>
            <p:cNvSpPr/>
            <p:nvPr/>
          </p:nvSpPr>
          <p:spPr>
            <a:xfrm>
              <a:off x="1376363" y="3787775"/>
              <a:ext cx="4232275" cy="2308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376363" y="4075113"/>
              <a:ext cx="42322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978150" y="3787775"/>
              <a:ext cx="0" cy="2338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4725988" y="2784475"/>
            <a:ext cx="4032250" cy="203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*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(6)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(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)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(7)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digit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digit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lexval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412875" y="2136775"/>
            <a:ext cx="1558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25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2547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S-SDD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5243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258763" y="846138"/>
            <a:ext cx="8428037" cy="3225800"/>
          </a:xfrm>
        </p:spPr>
        <p:txBody>
          <a:bodyPr/>
          <a:lstStyle/>
          <a:p>
            <a:pPr>
              <a:lnSpc>
                <a:spcPts val="33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如果一个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S-SDD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的基本文法可以使用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分析技术，那么它的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SDT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可以在</a:t>
            </a:r>
            <a:r>
              <a:rPr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语法分析过程中实现</a:t>
            </a:r>
            <a:endParaRPr lang="en-US" altLang="zh-CN" sz="2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3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600" b="1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6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属性定义的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实现</a:t>
            </a:r>
            <a:endParaRPr lang="zh-CN" altLang="en-US" sz="30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107950" y="2100263"/>
            <a:ext cx="3527425" cy="2462212"/>
            <a:chOff x="107504" y="2288346"/>
            <a:chExt cx="3528393" cy="2463418"/>
          </a:xfrm>
        </p:grpSpPr>
        <p:grpSp>
          <p:nvGrpSpPr>
            <p:cNvPr id="14345" name="组合 3"/>
            <p:cNvGrpSpPr>
              <a:grpSpLocks/>
            </p:cNvGrpSpPr>
            <p:nvPr/>
          </p:nvGrpSpPr>
          <p:grpSpPr bwMode="auto">
            <a:xfrm>
              <a:off x="107504" y="2628106"/>
              <a:ext cx="3528393" cy="2123658"/>
              <a:chOff x="1376363" y="3787775"/>
              <a:chExt cx="3528393" cy="212365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376363" y="3787906"/>
                <a:ext cx="3528393" cy="212352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产生式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	  	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语义规则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(1)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n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  <a:endPara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(2)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   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(3)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(4)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×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(5)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(6)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(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)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(7)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digit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digit</a:t>
                </a:r>
                <a:r>
                  <a:rPr kumimoji="0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 pitchFamily="49" charset="-122"/>
                    <a:cs typeface="Times New Roman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lexval</a:t>
                </a:r>
                <a:endPara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1376363" y="4075384"/>
                <a:ext cx="3528393" cy="158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2745164" y="3787906"/>
                <a:ext cx="0" cy="21235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矩形 7"/>
            <p:cNvSpPr/>
            <p:nvPr/>
          </p:nvSpPr>
          <p:spPr>
            <a:xfrm>
              <a:off x="683925" y="2288346"/>
              <a:ext cx="1559353" cy="4002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27062" marR="0" lvl="2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73E87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S-SDD</a:t>
              </a:r>
            </a:p>
          </p:txBody>
        </p:sp>
      </p:grpSp>
      <p:grpSp>
        <p:nvGrpSpPr>
          <p:cNvPr id="9" name="组合 13"/>
          <p:cNvGrpSpPr>
            <a:grpSpLocks/>
          </p:cNvGrpSpPr>
          <p:nvPr/>
        </p:nvGrpSpPr>
        <p:grpSpPr bwMode="auto">
          <a:xfrm>
            <a:off x="3797300" y="1506538"/>
            <a:ext cx="5303838" cy="3625850"/>
            <a:chOff x="271244" y="1749769"/>
            <a:chExt cx="6344963" cy="5108231"/>
          </a:xfrm>
        </p:grpSpPr>
        <p:pic>
          <p:nvPicPr>
            <p:cNvPr id="14343" name="图片 1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244" y="2134623"/>
              <a:ext cx="6269118" cy="4723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4" name="矩形 15"/>
            <p:cNvSpPr>
              <a:spLocks noChangeArrowheads="1"/>
            </p:cNvSpPr>
            <p:nvPr/>
          </p:nvSpPr>
          <p:spPr bwMode="auto">
            <a:xfrm>
              <a:off x="5029883" y="1749769"/>
              <a:ext cx="1586324" cy="737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SLR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2D83F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自动机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71438" y="4619625"/>
            <a:ext cx="4030662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发生时执行相应的语义动作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137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例：在自底向上语法分析栈中实现桌面计算器</a:t>
            </a:r>
          </a:p>
        </p:txBody>
      </p:sp>
      <p:grpSp>
        <p:nvGrpSpPr>
          <p:cNvPr id="20483" name="组合 11"/>
          <p:cNvGrpSpPr>
            <a:grpSpLocks/>
          </p:cNvGrpSpPr>
          <p:nvPr/>
        </p:nvGrpSpPr>
        <p:grpSpPr bwMode="auto">
          <a:xfrm>
            <a:off x="368300" y="1071563"/>
            <a:ext cx="8347075" cy="3419475"/>
            <a:chOff x="174552" y="2636910"/>
            <a:chExt cx="11130026" cy="4560509"/>
          </a:xfrm>
        </p:grpSpPr>
        <p:sp>
          <p:nvSpPr>
            <p:cNvPr id="6" name="内容占位符 2"/>
            <p:cNvSpPr txBox="1">
              <a:spLocks/>
            </p:cNvSpPr>
            <p:nvPr/>
          </p:nvSpPr>
          <p:spPr bwMode="auto">
            <a:xfrm>
              <a:off x="174552" y="2636910"/>
              <a:ext cx="11130026" cy="45605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txBody>
            <a:bodyPr lIns="51435" tIns="25718" rIns="51435" bIns="25718"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639763" indent="-1698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indent="-1698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18288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2860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27432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2004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产生式                                                    语义动作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(1)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	            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print(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print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);}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(2)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E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 T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+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	 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*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(5)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F	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(6)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(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69863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(7)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→ digit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639763" marR="0" lvl="2" indent="-169863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1B6FD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74552" y="3068825"/>
              <a:ext cx="111300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088121" y="2636910"/>
              <a:ext cx="0" cy="4560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966941" y="3068825"/>
              <a:ext cx="0" cy="4128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879698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4932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539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40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245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6980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587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32858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状态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 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符号</a:t>
            </a:r>
            <a:r>
              <a:rPr lang="en-US" altLang="zh-CN" sz="21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000000"/>
                </a:solidFill>
                <a:cs typeface="Times New Roman" panose="02020603050405020304" pitchFamily="18" charset="0"/>
              </a:rPr>
              <a:t>属性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kumimoji="1" lang="zh-CN" altLang="en-US">
                <a:solidFill>
                  <a:schemeClr val="folHlink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29028" name="矩形 1"/>
          <p:cNvSpPr>
            <a:spLocks noChangeArrowheads="1"/>
          </p:cNvSpPr>
          <p:nvPr/>
        </p:nvSpPr>
        <p:spPr bwMode="auto">
          <a:xfrm>
            <a:off x="5715000" y="268288"/>
            <a:ext cx="1751013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3*5+4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2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6635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2033588"/>
            <a:ext cx="4700587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6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39763"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69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69863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39763" marR="0" lvl="2" indent="-1698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3188" y="2247900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3188" y="2625725"/>
            <a:ext cx="684212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1262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000250" y="706438"/>
            <a:ext cx="50022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300" b="1" i="0" u="none" strike="noStrike" kern="1200" cap="none" spc="0" normalizeH="0" baseline="0" noProof="0">
              <a:ln>
                <a:noFill/>
              </a:ln>
              <a:solidFill>
                <a:srgbClr val="5EAE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65138" y="857250"/>
            <a:ext cx="849947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L-SDD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转换为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SDT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的规则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将计算某个非终结符号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的动作插入到产生式右部中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紧靠在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的本次出现之前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的位置上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将计算一个产生式左部符号的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的动作放置在这个产生式右部的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最右端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3000" i="1">
                <a:solidFill>
                  <a:prstClr val="black"/>
                </a:solidFill>
                <a:cs typeface="Times New Roman" panose="02020603050405020304" pitchFamily="18" charset="0"/>
              </a:rPr>
              <a:t>L-SDD</a:t>
            </a:r>
            <a:r>
              <a:rPr lang="zh-CN" altLang="en-US" sz="3000" spc="3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转换为</a:t>
            </a:r>
            <a:r>
              <a:rPr lang="en-US" altLang="zh-CN" sz="3000" i="1">
                <a:solidFill>
                  <a:prstClr val="black"/>
                </a:solidFill>
                <a:cs typeface="Times New Roman" panose="02020603050405020304" pitchFamily="18" charset="0"/>
              </a:rPr>
              <a:t>SDT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68010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2051050" y="571486"/>
            <a:ext cx="4714875" cy="2611438"/>
            <a:chOff x="214282" y="1210931"/>
            <a:chExt cx="4715291" cy="261177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14282" y="1210931"/>
              <a:ext cx="4715291" cy="26101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      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*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×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    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=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.syn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ε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inh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 digit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digit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.lexval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43376" name="Line 7"/>
            <p:cNvSpPr>
              <a:spLocks noChangeShapeType="1"/>
            </p:cNvSpPr>
            <p:nvPr/>
          </p:nvSpPr>
          <p:spPr bwMode="auto">
            <a:xfrm>
              <a:off x="231703" y="1522401"/>
              <a:ext cx="45819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3377" name="直接连接符 2"/>
            <p:cNvCxnSpPr>
              <a:cxnSpLocks noChangeShapeType="1"/>
            </p:cNvCxnSpPr>
            <p:nvPr/>
          </p:nvCxnSpPr>
          <p:spPr bwMode="auto">
            <a:xfrm>
              <a:off x="626398" y="1210931"/>
              <a:ext cx="0" cy="257206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378" name="直接连接符 4"/>
            <p:cNvCxnSpPr>
              <a:cxnSpLocks noChangeShapeType="1"/>
            </p:cNvCxnSpPr>
            <p:nvPr/>
          </p:nvCxnSpPr>
          <p:spPr bwMode="auto">
            <a:xfrm>
              <a:off x="2066686" y="1210931"/>
              <a:ext cx="0" cy="2611773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571500"/>
            <a:ext cx="1692275" cy="3225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30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L-SDD</a:t>
            </a: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CN" sz="3000" b="1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SDT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329" name="Freeform 9"/>
          <p:cNvSpPr>
            <a:spLocks/>
          </p:cNvSpPr>
          <p:nvPr/>
        </p:nvSpPr>
        <p:spPr bwMode="auto">
          <a:xfrm>
            <a:off x="3551238" y="1117600"/>
            <a:ext cx="428625" cy="382588"/>
          </a:xfrm>
          <a:custGeom>
            <a:avLst/>
            <a:gdLst>
              <a:gd name="T0" fmla="*/ 2147483646 w 454"/>
              <a:gd name="T1" fmla="*/ 2147483646 h 159"/>
              <a:gd name="T2" fmla="*/ 2147483646 w 454"/>
              <a:gd name="T3" fmla="*/ 2147483646 h 159"/>
              <a:gd name="T4" fmla="*/ 0 w 454"/>
              <a:gd name="T5" fmla="*/ 0 h 159"/>
              <a:gd name="T6" fmla="*/ 0 60000 65536"/>
              <a:gd name="T7" fmla="*/ 0 60000 65536"/>
              <a:gd name="T8" fmla="*/ 0 60000 65536"/>
              <a:gd name="T9" fmla="*/ 0 w 454"/>
              <a:gd name="T10" fmla="*/ 0 h 159"/>
              <a:gd name="T11" fmla="*/ 454 w 454"/>
              <a:gd name="T12" fmla="*/ 159 h 1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4" h="159">
                <a:moveTo>
                  <a:pt x="454" y="136"/>
                </a:moveTo>
                <a:cubicBezTo>
                  <a:pt x="446" y="147"/>
                  <a:pt x="439" y="159"/>
                  <a:pt x="363" y="136"/>
                </a:cubicBezTo>
                <a:cubicBezTo>
                  <a:pt x="287" y="113"/>
                  <a:pt x="143" y="56"/>
                  <a:pt x="0" y="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0" name="Freeform 10"/>
          <p:cNvSpPr>
            <a:spLocks/>
          </p:cNvSpPr>
          <p:nvPr/>
        </p:nvSpPr>
        <p:spPr bwMode="auto">
          <a:xfrm>
            <a:off x="3551238" y="1636713"/>
            <a:ext cx="466725" cy="220662"/>
          </a:xfrm>
          <a:custGeom>
            <a:avLst/>
            <a:gdLst>
              <a:gd name="T0" fmla="*/ 2147483646 w 453"/>
              <a:gd name="T1" fmla="*/ 2147483646 h 219"/>
              <a:gd name="T2" fmla="*/ 2147483646 w 453"/>
              <a:gd name="T3" fmla="*/ 2147483646 h 219"/>
              <a:gd name="T4" fmla="*/ 2147483646 w 453"/>
              <a:gd name="T5" fmla="*/ 2147483646 h 219"/>
              <a:gd name="T6" fmla="*/ 2147483646 w 453"/>
              <a:gd name="T7" fmla="*/ 2147483646 h 219"/>
              <a:gd name="T8" fmla="*/ 0 w 453"/>
              <a:gd name="T9" fmla="*/ 2147483646 h 2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3"/>
              <a:gd name="T16" fmla="*/ 0 h 219"/>
              <a:gd name="T17" fmla="*/ 453 w 453"/>
              <a:gd name="T18" fmla="*/ 219 h 2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3" h="219">
                <a:moveTo>
                  <a:pt x="453" y="196"/>
                </a:moveTo>
                <a:cubicBezTo>
                  <a:pt x="366" y="207"/>
                  <a:pt x="280" y="219"/>
                  <a:pt x="227" y="196"/>
                </a:cubicBezTo>
                <a:cubicBezTo>
                  <a:pt x="174" y="173"/>
                  <a:pt x="166" y="90"/>
                  <a:pt x="136" y="60"/>
                </a:cubicBezTo>
                <a:cubicBezTo>
                  <a:pt x="106" y="30"/>
                  <a:pt x="68" y="0"/>
                  <a:pt x="45" y="15"/>
                </a:cubicBezTo>
                <a:cubicBezTo>
                  <a:pt x="22" y="30"/>
                  <a:pt x="11" y="90"/>
                  <a:pt x="0" y="151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1" name="Freeform 11"/>
          <p:cNvSpPr>
            <a:spLocks/>
          </p:cNvSpPr>
          <p:nvPr/>
        </p:nvSpPr>
        <p:spPr bwMode="auto">
          <a:xfrm>
            <a:off x="3819525" y="1984375"/>
            <a:ext cx="323850" cy="214313"/>
          </a:xfrm>
          <a:custGeom>
            <a:avLst/>
            <a:gdLst>
              <a:gd name="T0" fmla="*/ 2147483646 w 272"/>
              <a:gd name="T1" fmla="*/ 2147483646 h 106"/>
              <a:gd name="T2" fmla="*/ 2147483646 w 272"/>
              <a:gd name="T3" fmla="*/ 2147483646 h 106"/>
              <a:gd name="T4" fmla="*/ 0 w 272"/>
              <a:gd name="T5" fmla="*/ 0 h 106"/>
              <a:gd name="T6" fmla="*/ 0 60000 65536"/>
              <a:gd name="T7" fmla="*/ 0 60000 65536"/>
              <a:gd name="T8" fmla="*/ 0 60000 65536"/>
              <a:gd name="T9" fmla="*/ 0 w 272"/>
              <a:gd name="T10" fmla="*/ 0 h 106"/>
              <a:gd name="T11" fmla="*/ 272 w 272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106">
                <a:moveTo>
                  <a:pt x="272" y="91"/>
                </a:moveTo>
                <a:cubicBezTo>
                  <a:pt x="204" y="98"/>
                  <a:pt x="136" y="106"/>
                  <a:pt x="91" y="91"/>
                </a:cubicBezTo>
                <a:cubicBezTo>
                  <a:pt x="46" y="76"/>
                  <a:pt x="23" y="38"/>
                  <a:pt x="0" y="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2" name="Freeform 12"/>
          <p:cNvSpPr>
            <a:spLocks/>
          </p:cNvSpPr>
          <p:nvPr/>
        </p:nvSpPr>
        <p:spPr bwMode="auto">
          <a:xfrm>
            <a:off x="3303588" y="2503488"/>
            <a:ext cx="714375" cy="107950"/>
          </a:xfrm>
          <a:custGeom>
            <a:avLst/>
            <a:gdLst>
              <a:gd name="T0" fmla="*/ 2147483646 w 499"/>
              <a:gd name="T1" fmla="*/ 2147483646 h 90"/>
              <a:gd name="T2" fmla="*/ 2147483646 w 499"/>
              <a:gd name="T3" fmla="*/ 0 h 90"/>
              <a:gd name="T4" fmla="*/ 0 w 499"/>
              <a:gd name="T5" fmla="*/ 2147483646 h 90"/>
              <a:gd name="T6" fmla="*/ 0 60000 65536"/>
              <a:gd name="T7" fmla="*/ 0 60000 65536"/>
              <a:gd name="T8" fmla="*/ 0 60000 65536"/>
              <a:gd name="T9" fmla="*/ 0 w 499"/>
              <a:gd name="T10" fmla="*/ 0 h 90"/>
              <a:gd name="T11" fmla="*/ 499 w 499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9" h="90">
                <a:moveTo>
                  <a:pt x="499" y="90"/>
                </a:moveTo>
                <a:cubicBezTo>
                  <a:pt x="381" y="45"/>
                  <a:pt x="264" y="0"/>
                  <a:pt x="181" y="0"/>
                </a:cubicBezTo>
                <a:cubicBezTo>
                  <a:pt x="98" y="0"/>
                  <a:pt x="49" y="45"/>
                  <a:pt x="0" y="90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3" name="Freeform 13"/>
          <p:cNvSpPr>
            <a:spLocks/>
          </p:cNvSpPr>
          <p:nvPr/>
        </p:nvSpPr>
        <p:spPr bwMode="auto">
          <a:xfrm>
            <a:off x="3603625" y="2960688"/>
            <a:ext cx="431800" cy="53975"/>
          </a:xfrm>
          <a:custGeom>
            <a:avLst/>
            <a:gdLst>
              <a:gd name="T0" fmla="*/ 2147483646 w 363"/>
              <a:gd name="T1" fmla="*/ 2147483646 h 45"/>
              <a:gd name="T2" fmla="*/ 2147483646 w 363"/>
              <a:gd name="T3" fmla="*/ 0 h 45"/>
              <a:gd name="T4" fmla="*/ 0 w 363"/>
              <a:gd name="T5" fmla="*/ 2147483646 h 45"/>
              <a:gd name="T6" fmla="*/ 0 60000 65536"/>
              <a:gd name="T7" fmla="*/ 0 60000 65536"/>
              <a:gd name="T8" fmla="*/ 0 60000 65536"/>
              <a:gd name="T9" fmla="*/ 0 w 363"/>
              <a:gd name="T10" fmla="*/ 0 h 45"/>
              <a:gd name="T11" fmla="*/ 363 w 363"/>
              <a:gd name="T12" fmla="*/ 45 h 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3" h="45">
                <a:moveTo>
                  <a:pt x="363" y="45"/>
                </a:moveTo>
                <a:cubicBezTo>
                  <a:pt x="302" y="22"/>
                  <a:pt x="242" y="0"/>
                  <a:pt x="182" y="0"/>
                </a:cubicBezTo>
                <a:cubicBezTo>
                  <a:pt x="122" y="0"/>
                  <a:pt x="61" y="22"/>
                  <a:pt x="0" y="45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>
            <a:off x="3265488" y="820738"/>
            <a:ext cx="714375" cy="250825"/>
          </a:xfrm>
          <a:custGeom>
            <a:avLst/>
            <a:gdLst>
              <a:gd name="T0" fmla="*/ 2147483646 w 544"/>
              <a:gd name="T1" fmla="*/ 2147483646 h 211"/>
              <a:gd name="T2" fmla="*/ 2147483646 w 544"/>
              <a:gd name="T3" fmla="*/ 2147483646 h 211"/>
              <a:gd name="T4" fmla="*/ 2147483646 w 544"/>
              <a:gd name="T5" fmla="*/ 0 h 211"/>
              <a:gd name="T6" fmla="*/ 0 w 544"/>
              <a:gd name="T7" fmla="*/ 2147483646 h 211"/>
              <a:gd name="T8" fmla="*/ 0 60000 65536"/>
              <a:gd name="T9" fmla="*/ 0 60000 65536"/>
              <a:gd name="T10" fmla="*/ 0 60000 65536"/>
              <a:gd name="T11" fmla="*/ 0 60000 65536"/>
              <a:gd name="T12" fmla="*/ 0 w 544"/>
              <a:gd name="T13" fmla="*/ 0 h 211"/>
              <a:gd name="T14" fmla="*/ 544 w 544"/>
              <a:gd name="T15" fmla="*/ 211 h 2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44" h="211">
                <a:moveTo>
                  <a:pt x="544" y="181"/>
                </a:moveTo>
                <a:cubicBezTo>
                  <a:pt x="483" y="196"/>
                  <a:pt x="423" y="211"/>
                  <a:pt x="363" y="181"/>
                </a:cubicBezTo>
                <a:cubicBezTo>
                  <a:pt x="303" y="151"/>
                  <a:pt x="241" y="0"/>
                  <a:pt x="181" y="0"/>
                </a:cubicBezTo>
                <a:cubicBezTo>
                  <a:pt x="121" y="0"/>
                  <a:pt x="60" y="90"/>
                  <a:pt x="0" y="181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043113" y="3378200"/>
            <a:ext cx="6643687" cy="1584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1EA89A-FA30-45A5-BB4E-D55431CEE4F3}" type="slidenum">
              <a:rPr kumimoji="0" lang="zh-CN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0536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animBg="1"/>
      <p:bldP spid="56330" grpId="0" animBg="1"/>
      <p:bldP spid="56331" grpId="0" animBg="1"/>
      <p:bldP spid="56332" grpId="0" animBg="1"/>
      <p:bldP spid="56333" grpId="0" animBg="1"/>
      <p:bldP spid="56328" grpId="0" animBg="1"/>
      <p:bldP spid="16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2000250" y="706438"/>
            <a:ext cx="50022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300">
              <a:solidFill>
                <a:srgbClr val="5EAE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625" y="785813"/>
            <a:ext cx="8355013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6000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如果一个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SDD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的基本文法可以使用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分析技术，那么它的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SDT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可以在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LL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语法分析过程中实现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在非递归的预测分析过程中进行语义翻译</a:t>
            </a:r>
          </a:p>
          <a:p>
            <a:pPr lvl="1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在递归的预测分析过程中进行语义翻译</a:t>
            </a:r>
          </a:p>
          <a:p>
            <a:pPr lvl="1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LR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分析过程中进行语义翻译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L-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属性定义的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SDT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实现</a:t>
            </a:r>
            <a:endParaRPr kumimoji="1" lang="zh-CN" altLang="en-US" sz="30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1EA89A-FA30-45A5-BB4E-D55431CEE4F3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74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2006600" y="160338"/>
            <a:ext cx="584517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solidFill>
                <a:srgbClr val="5EAEFF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6. </a:t>
            </a: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在非递归的预测分析过程中进行翻译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012825"/>
            <a:ext cx="4608512" cy="7048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新的语法分析栈</a:t>
            </a:r>
          </a:p>
        </p:txBody>
      </p:sp>
      <p:grpSp>
        <p:nvGrpSpPr>
          <p:cNvPr id="53253" name="组合 1"/>
          <p:cNvGrpSpPr>
            <a:grpSpLocks/>
          </p:cNvGrpSpPr>
          <p:nvPr/>
        </p:nvGrpSpPr>
        <p:grpSpPr bwMode="auto">
          <a:xfrm>
            <a:off x="2752725" y="2284413"/>
            <a:ext cx="4710113" cy="2016125"/>
            <a:chOff x="2752725" y="2283718"/>
            <a:chExt cx="4710113" cy="2016820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2916238" y="3003103"/>
              <a:ext cx="8096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eaLnBrk="1" hangingPunct="1"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  A</a:t>
              </a: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2916238" y="2571154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action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2916238" y="3436640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eaLnBrk="1" hangingPunct="1"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Asyn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53257" name="Line 13"/>
            <p:cNvSpPr>
              <a:spLocks noChangeShapeType="1"/>
            </p:cNvSpPr>
            <p:nvPr/>
          </p:nvSpPr>
          <p:spPr bwMode="auto">
            <a:xfrm flipV="1">
              <a:off x="2752725" y="2627313"/>
              <a:ext cx="0" cy="1239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AutoShape 14"/>
            <p:cNvSpPr>
              <a:spLocks/>
            </p:cNvSpPr>
            <p:nvPr/>
          </p:nvSpPr>
          <p:spPr bwMode="auto">
            <a:xfrm>
              <a:off x="4967288" y="2283718"/>
              <a:ext cx="2495550" cy="641571"/>
            </a:xfrm>
            <a:prstGeom prst="borderCallout2">
              <a:avLst>
                <a:gd name="adj1" fmla="val 18750"/>
                <a:gd name="adj2" fmla="val -3528"/>
                <a:gd name="adj3" fmla="val 20555"/>
                <a:gd name="adj4" fmla="val -14279"/>
                <a:gd name="adj5" fmla="val 73058"/>
                <a:gd name="adj6" fmla="val -2606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eaLnBrk="1" hangingPunct="1">
                <a:defRPr/>
              </a:pPr>
              <a:r>
                <a: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指向将被执行的</a:t>
              </a:r>
              <a:r>
                <a:rPr lang="zh-CN" altLang="en-US" sz="2000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语义动作代码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的指针</a:t>
              </a:r>
            </a:p>
          </p:txBody>
        </p:sp>
        <p:sp>
          <p:nvSpPr>
            <p:cNvPr id="27" name="AutoShape 15"/>
            <p:cNvSpPr>
              <a:spLocks/>
            </p:cNvSpPr>
            <p:nvPr/>
          </p:nvSpPr>
          <p:spPr bwMode="auto">
            <a:xfrm>
              <a:off x="4967288" y="2996751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1602"/>
                <a:gd name="adj5" fmla="val 63958"/>
                <a:gd name="adj6" fmla="val -397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algn="ctr" eaLnBrk="1" hangingPunct="1"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的继承属性</a:t>
              </a:r>
            </a:p>
          </p:txBody>
        </p:sp>
        <p:sp>
          <p:nvSpPr>
            <p:cNvPr id="28" name="AutoShape 16"/>
            <p:cNvSpPr>
              <a:spLocks/>
            </p:cNvSpPr>
            <p:nvPr/>
          </p:nvSpPr>
          <p:spPr bwMode="auto">
            <a:xfrm>
              <a:off x="4967288" y="3425523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0940"/>
                <a:gd name="adj5" fmla="val 72353"/>
                <a:gd name="adj6" fmla="val -4024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/>
            <a:p>
              <a:pPr algn="ctr" eaLnBrk="1" hangingPunct="1"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的综合属性</a:t>
              </a:r>
            </a:p>
          </p:txBody>
        </p:sp>
        <p:sp>
          <p:nvSpPr>
            <p:cNvPr id="53261" name="Rectangle 10"/>
            <p:cNvSpPr>
              <a:spLocks noChangeArrowheads="1"/>
            </p:cNvSpPr>
            <p:nvPr/>
          </p:nvSpPr>
          <p:spPr bwMode="auto">
            <a:xfrm>
              <a:off x="2916238" y="3868738"/>
              <a:ext cx="140335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34290" rIns="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Symbol  Value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725863" y="3003103"/>
              <a:ext cx="5937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eaLnBrk="1" hangingPunct="1">
                <a:defRPr/>
              </a:pPr>
              <a:endParaRPr lang="en-US" altLang="zh-CN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725863" y="2571154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eaLnBrk="1" hangingPunct="1">
                <a:defRPr/>
              </a:pPr>
              <a:endParaRPr lang="en-US" altLang="zh-CN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3725863" y="3436640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34290" rIns="0" bIns="34290" anchor="ctr"/>
            <a:lstStyle/>
            <a:p>
              <a:pPr eaLnBrk="1" hangingPunct="1"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     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8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矩形 7"/>
          <p:cNvSpPr>
            <a:spLocks noChangeArrowheads="1"/>
          </p:cNvSpPr>
          <p:nvPr/>
        </p:nvSpPr>
        <p:spPr bwMode="auto">
          <a:xfrm>
            <a:off x="1500188" y="2786063"/>
            <a:ext cx="6161087" cy="21447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7218" name="Rectangle 3"/>
          <p:cNvSpPr txBox="1">
            <a:spLocks noChangeArrowheads="1"/>
          </p:cNvSpPr>
          <p:nvPr/>
        </p:nvSpPr>
        <p:spPr bwMode="auto">
          <a:xfrm>
            <a:off x="1285875" y="785813"/>
            <a:ext cx="6643688" cy="1500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1" name="Rectangle 3"/>
          <p:cNvSpPr txBox="1">
            <a:spLocks noChangeArrowheads="1"/>
          </p:cNvSpPr>
          <p:nvPr/>
        </p:nvSpPr>
        <p:spPr bwMode="auto">
          <a:xfrm>
            <a:off x="4519613" y="2786063"/>
            <a:ext cx="3624262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.inh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digit.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2" name="Rectangle 3"/>
          <p:cNvSpPr txBox="1">
            <a:spLocks noChangeArrowheads="1"/>
          </p:cNvSpPr>
          <p:nvPr/>
        </p:nvSpPr>
        <p:spPr bwMode="auto">
          <a:xfrm>
            <a:off x="1571625" y="3289300"/>
            <a:ext cx="29622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zh-CN" altLang="en-US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4" name="下箭头 8"/>
          <p:cNvSpPr>
            <a:spLocks noChangeArrowheads="1"/>
          </p:cNvSpPr>
          <p:nvPr/>
        </p:nvSpPr>
        <p:spPr bwMode="auto">
          <a:xfrm>
            <a:off x="4286250" y="2339975"/>
            <a:ext cx="428625" cy="3746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5303" name="Rectangle 2"/>
          <p:cNvSpPr>
            <a:spLocks noChangeArrowheads="1"/>
          </p:cNvSpPr>
          <p:nvPr/>
        </p:nvSpPr>
        <p:spPr bwMode="auto">
          <a:xfrm>
            <a:off x="2006600" y="160338"/>
            <a:ext cx="584517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solidFill>
                <a:srgbClr val="5EAEFF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78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 animBg="1"/>
      <p:bldP spid="53251" grpId="0"/>
      <p:bldP spid="53252" grpId="0"/>
      <p:bldP spid="532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50163" y="4014788"/>
            <a:ext cx="593725" cy="4302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51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352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57353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7355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inh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syn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syn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</a:t>
              </a:r>
              <a:r>
                <a:rPr lang="en-US" altLang="zh-CN" sz="2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digit.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56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684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72000" y="4010025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7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13338" y="4008438"/>
            <a:ext cx="593725" cy="439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3338" y="4438650"/>
            <a:ext cx="5937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5000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07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408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59409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2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9411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12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4925" y="4427538"/>
            <a:ext cx="5969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86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06850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478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817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4788"/>
            <a:ext cx="592137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00638" y="4011613"/>
            <a:ext cx="6064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4788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817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38"/>
          <p:cNvSpPr>
            <a:spLocks noChangeArrowheads="1"/>
          </p:cNvSpPr>
          <p:nvPr/>
        </p:nvSpPr>
        <p:spPr bwMode="auto">
          <a:xfrm>
            <a:off x="4000500" y="4008438"/>
            <a:ext cx="1112838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3249613" y="4008438"/>
            <a:ext cx="7588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digit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3249613" y="4452938"/>
            <a:ext cx="7588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=3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Freeform 45"/>
          <p:cNvSpPr>
            <a:spLocks/>
          </p:cNvSpPr>
          <p:nvPr/>
        </p:nvSpPr>
        <p:spPr bwMode="auto">
          <a:xfrm>
            <a:off x="3811588" y="4767263"/>
            <a:ext cx="649287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8" name="Rectangle 39"/>
          <p:cNvSpPr>
            <a:spLocks noChangeArrowheads="1"/>
          </p:cNvSpPr>
          <p:nvPr/>
        </p:nvSpPr>
        <p:spPr bwMode="auto">
          <a:xfrm>
            <a:off x="4000500" y="4440238"/>
            <a:ext cx="11128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digit_lexval=3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9" name="Line 41"/>
          <p:cNvSpPr>
            <a:spLocks noChangeShapeType="1"/>
          </p:cNvSpPr>
          <p:nvPr/>
        </p:nvSpPr>
        <p:spPr bwMode="auto">
          <a:xfrm flipH="1" flipV="1">
            <a:off x="4054475" y="3532188"/>
            <a:ext cx="460375" cy="4794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" name="Rectangle 40"/>
          <p:cNvSpPr>
            <a:spLocks noChangeArrowheads="1"/>
          </p:cNvSpPr>
          <p:nvPr/>
        </p:nvSpPr>
        <p:spPr bwMode="auto">
          <a:xfrm>
            <a:off x="2951163" y="3065463"/>
            <a:ext cx="3192462" cy="4445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51350"/>
            <a:ext cx="606425" cy="260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1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Fval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zh-CN" altLang="en-US" sz="1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78"/>
          <p:cNvSpPr>
            <a:spLocks/>
          </p:cNvSpPr>
          <p:nvPr/>
        </p:nvSpPr>
        <p:spPr bwMode="auto">
          <a:xfrm>
            <a:off x="5334000" y="4760913"/>
            <a:ext cx="649288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" name="Rectangle 76"/>
          <p:cNvSpPr>
            <a:spLocks noChangeArrowheads="1"/>
          </p:cNvSpPr>
          <p:nvPr/>
        </p:nvSpPr>
        <p:spPr bwMode="auto">
          <a:xfrm>
            <a:off x="5108575" y="4445000"/>
            <a:ext cx="5953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5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1466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61467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9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1469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70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  <p:bldP spid="32" grpId="1" animBg="1"/>
      <p:bldP spid="33" grpId="0" animBg="1"/>
      <p:bldP spid="34" grpId="0" animBg="1"/>
      <p:bldP spid="3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7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2912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46588"/>
            <a:ext cx="606425" cy="2619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1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Fval</a:t>
            </a: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zh-CN" altLang="en-US" sz="11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H="1" flipV="1">
            <a:off x="5465763" y="3503613"/>
            <a:ext cx="458787" cy="4794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" name="Rectangle 40"/>
          <p:cNvSpPr>
            <a:spLocks noChangeArrowheads="1"/>
          </p:cNvSpPr>
          <p:nvPr/>
        </p:nvSpPr>
        <p:spPr bwMode="auto">
          <a:xfrm>
            <a:off x="4268788" y="3033713"/>
            <a:ext cx="2660650" cy="442912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Fval</a:t>
            </a: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297613" y="4449763"/>
            <a:ext cx="554037" cy="265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1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1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endParaRPr lang="zh-CN" altLang="en-US" sz="11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3762375" y="4779963"/>
            <a:ext cx="2835275" cy="277812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350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3504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3505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63506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3510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11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23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31" grpId="0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685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685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3865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161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0843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08438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08438"/>
            <a:ext cx="6969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08438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 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08438"/>
            <a:ext cx="9128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08438"/>
            <a:ext cx="5953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Fsyn</a:t>
            </a:r>
          </a:p>
        </p:txBody>
      </p:sp>
      <p:sp>
        <p:nvSpPr>
          <p:cNvPr id="28" name="Rectangle 106"/>
          <p:cNvSpPr>
            <a:spLocks noChangeArrowheads="1"/>
          </p:cNvSpPr>
          <p:nvPr/>
        </p:nvSpPr>
        <p:spPr bwMode="auto">
          <a:xfrm>
            <a:off x="1709738" y="4008438"/>
            <a:ext cx="541337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9" name="Rectangle 107"/>
          <p:cNvSpPr>
            <a:spLocks noChangeArrowheads="1"/>
          </p:cNvSpPr>
          <p:nvPr/>
        </p:nvSpPr>
        <p:spPr bwMode="auto">
          <a:xfrm>
            <a:off x="2249488" y="4008438"/>
            <a:ext cx="539750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6113"/>
            <a:ext cx="9128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</a:t>
            </a: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=3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297363" y="4452938"/>
            <a:ext cx="7747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endParaRPr lang="zh-CN" altLang="en-US" sz="12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6113"/>
            <a:ext cx="5953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3762375" y="4791075"/>
            <a:ext cx="2835275" cy="277813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5557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5558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5559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65560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5563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64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6113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9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4" grpId="0" animBg="1"/>
      <p:bldP spid="38" grpId="0" animBg="1"/>
      <p:bldP spid="39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8438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8438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023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341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11613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11613"/>
            <a:ext cx="6969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1613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11613"/>
            <a:ext cx="9128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11613"/>
            <a:ext cx="5953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Fsyn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7700"/>
            <a:ext cx="9128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=3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306888" y="4452938"/>
            <a:ext cx="76517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7700"/>
            <a:ext cx="5953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Rectangle 90"/>
          <p:cNvSpPr>
            <a:spLocks noChangeArrowheads="1"/>
          </p:cNvSpPr>
          <p:nvPr/>
        </p:nvSpPr>
        <p:spPr bwMode="auto">
          <a:xfrm>
            <a:off x="1709738" y="4011613"/>
            <a:ext cx="1079500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36" name="Rectangle 92"/>
          <p:cNvSpPr>
            <a:spLocks noChangeArrowheads="1"/>
          </p:cNvSpPr>
          <p:nvPr/>
        </p:nvSpPr>
        <p:spPr bwMode="auto">
          <a:xfrm>
            <a:off x="1008063" y="4011613"/>
            <a:ext cx="70167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digit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9" name="Rectangle 93"/>
          <p:cNvSpPr>
            <a:spLocks noChangeArrowheads="1"/>
          </p:cNvSpPr>
          <p:nvPr/>
        </p:nvSpPr>
        <p:spPr bwMode="auto">
          <a:xfrm>
            <a:off x="1008063" y="4446588"/>
            <a:ext cx="701675" cy="2619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100" i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110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=5</a:t>
            </a:r>
            <a:endParaRPr lang="zh-CN" altLang="en-US" sz="110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0" name="Freeform 113"/>
          <p:cNvSpPr>
            <a:spLocks/>
          </p:cNvSpPr>
          <p:nvPr/>
        </p:nvSpPr>
        <p:spPr bwMode="auto">
          <a:xfrm>
            <a:off x="1358900" y="4848225"/>
            <a:ext cx="649288" cy="106363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" name="Rectangle 91"/>
          <p:cNvSpPr>
            <a:spLocks noChangeArrowheads="1"/>
          </p:cNvSpPr>
          <p:nvPr/>
        </p:nvSpPr>
        <p:spPr bwMode="auto">
          <a:xfrm>
            <a:off x="1714500" y="4440238"/>
            <a:ext cx="1082675" cy="2873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=5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2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" name="Rectangle 74"/>
          <p:cNvSpPr>
            <a:spLocks noChangeArrowheads="1"/>
          </p:cNvSpPr>
          <p:nvPr/>
        </p:nvSpPr>
        <p:spPr bwMode="auto">
          <a:xfrm>
            <a:off x="2628900" y="3257550"/>
            <a:ext cx="3228975" cy="417513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</a:p>
        </p:txBody>
      </p:sp>
      <p:sp>
        <p:nvSpPr>
          <p:cNvPr id="44" name="Line 75"/>
          <p:cNvSpPr>
            <a:spLocks noChangeShapeType="1"/>
          </p:cNvSpPr>
          <p:nvPr/>
        </p:nvSpPr>
        <p:spPr bwMode="auto">
          <a:xfrm flipV="1">
            <a:off x="2311400" y="3695700"/>
            <a:ext cx="485775" cy="26987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5" name="Rectangle 103"/>
          <p:cNvSpPr>
            <a:spLocks noChangeArrowheads="1"/>
          </p:cNvSpPr>
          <p:nvPr/>
        </p:nvSpPr>
        <p:spPr bwMode="auto">
          <a:xfrm>
            <a:off x="2790825" y="4459288"/>
            <a:ext cx="593725" cy="27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val=5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Freeform 113"/>
          <p:cNvSpPr>
            <a:spLocks/>
          </p:cNvSpPr>
          <p:nvPr/>
        </p:nvSpPr>
        <p:spPr bwMode="auto">
          <a:xfrm>
            <a:off x="3184525" y="5010150"/>
            <a:ext cx="649288" cy="106363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7" name="Rectangle 109"/>
          <p:cNvSpPr>
            <a:spLocks noChangeArrowheads="1"/>
          </p:cNvSpPr>
          <p:nvPr/>
        </p:nvSpPr>
        <p:spPr bwMode="auto">
          <a:xfrm>
            <a:off x="3381375" y="4735513"/>
            <a:ext cx="9207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Fval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=5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12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7613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7614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7615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67616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53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7619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20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7700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35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 animBg="1"/>
      <p:bldP spid="35" grpId="0" animBg="1"/>
      <p:bldP spid="35" grpId="1" animBg="1"/>
      <p:bldP spid="36" grpId="0" animBg="1"/>
      <p:bldP spid="36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297363" y="4452938"/>
            <a:ext cx="7112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6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4788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4788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658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9550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6375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976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16375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16375"/>
            <a:ext cx="6969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endParaRPr lang="en-US" altLang="zh-CN" sz="12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6375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</a:t>
            </a:r>
            <a:r>
              <a:rPr lang="zh-CN" altLang="en-US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16375"/>
            <a:ext cx="912812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64050"/>
            <a:ext cx="912812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′ </a:t>
            </a: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=3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64050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109"/>
          <p:cNvSpPr>
            <a:spLocks noChangeArrowheads="1"/>
          </p:cNvSpPr>
          <p:nvPr/>
        </p:nvSpPr>
        <p:spPr bwMode="auto">
          <a:xfrm>
            <a:off x="3381375" y="4738688"/>
            <a:ext cx="9207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Fval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=5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Rectangle 110"/>
          <p:cNvSpPr>
            <a:spLocks noChangeArrowheads="1"/>
          </p:cNvSpPr>
          <p:nvPr/>
        </p:nvSpPr>
        <p:spPr bwMode="auto">
          <a:xfrm>
            <a:off x="2960688" y="3219450"/>
            <a:ext cx="4111625" cy="465138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zh-CN" altLang="en-US" sz="15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zh-CN" altLang="en-US" sz="1500" i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lang="zh-CN" altLang="en-US" sz="15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9" name="Line 111"/>
          <p:cNvSpPr>
            <a:spLocks noChangeShapeType="1"/>
          </p:cNvSpPr>
          <p:nvPr/>
        </p:nvSpPr>
        <p:spPr bwMode="auto">
          <a:xfrm flipH="1" flipV="1">
            <a:off x="3544888" y="3705225"/>
            <a:ext cx="330200" cy="23812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0" name="Rectangle 122"/>
          <p:cNvSpPr>
            <a:spLocks noChangeArrowheads="1"/>
          </p:cNvSpPr>
          <p:nvPr/>
        </p:nvSpPr>
        <p:spPr bwMode="auto">
          <a:xfrm>
            <a:off x="4302125" y="4465638"/>
            <a:ext cx="70167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4500563" y="4784725"/>
            <a:ext cx="382587" cy="155575"/>
          </a:xfrm>
          <a:custGeom>
            <a:avLst/>
            <a:gdLst>
              <a:gd name="connsiteX0" fmla="*/ 209834 w 383719"/>
              <a:gd name="connsiteY0" fmla="*/ 34724 h 324241"/>
              <a:gd name="connsiteX1" fmla="*/ 383454 w 383719"/>
              <a:gd name="connsiteY1" fmla="*/ 208344 h 324241"/>
              <a:gd name="connsiteX2" fmla="*/ 175110 w 383719"/>
              <a:gd name="connsiteY2" fmla="*/ 324091 h 324241"/>
              <a:gd name="connsiteX3" fmla="*/ 1489 w 383719"/>
              <a:gd name="connsiteY3" fmla="*/ 185195 h 324241"/>
              <a:gd name="connsiteX4" fmla="*/ 105661 w 383719"/>
              <a:gd name="connsiteY4" fmla="*/ 0 h 32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19" h="324241">
                <a:moveTo>
                  <a:pt x="209834" y="34724"/>
                </a:moveTo>
                <a:cubicBezTo>
                  <a:pt x="299537" y="97420"/>
                  <a:pt x="389241" y="160116"/>
                  <a:pt x="383454" y="208344"/>
                </a:cubicBezTo>
                <a:cubicBezTo>
                  <a:pt x="377667" y="256572"/>
                  <a:pt x="238771" y="327949"/>
                  <a:pt x="175110" y="324091"/>
                </a:cubicBezTo>
                <a:cubicBezTo>
                  <a:pt x="111449" y="320233"/>
                  <a:pt x="13064" y="239210"/>
                  <a:pt x="1489" y="185195"/>
                </a:cubicBezTo>
                <a:cubicBezTo>
                  <a:pt x="-10086" y="131180"/>
                  <a:pt x="47787" y="65590"/>
                  <a:pt x="105661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9653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9654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9655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9656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9657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69658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9660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61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38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4" grpId="0" animBg="1"/>
      <p:bldP spid="26" grpId="0" animBg="1"/>
      <p:bldP spid="30" grpId="0" animBg="1"/>
      <p:bldP spid="47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1613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1613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341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796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478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5928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715000" y="4014788"/>
            <a:ext cx="1125538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4788"/>
            <a:ext cx="711200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T</a:t>
            </a:r>
            <a:r>
              <a:rPr lang="en-US" altLang="zh-CN" sz="1200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syn</a:t>
            </a:r>
          </a:p>
        </p:txBody>
      </p: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49763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77"/>
          <p:cNvSpPr>
            <a:spLocks noChangeArrowheads="1"/>
          </p:cNvSpPr>
          <p:nvPr/>
        </p:nvSpPr>
        <p:spPr bwMode="auto">
          <a:xfrm>
            <a:off x="4192588" y="4457700"/>
            <a:ext cx="811212" cy="261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1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1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1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1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1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Rectangle 78"/>
          <p:cNvSpPr>
            <a:spLocks noChangeArrowheads="1"/>
          </p:cNvSpPr>
          <p:nvPr/>
        </p:nvSpPr>
        <p:spPr bwMode="auto">
          <a:xfrm>
            <a:off x="4192588" y="4014788"/>
            <a:ext cx="811212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35" name="Rectangle 80"/>
          <p:cNvSpPr>
            <a:spLocks noChangeArrowheads="1"/>
          </p:cNvSpPr>
          <p:nvPr/>
        </p:nvSpPr>
        <p:spPr bwMode="auto">
          <a:xfrm>
            <a:off x="3838575" y="3189288"/>
            <a:ext cx="2805113" cy="458787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5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</a:p>
        </p:txBody>
      </p:sp>
      <p:sp>
        <p:nvSpPr>
          <p:cNvPr id="36" name="Line 81"/>
          <p:cNvSpPr>
            <a:spLocks noChangeShapeType="1"/>
          </p:cNvSpPr>
          <p:nvPr/>
        </p:nvSpPr>
        <p:spPr bwMode="auto">
          <a:xfrm flipV="1">
            <a:off x="4464050" y="3648075"/>
            <a:ext cx="431800" cy="322263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8" name="Rectangle 90"/>
          <p:cNvSpPr>
            <a:spLocks noChangeArrowheads="1"/>
          </p:cNvSpPr>
          <p:nvPr/>
        </p:nvSpPr>
        <p:spPr bwMode="auto">
          <a:xfrm>
            <a:off x="5003800" y="4451350"/>
            <a:ext cx="7112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Freeform 54"/>
          <p:cNvSpPr>
            <a:spLocks/>
          </p:cNvSpPr>
          <p:nvPr/>
        </p:nvSpPr>
        <p:spPr bwMode="auto">
          <a:xfrm>
            <a:off x="5327650" y="4791075"/>
            <a:ext cx="649288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0" name="Rectangle 100"/>
          <p:cNvSpPr>
            <a:spLocks noChangeArrowheads="1"/>
          </p:cNvSpPr>
          <p:nvPr/>
        </p:nvSpPr>
        <p:spPr bwMode="auto">
          <a:xfrm>
            <a:off x="5705475" y="4456113"/>
            <a:ext cx="1135063" cy="27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475163" y="4784725"/>
            <a:ext cx="382587" cy="155575"/>
          </a:xfrm>
          <a:custGeom>
            <a:avLst/>
            <a:gdLst>
              <a:gd name="connsiteX0" fmla="*/ 209834 w 383719"/>
              <a:gd name="connsiteY0" fmla="*/ 34724 h 324241"/>
              <a:gd name="connsiteX1" fmla="*/ 383454 w 383719"/>
              <a:gd name="connsiteY1" fmla="*/ 208344 h 324241"/>
              <a:gd name="connsiteX2" fmla="*/ 175110 w 383719"/>
              <a:gd name="connsiteY2" fmla="*/ 324091 h 324241"/>
              <a:gd name="connsiteX3" fmla="*/ 1489 w 383719"/>
              <a:gd name="connsiteY3" fmla="*/ 185195 h 324241"/>
              <a:gd name="connsiteX4" fmla="*/ 105661 w 383719"/>
              <a:gd name="connsiteY4" fmla="*/ 0 h 32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19" h="324241">
                <a:moveTo>
                  <a:pt x="209834" y="34724"/>
                </a:moveTo>
                <a:cubicBezTo>
                  <a:pt x="299537" y="97420"/>
                  <a:pt x="389241" y="160116"/>
                  <a:pt x="383454" y="208344"/>
                </a:cubicBezTo>
                <a:cubicBezTo>
                  <a:pt x="377667" y="256572"/>
                  <a:pt x="238771" y="327949"/>
                  <a:pt x="175110" y="324091"/>
                </a:cubicBezTo>
                <a:cubicBezTo>
                  <a:pt x="111449" y="320233"/>
                  <a:pt x="13064" y="239210"/>
                  <a:pt x="1489" y="185195"/>
                </a:cubicBezTo>
                <a:cubicBezTo>
                  <a:pt x="-10086" y="131180"/>
                  <a:pt x="47787" y="65590"/>
                  <a:pt x="105661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1700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701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702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1703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1704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71705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4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1707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08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23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 animBg="1"/>
      <p:bldP spid="29" grpId="0" animBg="1"/>
      <p:bldP spid="29" grpId="1" animBg="1"/>
      <p:bldP spid="31" grpId="0" animBg="1"/>
      <p:bldP spid="31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39" grpId="0" animBg="1"/>
      <p:bldP spid="39" grpId="1" animBg="1"/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5263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5263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3706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0025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06850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5135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zh-CN" altLang="en-US" sz="1200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726113" y="4006850"/>
            <a:ext cx="111442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}</a:t>
            </a: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4143375" y="3214688"/>
            <a:ext cx="2786063" cy="428625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5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H="1" flipV="1">
            <a:off x="5381625" y="3770313"/>
            <a:ext cx="534988" cy="207962"/>
          </a:xfrm>
          <a:prstGeom prst="line">
            <a:avLst/>
          </a:prstGeom>
          <a:noFill/>
          <a:ln w="9525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6823075" y="4452938"/>
            <a:ext cx="6540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Freeform 54"/>
          <p:cNvSpPr>
            <a:spLocks/>
          </p:cNvSpPr>
          <p:nvPr/>
        </p:nvSpPr>
        <p:spPr bwMode="auto">
          <a:xfrm>
            <a:off x="7189788" y="4767263"/>
            <a:ext cx="649287" cy="107950"/>
          </a:xfrm>
          <a:custGeom>
            <a:avLst/>
            <a:gdLst>
              <a:gd name="T0" fmla="*/ 0 w 545"/>
              <a:gd name="T1" fmla="*/ 0 h 227"/>
              <a:gd name="T2" fmla="*/ 2147483646 w 545"/>
              <a:gd name="T3" fmla="*/ 2147483646 h 227"/>
              <a:gd name="T4" fmla="*/ 2147483646 w 545"/>
              <a:gd name="T5" fmla="*/ 0 h 227"/>
              <a:gd name="T6" fmla="*/ 0 60000 65536"/>
              <a:gd name="T7" fmla="*/ 0 60000 65536"/>
              <a:gd name="T8" fmla="*/ 0 60000 65536"/>
              <a:gd name="T9" fmla="*/ 0 w 545"/>
              <a:gd name="T10" fmla="*/ 0 h 227"/>
              <a:gd name="T11" fmla="*/ 545 w 545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" name="Rectangle 59"/>
          <p:cNvSpPr>
            <a:spLocks noChangeArrowheads="1"/>
          </p:cNvSpPr>
          <p:nvPr/>
        </p:nvSpPr>
        <p:spPr bwMode="auto">
          <a:xfrm>
            <a:off x="7434263" y="4441825"/>
            <a:ext cx="8096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3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3744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3745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3746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3747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73748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5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3751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52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Rectangle 100"/>
          <p:cNvSpPr>
            <a:spLocks noChangeArrowheads="1"/>
          </p:cNvSpPr>
          <p:nvPr/>
        </p:nvSpPr>
        <p:spPr bwMode="auto">
          <a:xfrm>
            <a:off x="5705475" y="4449763"/>
            <a:ext cx="11350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3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3" grpId="0" animBg="1"/>
      <p:bldP spid="28" grpId="0" animBg="1"/>
      <p:bldP spid="28" grpId="1" animBg="1"/>
      <p:bldP spid="30" grpId="0" animBg="1"/>
      <p:bldP spid="30" grpId="1" animBg="1"/>
      <p:bldP spid="34" grpId="0" animBg="1"/>
      <p:bldP spid="34" grpId="1" animBg="1"/>
      <p:bldP spid="41" grpId="0" animBg="1"/>
      <p:bldP spid="41" grpId="1" animBg="1"/>
      <p:bldP spid="43" grpId="0" animBg="1"/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6850"/>
            <a:ext cx="217487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2753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161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12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200" dirty="0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5" name="Rectangle 60"/>
          <p:cNvSpPr>
            <a:spLocks noChangeArrowheads="1"/>
          </p:cNvSpPr>
          <p:nvPr/>
        </p:nvSpPr>
        <p:spPr bwMode="auto">
          <a:xfrm>
            <a:off x="5027613" y="3268663"/>
            <a:ext cx="2687637" cy="37465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26" name="Line 61"/>
          <p:cNvSpPr>
            <a:spLocks noChangeShapeType="1"/>
          </p:cNvSpPr>
          <p:nvPr/>
        </p:nvSpPr>
        <p:spPr bwMode="auto">
          <a:xfrm flipH="1" flipV="1">
            <a:off x="6354763" y="3660775"/>
            <a:ext cx="1306512" cy="346075"/>
          </a:xfrm>
          <a:prstGeom prst="line">
            <a:avLst/>
          </a:prstGeom>
          <a:noFill/>
          <a:ln w="19050">
            <a:solidFill>
              <a:schemeClr val="hlink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8226425" y="4440238"/>
            <a:ext cx="622300" cy="277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5" name="Line 79"/>
          <p:cNvSpPr>
            <a:spLocks noChangeShapeType="1"/>
          </p:cNvSpPr>
          <p:nvPr/>
        </p:nvSpPr>
        <p:spPr bwMode="auto">
          <a:xfrm flipV="1">
            <a:off x="82264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5786" name="Line 79"/>
          <p:cNvSpPr>
            <a:spLocks noChangeShapeType="1"/>
          </p:cNvSpPr>
          <p:nvPr/>
        </p:nvSpPr>
        <p:spPr bwMode="auto">
          <a:xfrm flipV="1">
            <a:off x="8010525" y="1708150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5787" name="Line 79"/>
          <p:cNvSpPr>
            <a:spLocks noChangeShapeType="1"/>
          </p:cNvSpPr>
          <p:nvPr/>
        </p:nvSpPr>
        <p:spPr bwMode="auto">
          <a:xfrm flipV="1">
            <a:off x="7794625" y="1697038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5788" name="Rectangle 56"/>
          <p:cNvSpPr>
            <a:spLocks noChangeArrowheads="1"/>
          </p:cNvSpPr>
          <p:nvPr/>
        </p:nvSpPr>
        <p:spPr bwMode="auto">
          <a:xfrm>
            <a:off x="6757988" y="1325563"/>
            <a:ext cx="20510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1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  <a:r>
              <a:rPr kumimoji="1" lang="en-US" altLang="zh-CN" sz="21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3 * 5</a:t>
            </a:r>
            <a:endParaRPr kumimoji="1" lang="zh-CN" altLang="en-US" sz="210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5789" name="Line 79"/>
          <p:cNvSpPr>
            <a:spLocks noChangeShapeType="1"/>
          </p:cNvSpPr>
          <p:nvPr/>
        </p:nvSpPr>
        <p:spPr bwMode="auto">
          <a:xfrm flipV="1">
            <a:off x="7577138" y="1698625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75790" name="组合 12"/>
          <p:cNvGrpSpPr>
            <a:grpSpLocks/>
          </p:cNvGrpSpPr>
          <p:nvPr/>
        </p:nvGrpSpPr>
        <p:grpSpPr bwMode="auto"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8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5794" name="Rectangle 3"/>
            <p:cNvSpPr txBox="1">
              <a:spLocks noChangeArrowheads="1"/>
            </p:cNvSpPr>
            <p:nvPr/>
          </p:nvSpPr>
          <p:spPr bwMode="auto">
            <a:xfrm>
              <a:off x="3670772" y="802569"/>
              <a:ext cx="3166239" cy="1660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795" name="Rectangle 3"/>
            <p:cNvSpPr txBox="1">
              <a:spLocks noChangeArrowheads="1"/>
            </p:cNvSpPr>
            <p:nvPr/>
          </p:nvSpPr>
          <p:spPr bwMode="auto">
            <a:xfrm>
              <a:off x="807654" y="963245"/>
              <a:ext cx="3511452" cy="1948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685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 err="1">
                <a:solidFill>
                  <a:prstClr val="black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Tsyn</a:t>
            </a:r>
            <a:endParaRPr lang="en-US" altLang="zh-CN" sz="1200" i="1" dirty="0">
              <a:solidFill>
                <a:prstClr val="black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Rectangle 59"/>
          <p:cNvSpPr>
            <a:spLocks noChangeArrowheads="1"/>
          </p:cNvSpPr>
          <p:nvPr/>
        </p:nvSpPr>
        <p:spPr bwMode="auto">
          <a:xfrm>
            <a:off x="7434263" y="4445000"/>
            <a:ext cx="8096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200" i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1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46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8288"/>
            <a:ext cx="8208962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8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分析栈中的每一个记录都对应着一段执行代码</a:t>
            </a:r>
          </a:p>
        </p:txBody>
      </p:sp>
      <p:sp>
        <p:nvSpPr>
          <p:cNvPr id="77827" name="Rectangle 3"/>
          <p:cNvSpPr txBox="1">
            <a:spLocks noChangeArrowheads="1"/>
          </p:cNvSpPr>
          <p:nvPr/>
        </p:nvSpPr>
        <p:spPr bwMode="auto">
          <a:xfrm>
            <a:off x="401638" y="1058863"/>
            <a:ext cx="8285162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在综合记录出栈时，要将综合属性值复制给后面特定的语义动作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非终结符本身的记录出栈时（通常是对最左非终结符进行替换），如果其含有继承属性，则要将继承属性值复制给展开后特定的语义动作</a:t>
            </a:r>
            <a:endParaRPr kumimoji="1" lang="en-US" altLang="zh-CN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动作记录，则直接执行指针指向的代码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endParaRPr kumimoji="1" lang="zh-CN" altLang="en-US" sz="2800" dirty="0">
              <a:solidFill>
                <a:prstClr val="black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915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5"/>
          <p:cNvSpPr>
            <a:spLocks noGrp="1" noChangeArrowheads="1"/>
          </p:cNvSpPr>
          <p:nvPr>
            <p:ph idx="1"/>
          </p:nvPr>
        </p:nvSpPr>
        <p:spPr>
          <a:xfrm>
            <a:off x="927100" y="1762125"/>
            <a:ext cx="5700713" cy="560388"/>
          </a:xfrm>
        </p:spPr>
        <p:txBody>
          <a:bodyPr/>
          <a:lstStyle/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1)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→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8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: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.inh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F.val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8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: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T.val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T</a:t>
            </a:r>
            <a:r>
              <a:rPr lang="en-US" altLang="zh-CN" sz="1800" b="1" i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.syn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6675" name="Group 67"/>
          <p:cNvGraphicFramePr>
            <a:graphicFrameLocks noGrp="1"/>
          </p:cNvGraphicFramePr>
          <p:nvPr/>
        </p:nvGraphicFramePr>
        <p:xfrm>
          <a:off x="928688" y="2120900"/>
          <a:ext cx="7500937" cy="2949575"/>
        </p:xfrm>
        <a:graphic>
          <a:graphicData uri="http://schemas.openxmlformats.org/drawingml/2006/table">
            <a:tbl>
              <a:tblPr/>
              <a:tblGrid>
                <a:gridCol w="90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符号</a:t>
                      </a:r>
                    </a:p>
                  </a:txBody>
                  <a:tcPr marL="68580" marR="68580" marT="34302" marB="34302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属性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Fval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inh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2):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 top=top+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3):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inh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top-1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 =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  <a:sym typeface="Times New Roman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  <a:sym typeface="Times New Roman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990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991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rot="5400000">
            <a:off x="6965950" y="3605213"/>
            <a:ext cx="2928937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rot="5400000">
            <a:off x="-534987" y="3605213"/>
            <a:ext cx="2928937" cy="15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10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2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9913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914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1173163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35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79" name="Rectangle 47"/>
          <p:cNvSpPr>
            <a:spLocks noGrp="1" noChangeArrowheads="1"/>
          </p:cNvSpPr>
          <p:nvPr>
            <p:ph idx="1"/>
          </p:nvPr>
        </p:nvSpPr>
        <p:spPr>
          <a:xfrm>
            <a:off x="944563" y="1820863"/>
            <a:ext cx="7058025" cy="3225800"/>
          </a:xfrm>
        </p:spPr>
        <p:txBody>
          <a:bodyPr/>
          <a:lstStyle/>
          <a:p>
            <a:pPr marL="272654" indent="-272654">
              <a:lnSpc>
                <a:spcPts val="1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2) 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→ 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*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.inh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.inh</a:t>
            </a:r>
            <a:r>
              <a:rPr lang="zh-CN" altLang="en-US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×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Times New Roman" pitchFamily="18" charset="0"/>
              </a:rPr>
              <a:t>F.val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14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4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zh-CN" altLang="en-US" sz="1400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18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8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18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7693" name="Group 61"/>
          <p:cNvGraphicFramePr>
            <a:graphicFrameLocks noGrp="1"/>
          </p:cNvGraphicFramePr>
          <p:nvPr/>
        </p:nvGraphicFramePr>
        <p:xfrm>
          <a:off x="928688" y="2154238"/>
          <a:ext cx="7358062" cy="2911477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6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264" marB="3426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.Fval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΄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inh; Fval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inh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×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Fval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en-US" altLang="zh-CN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2):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top=top+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3):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 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1959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196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rot="16200000" flipH="1">
            <a:off x="6837362" y="3609976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16200000" flipH="1">
            <a:off x="-511175" y="3619501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1963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1965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966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370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71" name="Rectangle 15"/>
          <p:cNvSpPr>
            <a:spLocks noGrp="1" noChangeArrowheads="1"/>
          </p:cNvSpPr>
          <p:nvPr>
            <p:ph idx="1"/>
          </p:nvPr>
        </p:nvSpPr>
        <p:spPr>
          <a:xfrm>
            <a:off x="1355725" y="1638300"/>
            <a:ext cx="5927725" cy="3225800"/>
          </a:xfrm>
        </p:spPr>
        <p:txBody>
          <a:bodyPr/>
          <a:lstStyle/>
          <a:p>
            <a:pPr marL="272654" indent="-272654">
              <a:defRPr/>
            </a:pPr>
            <a:endParaRPr lang="en-US" altLang="zh-CN" sz="18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l-GR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ε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5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zh-CN" altLang="en-US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syn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8680" name="Group 24"/>
          <p:cNvGraphicFramePr>
            <a:graphicFrameLocks noGrp="1"/>
          </p:cNvGraphicFramePr>
          <p:nvPr/>
        </p:nvGraphicFramePr>
        <p:xfrm>
          <a:off x="1357313" y="2500313"/>
          <a:ext cx="6572250" cy="1050978"/>
        </p:xfrm>
        <a:graphic>
          <a:graphicData uri="http://schemas.openxmlformats.org/drawingml/2006/table">
            <a:tbl>
              <a:tblPr/>
              <a:tblGrid>
                <a:gridCol w="134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0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137" marB="34137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137" marB="3413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137" marB="34137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2" marB="3415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2" marB="3415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；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152" marB="3415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398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9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821531" y="3015457"/>
            <a:ext cx="10715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394576" y="3035300"/>
            <a:ext cx="1071562" cy="15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3987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3989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90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026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11" name="Rectangle 27"/>
          <p:cNvSpPr>
            <a:spLocks noGrp="1" noChangeArrowheads="1"/>
          </p:cNvSpPr>
          <p:nvPr>
            <p:ph idx="1"/>
          </p:nvPr>
        </p:nvSpPr>
        <p:spPr>
          <a:xfrm>
            <a:off x="677863" y="1612900"/>
            <a:ext cx="5927725" cy="3225800"/>
          </a:xfrm>
        </p:spPr>
        <p:txBody>
          <a:bodyPr/>
          <a:lstStyle/>
          <a:p>
            <a:pPr marL="272654" indent="-272654">
              <a:defRPr/>
            </a:pPr>
            <a:endParaRPr lang="en-US" altLang="zh-CN" sz="18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72654" indent="-272654"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→ 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digit {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6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F.val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 =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digit.lexval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  <a:sym typeface="Arial" pitchFamily="34" charset="0"/>
            </a:endParaRPr>
          </a:p>
        </p:txBody>
      </p:sp>
      <p:graphicFrame>
        <p:nvGraphicFramePr>
          <p:cNvPr id="195621" name="Group 37"/>
          <p:cNvGraphicFramePr>
            <a:graphicFrameLocks noGrp="1"/>
          </p:cNvGraphicFramePr>
          <p:nvPr/>
        </p:nvGraphicFramePr>
        <p:xfrm>
          <a:off x="642938" y="2357438"/>
          <a:ext cx="7858125" cy="1730375"/>
        </p:xfrm>
        <a:graphic>
          <a:graphicData uri="http://schemas.openxmlformats.org/drawingml/2006/table">
            <a:tbl>
              <a:tblPr/>
              <a:tblGrid>
                <a:gridCol w="1706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314" marB="3431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执行代码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6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28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0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2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4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6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88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013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603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604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-221456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636669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  <a:endParaRPr lang="zh-CN" altLang="en-US" sz="3975" dirty="0"/>
          </a:p>
        </p:txBody>
      </p:sp>
      <p:grpSp>
        <p:nvGrpSpPr>
          <p:cNvPr id="86039" name="组合 3"/>
          <p:cNvGrpSpPr>
            <a:grpSpLocks/>
          </p:cNvGrpSpPr>
          <p:nvPr/>
        </p:nvGrpSpPr>
        <p:grpSpPr bwMode="auto"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1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6041" name="Rectangle 3"/>
            <p:cNvSpPr txBox="1">
              <a:spLocks noChangeArrowheads="1"/>
            </p:cNvSpPr>
            <p:nvPr/>
          </p:nvSpPr>
          <p:spPr bwMode="auto">
            <a:xfrm>
              <a:off x="4357199" y="132073"/>
              <a:ext cx="3041401" cy="1519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042" name="Rectangle 3"/>
            <p:cNvSpPr txBox="1">
              <a:spLocks noChangeArrowheads="1"/>
            </p:cNvSpPr>
            <p:nvPr/>
          </p:nvSpPr>
          <p:spPr bwMode="auto">
            <a:xfrm>
              <a:off x="6572902" y="-46273"/>
              <a:ext cx="2802359" cy="1718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8D22AC-58A3-4BAF-B472-82F2A4C1D002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06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00750" y="106363"/>
            <a:ext cx="3000375" cy="4751387"/>
          </a:xfrm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inh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</a:t>
            </a:r>
            <a:r>
              <a:rPr lang="en-US" altLang="zh-CN" sz="1600" b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D</a:t>
            </a:r>
            <a:r>
              <a:rPr lang="en-US" altLang="zh-CN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: 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Fval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if token=“*”  then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Getnext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Fval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F(token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inh×Fval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 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Getnext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token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(token, 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inh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  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T΄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1600" b="1" baseline="-25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return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}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else if token=</a:t>
            </a:r>
            <a:r>
              <a:rPr lang="el-GR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“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  <a:sym typeface="Arial" pitchFamily="34" charset="0"/>
              </a:rPr>
              <a:t>$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”</a:t>
            </a:r>
            <a:r>
              <a:rPr lang="zh-CN" altLang="en-US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then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{ </a:t>
            </a: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=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inh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	   return </a:t>
            </a:r>
            <a:r>
              <a:rPr lang="zh-CN" altLang="en-US" sz="16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1600" b="1" i="1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syn</a:t>
            </a:r>
            <a:r>
              <a:rPr lang="zh-CN" altLang="en-US" sz="1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}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i="1" dirty="0">
                <a:latin typeface="Times New Roman" pitchFamily="18" charset="0"/>
                <a:cs typeface="Times New Roman" pitchFamily="18" charset="0"/>
                <a:sym typeface="Arial" pitchFamily="34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else Error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Arial" pitchFamily="34" charset="0"/>
              </a:rPr>
              <a:t>}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Arial" pitchFamily="34" charset="0"/>
            </a:endParaRPr>
          </a:p>
        </p:txBody>
      </p:sp>
      <p:grpSp>
        <p:nvGrpSpPr>
          <p:cNvPr id="4" name="组合 5"/>
          <p:cNvGrpSpPr>
            <a:grpSpLocks/>
          </p:cNvGrpSpPr>
          <p:nvPr/>
        </p:nvGrpSpPr>
        <p:grpSpPr bwMode="auto">
          <a:xfrm>
            <a:off x="1365250" y="1800225"/>
            <a:ext cx="5165725" cy="3255963"/>
            <a:chOff x="1365250" y="1800225"/>
            <a:chExt cx="5165725" cy="3255963"/>
          </a:xfrm>
        </p:grpSpPr>
        <p:sp>
          <p:nvSpPr>
            <p:cNvPr id="8207" name="Line 7"/>
            <p:cNvSpPr>
              <a:spLocks noChangeShapeType="1"/>
            </p:cNvSpPr>
            <p:nvPr/>
          </p:nvSpPr>
          <p:spPr bwMode="auto">
            <a:xfrm flipV="1">
              <a:off x="5892800" y="1800225"/>
              <a:ext cx="612775" cy="26320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08" name="Line 8"/>
            <p:cNvSpPr>
              <a:spLocks noChangeShapeType="1"/>
            </p:cNvSpPr>
            <p:nvPr/>
          </p:nvSpPr>
          <p:spPr bwMode="auto">
            <a:xfrm flipV="1">
              <a:off x="5892800" y="2663825"/>
              <a:ext cx="557213" cy="176847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209" name="Line 9"/>
            <p:cNvSpPr>
              <a:spLocks noChangeShapeType="1"/>
            </p:cNvSpPr>
            <p:nvPr/>
          </p:nvSpPr>
          <p:spPr bwMode="auto">
            <a:xfrm flipV="1">
              <a:off x="5892800" y="3827463"/>
              <a:ext cx="638175" cy="60483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55371" name="Rectangle 11"/>
            <p:cNvSpPr>
              <a:spLocks noChangeArrowheads="1"/>
            </p:cNvSpPr>
            <p:nvPr/>
          </p:nvSpPr>
          <p:spPr bwMode="auto">
            <a:xfrm>
              <a:off x="1365250" y="4432300"/>
              <a:ext cx="4635500" cy="6238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对于每个动作，将其代码复制到语法分析器，并把对属性的引用改为对相应变量的引用</a:t>
              </a:r>
            </a:p>
          </p:txBody>
        </p:sp>
      </p:grpSp>
      <p:grpSp>
        <p:nvGrpSpPr>
          <p:cNvPr id="8196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206" name="五边形 12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457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5694363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7.</a:t>
            </a: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grpSp>
        <p:nvGrpSpPr>
          <p:cNvPr id="6" name="组合 3"/>
          <p:cNvGrpSpPr>
            <a:grpSpLocks/>
          </p:cNvGrpSpPr>
          <p:nvPr/>
        </p:nvGrpSpPr>
        <p:grpSpPr bwMode="auto">
          <a:xfrm>
            <a:off x="1365250" y="279400"/>
            <a:ext cx="4719638" cy="1485900"/>
            <a:chOff x="1365250" y="278684"/>
            <a:chExt cx="4719397" cy="1486914"/>
          </a:xfrm>
        </p:grpSpPr>
        <p:sp>
          <p:nvSpPr>
            <p:cNvPr id="2" name="矩形 1"/>
            <p:cNvSpPr/>
            <p:nvPr/>
          </p:nvSpPr>
          <p:spPr>
            <a:xfrm>
              <a:off x="1365250" y="842632"/>
              <a:ext cx="4043157" cy="9229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为每个非终结符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构造一个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函数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，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的每个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继承属性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对应该函数的一个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形参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，函数的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返回值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是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的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综合属性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值</a:t>
              </a:r>
              <a:endParaRPr kumimoji="1" lang="zh-CN" altLang="en-US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8204" name="Line 7"/>
            <p:cNvSpPr>
              <a:spLocks noChangeShapeType="1"/>
            </p:cNvSpPr>
            <p:nvPr/>
          </p:nvSpPr>
          <p:spPr bwMode="auto">
            <a:xfrm flipV="1">
              <a:off x="5408011" y="278684"/>
              <a:ext cx="676636" cy="95321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组合 4"/>
          <p:cNvGrpSpPr>
            <a:grpSpLocks/>
          </p:cNvGrpSpPr>
          <p:nvPr/>
        </p:nvGrpSpPr>
        <p:grpSpPr bwMode="auto">
          <a:xfrm>
            <a:off x="3352800" y="661988"/>
            <a:ext cx="2903538" cy="2197100"/>
            <a:chOff x="3352713" y="661689"/>
            <a:chExt cx="2903252" cy="2198093"/>
          </a:xfrm>
        </p:grpSpPr>
        <p:sp>
          <p:nvSpPr>
            <p:cNvPr id="3" name="矩形 2"/>
            <p:cNvSpPr/>
            <p:nvPr/>
          </p:nvSpPr>
          <p:spPr>
            <a:xfrm>
              <a:off x="3352713" y="1903675"/>
              <a:ext cx="2874680" cy="95610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对出现在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产生式右部中的每个文法符号的每个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属性</a:t>
              </a:r>
              <a:r>
                <a:rPr lang="zh-CN" altLang="en-US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都设置一个</a:t>
              </a:r>
              <a:r>
                <a:rPr lang="zh-CN" altLang="en-US" dirty="0">
                  <a:solidFill>
                    <a:srgbClr val="0000FF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局部变量</a:t>
              </a:r>
            </a:p>
          </p:txBody>
        </p:sp>
        <p:sp>
          <p:nvSpPr>
            <p:cNvPr id="8202" name="Line 7"/>
            <p:cNvSpPr>
              <a:spLocks noChangeShapeType="1"/>
            </p:cNvSpPr>
            <p:nvPr/>
          </p:nvSpPr>
          <p:spPr bwMode="auto">
            <a:xfrm flipV="1">
              <a:off x="5724128" y="661689"/>
              <a:ext cx="531837" cy="124240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350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build="p"/>
      <p:bldP spid="19457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8" name="Rectangle 4"/>
          <p:cNvSpPr>
            <a:spLocks noGrp="1" noChangeArrowheads="1"/>
          </p:cNvSpPr>
          <p:nvPr>
            <p:ph idx="1"/>
          </p:nvPr>
        </p:nvSpPr>
        <p:spPr>
          <a:xfrm>
            <a:off x="5003800" y="1074738"/>
            <a:ext cx="3159125" cy="3687762"/>
          </a:xfrm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{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D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：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,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hlink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rgbClr val="FF0000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zh-CN" altLang="en-US" sz="2000" b="1" i="1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Fval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Getnext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</a:rPr>
              <a:t>	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zh-CN" altLang="en-US" sz="2000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inh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=</a:t>
            </a:r>
            <a:r>
              <a:rPr lang="zh-CN" altLang="en-US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T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syn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	return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Tval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;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  <a:sym typeface="Times New Roman" pitchFamily="18" charset="0"/>
            </a:endParaRPr>
          </a:p>
        </p:txBody>
      </p:sp>
      <p:grpSp>
        <p:nvGrpSpPr>
          <p:cNvPr id="10243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7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6612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96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build="p"/>
      <p:bldP spid="656388" grpI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40" name="Rectangle 4"/>
          <p:cNvSpPr>
            <a:spLocks noGrp="1" noChangeArrowheads="1"/>
          </p:cNvSpPr>
          <p:nvPr>
            <p:ph idx="1"/>
          </p:nvPr>
        </p:nvSpPr>
        <p:spPr>
          <a:xfrm>
            <a:off x="4937125" y="1436688"/>
            <a:ext cx="3635375" cy="2206625"/>
          </a:xfrm>
          <a:solidFill>
            <a:schemeClr val="bg1"/>
          </a:solidFill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{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	if  token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≠ 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digit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 then  Error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	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=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token.lexval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	 return 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Fval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Times New Roman" pitchFamily="18" charset="0"/>
              </a:rPr>
              <a:t>}</a:t>
            </a:r>
          </a:p>
        </p:txBody>
      </p:sp>
      <p:grpSp>
        <p:nvGrpSpPr>
          <p:cNvPr id="12291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5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9866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srgbClr val="073E87">
                  <a:lumMod val="60000"/>
                  <a:lumOff val="4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0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3" name="五边形 7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在递归的预测分析过程中进行翻译</a:t>
            </a:r>
          </a:p>
        </p:txBody>
      </p:sp>
      <p:sp>
        <p:nvSpPr>
          <p:cNvPr id="1434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SzPct val="100000"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500" dirty="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>
          <a:xfrm>
            <a:off x="5141913" y="1060450"/>
            <a:ext cx="3216275" cy="3297238"/>
          </a:xfrm>
          <a:ln w="12700"/>
        </p:spPr>
        <p:txBody>
          <a:bodyPr/>
          <a:lstStyle/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Desent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()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{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：</a:t>
            </a: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Tval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Getnext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Tval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token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if token ≠ “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” then Error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</a:p>
          <a:p>
            <a:pPr marL="575072" lvl="1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return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；</a:t>
            </a:r>
          </a:p>
          <a:p>
            <a:pPr marL="272654" indent="-272654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}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272654" indent="-272654" eaLnBrk="1" hangingPunct="1">
              <a:defRPr/>
            </a:pPr>
            <a:endParaRPr lang="zh-CN" altLang="en-US" dirty="0"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7562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3"/>
          <p:cNvSpPr>
            <a:spLocks noGrp="1" noChangeArrowheads="1"/>
          </p:cNvSpPr>
          <p:nvPr>
            <p:ph idx="1"/>
          </p:nvPr>
        </p:nvSpPr>
        <p:spPr>
          <a:xfrm>
            <a:off x="401638" y="1058863"/>
            <a:ext cx="8285162" cy="3225800"/>
          </a:xfrm>
        </p:spPr>
        <p:txBody>
          <a:bodyPr/>
          <a:lstStyle/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为每个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构造一个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函数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对应该函数的一个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形参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，函数的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返回值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值。对出现在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产生式中的每个文法符号的每个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属性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都设置一个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局部变量</a:t>
            </a:r>
          </a:p>
          <a:p>
            <a:pPr marL="272654" indent="-272654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</a:t>
            </a:r>
            <a:r>
              <a:rPr kumimoji="1" lang="en-US" altLang="zh-CN" sz="28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zh-CN" altLang="en-US" sz="2800" b="1" dirty="0">
                <a:solidFill>
                  <a:schemeClr val="tx1"/>
                </a:solidFill>
                <a:cs typeface="Times New Roman" pitchFamily="18" charset="0"/>
              </a:rPr>
              <a:t>的代码根据当前的输入决定使用哪个产生式</a:t>
            </a:r>
          </a:p>
          <a:p>
            <a:pPr marL="854869" lvl="2" indent="-227410" eaLnBrk="1" hangingPunct="1">
              <a:buFont typeface="Symbol" panose="05050102010706020507" pitchFamily="18" charset="2"/>
              <a:buNone/>
              <a:defRPr/>
            </a:pPr>
            <a:endParaRPr kumimoji="1"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613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30213" y="714375"/>
            <a:ext cx="8285162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与每个产生式有关的代码执行如下动作：从左到右考虑产生式右部的终结符、非终结符及语义动作</a:t>
            </a:r>
            <a:r>
              <a:rPr lang="en-US" altLang="zh-CN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   </a:t>
            </a: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对于带有综合属性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，把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的值保存在局部变量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X.x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中；然后判断一下是否匹配，并继续输入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对于非终结符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，产生一个右部带有函数调用的赋值语句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:=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kumimoji="1"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…,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，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kumimoji="1"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…, </a:t>
            </a:r>
            <a:r>
              <a:rPr kumimoji="1"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en-US" altLang="zh-CN" b="1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是代表</a:t>
            </a:r>
            <a:r>
              <a:rPr kumimoji="1" lang="zh-CN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的继承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属性的变量，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代表</a:t>
            </a:r>
            <a:r>
              <a:rPr kumimoji="1" lang="zh-CN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kumimoji="1" lang="zh-CN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综合属性的变量</a:t>
            </a:r>
            <a:endParaRPr kumimoji="1"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kumimoji="1"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对于每个动作，将其代码复制到语法分析器，并把对属性的引用改为对相应变量的引用</a:t>
            </a:r>
          </a:p>
          <a:p>
            <a:pPr>
              <a:lnSpc>
                <a:spcPts val="3500"/>
              </a:lnSpc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kumimoji="1"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r>
              <a:rPr kumimoji="1"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（续）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72627-68BC-4EB1-8726-F8154202DB1F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2640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8. L</a:t>
            </a:r>
            <a:r>
              <a:rPr lang="en-US" altLang="zh-CN" sz="3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属性定义的自底向上翻译 </a:t>
            </a:r>
            <a:endParaRPr lang="zh-CN" altLang="en-US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71500" y="857250"/>
            <a:ext cx="8131175" cy="1541463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给定一个以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LL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文法为基础的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L-SDD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，可以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修改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这个</a:t>
            </a:r>
            <a:r>
              <a:rPr lang="zh-CN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</a:rPr>
              <a:t>文法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，并在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49" charset="-122"/>
              </a:rPr>
              <a:t>语法分析过程中计算这个新文法之上的</a:t>
            </a:r>
            <a:r>
              <a:rPr lang="en-US" altLang="zh-CN" sz="3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SDD</a:t>
            </a:r>
            <a:endParaRPr lang="zh-CN" altLang="en-US" sz="3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2154864-37E5-4D03-AF59-CA0527EC2A99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372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</a:p>
        </p:txBody>
      </p:sp>
      <p:sp>
        <p:nvSpPr>
          <p:cNvPr id="175107" name="Rectangle 3"/>
          <p:cNvSpPr txBox="1">
            <a:spLocks noChangeArrowheads="1"/>
          </p:cNvSpPr>
          <p:nvPr/>
        </p:nvSpPr>
        <p:spPr bwMode="auto">
          <a:xfrm>
            <a:off x="1803400" y="490538"/>
            <a:ext cx="6500813" cy="1473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15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71750" y="2428875"/>
            <a:ext cx="3857625" cy="2643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	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 }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247" name="AutoShape 23"/>
          <p:cNvSpPr>
            <a:spLocks noChangeArrowheads="1"/>
          </p:cNvSpPr>
          <p:nvPr/>
        </p:nvSpPr>
        <p:spPr bwMode="auto">
          <a:xfrm>
            <a:off x="4397375" y="2100263"/>
            <a:ext cx="323850" cy="212725"/>
          </a:xfrm>
          <a:prstGeom prst="downArrow">
            <a:avLst>
              <a:gd name="adj1" fmla="val 50000"/>
              <a:gd name="adj2" fmla="val 5809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lIns="68580" tIns="34290" rIns="68580" bIns="34290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0249" name="Rectangle 25"/>
          <p:cNvSpPr>
            <a:spLocks noChangeArrowheads="1"/>
          </p:cNvSpPr>
          <p:nvPr/>
        </p:nvSpPr>
        <p:spPr bwMode="auto">
          <a:xfrm>
            <a:off x="285750" y="3071813"/>
            <a:ext cx="1997075" cy="608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楷体_GB2312" pitchFamily="49" charset="-122"/>
              </a:rPr>
              <a:t>标记非终结符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楷体_GB2312" pitchFamily="49" charset="-122"/>
            </a:endParaRPr>
          </a:p>
          <a:p>
            <a:pPr eaLnBrk="1" hangingPunct="1">
              <a:defRPr/>
            </a:pPr>
            <a:r>
              <a:rPr lang="en-US" altLang="zh-CN" sz="15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(</a:t>
            </a:r>
            <a:r>
              <a:rPr lang="en-US" altLang="zh-CN" sz="15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Marker </a:t>
            </a:r>
            <a:r>
              <a:rPr lang="en-US" altLang="zh-CN" sz="15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Nonterminal</a:t>
            </a:r>
            <a:r>
              <a:rPr lang="en-US" altLang="zh-CN" sz="15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楷体_GB2312" pitchFamily="49" charset="-122"/>
              </a:rPr>
              <a:t>)</a:t>
            </a:r>
            <a:endParaRPr lang="zh-CN" altLang="en-US" sz="1500" dirty="0">
              <a:solidFill>
                <a:prstClr val="black"/>
              </a:solidFill>
              <a:ea typeface="楷体" pitchFamily="49" charset="-122"/>
              <a:cs typeface="楷体_GB2312" pitchFamily="49" charset="-122"/>
            </a:endParaRPr>
          </a:p>
        </p:txBody>
      </p:sp>
      <p:sp>
        <p:nvSpPr>
          <p:cNvPr id="180250" name="Line 26"/>
          <p:cNvSpPr>
            <a:spLocks noChangeShapeType="1"/>
          </p:cNvSpPr>
          <p:nvPr/>
        </p:nvSpPr>
        <p:spPr bwMode="auto">
          <a:xfrm flipV="1">
            <a:off x="2286000" y="3071813"/>
            <a:ext cx="574675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0251" name="Line 27"/>
          <p:cNvSpPr>
            <a:spLocks noChangeShapeType="1"/>
          </p:cNvSpPr>
          <p:nvPr/>
        </p:nvSpPr>
        <p:spPr bwMode="auto">
          <a:xfrm>
            <a:off x="2286000" y="3357563"/>
            <a:ext cx="571500" cy="285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云形标注 2"/>
          <p:cNvSpPr>
            <a:spLocks noChangeArrowheads="1"/>
          </p:cNvSpPr>
          <p:nvPr/>
        </p:nvSpPr>
        <p:spPr bwMode="auto">
          <a:xfrm>
            <a:off x="6588125" y="3357563"/>
            <a:ext cx="2357438" cy="1571625"/>
          </a:xfrm>
          <a:prstGeom prst="cloudCallout">
            <a:avLst>
              <a:gd name="adj1" fmla="val -78618"/>
              <a:gd name="adj2" fmla="val -1239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访问未出现在该产生式中的符号的属性？</a:t>
            </a:r>
          </a:p>
        </p:txBody>
      </p:sp>
      <p:sp>
        <p:nvSpPr>
          <p:cNvPr id="4" name="矩形 3"/>
          <p:cNvSpPr/>
          <p:nvPr/>
        </p:nvSpPr>
        <p:spPr>
          <a:xfrm>
            <a:off x="6716713" y="2220913"/>
            <a:ext cx="1906587" cy="9223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indent="0"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修改后的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SDT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，所有语义动作都位于产生式末尾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63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F70D7E1-1DDE-4821-9899-CB0A61ECF0D1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06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0247" grpId="0" animBg="1"/>
      <p:bldP spid="180249" grpId="0" animBg="1"/>
      <p:bldP spid="180250" grpId="0" animBg="1"/>
      <p:bldP spid="180251" grpId="0" animBg="1"/>
      <p:bldP spid="3" grpId="0" animBg="1"/>
      <p:bldP spid="4" grpId="0" build="allAtOnce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00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32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232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914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28678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721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84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685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28690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28692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693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28695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9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28698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699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9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28701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2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9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8704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5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7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08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10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1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2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713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4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8715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6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8717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8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719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4CDDA72-E682-4233-A66A-220D31EFECE8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9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0" grpId="0"/>
      <p:bldP spid="182328" grpId="0" animBg="1"/>
      <p:bldP spid="182329" grpId="0" animBg="1"/>
      <p:bldP spid="16" grpId="0" animBg="1"/>
      <p:bldP spid="17" grpId="0" animBg="1"/>
      <p:bldP spid="17" grpId="1" animBg="1"/>
      <p:bldP spid="18" grpId="0" animBg="1"/>
      <p:bldP spid="29" grpId="0" animBg="1"/>
      <p:bldP spid="30" grpId="0" animBg="1"/>
      <p:bldP spid="30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723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118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0725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79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741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43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0748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0750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51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0753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8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0756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57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0759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0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* · 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0762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3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5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6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8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69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0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71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2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0773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4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0775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6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777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DB7172D-9F8D-4283-BE2B-D3DC29547B24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42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2771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323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2773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83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2784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788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6948488" y="3857625"/>
            <a:ext cx="1195387" cy="280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6948488" y="4143375"/>
            <a:ext cx="1195387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700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948488" y="3598863"/>
            <a:ext cx="11334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8083550" y="3868738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endParaRPr lang="en-US" altLang="zh-CN" sz="1600" i="1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8083550" y="4141788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8081963" y="3598863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9</a:t>
            </a:r>
            <a:endParaRPr lang="en-US" altLang="zh-CN" sz="170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2795" name="矩形 40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79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8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9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280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1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280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0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4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280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6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7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281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1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0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281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1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3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*.FNT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281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1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6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9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2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2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282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2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282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3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283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9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6AC41BC-C15B-48E3-8FD7-89DB72198C62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5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819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528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4821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4873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=3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30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4831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6408738" y="3868738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endParaRPr lang="en-US" altLang="zh-CN" sz="16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6408738" y="4137025"/>
            <a:ext cx="9175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700" i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=15</a:t>
            </a:r>
            <a:endParaRPr lang="zh-CN" altLang="en-US" sz="170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6408738" y="3598863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17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35" name="矩形 43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837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0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1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4842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3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4844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45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6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4847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8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9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4850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51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4853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54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5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4856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57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8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9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0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1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62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3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4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65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66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4867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68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4869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70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871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ED6061F-F63A-4253-998C-E23DAA825762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0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0" grpId="0" animBg="1"/>
      <p:bldP spid="20" grpId="0" animBg="1"/>
      <p:bldP spid="21" grpId="0" animBg="1"/>
      <p:bldP spid="22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56"/>
          <p:cNvSpPr>
            <a:spLocks noChangeShapeType="1"/>
          </p:cNvSpPr>
          <p:nvPr/>
        </p:nvSpPr>
        <p:spPr bwMode="auto">
          <a:xfrm flipV="1">
            <a:off x="6678613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867" name="Line 57"/>
          <p:cNvSpPr>
            <a:spLocks noChangeShapeType="1"/>
          </p:cNvSpPr>
          <p:nvPr/>
        </p:nvSpPr>
        <p:spPr bwMode="auto">
          <a:xfrm flipV="1">
            <a:off x="6454775" y="2974975"/>
            <a:ext cx="0" cy="21748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733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dirty="0"/>
          </a:p>
        </p:txBody>
      </p:sp>
      <p:grpSp>
        <p:nvGrpSpPr>
          <p:cNvPr id="36869" name="组合 11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6915" name="五边形 13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</a:rPr>
              <a:t>$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872" name="Line 56"/>
          <p:cNvSpPr>
            <a:spLocks noChangeShapeType="1"/>
          </p:cNvSpPr>
          <p:nvPr/>
        </p:nvSpPr>
        <p:spPr bwMode="auto">
          <a:xfrm flipV="1">
            <a:off x="6894513" y="2979738"/>
            <a:ext cx="0" cy="2159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6873" name="Line 56"/>
          <p:cNvSpPr>
            <a:spLocks noChangeShapeType="1"/>
          </p:cNvSpPr>
          <p:nvPr/>
        </p:nvSpPr>
        <p:spPr bwMode="auto">
          <a:xfrm flipV="1">
            <a:off x="7056438" y="2979738"/>
            <a:ext cx="0" cy="2174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5165725" y="3821113"/>
            <a:ext cx="865188" cy="3413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2" name="Rectangle 36"/>
          <p:cNvSpPr>
            <a:spLocks noChangeArrowheads="1"/>
          </p:cNvSpPr>
          <p:nvPr/>
        </p:nvSpPr>
        <p:spPr bwMode="auto">
          <a:xfrm>
            <a:off x="5165725" y="4138613"/>
            <a:ext cx="865188" cy="369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i="1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800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5165725" y="3598863"/>
            <a:ext cx="865188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6877" name="矩形 34"/>
          <p:cNvSpPr>
            <a:spLocks noChangeArrowheads="1"/>
          </p:cNvSpPr>
          <p:nvPr/>
        </p:nvSpPr>
        <p:spPr bwMode="auto">
          <a:xfrm>
            <a:off x="30163" y="4143375"/>
            <a:ext cx="1327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dirty="0">
                <a:solidFill>
                  <a:srgbClr val="073E87">
                    <a:lumMod val="60000"/>
                    <a:lumOff val="40000"/>
                  </a:srgbClr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dirty="0">
              <a:solidFill>
                <a:srgbClr val="073E87">
                  <a:lumMod val="60000"/>
                  <a:lumOff val="40000"/>
                </a:srgbClr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879" name="组合 80"/>
          <p:cNvGrpSpPr>
            <a:grpSpLocks/>
          </p:cNvGrpSpPr>
          <p:nvPr/>
        </p:nvGrpSpPr>
        <p:grpSpPr bwMode="auto"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4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T→ · FMT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5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→T ·</a:t>
              </a:r>
            </a:p>
          </p:txBody>
        </p:sp>
        <p:sp>
          <p:nvSpPr>
            <p:cNvPr id="36884" name="Line 4"/>
            <p:cNvSpPr>
              <a:spLocks noChangeShapeType="1"/>
            </p:cNvSpPr>
            <p:nvPr/>
          </p:nvSpPr>
          <p:spPr bwMode="auto">
            <a:xfrm flipV="1">
              <a:off x="5016500" y="1557339"/>
              <a:ext cx="503238" cy="142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67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 · 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M→ ·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6886" name="Line 6"/>
            <p:cNvSpPr>
              <a:spLocks noChangeShapeType="1"/>
            </p:cNvSpPr>
            <p:nvPr/>
          </p:nvSpPr>
          <p:spPr bwMode="auto">
            <a:xfrm>
              <a:off x="5011738" y="2370138"/>
              <a:ext cx="483093" cy="115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87" name="Text Box 7"/>
            <p:cNvSpPr txBox="1">
              <a:spLocks noChangeArrowheads="1"/>
            </p:cNvSpPr>
            <p:nvPr/>
          </p:nvSpPr>
          <p:spPr bwMode="auto">
            <a:xfrm>
              <a:off x="5084795" y="1987180"/>
              <a:ext cx="503237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0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</a:t>
              </a:r>
              <a:r>
                <a:rPr kumimoji="1"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·</a:t>
              </a:r>
              <a:r>
                <a:rPr kumimoji="1"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36889" name="Line 9"/>
            <p:cNvSpPr>
              <a:spLocks noChangeShapeType="1"/>
            </p:cNvSpPr>
            <p:nvPr/>
          </p:nvSpPr>
          <p:spPr bwMode="auto">
            <a:xfrm>
              <a:off x="4367213" y="2651125"/>
              <a:ext cx="0" cy="922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72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 · 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N→ ·  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*/$</a:t>
              </a:r>
            </a:p>
          </p:txBody>
        </p:sp>
        <p:sp>
          <p:nvSpPr>
            <p:cNvPr id="173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6892" name="Text Box 13"/>
            <p:cNvSpPr txBox="1">
              <a:spLocks noChangeArrowheads="1"/>
            </p:cNvSpPr>
            <p:nvPr/>
          </p:nvSpPr>
          <p:spPr bwMode="auto">
            <a:xfrm>
              <a:off x="7318377" y="52269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893" name="Text Box 15"/>
            <p:cNvSpPr txBox="1">
              <a:spLocks noChangeArrowheads="1"/>
            </p:cNvSpPr>
            <p:nvPr/>
          </p:nvSpPr>
          <p:spPr bwMode="auto">
            <a:xfrm>
              <a:off x="3792538" y="2852739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6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 · 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    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</a:p>
          </p:txBody>
        </p:sp>
        <p:sp>
          <p:nvSpPr>
            <p:cNvPr id="36895" name="Line 18"/>
            <p:cNvSpPr>
              <a:spLocks noChangeShapeType="1"/>
            </p:cNvSpPr>
            <p:nvPr/>
          </p:nvSpPr>
          <p:spPr bwMode="auto">
            <a:xfrm flipV="1">
              <a:off x="7201264" y="2060600"/>
              <a:ext cx="431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96" name="Text Box 19"/>
            <p:cNvSpPr txBox="1">
              <a:spLocks noChangeArrowheads="1"/>
            </p:cNvSpPr>
            <p:nvPr/>
          </p:nvSpPr>
          <p:spPr bwMode="auto">
            <a:xfrm>
              <a:off x="7162037" y="1628799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79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 · *FNT</a:t>
              </a:r>
              <a:r>
                <a:rPr lang="en-US" altLang="zh-CN" sz="1400" b="0" i="1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i="1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F→ · </a:t>
              </a: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6898" name="Line 21"/>
            <p:cNvSpPr>
              <a:spLocks noChangeShapeType="1"/>
            </p:cNvSpPr>
            <p:nvPr/>
          </p:nvSpPr>
          <p:spPr bwMode="auto">
            <a:xfrm rot="10800000">
              <a:off x="4943476" y="3789041"/>
              <a:ext cx="2447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899" name="Text Box 22"/>
            <p:cNvSpPr txBox="1">
              <a:spLocks noChangeArrowheads="1"/>
            </p:cNvSpPr>
            <p:nvPr/>
          </p:nvSpPr>
          <p:spPr bwMode="auto">
            <a:xfrm>
              <a:off x="6888163" y="3356993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→*FNT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1" name="Line 24"/>
            <p:cNvSpPr>
              <a:spLocks noChangeShapeType="1"/>
            </p:cNvSpPr>
            <p:nvPr/>
          </p:nvSpPr>
          <p:spPr bwMode="auto">
            <a:xfrm rot="10800000">
              <a:off x="6743700" y="4293095"/>
              <a:ext cx="64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2" name="Text Box 25"/>
            <p:cNvSpPr txBox="1">
              <a:spLocks noChangeArrowheads="1"/>
            </p:cNvSpPr>
            <p:nvPr/>
          </p:nvSpPr>
          <p:spPr bwMode="auto">
            <a:xfrm>
              <a:off x="6888163" y="3861048"/>
              <a:ext cx="3810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5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: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T→FMT</a:t>
              </a:r>
              <a:r>
                <a:rPr lang="en-US" altLang="zh-CN" sz="1400" b="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·</a:t>
              </a:r>
              <a:r>
                <a:rPr kumimoji="1" lang="zh-CN" altLang="en-US" sz="14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$</a:t>
              </a:r>
              <a:endParaRPr kumimoji="1"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4" name="Line 27"/>
            <p:cNvSpPr>
              <a:spLocks noChangeShapeType="1"/>
            </p:cNvSpPr>
            <p:nvPr/>
          </p:nvSpPr>
          <p:spPr bwMode="auto">
            <a:xfrm>
              <a:off x="8112125" y="2769666"/>
              <a:ext cx="0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5" name="Line 29"/>
            <p:cNvSpPr>
              <a:spLocks noChangeShapeType="1"/>
            </p:cNvSpPr>
            <p:nvPr/>
          </p:nvSpPr>
          <p:spPr bwMode="auto">
            <a:xfrm flipH="1">
              <a:off x="6815138" y="2543218"/>
              <a:ext cx="792493" cy="723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06" name="Text Box 30"/>
            <p:cNvSpPr txBox="1">
              <a:spLocks noChangeArrowheads="1"/>
            </p:cNvSpPr>
            <p:nvPr/>
          </p:nvSpPr>
          <p:spPr bwMode="auto">
            <a:xfrm>
              <a:off x="6959599" y="299720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907" name="Text Box 32"/>
            <p:cNvSpPr txBox="1">
              <a:spLocks noChangeArrowheads="1"/>
            </p:cNvSpPr>
            <p:nvPr/>
          </p:nvSpPr>
          <p:spPr bwMode="auto">
            <a:xfrm>
              <a:off x="8328024" y="4292500"/>
              <a:ext cx="4572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08" name="Text Box 35"/>
            <p:cNvSpPr txBox="1">
              <a:spLocks noChangeArrowheads="1"/>
            </p:cNvSpPr>
            <p:nvPr/>
          </p:nvSpPr>
          <p:spPr bwMode="auto">
            <a:xfrm>
              <a:off x="5087939" y="1066801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6909" name="Line 38"/>
            <p:cNvSpPr>
              <a:spLocks noChangeShapeType="1"/>
            </p:cNvSpPr>
            <p:nvPr/>
          </p:nvSpPr>
          <p:spPr bwMode="auto">
            <a:xfrm>
              <a:off x="6743700" y="4869482"/>
              <a:ext cx="1079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10" name="Text Box 39"/>
            <p:cNvSpPr txBox="1">
              <a:spLocks noChangeArrowheads="1"/>
            </p:cNvSpPr>
            <p:nvPr/>
          </p:nvSpPr>
          <p:spPr bwMode="auto">
            <a:xfrm>
              <a:off x="6888163" y="450912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6911" name="Text Box 43"/>
            <p:cNvSpPr txBox="1">
              <a:spLocks noChangeArrowheads="1"/>
            </p:cNvSpPr>
            <p:nvPr/>
          </p:nvSpPr>
          <p:spPr bwMode="auto">
            <a:xfrm>
              <a:off x="8183563" y="2842690"/>
              <a:ext cx="533400" cy="410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12" name="Line 27"/>
            <p:cNvSpPr>
              <a:spLocks noChangeShapeType="1"/>
            </p:cNvSpPr>
            <p:nvPr/>
          </p:nvSpPr>
          <p:spPr bwMode="auto">
            <a:xfrm flipH="1">
              <a:off x="7059587" y="5661000"/>
              <a:ext cx="765203" cy="22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6913" name="Line 27"/>
            <p:cNvSpPr>
              <a:spLocks noChangeShapeType="1"/>
            </p:cNvSpPr>
            <p:nvPr/>
          </p:nvSpPr>
          <p:spPr bwMode="auto">
            <a:xfrm flipH="1" flipV="1">
              <a:off x="8183563" y="4365103"/>
              <a:ext cx="0" cy="3845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81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107B1D9-D643-43C2-8CA3-C009C5A29185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08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2565400"/>
            <a:ext cx="8915400" cy="2649538"/>
          </a:xfrm>
        </p:spPr>
        <p:txBody>
          <a:bodyPr/>
          <a:lstStyle/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1)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2;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</a:rPr>
              <a:t>1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 	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2) </a:t>
            </a:r>
            <a:r>
              <a:rPr lang="en-US" altLang="zh-CN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dirty="0">
                <a:solidFill>
                  <a:schemeClr val="tx1"/>
                </a:solidFill>
              </a:rPr>
              <a:t>→*</a:t>
            </a:r>
            <a:r>
              <a:rPr lang="zh-CN" altLang="en-US" sz="2000" b="1" i="1" dirty="0">
                <a:solidFill>
                  <a:schemeClr val="tx1"/>
                </a:solidFill>
              </a:rPr>
              <a:t>F </a:t>
            </a: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zh-CN" altLang="en-US" sz="2000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3]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syn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</a:rPr>
              <a:t>syn</a:t>
            </a:r>
            <a:r>
              <a:rPr lang="en-US" altLang="zh-CN" sz="2000" b="1" dirty="0">
                <a:solidFill>
                  <a:srgbClr val="2D83F4"/>
                </a:solidFill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</a:rPr>
              <a:t> top = top-</a:t>
            </a:r>
            <a:r>
              <a:rPr lang="en-US" altLang="zh-CN" sz="2000" b="1" dirty="0">
                <a:solidFill>
                  <a:srgbClr val="2D83F4"/>
                </a:solidFill>
              </a:rPr>
              <a:t>3;}</a:t>
            </a:r>
          </a:p>
          <a:p>
            <a:pPr lvl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chemeClr val="tx1"/>
                </a:solidFill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→ 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l-GR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top-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2]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 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΄inh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×</a:t>
            </a:r>
            <a:r>
              <a:rPr lang="en-US" altLang="zh-CN" sz="2000" b="1" i="1" dirty="0">
                <a:solidFill>
                  <a:srgbClr val="2D83F4"/>
                </a:solidFill>
                <a:sym typeface="Times New Roman" panose="02020603050405020304" pitchFamily="18" charset="0"/>
              </a:rPr>
              <a:t>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  <a:sym typeface="Times New Roman" panose="02020603050405020304" pitchFamily="18" charset="0"/>
              </a:rPr>
              <a:t>}</a:t>
            </a:r>
          </a:p>
          <a:p>
            <a:pPr lvl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3) </a:t>
            </a:r>
            <a:r>
              <a:rPr lang="zh-CN" altLang="en-US" sz="2000" b="1" i="1" dirty="0">
                <a:solidFill>
                  <a:schemeClr val="tx1"/>
                </a:solidFill>
              </a:rPr>
              <a:t>T</a:t>
            </a:r>
            <a:r>
              <a:rPr lang="en-US" altLang="zh-CN" sz="2000" i="1" dirty="0">
                <a:solidFill>
                  <a:schemeClr val="tx1"/>
                </a:solidFill>
                <a:ea typeface="楷体" panose="02010609060101010101" pitchFamily="49" charset="-122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ε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.syn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T</a:t>
            </a:r>
            <a:r>
              <a:rPr lang="en-US" altLang="zh-CN" sz="2000" i="1" dirty="0" err="1">
                <a:solidFill>
                  <a:srgbClr val="2D83F4"/>
                </a:solidFill>
                <a:ea typeface="楷体" panose="02010609060101010101" pitchFamily="49" charset="-122"/>
              </a:rPr>
              <a:t>′</a:t>
            </a:r>
            <a:r>
              <a:rPr lang="en-US" altLang="zh-CN" sz="2000" b="1" i="1" dirty="0" err="1">
                <a:solidFill>
                  <a:srgbClr val="2D83F4"/>
                </a:solidFill>
                <a:sym typeface="Times New Roman" panose="02020603050405020304" pitchFamily="18" charset="0"/>
              </a:rPr>
              <a:t>inh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 top = top+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1;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</a:p>
          <a:p>
            <a:pPr marL="457200" indent="-457200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000" b="1" dirty="0">
                <a:solidFill>
                  <a:schemeClr val="tx1"/>
                </a:solidFill>
                <a:sym typeface="Times New Roman" panose="02020603050405020304" pitchFamily="18" charset="0"/>
              </a:rPr>
              <a:t>4) </a:t>
            </a:r>
            <a:r>
              <a:rPr lang="en-US" altLang="zh-CN" sz="2000" b="1" i="1" dirty="0">
                <a:solidFill>
                  <a:schemeClr val="tx1"/>
                </a:solidFill>
                <a:sym typeface="Times New Roman" panose="02020603050405020304" pitchFamily="18" charset="0"/>
              </a:rPr>
              <a:t>F</a:t>
            </a:r>
            <a:r>
              <a:rPr lang="zh-CN" altLang="en-US" sz="2000" b="1" i="1" dirty="0">
                <a:solidFill>
                  <a:schemeClr val="tx1"/>
                </a:solidFill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sym typeface="Arial" panose="020B0604020202020204" pitchFamily="34" charset="0"/>
              </a:rPr>
              <a:t>→</a:t>
            </a:r>
            <a:r>
              <a:rPr lang="en-US" altLang="zh-CN" sz="2000" b="1" dirty="0">
                <a:solidFill>
                  <a:schemeClr val="tx1"/>
                </a:solidFill>
                <a:sym typeface="Arial" panose="020B0604020202020204" pitchFamily="34" charset="0"/>
              </a:rPr>
              <a:t>digit </a:t>
            </a:r>
            <a:r>
              <a:rPr lang="en-US" altLang="zh-CN" sz="2000" b="1" dirty="0">
                <a:solidFill>
                  <a:srgbClr val="2D83F4"/>
                </a:solidFill>
                <a:sym typeface="Arial" panose="020B0604020202020204" pitchFamily="34" charset="0"/>
              </a:rPr>
              <a:t>{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 err="1">
                <a:solidFill>
                  <a:srgbClr val="2D83F4"/>
                </a:solidFill>
                <a:ea typeface="楷体_GB2312"/>
                <a:cs typeface="楷体_GB2312"/>
              </a:rPr>
              <a:t>val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  <a:sym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= stack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[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top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]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楷体_GB2312"/>
              </a:rPr>
              <a:t>.</a:t>
            </a:r>
            <a:r>
              <a:rPr lang="en-US" altLang="zh-CN" sz="2000" b="1" i="1" dirty="0">
                <a:solidFill>
                  <a:srgbClr val="2D83F4"/>
                </a:solidFill>
                <a:sym typeface="Arial" panose="020B0604020202020204" pitchFamily="34" charset="0"/>
              </a:rPr>
              <a:t> </a:t>
            </a:r>
            <a:r>
              <a:rPr lang="en-US" altLang="zh-CN" sz="2000" b="1" i="1" dirty="0" err="1">
                <a:solidFill>
                  <a:srgbClr val="2D83F4"/>
                </a:solidFill>
                <a:sym typeface="Arial" panose="020B0604020202020204" pitchFamily="34" charset="0"/>
              </a:rPr>
              <a:t>lexval</a:t>
            </a:r>
            <a:r>
              <a:rPr lang="en-US" altLang="zh-CN" sz="2000" b="1" dirty="0">
                <a:solidFill>
                  <a:srgbClr val="2D83F4"/>
                </a:solidFill>
                <a:ea typeface="楷体_GB2312"/>
                <a:cs typeface="楷体_GB2312"/>
              </a:rPr>
              <a:t>;</a:t>
            </a:r>
            <a:r>
              <a:rPr lang="en-US" altLang="zh-CN" sz="2000" b="1" dirty="0">
                <a:solidFill>
                  <a:srgbClr val="2D83F4"/>
                </a:solidFill>
              </a:rPr>
              <a:t>}</a:t>
            </a:r>
            <a:endParaRPr lang="zh-CN" altLang="en-US" sz="2000" b="1" dirty="0">
              <a:solidFill>
                <a:srgbClr val="2D83F4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12750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将语义动作改写为</a:t>
            </a:r>
            <a:b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</a:b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可执行的栈操作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2" cy="2452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73E87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1800" dirty="0">
                <a:solidFill>
                  <a:srgbClr val="008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eaLnBrk="1" hangingPunct="1"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→*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l-GR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</a:t>
            </a:r>
            <a:r>
              <a:rPr lang="en-US" altLang="zh-CN" sz="1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l-GR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lang="en-US" altLang="zh-CN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1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042049B-53A7-4DEF-A306-FA621BA984F1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067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631825"/>
            <a:ext cx="8715375" cy="3225800"/>
          </a:xfrm>
        </p:spPr>
        <p:txBody>
          <a:bodyPr/>
          <a:lstStyle/>
          <a:p>
            <a:pPr marL="0" indent="0">
              <a:lnSpc>
                <a:spcPts val="27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给定一个以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文法为基础的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属性定义，可以修改这个文法，并在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语法分析过程中计算这个新文法之上的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SDD</a:t>
            </a: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首先构造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SDT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，在各个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非终结符之前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放置语义动作来计算它的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继承属性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并在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产生式后端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放置语义动作计算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综合属性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对每个内嵌的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语义动作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，向文法中引入一个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标记非终结符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来替换它。每个这样的位置都有一个不同的标记，并且对于任意一个标记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都有一个产生式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  <a:sym typeface="Arial" charset="0"/>
              </a:rPr>
              <a:t>ε</a:t>
            </a:r>
            <a:endParaRPr lang="en-US" altLang="zh-CN" sz="2000" b="1" i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marL="273044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如果标记非终结符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在某个产生式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{a}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中替换了语义动作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，对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进行修改得到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，并且将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关联到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→</a:t>
            </a:r>
            <a:r>
              <a:rPr lang="el-GR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上。动作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a'</a:t>
            </a: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(a)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将动作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需要的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  <a:sym typeface="Arial" charset="0"/>
              </a:rPr>
              <a:t>α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中符号的任何属性作为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的继承属性进行复制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576248" lvl="1" indent="-273044">
              <a:lnSpc>
                <a:spcPts val="27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(b)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按照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中的方法计算各个属性，但是将计算得到的这些属性作为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的综合属性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4096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A8790B7-FC50-4B50-8915-BB66A9E78BCA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745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7782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50B370A-2D43-4ABD-85E1-20CEEB2CC6E9}" type="slidenum">
              <a:rPr lang="zh-CN" altLang="en-US" sz="14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4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92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16223</TotalTime>
  <Words>7882</Words>
  <Application>Microsoft Office PowerPoint</Application>
  <PresentationFormat>全屏显示(16:9)</PresentationFormat>
  <Paragraphs>1108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华文楷体</vt:lpstr>
      <vt:lpstr>楷体</vt:lpstr>
      <vt:lpstr>楷体_GB2312</vt:lpstr>
      <vt:lpstr>SimSun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自定义设计方案</vt:lpstr>
      <vt:lpstr>2_波形</vt:lpstr>
      <vt:lpstr>PowerPoint 演示文稿</vt:lpstr>
      <vt:lpstr>PowerPoint 演示文稿</vt:lpstr>
      <vt:lpstr>例1：</vt:lpstr>
      <vt:lpstr>内容回顾2</vt:lpstr>
      <vt:lpstr>内容回顾3</vt:lpstr>
      <vt:lpstr>将S-SDD转换为SDT</vt:lpstr>
      <vt:lpstr>S-属性定义的SDT 实现</vt:lpstr>
      <vt:lpstr>例：在自底向上语法分析栈中实现桌面计算器</vt:lpstr>
      <vt:lpstr>例</vt:lpstr>
      <vt:lpstr>例</vt:lpstr>
      <vt:lpstr>例</vt:lpstr>
      <vt:lpstr>将L-SDD转换为SDT</vt:lpstr>
      <vt:lpstr>例</vt:lpstr>
      <vt:lpstr>L-属性定义的SDT 实现</vt:lpstr>
      <vt:lpstr>6. 在非递归的预测分析过程中进行翻译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分析栈中的每一个记录都对应着一段执行代码</vt:lpstr>
      <vt:lpstr>例</vt:lpstr>
      <vt:lpstr>例</vt:lpstr>
      <vt:lpstr>例</vt:lpstr>
      <vt:lpstr>例</vt:lpstr>
      <vt:lpstr>7.在递归的预测分析过程中进行翻译</vt:lpstr>
      <vt:lpstr>在递归的预测分析过程中进行翻译</vt:lpstr>
      <vt:lpstr>在递归的预测分析过程中进行翻译</vt:lpstr>
      <vt:lpstr>在递归的预测分析过程中进行翻译</vt:lpstr>
      <vt:lpstr>算法</vt:lpstr>
      <vt:lpstr>算法（续）</vt:lpstr>
      <vt:lpstr>8. L-属性定义的自底向上翻译 </vt:lpstr>
      <vt:lpstr>例</vt:lpstr>
      <vt:lpstr>例</vt:lpstr>
      <vt:lpstr>例</vt:lpstr>
      <vt:lpstr>例</vt:lpstr>
      <vt:lpstr>例</vt:lpstr>
      <vt:lpstr>例</vt:lpstr>
      <vt:lpstr>将语义动作改写为 可执行的栈操作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</dc:title>
  <dc:creator>chenyin</dc:creator>
  <cp:lastModifiedBy>妙根 凌</cp:lastModifiedBy>
  <cp:revision>1099</cp:revision>
  <cp:lastPrinted>2017-07-25T08:07:27Z</cp:lastPrinted>
  <dcterms:modified xsi:type="dcterms:W3CDTF">2025-12-15T03:26:01Z</dcterms:modified>
</cp:coreProperties>
</file>