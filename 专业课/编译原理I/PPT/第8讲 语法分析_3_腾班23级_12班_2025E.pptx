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7640" r:id="rId2"/>
    <p:sldMasterId id="2147487643" r:id="rId3"/>
    <p:sldMasterId id="2147488877" r:id="rId4"/>
    <p:sldMasterId id="2147488975" r:id="rId5"/>
    <p:sldMasterId id="2147489006" r:id="rId6"/>
    <p:sldMasterId id="2147489266" r:id="rId7"/>
  </p:sldMasterIdLst>
  <p:notesMasterIdLst>
    <p:notesMasterId r:id="rId81"/>
  </p:notesMasterIdLst>
  <p:handoutMasterIdLst>
    <p:handoutMasterId r:id="rId82"/>
  </p:handoutMasterIdLst>
  <p:sldIdLst>
    <p:sldId id="1217" r:id="rId8"/>
    <p:sldId id="1220" r:id="rId9"/>
    <p:sldId id="1232" r:id="rId10"/>
    <p:sldId id="1113" r:id="rId11"/>
    <p:sldId id="1233" r:id="rId12"/>
    <p:sldId id="1234" r:id="rId13"/>
    <p:sldId id="1200" r:id="rId14"/>
    <p:sldId id="1201" r:id="rId15"/>
    <p:sldId id="1202" r:id="rId16"/>
    <p:sldId id="1203" r:id="rId17"/>
    <p:sldId id="1204" r:id="rId18"/>
    <p:sldId id="1205" r:id="rId19"/>
    <p:sldId id="1206" r:id="rId20"/>
    <p:sldId id="1207" r:id="rId21"/>
    <p:sldId id="1208" r:id="rId22"/>
    <p:sldId id="1209" r:id="rId23"/>
    <p:sldId id="1210" r:id="rId24"/>
    <p:sldId id="1211" r:id="rId25"/>
    <p:sldId id="1212" r:id="rId26"/>
    <p:sldId id="1213" r:id="rId27"/>
    <p:sldId id="1214" r:id="rId28"/>
    <p:sldId id="1215" r:id="rId29"/>
    <p:sldId id="1216" r:id="rId30"/>
    <p:sldId id="1231" r:id="rId31"/>
    <p:sldId id="1197" r:id="rId32"/>
    <p:sldId id="1104" r:id="rId33"/>
    <p:sldId id="1143" r:id="rId34"/>
    <p:sldId id="1144" r:id="rId35"/>
    <p:sldId id="1145" r:id="rId36"/>
    <p:sldId id="1146" r:id="rId37"/>
    <p:sldId id="1147" r:id="rId38"/>
    <p:sldId id="1148" r:id="rId39"/>
    <p:sldId id="1149" r:id="rId40"/>
    <p:sldId id="1150" r:id="rId41"/>
    <p:sldId id="1168" r:id="rId42"/>
    <p:sldId id="1221" r:id="rId43"/>
    <p:sldId id="1175" r:id="rId44"/>
    <p:sldId id="1176" r:id="rId45"/>
    <p:sldId id="1153" r:id="rId46"/>
    <p:sldId id="1154" r:id="rId47"/>
    <p:sldId id="1155" r:id="rId48"/>
    <p:sldId id="1156" r:id="rId49"/>
    <p:sldId id="1157" r:id="rId50"/>
    <p:sldId id="1158" r:id="rId51"/>
    <p:sldId id="1159" r:id="rId52"/>
    <p:sldId id="1160" r:id="rId53"/>
    <p:sldId id="1161" r:id="rId54"/>
    <p:sldId id="1162" r:id="rId55"/>
    <p:sldId id="1163" r:id="rId56"/>
    <p:sldId id="1164" r:id="rId57"/>
    <p:sldId id="1165" r:id="rId58"/>
    <p:sldId id="1166" r:id="rId59"/>
    <p:sldId id="1179" r:id="rId60"/>
    <p:sldId id="1180" r:id="rId61"/>
    <p:sldId id="1181" r:id="rId62"/>
    <p:sldId id="1182" r:id="rId63"/>
    <p:sldId id="1222" r:id="rId64"/>
    <p:sldId id="1223" r:id="rId65"/>
    <p:sldId id="1224" r:id="rId66"/>
    <p:sldId id="1225" r:id="rId67"/>
    <p:sldId id="1226" r:id="rId68"/>
    <p:sldId id="1227" r:id="rId69"/>
    <p:sldId id="1228" r:id="rId70"/>
    <p:sldId id="1229" r:id="rId71"/>
    <p:sldId id="1230" r:id="rId72"/>
    <p:sldId id="1192" r:id="rId73"/>
    <p:sldId id="1193" r:id="rId74"/>
    <p:sldId id="1194" r:id="rId75"/>
    <p:sldId id="1103" r:id="rId76"/>
    <p:sldId id="1172" r:id="rId77"/>
    <p:sldId id="1173" r:id="rId78"/>
    <p:sldId id="1174" r:id="rId79"/>
    <p:sldId id="1219" r:id="rId80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FF"/>
    <a:srgbClr val="FF00FF"/>
    <a:srgbClr val="008000"/>
    <a:srgbClr val="FFCCCC"/>
    <a:srgbClr val="FF6600"/>
    <a:srgbClr val="00A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57001" autoAdjust="0"/>
  </p:normalViewPr>
  <p:slideViewPr>
    <p:cSldViewPr>
      <p:cViewPr varScale="1">
        <p:scale>
          <a:sx n="97" d="100"/>
          <a:sy n="97" d="100"/>
        </p:scale>
        <p:origin x="1974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2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viewProps" Target="viewProps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61" Type="http://schemas.openxmlformats.org/officeDocument/2006/relationships/slide" Target="slides/slide54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4244BE-7719-4984-B332-FB960A49B5A6}" type="datetimeFigureOut">
              <a:rPr lang="zh-CN" altLang="en-US"/>
              <a:pPr>
                <a:defRPr/>
              </a:pPr>
              <a:t>2025/10/23</a:t>
            </a:fld>
            <a:endParaRPr lang="en-US" altLang="zh-CN"/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2DAD7D-2D52-4BA1-9EA9-A9A805C981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81901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fld id="{3D2A7025-19E7-49A8-8112-15858E7315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70057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C7173F4-8972-4525-92C4-4B20B30A7ED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163933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0F6764-36B7-4958-9B8B-5DB463B6E10D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385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172FCD-D621-4AED-A110-152D3872120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583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2EA74A-87DE-434A-AFFF-FA33FA73A291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87776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1363" indent="-28416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14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986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5813" indent="-227013" defTabSz="9493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30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02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74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4613" indent="-227013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493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77E77C-D522-4D4D-A969-4132489CEFB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493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2550" y="752475"/>
            <a:ext cx="6602413" cy="3714750"/>
          </a:xfrm>
          <a:ln w="12700" cap="flat">
            <a:solidFill>
              <a:schemeClr val="tx1"/>
            </a:solidFill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078" tIns="48038" rIns="96078" bIns="48038"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013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556DD2-730B-446F-BD19-FBB2A6C3B32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8092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E4DCA57-83B1-48FD-95EC-0D9A2FE402DC}" type="slidenum">
              <a:rPr lang="zh-CN" altLang="en-US" smtClean="0">
                <a:solidFill>
                  <a:srgbClr val="000000"/>
                </a:solidFill>
              </a:rPr>
              <a:pPr/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729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E2ABDB-D2C0-42CD-A5CC-52BF1D93B6C7}" type="slidenum">
              <a:rPr lang="zh-CN" altLang="en-US" smtClean="0">
                <a:solidFill>
                  <a:srgbClr val="000000"/>
                </a:solidFill>
              </a:rPr>
              <a:pPr/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622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DD1265-13E9-4383-8EE8-27421BDA2854}" type="slidenum">
              <a:rPr lang="zh-CN" altLang="en-US" smtClean="0">
                <a:solidFill>
                  <a:srgbClr val="000000"/>
                </a:solidFill>
              </a:rPr>
              <a:pPr/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57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DB45F38-D5A1-46DC-BE83-45C69B1C3ABF}" type="slidenum">
              <a:rPr lang="zh-CN" altLang="en-US" smtClean="0">
                <a:solidFill>
                  <a:srgbClr val="000000"/>
                </a:solidFill>
              </a:rPr>
              <a:pPr/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9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571ACB6-009C-4B8E-B8EF-364BBC8A2725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43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A9921C-83E0-495E-82EB-9C82E7D8D39F}" type="slidenum">
              <a:rPr lang="zh-CN" altLang="en-US" smtClean="0">
                <a:solidFill>
                  <a:srgbClr val="000000"/>
                </a:solidFill>
              </a:rPr>
              <a:pPr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450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87F783F-705B-4DF9-B946-02B2B6B24900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989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6F7B1D-98F0-467C-A2FA-BB8D71C2CD49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412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2820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AC82AB-D7DA-482B-BD4D-5BE768C09109}" type="slidenum">
              <a:rPr lang="zh-CN" altLang="en-US" smtClean="0">
                <a:solidFill>
                  <a:srgbClr val="000000"/>
                </a:solidFill>
              </a:rPr>
              <a:pPr/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809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DD5CF3C-BD3A-4CDC-B82F-8008D307E1E0}" type="slidenum">
              <a:rPr lang="zh-CN" altLang="en-US" smtClean="0">
                <a:solidFill>
                  <a:srgbClr val="000000"/>
                </a:solidFill>
              </a:rPr>
              <a:pPr/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751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2C9D215-9062-47A6-83D1-A0BBF882656F}" type="slidenum">
              <a:rPr lang="zh-CN" altLang="en-US" smtClean="0">
                <a:solidFill>
                  <a:srgbClr val="000000"/>
                </a:solidFill>
              </a:rPr>
              <a:pPr/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790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F4C8B7-79AB-4728-974C-81CA0E580BE5}" type="slidenum">
              <a:rPr lang="zh-CN" altLang="en-US" smtClean="0">
                <a:solidFill>
                  <a:srgbClr val="000000"/>
                </a:solidFill>
              </a:rPr>
              <a:pPr/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584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135EA6-48F4-4864-9F0D-5F784DC83C3C}" type="slidenum">
              <a:rPr lang="zh-CN" altLang="en-US" smtClean="0">
                <a:solidFill>
                  <a:srgbClr val="000000"/>
                </a:solidFill>
              </a:rPr>
              <a:pPr/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01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7B39840-F8BA-413A-8F9F-2B6AF1C903B7}" type="slidenum">
              <a:rPr lang="zh-CN" altLang="en-US" smtClean="0">
                <a:solidFill>
                  <a:srgbClr val="000000"/>
                </a:solidFill>
              </a:rPr>
              <a:pPr/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423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55F75E-1D7A-4440-ADE9-8FA14276D1FE}" type="slidenum">
              <a:rPr lang="zh-CN" altLang="en-US" smtClean="0">
                <a:solidFill>
                  <a:srgbClr val="000000"/>
                </a:solidFill>
              </a:rPr>
              <a:pPr/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18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71847-79C7-44F5-92B4-C2B42FCD2148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6713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F5A5068-878C-457B-9BDE-28F92CF23065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25</a:t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83994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F0A8A1-D5A8-4D22-8AD1-788DCD9E0388}" type="slidenum">
              <a:rPr lang="zh-CN" altLang="en-US" sz="1300" smtClean="0">
                <a:solidFill>
                  <a:srgbClr val="000000"/>
                </a:solidFill>
                <a:ea typeface="楷体_GB2312"/>
                <a:cs typeface="楷体_GB2312"/>
              </a:rPr>
              <a:pPr>
                <a:spcBef>
                  <a:spcPct val="0"/>
                </a:spcBef>
              </a:pPr>
              <a:t>26</a:t>
            </a:fld>
            <a:endParaRPr lang="en-US" altLang="zh-CN" sz="130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44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CB666D1-15A9-42A0-A5B9-63DAC33C8D08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583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20C549-D3AD-4FFF-9EAA-97C4CDB8D100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58214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38FACA9-920F-4C1B-9FB6-956383E3FB30}" type="slidenum">
              <a:rPr lang="zh-CN" altLang="en-US" smtClean="0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11474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81063"/>
            <a:endParaRPr lang="zh-CN" altLang="en-US" dirty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A48D9C7-0ABF-4E42-83DB-1AF4293B4450}" type="slidenum">
              <a:rPr lang="zh-CN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704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AD1868F-2F24-4B01-89F2-BAB4F1C3196D}" type="slidenum">
              <a:rPr lang="zh-CN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53979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DD9F94F-1256-436F-BAD5-6DA93E9A6831}" type="slidenum">
              <a:rPr lang="zh-CN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96891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4802F55-2381-49D4-9B0C-28F3AE16208E}" type="slidenum">
              <a:rPr lang="zh-CN" altLang="en-US" smtClean="0">
                <a:solidFill>
                  <a:srgbClr val="000000"/>
                </a:solidFill>
              </a:rPr>
              <a:pPr/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0139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671008-4B2F-4003-85E3-A8D68FE8A6D6}" type="slidenum">
              <a:rPr lang="zh-CN" altLang="en-US" smtClean="0">
                <a:solidFill>
                  <a:srgbClr val="000000"/>
                </a:solidFill>
              </a:rPr>
              <a:pPr/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9293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5420A98-D7D2-4D43-8DB7-02F5687F69AD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pPr/>
              <a:t>35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6943631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C671008-4B2F-4003-85E3-A8D68FE8A6D6}" type="slidenum">
              <a:rPr lang="zh-CN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13902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F30E20E-F3CF-4D91-A8F8-BE7F2537E174}" type="slidenum">
              <a:rPr lang="zh-CN" altLang="en-US" smtClean="0">
                <a:solidFill>
                  <a:srgbClr val="000000"/>
                </a:solidFill>
              </a:rPr>
              <a:pPr/>
              <a:t>37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737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2A7025-19E7-49A8-8112-15858E73153D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8521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17CEA15-E09C-45A7-85F3-A3D5E5CAD718}" type="slidenum">
              <a:rPr lang="zh-CN" altLang="en-US" smtClean="0">
                <a:solidFill>
                  <a:srgbClr val="000000"/>
                </a:solidFill>
              </a:rPr>
              <a:pPr/>
              <a:t>39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94129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3994FF-13ED-4A28-BABF-D60EC81BF2FE}" type="slidenum">
              <a:rPr lang="zh-CN" altLang="en-US" smtClean="0">
                <a:solidFill>
                  <a:srgbClr val="000000"/>
                </a:solidFill>
              </a:rPr>
              <a:pPr/>
              <a:t>40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3124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7B5CCED-D589-45C6-AD95-30233D91DD7D}" type="slidenum">
              <a:rPr lang="zh-CN" altLang="en-US" smtClean="0">
                <a:solidFill>
                  <a:srgbClr val="000000"/>
                </a:solidFill>
              </a:rPr>
              <a:pPr/>
              <a:t>41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25492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4AF984-9395-42E7-B838-E3E4709A833A}" type="slidenum">
              <a:rPr lang="zh-CN" altLang="en-US" smtClean="0">
                <a:solidFill>
                  <a:srgbClr val="000000"/>
                </a:solidFill>
              </a:rPr>
              <a:pPr/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79300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691CBBD-D9C4-40C8-86C0-783A1F2EA613}" type="slidenum">
              <a:rPr lang="zh-CN" altLang="en-US" smtClean="0">
                <a:solidFill>
                  <a:srgbClr val="000000"/>
                </a:solidFill>
              </a:rPr>
              <a:pPr/>
              <a:t>43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5694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DA3FD0B-249E-448E-8AC8-B8C45AB93C55}" type="slidenum">
              <a:rPr lang="zh-CN" altLang="en-US" smtClean="0">
                <a:solidFill>
                  <a:srgbClr val="000000"/>
                </a:solidFill>
              </a:rPr>
              <a:pPr/>
              <a:t>44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4286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29C83F1-AE42-4DC5-AB01-801F4F1B0E1B}" type="slidenum">
              <a:rPr lang="zh-CN" altLang="en-US" smtClean="0">
                <a:solidFill>
                  <a:srgbClr val="000000"/>
                </a:solidFill>
              </a:rPr>
              <a:pPr/>
              <a:t>45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1289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99D27E6-6F7A-4A49-AF32-D9ED06758C5F}" type="slidenum">
              <a:rPr lang="zh-CN" altLang="en-US" smtClean="0">
                <a:solidFill>
                  <a:srgbClr val="000000"/>
                </a:solidFill>
              </a:rPr>
              <a:pPr/>
              <a:t>46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7843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408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40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5C857B-9EFF-4C75-89C9-2F94B5D4DA69}" type="slidenum">
              <a:rPr lang="zh-CN" altLang="en-US" smtClean="0">
                <a:solidFill>
                  <a:srgbClr val="000000"/>
                </a:solidFill>
              </a:rPr>
              <a:pPr/>
              <a:t>47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40429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6B0FE3F-6DD5-4FE6-A1CD-62259FAF96B2}" type="slidenum">
              <a:rPr lang="zh-CN" altLang="en-US" smtClean="0">
                <a:solidFill>
                  <a:srgbClr val="000000"/>
                </a:solidFill>
              </a:rPr>
              <a:pPr/>
              <a:t>48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82844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A51D8E3-4C1C-4061-8290-F959E6B852E2}" type="slidenum">
              <a:rPr lang="zh-CN" altLang="en-US" smtClean="0">
                <a:solidFill>
                  <a:srgbClr val="000000"/>
                </a:solidFill>
              </a:rPr>
              <a:pPr/>
              <a:t>49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86931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2FA47F3-AA0C-4997-B31D-F039CC119BD0}" type="slidenum">
              <a:rPr lang="zh-CN" altLang="en-US" smtClean="0">
                <a:solidFill>
                  <a:srgbClr val="000000"/>
                </a:solidFill>
              </a:rPr>
              <a:pPr/>
              <a:t>50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6235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BAEEA7-2CB2-48AC-AE69-2B17EDD0C4D4}" type="slidenum">
              <a:rPr lang="zh-CN" altLang="en-US" smtClean="0">
                <a:solidFill>
                  <a:srgbClr val="000000"/>
                </a:solidFill>
              </a:rPr>
              <a:pPr/>
              <a:t>51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580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8FFD85B-8E79-4814-91CC-9765242E4FC7}" type="slidenum">
              <a:rPr lang="zh-CN" altLang="en-US" smtClean="0">
                <a:solidFill>
                  <a:srgbClr val="000000"/>
                </a:solidFill>
              </a:rPr>
              <a:pPr/>
              <a:t>52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7251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3C1F23-4531-411B-BCD8-1E5B6017B527}" type="slidenum">
              <a:rPr lang="zh-CN" altLang="en-US" smtClean="0">
                <a:solidFill>
                  <a:srgbClr val="000000"/>
                </a:solidFill>
              </a:rPr>
              <a:pPr/>
              <a:t>53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9341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54FF3E1-72D7-4D32-9210-7D152DC71B5F}" type="slidenum">
              <a:rPr lang="zh-CN" altLang="en-US" smtClean="0">
                <a:solidFill>
                  <a:srgbClr val="000000"/>
                </a:solidFill>
              </a:rPr>
              <a:pPr/>
              <a:t>54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8304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E3DFBFF-1F1C-4D7A-B4E5-22E1A30BDA64}" type="slidenum">
              <a:rPr lang="zh-CN" altLang="en-US" smtClean="0">
                <a:solidFill>
                  <a:srgbClr val="000000"/>
                </a:solidFill>
              </a:rPr>
              <a:pPr/>
              <a:t>55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4919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1FCDA9-9A47-44FF-A388-B9ECF9872599}" type="slidenum">
              <a:rPr lang="zh-CN" altLang="en-US" smtClean="0">
                <a:solidFill>
                  <a:srgbClr val="000000"/>
                </a:solidFill>
              </a:rPr>
              <a:pPr/>
              <a:t>56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336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0241E6-CB0E-4168-99A6-CDC4FFCF4AC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54311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F53081-3938-4FED-975D-51AA8D12F1F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30448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642174-C854-44AF-81A7-D6079BDA0CC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99539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3256D4-D395-4D92-B511-637DF30F15E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9105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9DB61E-DEF7-4BC2-ABE4-BD530F6013B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2922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6C101-FF45-4B4A-A602-07D98D52D5B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2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4920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330F2E-B682-4991-A16B-9C80586686F0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99153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2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B9344F-C83E-49F3-BAFE-AB6B80E1242F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2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2978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0A45BD-208C-43C2-86DA-4EFB73FA858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5163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28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2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25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0A94848-8813-4A5F-A1F7-DE282EFC6515}" type="slidenum">
              <a:rPr lang="zh-CN" altLang="en-US" smtClean="0">
                <a:solidFill>
                  <a:srgbClr val="000000"/>
                </a:solidFill>
              </a:rPr>
              <a:pPr/>
              <a:t>66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1448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AAEA84-57FD-4581-934E-6587ED652451}" type="slidenum">
              <a:rPr lang="zh-CN" altLang="en-US" smtClean="0">
                <a:solidFill>
                  <a:srgbClr val="000000"/>
                </a:solidFill>
              </a:rPr>
              <a:pPr/>
              <a:t>67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298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F854E47-38D6-4087-ACD1-6F81C59A2DBD}" type="slidenum">
              <a:rPr lang="zh-CN" altLang="en-US" smtClean="0">
                <a:solidFill>
                  <a:srgbClr val="000000"/>
                </a:solidFill>
              </a:rPr>
              <a:pPr/>
              <a:t>68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79749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90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1D3883F-3F34-47CF-BE40-95FE4CBBB100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5080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67B2F45-E5A3-44F3-883D-6777BD9DBAA7}" type="slidenum">
              <a:rPr lang="zh-CN" altLang="en-US" smtClean="0">
                <a:solidFill>
                  <a:srgbClr val="000000"/>
                </a:solidFill>
              </a:rPr>
              <a:pPr/>
              <a:t>70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84005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638364-B7B1-49C9-BCE1-E2DEC669B21C}" type="slidenum">
              <a:rPr lang="zh-CN" altLang="en-US" smtClean="0">
                <a:solidFill>
                  <a:srgbClr val="000000"/>
                </a:solidFill>
              </a:rPr>
              <a:pPr/>
              <a:t>71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12817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6AF4C7F-1272-440E-A18D-98364E60FCCB}" type="slidenum">
              <a:rPr lang="zh-CN" altLang="en-US" smtClean="0">
                <a:solidFill>
                  <a:srgbClr val="000000"/>
                </a:solidFill>
              </a:rPr>
              <a:pPr/>
              <a:t>72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93275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FA77D7E-DF08-4867-8234-DE27391165D5}" type="slidenum">
              <a:rPr lang="zh-CN" altLang="en-US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971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897EC-0332-485E-8280-805ACDE573E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9106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2953B-9B53-4206-8F95-28E03D29486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997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029A7-204B-42F3-9275-C1BE2B30E0D5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168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FD506-746B-4296-84B9-CBAABA81443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387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5F86F-65F8-4905-AC6F-3E487B9D4A4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029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9E172-3297-41CF-A3E6-28B72C71F3B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225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96998-915D-4A41-80D7-645DA3D73BD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827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06A56-59FD-4177-AD0B-8700B991DD4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749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FCEA3-9742-46B4-912F-74908D6E73A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8772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D0401-812D-49E1-A56B-002EA2CA64A1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358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D097F-F8E5-44DC-9234-0798EE99C0D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7273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5" name="Freeform 14"/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18"/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22"/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8" name="Freeform 26"/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 useBgFill="1">
          <p:nvSpPr>
            <p:cNvPr id="9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A5306-EE58-4F94-9906-DB15E58D58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51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F1667-F4B5-42F4-8E93-EA2D9ABC23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1245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4304C69-4658-4151-B24B-42E7B1B377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66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24750" y="311150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380A895-D92C-4139-A28B-8F1293C1EF72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0374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9E1B0E0-CEA8-4438-831C-0F4C8B60F1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253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FE8B2EBA-0654-4264-B885-825637299A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962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970B9078-8BA7-48FB-A6E0-75A1BDBD55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010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85FA8B6-F97A-4BD9-81BF-2092464FAC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3154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B937FFA1-77DC-4D74-B26F-01D26D607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581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990FFD0-0BED-44F0-9B76-6C37317283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5208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ED155-BEFC-4BE3-A05E-CDF72256ED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39918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EB50BE5A-0ACB-4A46-8616-20217041D4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915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7625" y="195263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833EF3D-3E6E-4689-B217-5B356785B3D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059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FB3A95-5CBF-45EF-B35A-44DAECD8BAA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44" r:id="rId1"/>
    <p:sldLayoutId id="2147489245" r:id="rId2"/>
    <p:sldLayoutId id="2147489246" r:id="rId3"/>
    <p:sldLayoutId id="2147489247" r:id="rId4"/>
    <p:sldLayoutId id="2147489248" r:id="rId5"/>
    <p:sldLayoutId id="2147489249" r:id="rId6"/>
    <p:sldLayoutId id="2147489250" r:id="rId7"/>
    <p:sldLayoutId id="2147489251" r:id="rId8"/>
    <p:sldLayoutId id="2147489252" r:id="rId9"/>
    <p:sldLayoutId id="2147489253" r:id="rId10"/>
    <p:sldLayoutId id="214748925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C9AA9790-4FB8-44AD-9998-3790A91BC0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57" r:id="rId1"/>
    <p:sldLayoutId id="214748925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0C7E21AA-2C76-4845-8437-29CBCD7B0F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58" r:id="rId1"/>
    <p:sldLayoutId id="2147489259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C4AF7C1B-E660-4F79-9DB0-E3E885387E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60" r:id="rId1"/>
    <p:sldLayoutId id="214748926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F2607F91-C4FA-4FA3-89DF-D7E514A445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62" r:id="rId1"/>
    <p:sldLayoutId id="214748926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3AADCEED-38B0-40AC-BFF1-FA0B90C3E4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1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264" r:id="rId1"/>
    <p:sldLayoutId id="2147489265" r:id="rId2"/>
    <p:sldLayoutId id="214748925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63FD1D9A-9080-4B60-9BC9-C5C3FC7541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2597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267" r:id="rId1"/>
    <p:sldLayoutId id="2147489268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0"/>
            <a:ext cx="84074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788" y="174466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2" name="Rectangle 2"/>
          <p:cNvSpPr txBox="1">
            <a:spLocks noChangeArrowheads="1"/>
          </p:cNvSpPr>
          <p:nvPr/>
        </p:nvSpPr>
        <p:spPr bwMode="auto">
          <a:xfrm>
            <a:off x="5651500" y="2038350"/>
            <a:ext cx="3590925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5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南信大计软院</a:t>
            </a:r>
            <a:endParaRPr lang="en-US" altLang="zh-CN" sz="28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凌妙根</a:t>
            </a:r>
            <a:endParaRPr lang="en-US" altLang="zh-CN" sz="24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2025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0113" y="1008063"/>
            <a:ext cx="582930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语法分析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       自顶向下分析概述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9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D031B7-656D-43CC-9C9E-0765FE0F431E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000" dirty="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18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4" y="1347788"/>
            <a:ext cx="7849567" cy="3246437"/>
          </a:xfrm>
        </p:spPr>
        <p:txBody>
          <a:bodyPr/>
          <a:lstStyle/>
          <a:p>
            <a:pPr eaLnBrk="1" hangingPunct="1">
              <a:lnSpc>
                <a:spcPts val="32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串首终结符集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FIRST(α)</a:t>
            </a:r>
          </a:p>
          <a:p>
            <a:pPr marL="0" indent="0" eaLnBrk="1" hangingPunct="1">
              <a:lnSpc>
                <a:spcPts val="3200"/>
              </a:lnSpc>
              <a:buFontTx/>
              <a:buNone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可以从</a:t>
            </a:r>
            <a:r>
              <a:rPr lang="el-GR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推导出的所有</a:t>
            </a:r>
            <a:r>
              <a:rPr lang="zh-CN" altLang="en-US" sz="2500" b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串首终结符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构成的集合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FOLLOW(A) 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3200"/>
              </a:lnSpc>
              <a:buFontTx/>
              <a:buNone/>
              <a:defRPr/>
            </a:pP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句型中紧跟在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后边的终结符的集合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ts val="3200"/>
              </a:lnSpc>
              <a:buFontTx/>
              <a:buNone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选用该产生式进行推导时对应的输入符号的集合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buFontTx/>
              <a:buChar char="•"/>
              <a:defRPr/>
            </a:pPr>
            <a:endParaRPr lang="en-US" altLang="zh-CN" b="1" dirty="0"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7105DC-9BAA-4B67-8B0E-48582DF8A738}" type="slidenum">
              <a:rPr lang="zh-CN" altLang="en-US" sz="14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FF"/>
                </a:solidFill>
                <a:latin typeface="Candara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600" spc="300" dirty="0">
                <a:solidFill>
                  <a:sysClr val="windowText" lastClr="000000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20485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rgbClr val="C6E7FC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ysClr val="window" lastClr="FFFFFF">
                <a:alpha val="3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31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37637" cy="3009504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产生式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zh-CN" altLang="en-US" sz="2800" b="1" dirty="0">
                <a:solidFill>
                  <a:schemeClr val="tx1"/>
                </a:solidFill>
              </a:rPr>
              <a:t>的可选集</a:t>
            </a:r>
            <a:r>
              <a:rPr lang="en-US" altLang="zh-CN" sz="2800" b="1" i="1" dirty="0">
                <a:solidFill>
                  <a:schemeClr val="tx1"/>
                </a:solidFill>
              </a:rPr>
              <a:t>SELECT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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400" b="1" dirty="0">
                <a:solidFill>
                  <a:schemeClr val="tx1"/>
                </a:solidFill>
              </a:rPr>
              <a:t> 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)= </a:t>
            </a:r>
            <a:r>
              <a:rPr lang="zh-CN" altLang="en-US" sz="2400" i="1" dirty="0">
                <a:solidFill>
                  <a:schemeClr val="tx1"/>
                </a:solidFill>
                <a:ea typeface="楷体_GB2312"/>
                <a:cs typeface="楷体_GB2312"/>
              </a:rPr>
              <a:t>？</a:t>
            </a:r>
            <a:endParaRPr lang="en-US" altLang="zh-CN" sz="24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= ?</a:t>
            </a:r>
            <a:endParaRPr lang="en-US" altLang="zh-CN" sz="24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/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458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A71565-8274-4F03-A681-8A81270989C7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34D7EF-2E39-A106-6AF3-31D41710D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例：表达式文法各产生式的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</a:t>
            </a:r>
          </a:p>
        </p:txBody>
      </p:sp>
    </p:spTree>
    <p:extLst>
      <p:ext uri="{BB962C8B-B14F-4D97-AF65-F5344CB8AC3E}">
        <p14:creationId xmlns:p14="http://schemas.microsoft.com/office/powerpoint/2010/main" val="31623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例：表达式文法各产生式的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SELECT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4064000" y="1241425"/>
            <a:ext cx="2436813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E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'→ +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E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'→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T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'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' → *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T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' →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(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kumimoji="1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id</a:t>
            </a:r>
          </a:p>
        </p:txBody>
      </p:sp>
      <p:sp>
        <p:nvSpPr>
          <p:cNvPr id="731180" name="Text Box 44"/>
          <p:cNvSpPr txBox="1">
            <a:spLocks noChangeArrowheads="1"/>
          </p:cNvSpPr>
          <p:nvPr/>
        </p:nvSpPr>
        <p:spPr bwMode="auto">
          <a:xfrm>
            <a:off x="6143625" y="1230313"/>
            <a:ext cx="3457575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(1)=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{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id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(2)= {  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(3)= { 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(4)= {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id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(5)= {  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(6)= {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)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(7)= {  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SELECT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(8)= {  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 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642938" y="3873500"/>
            <a:ext cx="3214687" cy="428625"/>
          </a:xfrm>
          <a:prstGeom prst="wedgeRoundRectCallout">
            <a:avLst>
              <a:gd name="adj1" fmla="val -2851"/>
              <a:gd name="adj2" fmla="val -91964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表达式文法是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graphicFrame>
        <p:nvGraphicFramePr>
          <p:cNvPr id="10" name="Group 18"/>
          <p:cNvGraphicFramePr>
            <a:graphicFrameLocks noGrp="1"/>
          </p:cNvGraphicFramePr>
          <p:nvPr/>
        </p:nvGraphicFramePr>
        <p:xfrm>
          <a:off x="285750" y="1516063"/>
          <a:ext cx="3714751" cy="2071689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FIRST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(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FOLLOW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(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X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E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E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+  </a:t>
                      </a: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T</a:t>
                      </a:r>
                      <a:endParaRPr kumimoji="1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T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'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*  </a:t>
                      </a: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ε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F</a:t>
                      </a:r>
                      <a:endParaRPr kumimoji="1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   (   id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 +  )  $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71085" marR="171085" marT="34295" marB="3429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1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31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1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1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1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1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31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1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预测分析表</a:t>
            </a: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3203575" y="123825"/>
          <a:ext cx="3214687" cy="2568575"/>
        </p:xfrm>
        <a:graphic>
          <a:graphicData uri="http://schemas.openxmlformats.org/drawingml/2006/table">
            <a:tbl>
              <a:tblPr/>
              <a:tblGrid>
                <a:gridCol w="642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9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/>
                        <a:ea typeface="楷体_GB2312"/>
                        <a:cs typeface="楷体_GB231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产生式</a:t>
                      </a: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SELECT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  id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+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$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)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  id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*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4" marB="3430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1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+ ) $ 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1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(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id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309" marB="343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roup 18"/>
          <p:cNvGraphicFramePr>
            <a:graphicFrameLocks noGrp="1"/>
          </p:cNvGraphicFramePr>
          <p:nvPr/>
        </p:nvGraphicFramePr>
        <p:xfrm>
          <a:off x="571500" y="2786063"/>
          <a:ext cx="8001000" cy="2263777"/>
        </p:xfrm>
        <a:graphic>
          <a:graphicData uri="http://schemas.openxmlformats.org/drawingml/2006/table">
            <a:tbl>
              <a:tblPr/>
              <a:tblGrid>
                <a:gridCol w="1336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29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非终结符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→TE'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</a:t>
                      </a: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E'→+TE’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E'→ε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T→FT' 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T'→*FT’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T'→ε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F→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58" marR="183558" marT="34284" marB="3428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715963" y="1000125"/>
            <a:ext cx="6592341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递归的预测分析法（递归下降分析）</a:t>
            </a:r>
            <a:endParaRPr lang="en-US" altLang="zh-CN" sz="3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非递归的预测分析法</a:t>
            </a:r>
          </a:p>
        </p:txBody>
      </p:sp>
      <p:sp>
        <p:nvSpPr>
          <p:cNvPr id="532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文法的分析方法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0183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递归的预测分析法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642938"/>
            <a:ext cx="8135938" cy="3225800"/>
          </a:xfrm>
        </p:spPr>
        <p:txBody>
          <a:bodyPr/>
          <a:lstStyle/>
          <a:p>
            <a:pPr marL="273050"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递归的预测分析法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是指：在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递归下降分析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中，编写每个非终结符对应的过程时，根据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预测分析表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进行产生式的选择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04452" name="内容占位符 1"/>
          <p:cNvSpPr txBox="1">
            <a:spLocks/>
          </p:cNvSpPr>
          <p:nvPr/>
        </p:nvSpPr>
        <p:spPr bwMode="auto">
          <a:xfrm>
            <a:off x="2174875" y="1851025"/>
            <a:ext cx="4643438" cy="2592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void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) {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选择一个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产生式，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A →X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 …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for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= 1 to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) {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if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是一个非终结符号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调用过程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) ; </a:t>
            </a:r>
            <a:endParaRPr lang="en-US" altLang="zh-CN" b="1" i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else  if (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等于当前的输入符号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     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读入下一个输入符号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else /*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发生了一个错误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*/ 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}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}</a:t>
            </a:r>
          </a:p>
        </p:txBody>
      </p:sp>
    </p:spTree>
    <p:extLst>
      <p:ext uri="{BB962C8B-B14F-4D97-AF65-F5344CB8AC3E}">
        <p14:creationId xmlns:p14="http://schemas.microsoft.com/office/powerpoint/2010/main" val="1811297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51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4149" name="Rectangle 5"/>
          <p:cNvSpPr>
            <a:spLocks noChangeArrowheads="1"/>
          </p:cNvSpPr>
          <p:nvPr/>
        </p:nvSpPr>
        <p:spPr bwMode="auto">
          <a:xfrm>
            <a:off x="4500563" y="1203325"/>
            <a:ext cx="4357687" cy="28686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program DESCENT;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begin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PROGRAM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  <a:r>
              <a:rPr lang="en-US" altLang="zh-CN" sz="22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if</a:t>
            </a:r>
            <a:r>
              <a:rPr lang="en-US" altLang="zh-CN" sz="2200" b="1" dirty="0">
                <a:solidFill>
                  <a:srgbClr val="C6E7FC">
                    <a:lumMod val="50000"/>
                  </a:srgbClr>
                </a:solidFill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TOKEN≠’$’ </a:t>
            </a:r>
            <a:r>
              <a:rPr lang="en-US" altLang="zh-CN" sz="22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333997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74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1" grpId="0" animBg="1"/>
      <p:bldP spid="774149" grpId="0" animBg="1"/>
      <p:bldP spid="77414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6198" name="Rectangle 6"/>
          <p:cNvSpPr>
            <a:spLocks noChangeArrowheads="1"/>
          </p:cNvSpPr>
          <p:nvPr/>
        </p:nvSpPr>
        <p:spPr bwMode="auto">
          <a:xfrm>
            <a:off x="4356100" y="1058863"/>
            <a:ext cx="3930650" cy="4013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procedure PROGRAM(TOKEN);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begin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	  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if </a:t>
            </a:r>
            <a:r>
              <a:rPr lang="en-US" altLang="zh-CN" sz="14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TOKEN≠’program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’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DECLIST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400" b="1" dirty="0">
                <a:solidFill>
                  <a:srgbClr val="000000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5EAEFF"/>
                </a:solidFill>
                <a:latin typeface="Times New Roman" pitchFamily="18" charset="0"/>
                <a:ea typeface="楷体_GB2312"/>
                <a:cs typeface="楷体_GB2312"/>
              </a:rPr>
              <a:t>	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    if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TOKEN≠’:’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</a:t>
            </a:r>
            <a:r>
              <a:rPr lang="en-US" altLang="zh-CN" sz="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 </a:t>
            </a:r>
            <a:endParaRPr lang="en-US" altLang="zh-CN" sz="400" b="1" dirty="0">
              <a:solidFill>
                <a:prstClr val="black"/>
              </a:solidFill>
              <a:latin typeface="Times New Roman" pitchFamily="18" charset="0"/>
              <a:ea typeface="楷体_GB2312"/>
              <a:cs typeface="楷体_GB2312"/>
            </a:endParaRP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TYPE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5EAEFF"/>
                </a:solidFill>
                <a:latin typeface="Times New Roman" pitchFamily="18" charset="0"/>
                <a:ea typeface="楷体_GB2312"/>
                <a:cs typeface="楷体_GB2312"/>
              </a:rPr>
              <a:t>	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    if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TOKEN≠’;’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GETNEXT(TOKEN);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srgbClr val="CC0000"/>
                </a:solidFill>
                <a:latin typeface="Times New Roman" pitchFamily="18" charset="0"/>
                <a:ea typeface="楷体_GB2312"/>
                <a:cs typeface="楷体_GB2312"/>
              </a:rPr>
              <a:t>	     STLIST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(TOKEN);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 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   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if </a:t>
            </a:r>
            <a:r>
              <a:rPr lang="en-US" altLang="zh-CN" sz="14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TOKEN≠’end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’ </a:t>
            </a:r>
            <a:r>
              <a:rPr lang="en-US" altLang="zh-CN" sz="1400" b="1" dirty="0">
                <a:solidFill>
                  <a:srgbClr val="3333FF"/>
                </a:solidFill>
                <a:latin typeface="Times New Roman" pitchFamily="18" charset="0"/>
                <a:ea typeface="楷体_GB2312"/>
                <a:cs typeface="楷体_GB2312"/>
              </a:rPr>
              <a:t> then </a:t>
            </a: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ERROR;</a:t>
            </a:r>
          </a:p>
          <a:p>
            <a:pPr marL="533400" indent="-533400" eaLnBrk="1" hangingPunct="1">
              <a:lnSpc>
                <a:spcPts val="13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	end	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楷体_GB2312"/>
              </a:rPr>
              <a:t> 	</a:t>
            </a:r>
          </a:p>
        </p:txBody>
      </p:sp>
      <p:sp>
        <p:nvSpPr>
          <p:cNvPr id="6" name="Line 45"/>
          <p:cNvSpPr>
            <a:spLocks noChangeShapeType="1"/>
          </p:cNvSpPr>
          <p:nvPr/>
        </p:nvSpPr>
        <p:spPr bwMode="auto">
          <a:xfrm rot="10800000" flipV="1">
            <a:off x="2916238" y="5461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Line 45"/>
          <p:cNvSpPr>
            <a:spLocks noChangeShapeType="1"/>
          </p:cNvSpPr>
          <p:nvPr/>
        </p:nvSpPr>
        <p:spPr bwMode="auto">
          <a:xfrm rot="5400000" flipV="1">
            <a:off x="4856163" y="142875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Line 45"/>
          <p:cNvSpPr>
            <a:spLocks noChangeShapeType="1"/>
          </p:cNvSpPr>
          <p:nvPr/>
        </p:nvSpPr>
        <p:spPr bwMode="auto">
          <a:xfrm rot="10800000" flipV="1">
            <a:off x="3995738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Line 45"/>
          <p:cNvSpPr>
            <a:spLocks noChangeShapeType="1"/>
          </p:cNvSpPr>
          <p:nvPr/>
        </p:nvSpPr>
        <p:spPr bwMode="auto">
          <a:xfrm rot="10800000" flipV="1">
            <a:off x="4716463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1" name="Line 45"/>
          <p:cNvSpPr>
            <a:spLocks noChangeShapeType="1"/>
          </p:cNvSpPr>
          <p:nvPr/>
        </p:nvSpPr>
        <p:spPr bwMode="auto">
          <a:xfrm rot="10800000" flipV="1">
            <a:off x="5148263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" name="Line 45"/>
          <p:cNvSpPr>
            <a:spLocks noChangeShapeType="1"/>
          </p:cNvSpPr>
          <p:nvPr/>
        </p:nvSpPr>
        <p:spPr bwMode="auto">
          <a:xfrm rot="10800000" flipV="1">
            <a:off x="5724525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3" name="Line 45"/>
          <p:cNvSpPr>
            <a:spLocks noChangeShapeType="1"/>
          </p:cNvSpPr>
          <p:nvPr/>
        </p:nvSpPr>
        <p:spPr bwMode="auto">
          <a:xfrm rot="10800000" flipV="1">
            <a:off x="6300788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Line 45"/>
          <p:cNvSpPr>
            <a:spLocks noChangeShapeType="1"/>
          </p:cNvSpPr>
          <p:nvPr/>
        </p:nvSpPr>
        <p:spPr bwMode="auto">
          <a:xfrm rot="10800000" flipV="1">
            <a:off x="7092950" y="55562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rot="5400000" flipV="1">
            <a:off x="4851401" y="207645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Line 45"/>
          <p:cNvSpPr>
            <a:spLocks noChangeShapeType="1"/>
          </p:cNvSpPr>
          <p:nvPr/>
        </p:nvSpPr>
        <p:spPr bwMode="auto">
          <a:xfrm rot="5400000" flipV="1">
            <a:off x="4851401" y="2436812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7" name="Line 45"/>
          <p:cNvSpPr>
            <a:spLocks noChangeShapeType="1"/>
          </p:cNvSpPr>
          <p:nvPr/>
        </p:nvSpPr>
        <p:spPr bwMode="auto">
          <a:xfrm rot="5400000" flipV="1">
            <a:off x="4851401" y="3013075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8" name="Line 45"/>
          <p:cNvSpPr>
            <a:spLocks noChangeShapeType="1"/>
          </p:cNvSpPr>
          <p:nvPr/>
        </p:nvSpPr>
        <p:spPr bwMode="auto">
          <a:xfrm rot="5400000" flipV="1">
            <a:off x="4851401" y="3589337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9" name="Line 45"/>
          <p:cNvSpPr>
            <a:spLocks noChangeShapeType="1"/>
          </p:cNvSpPr>
          <p:nvPr/>
        </p:nvSpPr>
        <p:spPr bwMode="auto">
          <a:xfrm rot="5400000" flipV="1">
            <a:off x="4851401" y="41656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0" name="Line 45"/>
          <p:cNvSpPr>
            <a:spLocks noChangeShapeType="1"/>
          </p:cNvSpPr>
          <p:nvPr/>
        </p:nvSpPr>
        <p:spPr bwMode="auto">
          <a:xfrm rot="5400000" flipV="1">
            <a:off x="4851401" y="4597400"/>
            <a:ext cx="0" cy="269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8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8" grpId="0" animBg="1"/>
      <p:bldP spid="776198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777222" name="Rectangle 6"/>
          <p:cNvSpPr>
            <a:spLocks noChangeArrowheads="1"/>
          </p:cNvSpPr>
          <p:nvPr/>
        </p:nvSpPr>
        <p:spPr bwMode="auto">
          <a:xfrm>
            <a:off x="4140200" y="1922463"/>
            <a:ext cx="4437063" cy="2616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procedure DECLIST(TOKEN);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if 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TOKEN≠’id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GETNEXT(TOKEN);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DECLISTN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318263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22" grpId="0" animBg="1"/>
      <p:bldP spid="77722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 dirty="0">
                <a:solidFill>
                  <a:srgbClr val="2D83F4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 dirty="0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295910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78246" name="Rectangle 6"/>
          <p:cNvSpPr>
            <a:spLocks noChangeArrowheads="1"/>
          </p:cNvSpPr>
          <p:nvPr/>
        </p:nvSpPr>
        <p:spPr bwMode="auto">
          <a:xfrm>
            <a:off x="4356100" y="1058863"/>
            <a:ext cx="4573588" cy="39814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DECLISTN(TOKEN);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if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 =‘,’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begin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5EAEFF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if </a:t>
            </a:r>
            <a:r>
              <a:rPr lang="en-US" altLang="zh-CN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TOKEN≠’id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DECLISTN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end	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else  if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TOKEN≠’:’ 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	 </a:t>
            </a:r>
          </a:p>
        </p:txBody>
      </p:sp>
    </p:spTree>
    <p:extLst>
      <p:ext uri="{BB962C8B-B14F-4D97-AF65-F5344CB8AC3E}">
        <p14:creationId xmlns:p14="http://schemas.microsoft.com/office/powerpoint/2010/main" val="287539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6" grpId="0" animBg="1"/>
      <p:bldP spid="77824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0419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79270" name="Rectangle 6"/>
          <p:cNvSpPr>
            <a:spLocks noChangeArrowheads="1"/>
          </p:cNvSpPr>
          <p:nvPr/>
        </p:nvSpPr>
        <p:spPr bwMode="auto">
          <a:xfrm>
            <a:off x="3851275" y="2001838"/>
            <a:ext cx="4935538" cy="2730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STLIST(TOKEN);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TOKEN≠’s’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7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STLISTN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211399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70" grpId="0" animBg="1"/>
      <p:bldP spid="77927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87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80294" name="Rectangle 6"/>
          <p:cNvSpPr>
            <a:spLocks noChangeArrowheads="1"/>
          </p:cNvSpPr>
          <p:nvPr/>
        </p:nvSpPr>
        <p:spPr bwMode="auto">
          <a:xfrm>
            <a:off x="4284663" y="1149350"/>
            <a:ext cx="4464050" cy="3851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STLISTN(TOKEN);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TOKEN =‘;’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begin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	  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TOKEN≠’s’ 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GETNEXT(TOKEN);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STLISTN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 	 end 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else  if </a:t>
            </a:r>
            <a:r>
              <a:rPr lang="en-US" altLang="zh-CN" sz="16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TOKEN≠’end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</a:t>
            </a:r>
            <a:r>
              <a:rPr lang="en-US" altLang="zh-CN" sz="16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then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	</a:t>
            </a:r>
            <a:r>
              <a:rPr lang="en-US" altLang="zh-CN" sz="36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2469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2D83F4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</p:spTree>
    <p:extLst>
      <p:ext uri="{BB962C8B-B14F-4D97-AF65-F5344CB8AC3E}">
        <p14:creationId xmlns:p14="http://schemas.microsoft.com/office/powerpoint/2010/main" val="411855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80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4" grpId="0" animBg="1"/>
      <p:bldP spid="78029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088" y="4286250"/>
            <a:ext cx="2459037" cy="754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SELECT(4)={:}</a:t>
            </a:r>
          </a:p>
          <a:p>
            <a:pPr eaLnBrk="1" hangingPunct="1"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</a:rPr>
              <a:t>SELECT(7)={end}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959225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3924300" y="2932113"/>
            <a:ext cx="4895850" cy="19256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533400" indent="-5334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procedure TYPE(TOKEN);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begin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	  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TOKEN≠’real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and TOKEN≠’</a:t>
            </a:r>
            <a:r>
              <a:rPr lang="en-US" altLang="zh-CN" sz="20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’ 	   </a:t>
            </a:r>
            <a:r>
              <a:rPr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ERROR;</a:t>
            </a: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	end</a:t>
            </a:r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214313" y="681038"/>
            <a:ext cx="87153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&lt;PROGRAM&gt;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program &lt;DECLIST&gt; :&lt;TYPE&gt; ; &lt;STLIST&gt; end</a:t>
            </a:r>
          </a:p>
          <a:p>
            <a:pPr>
              <a:lnSpc>
                <a:spcPts val="28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(2)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&lt;DECLIST&gt; →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(3)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&lt;DECLISTN&gt; → , id &lt;DECLISTN&gt;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&lt;DECLISTN&gt;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&lt;STLIST&gt; → s &lt;STLISTN&gt;</a:t>
            </a:r>
          </a:p>
          <a:p>
            <a:pPr eaLnBrk="1" hangingPunct="1">
              <a:lnSpc>
                <a:spcPts val="28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&lt;STLISTN&gt; → ; s &lt;STLISTN&gt;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(7)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&lt;STLISTN&gt; 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ε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(8)</a:t>
            </a: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&lt;TYPE&gt; → real</a:t>
            </a:r>
          </a:p>
          <a:p>
            <a:pPr eaLnBrk="1" hangingPunct="1">
              <a:lnSpc>
                <a:spcPts val="2800"/>
              </a:lnSpc>
            </a:pPr>
            <a:r>
              <a:rPr lang="en-US" altLang="zh-CN" b="1">
                <a:solidFill>
                  <a:srgbClr val="2D83F4"/>
                </a:solidFill>
                <a:latin typeface="Times New Roman" panose="02020603050405020304" pitchFamily="18" charset="0"/>
              </a:rPr>
              <a:t>(9) &lt;TYPE&gt; → int</a:t>
            </a:r>
          </a:p>
        </p:txBody>
      </p:sp>
    </p:spTree>
    <p:extLst>
      <p:ext uri="{BB962C8B-B14F-4D97-AF65-F5344CB8AC3E}">
        <p14:creationId xmlns:p14="http://schemas.microsoft.com/office/powerpoint/2010/main" val="147941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/>
          <p:cNvSpPr>
            <a:spLocks noGrp="1"/>
          </p:cNvSpPr>
          <p:nvPr>
            <p:ph idx="1"/>
          </p:nvPr>
        </p:nvSpPr>
        <p:spPr>
          <a:xfrm>
            <a:off x="430213" y="742950"/>
            <a:ext cx="8256587" cy="12573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非递归的预测分析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不需要</a:t>
            </a:r>
            <a:r>
              <a:rPr lang="zh-CN" altLang="en-US" b="1" dirty="0">
                <a:solidFill>
                  <a:schemeClr val="tx1"/>
                </a:solidFill>
              </a:rPr>
              <a:t>为每个非终结符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编写递归下降过程</a:t>
            </a:r>
            <a:r>
              <a:rPr lang="zh-CN" altLang="en-US" b="1" dirty="0">
                <a:solidFill>
                  <a:schemeClr val="tx1"/>
                </a:solidFill>
              </a:rPr>
              <a:t>，而是根据预测分析表构造一个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自动机</a:t>
            </a:r>
            <a:r>
              <a:rPr lang="zh-CN" altLang="en-US" b="1" dirty="0">
                <a:solidFill>
                  <a:schemeClr val="tx1"/>
                </a:solidFill>
              </a:rPr>
              <a:t>，也叫</a:t>
            </a:r>
            <a:r>
              <a:rPr lang="zh-CN" altLang="en-US" b="1" dirty="0">
                <a:solidFill>
                  <a:srgbClr val="FF0000"/>
                </a:solidFill>
              </a:rPr>
              <a:t>表驱动的预测分析</a:t>
            </a:r>
          </a:p>
        </p:txBody>
      </p:sp>
      <p:sp>
        <p:nvSpPr>
          <p:cNvPr id="665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非递归的预测分析法</a:t>
            </a:r>
          </a:p>
        </p:txBody>
      </p:sp>
      <p:grpSp>
        <p:nvGrpSpPr>
          <p:cNvPr id="4" name="组合 66571"/>
          <p:cNvGrpSpPr>
            <a:grpSpLocks/>
          </p:cNvGrpSpPr>
          <p:nvPr/>
        </p:nvGrpSpPr>
        <p:grpSpPr bwMode="auto">
          <a:xfrm>
            <a:off x="1982788" y="1928813"/>
            <a:ext cx="6446837" cy="2990850"/>
            <a:chOff x="1313694" y="2067694"/>
            <a:chExt cx="6448201" cy="2989811"/>
          </a:xfrm>
        </p:grpSpPr>
        <p:sp>
          <p:nvSpPr>
            <p:cNvPr id="2" name="矩形 1"/>
            <p:cNvSpPr/>
            <p:nvPr/>
          </p:nvSpPr>
          <p:spPr>
            <a:xfrm>
              <a:off x="1313694" y="2067694"/>
              <a:ext cx="6448201" cy="29898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44" name="TextBox 10"/>
            <p:cNvSpPr txBox="1">
              <a:spLocks noChangeArrowheads="1"/>
            </p:cNvSpPr>
            <p:nvPr/>
          </p:nvSpPr>
          <p:spPr bwMode="auto"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ts val="2000"/>
                </a:lnSpc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  +  b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>
                <a:solidFill>
                  <a:srgbClr val="000000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rot="-360000" flipV="1">
              <a:off x="4563994" y="2732625"/>
              <a:ext cx="320743" cy="374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46" name="TextBox 20"/>
            <p:cNvSpPr txBox="1">
              <a:spLocks noChangeArrowheads="1"/>
            </p:cNvSpPr>
            <p:nvPr/>
          </p:nvSpPr>
          <p:spPr bwMode="auto">
            <a:xfrm>
              <a:off x="3957440" y="3107145"/>
              <a:ext cx="1213107" cy="7077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预测分析程序</a:t>
              </a:r>
            </a:p>
          </p:txBody>
        </p:sp>
        <p:sp>
          <p:nvSpPr>
            <p:cNvPr id="65547" name="TextBox 8"/>
            <p:cNvSpPr txBox="1">
              <a:spLocks noChangeArrowheads="1"/>
            </p:cNvSpPr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输入</a:t>
              </a:r>
            </a:p>
          </p:txBody>
        </p:sp>
        <p:sp>
          <p:nvSpPr>
            <p:cNvPr id="27" name="等腰三角形 26"/>
            <p:cNvSpPr/>
            <p:nvPr/>
          </p:nvSpPr>
          <p:spPr bwMode="auto">
            <a:xfrm rot="2100000">
              <a:off x="4792642" y="2577104"/>
              <a:ext cx="134967" cy="2634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49" name="TextBox 27"/>
            <p:cNvSpPr txBox="1">
              <a:spLocks noChangeArrowheads="1"/>
            </p:cNvSpPr>
            <p:nvPr/>
          </p:nvSpPr>
          <p:spPr bwMode="auto">
            <a:xfrm>
              <a:off x="3957440" y="4167226"/>
              <a:ext cx="1213107" cy="70936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预测</a:t>
              </a:r>
              <a:endParaRPr lang="en-US" altLang="zh-CN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分析表</a:t>
              </a:r>
              <a:r>
                <a:rPr lang="en-US" altLang="zh-CN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</a:t>
              </a:r>
              <a:endParaRPr lang="zh-CN" altLang="en-US" sz="20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9" name="直接连接符 28"/>
            <p:cNvCxnSpPr>
              <a:endCxn id="65549" idx="0"/>
            </p:cNvCxnSpPr>
            <p:nvPr/>
          </p:nvCxnSpPr>
          <p:spPr bwMode="auto">
            <a:xfrm rot="5400000">
              <a:off x="4408493" y="3975206"/>
              <a:ext cx="3840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等腰三角形 31"/>
            <p:cNvSpPr/>
            <p:nvPr/>
          </p:nvSpPr>
          <p:spPr bwMode="auto">
            <a:xfrm rot="10800000">
              <a:off x="4540177" y="4013293"/>
              <a:ext cx="134966" cy="1428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5170547" y="3478491"/>
              <a:ext cx="10717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>
              <a:off x="2885652" y="3488012"/>
              <a:ext cx="10717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等腰三角形 35"/>
            <p:cNvSpPr/>
            <p:nvPr/>
          </p:nvSpPr>
          <p:spPr bwMode="auto">
            <a:xfrm rot="5400000">
              <a:off x="6054215" y="3349081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等腰三角形 36"/>
            <p:cNvSpPr/>
            <p:nvPr/>
          </p:nvSpPr>
          <p:spPr bwMode="auto">
            <a:xfrm rot="16200000">
              <a:off x="2919827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5556" name="TextBox 37"/>
            <p:cNvSpPr txBox="1">
              <a:spLocks noChangeArrowheads="1"/>
            </p:cNvSpPr>
            <p:nvPr/>
          </p:nvSpPr>
          <p:spPr bwMode="auto">
            <a:xfrm>
              <a:off x="1313694" y="3262666"/>
              <a:ext cx="1071789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栈</a:t>
              </a:r>
            </a:p>
          </p:txBody>
        </p:sp>
        <p:sp>
          <p:nvSpPr>
            <p:cNvPr id="65557" name="TextBox 38"/>
            <p:cNvSpPr txBox="1">
              <a:spLocks noChangeArrowheads="1"/>
            </p:cNvSpPr>
            <p:nvPr/>
          </p:nvSpPr>
          <p:spPr bwMode="auto">
            <a:xfrm>
              <a:off x="6170883" y="3251558"/>
              <a:ext cx="1071790" cy="399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输出</a:t>
              </a:r>
            </a:p>
          </p:txBody>
        </p:sp>
        <p:sp>
          <p:nvSpPr>
            <p:cNvPr id="65558" name="TextBox 10"/>
            <p:cNvSpPr txBox="1">
              <a:spLocks noChangeArrowheads="1"/>
            </p:cNvSpPr>
            <p:nvPr/>
          </p:nvSpPr>
          <p:spPr bwMode="auto">
            <a:xfrm>
              <a:off x="2242376" y="3316889"/>
              <a:ext cx="571501" cy="1631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H="1" flipV="1">
              <a:off x="2242577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 flipH="1" flipV="1">
              <a:off x="2242577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H="1" flipV="1">
              <a:off x="2242577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69863" y="3794125"/>
            <a:ext cx="2544762" cy="777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30000"/>
              </a:spcBef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下推自动机</a:t>
            </a:r>
            <a:endParaRPr lang="en-US" altLang="zh-CN" sz="25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 eaLnBrk="1" hangingPunct="1">
              <a:spcBef>
                <a:spcPct val="30000"/>
              </a:spcBef>
              <a:defRPr/>
            </a:pPr>
            <a:r>
              <a:rPr lang="en-US" altLang="zh-CN" sz="1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(</a:t>
            </a:r>
            <a:r>
              <a:rPr lang="en-US" altLang="zh-CN" sz="15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Push Down Automata, PDA</a:t>
            </a:r>
            <a:r>
              <a:rPr lang="en-US" altLang="zh-CN" sz="15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</a:p>
        </p:txBody>
      </p:sp>
      <p:sp>
        <p:nvSpPr>
          <p:cNvPr id="66569" name="矩形 66568"/>
          <p:cNvSpPr/>
          <p:nvPr/>
        </p:nvSpPr>
        <p:spPr>
          <a:xfrm>
            <a:off x="6213475" y="4038600"/>
            <a:ext cx="25019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≥1}</a:t>
            </a:r>
          </a:p>
        </p:txBody>
      </p:sp>
    </p:spTree>
    <p:extLst>
      <p:ext uri="{BB962C8B-B14F-4D97-AF65-F5344CB8AC3E}">
        <p14:creationId xmlns:p14="http://schemas.microsoft.com/office/powerpoint/2010/main" val="256481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656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735234" name="Rectangle 2"/>
          <p:cNvSpPr>
            <a:spLocks noGrp="1" noChangeArrowheads="1"/>
          </p:cNvSpPr>
          <p:nvPr>
            <p:ph idx="1"/>
          </p:nvPr>
        </p:nvSpPr>
        <p:spPr>
          <a:xfrm>
            <a:off x="5219700" y="71438"/>
            <a:ext cx="4465638" cy="5637212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栈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剩余输入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输出</a:t>
            </a:r>
          </a:p>
          <a:p>
            <a:pPr marL="342900" lvl="2" indent="-342900" eaLnBrk="1" hangingPunct="1">
              <a:lnSpc>
                <a:spcPct val="90000"/>
              </a:lnSpc>
              <a:buSzPct val="60000"/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 $ 	</a:t>
            </a:r>
          </a:p>
          <a:p>
            <a:pPr marL="342900" lvl="2" indent="-342900" eaLnBrk="1" hangingPunct="1">
              <a:lnSpc>
                <a:spcPct val="90000"/>
              </a:lnSpc>
              <a:buSzPct val="60000"/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	    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id+id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+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+id*id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→+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id*id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    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*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*id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→*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FT'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  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id</a:t>
            </a:r>
            <a:r>
              <a:rPr kumimoji="1"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                  id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F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→id</a:t>
            </a:r>
            <a:endParaRPr lang="en-US" altLang="zh-CN" sz="1600" b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	                     $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 </a:t>
            </a: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$ 	                     $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T'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$ 	                     $     	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E'</a:t>
            </a:r>
            <a:r>
              <a:rPr lang="en-US" altLang="zh-CN" sz="16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1600" b="1" i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ε</a:t>
            </a:r>
            <a:endParaRPr lang="en-US" altLang="zh-CN" sz="1600" b="1" i="1" dirty="0">
              <a:solidFill>
                <a:schemeClr val="tx1"/>
              </a:solidFill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171450" y="1203325"/>
          <a:ext cx="4986338" cy="2203453"/>
        </p:xfrm>
        <a:graphic>
          <a:graphicData uri="http://schemas.openxmlformats.org/drawingml/2006/table">
            <a:tbl>
              <a:tblPr/>
              <a:tblGrid>
                <a:gridCol w="5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649" name="矩形 17"/>
          <p:cNvSpPr>
            <a:spLocks noChangeArrowheads="1"/>
          </p:cNvSpPr>
          <p:nvPr/>
        </p:nvSpPr>
        <p:spPr bwMode="auto">
          <a:xfrm>
            <a:off x="250825" y="1868488"/>
            <a:ext cx="5113338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      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                                         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</a:t>
            </a:r>
            <a:endParaRPr kumimoji="1" lang="zh-CN" altLang="en-US" sz="1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>
                <a:solidFill>
                  <a:srgbClr val="000000"/>
                </a:solidFill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T'                         T'→ε         T'→*FT' 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F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(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1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50" name="矩形 2"/>
          <p:cNvSpPr>
            <a:spLocks noChangeArrowheads="1"/>
          </p:cNvSpPr>
          <p:nvPr/>
        </p:nvSpPr>
        <p:spPr bwMode="auto">
          <a:xfrm>
            <a:off x="158750" y="1244600"/>
            <a:ext cx="595313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410D3A-E3A1-3562-42B3-27D0A87A815B}"/>
              </a:ext>
            </a:extLst>
          </p:cNvPr>
          <p:cNvSpPr txBox="1"/>
          <p:nvPr/>
        </p:nvSpPr>
        <p:spPr>
          <a:xfrm>
            <a:off x="100572" y="734106"/>
            <a:ext cx="4843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输入符号串：</a:t>
            </a:r>
            <a:r>
              <a:rPr kumimoji="0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id+id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itchFamily="18" charset="0"/>
              </a:rPr>
              <a:t>*id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1107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内容占位符 2"/>
          <p:cNvSpPr>
            <a:spLocks noGrp="1"/>
          </p:cNvSpPr>
          <p:nvPr>
            <p:ph idx="1"/>
          </p:nvPr>
        </p:nvSpPr>
        <p:spPr>
          <a:xfrm>
            <a:off x="142875" y="642938"/>
            <a:ext cx="871537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输入：一个串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和文法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的分析表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endParaRPr lang="en-US" altLang="zh-CN" sz="1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输出：如果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 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中，输出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的最左推导；否则给出错误指示</a:t>
            </a:r>
            <a:endParaRPr lang="en-US" altLang="zh-CN" sz="1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方法：最初，语法分析器的格局如下：输入缓冲区中是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的开始符号位于栈顶，其栈底是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。下面的程序使用预测分析表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生成了处理这个输入的预测分析过程</a:t>
            </a:r>
          </a:p>
        </p:txBody>
      </p:sp>
      <p:sp>
        <p:nvSpPr>
          <p:cNvPr id="696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表驱动的预测分析法</a:t>
            </a: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896938" y="2000250"/>
            <a:ext cx="7318375" cy="3000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设置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使它指向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w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的第一个符号，其中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是输入指针；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栈顶符号；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while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≠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＄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｛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/*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栈非空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*/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if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等于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所指向的符号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执行栈的弹出操作，将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向前移动一个位置；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是一个终结符号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error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) ;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是一个报错条目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error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( ) ;          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else  if (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M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] =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｛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 输出产生式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→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 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；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弹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出栈顶符号；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 sz="16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-1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…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压入栈中，其中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Y</a:t>
            </a:r>
            <a:r>
              <a:rPr lang="en-US" altLang="zh-CN" sz="16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位于栈顶。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}</a:t>
            </a: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栈顶符号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2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}                 </a:t>
            </a:r>
          </a:p>
          <a:p>
            <a:pPr eaLnBrk="1" hangingPunct="1">
              <a:lnSpc>
                <a:spcPts val="1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endParaRPr lang="zh-CN" altLang="en-US" sz="1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929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递归的预测分析法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vs.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非递归的预测分析法</a:t>
            </a:r>
          </a:p>
        </p:txBody>
      </p:sp>
      <p:sp>
        <p:nvSpPr>
          <p:cNvPr id="2" name="笑脸 1"/>
          <p:cNvSpPr/>
          <p:nvPr/>
        </p:nvSpPr>
        <p:spPr>
          <a:xfrm>
            <a:off x="4356100" y="2498725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笑脸 4"/>
          <p:cNvSpPr/>
          <p:nvPr/>
        </p:nvSpPr>
        <p:spPr>
          <a:xfrm>
            <a:off x="7069138" y="1923678"/>
            <a:ext cx="287337" cy="217487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笑脸 5"/>
          <p:cNvSpPr/>
          <p:nvPr/>
        </p:nvSpPr>
        <p:spPr>
          <a:xfrm>
            <a:off x="7356475" y="3143250"/>
            <a:ext cx="287338" cy="215900"/>
          </a:xfrm>
          <a:prstGeom prst="smileyFac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3" name="Group 18">
            <a:extLst>
              <a:ext uri="{FF2B5EF4-FFF2-40B4-BE49-F238E27FC236}">
                <a16:creationId xmlns:a16="http://schemas.microsoft.com/office/drawing/2014/main" id="{96CBCFCF-1CB7-504B-18A6-C0B0862BE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315930"/>
              </p:ext>
            </p:extLst>
          </p:nvPr>
        </p:nvGraphicFramePr>
        <p:xfrm>
          <a:off x="1285875" y="1285875"/>
          <a:ext cx="6572251" cy="2163590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递归的预测分析法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非递归的预测分析法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0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较大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主控程序规模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较小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直观性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较好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较差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0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效率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较低</a:t>
                      </a: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分析时间大约正比于待分析程序的长度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39" marR="76039" marT="34230" marB="3423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647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14375"/>
            <a:ext cx="89154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1）构造文法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2）改造文法：消除二义性、消除左递归、消除回溯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3）求每个变量的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</a:t>
            </a: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集和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集，从而</a:t>
            </a:r>
            <a:r>
              <a:rPr lang="zh-CN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求得每个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 </a:t>
            </a: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候选式的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SELECT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集</a:t>
            </a:r>
            <a:endParaRPr lang="zh-CN" altLang="zh-CN" sz="25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buFont typeface="Symbol" panose="05050102010706020507" pitchFamily="18" charset="2"/>
              <a:buNone/>
              <a:defRPr/>
            </a:pPr>
            <a:r>
              <a:rPr lang="zh-CN" altLang="zh-CN" sz="2500" b="1" dirty="0">
                <a:solidFill>
                  <a:schemeClr val="tx1"/>
                </a:solidFill>
                <a:cs typeface="Times New Roman" pitchFamily="18" charset="0"/>
              </a:rPr>
              <a:t>4）检查是不是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(1)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文法。若是，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构造预测分析表</a:t>
            </a: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5）对于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递归的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预测分析，根据预测分析表为每一个非终结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符编写一个过程；对于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非递归的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预测分析，实现表驱动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    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的预测分析算法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  <a:defRPr/>
            </a:pPr>
            <a:endParaRPr lang="zh-CN" altLang="en-US" sz="28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预测分析法实现步骤</a:t>
            </a:r>
          </a:p>
        </p:txBody>
      </p:sp>
    </p:spTree>
    <p:extLst>
      <p:ext uri="{BB962C8B-B14F-4D97-AF65-F5344CB8AC3E}">
        <p14:creationId xmlns:p14="http://schemas.microsoft.com/office/powerpoint/2010/main" val="2414627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917575"/>
            <a:ext cx="7907338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两种情况下可以检测到错误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303213" lvl="1" indent="0" eaLnBrk="1" hangingPunct="1">
              <a:lnSpc>
                <a:spcPts val="4000"/>
              </a:lnSpc>
              <a:buClrTx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1) 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栈顶的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</a:rPr>
              <a:t>终结符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和当前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</a:rPr>
              <a:t>输入符号</a:t>
            </a: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</a:rPr>
              <a:t>不匹配</a:t>
            </a:r>
            <a:endParaRPr lang="en-US" altLang="zh-CN" sz="25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marL="303213" lvl="1" indent="0" eaLnBrk="1" hangingPunct="1">
              <a:lnSpc>
                <a:spcPts val="4000"/>
              </a:lnSpc>
              <a:buClrTx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</a:rPr>
              <a:t>2) </a:t>
            </a:r>
            <a:r>
              <a:rPr lang="zh-CN" altLang="en-US" sz="2500" b="1" dirty="0">
                <a:solidFill>
                  <a:schemeClr val="tx1"/>
                </a:solidFill>
              </a:rPr>
              <a:t>栈顶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非终结符</a:t>
            </a:r>
            <a:r>
              <a:rPr lang="zh-CN" altLang="en-US" sz="2500" b="1" dirty="0">
                <a:solidFill>
                  <a:schemeClr val="tx1"/>
                </a:solidFill>
              </a:rPr>
              <a:t>与当前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输入符号</a:t>
            </a:r>
            <a:r>
              <a:rPr lang="zh-CN" altLang="en-US" sz="2500" b="1" dirty="0">
                <a:solidFill>
                  <a:schemeClr val="tx1"/>
                </a:solidFill>
              </a:rPr>
              <a:t>在预测分析表对应项中的信息为空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预测分析中的错误检测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169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641573"/>
            <a:ext cx="8267700" cy="4162425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恐慌模式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303213" lvl="1" indent="0" eaLnBrk="1" hangingPunct="1">
              <a:lnSpc>
                <a:spcPts val="3300"/>
              </a:lnSpc>
              <a:buClr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如果是</a:t>
            </a:r>
            <a:r>
              <a:rPr lang="en-US" altLang="zh-CN" sz="2400" b="1" dirty="0">
                <a:solidFill>
                  <a:schemeClr val="tx1"/>
                </a:solidFill>
              </a:rPr>
              <a:t>1)</a:t>
            </a:r>
            <a:r>
              <a:rPr lang="zh-CN" altLang="en-US" sz="2400" b="1" dirty="0">
                <a:solidFill>
                  <a:schemeClr val="tx1"/>
                </a:solidFill>
              </a:rPr>
              <a:t>终结符在栈顶而不能和输入符号匹配，一个简单的办法就是弹出此终结符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303213" lvl="1" indent="0" eaLnBrk="1" hangingPunct="1">
              <a:lnSpc>
                <a:spcPts val="3300"/>
              </a:lnSpc>
              <a:buClrTx/>
              <a:buNone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如果是 </a:t>
            </a:r>
            <a:r>
              <a:rPr lang="en-US" altLang="zh-CN" sz="2400" b="1" dirty="0">
                <a:solidFill>
                  <a:schemeClr val="tx1"/>
                </a:solidFill>
              </a:rPr>
              <a:t>2) </a:t>
            </a:r>
            <a:r>
              <a:rPr lang="zh-CN" altLang="en-US" sz="2400" b="1" dirty="0">
                <a:solidFill>
                  <a:schemeClr val="tx1"/>
                </a:solidFill>
              </a:rPr>
              <a:t>，忽略输入中的一些符号，直到输入中出现由设计者选定的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同步词法单元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synchronizing token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</a:rPr>
              <a:t>集合中的某个词法单元</a:t>
            </a:r>
            <a:endParaRPr lang="en-US" altLang="zh-CN" sz="24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2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其效果依赖于</a:t>
            </a:r>
            <a:r>
              <a:rPr lang="zh-CN" altLang="en-US" b="1" dirty="0">
                <a:solidFill>
                  <a:srgbClr val="2D83F4"/>
                </a:solidFill>
              </a:rPr>
              <a:t>同步集合的选取</a:t>
            </a:r>
            <a:r>
              <a:rPr lang="zh-CN" altLang="en-US" b="1" dirty="0">
                <a:solidFill>
                  <a:schemeClr val="tx1"/>
                </a:solidFill>
              </a:rPr>
              <a:t>。集合的选取应该使得语法分析器能从实际遇到的错误中</a:t>
            </a:r>
            <a:r>
              <a:rPr lang="zh-CN" altLang="en-US" b="1" dirty="0">
                <a:solidFill>
                  <a:srgbClr val="2D83F4"/>
                </a:solidFill>
              </a:rPr>
              <a:t>快速恢复</a:t>
            </a:r>
            <a:endParaRPr lang="en-US" altLang="zh-CN" b="1" dirty="0">
              <a:solidFill>
                <a:srgbClr val="2D83F4"/>
              </a:solidFill>
            </a:endParaRPr>
          </a:p>
          <a:p>
            <a:pPr lvl="3" eaLnBrk="1" hangingPunct="1">
              <a:lnSpc>
                <a:spcPts val="33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例如可以把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FOLLOW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中的所有终结符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放入非终结符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的同步记号集合</a:t>
            </a:r>
            <a:endParaRPr lang="en-US" altLang="zh-CN" b="1" dirty="0">
              <a:solidFill>
                <a:srgbClr val="2D83F4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endParaRPr lang="en-US" altLang="zh-CN" sz="2400" b="1" dirty="0">
              <a:solidFill>
                <a:srgbClr val="2D83F4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预测分析中的错误恢复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6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3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Group 18"/>
          <p:cNvGraphicFramePr>
            <a:graphicFrameLocks noGrp="1"/>
          </p:cNvGraphicFramePr>
          <p:nvPr/>
        </p:nvGraphicFramePr>
        <p:xfrm>
          <a:off x="6719888" y="722313"/>
          <a:ext cx="2119312" cy="1931988"/>
        </p:xfrm>
        <a:graphic>
          <a:graphicData uri="http://schemas.openxmlformats.org/drawingml/2006/table">
            <a:tbl>
              <a:tblPr/>
              <a:tblGrid>
                <a:gridCol w="627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301021" marR="301021" marT="34296" marB="342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2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7950" y="3217863"/>
            <a:ext cx="8928100" cy="1925637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分析表的使用方法</a:t>
            </a: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M[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]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是空，表示检测到错误，根据恐慌模式，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忽略输入符号</a:t>
            </a:r>
            <a:r>
              <a:rPr lang="en-US" altLang="zh-CN" sz="19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M[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19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]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19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synch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，则弹出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栈顶的非终结符</a:t>
            </a:r>
            <a:r>
              <a:rPr lang="en-US" altLang="zh-CN" sz="19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，试图继续分析后面的语法成分</a:t>
            </a:r>
            <a:endParaRPr lang="zh-CN" altLang="en-US" sz="19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如果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栈顶的终结符</a:t>
            </a:r>
            <a:r>
              <a:rPr lang="zh-CN" altLang="en-US" sz="19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和输入符号不匹配，则</a:t>
            </a:r>
            <a:r>
              <a:rPr lang="zh-CN" altLang="en-US" sz="1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弹出栈顶的终结符</a:t>
            </a:r>
            <a:endParaRPr lang="en-US" altLang="zh-CN" sz="19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377950" y="447675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9959" name="矩形 18"/>
          <p:cNvSpPr>
            <a:spLocks noChangeArrowheads="1"/>
          </p:cNvSpPr>
          <p:nvPr/>
        </p:nvSpPr>
        <p:spPr bwMode="auto">
          <a:xfrm>
            <a:off x="1450975" y="1116013"/>
            <a:ext cx="5111750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      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                                           </a:t>
            </a:r>
            <a:r>
              <a:rPr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→TE'</a:t>
            </a:r>
            <a:endParaRPr kumimoji="1" lang="zh-CN" altLang="en-US" sz="14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>
                <a:solidFill>
                  <a:srgbClr val="000000"/>
                </a:solidFill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T'                         T'→ε          T'→*FT'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F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F→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( </a:t>
            </a:r>
            <a:r>
              <a:rPr kumimoji="1" lang="en-US" altLang="zh-CN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14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1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355" name="Rectangle 28"/>
          <p:cNvSpPr>
            <a:spLocks noChangeArrowheads="1"/>
          </p:cNvSpPr>
          <p:nvPr/>
        </p:nvSpPr>
        <p:spPr bwMode="auto">
          <a:xfrm>
            <a:off x="5911850" y="114935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6" name="Rectangle 29"/>
          <p:cNvSpPr>
            <a:spLocks noChangeArrowheads="1"/>
          </p:cNvSpPr>
          <p:nvPr/>
        </p:nvSpPr>
        <p:spPr bwMode="auto">
          <a:xfrm>
            <a:off x="5203825" y="1138238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7" name="Rectangle 30"/>
          <p:cNvSpPr>
            <a:spLocks noChangeArrowheads="1"/>
          </p:cNvSpPr>
          <p:nvPr/>
        </p:nvSpPr>
        <p:spPr bwMode="auto">
          <a:xfrm>
            <a:off x="2819400" y="1779588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8" name="Rectangle 31"/>
          <p:cNvSpPr>
            <a:spLocks noChangeArrowheads="1"/>
          </p:cNvSpPr>
          <p:nvPr/>
        </p:nvSpPr>
        <p:spPr bwMode="auto">
          <a:xfrm>
            <a:off x="5194300" y="177323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59" name="Rectangle 32"/>
          <p:cNvSpPr>
            <a:spLocks noChangeArrowheads="1"/>
          </p:cNvSpPr>
          <p:nvPr/>
        </p:nvSpPr>
        <p:spPr bwMode="auto">
          <a:xfrm>
            <a:off x="5911850" y="177323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0" name="Rectangle 33"/>
          <p:cNvSpPr>
            <a:spLocks noChangeArrowheads="1"/>
          </p:cNvSpPr>
          <p:nvPr/>
        </p:nvSpPr>
        <p:spPr bwMode="auto">
          <a:xfrm>
            <a:off x="2819400" y="23622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1" name="Rectangle 34"/>
          <p:cNvSpPr>
            <a:spLocks noChangeArrowheads="1"/>
          </p:cNvSpPr>
          <p:nvPr/>
        </p:nvSpPr>
        <p:spPr bwMode="auto">
          <a:xfrm>
            <a:off x="3681413" y="23622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2" name="Rectangle 35"/>
          <p:cNvSpPr>
            <a:spLocks noChangeArrowheads="1"/>
          </p:cNvSpPr>
          <p:nvPr/>
        </p:nvSpPr>
        <p:spPr bwMode="auto">
          <a:xfrm>
            <a:off x="5199063" y="235108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139363" name="Rectangle 36"/>
          <p:cNvSpPr>
            <a:spLocks noChangeArrowheads="1"/>
          </p:cNvSpPr>
          <p:nvPr/>
        </p:nvSpPr>
        <p:spPr bwMode="auto">
          <a:xfrm>
            <a:off x="5913438" y="2351088"/>
            <a:ext cx="5048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synch</a:t>
            </a:r>
          </a:p>
        </p:txBody>
      </p:sp>
      <p:sp>
        <p:nvSpPr>
          <p:cNvPr id="79969" name="矩形 30"/>
          <p:cNvSpPr>
            <a:spLocks noChangeArrowheads="1"/>
          </p:cNvSpPr>
          <p:nvPr/>
        </p:nvSpPr>
        <p:spPr bwMode="auto">
          <a:xfrm>
            <a:off x="1357313" y="458788"/>
            <a:ext cx="59531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  <p:sp>
        <p:nvSpPr>
          <p:cNvPr id="3" name="矩形 2"/>
          <p:cNvSpPr/>
          <p:nvPr/>
        </p:nvSpPr>
        <p:spPr>
          <a:xfrm>
            <a:off x="1258888" y="2787650"/>
            <a:ext cx="73564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Synch</a:t>
            </a: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表示根据相应非终结符的</a:t>
            </a:r>
            <a:r>
              <a:rPr lang="en-US" altLang="zh-CN" sz="2000" b="1" i="1" dirty="0">
                <a:solidFill>
                  <a:srgbClr val="3333FF"/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FOLLOW</a:t>
            </a:r>
            <a:r>
              <a:rPr lang="zh-CN" altLang="en-US" sz="2000" b="1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集</a:t>
            </a: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得到的同步词法单元</a:t>
            </a:r>
            <a:endParaRPr lang="zh-CN" altLang="en-US" sz="1600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842125" y="776288"/>
            <a:ext cx="197485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FOLLOW(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)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</a:rPr>
              <a:t>'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+  ) </a:t>
            </a:r>
            <a:r>
              <a:rPr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$</a:t>
            </a:r>
            <a:endParaRPr lang="zh-CN" altLang="zh-CN" sz="1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06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9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9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55" grpId="0"/>
      <p:bldP spid="139356" grpId="0"/>
      <p:bldP spid="139357" grpId="0"/>
      <p:bldP spid="139358" grpId="0"/>
      <p:bldP spid="139359" grpId="0"/>
      <p:bldP spid="139360" grpId="0"/>
      <p:bldP spid="139361" grpId="0"/>
      <p:bldP spid="139362" grpId="0"/>
      <p:bldP spid="139363" grpId="0"/>
      <p:bldP spid="3" grpId="0" animBg="1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29250" y="176213"/>
            <a:ext cx="3883025" cy="47529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 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栈	  剩余输入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ignore 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*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error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E'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+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endParaRPr lang="en-US" altLang="zh-CN" sz="1800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28588" y="1563688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1983" name="组合 4"/>
          <p:cNvGrpSpPr>
            <a:grpSpLocks/>
          </p:cNvGrpSpPr>
          <p:nvPr/>
        </p:nvGrpSpPr>
        <p:grpSpPr bwMode="auto">
          <a:xfrm>
            <a:off x="200025" y="2232025"/>
            <a:ext cx="5113338" cy="1546225"/>
            <a:chOff x="395536" y="3558112"/>
            <a:chExt cx="5112568" cy="1547090"/>
          </a:xfrm>
        </p:grpSpPr>
        <p:sp>
          <p:nvSpPr>
            <p:cNvPr id="81985" name="矩形 17"/>
            <p:cNvSpPr>
              <a:spLocks noChangeArrowheads="1"/>
            </p:cNvSpPr>
            <p:nvPr/>
          </p:nvSpPr>
          <p:spPr bwMode="auto">
            <a:xfrm>
              <a:off x="395536" y="3558112"/>
              <a:ext cx="5112568" cy="154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       E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→TE'                                           </a:t>
              </a: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→TE'</a:t>
              </a:r>
              <a:endParaRPr kumimoji="1" lang="zh-CN" altLang="en-US" sz="1400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E'                       E'→+TE'                                       E'→ε</a:t>
              </a:r>
              <a:r>
                <a:rPr lang="zh-CN" altLang="en-US" sz="1400">
                  <a:solidFill>
                    <a:srgbClr val="000000"/>
                  </a:solidFill>
                  <a:latin typeface="Candara" panose="020E0502030303020204" pitchFamily="34" charset="0"/>
                  <a:ea typeface="华文楷体" panose="02010600040101010101" pitchFamily="2" charset="-122"/>
                </a:rPr>
                <a:t>      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       T→FT'                                           T→FT'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T'                         T'→ε          T'→*FT'                  T'→ε      T'→ε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       F→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                       F→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 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1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1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986" name="Rectangle 28"/>
            <p:cNvSpPr>
              <a:spLocks noChangeArrowheads="1"/>
            </p:cNvSpPr>
            <p:nvPr/>
          </p:nvSpPr>
          <p:spPr bwMode="auto">
            <a:xfrm>
              <a:off x="4857748" y="3590486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7" name="Rectangle 29"/>
            <p:cNvSpPr>
              <a:spLocks noChangeArrowheads="1"/>
            </p:cNvSpPr>
            <p:nvPr/>
          </p:nvSpPr>
          <p:spPr bwMode="auto">
            <a:xfrm>
              <a:off x="4149654" y="3579862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8" name="Rectangle 30"/>
            <p:cNvSpPr>
              <a:spLocks noChangeArrowheads="1"/>
            </p:cNvSpPr>
            <p:nvPr/>
          </p:nvSpPr>
          <p:spPr bwMode="auto">
            <a:xfrm>
              <a:off x="1763688" y="4221924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89" name="Rectangle 31"/>
            <p:cNvSpPr>
              <a:spLocks noChangeArrowheads="1"/>
            </p:cNvSpPr>
            <p:nvPr/>
          </p:nvSpPr>
          <p:spPr bwMode="auto">
            <a:xfrm>
              <a:off x="4139952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0" name="Rectangle 32"/>
            <p:cNvSpPr>
              <a:spLocks noChangeArrowheads="1"/>
            </p:cNvSpPr>
            <p:nvPr/>
          </p:nvSpPr>
          <p:spPr bwMode="auto">
            <a:xfrm>
              <a:off x="4857748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1" name="Rectangle 33"/>
            <p:cNvSpPr>
              <a:spLocks noChangeArrowheads="1"/>
            </p:cNvSpPr>
            <p:nvPr/>
          </p:nvSpPr>
          <p:spPr bwMode="auto">
            <a:xfrm>
              <a:off x="1763688" y="480358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2" name="Rectangle 34"/>
            <p:cNvSpPr>
              <a:spLocks noChangeArrowheads="1"/>
            </p:cNvSpPr>
            <p:nvPr/>
          </p:nvSpPr>
          <p:spPr bwMode="auto">
            <a:xfrm>
              <a:off x="2627146" y="4804735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3" name="Rectangle 35"/>
            <p:cNvSpPr>
              <a:spLocks noChangeArrowheads="1"/>
            </p:cNvSpPr>
            <p:nvPr/>
          </p:nvSpPr>
          <p:spPr bwMode="auto">
            <a:xfrm>
              <a:off x="4144659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81994" name="Rectangle 36"/>
            <p:cNvSpPr>
              <a:spLocks noChangeArrowheads="1"/>
            </p:cNvSpPr>
            <p:nvPr/>
          </p:nvSpPr>
          <p:spPr bwMode="auto">
            <a:xfrm>
              <a:off x="4859394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</p:grpSp>
      <p:sp>
        <p:nvSpPr>
          <p:cNvPr id="81984" name="矩形 2"/>
          <p:cNvSpPr>
            <a:spLocks noChangeArrowheads="1"/>
          </p:cNvSpPr>
          <p:nvPr/>
        </p:nvSpPr>
        <p:spPr bwMode="auto">
          <a:xfrm>
            <a:off x="107950" y="1574800"/>
            <a:ext cx="595313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</p:spTree>
    <p:extLst>
      <p:ext uri="{BB962C8B-B14F-4D97-AF65-F5344CB8AC3E}">
        <p14:creationId xmlns:p14="http://schemas.microsoft.com/office/powerpoint/2010/main" val="245745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073AAC-24C3-45BD-859A-FCC2F254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958850"/>
            <a:ext cx="7931224" cy="3225800"/>
          </a:xfrm>
        </p:spPr>
        <p:txBody>
          <a:bodyPr/>
          <a:lstStyle/>
          <a:p>
            <a:r>
              <a:rPr lang="zh-CN" altLang="en-US" sz="3600" dirty="0"/>
              <a:t>练习</a:t>
            </a:r>
            <a:r>
              <a:rPr lang="en-US" altLang="zh-CN" sz="3600" dirty="0"/>
              <a:t>4.2.1</a:t>
            </a:r>
            <a:r>
              <a:rPr lang="zh-CN" altLang="en-US" sz="3600" dirty="0"/>
              <a:t>、</a:t>
            </a:r>
            <a:r>
              <a:rPr lang="en-US" altLang="zh-CN" sz="3600" dirty="0"/>
              <a:t>4.3.1</a:t>
            </a:r>
            <a:r>
              <a:rPr lang="zh-CN" altLang="en-US" sz="3600" dirty="0"/>
              <a:t>、</a:t>
            </a:r>
            <a:r>
              <a:rPr lang="en-US" altLang="zh-CN" sz="3600" dirty="0"/>
              <a:t>4.3.2</a:t>
            </a: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）和</a:t>
            </a:r>
            <a:r>
              <a:rPr lang="en-US" altLang="zh-CN" sz="3600" dirty="0"/>
              <a:t>4.4.1</a:t>
            </a: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）（</a:t>
            </a:r>
            <a:r>
              <a:rPr lang="en-US" altLang="zh-CN" sz="3600" dirty="0"/>
              <a:t>3</a:t>
            </a:r>
            <a:r>
              <a:rPr lang="zh-CN" altLang="en-US" sz="3600" dirty="0"/>
              <a:t>）（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FB32E24-F95C-4C6A-BB97-723F123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作业：</a:t>
            </a:r>
          </a:p>
        </p:txBody>
      </p:sp>
    </p:spTree>
    <p:extLst>
      <p:ext uri="{BB962C8B-B14F-4D97-AF65-F5344CB8AC3E}">
        <p14:creationId xmlns:p14="http://schemas.microsoft.com/office/powerpoint/2010/main" val="1200330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0"/>
            <a:ext cx="84074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788" y="174466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12" name="Rectangle 2"/>
          <p:cNvSpPr txBox="1">
            <a:spLocks noChangeArrowheads="1"/>
          </p:cNvSpPr>
          <p:nvPr/>
        </p:nvSpPr>
        <p:spPr bwMode="auto">
          <a:xfrm>
            <a:off x="5651500" y="2038350"/>
            <a:ext cx="3590925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5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南信大计软院</a:t>
            </a:r>
            <a:endParaRPr lang="en-US" altLang="zh-CN" sz="28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凌妙根</a:t>
            </a:r>
            <a:endParaRPr lang="en-US" altLang="zh-CN" sz="2400" b="1" dirty="0">
              <a:solidFill>
                <a:srgbClr val="FFFFFF"/>
              </a:solidFill>
              <a:latin typeface="Candara" panose="020E0502030303020204" pitchFamily="34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     </a:t>
            </a:r>
            <a:r>
              <a:rPr lang="en-US" altLang="zh-CN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2025</a:t>
            </a:r>
            <a:r>
              <a:rPr lang="zh-CN" altLang="en-US" sz="2800" b="1" dirty="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0113" y="1008063"/>
            <a:ext cx="582930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语法分析</a:t>
            </a:r>
            <a:r>
              <a:rPr lang="en-US" altLang="zh-CN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6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36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       自底向上语法分析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360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01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056950-5046-4EDB-BE61-3C3A47BBF0E5}" type="slidenum">
              <a:rPr lang="zh-CN" altLang="en-US" sz="1000" smtClean="0">
                <a:solidFill>
                  <a:srgbClr val="073E87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000">
              <a:solidFill>
                <a:srgbClr val="073E87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355600" y="1239838"/>
            <a:ext cx="49167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zh-CN" altLang="en-US" sz="3600" dirty="0">
                <a:solidFill>
                  <a:srgbClr val="00B0F0"/>
                </a:solidFill>
                <a:latin typeface="+mn-ea"/>
                <a:ea typeface="+mn-ea"/>
              </a:rPr>
              <a:t>自底向上的语法分析</a:t>
            </a:r>
            <a:endParaRPr lang="en-US" altLang="zh-CN" sz="3600" dirty="0">
              <a:solidFill>
                <a:srgbClr val="00B0F0"/>
              </a:solidFill>
              <a:latin typeface="+mn-ea"/>
              <a:ea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altLang="zh-CN" sz="3600" dirty="0">
                <a:latin typeface="+mn-ea"/>
                <a:ea typeface="+mn-ea"/>
              </a:rPr>
              <a:t>LR</a:t>
            </a:r>
            <a:r>
              <a:rPr lang="zh-CN" altLang="en-US" sz="3600" dirty="0">
                <a:latin typeface="+mn-ea"/>
                <a:ea typeface="+mn-ea"/>
              </a:rPr>
              <a:t>分析法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6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22532" name="组合 2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2533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E54D7D4-4A18-4A54-9C19-E2A2B40A2601}" type="slidenum">
              <a:rPr lang="zh-CN" altLang="en-US" smtClean="0">
                <a:solidFill>
                  <a:schemeClr val="tx2"/>
                </a:solidFill>
                <a:ea typeface="楷体_GB2312"/>
                <a:cs typeface="楷体_GB2312"/>
              </a:rPr>
              <a:pPr/>
              <a:t>26</a:t>
            </a:fld>
            <a:endParaRPr lang="en-US" altLang="zh-CN">
              <a:solidFill>
                <a:schemeClr val="tx2"/>
              </a:solidFill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17575"/>
            <a:ext cx="8712200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从分析树的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底部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叶节点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向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顶部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根节点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方向构造分析树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可以看成是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将输入串</a:t>
            </a:r>
            <a:r>
              <a:rPr lang="en-US" altLang="zh-CN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归约为文法开始符号</a:t>
            </a:r>
            <a:r>
              <a:rPr lang="en-US" altLang="zh-CN" b="1" i="1" dirty="0">
                <a:solidFill>
                  <a:srgbClr val="2D83F4"/>
                </a:solidFill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的过程</a:t>
            </a: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自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顶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向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下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的语法分析采用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最左推导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方式</a:t>
            </a:r>
            <a:endParaRPr lang="en-US" altLang="zh-CN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    自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底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向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上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的语法分析采用</a:t>
            </a:r>
            <a:r>
              <a:rPr lang="zh-CN" altLang="en-US" b="1" dirty="0">
                <a:solidFill>
                  <a:srgbClr val="2D83F4"/>
                </a:solidFill>
                <a:latin typeface="华文楷体" panose="02010600040101010101" pitchFamily="2" charset="-122"/>
              </a:rPr>
              <a:t>最左归约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方式</a:t>
            </a:r>
            <a:endParaRPr lang="en-US" altLang="zh-CN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</a:rPr>
              <a:t>自底向上语法分析的通用框架</a:t>
            </a:r>
            <a:endParaRPr lang="en-US" altLang="zh-CN" sz="2300" b="1" dirty="0">
              <a:solidFill>
                <a:srgbClr val="000000"/>
              </a:solidFill>
              <a:latin typeface="华文楷体" panose="02010600040101010101" pitchFamily="2" charset="-12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ea typeface="楷体" panose="02010609060101010101" pitchFamily="49" charset="-122"/>
              </a:rPr>
              <a:t>移入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ea typeface="楷体" panose="02010609060101010101" pitchFamily="49" charset="-122"/>
              </a:rPr>
              <a:t>归约分析</a:t>
            </a:r>
            <a:r>
              <a:rPr lang="en-US" altLang="zh-CN" sz="1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800" b="1" i="1" dirty="0">
                <a:solidFill>
                  <a:srgbClr val="000000"/>
                </a:solidFill>
                <a:ea typeface="宋体" panose="02010600030101010101" pitchFamily="2" charset="-122"/>
              </a:rPr>
              <a:t>Shift-Reduce Parsing</a:t>
            </a:r>
            <a:r>
              <a:rPr lang="en-US" altLang="zh-CN" sz="1800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800" b="1" dirty="0">
              <a:solidFill>
                <a:srgbClr val="000000"/>
              </a:solidFill>
              <a:latin typeface="华文楷体" panose="02010600040101010101" pitchFamily="2" charset="-122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2D83F4"/>
              </a:solidFill>
              <a:latin typeface="华文楷体" panose="02010600040101010101" pitchFamily="2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自底向上的语法分析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idx="1"/>
          </p:nvPr>
        </p:nvSpPr>
        <p:spPr>
          <a:xfrm>
            <a:off x="3571875" y="407988"/>
            <a:ext cx="5927725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剩余输入</a:t>
            </a:r>
            <a:r>
              <a:rPr lang="en-US" altLang="zh-CN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  		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id+(id+id) $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id 	   	   +(id+id) $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+(id+id)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    	     (id+id)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    	      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+(id 	         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	         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                     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+id    	 	) $ 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	 	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	 	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47107" name="标题 8"/>
          <p:cNvSpPr>
            <a:spLocks noGrp="1"/>
          </p:cNvSpPr>
          <p:nvPr>
            <p:ph type="title"/>
          </p:nvPr>
        </p:nvSpPr>
        <p:spPr>
          <a:xfrm>
            <a:off x="755650" y="268288"/>
            <a:ext cx="41036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1685925" y="3827463"/>
            <a:ext cx="357188" cy="492125"/>
            <a:chOff x="975" y="3203"/>
            <a:chExt cx="225" cy="653"/>
          </a:xfrm>
        </p:grpSpPr>
        <p:sp>
          <p:nvSpPr>
            <p:cNvPr id="47133" name="Line 62"/>
            <p:cNvSpPr>
              <a:spLocks noChangeShapeType="1"/>
            </p:cNvSpPr>
            <p:nvPr/>
          </p:nvSpPr>
          <p:spPr bwMode="auto">
            <a:xfrm flipH="1" flipV="1">
              <a:off x="1066" y="3618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34" name="Rectangle 63"/>
            <p:cNvSpPr>
              <a:spLocks noChangeArrowheads="1"/>
            </p:cNvSpPr>
            <p:nvPr/>
          </p:nvSpPr>
          <p:spPr bwMode="auto">
            <a:xfrm>
              <a:off x="975" y="3203"/>
              <a:ext cx="225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1901825" y="3422650"/>
            <a:ext cx="812800" cy="847725"/>
            <a:chOff x="1111" y="2662"/>
            <a:chExt cx="512" cy="1129"/>
          </a:xfrm>
        </p:grpSpPr>
        <p:sp>
          <p:nvSpPr>
            <p:cNvPr id="47129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30" name="Line 69"/>
            <p:cNvSpPr>
              <a:spLocks noChangeShapeType="1"/>
            </p:cNvSpPr>
            <p:nvPr/>
          </p:nvSpPr>
          <p:spPr bwMode="auto">
            <a:xfrm flipV="1">
              <a:off x="1364" y="3184"/>
              <a:ext cx="10" cy="6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31" name="Line 70"/>
            <p:cNvSpPr>
              <a:spLocks noChangeShapeType="1"/>
            </p:cNvSpPr>
            <p:nvPr/>
          </p:nvSpPr>
          <p:spPr bwMode="auto">
            <a:xfrm flipV="1">
              <a:off x="1111" y="3098"/>
              <a:ext cx="272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32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533400" y="3814763"/>
            <a:ext cx="357188" cy="504825"/>
            <a:chOff x="975" y="3041"/>
            <a:chExt cx="225" cy="672"/>
          </a:xfrm>
        </p:grpSpPr>
        <p:sp>
          <p:nvSpPr>
            <p:cNvPr id="47127" name="Line 79"/>
            <p:cNvSpPr>
              <a:spLocks noChangeShapeType="1"/>
            </p:cNvSpPr>
            <p:nvPr/>
          </p:nvSpPr>
          <p:spPr bwMode="auto">
            <a:xfrm flipH="1" flipV="1">
              <a:off x="1066" y="3474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8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2622550" y="3883025"/>
            <a:ext cx="357188" cy="471488"/>
            <a:chOff x="975" y="3203"/>
            <a:chExt cx="225" cy="628"/>
          </a:xfrm>
        </p:grpSpPr>
        <p:sp>
          <p:nvSpPr>
            <p:cNvPr id="47125" name="Line 82"/>
            <p:cNvSpPr>
              <a:spLocks noChangeShapeType="1"/>
            </p:cNvSpPr>
            <p:nvPr/>
          </p:nvSpPr>
          <p:spPr bwMode="auto">
            <a:xfrm flipH="1" flipV="1">
              <a:off x="1066" y="3592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6" name="Rectangle 83"/>
            <p:cNvSpPr>
              <a:spLocks noChangeArrowheads="1"/>
            </p:cNvSpPr>
            <p:nvPr/>
          </p:nvSpPr>
          <p:spPr bwMode="auto">
            <a:xfrm>
              <a:off x="975" y="3203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1500188" y="2919413"/>
            <a:ext cx="1625600" cy="1387475"/>
            <a:chOff x="858" y="1946"/>
            <a:chExt cx="1024" cy="1847"/>
          </a:xfrm>
        </p:grpSpPr>
        <p:sp>
          <p:nvSpPr>
            <p:cNvPr id="47121" name="Line 74"/>
            <p:cNvSpPr>
              <a:spLocks noChangeShapeType="1"/>
            </p:cNvSpPr>
            <p:nvPr/>
          </p:nvSpPr>
          <p:spPr bwMode="auto">
            <a:xfrm flipV="1">
              <a:off x="858" y="2417"/>
              <a:ext cx="536" cy="1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2" name="Line 75"/>
            <p:cNvSpPr>
              <a:spLocks noChangeShapeType="1"/>
            </p:cNvSpPr>
            <p:nvPr/>
          </p:nvSpPr>
          <p:spPr bwMode="auto">
            <a:xfrm flipH="1" flipV="1">
              <a:off x="1381" y="2417"/>
              <a:ext cx="501" cy="1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3" name="Line 85"/>
            <p:cNvSpPr>
              <a:spLocks noChangeShapeType="1"/>
            </p:cNvSpPr>
            <p:nvPr/>
          </p:nvSpPr>
          <p:spPr bwMode="auto">
            <a:xfrm flipV="1">
              <a:off x="1383" y="2392"/>
              <a:ext cx="0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4" name="Rectangle 86"/>
            <p:cNvSpPr>
              <a:spLocks noChangeArrowheads="1"/>
            </p:cNvSpPr>
            <p:nvPr/>
          </p:nvSpPr>
          <p:spPr bwMode="auto">
            <a:xfrm>
              <a:off x="1247" y="1946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749300" y="2470150"/>
            <a:ext cx="1439863" cy="1782763"/>
            <a:chOff x="385" y="1374"/>
            <a:chExt cx="907" cy="2374"/>
          </a:xfrm>
        </p:grpSpPr>
        <p:sp>
          <p:nvSpPr>
            <p:cNvPr id="47117" name="Line 73"/>
            <p:cNvSpPr>
              <a:spLocks noChangeShapeType="1"/>
            </p:cNvSpPr>
            <p:nvPr/>
          </p:nvSpPr>
          <p:spPr bwMode="auto">
            <a:xfrm flipV="1">
              <a:off x="385" y="1850"/>
              <a:ext cx="634" cy="13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18" name="Rectangle 76"/>
            <p:cNvSpPr>
              <a:spLocks noChangeArrowheads="1"/>
            </p:cNvSpPr>
            <p:nvPr/>
          </p:nvSpPr>
          <p:spPr bwMode="auto">
            <a:xfrm>
              <a:off x="930" y="1374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7119" name="Line 88"/>
            <p:cNvSpPr>
              <a:spLocks noChangeShapeType="1"/>
            </p:cNvSpPr>
            <p:nvPr/>
          </p:nvSpPr>
          <p:spPr bwMode="auto">
            <a:xfrm flipV="1">
              <a:off x="612" y="1850"/>
              <a:ext cx="447" cy="1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120" name="Line 89"/>
            <p:cNvSpPr>
              <a:spLocks noChangeShapeType="1"/>
            </p:cNvSpPr>
            <p:nvPr/>
          </p:nvSpPr>
          <p:spPr bwMode="auto">
            <a:xfrm flipH="1" flipV="1">
              <a:off x="1092" y="1850"/>
              <a:ext cx="200" cy="2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85750" y="4619625"/>
            <a:ext cx="357187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每次归约的符号串称为</a:t>
            </a:r>
            <a:r>
              <a:rPr lang="en-US" altLang="zh-CN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“</a:t>
            </a:r>
            <a:r>
              <a:rPr lang="zh-CN" altLang="en-US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句柄</a:t>
            </a:r>
            <a:r>
              <a:rPr lang="en-US" altLang="zh-CN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”</a:t>
            </a:r>
            <a:endParaRPr lang="zh-CN" altLang="en-US" sz="20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8838" y="876300"/>
            <a:ext cx="1531937" cy="1477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endParaRPr lang="en-US" altLang="zh-CN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楷体_GB2312"/>
                <a:cs typeface="Times New Roman" panose="02020603050405020304" pitchFamily="18" charset="0"/>
              </a:rPr>
              <a:t>②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</a:p>
          <a:p>
            <a:pPr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id</a:t>
            </a:r>
            <a:endParaRPr lang="zh-CN" altLang="en-US" b="1" dirty="0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461963" y="4252913"/>
            <a:ext cx="2895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2000" b="1">
                <a:solidFill>
                  <a:srgbClr val="5EAE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+    (    id    +    id</a:t>
            </a:r>
            <a:r>
              <a:rPr kumimoji="1" lang="en-US" altLang="zh-CN" sz="2000">
                <a:solidFill>
                  <a:srgbClr val="2D83F4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9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9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9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9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93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93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400" fill="hold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793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93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93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93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3990975" y="1357313"/>
            <a:ext cx="504031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3990975" y="2590800"/>
            <a:ext cx="504031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3990975" y="3568700"/>
            <a:ext cx="504031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3990975" y="3857625"/>
            <a:ext cx="504031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3990975" y="4500563"/>
            <a:ext cx="504031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3995738" y="4813300"/>
            <a:ext cx="50403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3849688" y="0"/>
            <a:ext cx="4754562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栈内符号串 </a:t>
            </a:r>
            <a:r>
              <a:rPr lang="en-US" altLang="zh-CN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+ </a:t>
            </a:r>
            <a:r>
              <a:rPr lang="zh-CN" altLang="en-US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剩余输入 </a:t>
            </a:r>
            <a:r>
              <a:rPr lang="en-US" altLang="zh-CN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=“</a:t>
            </a:r>
            <a:r>
              <a:rPr lang="zh-CN" altLang="en-US" sz="20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规范句型”</a:t>
            </a:r>
          </a:p>
        </p:txBody>
      </p:sp>
      <p:sp>
        <p:nvSpPr>
          <p:cNvPr id="49161" name="Rectangle 2"/>
          <p:cNvSpPr>
            <a:spLocks noGrp="1" noChangeArrowheads="1"/>
          </p:cNvSpPr>
          <p:nvPr>
            <p:ph idx="1"/>
          </p:nvPr>
        </p:nvSpPr>
        <p:spPr>
          <a:xfrm>
            <a:off x="3571875" y="407988"/>
            <a:ext cx="5927725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剩余输入</a:t>
            </a:r>
            <a:r>
              <a:rPr lang="en-US" altLang="zh-CN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000" b="1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  		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id+(id+id) $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id 	   	   +(id+id) $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+(id+id)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    	     (id+id)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    	      id+id)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+(id 	         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	         +id)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                     id)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+id    	 	) $ 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	 	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→id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	 	)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→(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    	 	  $ </a:t>
            </a:r>
            <a:r>
              <a:rPr lang="en-US" altLang="zh-CN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49162" name="标题 8"/>
          <p:cNvSpPr>
            <a:spLocks noGrp="1"/>
          </p:cNvSpPr>
          <p:nvPr>
            <p:ph type="title"/>
          </p:nvPr>
        </p:nvSpPr>
        <p:spPr>
          <a:xfrm>
            <a:off x="755650" y="268288"/>
            <a:ext cx="4392613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9163" name="Group 77"/>
          <p:cNvGrpSpPr>
            <a:grpSpLocks/>
          </p:cNvGrpSpPr>
          <p:nvPr/>
        </p:nvGrpSpPr>
        <p:grpSpPr bwMode="auto">
          <a:xfrm>
            <a:off x="1685925" y="3827463"/>
            <a:ext cx="357188" cy="492125"/>
            <a:chOff x="975" y="3203"/>
            <a:chExt cx="225" cy="653"/>
          </a:xfrm>
        </p:grpSpPr>
        <p:sp>
          <p:nvSpPr>
            <p:cNvPr id="49187" name="Line 62"/>
            <p:cNvSpPr>
              <a:spLocks noChangeShapeType="1"/>
            </p:cNvSpPr>
            <p:nvPr/>
          </p:nvSpPr>
          <p:spPr bwMode="auto">
            <a:xfrm flipH="1" flipV="1">
              <a:off x="1066" y="3618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8" name="Rectangle 63"/>
            <p:cNvSpPr>
              <a:spLocks noChangeArrowheads="1"/>
            </p:cNvSpPr>
            <p:nvPr/>
          </p:nvSpPr>
          <p:spPr bwMode="auto">
            <a:xfrm>
              <a:off x="975" y="3203"/>
              <a:ext cx="225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9164" name="Group 84"/>
          <p:cNvGrpSpPr>
            <a:grpSpLocks/>
          </p:cNvGrpSpPr>
          <p:nvPr/>
        </p:nvGrpSpPr>
        <p:grpSpPr bwMode="auto">
          <a:xfrm>
            <a:off x="1901825" y="3422650"/>
            <a:ext cx="812800" cy="847725"/>
            <a:chOff x="1111" y="2662"/>
            <a:chExt cx="512" cy="1129"/>
          </a:xfrm>
        </p:grpSpPr>
        <p:sp>
          <p:nvSpPr>
            <p:cNvPr id="49183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4" name="Line 69"/>
            <p:cNvSpPr>
              <a:spLocks noChangeShapeType="1"/>
            </p:cNvSpPr>
            <p:nvPr/>
          </p:nvSpPr>
          <p:spPr bwMode="auto">
            <a:xfrm flipV="1">
              <a:off x="1364" y="3184"/>
              <a:ext cx="10" cy="6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5" name="Line 70"/>
            <p:cNvSpPr>
              <a:spLocks noChangeShapeType="1"/>
            </p:cNvSpPr>
            <p:nvPr/>
          </p:nvSpPr>
          <p:spPr bwMode="auto">
            <a:xfrm flipV="1">
              <a:off x="1111" y="3098"/>
              <a:ext cx="272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6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9165" name="Group 78"/>
          <p:cNvGrpSpPr>
            <a:grpSpLocks/>
          </p:cNvGrpSpPr>
          <p:nvPr/>
        </p:nvGrpSpPr>
        <p:grpSpPr bwMode="auto">
          <a:xfrm>
            <a:off x="533400" y="3814763"/>
            <a:ext cx="357188" cy="504825"/>
            <a:chOff x="975" y="3041"/>
            <a:chExt cx="225" cy="672"/>
          </a:xfrm>
        </p:grpSpPr>
        <p:sp>
          <p:nvSpPr>
            <p:cNvPr id="49181" name="Line 79"/>
            <p:cNvSpPr>
              <a:spLocks noChangeShapeType="1"/>
            </p:cNvSpPr>
            <p:nvPr/>
          </p:nvSpPr>
          <p:spPr bwMode="auto">
            <a:xfrm flipH="1" flipV="1">
              <a:off x="1066" y="3474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9166" name="Group 81"/>
          <p:cNvGrpSpPr>
            <a:grpSpLocks/>
          </p:cNvGrpSpPr>
          <p:nvPr/>
        </p:nvGrpSpPr>
        <p:grpSpPr bwMode="auto">
          <a:xfrm>
            <a:off x="2622550" y="3883025"/>
            <a:ext cx="357188" cy="471488"/>
            <a:chOff x="975" y="3203"/>
            <a:chExt cx="225" cy="628"/>
          </a:xfrm>
        </p:grpSpPr>
        <p:sp>
          <p:nvSpPr>
            <p:cNvPr id="49179" name="Line 82"/>
            <p:cNvSpPr>
              <a:spLocks noChangeShapeType="1"/>
            </p:cNvSpPr>
            <p:nvPr/>
          </p:nvSpPr>
          <p:spPr bwMode="auto">
            <a:xfrm flipH="1" flipV="1">
              <a:off x="1066" y="3592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80" name="Rectangle 83"/>
            <p:cNvSpPr>
              <a:spLocks noChangeArrowheads="1"/>
            </p:cNvSpPr>
            <p:nvPr/>
          </p:nvSpPr>
          <p:spPr bwMode="auto">
            <a:xfrm>
              <a:off x="975" y="3203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9167" name="Group 87"/>
          <p:cNvGrpSpPr>
            <a:grpSpLocks/>
          </p:cNvGrpSpPr>
          <p:nvPr/>
        </p:nvGrpSpPr>
        <p:grpSpPr bwMode="auto">
          <a:xfrm>
            <a:off x="1500188" y="2919413"/>
            <a:ext cx="1625600" cy="1387475"/>
            <a:chOff x="858" y="1946"/>
            <a:chExt cx="1024" cy="1847"/>
          </a:xfrm>
        </p:grpSpPr>
        <p:sp>
          <p:nvSpPr>
            <p:cNvPr id="49175" name="Line 74"/>
            <p:cNvSpPr>
              <a:spLocks noChangeShapeType="1"/>
            </p:cNvSpPr>
            <p:nvPr/>
          </p:nvSpPr>
          <p:spPr bwMode="auto">
            <a:xfrm flipV="1">
              <a:off x="858" y="2417"/>
              <a:ext cx="536" cy="13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76" name="Line 75"/>
            <p:cNvSpPr>
              <a:spLocks noChangeShapeType="1"/>
            </p:cNvSpPr>
            <p:nvPr/>
          </p:nvSpPr>
          <p:spPr bwMode="auto">
            <a:xfrm flipH="1" flipV="1">
              <a:off x="1381" y="2417"/>
              <a:ext cx="501" cy="1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77" name="Line 85"/>
            <p:cNvSpPr>
              <a:spLocks noChangeShapeType="1"/>
            </p:cNvSpPr>
            <p:nvPr/>
          </p:nvSpPr>
          <p:spPr bwMode="auto">
            <a:xfrm flipV="1">
              <a:off x="1383" y="2392"/>
              <a:ext cx="0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78" name="Rectangle 86"/>
            <p:cNvSpPr>
              <a:spLocks noChangeArrowheads="1"/>
            </p:cNvSpPr>
            <p:nvPr/>
          </p:nvSpPr>
          <p:spPr bwMode="auto">
            <a:xfrm>
              <a:off x="1247" y="1946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49168" name="Group 90"/>
          <p:cNvGrpSpPr>
            <a:grpSpLocks/>
          </p:cNvGrpSpPr>
          <p:nvPr/>
        </p:nvGrpSpPr>
        <p:grpSpPr bwMode="auto">
          <a:xfrm>
            <a:off x="749300" y="2470150"/>
            <a:ext cx="1439863" cy="1782763"/>
            <a:chOff x="385" y="1374"/>
            <a:chExt cx="907" cy="2374"/>
          </a:xfrm>
        </p:grpSpPr>
        <p:sp>
          <p:nvSpPr>
            <p:cNvPr id="49171" name="Line 73"/>
            <p:cNvSpPr>
              <a:spLocks noChangeShapeType="1"/>
            </p:cNvSpPr>
            <p:nvPr/>
          </p:nvSpPr>
          <p:spPr bwMode="auto">
            <a:xfrm flipV="1">
              <a:off x="385" y="1850"/>
              <a:ext cx="634" cy="13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72" name="Rectangle 76"/>
            <p:cNvSpPr>
              <a:spLocks noChangeArrowheads="1"/>
            </p:cNvSpPr>
            <p:nvPr/>
          </p:nvSpPr>
          <p:spPr bwMode="auto">
            <a:xfrm>
              <a:off x="930" y="1374"/>
              <a:ext cx="225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9173" name="Line 88"/>
            <p:cNvSpPr>
              <a:spLocks noChangeShapeType="1"/>
            </p:cNvSpPr>
            <p:nvPr/>
          </p:nvSpPr>
          <p:spPr bwMode="auto">
            <a:xfrm flipV="1">
              <a:off x="612" y="1850"/>
              <a:ext cx="447" cy="18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174" name="Line 89"/>
            <p:cNvSpPr>
              <a:spLocks noChangeShapeType="1"/>
            </p:cNvSpPr>
            <p:nvPr/>
          </p:nvSpPr>
          <p:spPr bwMode="auto">
            <a:xfrm flipH="1" flipV="1">
              <a:off x="1092" y="1850"/>
              <a:ext cx="200" cy="2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64" name="矩形 63"/>
          <p:cNvSpPr/>
          <p:nvPr/>
        </p:nvSpPr>
        <p:spPr>
          <a:xfrm>
            <a:off x="858838" y="876300"/>
            <a:ext cx="1531937" cy="1477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endParaRPr lang="en-US" altLang="zh-CN" b="1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楷体_GB2312"/>
                <a:cs typeface="Times New Roman" panose="02020603050405020304" pitchFamily="18" charset="0"/>
              </a:rPr>
              <a:t>②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*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(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</a:p>
          <a:p>
            <a:pPr>
              <a:defRPr/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E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id</a:t>
            </a:r>
            <a:endParaRPr lang="zh-CN" altLang="en-US" b="1">
              <a:solidFill>
                <a:srgbClr val="000000"/>
              </a:solidFill>
              <a:ea typeface="楷体_GB2312"/>
              <a:cs typeface="楷体_GB2312"/>
            </a:endParaRPr>
          </a:p>
        </p:txBody>
      </p:sp>
      <p:sp>
        <p:nvSpPr>
          <p:cNvPr id="49170" name="Rectangle 57"/>
          <p:cNvSpPr>
            <a:spLocks noChangeArrowheads="1"/>
          </p:cNvSpPr>
          <p:nvPr/>
        </p:nvSpPr>
        <p:spPr bwMode="auto">
          <a:xfrm>
            <a:off x="461963" y="4252913"/>
            <a:ext cx="2895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id</a:t>
            </a:r>
            <a:r>
              <a:rPr kumimoji="1" lang="en-US" altLang="zh-CN" sz="2000" b="1">
                <a:solidFill>
                  <a:srgbClr val="5EAE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+    (    id    +    id</a:t>
            </a:r>
            <a:r>
              <a:rPr kumimoji="1" lang="en-US" altLang="zh-CN" sz="2000">
                <a:solidFill>
                  <a:srgbClr val="2D83F4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000" b="1">
                <a:solidFill>
                  <a:srgbClr val="2D83F4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428625" y="1058863"/>
            <a:ext cx="8429625" cy="4017962"/>
          </a:xfrm>
        </p:spPr>
        <p:txBody>
          <a:bodyPr/>
          <a:lstStyle/>
          <a:p>
            <a:pPr eaLnBrk="1" hangingPunct="1">
              <a:lnSpc>
                <a:spcPts val="37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在对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输入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串的一次从左到右扫描过程中，语法分析器将零个或多个输入符号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移入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栈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的顶端，直到它可以对栈顶的一个文法符号串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归约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为止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7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然后，它将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归约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为某个产生式的左部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7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语法分析器不断地重复这个循环，直到它检测到一个语法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错误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，或者栈中包含了开始符号且输入缓冲区为空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当进入这样的格局时，语法分析器停止运行，并宣称</a:t>
            </a:r>
            <a:r>
              <a:rPr lang="zh-CN" altLang="en-US" sz="2800" b="1" dirty="0">
                <a:solidFill>
                  <a:srgbClr val="2D83F4"/>
                </a:solidFill>
                <a:cs typeface="Times New Roman" panose="02020603050405020304" pitchFamily="18" charset="0"/>
              </a:rPr>
              <a:t>成功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完成了语法分析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为止</a:t>
            </a:r>
          </a:p>
        </p:txBody>
      </p:sp>
      <p:sp>
        <p:nvSpPr>
          <p:cNvPr id="512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移入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归约分析的工作过程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411163" y="917575"/>
            <a:ext cx="8304212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移入：将下一个输入符号移到栈的顶端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归约：被归约的符号串的</a:t>
            </a:r>
            <a:r>
              <a:rPr lang="zh-CN" altLang="en-US" sz="2800" b="1">
                <a:solidFill>
                  <a:srgbClr val="2D83F4"/>
                </a:solidFill>
                <a:cs typeface="Times New Roman" panose="02020603050405020304" pitchFamily="18" charset="0"/>
              </a:rPr>
              <a:t>右端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必然处于栈顶。语法分析器在栈中确定这个串的</a:t>
            </a:r>
            <a:r>
              <a:rPr lang="zh-CN" altLang="en-US" sz="2800" b="1">
                <a:solidFill>
                  <a:srgbClr val="2D83F4"/>
                </a:solidFill>
                <a:cs typeface="Times New Roman" panose="02020603050405020304" pitchFamily="18" charset="0"/>
              </a:rPr>
              <a:t>左端</a:t>
            </a: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，并决定用哪个非终结符来替换这个串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接收：宣布语法分析过程成功完成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cs typeface="Times New Roman" panose="02020603050405020304" pitchFamily="18" charset="0"/>
              </a:rPr>
              <a:t>报错：发现一个语法错误，并调用错误恢复子例程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归约分析器可采取的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种动作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2"/>
          <p:cNvSpPr>
            <a:spLocks noGrp="1" noChangeArrowheads="1"/>
          </p:cNvSpPr>
          <p:nvPr>
            <p:ph idx="1"/>
          </p:nvPr>
        </p:nvSpPr>
        <p:spPr>
          <a:xfrm>
            <a:off x="3276600" y="858838"/>
            <a:ext cx="5862638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  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var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20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755650" y="4230688"/>
            <a:ext cx="906463" cy="504825"/>
            <a:chOff x="811" y="3041"/>
            <a:chExt cx="571" cy="672"/>
          </a:xfrm>
        </p:grpSpPr>
        <p:sp>
          <p:nvSpPr>
            <p:cNvPr id="55314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5" name="Rectangle 80"/>
            <p:cNvSpPr>
              <a:spLocks noChangeArrowheads="1"/>
            </p:cNvSpPr>
            <p:nvPr/>
          </p:nvSpPr>
          <p:spPr bwMode="auto">
            <a:xfrm>
              <a:off x="811" y="3041"/>
              <a:ext cx="571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IDS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Rectangle 3"/>
          <p:cNvSpPr txBox="1">
            <a:spLocks noChangeArrowheads="1"/>
          </p:cNvSpPr>
          <p:nvPr/>
        </p:nvSpPr>
        <p:spPr bwMode="auto">
          <a:xfrm>
            <a:off x="112713" y="725488"/>
            <a:ext cx="3668712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&gt;→var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: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,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 &lt;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&gt;→real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1692275" y="4227513"/>
            <a:ext cx="906463" cy="504825"/>
            <a:chOff x="811" y="3041"/>
            <a:chExt cx="571" cy="672"/>
          </a:xfrm>
        </p:grpSpPr>
        <p:sp>
          <p:nvSpPr>
            <p:cNvPr id="55312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3" name="Rectangle 80"/>
            <p:cNvSpPr>
              <a:spLocks noChangeArrowheads="1"/>
            </p:cNvSpPr>
            <p:nvPr/>
          </p:nvSpPr>
          <p:spPr bwMode="auto">
            <a:xfrm>
              <a:off x="811" y="3041"/>
              <a:ext cx="571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IDS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2784475" y="4227513"/>
            <a:ext cx="635000" cy="504825"/>
            <a:chOff x="891" y="3041"/>
            <a:chExt cx="400" cy="672"/>
          </a:xfrm>
        </p:grpSpPr>
        <p:sp>
          <p:nvSpPr>
            <p:cNvPr id="55310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311" name="Rectangle 80"/>
            <p:cNvSpPr>
              <a:spLocks noChangeArrowheads="1"/>
            </p:cNvSpPr>
            <p:nvPr/>
          </p:nvSpPr>
          <p:spPr bwMode="auto">
            <a:xfrm>
              <a:off x="891" y="3041"/>
              <a:ext cx="40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5219700" y="3003550"/>
            <a:ext cx="288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4284663" y="3003550"/>
            <a:ext cx="9350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34925" y="4732338"/>
            <a:ext cx="619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000"/>
              </a:lnSpc>
              <a:buClr>
                <a:srgbClr val="31B6FD"/>
              </a:buClr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var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1413" y="4721225"/>
            <a:ext cx="9477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real</a:t>
            </a:r>
            <a:endParaRPr kumimoji="1" lang="en-US" altLang="zh-CN" sz="2000" b="1" dirty="0">
              <a:solidFill>
                <a:srgbClr val="5EAE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0" name="Rectangle 57"/>
          <p:cNvSpPr>
            <a:spLocks noChangeArrowheads="1"/>
          </p:cNvSpPr>
          <p:nvPr/>
        </p:nvSpPr>
        <p:spPr bwMode="auto">
          <a:xfrm>
            <a:off x="1549400" y="4686300"/>
            <a:ext cx="14382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 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1" lang="en-US" altLang="zh-CN" sz="2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98538" y="4659313"/>
            <a:ext cx="4016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55309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AF44C4-4D53-40AD-A956-25E496EC290E}"/>
              </a:ext>
            </a:extLst>
          </p:cNvPr>
          <p:cNvSpPr txBox="1"/>
          <p:nvPr/>
        </p:nvSpPr>
        <p:spPr>
          <a:xfrm>
            <a:off x="324653" y="2600760"/>
            <a:ext cx="2810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小技巧：判断栈顶符号是否出现在某个产生式的最右端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4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4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4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4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4" grpId="0"/>
      <p:bldP spid="65" grpId="0"/>
      <p:bldP spid="20" grpId="0"/>
      <p:bldP spid="21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2"/>
          <p:cNvSpPr>
            <a:spLocks noGrp="1" noChangeArrowheads="1"/>
          </p:cNvSpPr>
          <p:nvPr>
            <p:ph idx="1"/>
          </p:nvPr>
        </p:nvSpPr>
        <p:spPr>
          <a:xfrm>
            <a:off x="3276600" y="858838"/>
            <a:ext cx="5862638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  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var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                    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Rectangle 57"/>
          <p:cNvSpPr>
            <a:spLocks noChangeArrowheads="1"/>
          </p:cNvSpPr>
          <p:nvPr/>
        </p:nvSpPr>
        <p:spPr bwMode="auto">
          <a:xfrm>
            <a:off x="1549400" y="4686300"/>
            <a:ext cx="898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 </a:t>
            </a: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1" lang="en-US" altLang="zh-CN" sz="2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7348" name="Line 79"/>
          <p:cNvSpPr>
            <a:spLocks noChangeShapeType="1"/>
          </p:cNvSpPr>
          <p:nvPr/>
        </p:nvSpPr>
        <p:spPr bwMode="auto">
          <a:xfrm flipH="1" flipV="1">
            <a:off x="1160463" y="4556125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6651" name="Rectangle 80"/>
          <p:cNvSpPr>
            <a:spLocks noChangeArrowheads="1"/>
          </p:cNvSpPr>
          <p:nvPr/>
        </p:nvSpPr>
        <p:spPr bwMode="auto">
          <a:xfrm>
            <a:off x="755650" y="4230688"/>
            <a:ext cx="9064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2D83F4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8452" name="Rectangle 76"/>
          <p:cNvSpPr>
            <a:spLocks noChangeArrowheads="1"/>
          </p:cNvSpPr>
          <p:nvPr/>
        </p:nvSpPr>
        <p:spPr bwMode="auto">
          <a:xfrm>
            <a:off x="1258888" y="3702050"/>
            <a:ext cx="9064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2D83F4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" name="组合 7"/>
          <p:cNvGrpSpPr>
            <a:grpSpLocks/>
          </p:cNvGrpSpPr>
          <p:nvPr/>
        </p:nvGrpSpPr>
        <p:grpSpPr bwMode="auto">
          <a:xfrm>
            <a:off x="1160463" y="4075113"/>
            <a:ext cx="854075" cy="773112"/>
            <a:chOff x="1160461" y="4075376"/>
            <a:chExt cx="854076" cy="772294"/>
          </a:xfrm>
        </p:grpSpPr>
        <p:sp>
          <p:nvSpPr>
            <p:cNvPr id="57374" name="Line 73"/>
            <p:cNvSpPr>
              <a:spLocks noChangeShapeType="1"/>
            </p:cNvSpPr>
            <p:nvPr/>
          </p:nvSpPr>
          <p:spPr bwMode="auto">
            <a:xfrm flipV="1">
              <a:off x="1160461" y="4075376"/>
              <a:ext cx="503238" cy="2096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7375" name="Line 88"/>
            <p:cNvSpPr>
              <a:spLocks noChangeShapeType="1"/>
            </p:cNvSpPr>
            <p:nvPr/>
          </p:nvSpPr>
          <p:spPr bwMode="auto">
            <a:xfrm flipV="1">
              <a:off x="1657349" y="4075376"/>
              <a:ext cx="0" cy="772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7376" name="Line 89"/>
            <p:cNvSpPr>
              <a:spLocks noChangeShapeType="1"/>
            </p:cNvSpPr>
            <p:nvPr/>
          </p:nvSpPr>
          <p:spPr bwMode="auto">
            <a:xfrm flipH="1" flipV="1">
              <a:off x="1673224" y="4075376"/>
              <a:ext cx="341313" cy="6348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57352" name="Rectangle 3"/>
          <p:cNvSpPr txBox="1">
            <a:spLocks noChangeArrowheads="1"/>
          </p:cNvSpPr>
          <p:nvPr/>
        </p:nvSpPr>
        <p:spPr bwMode="auto">
          <a:xfrm>
            <a:off x="112713" y="725488"/>
            <a:ext cx="3668712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r>
              <a:rPr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&gt;→var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: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, 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&gt;→real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 </a:t>
            </a:r>
          </a:p>
        </p:txBody>
      </p: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2784475" y="4227513"/>
            <a:ext cx="635000" cy="504825"/>
            <a:chOff x="891" y="3041"/>
            <a:chExt cx="400" cy="672"/>
          </a:xfrm>
        </p:grpSpPr>
        <p:sp>
          <p:nvSpPr>
            <p:cNvPr id="57372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7373" name="Rectangle 80"/>
            <p:cNvSpPr>
              <a:spLocks noChangeArrowheads="1"/>
            </p:cNvSpPr>
            <p:nvPr/>
          </p:nvSpPr>
          <p:spPr bwMode="auto">
            <a:xfrm>
              <a:off x="891" y="3041"/>
              <a:ext cx="40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2"/>
          <p:cNvGrpSpPr>
            <a:grpSpLocks/>
          </p:cNvGrpSpPr>
          <p:nvPr/>
        </p:nvGrpSpPr>
        <p:grpSpPr bwMode="auto">
          <a:xfrm>
            <a:off x="398463" y="2825750"/>
            <a:ext cx="2608262" cy="1906588"/>
            <a:chOff x="398141" y="2826055"/>
            <a:chExt cx="2608583" cy="1906354"/>
          </a:xfrm>
        </p:grpSpPr>
        <p:grpSp>
          <p:nvGrpSpPr>
            <p:cNvPr id="57366" name="组合 1"/>
            <p:cNvGrpSpPr>
              <a:grpSpLocks/>
            </p:cNvGrpSpPr>
            <p:nvPr/>
          </p:nvGrpSpPr>
          <p:grpSpPr bwMode="auto">
            <a:xfrm>
              <a:off x="398141" y="2826055"/>
              <a:ext cx="2160589" cy="1906354"/>
              <a:chOff x="398141" y="2826055"/>
              <a:chExt cx="2160589" cy="1906354"/>
            </a:xfrm>
          </p:grpSpPr>
          <p:sp>
            <p:nvSpPr>
              <p:cNvPr id="57368" name="Line 68"/>
              <p:cNvSpPr>
                <a:spLocks noChangeShapeType="1"/>
              </p:cNvSpPr>
              <p:nvPr/>
            </p:nvSpPr>
            <p:spPr bwMode="auto">
              <a:xfrm flipH="1" flipV="1">
                <a:off x="1755454" y="3172187"/>
                <a:ext cx="803276" cy="15016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7369" name="Line 69"/>
              <p:cNvSpPr>
                <a:spLocks noChangeShapeType="1"/>
              </p:cNvSpPr>
              <p:nvPr/>
            </p:nvSpPr>
            <p:spPr bwMode="auto">
              <a:xfrm flipV="1">
                <a:off x="1684017" y="3172187"/>
                <a:ext cx="71438" cy="579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7370" name="Line 70"/>
              <p:cNvSpPr>
                <a:spLocks noChangeShapeType="1"/>
              </p:cNvSpPr>
              <p:nvPr/>
            </p:nvSpPr>
            <p:spPr bwMode="auto">
              <a:xfrm flipV="1">
                <a:off x="398141" y="3172187"/>
                <a:ext cx="1349376" cy="15602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7371" name="Rectangle 71"/>
              <p:cNvSpPr>
                <a:spLocks noChangeArrowheads="1"/>
              </p:cNvSpPr>
              <p:nvPr/>
            </p:nvSpPr>
            <p:spPr bwMode="auto">
              <a:xfrm>
                <a:off x="1458592" y="2826055"/>
                <a:ext cx="620713" cy="431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rgbClr val="5EAEFF"/>
                  </a:buClr>
                  <a:buSzPct val="75000"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&gt;</a:t>
                </a:r>
                <a:endPara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367" name="Line 68"/>
            <p:cNvSpPr>
              <a:spLocks noChangeShapeType="1"/>
            </p:cNvSpPr>
            <p:nvPr/>
          </p:nvSpPr>
          <p:spPr bwMode="auto">
            <a:xfrm flipH="1" flipV="1">
              <a:off x="1755453" y="3169402"/>
              <a:ext cx="1251271" cy="1058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5735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归约分析中存在的问题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4925" y="4732338"/>
            <a:ext cx="619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000"/>
              </a:lnSpc>
              <a:buClr>
                <a:srgbClr val="31B6FD"/>
              </a:buClr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var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11413" y="4721225"/>
            <a:ext cx="9477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real</a:t>
            </a:r>
            <a:endParaRPr kumimoji="1" lang="en-US" altLang="zh-CN" sz="2000" b="1" dirty="0">
              <a:solidFill>
                <a:srgbClr val="5EAE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grpSp>
        <p:nvGrpSpPr>
          <p:cNvPr id="11" name="组合 3"/>
          <p:cNvGrpSpPr>
            <a:grpSpLocks/>
          </p:cNvGrpSpPr>
          <p:nvPr/>
        </p:nvGrpSpPr>
        <p:grpSpPr bwMode="auto">
          <a:xfrm>
            <a:off x="5219700" y="123825"/>
            <a:ext cx="2520950" cy="2879725"/>
            <a:chOff x="5219179" y="169862"/>
            <a:chExt cx="2521054" cy="2880320"/>
          </a:xfrm>
        </p:grpSpPr>
        <p:sp>
          <p:nvSpPr>
            <p:cNvPr id="2" name="椭圆 1"/>
            <p:cNvSpPr/>
            <p:nvPr/>
          </p:nvSpPr>
          <p:spPr>
            <a:xfrm>
              <a:off x="5219179" y="2727853"/>
              <a:ext cx="288937" cy="322329"/>
            </a:xfrm>
            <a:prstGeom prst="ellips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AutoShape 14"/>
            <p:cNvSpPr>
              <a:spLocks/>
            </p:cNvSpPr>
            <p:nvPr/>
          </p:nvSpPr>
          <p:spPr bwMode="auto">
            <a:xfrm>
              <a:off x="5652585" y="169862"/>
              <a:ext cx="2087648" cy="601787"/>
            </a:xfrm>
            <a:prstGeom prst="borderCallout2">
              <a:avLst>
                <a:gd name="adj1" fmla="val 89345"/>
                <a:gd name="adj2" fmla="val -205"/>
                <a:gd name="adj3" fmla="val 148693"/>
                <a:gd name="adj4" fmla="val -16580"/>
                <a:gd name="adj5" fmla="val 422282"/>
                <a:gd name="adj6" fmla="val -14902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Font typeface="Wingdings" pitchFamily="2" charset="2"/>
                <a:buNone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华文楷体" pitchFamily="2" charset="-122"/>
                  <a:ea typeface="华文楷体" pitchFamily="2" charset="-122"/>
                  <a:cs typeface="楷体_GB2312"/>
                </a:rPr>
                <a:t>造成错误的原因：</a:t>
              </a:r>
              <a:endParaRPr lang="en-US" altLang="zh-CN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endParaRPr>
            </a:p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Font typeface="Wingdings" pitchFamily="2" charset="2"/>
                <a:buNone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华文楷体" pitchFamily="2" charset="-122"/>
                  <a:ea typeface="华文楷体" pitchFamily="2" charset="-122"/>
                  <a:cs typeface="楷体_GB2312"/>
                </a:rPr>
                <a:t>错误地识别了句柄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998538" y="4659313"/>
            <a:ext cx="4016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219700" y="3003550"/>
            <a:ext cx="288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84663" y="3003550"/>
            <a:ext cx="9350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1973263" y="4746625"/>
            <a:ext cx="288925" cy="322263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4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4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4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4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6651" grpId="0"/>
      <p:bldP spid="18452" grpId="0"/>
      <p:bldP spid="7" grpId="0"/>
      <p:bldP spid="9" grpId="0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2"/>
          <p:cNvSpPr>
            <a:spLocks noGrp="1" noChangeArrowheads="1"/>
          </p:cNvSpPr>
          <p:nvPr>
            <p:ph idx="1"/>
          </p:nvPr>
        </p:nvSpPr>
        <p:spPr>
          <a:xfrm>
            <a:off x="3276600" y="858838"/>
            <a:ext cx="5862638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  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var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                    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5" name="Rectangle 3"/>
          <p:cNvSpPr txBox="1">
            <a:spLocks noChangeArrowheads="1"/>
          </p:cNvSpPr>
          <p:nvPr/>
        </p:nvSpPr>
        <p:spPr bwMode="auto">
          <a:xfrm>
            <a:off x="112713" y="725488"/>
            <a:ext cx="3668712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r>
              <a:rPr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&gt;→var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: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, 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&gt;→real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 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归约分析中存在的问题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5219700" y="2681288"/>
            <a:ext cx="288925" cy="322262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219700" y="3003550"/>
            <a:ext cx="288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84663" y="3003550"/>
            <a:ext cx="9350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1549400" y="4686300"/>
            <a:ext cx="898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1"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9401" name="Line 79"/>
          <p:cNvSpPr>
            <a:spLocks noChangeShapeType="1"/>
          </p:cNvSpPr>
          <p:nvPr/>
        </p:nvSpPr>
        <p:spPr bwMode="auto">
          <a:xfrm flipH="1" flipV="1">
            <a:off x="1160463" y="4556125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402" name="Rectangle 80"/>
          <p:cNvSpPr>
            <a:spLocks noChangeArrowheads="1"/>
          </p:cNvSpPr>
          <p:nvPr/>
        </p:nvSpPr>
        <p:spPr bwMode="auto">
          <a:xfrm>
            <a:off x="755650" y="4230688"/>
            <a:ext cx="9064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403" name="Rectangle 76"/>
          <p:cNvSpPr>
            <a:spLocks noChangeArrowheads="1"/>
          </p:cNvSpPr>
          <p:nvPr/>
        </p:nvSpPr>
        <p:spPr bwMode="auto">
          <a:xfrm>
            <a:off x="1258888" y="3702050"/>
            <a:ext cx="9064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2D83F4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59404" name="组合 7"/>
          <p:cNvGrpSpPr>
            <a:grpSpLocks/>
          </p:cNvGrpSpPr>
          <p:nvPr/>
        </p:nvGrpSpPr>
        <p:grpSpPr bwMode="auto">
          <a:xfrm>
            <a:off x="1160463" y="4075113"/>
            <a:ext cx="854075" cy="773112"/>
            <a:chOff x="1160461" y="4075376"/>
            <a:chExt cx="854076" cy="772294"/>
          </a:xfrm>
        </p:grpSpPr>
        <p:sp>
          <p:nvSpPr>
            <p:cNvPr id="59421" name="Line 73"/>
            <p:cNvSpPr>
              <a:spLocks noChangeShapeType="1"/>
            </p:cNvSpPr>
            <p:nvPr/>
          </p:nvSpPr>
          <p:spPr bwMode="auto">
            <a:xfrm flipV="1">
              <a:off x="1160461" y="4075376"/>
              <a:ext cx="503238" cy="2096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2" name="Line 88"/>
            <p:cNvSpPr>
              <a:spLocks noChangeShapeType="1"/>
            </p:cNvSpPr>
            <p:nvPr/>
          </p:nvSpPr>
          <p:spPr bwMode="auto">
            <a:xfrm flipV="1">
              <a:off x="1657349" y="4075376"/>
              <a:ext cx="0" cy="772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3" name="Line 89"/>
            <p:cNvSpPr>
              <a:spLocks noChangeShapeType="1"/>
            </p:cNvSpPr>
            <p:nvPr/>
          </p:nvSpPr>
          <p:spPr bwMode="auto">
            <a:xfrm flipH="1" flipV="1">
              <a:off x="1673224" y="4075376"/>
              <a:ext cx="341313" cy="6348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59405" name="Group 78"/>
          <p:cNvGrpSpPr>
            <a:grpSpLocks/>
          </p:cNvGrpSpPr>
          <p:nvPr/>
        </p:nvGrpSpPr>
        <p:grpSpPr bwMode="auto">
          <a:xfrm>
            <a:off x="2784475" y="4227513"/>
            <a:ext cx="635000" cy="504825"/>
            <a:chOff x="891" y="3041"/>
            <a:chExt cx="400" cy="672"/>
          </a:xfrm>
        </p:grpSpPr>
        <p:sp>
          <p:nvSpPr>
            <p:cNvPr id="59419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0" name="Rectangle 80"/>
            <p:cNvSpPr>
              <a:spLocks noChangeArrowheads="1"/>
            </p:cNvSpPr>
            <p:nvPr/>
          </p:nvSpPr>
          <p:spPr bwMode="auto">
            <a:xfrm>
              <a:off x="891" y="3041"/>
              <a:ext cx="40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406" name="组合 2"/>
          <p:cNvGrpSpPr>
            <a:grpSpLocks/>
          </p:cNvGrpSpPr>
          <p:nvPr/>
        </p:nvGrpSpPr>
        <p:grpSpPr bwMode="auto">
          <a:xfrm>
            <a:off x="398463" y="2825750"/>
            <a:ext cx="2608262" cy="1906588"/>
            <a:chOff x="398141" y="2826055"/>
            <a:chExt cx="2608583" cy="1906354"/>
          </a:xfrm>
        </p:grpSpPr>
        <p:grpSp>
          <p:nvGrpSpPr>
            <p:cNvPr id="59413" name="组合 1"/>
            <p:cNvGrpSpPr>
              <a:grpSpLocks/>
            </p:cNvGrpSpPr>
            <p:nvPr/>
          </p:nvGrpSpPr>
          <p:grpSpPr bwMode="auto">
            <a:xfrm>
              <a:off x="398141" y="2826055"/>
              <a:ext cx="2160589" cy="1906354"/>
              <a:chOff x="398141" y="2826055"/>
              <a:chExt cx="2160589" cy="1906354"/>
            </a:xfrm>
          </p:grpSpPr>
          <p:sp>
            <p:nvSpPr>
              <p:cNvPr id="59415" name="Line 68"/>
              <p:cNvSpPr>
                <a:spLocks noChangeShapeType="1"/>
              </p:cNvSpPr>
              <p:nvPr/>
            </p:nvSpPr>
            <p:spPr bwMode="auto">
              <a:xfrm flipH="1" flipV="1">
                <a:off x="1755454" y="3172187"/>
                <a:ext cx="803276" cy="15016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6" name="Line 69"/>
              <p:cNvSpPr>
                <a:spLocks noChangeShapeType="1"/>
              </p:cNvSpPr>
              <p:nvPr/>
            </p:nvSpPr>
            <p:spPr bwMode="auto">
              <a:xfrm flipV="1">
                <a:off x="1684017" y="3172187"/>
                <a:ext cx="71438" cy="579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7" name="Line 70"/>
              <p:cNvSpPr>
                <a:spLocks noChangeShapeType="1"/>
              </p:cNvSpPr>
              <p:nvPr/>
            </p:nvSpPr>
            <p:spPr bwMode="auto">
              <a:xfrm flipV="1">
                <a:off x="398141" y="3172187"/>
                <a:ext cx="1349376" cy="15602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8" name="Rectangle 71"/>
              <p:cNvSpPr>
                <a:spLocks noChangeArrowheads="1"/>
              </p:cNvSpPr>
              <p:nvPr/>
            </p:nvSpPr>
            <p:spPr bwMode="auto">
              <a:xfrm>
                <a:off x="1458592" y="2826055"/>
                <a:ext cx="620713" cy="431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rgbClr val="5EAEFF"/>
                  </a:buClr>
                  <a:buSzPct val="75000"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&gt;</a:t>
                </a:r>
                <a:endPara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414" name="Line 68"/>
            <p:cNvSpPr>
              <a:spLocks noChangeShapeType="1"/>
            </p:cNvSpPr>
            <p:nvPr/>
          </p:nvSpPr>
          <p:spPr bwMode="auto">
            <a:xfrm flipH="1" flipV="1">
              <a:off x="1755453" y="3169402"/>
              <a:ext cx="1251271" cy="1058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59407" name="矩形 6"/>
          <p:cNvSpPr>
            <a:spLocks noChangeArrowheads="1"/>
          </p:cNvSpPr>
          <p:nvPr/>
        </p:nvSpPr>
        <p:spPr bwMode="auto">
          <a:xfrm>
            <a:off x="34925" y="4732338"/>
            <a:ext cx="619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000"/>
              </a:lnSpc>
              <a:buClr>
                <a:srgbClr val="31B6FD"/>
              </a:buClr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var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1413" y="4721225"/>
            <a:ext cx="9477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real</a:t>
            </a:r>
            <a:endParaRPr kumimoji="1" lang="en-US" altLang="zh-CN" sz="2000" b="1" dirty="0">
              <a:solidFill>
                <a:srgbClr val="073E87">
                  <a:lumMod val="60000"/>
                  <a:lumOff val="4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8538" y="4659313"/>
            <a:ext cx="4016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1973263" y="4746625"/>
            <a:ext cx="288925" cy="322263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AutoShape 14"/>
          <p:cNvSpPr>
            <a:spLocks/>
          </p:cNvSpPr>
          <p:nvPr/>
        </p:nvSpPr>
        <p:spPr bwMode="auto">
          <a:xfrm>
            <a:off x="5653088" y="123825"/>
            <a:ext cx="2087562" cy="601663"/>
          </a:xfrm>
          <a:prstGeom prst="borderCallout2">
            <a:avLst>
              <a:gd name="adj1" fmla="val 89345"/>
              <a:gd name="adj2" fmla="val -205"/>
              <a:gd name="adj3" fmla="val 148693"/>
              <a:gd name="adj4" fmla="val -16580"/>
              <a:gd name="adj5" fmla="val 422282"/>
              <a:gd name="adj6" fmla="val -1490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造成错误的原因：</a:t>
            </a:r>
            <a:endParaRPr lang="en-US" altLang="zh-CN" b="1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  <a:cs typeface="楷体_GB231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错误地识别了句柄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8161337" cy="1916112"/>
          </a:xfrm>
        </p:spPr>
        <p:txBody>
          <a:bodyPr/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给定一个句型，其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分析树中的每一棵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urier"/>
              </a:rPr>
              <a:t>子树的边缘</a:t>
            </a: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短语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Courier"/>
            </a:endParaRPr>
          </a:p>
          <a:p>
            <a:pPr lvl="1"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Courier"/>
              </a:rPr>
              <a:t>如果子树只有父子两代结点，那么这棵子树的边缘称为该句型的一个</a:t>
            </a:r>
            <a:r>
              <a:rPr lang="zh-CN" altLang="en-US" b="1" dirty="0">
                <a:solidFill>
                  <a:srgbClr val="FF0000"/>
                </a:solidFill>
                <a:latin typeface="Courier"/>
              </a:rPr>
              <a:t>直接短语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immediate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phrase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1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03213" lvl="1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b="1" dirty="0">
              <a:solidFill>
                <a:schemeClr val="tx1"/>
              </a:solidFill>
              <a:latin typeface="Courier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(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句型的）短语</a:t>
            </a:r>
            <a:endParaRPr lang="zh-CN" altLang="en-US" sz="25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1444" name="组合 9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1469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21125" y="2427288"/>
            <a:ext cx="1374775" cy="1349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>
              <a:lnSpc>
                <a:spcPts val="25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短语：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342900" indent="-34290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481638" y="2428875"/>
            <a:ext cx="1725612" cy="704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直接短语：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E+E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475" y="3867150"/>
            <a:ext cx="37753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直接短语一定是某产生式的右部</a:t>
            </a:r>
            <a:endParaRPr lang="zh-CN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9525" y="4203700"/>
            <a:ext cx="5314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但产生式的右部不一定是给定句型的直接短语</a:t>
            </a:r>
            <a:endParaRPr lang="zh-CN" alt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1449" name="组合 8"/>
          <p:cNvGrpSpPr>
            <a:grpSpLocks/>
          </p:cNvGrpSpPr>
          <p:nvPr/>
        </p:nvGrpSpPr>
        <p:grpSpPr bwMode="auto">
          <a:xfrm>
            <a:off x="755650" y="2403475"/>
            <a:ext cx="3071813" cy="2181225"/>
            <a:chOff x="1139114" y="2402746"/>
            <a:chExt cx="3072523" cy="2181666"/>
          </a:xfrm>
        </p:grpSpPr>
        <p:grpSp>
          <p:nvGrpSpPr>
            <p:cNvPr id="61450" name="组合 24"/>
            <p:cNvGrpSpPr>
              <a:grpSpLocks/>
            </p:cNvGrpSpPr>
            <p:nvPr/>
          </p:nvGrpSpPr>
          <p:grpSpPr bwMode="auto">
            <a:xfrm>
              <a:off x="2938461" y="3142140"/>
              <a:ext cx="819150" cy="431880"/>
              <a:chOff x="4501997" y="3289640"/>
              <a:chExt cx="819455" cy="431182"/>
            </a:xfrm>
          </p:grpSpPr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43220" y="3302707"/>
                <a:ext cx="142673" cy="1429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6200000" flipH="1">
                <a:off x="4894197" y="3307499"/>
                <a:ext cx="142673" cy="1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467" name="矩形 21"/>
              <p:cNvSpPr>
                <a:spLocks noChangeArrowheads="1"/>
              </p:cNvSpPr>
              <p:nvPr/>
            </p:nvSpPr>
            <p:spPr bwMode="auto">
              <a:xfrm>
                <a:off x="4501997" y="3351490"/>
                <a:ext cx="8194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-      E </a:t>
                </a:r>
                <a:endParaRPr lang="zh-CN" altLang="en-US">
                  <a:solidFill>
                    <a:srgbClr val="000000"/>
                  </a:solidFill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451" name="组合 38"/>
            <p:cNvGrpSpPr>
              <a:grpSpLocks/>
            </p:cNvGrpSpPr>
            <p:nvPr/>
          </p:nvGrpSpPr>
          <p:grpSpPr bwMode="auto">
            <a:xfrm>
              <a:off x="3005136" y="3577196"/>
              <a:ext cx="1011238" cy="458873"/>
              <a:chOff x="4568297" y="3723878"/>
              <a:chExt cx="1011815" cy="459804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788756" y="3724518"/>
                <a:ext cx="143194" cy="1429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6200000" flipH="1">
                <a:off x="5238378" y="3741995"/>
                <a:ext cx="143194" cy="1080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5400000">
                <a:off x="5002446" y="3795219"/>
                <a:ext cx="143194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464" name="矩形 25"/>
              <p:cNvSpPr>
                <a:spLocks noChangeArrowheads="1"/>
              </p:cNvSpPr>
              <p:nvPr/>
            </p:nvSpPr>
            <p:spPr bwMode="auto">
              <a:xfrm>
                <a:off x="4568297" y="3814350"/>
                <a:ext cx="101181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(    </a:t>
                </a: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    </a:t>
                </a: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)</a:t>
                </a:r>
                <a:endParaRPr lang="zh-CN" altLang="en-US">
                  <a:solidFill>
                    <a:srgbClr val="000000"/>
                  </a:solidFill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1452" name="组合 42"/>
            <p:cNvGrpSpPr>
              <a:grpSpLocks/>
            </p:cNvGrpSpPr>
            <p:nvPr/>
          </p:nvGrpSpPr>
          <p:grpSpPr bwMode="auto">
            <a:xfrm>
              <a:off x="3006416" y="4036068"/>
              <a:ext cx="1028700" cy="476336"/>
              <a:chOff x="4498728" y="3706379"/>
              <a:chExt cx="1027845" cy="477303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4716115" y="3706926"/>
                <a:ext cx="212597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>
                <a:off x="5076260" y="3706926"/>
                <a:ext cx="214184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4929302" y="3795231"/>
                <a:ext cx="143194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460" name="矩形 46"/>
              <p:cNvSpPr>
                <a:spLocks noChangeArrowheads="1"/>
              </p:cNvSpPr>
              <p:nvPr/>
            </p:nvSpPr>
            <p:spPr bwMode="auto">
              <a:xfrm>
                <a:off x="4498728" y="3814350"/>
                <a:ext cx="10278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E   +   E </a:t>
                </a:r>
                <a:endParaRPr lang="zh-CN" altLang="en-US">
                  <a:solidFill>
                    <a:srgbClr val="000000"/>
                  </a:solidFill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453" name="矩形 9"/>
            <p:cNvSpPr>
              <a:spLocks noChangeArrowheads="1"/>
            </p:cNvSpPr>
            <p:nvPr/>
          </p:nvSpPr>
          <p:spPr bwMode="auto">
            <a:xfrm>
              <a:off x="3096884" y="2787774"/>
              <a:ext cx="305251" cy="383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lang="zh-CN" altLang="en-US" sz="1600">
                <a:solidFill>
                  <a:srgbClr val="000000"/>
                </a:solidFill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768265" y="2426564"/>
              <a:ext cx="1443372" cy="2157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455" name="矩形 47"/>
            <p:cNvSpPr>
              <a:spLocks noChangeArrowheads="1"/>
            </p:cNvSpPr>
            <p:nvPr/>
          </p:nvSpPr>
          <p:spPr bwMode="auto">
            <a:xfrm>
              <a:off x="2897187" y="2403217"/>
              <a:ext cx="1108075" cy="384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楷体_GB2312"/>
                </a:rPr>
                <a:t>分析树</a:t>
              </a:r>
              <a:r>
                <a:rPr lang="zh-CN" altLang="en-US" b="1">
                  <a:solidFill>
                    <a:srgbClr val="000000"/>
                  </a:solidFill>
                  <a:latin typeface="楷体_GB2312"/>
                  <a:ea typeface="华文楷体" panose="02010600040101010101" pitchFamily="2" charset="-122"/>
                  <a:cs typeface="楷体_GB2312"/>
                </a:rPr>
                <a:t>：</a:t>
              </a:r>
              <a:endParaRPr lang="zh-CN" altLang="en-US">
                <a:solidFill>
                  <a:srgbClr val="000000"/>
                </a:solidFill>
                <a:ea typeface="华文楷体" panose="02010600040101010101" pitchFamily="2" charset="-122"/>
                <a:cs typeface="楷体_GB2312"/>
              </a:endParaRPr>
            </a:p>
          </p:txBody>
        </p:sp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1139114" y="2402746"/>
              <a:ext cx="1522765" cy="218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  <a:defRPr/>
              </a:pPr>
              <a:r>
                <a:rPr lang="zh-CN" altLang="en-US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文法：</a:t>
              </a:r>
              <a:endParaRPr lang="en-US" altLang="zh-CN" b="1" dirty="0"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defRPr/>
              </a:pPr>
              <a:r>
                <a:rPr lang="en-US" altLang="zh-CN" b="1" dirty="0"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① 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+ E</a:t>
              </a:r>
            </a:p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defRPr/>
              </a:pPr>
              <a:r>
                <a:rPr lang="en-US" altLang="zh-CN" b="1" dirty="0"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②</a:t>
              </a:r>
              <a:r>
                <a:rPr lang="en-US" altLang="zh-CN" b="1" i="1" dirty="0"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E * E</a:t>
              </a:r>
            </a:p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③</a:t>
              </a:r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- E </a:t>
              </a:r>
            </a:p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④ 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lang="en-US" altLang="zh-CN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E </a:t>
              </a:r>
              <a:r>
                <a:rPr lang="en-US" altLang="zh-CN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)</a:t>
              </a:r>
            </a:p>
            <a:p>
              <a:pPr algn="just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defRPr/>
              </a:pPr>
              <a:r>
                <a:rPr lang="zh-CN" altLang="zh-CN" b="1" dirty="0">
                  <a:latin typeface="Times New Roman" pitchFamily="18" charset="0"/>
                  <a:cs typeface="Times New Roman" pitchFamily="18" charset="0"/>
                </a:rPr>
                <a:t>⑤</a:t>
              </a:r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b="1" i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E → </a:t>
              </a:r>
              <a:r>
                <a:rPr lang="en-US" altLang="zh-CN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id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2"/>
          <p:cNvSpPr>
            <a:spLocks noGrp="1" noChangeArrowheads="1"/>
          </p:cNvSpPr>
          <p:nvPr>
            <p:ph idx="1"/>
          </p:nvPr>
        </p:nvSpPr>
        <p:spPr>
          <a:xfrm>
            <a:off x="3276600" y="858838"/>
            <a:ext cx="5862638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  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var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                    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395" name="Rectangle 3"/>
          <p:cNvSpPr txBox="1">
            <a:spLocks noChangeArrowheads="1"/>
          </p:cNvSpPr>
          <p:nvPr/>
        </p:nvSpPr>
        <p:spPr bwMode="auto">
          <a:xfrm>
            <a:off x="112713" y="725488"/>
            <a:ext cx="3668712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r>
              <a:rPr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&gt;→var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: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, 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&gt;→real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 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归约分析中存在的问题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5219700" y="2681288"/>
            <a:ext cx="288925" cy="322262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219700" y="3003550"/>
            <a:ext cx="288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84663" y="3003550"/>
            <a:ext cx="9350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1549400" y="4686300"/>
            <a:ext cx="898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1"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9401" name="Line 79"/>
          <p:cNvSpPr>
            <a:spLocks noChangeShapeType="1"/>
          </p:cNvSpPr>
          <p:nvPr/>
        </p:nvSpPr>
        <p:spPr bwMode="auto">
          <a:xfrm flipH="1" flipV="1">
            <a:off x="1160463" y="4556125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402" name="Rectangle 80"/>
          <p:cNvSpPr>
            <a:spLocks noChangeArrowheads="1"/>
          </p:cNvSpPr>
          <p:nvPr/>
        </p:nvSpPr>
        <p:spPr bwMode="auto">
          <a:xfrm>
            <a:off x="755650" y="4230688"/>
            <a:ext cx="9064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59403" name="Rectangle 76"/>
          <p:cNvSpPr>
            <a:spLocks noChangeArrowheads="1"/>
          </p:cNvSpPr>
          <p:nvPr/>
        </p:nvSpPr>
        <p:spPr bwMode="auto">
          <a:xfrm>
            <a:off x="1258888" y="3702050"/>
            <a:ext cx="9064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2D83F4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59404" name="组合 7"/>
          <p:cNvGrpSpPr>
            <a:grpSpLocks/>
          </p:cNvGrpSpPr>
          <p:nvPr/>
        </p:nvGrpSpPr>
        <p:grpSpPr bwMode="auto">
          <a:xfrm>
            <a:off x="1160463" y="4075113"/>
            <a:ext cx="854075" cy="773112"/>
            <a:chOff x="1160461" y="4075376"/>
            <a:chExt cx="854076" cy="772294"/>
          </a:xfrm>
        </p:grpSpPr>
        <p:sp>
          <p:nvSpPr>
            <p:cNvPr id="59421" name="Line 73"/>
            <p:cNvSpPr>
              <a:spLocks noChangeShapeType="1"/>
            </p:cNvSpPr>
            <p:nvPr/>
          </p:nvSpPr>
          <p:spPr bwMode="auto">
            <a:xfrm flipV="1">
              <a:off x="1160461" y="4075376"/>
              <a:ext cx="503238" cy="2096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2" name="Line 88"/>
            <p:cNvSpPr>
              <a:spLocks noChangeShapeType="1"/>
            </p:cNvSpPr>
            <p:nvPr/>
          </p:nvSpPr>
          <p:spPr bwMode="auto">
            <a:xfrm flipV="1">
              <a:off x="1657349" y="4075376"/>
              <a:ext cx="0" cy="772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3" name="Line 89"/>
            <p:cNvSpPr>
              <a:spLocks noChangeShapeType="1"/>
            </p:cNvSpPr>
            <p:nvPr/>
          </p:nvSpPr>
          <p:spPr bwMode="auto">
            <a:xfrm flipH="1" flipV="1">
              <a:off x="1673224" y="4075376"/>
              <a:ext cx="341313" cy="6348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59405" name="Group 78"/>
          <p:cNvGrpSpPr>
            <a:grpSpLocks/>
          </p:cNvGrpSpPr>
          <p:nvPr/>
        </p:nvGrpSpPr>
        <p:grpSpPr bwMode="auto">
          <a:xfrm>
            <a:off x="2784475" y="4227513"/>
            <a:ext cx="635000" cy="504825"/>
            <a:chOff x="891" y="3041"/>
            <a:chExt cx="400" cy="672"/>
          </a:xfrm>
        </p:grpSpPr>
        <p:sp>
          <p:nvSpPr>
            <p:cNvPr id="59419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420" name="Rectangle 80"/>
            <p:cNvSpPr>
              <a:spLocks noChangeArrowheads="1"/>
            </p:cNvSpPr>
            <p:nvPr/>
          </p:nvSpPr>
          <p:spPr bwMode="auto">
            <a:xfrm>
              <a:off x="891" y="3041"/>
              <a:ext cx="40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406" name="组合 2"/>
          <p:cNvGrpSpPr>
            <a:grpSpLocks/>
          </p:cNvGrpSpPr>
          <p:nvPr/>
        </p:nvGrpSpPr>
        <p:grpSpPr bwMode="auto">
          <a:xfrm>
            <a:off x="398463" y="2825750"/>
            <a:ext cx="2608262" cy="1906588"/>
            <a:chOff x="398141" y="2826055"/>
            <a:chExt cx="2608583" cy="1906354"/>
          </a:xfrm>
        </p:grpSpPr>
        <p:grpSp>
          <p:nvGrpSpPr>
            <p:cNvPr id="59413" name="组合 1"/>
            <p:cNvGrpSpPr>
              <a:grpSpLocks/>
            </p:cNvGrpSpPr>
            <p:nvPr/>
          </p:nvGrpSpPr>
          <p:grpSpPr bwMode="auto">
            <a:xfrm>
              <a:off x="398141" y="2826055"/>
              <a:ext cx="2160589" cy="1906354"/>
              <a:chOff x="398141" y="2826055"/>
              <a:chExt cx="2160589" cy="1906354"/>
            </a:xfrm>
          </p:grpSpPr>
          <p:sp>
            <p:nvSpPr>
              <p:cNvPr id="59415" name="Line 68"/>
              <p:cNvSpPr>
                <a:spLocks noChangeShapeType="1"/>
              </p:cNvSpPr>
              <p:nvPr/>
            </p:nvSpPr>
            <p:spPr bwMode="auto">
              <a:xfrm flipH="1" flipV="1">
                <a:off x="1755454" y="3172187"/>
                <a:ext cx="803276" cy="15016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6" name="Line 69"/>
              <p:cNvSpPr>
                <a:spLocks noChangeShapeType="1"/>
              </p:cNvSpPr>
              <p:nvPr/>
            </p:nvSpPr>
            <p:spPr bwMode="auto">
              <a:xfrm flipV="1">
                <a:off x="1684017" y="3172187"/>
                <a:ext cx="71438" cy="579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7" name="Line 70"/>
              <p:cNvSpPr>
                <a:spLocks noChangeShapeType="1"/>
              </p:cNvSpPr>
              <p:nvPr/>
            </p:nvSpPr>
            <p:spPr bwMode="auto">
              <a:xfrm flipV="1">
                <a:off x="398141" y="3172187"/>
                <a:ext cx="1349376" cy="15602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59418" name="Rectangle 71"/>
              <p:cNvSpPr>
                <a:spLocks noChangeArrowheads="1"/>
              </p:cNvSpPr>
              <p:nvPr/>
            </p:nvSpPr>
            <p:spPr bwMode="auto">
              <a:xfrm>
                <a:off x="1458592" y="2826055"/>
                <a:ext cx="620713" cy="431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rgbClr val="5EAEFF"/>
                  </a:buClr>
                  <a:buSzPct val="75000"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&gt;</a:t>
                </a:r>
                <a:endPara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414" name="Line 68"/>
            <p:cNvSpPr>
              <a:spLocks noChangeShapeType="1"/>
            </p:cNvSpPr>
            <p:nvPr/>
          </p:nvSpPr>
          <p:spPr bwMode="auto">
            <a:xfrm flipH="1" flipV="1">
              <a:off x="1755453" y="3169402"/>
              <a:ext cx="1251271" cy="1058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59407" name="矩形 6"/>
          <p:cNvSpPr>
            <a:spLocks noChangeArrowheads="1"/>
          </p:cNvSpPr>
          <p:nvPr/>
        </p:nvSpPr>
        <p:spPr bwMode="auto">
          <a:xfrm>
            <a:off x="34925" y="4732338"/>
            <a:ext cx="619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000"/>
              </a:lnSpc>
              <a:buClr>
                <a:srgbClr val="31B6FD"/>
              </a:buClr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var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1413" y="4721225"/>
            <a:ext cx="9477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real</a:t>
            </a:r>
            <a:endParaRPr kumimoji="1" lang="en-US" altLang="zh-CN" sz="2000" b="1" dirty="0">
              <a:solidFill>
                <a:srgbClr val="073E87">
                  <a:lumMod val="60000"/>
                  <a:lumOff val="4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8538" y="4659313"/>
            <a:ext cx="4016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1973263" y="4746625"/>
            <a:ext cx="288925" cy="322263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684588" y="4632325"/>
            <a:ext cx="32639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句柄：句型的最左直接短语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36" name="AutoShape 14"/>
          <p:cNvSpPr>
            <a:spLocks/>
          </p:cNvSpPr>
          <p:nvPr/>
        </p:nvSpPr>
        <p:spPr bwMode="auto">
          <a:xfrm>
            <a:off x="5653088" y="123825"/>
            <a:ext cx="2087562" cy="601663"/>
          </a:xfrm>
          <a:prstGeom prst="borderCallout2">
            <a:avLst>
              <a:gd name="adj1" fmla="val 89345"/>
              <a:gd name="adj2" fmla="val -205"/>
              <a:gd name="adj3" fmla="val 148693"/>
              <a:gd name="adj4" fmla="val -16580"/>
              <a:gd name="adj5" fmla="val 422282"/>
              <a:gd name="adj6" fmla="val -1490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造成错误的原因：</a:t>
            </a:r>
            <a:endParaRPr lang="en-US" altLang="zh-CN" b="1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  <a:cs typeface="楷体_GB231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错误地识别了句柄</a:t>
            </a:r>
          </a:p>
        </p:txBody>
      </p:sp>
    </p:spTree>
    <p:extLst>
      <p:ext uri="{BB962C8B-B14F-4D97-AF65-F5344CB8AC3E}">
        <p14:creationId xmlns:p14="http://schemas.microsoft.com/office/powerpoint/2010/main" val="4267630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2"/>
          <p:cNvSpPr>
            <a:spLocks noGrp="1" noChangeArrowheads="1"/>
          </p:cNvSpPr>
          <p:nvPr>
            <p:ph idx="1"/>
          </p:nvPr>
        </p:nvSpPr>
        <p:spPr>
          <a:xfrm>
            <a:off x="3276600" y="858838"/>
            <a:ext cx="5862638" cy="3225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栈                              剩余输入</a:t>
            </a:r>
            <a:r>
              <a:rPr lang="en-US" altLang="zh-CN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1" dirty="0">
                <a:solidFill>
                  <a:srgbClr val="2D83F4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动作</a:t>
            </a:r>
            <a:endParaRPr lang="en-US" altLang="zh-CN" sz="2000" b="1" dirty="0">
              <a:solidFill>
                <a:srgbClr val="2D83F4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		   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var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	        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	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,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2000" b="1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2000" b="1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                    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real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移入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var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:&lt;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                 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 $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                                          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$</a:t>
            </a:r>
            <a:r>
              <a:rPr lang="en-US" altLang="zh-CN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endParaRPr lang="en-US" altLang="zh-CN" sz="2000" b="1" dirty="0">
              <a:solidFill>
                <a:schemeClr val="tx1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491" name="Rectangle 3"/>
          <p:cNvSpPr txBox="1">
            <a:spLocks noChangeArrowheads="1"/>
          </p:cNvSpPr>
          <p:nvPr/>
        </p:nvSpPr>
        <p:spPr bwMode="auto">
          <a:xfrm>
            <a:off x="112713" y="725488"/>
            <a:ext cx="3668712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Symbol" panose="05050102010706020507" pitchFamily="18" charset="2"/>
              <a:buNone/>
            </a:pPr>
            <a:r>
              <a:rPr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例：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&gt;→var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: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 , i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(4) 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&gt;→real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int </a:t>
            </a: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移入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归约分析中存在的问题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5219700" y="2681288"/>
            <a:ext cx="288925" cy="322262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219700" y="3003550"/>
            <a:ext cx="2889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84663" y="3003550"/>
            <a:ext cx="9350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云形标注 34"/>
          <p:cNvSpPr/>
          <p:nvPr/>
        </p:nvSpPr>
        <p:spPr>
          <a:xfrm>
            <a:off x="4735513" y="3206750"/>
            <a:ext cx="4330700" cy="877888"/>
          </a:xfrm>
          <a:prstGeom prst="cloudCallout">
            <a:avLst>
              <a:gd name="adj1" fmla="val -47929"/>
              <a:gd name="adj2" fmla="val 124283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华文楷体" pitchFamily="2" charset="-122"/>
                <a:cs typeface="Times New Roman" pitchFamily="18" charset="0"/>
              </a:rPr>
              <a:t>如何正确地识别句柄？</a:t>
            </a:r>
          </a:p>
        </p:txBody>
      </p:sp>
      <p:sp>
        <p:nvSpPr>
          <p:cNvPr id="37" name="Rectangle 57"/>
          <p:cNvSpPr>
            <a:spLocks noChangeArrowheads="1"/>
          </p:cNvSpPr>
          <p:nvPr/>
        </p:nvSpPr>
        <p:spPr bwMode="auto">
          <a:xfrm>
            <a:off x="1549400" y="4686300"/>
            <a:ext cx="898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 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srgbClr val="FF00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1"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3498" name="Line 79"/>
          <p:cNvSpPr>
            <a:spLocks noChangeShapeType="1"/>
          </p:cNvSpPr>
          <p:nvPr/>
        </p:nvSpPr>
        <p:spPr bwMode="auto">
          <a:xfrm flipH="1" flipV="1">
            <a:off x="1160463" y="4556125"/>
            <a:ext cx="0" cy="179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499" name="Rectangle 80"/>
          <p:cNvSpPr>
            <a:spLocks noChangeArrowheads="1"/>
          </p:cNvSpPr>
          <p:nvPr/>
        </p:nvSpPr>
        <p:spPr bwMode="auto">
          <a:xfrm>
            <a:off x="755650" y="4230688"/>
            <a:ext cx="9064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  <a:buFont typeface="Monotype Sorts"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3500" name="Rectangle 76"/>
          <p:cNvSpPr>
            <a:spLocks noChangeArrowheads="1"/>
          </p:cNvSpPr>
          <p:nvPr/>
        </p:nvSpPr>
        <p:spPr bwMode="auto">
          <a:xfrm>
            <a:off x="1258888" y="3702050"/>
            <a:ext cx="90646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buClr>
                <a:srgbClr val="5EAEFF"/>
              </a:buClr>
              <a:buSzPct val="75000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&lt;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&gt;</a:t>
            </a:r>
            <a:endParaRPr kumimoji="1" lang="en-US" altLang="zh-CN" sz="2000" b="1" i="1">
              <a:solidFill>
                <a:srgbClr val="2D83F4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63501" name="组合 7"/>
          <p:cNvGrpSpPr>
            <a:grpSpLocks/>
          </p:cNvGrpSpPr>
          <p:nvPr/>
        </p:nvGrpSpPr>
        <p:grpSpPr bwMode="auto">
          <a:xfrm>
            <a:off x="1160463" y="4075113"/>
            <a:ext cx="854075" cy="773112"/>
            <a:chOff x="1160461" y="4075376"/>
            <a:chExt cx="854076" cy="772294"/>
          </a:xfrm>
        </p:grpSpPr>
        <p:sp>
          <p:nvSpPr>
            <p:cNvPr id="63518" name="Line 73"/>
            <p:cNvSpPr>
              <a:spLocks noChangeShapeType="1"/>
            </p:cNvSpPr>
            <p:nvPr/>
          </p:nvSpPr>
          <p:spPr bwMode="auto">
            <a:xfrm flipV="1">
              <a:off x="1160461" y="4075376"/>
              <a:ext cx="503238" cy="2096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3519" name="Line 88"/>
            <p:cNvSpPr>
              <a:spLocks noChangeShapeType="1"/>
            </p:cNvSpPr>
            <p:nvPr/>
          </p:nvSpPr>
          <p:spPr bwMode="auto">
            <a:xfrm flipV="1">
              <a:off x="1657349" y="4075376"/>
              <a:ext cx="0" cy="772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3520" name="Line 89"/>
            <p:cNvSpPr>
              <a:spLocks noChangeShapeType="1"/>
            </p:cNvSpPr>
            <p:nvPr/>
          </p:nvSpPr>
          <p:spPr bwMode="auto">
            <a:xfrm flipH="1" flipV="1">
              <a:off x="1673224" y="4075376"/>
              <a:ext cx="341313" cy="6348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63502" name="Group 78"/>
          <p:cNvGrpSpPr>
            <a:grpSpLocks/>
          </p:cNvGrpSpPr>
          <p:nvPr/>
        </p:nvGrpSpPr>
        <p:grpSpPr bwMode="auto">
          <a:xfrm>
            <a:off x="2784475" y="4227513"/>
            <a:ext cx="635000" cy="504825"/>
            <a:chOff x="891" y="3041"/>
            <a:chExt cx="400" cy="672"/>
          </a:xfrm>
        </p:grpSpPr>
        <p:sp>
          <p:nvSpPr>
            <p:cNvPr id="63516" name="Line 79"/>
            <p:cNvSpPr>
              <a:spLocks noChangeShapeType="1"/>
            </p:cNvSpPr>
            <p:nvPr/>
          </p:nvSpPr>
          <p:spPr bwMode="auto">
            <a:xfrm flipH="1" flipV="1">
              <a:off x="1066" y="3475"/>
              <a:ext cx="0" cy="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3517" name="Rectangle 80"/>
            <p:cNvSpPr>
              <a:spLocks noChangeArrowheads="1"/>
            </p:cNvSpPr>
            <p:nvPr/>
          </p:nvSpPr>
          <p:spPr bwMode="auto">
            <a:xfrm>
              <a:off x="891" y="3041"/>
              <a:ext cx="40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&gt;</a:t>
              </a:r>
              <a:endParaRPr kumimoji="1" lang="en-US" altLang="zh-CN" sz="2000" b="1" i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503" name="组合 2"/>
          <p:cNvGrpSpPr>
            <a:grpSpLocks/>
          </p:cNvGrpSpPr>
          <p:nvPr/>
        </p:nvGrpSpPr>
        <p:grpSpPr bwMode="auto">
          <a:xfrm>
            <a:off x="398463" y="2825750"/>
            <a:ext cx="2608262" cy="1906588"/>
            <a:chOff x="398141" y="2826055"/>
            <a:chExt cx="2608583" cy="1906354"/>
          </a:xfrm>
        </p:grpSpPr>
        <p:grpSp>
          <p:nvGrpSpPr>
            <p:cNvPr id="63510" name="组合 1"/>
            <p:cNvGrpSpPr>
              <a:grpSpLocks/>
            </p:cNvGrpSpPr>
            <p:nvPr/>
          </p:nvGrpSpPr>
          <p:grpSpPr bwMode="auto">
            <a:xfrm>
              <a:off x="398141" y="2826055"/>
              <a:ext cx="2160589" cy="1906354"/>
              <a:chOff x="398141" y="2826055"/>
              <a:chExt cx="2160589" cy="1906354"/>
            </a:xfrm>
          </p:grpSpPr>
          <p:sp>
            <p:nvSpPr>
              <p:cNvPr id="63512" name="Line 68"/>
              <p:cNvSpPr>
                <a:spLocks noChangeShapeType="1"/>
              </p:cNvSpPr>
              <p:nvPr/>
            </p:nvSpPr>
            <p:spPr bwMode="auto">
              <a:xfrm flipH="1" flipV="1">
                <a:off x="1755454" y="3172187"/>
                <a:ext cx="803276" cy="150165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63513" name="Line 69"/>
              <p:cNvSpPr>
                <a:spLocks noChangeShapeType="1"/>
              </p:cNvSpPr>
              <p:nvPr/>
            </p:nvSpPr>
            <p:spPr bwMode="auto">
              <a:xfrm flipV="1">
                <a:off x="1684017" y="3172187"/>
                <a:ext cx="71438" cy="5796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63514" name="Line 70"/>
              <p:cNvSpPr>
                <a:spLocks noChangeShapeType="1"/>
              </p:cNvSpPr>
              <p:nvPr/>
            </p:nvSpPr>
            <p:spPr bwMode="auto">
              <a:xfrm flipV="1">
                <a:off x="398141" y="3172187"/>
                <a:ext cx="1349376" cy="15602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63515" name="Rectangle 71"/>
              <p:cNvSpPr>
                <a:spLocks noChangeArrowheads="1"/>
              </p:cNvSpPr>
              <p:nvPr/>
            </p:nvSpPr>
            <p:spPr bwMode="auto">
              <a:xfrm>
                <a:off x="1458592" y="2826055"/>
                <a:ext cx="620713" cy="431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rgbClr val="5EAEFF"/>
                  </a:buClr>
                  <a:buSzPct val="75000"/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&gt;</a:t>
                </a:r>
                <a:endParaRPr kumimoji="1" lang="en-US" altLang="zh-CN" sz="2000" b="1" i="1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3511" name="Line 68"/>
            <p:cNvSpPr>
              <a:spLocks noChangeShapeType="1"/>
            </p:cNvSpPr>
            <p:nvPr/>
          </p:nvSpPr>
          <p:spPr bwMode="auto">
            <a:xfrm flipH="1" flipV="1">
              <a:off x="1755453" y="3169402"/>
              <a:ext cx="1251271" cy="10585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63504" name="矩形 6"/>
          <p:cNvSpPr>
            <a:spLocks noChangeArrowheads="1"/>
          </p:cNvSpPr>
          <p:nvPr/>
        </p:nvSpPr>
        <p:spPr bwMode="auto">
          <a:xfrm>
            <a:off x="34925" y="4732338"/>
            <a:ext cx="6191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ts val="2000"/>
              </a:lnSpc>
              <a:buClr>
                <a:srgbClr val="31B6FD"/>
              </a:buClr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var</a:t>
            </a:r>
            <a:endParaRPr lang="en-US" altLang="zh-CN" sz="2000" b="1" i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11413" y="4721225"/>
            <a:ext cx="9477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:</a:t>
            </a:r>
            <a:r>
              <a:rPr lang="en-US" altLang="zh-CN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sz="20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real</a:t>
            </a:r>
            <a:endParaRPr kumimoji="1" lang="en-US" altLang="zh-CN" sz="2000" b="1" dirty="0">
              <a:solidFill>
                <a:srgbClr val="073E87">
                  <a:lumMod val="60000"/>
                  <a:lumOff val="4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8538" y="4659313"/>
            <a:ext cx="401637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000" b="1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2000" b="1" i="1" baseline="-25000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en-US" altLang="zh-CN" sz="2000" b="1" i="1" baseline="-250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1973263" y="4746625"/>
            <a:ext cx="288925" cy="322263"/>
          </a:xfrm>
          <a:prstGeom prst="ellips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684588" y="4632325"/>
            <a:ext cx="32639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句柄：句型的最左直接短语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  <p:sp>
        <p:nvSpPr>
          <p:cNvPr id="36" name="AutoShape 14"/>
          <p:cNvSpPr>
            <a:spLocks/>
          </p:cNvSpPr>
          <p:nvPr/>
        </p:nvSpPr>
        <p:spPr bwMode="auto">
          <a:xfrm>
            <a:off x="5653088" y="123825"/>
            <a:ext cx="2087562" cy="601663"/>
          </a:xfrm>
          <a:prstGeom prst="borderCallout2">
            <a:avLst>
              <a:gd name="adj1" fmla="val 89345"/>
              <a:gd name="adj2" fmla="val -205"/>
              <a:gd name="adj3" fmla="val 148693"/>
              <a:gd name="adj4" fmla="val -16580"/>
              <a:gd name="adj5" fmla="val 422282"/>
              <a:gd name="adj6" fmla="val -1490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造成错误的原因：</a:t>
            </a:r>
            <a:endParaRPr lang="en-US" altLang="zh-CN" b="1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  <a:cs typeface="楷体_GB231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  <a:cs typeface="楷体_GB2312"/>
              </a:rPr>
              <a:t>错误地识别了句柄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8E765F-A6C0-4D45-ADFE-FFF04811E2CA}" type="slidenum">
              <a:rPr lang="zh-CN" altLang="en-US" sz="1400" smtClean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539" name="文本框 2"/>
          <p:cNvSpPr txBox="1">
            <a:spLocks noChangeArrowheads="1"/>
          </p:cNvSpPr>
          <p:nvPr/>
        </p:nvSpPr>
        <p:spPr bwMode="auto">
          <a:xfrm>
            <a:off x="827088" y="987425"/>
            <a:ext cx="78232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Tahoma" panose="020B0604030504040204" pitchFamily="34" charset="0"/>
              </a:rPr>
              <a:t>作业：</a:t>
            </a:r>
            <a:endParaRPr lang="en-US" altLang="zh-CN" sz="4000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0000FF"/>
                </a:solidFill>
                <a:latin typeface="Tahoma" panose="020B0604030504040204" pitchFamily="34" charset="0"/>
              </a:rPr>
              <a:t>蓝书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P141-142  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练习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4.5.1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的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2)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4.5.2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的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 3) 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和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4.5.3 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的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）</a:t>
            </a:r>
            <a:endParaRPr lang="en-US" altLang="zh-CN" sz="36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电子书</a:t>
            </a:r>
            <a:r>
              <a:rPr lang="en-US" altLang="zh-CN" sz="3600" dirty="0">
                <a:solidFill>
                  <a:srgbClr val="000000"/>
                </a:solidFill>
                <a:latin typeface="Tahoma" panose="020B0604030504040204" pitchFamily="34" charset="0"/>
              </a:rPr>
              <a:t>P153 </a:t>
            </a:r>
            <a:r>
              <a:rPr lang="zh-CN" alt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同上</a:t>
            </a:r>
            <a:endParaRPr lang="en-US" altLang="zh-CN" sz="36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36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36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81013" y="857250"/>
            <a:ext cx="8162925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zh-CN" altLang="en-US" sz="2800" b="1" dirty="0">
                <a:solidFill>
                  <a:schemeClr val="tx1"/>
                </a:solidFill>
              </a:rPr>
              <a:t>文法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Knuth</a:t>
            </a:r>
            <a:r>
              <a:rPr lang="en-US" altLang="zh-CN" sz="2800" b="1" dirty="0">
                <a:solidFill>
                  <a:schemeClr val="tx1"/>
                </a:solidFill>
              </a:rPr>
              <a:t>, 1963)</a:t>
            </a:r>
            <a:r>
              <a:rPr lang="zh-CN" altLang="en-US" sz="2800" b="1" dirty="0">
                <a:solidFill>
                  <a:schemeClr val="tx1"/>
                </a:solidFill>
              </a:rPr>
              <a:t> 是最大的、可以构造出相应</a:t>
            </a:r>
            <a:r>
              <a:rPr lang="zh-CN" altLang="en-US" sz="2800" b="1" dirty="0">
                <a:solidFill>
                  <a:srgbClr val="2D83F4"/>
                </a:solidFill>
              </a:rPr>
              <a:t>移入</a:t>
            </a:r>
            <a:r>
              <a:rPr lang="en-US" altLang="zh-CN" sz="2800" b="1" dirty="0">
                <a:solidFill>
                  <a:srgbClr val="2D83F4"/>
                </a:solidFill>
              </a:rPr>
              <a:t>-</a:t>
            </a:r>
            <a:r>
              <a:rPr lang="zh-CN" altLang="en-US" sz="2800" b="1" dirty="0">
                <a:solidFill>
                  <a:srgbClr val="2D83F4"/>
                </a:solidFill>
              </a:rPr>
              <a:t>归约语法分析器</a:t>
            </a:r>
            <a:r>
              <a:rPr lang="zh-CN" altLang="en-US" sz="2800" b="1" dirty="0">
                <a:solidFill>
                  <a:schemeClr val="tx1"/>
                </a:solidFill>
              </a:rPr>
              <a:t>的文法类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对输入进行从</a:t>
            </a:r>
            <a:r>
              <a:rPr lang="zh-CN" altLang="en-US" sz="2500" b="1" dirty="0">
                <a:solidFill>
                  <a:srgbClr val="2D83F4"/>
                </a:solidFill>
              </a:rPr>
              <a:t>左</a:t>
            </a:r>
            <a:r>
              <a:rPr lang="zh-CN" altLang="en-US" sz="2500" b="1" dirty="0">
                <a:solidFill>
                  <a:schemeClr val="tx1"/>
                </a:solidFill>
              </a:rPr>
              <a:t>到右的扫描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: </a:t>
            </a:r>
            <a:r>
              <a:rPr lang="zh-CN" altLang="en-US" sz="2500" b="1" dirty="0">
                <a:solidFill>
                  <a:schemeClr val="tx1"/>
                </a:solidFill>
              </a:rPr>
              <a:t>反向构造出一个最</a:t>
            </a:r>
            <a:r>
              <a:rPr lang="zh-CN" altLang="en-US" sz="2500" b="1" dirty="0">
                <a:solidFill>
                  <a:srgbClr val="2D83F4"/>
                </a:solidFill>
              </a:rPr>
              <a:t>右</a:t>
            </a:r>
            <a:r>
              <a:rPr lang="zh-CN" altLang="en-US" sz="2500" b="1" dirty="0">
                <a:solidFill>
                  <a:schemeClr val="tx1"/>
                </a:solidFill>
              </a:rPr>
              <a:t>推导序列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 dirty="0">
                <a:solidFill>
                  <a:schemeClr val="tx1"/>
                </a:solidFill>
              </a:rPr>
              <a:t>LR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</a:rPr>
              <a:t>分析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需要向前查看</a:t>
            </a:r>
            <a:r>
              <a:rPr lang="en-US" altLang="zh-CN" sz="2500" b="1" i="1" dirty="0">
                <a:solidFill>
                  <a:schemeClr val="tx1"/>
                </a:solidFill>
              </a:rPr>
              <a:t>k</a:t>
            </a:r>
            <a:r>
              <a:rPr lang="zh-CN" altLang="en-US" sz="2500" b="1" dirty="0">
                <a:solidFill>
                  <a:schemeClr val="tx1"/>
                </a:solidFill>
              </a:rPr>
              <a:t>个输入符号的</a:t>
            </a:r>
            <a:r>
              <a:rPr lang="en-US" altLang="zh-CN" sz="2400" b="1" i="1" dirty="0">
                <a:solidFill>
                  <a:schemeClr val="tx1"/>
                </a:solidFill>
              </a:rPr>
              <a:t>LR</a:t>
            </a:r>
            <a:r>
              <a:rPr lang="zh-CN" altLang="en-US" sz="2400" b="1" dirty="0">
                <a:solidFill>
                  <a:schemeClr val="tx1"/>
                </a:solidFill>
              </a:rPr>
              <a:t>分析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ct val="120000"/>
              </a:lnSpc>
            </a:pPr>
            <a:endParaRPr lang="zh-CN" altLang="en-US" dirty="0">
              <a:latin typeface="楷体_GB2312"/>
              <a:ea typeface="楷体_GB2312"/>
              <a:cs typeface="楷体_GB2312"/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2. 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分析法</a:t>
            </a:r>
            <a:endParaRPr lang="zh-CN" altLang="en-US" sz="3000" spc="3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924" name="矩形 1"/>
          <p:cNvSpPr>
            <a:spLocks noChangeArrowheads="1"/>
          </p:cNvSpPr>
          <p:nvPr/>
        </p:nvSpPr>
        <p:spPr bwMode="auto">
          <a:xfrm>
            <a:off x="1643063" y="3975100"/>
            <a:ext cx="5618162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0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1 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这两种情况具有实践意义</a:t>
            </a:r>
            <a:endParaRPr lang="en-US" altLang="zh-CN" sz="2500" b="1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当省略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时，表示</a:t>
            </a:r>
            <a:r>
              <a:rPr lang="en-US" altLang="zh-CN" sz="2500" b="1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5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=1 </a:t>
            </a:r>
            <a:endParaRPr lang="zh-CN" altLang="en-US" sz="2500" b="1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/>
          <p:cNvSpPr>
            <a:spLocks noGrp="1" noChangeArrowheads="1"/>
          </p:cNvSpPr>
          <p:nvPr>
            <p:ph idx="1"/>
          </p:nvPr>
        </p:nvSpPr>
        <p:spPr>
          <a:xfrm>
            <a:off x="412750" y="785813"/>
            <a:ext cx="830262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自底向上分析的关键问题是什么？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如何正确地识别句柄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  <a:cs typeface="楷体_GB2312"/>
              </a:rPr>
              <a:t>句柄是逐步形成的，用“状态”表示句柄识别的进展程度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 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bBB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· 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分析法的基本原理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08965" name="Rectangle 5"/>
          <p:cNvSpPr>
            <a:spLocks noChangeArrowheads="1"/>
          </p:cNvSpPr>
          <p:nvPr/>
        </p:nvSpPr>
        <p:spPr bwMode="auto">
          <a:xfrm>
            <a:off x="3438525" y="4587875"/>
            <a:ext cx="2736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归约状态</a:t>
            </a:r>
          </a:p>
        </p:txBody>
      </p:sp>
      <p:sp>
        <p:nvSpPr>
          <p:cNvPr id="808967" name="Rectangle 7"/>
          <p:cNvSpPr>
            <a:spLocks noChangeArrowheads="1"/>
          </p:cNvSpPr>
          <p:nvPr/>
        </p:nvSpPr>
        <p:spPr bwMode="auto">
          <a:xfrm>
            <a:off x="3419475" y="3143250"/>
            <a:ext cx="23050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移进状态</a:t>
            </a:r>
          </a:p>
        </p:txBody>
      </p:sp>
      <p:sp>
        <p:nvSpPr>
          <p:cNvPr id="808968" name="Rectangle 8"/>
          <p:cNvSpPr>
            <a:spLocks noChangeArrowheads="1"/>
          </p:cNvSpPr>
          <p:nvPr/>
        </p:nvSpPr>
        <p:spPr bwMode="auto">
          <a:xfrm>
            <a:off x="3419475" y="3867150"/>
            <a:ext cx="137636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待约状态</a:t>
            </a:r>
          </a:p>
        </p:txBody>
      </p:sp>
      <p:sp>
        <p:nvSpPr>
          <p:cNvPr id="808969" name="AutoShape 9"/>
          <p:cNvSpPr>
            <a:spLocks/>
          </p:cNvSpPr>
          <p:nvPr/>
        </p:nvSpPr>
        <p:spPr bwMode="auto">
          <a:xfrm>
            <a:off x="2843213" y="3789363"/>
            <a:ext cx="508000" cy="711200"/>
          </a:xfrm>
          <a:prstGeom prst="rightBrace">
            <a:avLst>
              <a:gd name="adj1" fmla="val 19526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808970" name="Line 10"/>
          <p:cNvSpPr>
            <a:spLocks noChangeShapeType="1"/>
          </p:cNvSpPr>
          <p:nvPr/>
        </p:nvSpPr>
        <p:spPr bwMode="auto">
          <a:xfrm flipH="1">
            <a:off x="2843213" y="4803775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08971" name="Line 11"/>
          <p:cNvSpPr>
            <a:spLocks noChangeShapeType="1"/>
          </p:cNvSpPr>
          <p:nvPr/>
        </p:nvSpPr>
        <p:spPr bwMode="auto">
          <a:xfrm flipH="1">
            <a:off x="2843213" y="3357563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7900" y="3665538"/>
            <a:ext cx="4221163" cy="8302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en-US" altLang="zh-CN" sz="2400" b="1" i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LR</a:t>
            </a:r>
            <a:r>
              <a:rPr lang="zh-CN" altLang="en-US" sz="24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分析器基于这样一些</a:t>
            </a:r>
            <a:r>
              <a:rPr lang="zh-CN" altLang="en-US" sz="2400" b="1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状态</a:t>
            </a:r>
            <a:r>
              <a:rPr lang="zh-CN" altLang="en-US" sz="24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来构造</a:t>
            </a:r>
            <a:r>
              <a:rPr lang="zh-CN" altLang="en-US" sz="2400" b="1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自动机</a:t>
            </a:r>
            <a:r>
              <a:rPr lang="zh-CN" altLang="en-US" sz="24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进行句柄的识别</a:t>
            </a:r>
            <a:endParaRPr lang="en-US" altLang="zh-CN" sz="24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08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08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08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08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8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65" grpId="0"/>
      <p:bldP spid="808967" grpId="0"/>
      <p:bldP spid="808968" grpId="0"/>
      <p:bldP spid="808969" grpId="0" animBg="1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分析器（自动机）的总体结构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2857500" y="1143000"/>
            <a:ext cx="3786188" cy="642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>
              <a:defRPr/>
            </a:pPr>
            <a:r>
              <a: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kumimoji="1" lang="en-US" altLang="zh-CN" sz="4000" b="1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</a:rPr>
              <a:t>   …   </a:t>
            </a:r>
            <a:r>
              <a:rPr kumimoji="1" lang="en-US" altLang="zh-CN" sz="3200" b="1" i="1" dirty="0" err="1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kumimoji="1" lang="en-US" altLang="zh-CN" sz="4000" b="1" i="1" baseline="-25000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</a:rPr>
              <a:t>   …   a</a:t>
            </a:r>
            <a:r>
              <a:rPr kumimoji="1" lang="en-US" altLang="zh-CN" sz="4000" b="1" i="1" baseline="-25000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</a:rPr>
              <a:t>  </a:t>
            </a:r>
            <a:r>
              <a:rPr kumimoji="1" lang="en-US" altLang="zh-CN" sz="3200" b="1" dirty="0">
                <a:solidFill>
                  <a:prstClr val="black"/>
                </a:solidFill>
                <a:latin typeface="Times New Roman" pitchFamily="18" charset="0"/>
              </a:rPr>
              <a:t>$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359150" y="2352675"/>
            <a:ext cx="2797175" cy="1076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46038" rIns="92075" bIns="46038" anchor="ctr"/>
          <a:lstStyle/>
          <a:p>
            <a:pPr algn="ctr">
              <a:defRPr/>
            </a:pPr>
            <a:r>
              <a:rPr kumimoji="1" lang="en-US" altLang="zh-CN" sz="3200" b="1" i="1" dirty="0">
                <a:solidFill>
                  <a:prstClr val="black"/>
                </a:solidFill>
                <a:latin typeface="Times New Roman" pitchFamily="18" charset="0"/>
              </a:rPr>
              <a:t>LR</a:t>
            </a:r>
            <a:r>
              <a:rPr kumimoji="1" lang="zh-CN" altLang="en-US" sz="32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主控程序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844800" y="4208463"/>
            <a:ext cx="1943100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algn="ctr">
              <a:lnSpc>
                <a:spcPts val="2500"/>
              </a:lnSpc>
              <a:defRPr/>
            </a:pPr>
            <a:r>
              <a:rPr kumimoji="1" lang="zh-CN" altLang="en-US" sz="28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动作表</a:t>
            </a:r>
          </a:p>
          <a:p>
            <a:pPr algn="ctr">
              <a:lnSpc>
                <a:spcPts val="2500"/>
              </a:lnSpc>
              <a:defRPr/>
            </a:pPr>
            <a:r>
              <a:rPr kumimoji="1" lang="en-US" altLang="zh-CN" sz="2500" b="1">
                <a:solidFill>
                  <a:prstClr val="black"/>
                </a:solidFill>
                <a:latin typeface="Times New Roman" pitchFamily="18" charset="0"/>
              </a:rPr>
              <a:t>ACTION</a:t>
            </a: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4805363" y="4208463"/>
            <a:ext cx="1927225" cy="6762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algn="ctr">
              <a:lnSpc>
                <a:spcPts val="2500"/>
              </a:lnSpc>
              <a:defRPr/>
            </a:pPr>
            <a:r>
              <a:rPr kumimoji="1" lang="zh-CN" altLang="en-US" sz="28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转移表</a:t>
            </a:r>
          </a:p>
          <a:p>
            <a:pPr algn="ctr">
              <a:lnSpc>
                <a:spcPts val="2500"/>
              </a:lnSpc>
              <a:defRPr/>
            </a:pPr>
            <a:r>
              <a:rPr kumimoji="1" lang="en-US" altLang="zh-CN" sz="2500" b="1">
                <a:solidFill>
                  <a:prstClr val="black"/>
                </a:solidFill>
                <a:latin typeface="Times New Roman" pitchFamily="18" charset="0"/>
              </a:rPr>
              <a:t>GOTO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7092950" y="2476500"/>
            <a:ext cx="1979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产生式序列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284163" y="1733550"/>
            <a:ext cx="212725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5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状态/符号栈</a:t>
            </a:r>
          </a:p>
        </p:txBody>
      </p: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3643313" y="642938"/>
            <a:ext cx="2216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00"/>
                </a:solidFill>
                <a:latin typeface="华文楷体 (正文)"/>
                <a:ea typeface="楷体" panose="02010609060101010101" pitchFamily="49" charset="-122"/>
              </a:rPr>
              <a:t>输入缓冲区</a:t>
            </a:r>
          </a:p>
        </p:txBody>
      </p:sp>
      <p:sp>
        <p:nvSpPr>
          <p:cNvPr id="70666" name="Rectangle 11"/>
          <p:cNvSpPr>
            <a:spLocks noChangeArrowheads="1"/>
          </p:cNvSpPr>
          <p:nvPr/>
        </p:nvSpPr>
        <p:spPr bwMode="auto">
          <a:xfrm>
            <a:off x="2643188" y="4071938"/>
            <a:ext cx="4286250" cy="92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0667" name="Rectangle 12"/>
          <p:cNvSpPr>
            <a:spLocks noChangeArrowheads="1"/>
          </p:cNvSpPr>
          <p:nvPr/>
        </p:nvSpPr>
        <p:spPr bwMode="auto">
          <a:xfrm>
            <a:off x="7072313" y="4262438"/>
            <a:ext cx="149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分析表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52400" y="2171700"/>
            <a:ext cx="977900" cy="2676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i="1" baseline="-25000" dirty="0" err="1">
                <a:solidFill>
                  <a:prstClr val="black"/>
                </a:solidFill>
                <a:latin typeface="Times New Roman" pitchFamily="18" charset="0"/>
              </a:rPr>
              <a:t>m</a:t>
            </a:r>
            <a:endParaRPr kumimoji="1" lang="en-US" altLang="zh-CN" sz="2400" b="1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i="1" baseline="-25000" dirty="0">
                <a:solidFill>
                  <a:prstClr val="black"/>
                </a:solidFill>
                <a:latin typeface="Times New Roman" pitchFamily="18" charset="0"/>
              </a:rPr>
              <a:t>m</a:t>
            </a:r>
            <a:r>
              <a:rPr kumimoji="1" lang="en-US" altLang="zh-CN" sz="3200" b="1" baseline="-25000" dirty="0">
                <a:solidFill>
                  <a:prstClr val="black"/>
                </a:solidFill>
                <a:latin typeface="Times New Roman" pitchFamily="18" charset="0"/>
              </a:rPr>
              <a:t>-1</a:t>
            </a:r>
            <a:endParaRPr kumimoji="1" lang="en-US" altLang="zh-CN" sz="24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endParaRPr kumimoji="1" lang="en-US" altLang="zh-CN" sz="24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baseline="-25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410638" name="Rectangle 14"/>
          <p:cNvSpPr>
            <a:spLocks noChangeArrowheads="1"/>
          </p:cNvSpPr>
          <p:nvPr/>
        </p:nvSpPr>
        <p:spPr bwMode="auto">
          <a:xfrm>
            <a:off x="1149350" y="2171700"/>
            <a:ext cx="977900" cy="26812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24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32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-1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</a:p>
          <a:p>
            <a:pPr algn="ctr">
              <a:lnSpc>
                <a:spcPct val="90000"/>
              </a:lnSpc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algn="ctr">
              <a:defRPr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$</a:t>
            </a:r>
          </a:p>
        </p:txBody>
      </p:sp>
      <p:sp>
        <p:nvSpPr>
          <p:cNvPr id="43022" name="AutoShape 15"/>
          <p:cNvSpPr>
            <a:spLocks noChangeArrowheads="1"/>
          </p:cNvSpPr>
          <p:nvPr/>
        </p:nvSpPr>
        <p:spPr bwMode="auto">
          <a:xfrm rot="10800000">
            <a:off x="2162175" y="2571750"/>
            <a:ext cx="1143000" cy="28575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023" name="AutoShape 16"/>
          <p:cNvSpPr>
            <a:spLocks noChangeArrowheads="1"/>
          </p:cNvSpPr>
          <p:nvPr/>
        </p:nvSpPr>
        <p:spPr bwMode="auto">
          <a:xfrm rot="10800000">
            <a:off x="4505325" y="1843088"/>
            <a:ext cx="381000" cy="4572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024" name="AutoShape 17"/>
          <p:cNvSpPr>
            <a:spLocks noChangeArrowheads="1"/>
          </p:cNvSpPr>
          <p:nvPr/>
        </p:nvSpPr>
        <p:spPr bwMode="auto">
          <a:xfrm>
            <a:off x="36433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6227763" y="2571750"/>
            <a:ext cx="915987" cy="285750"/>
          </a:xfrm>
          <a:prstGeom prst="rightArrow">
            <a:avLst>
              <a:gd name="adj1" fmla="val 50000"/>
              <a:gd name="adj2" fmla="val 8500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5624513" y="3457575"/>
            <a:ext cx="304800" cy="5429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27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270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6" name="AutoShape 20"/>
          <p:cNvSpPr>
            <a:spLocks noChangeArrowheads="1"/>
          </p:cNvSpPr>
          <p:nvPr/>
        </p:nvSpPr>
        <p:spPr bwMode="auto">
          <a:xfrm>
            <a:off x="411163" y="3857625"/>
            <a:ext cx="3517900" cy="785813"/>
          </a:xfrm>
          <a:prstGeom prst="wedgeRoundRectCallout">
            <a:avLst>
              <a:gd name="adj1" fmla="val 44086"/>
              <a:gd name="adj2" fmla="val -83935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kumimoji="1" lang="en-US" altLang="zh-CN" sz="2000" b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sn</a:t>
            </a:r>
            <a:r>
              <a:rPr kumimoji="1" lang="zh-CN" altLang="en-US" sz="2000" b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将符号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1"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、状态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lang="en-US" altLang="zh-CN" sz="2000" b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压入栈</a:t>
            </a:r>
          </a:p>
          <a:p>
            <a:pPr eaLnBrk="1" hangingPunct="1">
              <a:defRPr/>
            </a:pPr>
            <a:r>
              <a:rPr kumimoji="1" lang="en-US" altLang="zh-CN" sz="2000" b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rn</a:t>
            </a:r>
            <a:r>
              <a:rPr kumimoji="1" lang="zh-CN" altLang="en-US" sz="2000" b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：</a:t>
            </a:r>
            <a:r>
              <a:rPr kumimoji="1"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用第</a:t>
            </a:r>
            <a:r>
              <a:rPr lang="en-US" altLang="zh-CN" sz="2000" b="1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n</a:t>
            </a:r>
            <a:r>
              <a:rPr kumimoji="1"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个产生式进行归约</a:t>
            </a: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47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4756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2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427538" y="4164013"/>
            <a:ext cx="374650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rgbClr val="31B6FD"/>
              </a:buClr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i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800">
              <a:solidFill>
                <a:srgbClr val="000000"/>
              </a:solidFill>
              <a:latin typeface="Tahoma" panose="020B0604030504040204" pitchFamily="34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437188" y="4443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48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48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97531E-6 L -0.11389 -0.0058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4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8" grpId="1"/>
      <p:bldP spid="9" grpId="0"/>
      <p:bldP spid="10" grpId="0"/>
      <p:bldP spid="11" grpId="0"/>
      <p:bldP spid="11" grpId="1"/>
      <p:bldP spid="11" grpId="2"/>
      <p:bldP spid="12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68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6804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805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813425" y="44434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30863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6808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6880" name="矩形 15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688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6882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6883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97531E-6 L -0.10921 -0.00278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69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97531E-6 L -0.10695 -0.00278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3" grpId="0"/>
      <p:bldP spid="14" grpId="0"/>
      <p:bldP spid="15" grpId="0"/>
      <p:bldP spid="15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788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78852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853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859338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43438" y="44434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6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8857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656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8815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6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8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8928" name="矩形 12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78929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789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89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789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789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4" grpId="0"/>
      <p:bldP spid="16" grpId="0"/>
      <p:bldP spid="16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089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0900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86300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11663" y="4443413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4275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06938" y="412591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5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7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0974" name="矩形 10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0975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098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098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80976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098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098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097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097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098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3" grpId="0"/>
      <p:bldP spid="16" grpId="0"/>
      <p:bldP spid="16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9"/>
          <p:cNvSpPr txBox="1">
            <a:spLocks noChangeArrowheads="1"/>
          </p:cNvSpPr>
          <p:nvPr/>
        </p:nvSpPr>
        <p:spPr bwMode="auto">
          <a:xfrm>
            <a:off x="539750" y="2571750"/>
            <a:ext cx="274320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5000"/>
              </a:lnSpc>
            </a:pPr>
            <a:endParaRPr kumimoji="1" lang="zh-CN" altLang="en-US" sz="2400">
              <a:solidFill>
                <a:srgbClr val="000000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294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</a:t>
            </a:r>
          </a:p>
        </p:txBody>
      </p:sp>
      <p:sp>
        <p:nvSpPr>
          <p:cNvPr id="82948" name="Rectangle 21"/>
          <p:cNvSpPr txBox="1">
            <a:spLocks noChangeArrowheads="1"/>
          </p:cNvSpPr>
          <p:nvPr/>
        </p:nvSpPr>
        <p:spPr bwMode="auto">
          <a:xfrm>
            <a:off x="400050" y="857250"/>
            <a:ext cx="331470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_GB2312"/>
              </a:rPr>
              <a:t>文法</a:t>
            </a:r>
            <a:endParaRPr lang="en-US" altLang="zh-CN" sz="25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_GB2312"/>
            </a:endParaRP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aB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rgbClr val="5EAEFF"/>
              </a:buClr>
              <a:buSzPct val="50000"/>
            </a:pPr>
            <a:r>
              <a:rPr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0080FF"/>
              </a:buClr>
              <a:buSzPct val="55000"/>
              <a:buFont typeface="Wingdings" panose="05000000000000000000" pitchFamily="2" charset="2"/>
              <a:buChar char="n"/>
            </a:pPr>
            <a:endParaRPr lang="zh-CN" altLang="en-US" sz="2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949" name="Rectangle 3"/>
          <p:cNvSpPr>
            <a:spLocks noGrp="1" noChangeArrowheads="1"/>
          </p:cNvSpPr>
          <p:nvPr>
            <p:ph idx="1"/>
          </p:nvPr>
        </p:nvSpPr>
        <p:spPr>
          <a:xfrm>
            <a:off x="4211638" y="3721100"/>
            <a:ext cx="3671887" cy="1082675"/>
          </a:xfrm>
        </p:spPr>
        <p:txBody>
          <a:bodyPr lIns="92075" tIns="46038" rIns="92075" bIns="46038"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3000" b="1">
                <a:solidFill>
                  <a:srgbClr val="2D83F4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栈    剩余输入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ts val="2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r>
              <a:rPr lang="zh-CN" altLang="en-US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r>
              <a:rPr lang="en-US" altLang="zh-CN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$</a:t>
            </a:r>
            <a:endParaRPr lang="en-US" altLang="zh-CN" b="1" i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600"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600"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427538" y="4443413"/>
            <a:ext cx="357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endParaRPr lang="zh-CN" altLang="en-US" sz="28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449763" y="41259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endParaRPr lang="zh-CN" altLang="en-US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4214813" y="123825"/>
          <a:ext cx="4318000" cy="3603666"/>
        </p:xfrm>
        <a:graphic>
          <a:graphicData uri="http://schemas.openxmlformats.org/drawingml/2006/table">
            <a:tbl>
              <a:tblPr/>
              <a:tblGrid>
                <a:gridCol w="9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7" marR="91447" marT="34257" marB="3425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8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7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7" marR="91447" marT="34257" marB="342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020" name="矩形 9"/>
          <p:cNvSpPr>
            <a:spLocks noChangeArrowheads="1"/>
          </p:cNvSpPr>
          <p:nvPr/>
        </p:nvSpPr>
        <p:spPr bwMode="auto">
          <a:xfrm>
            <a:off x="842963" y="4543425"/>
            <a:ext cx="2033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ct val="30000"/>
              </a:spcBef>
            </a:pPr>
            <a:r>
              <a:rPr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 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  a   b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83021" name="Group 78"/>
          <p:cNvGrpSpPr>
            <a:grpSpLocks/>
          </p:cNvGrpSpPr>
          <p:nvPr/>
        </p:nvGrpSpPr>
        <p:grpSpPr bwMode="auto">
          <a:xfrm>
            <a:off x="1835150" y="3994150"/>
            <a:ext cx="357188" cy="557213"/>
            <a:chOff x="975" y="3041"/>
            <a:chExt cx="225" cy="741"/>
          </a:xfrm>
        </p:grpSpPr>
        <p:sp>
          <p:nvSpPr>
            <p:cNvPr id="83033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34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83022" name="Group 78"/>
          <p:cNvGrpSpPr>
            <a:grpSpLocks/>
          </p:cNvGrpSpPr>
          <p:nvPr/>
        </p:nvGrpSpPr>
        <p:grpSpPr bwMode="auto">
          <a:xfrm>
            <a:off x="2555875" y="4032250"/>
            <a:ext cx="357188" cy="555625"/>
            <a:chOff x="975" y="3041"/>
            <a:chExt cx="225" cy="741"/>
          </a:xfrm>
        </p:grpSpPr>
        <p:sp>
          <p:nvSpPr>
            <p:cNvPr id="83031" name="Line 79"/>
            <p:cNvSpPr>
              <a:spLocks noChangeShapeType="1"/>
            </p:cNvSpPr>
            <p:nvPr/>
          </p:nvSpPr>
          <p:spPr bwMode="auto">
            <a:xfrm flipH="1" flipV="1">
              <a:off x="1066" y="3543"/>
              <a:ext cx="0" cy="2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32" name="Rectangle 80"/>
            <p:cNvSpPr>
              <a:spLocks noChangeArrowheads="1"/>
            </p:cNvSpPr>
            <p:nvPr/>
          </p:nvSpPr>
          <p:spPr bwMode="auto">
            <a:xfrm>
              <a:off x="975" y="3041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83023" name="Group 84"/>
          <p:cNvGrpSpPr>
            <a:grpSpLocks/>
          </p:cNvGrpSpPr>
          <p:nvPr/>
        </p:nvGrpSpPr>
        <p:grpSpPr bwMode="auto">
          <a:xfrm>
            <a:off x="2174875" y="3524250"/>
            <a:ext cx="525463" cy="1063625"/>
            <a:chOff x="1292" y="2662"/>
            <a:chExt cx="331" cy="1417"/>
          </a:xfrm>
        </p:grpSpPr>
        <p:sp>
          <p:nvSpPr>
            <p:cNvPr id="83028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219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29" name="Line 69"/>
            <p:cNvSpPr>
              <a:spLocks noChangeShapeType="1"/>
            </p:cNvSpPr>
            <p:nvPr/>
          </p:nvSpPr>
          <p:spPr bwMode="auto">
            <a:xfrm flipH="1" flipV="1">
              <a:off x="1374" y="3184"/>
              <a:ext cx="8" cy="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30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25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" name="Group 84"/>
          <p:cNvGrpSpPr>
            <a:grpSpLocks/>
          </p:cNvGrpSpPr>
          <p:nvPr/>
        </p:nvGrpSpPr>
        <p:grpSpPr bwMode="auto">
          <a:xfrm>
            <a:off x="1906588" y="3076575"/>
            <a:ext cx="328612" cy="857250"/>
            <a:chOff x="1292" y="2662"/>
            <a:chExt cx="207" cy="1142"/>
          </a:xfrm>
        </p:grpSpPr>
        <p:sp>
          <p:nvSpPr>
            <p:cNvPr id="83025" name="Line 68"/>
            <p:cNvSpPr>
              <a:spLocks noChangeShapeType="1"/>
            </p:cNvSpPr>
            <p:nvPr/>
          </p:nvSpPr>
          <p:spPr bwMode="auto">
            <a:xfrm flipH="1" flipV="1">
              <a:off x="1404" y="3123"/>
              <a:ext cx="95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26" name="Line 69"/>
            <p:cNvSpPr>
              <a:spLocks noChangeShapeType="1"/>
            </p:cNvSpPr>
            <p:nvPr/>
          </p:nvSpPr>
          <p:spPr bwMode="auto">
            <a:xfrm flipV="1">
              <a:off x="1347" y="3184"/>
              <a:ext cx="27" cy="6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83027" name="Rectangle 71"/>
            <p:cNvSpPr>
              <a:spLocks noChangeArrowheads="1"/>
            </p:cNvSpPr>
            <p:nvPr/>
          </p:nvSpPr>
          <p:spPr bwMode="auto">
            <a:xfrm>
              <a:off x="1292" y="2662"/>
              <a:ext cx="207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20000"/>
                </a:spcBef>
                <a:buClr>
                  <a:srgbClr val="5EAEFF"/>
                </a:buClr>
                <a:buSzPct val="75000"/>
                <a:buFont typeface="Monotype Sorts"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90550" y="2928938"/>
            <a:ext cx="72675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5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en-US" altLang="zh-CN" sz="2500" b="1">
                <a:solidFill>
                  <a:srgbClr val="000000"/>
                </a:solidFill>
                <a:latin typeface="宋体" panose="02010600030101010101" pitchFamily="2" charset="-122"/>
              </a:rPr>
              <a:t>①</a:t>
            </a: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ACTION [</a:t>
            </a:r>
            <a:r>
              <a:rPr kumimoji="1"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]= s</a:t>
            </a:r>
            <a:r>
              <a:rPr kumimoji="1"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500" b="1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那么格局变为：</a:t>
            </a:r>
          </a:p>
        </p:txBody>
      </p:sp>
      <p:sp>
        <p:nvSpPr>
          <p:cNvPr id="5" name="矩形 4"/>
          <p:cNvSpPr/>
          <p:nvPr/>
        </p:nvSpPr>
        <p:spPr>
          <a:xfrm>
            <a:off x="2686050" y="3378200"/>
            <a:ext cx="3757613" cy="811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5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5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5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15" name="矩形 14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utoUpdateAnimBg="0"/>
      <p:bldP spid="5" grpId="0" animBg="1"/>
      <p:bldP spid="5" grpId="1" animBg="1"/>
      <p:bldP spid="13" grpId="0"/>
      <p:bldP spid="14" grpId="0"/>
      <p:bldP spid="15" grpId="0" animBg="1"/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2" name="Text Box 6"/>
          <p:cNvSpPr txBox="1">
            <a:spLocks noChangeArrowheads="1"/>
          </p:cNvSpPr>
          <p:nvPr/>
        </p:nvSpPr>
        <p:spPr bwMode="auto">
          <a:xfrm>
            <a:off x="684213" y="2643188"/>
            <a:ext cx="831691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</a:rPr>
              <a:t>②</a:t>
            </a:r>
            <a:r>
              <a:rPr kumimoji="1" lang="zh-CN" altLang="en-US" sz="23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m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</a:rPr>
              <a:t>]= rx </a:t>
            </a:r>
            <a:r>
              <a:rPr kumimoji="1" lang="zh-CN" altLang="en-US" sz="23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表示用第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sz="23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个产生式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</a:t>
            </a:r>
            <a:r>
              <a:rPr kumimoji="1" lang="en-US" altLang="zh-CN" sz="23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-(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k</a:t>
            </a:r>
            <a:r>
              <a:rPr kumimoji="1" lang="en-US" altLang="zh-CN" sz="23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-1)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…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m   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</a:p>
          <a:p>
            <a:pPr>
              <a:spcBef>
                <a:spcPct val="50000"/>
              </a:spcBef>
            </a:pP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</a:t>
            </a:r>
            <a:r>
              <a:rPr kumimoji="1" lang="zh-CN" altLang="en-US" sz="23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进行归约，那么格局变为：</a:t>
            </a:r>
            <a:endParaRPr kumimoji="1" lang="zh-CN" altLang="en-US" sz="23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64263" name="Text Box 7"/>
          <p:cNvSpPr txBox="1">
            <a:spLocks noChangeArrowheads="1"/>
          </p:cNvSpPr>
          <p:nvPr/>
        </p:nvSpPr>
        <p:spPr bwMode="auto">
          <a:xfrm>
            <a:off x="4937125" y="3160713"/>
            <a:ext cx="3757613" cy="6937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-k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  <a:defRPr/>
            </a:pP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-k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kumimoji="1" lang="en-US" altLang="zh-CN" sz="25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4264" name="Text Box 8"/>
          <p:cNvSpPr txBox="1">
            <a:spLocks noChangeArrowheads="1"/>
          </p:cNvSpPr>
          <p:nvPr/>
        </p:nvSpPr>
        <p:spPr bwMode="auto">
          <a:xfrm>
            <a:off x="938213" y="3940175"/>
            <a:ext cx="8818562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000"/>
              </a:lnSpc>
              <a:spcBef>
                <a:spcPct val="20000"/>
              </a:spcBef>
              <a:buClr>
                <a:srgbClr val="073E87"/>
              </a:buClr>
              <a:buSzPct val="75000"/>
              <a:buFont typeface="Monotype Sorts"/>
              <a:buNone/>
            </a:pPr>
            <a:r>
              <a:rPr kumimoji="1" lang="zh-CN" altLang="en-US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GOTO[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300" b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3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]=</a:t>
            </a:r>
            <a:r>
              <a:rPr kumimoji="1" lang="en-US" altLang="zh-CN" sz="2300" b="1" i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3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，那么格局变为：</a:t>
            </a:r>
            <a:endParaRPr kumimoji="1" lang="en-US" altLang="zh-CN" sz="23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7046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87047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2" name="矩形 1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37125" y="4427538"/>
            <a:ext cx="3757613" cy="682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y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$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-k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i+</a:t>
            </a:r>
            <a:r>
              <a:rPr kumimoji="1" lang="en-US" altLang="zh-CN" sz="2500" b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…a</a:t>
            </a:r>
            <a:r>
              <a:rPr kumimoji="1" lang="en-US" altLang="zh-CN" sz="25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$</a:t>
            </a:r>
            <a:endParaRPr kumimoji="1" lang="en-US" altLang="zh-CN" sz="2500" b="1" i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262" grpId="0"/>
      <p:bldP spid="864262" grpId="1"/>
      <p:bldP spid="864263" grpId="0" animBg="1"/>
      <p:bldP spid="864263" grpId="1" animBg="1"/>
      <p:bldP spid="864264" grpId="0"/>
      <p:bldP spid="864264" grpId="1"/>
      <p:bldP spid="4" grpId="0" animBg="1"/>
      <p:bldP spid="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60" name="Rectangle 8"/>
          <p:cNvSpPr>
            <a:spLocks noGrp="1" noChangeArrowheads="1"/>
          </p:cNvSpPr>
          <p:nvPr>
            <p:ph idx="1"/>
          </p:nvPr>
        </p:nvSpPr>
        <p:spPr>
          <a:xfrm>
            <a:off x="657225" y="2928938"/>
            <a:ext cx="7772400" cy="1433512"/>
          </a:xfrm>
        </p:spPr>
        <p:txBody>
          <a:bodyPr/>
          <a:lstStyle/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③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acc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那么分析成功</a:t>
            </a: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kumimoji="1"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④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2300" b="1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ACTION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2500" b="1" i="1" baseline="-2500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]=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err</a:t>
            </a:r>
            <a:r>
              <a:rPr lang="zh-CN" altLang="en-US" sz="2500" b="1">
                <a:solidFill>
                  <a:schemeClr val="tx1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 ，</a:t>
            </a:r>
            <a:r>
              <a:rPr kumimoji="1"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那么出现语法错误</a:t>
            </a:r>
            <a:endParaRPr kumimoji="1" lang="en-US" altLang="zh-CN" sz="25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分析器的工作过程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428625" y="798513"/>
            <a:ext cx="80010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</a:t>
            </a: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466725" y="1643063"/>
            <a:ext cx="85344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25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一般情况下</a:t>
            </a:r>
          </a:p>
        </p:txBody>
      </p:sp>
      <p:sp>
        <p:nvSpPr>
          <p:cNvPr id="8" name="矩形 7"/>
          <p:cNvSpPr/>
          <p:nvPr/>
        </p:nvSpPr>
        <p:spPr>
          <a:xfrm>
            <a:off x="2686050" y="10223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	       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86050" y="1885950"/>
            <a:ext cx="3757613" cy="685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2000"/>
              </a:lnSpc>
              <a:buClr>
                <a:srgbClr val="073E87"/>
              </a:buClr>
              <a:buSzPct val="75000"/>
              <a:defRPr/>
            </a:pP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 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endParaRPr kumimoji="1" lang="en-US" altLang="zh-CN" sz="800" b="1" i="1" baseline="-25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$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m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            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i+</a:t>
            </a:r>
            <a:r>
              <a:rPr kumimoji="1" lang="en-US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…a</a:t>
            </a:r>
            <a:r>
              <a:rPr kumimoji="1" lang="en-US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 $</a:t>
            </a:r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68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60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内容占位符 2"/>
          <p:cNvSpPr>
            <a:spLocks noGrp="1"/>
          </p:cNvSpPr>
          <p:nvPr>
            <p:ph idx="1"/>
          </p:nvPr>
        </p:nvSpPr>
        <p:spPr>
          <a:xfrm>
            <a:off x="-57150" y="714375"/>
            <a:ext cx="9129713" cy="1714500"/>
          </a:xfrm>
        </p:spPr>
        <p:txBody>
          <a:bodyPr/>
          <a:lstStyle/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输入：串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和</a:t>
            </a:r>
            <a:r>
              <a:rPr lang="en-US" altLang="zh-CN" sz="1600" b="1" i="1">
                <a:solidFill>
                  <a:schemeClr val="tx1"/>
                </a:solidFill>
              </a:rPr>
              <a:t>LR</a:t>
            </a:r>
            <a:r>
              <a:rPr lang="zh-CN" altLang="en-US" sz="1600" b="1">
                <a:solidFill>
                  <a:schemeClr val="tx1"/>
                </a:solidFill>
              </a:rPr>
              <a:t>语法分析表，该表描述了文法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zh-CN" altLang="en-US" sz="1600" b="1">
                <a:solidFill>
                  <a:schemeClr val="tx1"/>
                </a:solidFill>
              </a:rPr>
              <a:t>的</a:t>
            </a:r>
            <a:r>
              <a:rPr lang="en-US" altLang="zh-CN" sz="1600" b="1">
                <a:solidFill>
                  <a:schemeClr val="tx1"/>
                </a:solidFill>
              </a:rPr>
              <a:t>ACTION</a:t>
            </a:r>
            <a:r>
              <a:rPr lang="zh-CN" altLang="en-US" sz="1600" b="1">
                <a:solidFill>
                  <a:schemeClr val="tx1"/>
                </a:solidFill>
              </a:rPr>
              <a:t>函数和</a:t>
            </a:r>
            <a:r>
              <a:rPr lang="en-US" altLang="zh-CN" sz="1600" b="1">
                <a:solidFill>
                  <a:schemeClr val="tx1"/>
                </a:solidFill>
              </a:rPr>
              <a:t>GOTO</a:t>
            </a:r>
            <a:r>
              <a:rPr lang="zh-CN" altLang="en-US" sz="1600" b="1">
                <a:solidFill>
                  <a:schemeClr val="tx1"/>
                </a:solidFill>
              </a:rPr>
              <a:t>函数。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输出：如果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在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L</a:t>
            </a:r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en-US" altLang="zh-CN" sz="1600" b="1" i="1">
                <a:solidFill>
                  <a:schemeClr val="tx1"/>
                </a:solidFill>
              </a:rPr>
              <a:t>G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r>
              <a:rPr lang="zh-CN" altLang="en-US" sz="1600" b="1">
                <a:solidFill>
                  <a:schemeClr val="tx1"/>
                </a:solidFill>
              </a:rPr>
              <a:t>中，则输出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zh-CN" altLang="en-US" sz="1600" b="1">
                <a:solidFill>
                  <a:schemeClr val="tx1"/>
                </a:solidFill>
              </a:rPr>
              <a:t>的自底向上语法分析过程中的归约步骤；否则给出一个错误指示。</a:t>
            </a:r>
            <a:endParaRPr lang="en-US" altLang="zh-CN" sz="1600" b="1">
              <a:solidFill>
                <a:schemeClr val="tx1"/>
              </a:solidFill>
            </a:endParaRPr>
          </a:p>
          <a:p>
            <a:pPr eaLnBrk="1" hangingPunct="1">
              <a:lnSpc>
                <a:spcPts val="2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chemeClr val="tx1"/>
                </a:solidFill>
              </a:rPr>
              <a:t>方法：初始时，语法分析器栈中的内容为初始状态</a:t>
            </a:r>
            <a:r>
              <a:rPr lang="en-US" altLang="zh-CN" sz="1600" b="1" i="1">
                <a:solidFill>
                  <a:schemeClr val="tx1"/>
                </a:solidFill>
              </a:rPr>
              <a:t>s</a:t>
            </a:r>
            <a:r>
              <a:rPr lang="en-US" altLang="zh-CN" sz="1600" b="1" baseline="-25000">
                <a:solidFill>
                  <a:schemeClr val="tx1"/>
                </a:solidFill>
              </a:rPr>
              <a:t>0</a:t>
            </a:r>
            <a:r>
              <a:rPr lang="zh-CN" altLang="en-US" sz="1600" b="1">
                <a:solidFill>
                  <a:schemeClr val="tx1"/>
                </a:solidFill>
              </a:rPr>
              <a:t>，输入缓冲区中的内容为</a:t>
            </a:r>
            <a:r>
              <a:rPr lang="en-US" altLang="zh-CN" sz="1600" b="1" i="1">
                <a:solidFill>
                  <a:schemeClr val="tx1"/>
                </a:solidFill>
              </a:rPr>
              <a:t>w</a:t>
            </a:r>
            <a:r>
              <a:rPr lang="en-US" altLang="zh-CN" sz="1600" b="1">
                <a:solidFill>
                  <a:schemeClr val="tx1"/>
                </a:solidFill>
              </a:rPr>
              <a:t>$</a:t>
            </a:r>
            <a:r>
              <a:rPr lang="zh-CN" altLang="en-US" sz="1600" b="1">
                <a:solidFill>
                  <a:schemeClr val="tx1"/>
                </a:solidFill>
              </a:rPr>
              <a:t>。然后，语法分析器执行下面的程序：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LR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分析算法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楷体_GB2312"/>
            </a:endParaRPr>
          </a:p>
        </p:txBody>
      </p:sp>
      <p:sp>
        <p:nvSpPr>
          <p:cNvPr id="8" name="内容占位符 1"/>
          <p:cNvSpPr txBox="1">
            <a:spLocks/>
          </p:cNvSpPr>
          <p:nvPr/>
        </p:nvSpPr>
        <p:spPr bwMode="auto">
          <a:xfrm>
            <a:off x="2500313" y="1714500"/>
            <a:ext cx="6072187" cy="3298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为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w</a:t>
            </a:r>
            <a:r>
              <a:rPr kumimoji="1" lang="en-US" altLang="zh-CN" sz="1600" b="1" dirty="0">
                <a:solidFill>
                  <a:prstClr val="black"/>
                </a:solidFill>
                <a:latin typeface="Times New Roman" pitchFamily="18" charset="0"/>
              </a:rPr>
              <a:t>$</a:t>
            </a:r>
            <a:r>
              <a:rPr kumimoji="1" lang="zh-CN" altLang="en-US" sz="1600" b="1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的第一个符号；</a:t>
            </a:r>
            <a:endParaRPr kumimoji="1" lang="en-US" altLang="zh-CN" sz="1600" b="1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l-GR" altLang="zh-CN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while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(1) { /*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永远重复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*/ 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是栈顶的状态；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if ( ACTION 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= </a:t>
            </a:r>
            <a:r>
              <a:rPr lang="en-US" altLang="zh-CN" sz="1600" b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st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) {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将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t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压入栈中；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令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为下一个输入符号；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} else  if (ACTION 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归约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 →</a:t>
            </a:r>
            <a:r>
              <a:rPr lang="el-GR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 β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) {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从栈中弹出│ </a:t>
            </a:r>
            <a:r>
              <a:rPr lang="el-GR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β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│个符号；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将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GOTO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t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压入栈中；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         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输出产生式 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 →</a:t>
            </a:r>
            <a:r>
              <a:rPr lang="el-GR" altLang="zh-CN" sz="1600" b="1" i="1" dirty="0">
                <a:solidFill>
                  <a:prstClr val="black"/>
                </a:solidFill>
                <a:latin typeface="Times New Roman" pitchFamily="18" charset="0"/>
              </a:rPr>
              <a:t> β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；</a:t>
            </a:r>
            <a:endParaRPr lang="en-US" altLang="zh-CN" sz="1600" b="1" dirty="0">
              <a:solidFill>
                <a:prstClr val="black"/>
              </a:solidFill>
              <a:latin typeface="Times New Roman" pitchFamily="18" charset="0"/>
              <a:ea typeface="华文楷体" pitchFamily="2" charset="-122"/>
            </a:endParaRP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} else  if (ACTION [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s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a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]</a:t>
            </a:r>
            <a:r>
              <a:rPr lang="en-US" altLang="zh-CN" sz="16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=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接受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) break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；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/* 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语法分析完成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*/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    else</a:t>
            </a:r>
            <a:r>
              <a:rPr lang="zh-CN" altLang="en-US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调用错误恢复例程；</a:t>
            </a: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</a:t>
            </a:r>
          </a:p>
          <a:p>
            <a:pPr marL="273050" indent="-273050"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itchFamily="18" charset="2"/>
              <a:buNone/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</a:rPr>
              <a:t>       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857250"/>
            <a:ext cx="5927725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en-US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SLR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itchFamily="18" charset="0"/>
              </a:rPr>
              <a:t>(1)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3000" b="1" i="1">
                <a:solidFill>
                  <a:schemeClr val="tx1"/>
                </a:solidFill>
                <a:cs typeface="Times New Roman" pitchFamily="18" charset="0"/>
              </a:rPr>
              <a:t>LALR</a:t>
            </a:r>
            <a:r>
              <a:rPr lang="zh-CN" altLang="en-US" sz="3000" b="1">
                <a:solidFill>
                  <a:schemeClr val="tx1"/>
                </a:solidFill>
                <a:cs typeface="Times New Roman" pitchFamily="18" charset="0"/>
              </a:rPr>
              <a:t>分析</a:t>
            </a:r>
            <a:endParaRPr lang="zh-CN" altLang="zh-CN" sz="3000" b="1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defRPr/>
            </a:pPr>
            <a:endParaRPr lang="zh-CN" altLang="en-US" sz="280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/>
              <a:cs typeface="Times New Roman" pitchFamily="18" charset="0"/>
            </a:endParaRPr>
          </a:p>
        </p:txBody>
      </p:sp>
      <p:sp>
        <p:nvSpPr>
          <p:cNvPr id="9318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如何构造给定文法的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分析表？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46175"/>
            <a:ext cx="8307387" cy="3225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右部某位置标有圆点的产生式称为相应文法的一个</a:t>
            </a:r>
            <a:r>
              <a:rPr lang="en-US" altLang="zh-CN" sz="2500" b="1" i="1">
                <a:solidFill>
                  <a:srgbClr val="FF0000"/>
                </a:solidFill>
              </a:rPr>
              <a:t>LR</a:t>
            </a:r>
            <a:r>
              <a:rPr lang="en-US" altLang="zh-CN" sz="2500" b="1">
                <a:solidFill>
                  <a:srgbClr val="FF0000"/>
                </a:solidFill>
              </a:rPr>
              <a:t>(0)</a:t>
            </a:r>
            <a:r>
              <a:rPr lang="zh-CN" altLang="en-US" sz="2500" b="1">
                <a:solidFill>
                  <a:srgbClr val="FF0000"/>
                </a:solidFill>
              </a:rPr>
              <a:t>项目</a:t>
            </a:r>
            <a:r>
              <a:rPr lang="zh-CN" altLang="en-US" sz="2500" b="1">
                <a:solidFill>
                  <a:schemeClr val="tx1"/>
                </a:solidFill>
              </a:rPr>
              <a:t>（简称为项目）</a:t>
            </a:r>
            <a:endParaRPr lang="en-US" altLang="zh-CN" sz="25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		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/>
              <a:t>·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endParaRPr lang="en-US" altLang="zh-CN" sz="25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2500"/>
              </a:lnSpc>
              <a:buFont typeface="Symbol" panose="05050102010706020507" pitchFamily="18" charset="2"/>
              <a:buNone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例：</a:t>
            </a:r>
            <a:r>
              <a:rPr lang="en-US" altLang="zh-CN" sz="2500" b="1" i="1">
                <a:solidFill>
                  <a:schemeClr val="tx1"/>
                </a:solidFill>
              </a:rPr>
              <a:t>S</a:t>
            </a:r>
            <a:r>
              <a:rPr lang="en-US" altLang="zh-CN" sz="2500" b="1">
                <a:solidFill>
                  <a:schemeClr val="tx1"/>
                </a:solidFill>
              </a:rPr>
              <a:t>→</a:t>
            </a:r>
            <a:r>
              <a:rPr lang="en-US" altLang="zh-CN" sz="2500" b="1" i="1">
                <a:solidFill>
                  <a:schemeClr val="tx1"/>
                </a:solidFill>
              </a:rPr>
              <a:t>bBB</a:t>
            </a:r>
            <a:r>
              <a:rPr lang="en-US" altLang="zh-CN" sz="2500" b="1">
                <a:solidFill>
                  <a:schemeClr val="tx1"/>
                </a:solidFill>
              </a:rPr>
              <a:t> </a:t>
            </a:r>
            <a:endParaRPr lang="en-US" altLang="zh-CN" sz="2500" b="1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endParaRPr lang="en-US" altLang="zh-CN" sz="25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endParaRPr lang="en-US" altLang="zh-CN" sz="2500" b="1">
              <a:solidFill>
                <a:schemeClr val="tx1"/>
              </a:solidFill>
            </a:endParaRPr>
          </a:p>
        </p:txBody>
      </p:sp>
      <p:sp>
        <p:nvSpPr>
          <p:cNvPr id="952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项目</a:t>
            </a:r>
          </a:p>
        </p:txBody>
      </p:sp>
      <p:sp>
        <p:nvSpPr>
          <p:cNvPr id="421892" name="Rectangle 4"/>
          <p:cNvSpPr>
            <a:spLocks noChangeArrowheads="1"/>
          </p:cNvSpPr>
          <p:nvPr/>
        </p:nvSpPr>
        <p:spPr bwMode="auto">
          <a:xfrm>
            <a:off x="3492500" y="4156075"/>
            <a:ext cx="2736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归约项目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492500" y="2859088"/>
            <a:ext cx="24479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移进项目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3492500" y="3465513"/>
            <a:ext cx="193357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>
                <a:solidFill>
                  <a:srgbClr val="2D83F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待约项目</a:t>
            </a:r>
          </a:p>
        </p:txBody>
      </p:sp>
      <p:sp>
        <p:nvSpPr>
          <p:cNvPr id="421895" name="AutoShape 7"/>
          <p:cNvSpPr>
            <a:spLocks/>
          </p:cNvSpPr>
          <p:nvPr/>
        </p:nvSpPr>
        <p:spPr bwMode="auto">
          <a:xfrm>
            <a:off x="3052763" y="3475038"/>
            <a:ext cx="295275" cy="539750"/>
          </a:xfrm>
          <a:prstGeom prst="rightBrace">
            <a:avLst>
              <a:gd name="adj1" fmla="val 19479"/>
              <a:gd name="adj2" fmla="val 50000"/>
            </a:avLst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21896" name="Line 8"/>
          <p:cNvSpPr>
            <a:spLocks noChangeShapeType="1"/>
          </p:cNvSpPr>
          <p:nvPr/>
        </p:nvSpPr>
        <p:spPr bwMode="auto">
          <a:xfrm flipH="1">
            <a:off x="2998788" y="4371975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 flipH="1">
            <a:off x="2998788" y="3078163"/>
            <a:ext cx="5762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5546" name="矩形 1"/>
          <p:cNvSpPr>
            <a:spLocks noChangeArrowheads="1"/>
          </p:cNvSpPr>
          <p:nvPr/>
        </p:nvSpPr>
        <p:spPr bwMode="auto">
          <a:xfrm>
            <a:off x="1079500" y="2905125"/>
            <a:ext cx="4572000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</a:t>
            </a:r>
          </a:p>
          <a:p>
            <a:pPr eaLnBrk="1" hangingPunct="1">
              <a:lnSpc>
                <a:spcPts val="25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bBB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11738" y="3622675"/>
            <a:ext cx="4064000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项目描述了</a:t>
            </a:r>
            <a:r>
              <a:rPr lang="zh-CN" altLang="en-US" sz="2400" b="1">
                <a:solidFill>
                  <a:srgbClr val="2D83F4"/>
                </a:solidFill>
                <a:latin typeface="华文楷体" pitchFamily="2" charset="-122"/>
                <a:ea typeface="华文楷体" pitchFamily="2" charset="-122"/>
              </a:rPr>
              <a:t>句柄识别的状态</a:t>
            </a:r>
            <a:endParaRPr lang="zh-CN" altLang="en-US" sz="3600" b="1">
              <a:solidFill>
                <a:srgbClr val="2D83F4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09775" y="4614863"/>
            <a:ext cx="48974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产生式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ε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 </a:t>
            </a:r>
            <a:r>
              <a:rPr lang="zh-CN" altLang="en-US" sz="25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只生成一个项目</a:t>
            </a:r>
            <a:r>
              <a:rPr lang="en-US" altLang="zh-CN" sz="2500" b="1" i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A</a:t>
            </a:r>
            <a:r>
              <a:rPr lang="en-US" altLang="zh-CN" sz="25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→ · </a:t>
            </a:r>
            <a:endParaRPr lang="zh-CN" altLang="en-US">
              <a:solidFill>
                <a:srgbClr val="2D83F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2" grpId="0"/>
      <p:bldP spid="421893" grpId="0"/>
      <p:bldP spid="421894" grpId="0"/>
      <p:bldP spid="421895" grpId="0" animBg="1"/>
      <p:bldP spid="65546" grpId="0"/>
      <p:bldP spid="3" grpId="0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357188" y="785813"/>
            <a:ext cx="8664575" cy="3225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是一个以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为开始符号的文法，则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>
                <a:solidFill>
                  <a:srgbClr val="FF0000"/>
                </a:solidFill>
                <a:cs typeface="Times New Roman" panose="02020603050405020304" pitchFamily="18" charset="0"/>
              </a:rPr>
              <a:t>增广文法</a:t>
            </a:r>
            <a:r>
              <a:rPr lang="en-US" altLang="zh-CN" sz="2500" b="1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G'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就是在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中加上新开始符号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和产生式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S'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500" b="1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而得到的文法</a:t>
            </a:r>
            <a:endParaRPr lang="en-US" altLang="zh-CN" sz="25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例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</a:pPr>
            <a:endParaRPr lang="en-US" altLang="zh-CN" sz="25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Font typeface="Symbol" panose="05050102010706020507" pitchFamily="18" charset="2"/>
              <a:buNone/>
            </a:pPr>
            <a:endParaRPr lang="en-US" altLang="zh-CN" sz="100" b="1">
              <a:solidFill>
                <a:schemeClr val="tx1"/>
              </a:solidFill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增广文法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Augmented Grammar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213225" y="2571750"/>
            <a:ext cx="936625" cy="323850"/>
          </a:xfrm>
          <a:prstGeom prst="rightArrow">
            <a:avLst>
              <a:gd name="adj1" fmla="val 50000"/>
              <a:gd name="adj2" fmla="val 54228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 sz="200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195513" y="2117725"/>
            <a:ext cx="1816100" cy="1939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270500" y="1733550"/>
            <a:ext cx="1814513" cy="23241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0)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E'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+ T</a:t>
            </a:r>
            <a:endParaRPr lang="en-US" altLang="zh-CN" sz="2000" b="1" dirty="0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*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5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E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6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lang="de-DE" altLang="zh-CN" sz="20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  → </a:t>
            </a:r>
            <a:r>
              <a:rPr lang="de-DE" altLang="zh-CN" sz="20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id</a:t>
            </a:r>
          </a:p>
        </p:txBody>
      </p:sp>
      <p:sp>
        <p:nvSpPr>
          <p:cNvPr id="2" name="矩形 1"/>
          <p:cNvSpPr/>
          <p:nvPr/>
        </p:nvSpPr>
        <p:spPr>
          <a:xfrm>
            <a:off x="368300" y="4198938"/>
            <a:ext cx="8596313" cy="9128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303213" lvl="1" eaLnBrk="1" hangingPunct="1">
              <a:lnSpc>
                <a:spcPts val="32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引入这个</a:t>
            </a:r>
            <a:r>
              <a:rPr lang="zh-CN" altLang="en-US" sz="2400" b="1">
                <a:solidFill>
                  <a:prstClr val="black"/>
                </a:solidFill>
                <a:latin typeface="Times New Roman" pitchFamily="18" charset="0"/>
                <a:ea typeface="华文楷体" pitchFamily="2" charset="-122"/>
              </a:rPr>
              <a:t>新的开始产生式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的目的是使得</a:t>
            </a:r>
            <a:r>
              <a:rPr lang="zh-CN" altLang="en-US" sz="24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文法开始符号仅出现在一个产生式的左边</a:t>
            </a:r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  <a:ea typeface="华文楷体" pitchFamily="2" charset="-122"/>
              </a:rPr>
              <a:t>，从而使得</a:t>
            </a:r>
            <a:r>
              <a:rPr lang="zh-CN" altLang="en-US" sz="2400" b="1">
                <a:solidFill>
                  <a:srgbClr val="2D83F4"/>
                </a:solidFill>
                <a:latin typeface="Times New Roman" pitchFamily="18" charset="0"/>
                <a:ea typeface="华文楷体" pitchFamily="2" charset="-122"/>
              </a:rPr>
              <a:t>分析器只有一个接受状态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594948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</a:t>
            </a:r>
          </a:p>
        </p:txBody>
      </p:sp>
      <p:sp>
        <p:nvSpPr>
          <p:cNvPr id="594949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1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2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94954" name="Rectangle 10"/>
          <p:cNvSpPr>
            <a:spLocks noChangeArrowheads="1"/>
          </p:cNvSpPr>
          <p:nvPr/>
        </p:nvSpPr>
        <p:spPr bwMode="auto">
          <a:xfrm>
            <a:off x="428625" y="2738438"/>
            <a:ext cx="8072438" cy="265112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94955" name="AutoShape 11"/>
          <p:cNvSpPr>
            <a:spLocks/>
          </p:cNvSpPr>
          <p:nvPr/>
        </p:nvSpPr>
        <p:spPr bwMode="auto">
          <a:xfrm>
            <a:off x="1331913" y="3108325"/>
            <a:ext cx="1239837" cy="284163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22889"/>
              <a:gd name="adj5" fmla="val -94162"/>
              <a:gd name="adj6" fmla="val -2866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归约项目</a:t>
            </a:r>
          </a:p>
        </p:txBody>
      </p:sp>
      <p:sp>
        <p:nvSpPr>
          <p:cNvPr id="594956" name="AutoShape 12"/>
          <p:cNvSpPr>
            <a:spLocks/>
          </p:cNvSpPr>
          <p:nvPr/>
        </p:nvSpPr>
        <p:spPr bwMode="auto">
          <a:xfrm>
            <a:off x="900113" y="3536950"/>
            <a:ext cx="1243012" cy="258763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7412"/>
              <a:gd name="adj5" fmla="val -245664"/>
              <a:gd name="adj6" fmla="val -21587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接收项目</a:t>
            </a:r>
          </a:p>
        </p:txBody>
      </p:sp>
      <p:sp>
        <p:nvSpPr>
          <p:cNvPr id="594957" name="AutoShape 13"/>
          <p:cNvSpPr>
            <a:spLocks/>
          </p:cNvSpPr>
          <p:nvPr/>
        </p:nvSpPr>
        <p:spPr bwMode="auto">
          <a:xfrm>
            <a:off x="828675" y="1651000"/>
            <a:ext cx="1243013" cy="314325"/>
          </a:xfrm>
          <a:prstGeom prst="borderCallout2">
            <a:avLst>
              <a:gd name="adj1" fmla="val 34616"/>
              <a:gd name="adj2" fmla="val -6241"/>
              <a:gd name="adj3" fmla="val 34616"/>
              <a:gd name="adj4" fmla="val -11963"/>
              <a:gd name="adj5" fmla="val 213944"/>
              <a:gd name="adj6" fmla="val -17944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000" b="1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初始项目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4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4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4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4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94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4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4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94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49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49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949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594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949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94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5" grpId="0" animBg="1"/>
      <p:bldP spid="594948" grpId="0" build="allAtOnce"/>
      <p:bldP spid="594949" grpId="0" build="allAtOnce"/>
      <p:bldP spid="594950" grpId="0" build="allAtOnce"/>
      <p:bldP spid="594951" grpId="0" build="allAtOnce"/>
      <p:bldP spid="594952" grpId="0" build="allAtOnce"/>
      <p:bldP spid="594954" grpId="0" animBg="1"/>
      <p:bldP spid="594954" grpId="1" animBg="1"/>
      <p:bldP spid="594955" grpId="0" animBg="1"/>
      <p:bldP spid="594955" grpId="1" animBg="1"/>
      <p:bldP spid="594956" grpId="0" animBg="1"/>
      <p:bldP spid="594956" grpId="1" animBg="1"/>
      <p:bldP spid="594957" grpId="0" animBg="1"/>
      <p:bldP spid="594957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indent="-273050" eaLnBrk="1" hangingPunct="1">
              <a:lnSpc>
                <a:spcPct val="900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①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②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→v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③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④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→i      </a:t>
            </a:r>
            <a:r>
              <a:rPr lang="en-US" altLang="zh-CN" sz="25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⑤ </a:t>
            </a:r>
            <a:r>
              <a:rPr lang="en-US" altLang="zh-CN" sz="25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→r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214438"/>
            <a:ext cx="8915400" cy="322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5288" y="3197225"/>
            <a:ext cx="8320087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后继项目</a:t>
            </a:r>
            <a:r>
              <a:rPr lang="zh-CN" altLang="en-US" sz="1600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（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Successive Item</a:t>
            </a:r>
            <a:r>
              <a:rPr lang="en-US" altLang="zh-CN" sz="1600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）</a:t>
            </a:r>
            <a:endParaRPr lang="zh-CN" altLang="en-US" sz="1600" b="1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同属于一个产生式的项目，但圆点的位置只相差一个符号，</a:t>
            </a:r>
            <a:endParaRPr lang="en-US" altLang="zh-CN" b="1">
              <a:solidFill>
                <a:srgbClr val="000000"/>
              </a:solidFill>
              <a:latin typeface="楷体" panose="02010609060101010101" pitchFamily="49" charset="-122"/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  </a:t>
            </a:r>
            <a:r>
              <a:rPr lang="zh-CN" altLang="en-US" b="1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则称后者是前者的后继项目</a:t>
            </a:r>
          </a:p>
          <a:p>
            <a:pPr lvl="1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Xβ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的后继项目是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→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αX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β</a:t>
            </a:r>
            <a:endParaRPr lang="zh-CN" altLang="en-US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1382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01383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01384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1385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1386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eaLnBrk="1" hangingPunct="1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·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388938" y="1036638"/>
            <a:ext cx="8326437" cy="376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①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S'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②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→v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③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,i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④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→i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⑤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→r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465138" y="1214438"/>
            <a:ext cx="8915400" cy="322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文法中的项目</a:t>
            </a:r>
          </a:p>
        </p:txBody>
      </p:sp>
      <p:sp>
        <p:nvSpPr>
          <p:cNvPr id="594958" name="AutoShape 14"/>
          <p:cNvSpPr>
            <a:spLocks noChangeArrowheads="1"/>
          </p:cNvSpPr>
          <p:nvPr/>
        </p:nvSpPr>
        <p:spPr bwMode="auto">
          <a:xfrm>
            <a:off x="3784600" y="3149600"/>
            <a:ext cx="4176713" cy="1006475"/>
          </a:xfrm>
          <a:prstGeom prst="cloudCallout">
            <a:avLst>
              <a:gd name="adj1" fmla="val -51169"/>
              <a:gd name="adj2" fmla="val -555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15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个项目中是否会有某些项目是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等价的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？</a:t>
            </a:r>
          </a:p>
        </p:txBody>
      </p:sp>
      <p:sp>
        <p:nvSpPr>
          <p:cNvPr id="2" name="矩形 1"/>
          <p:cNvSpPr/>
          <p:nvPr/>
        </p:nvSpPr>
        <p:spPr>
          <a:xfrm>
            <a:off x="487363" y="4202113"/>
            <a:ext cx="8332787" cy="8318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可以把等价的项目组成一个项目集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( 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I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 ，称为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项目集闭包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Closure of Item Sets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，每个项目集闭包对应着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自动机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的一个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状态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95288" y="2368550"/>
            <a:ext cx="14398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(0)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S'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051050" y="1465263"/>
            <a:ext cx="17811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(2)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(3)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→v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(4)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(5)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(6)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→v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995738" y="1752600"/>
            <a:ext cx="149383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(7) 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(8) 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(9)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(10)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5795963" y="2368550"/>
            <a:ext cx="1493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(11)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(12)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7235825" y="2368550"/>
            <a:ext cx="1441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(13)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(14)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→r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86028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390A2A-A591-4CBE-B8C5-D8BEBE31394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08916" y="1582738"/>
            <a:ext cx="1307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Times New Roman" pitchFamily="18" charset="0"/>
              </a:rPr>
              <a:t>⑥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→j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58" grpId="0" animBg="1"/>
      <p:bldP spid="2" grpId="0" animBg="1"/>
      <p:bldP spid="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000" b="1" i="1" baseline="-2500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ea typeface="楷体_GB2312" pitchFamily="49" charset="-12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  <a:cs typeface="Times New Roman" pitchFamily="18" charset="0"/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b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25989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</a:p>
        </p:txBody>
      </p:sp>
      <p:sp>
        <p:nvSpPr>
          <p:cNvPr id="425991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5994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425996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  <p:sp>
        <p:nvSpPr>
          <p:cNvPr id="425997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5998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4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	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26000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01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5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26003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04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426005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06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6007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08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aB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426010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11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426012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6013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8809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96838" y="1104900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(0)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分析表</a:t>
            </a:r>
          </a:p>
        </p:txBody>
      </p:sp>
      <p:sp>
        <p:nvSpPr>
          <p:cNvPr id="8816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37636C-38D6-43B5-AD7E-A9212C050285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59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5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5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59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259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259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5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25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25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25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2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2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2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" grpId="0" animBg="1"/>
      <p:bldP spid="425987" grpId="0" build="p" animBg="1"/>
      <p:bldP spid="425988" grpId="0" animBg="1"/>
      <p:bldP spid="425989" grpId="0" animBg="1"/>
      <p:bldP spid="425990" grpId="0"/>
      <p:bldP spid="425991" grpId="0" animBg="1"/>
      <p:bldP spid="425992" grpId="0"/>
      <p:bldP spid="425994" grpId="0" animBg="1"/>
      <p:bldP spid="425995" grpId="0"/>
      <p:bldP spid="425997" grpId="0" animBg="1"/>
      <p:bldP spid="425998" grpId="0"/>
      <p:bldP spid="425999" grpId="0" animBg="1"/>
      <p:bldP spid="426000" grpId="0" animBg="1"/>
      <p:bldP spid="426001" grpId="0"/>
      <p:bldP spid="426002" grpId="0" animBg="1"/>
      <p:bldP spid="426003" grpId="0" animBg="1"/>
      <p:bldP spid="426004" grpId="0"/>
      <p:bldP spid="426005" grpId="0" animBg="1"/>
      <p:bldP spid="426006" grpId="0"/>
      <p:bldP spid="426007" grpId="0" animBg="1"/>
      <p:bldP spid="426008" grpId="0"/>
      <p:bldP spid="426009" grpId="0" animBg="1"/>
      <p:bldP spid="426010" grpId="0" animBg="1"/>
      <p:bldP spid="426011" grpId="0"/>
      <p:bldP spid="426012" grpId="0" animBg="1"/>
      <p:bldP spid="426013" grpId="0"/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3162300" y="3900488"/>
            <a:ext cx="1000125" cy="1077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60713" y="1677988"/>
            <a:ext cx="1001712" cy="1222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>
          <a:xfrm>
            <a:off x="1671638" y="731838"/>
            <a:ext cx="1073150" cy="1465262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I</a:t>
            </a:r>
            <a:r>
              <a:rPr lang="en-US" altLang="zh-CN" sz="2000" b="1" i="1" baseline="-25000">
                <a:solidFill>
                  <a:schemeClr val="tx1"/>
                </a:solidFill>
                <a:ea typeface="楷体_GB2312"/>
                <a:cs typeface="Times New Roman" pitchFamily="18" charset="0"/>
              </a:rPr>
              <a:t>0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  <a:r>
              <a:rPr lang="en-US" altLang="zh-CN" sz="2000" b="1" i="1">
                <a:solidFill>
                  <a:srgbClr val="000000"/>
                </a:solidFill>
                <a:ea typeface="楷体_GB2312"/>
                <a:cs typeface="Times New Roman" pitchFamily="18" charset="0"/>
              </a:rPr>
              <a:t>' 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  <a:cs typeface="Times New Roman" pitchFamily="18" charset="0"/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S</a:t>
            </a:r>
            <a:r>
              <a:rPr lang="en-US" altLang="zh-CN" sz="2000" b="1">
                <a:solidFill>
                  <a:schemeClr val="tx1"/>
                </a:solidFill>
                <a:ea typeface="楷体_GB231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→</a:t>
            </a:r>
            <a:r>
              <a:rPr lang="en-US" altLang="zh-CN" sz="2000" b="1">
                <a:solidFill>
                  <a:schemeClr val="tx1"/>
                </a:solidFill>
              </a:rPr>
              <a:t>·</a:t>
            </a:r>
            <a:r>
              <a:rPr lang="en-US" altLang="zh-CN" sz="2000" b="1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b</a:t>
            </a:r>
            <a:r>
              <a:rPr lang="en-US" altLang="zh-CN" sz="2000" b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	</a:t>
            </a:r>
            <a:endParaRPr lang="en-US" altLang="zh-CN" b="1">
              <a:solidFill>
                <a:schemeClr val="tx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160713" y="757238"/>
            <a:ext cx="1001712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0118" name="Line 5"/>
          <p:cNvSpPr>
            <a:spLocks noChangeShapeType="1"/>
          </p:cNvSpPr>
          <p:nvPr/>
        </p:nvSpPr>
        <p:spPr bwMode="auto">
          <a:xfrm>
            <a:off x="2744788" y="1112838"/>
            <a:ext cx="420687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9" name="Text Box 6"/>
          <p:cNvSpPr txBox="1">
            <a:spLocks noChangeArrowheads="1"/>
          </p:cNvSpPr>
          <p:nvPr/>
        </p:nvSpPr>
        <p:spPr bwMode="auto">
          <a:xfrm>
            <a:off x="2698750" y="714375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</a:p>
        </p:txBody>
      </p:sp>
      <p:sp>
        <p:nvSpPr>
          <p:cNvPr id="90120" name="Line 7"/>
          <p:cNvSpPr>
            <a:spLocks noChangeShapeType="1"/>
          </p:cNvSpPr>
          <p:nvPr/>
        </p:nvSpPr>
        <p:spPr bwMode="auto">
          <a:xfrm>
            <a:off x="2744788" y="1755775"/>
            <a:ext cx="417512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21" name="Text Box 8"/>
          <p:cNvSpPr txBox="1">
            <a:spLocks noChangeArrowheads="1"/>
          </p:cNvSpPr>
          <p:nvPr/>
        </p:nvSpPr>
        <p:spPr bwMode="auto">
          <a:xfrm>
            <a:off x="2716213" y="1347788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90122" name="Rectangle 9"/>
          <p:cNvSpPr>
            <a:spLocks noChangeArrowheads="1"/>
          </p:cNvSpPr>
          <p:nvPr/>
        </p:nvSpPr>
        <p:spPr bwMode="auto">
          <a:xfrm>
            <a:off x="3154363" y="1627188"/>
            <a:ext cx="12954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23" name="Freeform 10"/>
          <p:cNvSpPr>
            <a:spLocks/>
          </p:cNvSpPr>
          <p:nvPr/>
        </p:nvSpPr>
        <p:spPr bwMode="auto">
          <a:xfrm>
            <a:off x="2024063" y="2208213"/>
            <a:ext cx="1141412" cy="2343150"/>
          </a:xfrm>
          <a:custGeom>
            <a:avLst/>
            <a:gdLst>
              <a:gd name="T0" fmla="*/ 0 w 816"/>
              <a:gd name="T1" fmla="*/ 0 h 1344"/>
              <a:gd name="T2" fmla="*/ 2147483646 w 816"/>
              <a:gd name="T3" fmla="*/ 2147483646 h 1344"/>
              <a:gd name="T4" fmla="*/ 2147483646 w 816"/>
              <a:gd name="T5" fmla="*/ 2147483646 h 1344"/>
              <a:gd name="T6" fmla="*/ 2147483646 w 81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24" name="Text Box 11"/>
          <p:cNvSpPr txBox="1">
            <a:spLocks noChangeArrowheads="1"/>
          </p:cNvSpPr>
          <p:nvPr/>
        </p:nvSpPr>
        <p:spPr bwMode="auto">
          <a:xfrm>
            <a:off x="1701800" y="2471738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90125" name="Rectangle 12"/>
          <p:cNvSpPr>
            <a:spLocks noChangeArrowheads="1"/>
          </p:cNvSpPr>
          <p:nvPr/>
        </p:nvSpPr>
        <p:spPr bwMode="auto">
          <a:xfrm>
            <a:off x="3162300" y="3863975"/>
            <a:ext cx="12954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609600" indent="-609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aB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</a:p>
        </p:txBody>
      </p:sp>
      <p:sp>
        <p:nvSpPr>
          <p:cNvPr id="90126" name="Freeform 13"/>
          <p:cNvSpPr>
            <a:spLocks/>
          </p:cNvSpPr>
          <p:nvPr/>
        </p:nvSpPr>
        <p:spPr bwMode="auto">
          <a:xfrm>
            <a:off x="2444750" y="2212975"/>
            <a:ext cx="715963" cy="1243013"/>
          </a:xfrm>
          <a:custGeom>
            <a:avLst/>
            <a:gdLst>
              <a:gd name="T0" fmla="*/ 0 w 1680"/>
              <a:gd name="T1" fmla="*/ 0 h 1056"/>
              <a:gd name="T2" fmla="*/ 2147483646 w 1680"/>
              <a:gd name="T3" fmla="*/ 2147483646 h 1056"/>
              <a:gd name="T4" fmla="*/ 2147483646 w 1680"/>
              <a:gd name="T5" fmla="*/ 2147483646 h 1056"/>
              <a:gd name="T6" fmla="*/ 2147483646 w 1680"/>
              <a:gd name="T7" fmla="*/ 2147483646 h 1056"/>
              <a:gd name="T8" fmla="*/ 2147483646 w 1680"/>
              <a:gd name="T9" fmla="*/ 2147483646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27" name="Text Box 14"/>
          <p:cNvSpPr txBox="1">
            <a:spLocks noChangeArrowheads="1"/>
          </p:cNvSpPr>
          <p:nvPr/>
        </p:nvSpPr>
        <p:spPr bwMode="auto">
          <a:xfrm>
            <a:off x="2459038" y="250031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5999" name="Rectangle 15"/>
          <p:cNvSpPr>
            <a:spLocks noChangeArrowheads="1"/>
          </p:cNvSpPr>
          <p:nvPr/>
        </p:nvSpPr>
        <p:spPr bwMode="auto">
          <a:xfrm>
            <a:off x="3162300" y="2971800"/>
            <a:ext cx="1000125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4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	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0129" name="Line 16"/>
          <p:cNvSpPr>
            <a:spLocks noChangeShapeType="1"/>
          </p:cNvSpPr>
          <p:nvPr/>
        </p:nvSpPr>
        <p:spPr bwMode="auto">
          <a:xfrm>
            <a:off x="4162425" y="1763713"/>
            <a:ext cx="382588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30" name="Text Box 17"/>
          <p:cNvSpPr txBox="1">
            <a:spLocks noChangeArrowheads="1"/>
          </p:cNvSpPr>
          <p:nvPr/>
        </p:nvSpPr>
        <p:spPr bwMode="auto">
          <a:xfrm>
            <a:off x="4113213" y="1357313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6002" name="Rectangle 18"/>
          <p:cNvSpPr>
            <a:spLocks noChangeArrowheads="1"/>
          </p:cNvSpPr>
          <p:nvPr/>
        </p:nvSpPr>
        <p:spPr bwMode="auto">
          <a:xfrm>
            <a:off x="4545013" y="1557338"/>
            <a:ext cx="1035050" cy="720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5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S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0132" name="Freeform 19"/>
          <p:cNvSpPr>
            <a:spLocks/>
          </p:cNvSpPr>
          <p:nvPr/>
        </p:nvSpPr>
        <p:spPr bwMode="auto">
          <a:xfrm>
            <a:off x="4162425" y="2278063"/>
            <a:ext cx="793750" cy="1781175"/>
          </a:xfrm>
          <a:custGeom>
            <a:avLst/>
            <a:gdLst>
              <a:gd name="T0" fmla="*/ 0 w 1424"/>
              <a:gd name="T1" fmla="*/ 0 h 1968"/>
              <a:gd name="T2" fmla="*/ 2147483646 w 1424"/>
              <a:gd name="T3" fmla="*/ 2147483646 h 1968"/>
              <a:gd name="T4" fmla="*/ 2147483646 w 1424"/>
              <a:gd name="T5" fmla="*/ 2147483646 h 1968"/>
              <a:gd name="T6" fmla="*/ 2147483646 w 1424"/>
              <a:gd name="T7" fmla="*/ 2147483646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33" name="Text Box 20"/>
          <p:cNvSpPr txBox="1">
            <a:spLocks noChangeArrowheads="1"/>
          </p:cNvSpPr>
          <p:nvPr/>
        </p:nvSpPr>
        <p:spPr bwMode="auto">
          <a:xfrm>
            <a:off x="4924425" y="2857500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90134" name="Freeform 21"/>
          <p:cNvSpPr>
            <a:spLocks/>
          </p:cNvSpPr>
          <p:nvPr/>
        </p:nvSpPr>
        <p:spPr bwMode="auto">
          <a:xfrm>
            <a:off x="4162425" y="2735263"/>
            <a:ext cx="317500" cy="514350"/>
          </a:xfrm>
          <a:custGeom>
            <a:avLst/>
            <a:gdLst>
              <a:gd name="T0" fmla="*/ 0 w 200"/>
              <a:gd name="T1" fmla="*/ 0 h 432"/>
              <a:gd name="T2" fmla="*/ 2147483646 w 200"/>
              <a:gd name="T3" fmla="*/ 2147483646 h 432"/>
              <a:gd name="T4" fmla="*/ 2147483646 w 200"/>
              <a:gd name="T5" fmla="*/ 2147483646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35" name="Text Box 22"/>
          <p:cNvSpPr txBox="1">
            <a:spLocks noChangeArrowheads="1"/>
          </p:cNvSpPr>
          <p:nvPr/>
        </p:nvSpPr>
        <p:spPr bwMode="auto">
          <a:xfrm>
            <a:off x="4448175" y="284956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90136" name="Line 23"/>
          <p:cNvSpPr>
            <a:spLocks noChangeShapeType="1"/>
          </p:cNvSpPr>
          <p:nvPr/>
        </p:nvSpPr>
        <p:spPr bwMode="auto">
          <a:xfrm flipV="1">
            <a:off x="4162425" y="4324350"/>
            <a:ext cx="3825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37" name="Text Box 24"/>
          <p:cNvSpPr txBox="1">
            <a:spLocks noChangeArrowheads="1"/>
          </p:cNvSpPr>
          <p:nvPr/>
        </p:nvSpPr>
        <p:spPr bwMode="auto">
          <a:xfrm>
            <a:off x="4233863" y="3971925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4545013" y="3867150"/>
            <a:ext cx="1001712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I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</a:p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73E87"/>
              </a:buClr>
              <a:buSzPct val="75000"/>
              <a:buFont typeface="Monotype Sorts"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→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aB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·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0139" name="Freeform 26"/>
          <p:cNvSpPr>
            <a:spLocks/>
          </p:cNvSpPr>
          <p:nvPr/>
        </p:nvSpPr>
        <p:spPr bwMode="auto">
          <a:xfrm>
            <a:off x="4162425" y="4508500"/>
            <a:ext cx="457200" cy="342900"/>
          </a:xfrm>
          <a:custGeom>
            <a:avLst/>
            <a:gdLst>
              <a:gd name="T0" fmla="*/ 0 w 288"/>
              <a:gd name="T1" fmla="*/ 0 h 288"/>
              <a:gd name="T2" fmla="*/ 2147483646 w 288"/>
              <a:gd name="T3" fmla="*/ 2147483646 h 288"/>
              <a:gd name="T4" fmla="*/ 0 w 288"/>
              <a:gd name="T5" fmla="*/ 2147483646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40" name="Text Box 27"/>
          <p:cNvSpPr txBox="1">
            <a:spLocks noChangeArrowheads="1"/>
          </p:cNvSpPr>
          <p:nvPr/>
        </p:nvSpPr>
        <p:spPr bwMode="auto">
          <a:xfrm>
            <a:off x="4662488" y="4459288"/>
            <a:ext cx="45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90141" name="Line 28"/>
          <p:cNvSpPr>
            <a:spLocks noChangeShapeType="1"/>
          </p:cNvSpPr>
          <p:nvPr/>
        </p:nvSpPr>
        <p:spPr bwMode="auto">
          <a:xfrm flipV="1">
            <a:off x="3733800" y="3614738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42" name="Text Box 29"/>
          <p:cNvSpPr txBox="1">
            <a:spLocks noChangeArrowheads="1"/>
          </p:cNvSpPr>
          <p:nvPr/>
        </p:nvSpPr>
        <p:spPr bwMode="auto">
          <a:xfrm>
            <a:off x="3805238" y="3543300"/>
            <a:ext cx="53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sp>
        <p:nvSpPr>
          <p:cNvPr id="901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自动机</a:t>
            </a:r>
            <a:endParaRPr lang="zh-CN" altLang="en-US" sz="3000" i="1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015" name="内容占位符 2"/>
          <p:cNvSpPr txBox="1">
            <a:spLocks/>
          </p:cNvSpPr>
          <p:nvPr/>
        </p:nvSpPr>
        <p:spPr bwMode="auto">
          <a:xfrm>
            <a:off x="96838" y="1104900"/>
            <a:ext cx="1379537" cy="1682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(0)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S'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S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BB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aB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(3)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Times New Roman" pitchFamily="18" charset="0"/>
            </a:endParaRPr>
          </a:p>
        </p:txBody>
      </p:sp>
      <p:graphicFrame>
        <p:nvGraphicFramePr>
          <p:cNvPr id="34" name="Group 18"/>
          <p:cNvGraphicFramePr>
            <a:graphicFrameLocks noGrp="1"/>
          </p:cNvGraphicFramePr>
          <p:nvPr/>
        </p:nvGraphicFramePr>
        <p:xfrm>
          <a:off x="5799138" y="1131888"/>
          <a:ext cx="3236912" cy="3657597"/>
        </p:xfrm>
        <a:graphic>
          <a:graphicData uri="http://schemas.openxmlformats.org/drawingml/2006/table">
            <a:tbl>
              <a:tblPr/>
              <a:tblGrid>
                <a:gridCol w="35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20" marR="91420" marT="34277" marB="3427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$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S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  <a:endParaRPr kumimoji="0" lang="zh-CN" altLang="en-US" sz="22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s3</a:t>
                      </a: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20" marR="91420" marT="34277" marB="3427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213" name="矩形 1"/>
          <p:cNvSpPr>
            <a:spLocks noChangeArrowheads="1"/>
          </p:cNvSpPr>
          <p:nvPr/>
        </p:nvSpPr>
        <p:spPr bwMode="auto">
          <a:xfrm>
            <a:off x="6518275" y="700088"/>
            <a:ext cx="180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LR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(0)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分析表</a:t>
            </a:r>
          </a:p>
        </p:txBody>
      </p:sp>
      <p:sp>
        <p:nvSpPr>
          <p:cNvPr id="9021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AC748D-0F62-4925-A37C-123F6F3714D5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684213" y="779463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chemeClr val="tx1"/>
                </a:solidFill>
              </a:rPr>
              <a:t>CLOSURE( 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3563" y="1852613"/>
            <a:ext cx="8315325" cy="431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CLOSURE</a:t>
            </a:r>
            <a:r>
              <a:rPr kumimoji="0" lang="en-US" altLang="zh-CN" sz="2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0" lang="en-US" altLang="zh-CN" sz="2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)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=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∪{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·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γ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|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·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Bβ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∈CLOSURE</a:t>
            </a:r>
            <a:r>
              <a:rPr kumimoji="0" lang="en-US" altLang="zh-CN" sz="2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0" lang="en-US" altLang="zh-CN" sz="2200" b="1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)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,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→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γ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∈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P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}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63563" y="1204913"/>
            <a:ext cx="703262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计算给定项目集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的闭包</a:t>
            </a:r>
          </a:p>
        </p:txBody>
      </p:sp>
      <p:sp>
        <p:nvSpPr>
          <p:cNvPr id="92165" name="标题 1"/>
          <p:cNvSpPr txBox="1">
            <a:spLocks/>
          </p:cNvSpPr>
          <p:nvPr/>
        </p:nvSpPr>
        <p:spPr bwMode="auto">
          <a:xfrm>
            <a:off x="790575" y="174625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263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663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088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2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4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36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0888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4. LR(0)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分析表的构造算法</a:t>
            </a:r>
          </a:p>
        </p:txBody>
      </p:sp>
      <p:sp>
        <p:nvSpPr>
          <p:cNvPr id="9216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382BC3-1ACD-4246-925C-69A0513FC146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chemeClr val="tx1"/>
                </a:solidFill>
              </a:rPr>
              <a:t>CLOSURE( 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1"/>
          <p:cNvSpPr txBox="1">
            <a:spLocks/>
          </p:cNvSpPr>
          <p:nvPr/>
        </p:nvSpPr>
        <p:spPr bwMode="auto">
          <a:xfrm>
            <a:off x="785813" y="785813"/>
            <a:ext cx="7632700" cy="4103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SetOfltems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CLOSURE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I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{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；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repeat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for 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中的每个项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 →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∙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B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)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for 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的每个产生式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       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if 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项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∙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不在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中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                       将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∙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γ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加入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中；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until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在某一轮中没有新的项被加入到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中；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return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}</a:t>
            </a:r>
          </a:p>
        </p:txBody>
      </p:sp>
      <p:sp>
        <p:nvSpPr>
          <p:cNvPr id="9421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51C29E-E095-4EB8-B69E-98909F8E147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000">
                <a:solidFill>
                  <a:srgbClr val="000000"/>
                </a:solidFill>
              </a:rPr>
              <a:t>GOTO ( )</a:t>
            </a:r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/>
          </a:p>
        </p:txBody>
      </p:sp>
      <p:sp>
        <p:nvSpPr>
          <p:cNvPr id="4" name="内容占位符 1"/>
          <p:cNvSpPr txBox="1">
            <a:spLocks/>
          </p:cNvSpPr>
          <p:nvPr/>
        </p:nvSpPr>
        <p:spPr bwMode="auto">
          <a:xfrm>
            <a:off x="1000125" y="2236788"/>
            <a:ext cx="7127875" cy="24495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SetOfltems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GOTO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(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I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X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{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将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初始化为空集；   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for (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中的每个项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→</a:t>
            </a:r>
            <a:r>
              <a:rPr kumimoji="0" lang="el-GR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α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∙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X</a:t>
            </a:r>
            <a:r>
              <a:rPr kumimoji="0" lang="el-GR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将项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A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α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X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∙</a:t>
            </a:r>
            <a:r>
              <a:rPr kumimoji="0" lang="el-GR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β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加入到集合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J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中；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return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CLOSURE (</a:t>
            </a:r>
            <a:r>
              <a:rPr kumimoji="0" lang="en-US" altLang="zh-CN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J</a:t>
            </a:r>
            <a:r>
              <a:rPr kumimoji="0" lang="zh-CN" altLang="en-US" sz="25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}</a:t>
            </a:r>
          </a:p>
        </p:txBody>
      </p:sp>
      <p:sp>
        <p:nvSpPr>
          <p:cNvPr id="96260" name="矩形 4"/>
          <p:cNvSpPr>
            <a:spLocks noChangeArrowheads="1"/>
          </p:cNvSpPr>
          <p:nvPr/>
        </p:nvSpPr>
        <p:spPr bwMode="auto">
          <a:xfrm>
            <a:off x="568325" y="1498600"/>
            <a:ext cx="82089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GOTO(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0" lang="zh-CN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)=CLOSURE({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αX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·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β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| 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→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·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Xβ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∈</a:t>
            </a:r>
            <a:r>
              <a:rPr kumimoji="0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zh-CN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})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1" name="矩形 1"/>
          <p:cNvSpPr>
            <a:spLocks noChangeArrowheads="1"/>
          </p:cNvSpPr>
          <p:nvPr/>
        </p:nvSpPr>
        <p:spPr bwMode="auto">
          <a:xfrm>
            <a:off x="357188" y="928688"/>
            <a:ext cx="864235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33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返回项目集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对应于文法符号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的后继项目集闭包</a:t>
            </a:r>
          </a:p>
        </p:txBody>
      </p:sp>
      <p:sp>
        <p:nvSpPr>
          <p:cNvPr id="9626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6252EE-2EDE-499F-ADD6-E594B9C4FB8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2"/>
          <p:cNvSpPr>
            <a:spLocks noGrp="1"/>
          </p:cNvSpPr>
          <p:nvPr>
            <p:ph idx="1"/>
          </p:nvPr>
        </p:nvSpPr>
        <p:spPr>
          <a:xfrm>
            <a:off x="685800" y="928688"/>
            <a:ext cx="8458200" cy="3225800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规范</a:t>
            </a: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anose="02020603050405020304" pitchFamily="18" charset="0"/>
              </a:rPr>
              <a:t>(0) 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项集族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Canonical LR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(0) </a:t>
            </a:r>
            <a:r>
              <a:rPr lang="en-US" altLang="zh-CN" sz="2500" b="1" i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Collection</a:t>
            </a:r>
            <a:r>
              <a:rPr lang="en-US" altLang="zh-CN" sz="2500" b="1">
                <a:solidFill>
                  <a:srgbClr val="00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2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zh-CN" altLang="en-US" sz="2200" b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83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lang="en-US" altLang="zh-CN" sz="30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自动机的状态集</a:t>
            </a:r>
            <a:endParaRPr lang="en-US" altLang="zh-CN" sz="2500">
              <a:solidFill>
                <a:schemeClr val="tx1"/>
              </a:solidFill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1285875" y="2143125"/>
            <a:ext cx="6481763" cy="264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void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items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'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 {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       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＝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{ CLOSURE ({[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S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'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→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] } ) }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repeat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f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r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中的每个项集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for(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每个文法符号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X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                  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if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(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GOTO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X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非空且不在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中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                                             将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华文楷体" pitchFamily="2" charset="-122"/>
                <a:cs typeface="+mn-cs"/>
              </a:rPr>
              <a:t>GOTO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 ( 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I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，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X</a:t>
            </a:r>
            <a:r>
              <a: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加入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中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；</a:t>
            </a: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until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在某一轮中没有新的项集被加入到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C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cs typeface="+mn-cs"/>
              </a:rPr>
              <a:t>中；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+mn-cs"/>
              </a:rPr>
              <a:t>}</a:t>
            </a:r>
          </a:p>
        </p:txBody>
      </p:sp>
      <p:sp>
        <p:nvSpPr>
          <p:cNvPr id="98309" name="矩形 1"/>
          <p:cNvSpPr>
            <a:spLocks noChangeArrowheads="1"/>
          </p:cNvSpPr>
          <p:nvPr/>
        </p:nvSpPr>
        <p:spPr bwMode="auto">
          <a:xfrm>
            <a:off x="1244600" y="1519238"/>
            <a:ext cx="6481763" cy="476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3032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03213" marR="0" lvl="1" indent="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={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2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0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}∪{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2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2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zh-CN" altLang="en-US" sz="22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GOTO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J</a:t>
            </a:r>
            <a:r>
              <a:rPr kumimoji="0" lang="zh-CN" altLang="en-US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}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10CEA-1D73-4B46-8C8E-1116443771F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内容占位符 2"/>
          <p:cNvSpPr>
            <a:spLocks noGrp="1"/>
          </p:cNvSpPr>
          <p:nvPr>
            <p:ph idx="1"/>
          </p:nvPr>
        </p:nvSpPr>
        <p:spPr>
          <a:xfrm>
            <a:off x="285750" y="857250"/>
            <a:ext cx="8699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构造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G'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的规范</a:t>
            </a:r>
            <a:r>
              <a:rPr lang="en-US" altLang="zh-CN" sz="2500" b="1" i="1" dirty="0">
                <a:solidFill>
                  <a:srgbClr val="2D83F4"/>
                </a:solidFill>
                <a:cs typeface="楷体_GB2312"/>
              </a:rPr>
              <a:t>LR</a:t>
            </a:r>
            <a:r>
              <a:rPr lang="en-US" altLang="zh-CN" sz="2500" b="1" dirty="0">
                <a:solidFill>
                  <a:srgbClr val="2D83F4"/>
                </a:solidFill>
                <a:cs typeface="楷体_GB2312"/>
              </a:rPr>
              <a:t>(0)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项集族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C 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chemeClr val="tx1"/>
                </a:solidFill>
                <a:cs typeface="楷体_GB2312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, … , 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n</a:t>
            </a:r>
            <a:r>
              <a:rPr lang="en-US" altLang="zh-CN" sz="2500" b="1" dirty="0">
                <a:solidFill>
                  <a:schemeClr val="tx1"/>
                </a:solidFill>
                <a:cs typeface="楷体_GB2312"/>
              </a:rPr>
              <a:t>}</a:t>
            </a: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令</a:t>
            </a:r>
            <a:r>
              <a:rPr lang="en-US" altLang="zh-CN" sz="2500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对应状态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。状态</a:t>
            </a:r>
            <a:r>
              <a:rPr lang="en-US" altLang="zh-CN" sz="2500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楷体_GB2312"/>
              </a:rPr>
              <a:t>的语法分析动作按照下面的方法决定：</a:t>
            </a:r>
            <a:endParaRPr lang="en-US" altLang="zh-CN" sz="2500" b="1" dirty="0">
              <a:solidFill>
                <a:schemeClr val="tx1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if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·a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β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and GOTO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, a )=</a:t>
            </a:r>
            <a:r>
              <a:rPr lang="en-US" altLang="zh-CN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then </a:t>
            </a:r>
            <a:r>
              <a:rPr lang="en-US" altLang="zh-CN" b="1" i="1" dirty="0">
                <a:solidFill>
                  <a:schemeClr val="tx1"/>
                </a:solidFill>
                <a:cs typeface="楷体_GB2312"/>
              </a:rPr>
              <a:t>ACTION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cs typeface="楷体_GB2312"/>
              </a:rPr>
              <a:t>sj</a:t>
            </a:r>
            <a:r>
              <a:rPr lang="en-US" altLang="zh-CN" b="1" baseline="-25000" dirty="0">
                <a:solidFill>
                  <a:schemeClr val="tx1"/>
                </a:solidFill>
                <a:cs typeface="楷体_GB2312"/>
              </a:rPr>
              <a:t> </a:t>
            </a:r>
            <a:endParaRPr lang="en-US" altLang="zh-CN" b="1" dirty="0">
              <a:solidFill>
                <a:schemeClr val="tx1"/>
              </a:solidFill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b="1" dirty="0">
                <a:solidFill>
                  <a:schemeClr val="tx1"/>
                </a:solidFill>
                <a:cs typeface="楷体_GB2312"/>
              </a:rPr>
              <a:t>·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Bβ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and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)=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GOTO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]=j</a:t>
            </a:r>
            <a:r>
              <a:rPr lang="en-US" altLang="zh-CN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endParaRPr lang="en-US" altLang="zh-CN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</a:rPr>
              <a:t> if</a:t>
            </a:r>
            <a:r>
              <a:rPr lang="en-US" altLang="zh-CN" b="1" dirty="0">
                <a:solidFill>
                  <a:srgbClr val="2D83F4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</a:rPr>
              <a:t>α</a:t>
            </a:r>
            <a:r>
              <a:rPr lang="en-US" altLang="zh-CN" b="1" dirty="0">
                <a:solidFill>
                  <a:schemeClr val="tx1"/>
                </a:solidFill>
              </a:rPr>
              <a:t>·∈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且</a:t>
            </a:r>
            <a:r>
              <a:rPr lang="en-US" altLang="zh-CN" b="1" i="1" dirty="0">
                <a:solidFill>
                  <a:schemeClr val="tx1"/>
                </a:solidFill>
              </a:rPr>
              <a:t>A </a:t>
            </a:r>
            <a:r>
              <a:rPr lang="en-US" altLang="zh-CN" b="1" dirty="0">
                <a:solidFill>
                  <a:schemeClr val="tx1"/>
                </a:solidFill>
              </a:rPr>
              <a:t>≠ </a:t>
            </a:r>
            <a:r>
              <a:rPr lang="en-US" altLang="zh-CN" b="1" i="1" dirty="0">
                <a:solidFill>
                  <a:schemeClr val="tx1"/>
                </a:solidFill>
              </a:rPr>
              <a:t>S' </a:t>
            </a:r>
            <a:r>
              <a:rPr lang="en-US" altLang="zh-CN" b="1" i="1" dirty="0">
                <a:solidFill>
                  <a:srgbClr val="2D83F4"/>
                </a:solidFill>
              </a:rPr>
              <a:t>then</a:t>
            </a:r>
            <a:r>
              <a:rPr lang="en-US" altLang="zh-CN" b="1" i="1" dirty="0">
                <a:solidFill>
                  <a:schemeClr val="tx1"/>
                </a:solidFill>
              </a:rPr>
              <a:t> for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</a:t>
            </a:r>
            <a:r>
              <a:rPr lang="en-US" altLang="zh-CN" b="1" dirty="0" err="1">
                <a:solidFill>
                  <a:schemeClr val="tx1"/>
                </a:solidFill>
              </a:rPr>
              <a:t>a∈</a:t>
            </a:r>
            <a:r>
              <a:rPr lang="en-US" altLang="zh-CN" b="1" i="1" dirty="0" err="1">
                <a:solidFill>
                  <a:schemeClr val="tx1"/>
                </a:solidFill>
              </a:rPr>
              <a:t>V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T</a:t>
            </a:r>
            <a:r>
              <a:rPr lang="en-US" altLang="zh-CN" b="1" dirty="0">
                <a:solidFill>
                  <a:schemeClr val="tx1"/>
                </a:solidFill>
              </a:rPr>
              <a:t>∪{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}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do ACTION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a ]=</a:t>
            </a:r>
            <a:r>
              <a:rPr lang="en-US" altLang="zh-CN" b="1" dirty="0" err="1">
                <a:solidFill>
                  <a:schemeClr val="tx1"/>
                </a:solidFill>
                <a:ea typeface="楷体_GB2312"/>
                <a:cs typeface="楷体_GB2312"/>
              </a:rPr>
              <a:t>rj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是产生式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的编号</a:t>
            </a:r>
            <a:r>
              <a:rPr lang="zh-CN" altLang="en-US" b="1" dirty="0">
                <a:solidFill>
                  <a:schemeClr val="tx1"/>
                </a:solidFill>
                <a:ea typeface="楷体_GB2312"/>
                <a:cs typeface="楷体_GB2312"/>
              </a:rPr>
              <a:t>）</a:t>
            </a:r>
            <a:endParaRPr lang="en-US" altLang="zh-CN" b="1" i="1" dirty="0">
              <a:solidFill>
                <a:srgbClr val="2D83F4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if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S'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· ∈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b="1" i="1" dirty="0">
                <a:solidFill>
                  <a:srgbClr val="2D83F4"/>
                </a:solidFill>
                <a:ea typeface="楷体_GB2312"/>
                <a:cs typeface="楷体_GB2312"/>
              </a:rPr>
              <a:t>then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楷体_GB2312"/>
              </a:rPr>
              <a:t>ACTION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[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</a:rPr>
              <a:t>$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楷体_GB2312"/>
              </a:rPr>
              <a:t> ]=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楷体_GB2312"/>
              </a:rPr>
              <a:t>acc</a:t>
            </a:r>
            <a:endParaRPr lang="en-US" altLang="zh-CN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3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没有定义的所有条目都设置为</a:t>
            </a:r>
            <a:r>
              <a:rPr lang="en-US" altLang="zh-CN" sz="2500" b="1" dirty="0">
                <a:solidFill>
                  <a:schemeClr val="tx1"/>
                </a:solidFill>
              </a:rPr>
              <a:t>“</a:t>
            </a:r>
            <a:r>
              <a:rPr lang="en-US" altLang="zh-CN" sz="2500" b="1" i="1" dirty="0">
                <a:solidFill>
                  <a:schemeClr val="tx1"/>
                </a:solidFill>
              </a:rPr>
              <a:t>error</a:t>
            </a:r>
            <a:r>
              <a:rPr lang="en-US" altLang="zh-CN" sz="2500" b="1" dirty="0">
                <a:solidFill>
                  <a:schemeClr val="tx1"/>
                </a:solidFill>
              </a:rPr>
              <a:t>”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300"/>
              </a:lnSpc>
            </a:pPr>
            <a:endParaRPr lang="zh-CN" altLang="en-US" sz="2000" dirty="0"/>
          </a:p>
        </p:txBody>
      </p:sp>
      <p:sp>
        <p:nvSpPr>
          <p:cNvPr id="1003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分析表构造算法</a:t>
            </a:r>
          </a:p>
        </p:txBody>
      </p:sp>
      <p:sp>
        <p:nvSpPr>
          <p:cNvPr id="10035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CDC533-1028-42E1-BC39-28C7C0A0F29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内容占位符 2"/>
          <p:cNvSpPr>
            <a:spLocks noGrp="1"/>
          </p:cNvSpPr>
          <p:nvPr>
            <p:ph idx="1"/>
          </p:nvPr>
        </p:nvSpPr>
        <p:spPr>
          <a:xfrm>
            <a:off x="0" y="785813"/>
            <a:ext cx="8807450" cy="3225800"/>
          </a:xfrm>
        </p:spPr>
        <p:txBody>
          <a:bodyPr/>
          <a:lstStyle/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endParaRPr lang="en-US" altLang="zh-CN" sz="3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1" eaLnBrk="1" hangingPunct="1">
              <a:lnSpc>
                <a:spcPts val="4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3000" b="1" i="1">
                <a:solidFill>
                  <a:schemeClr val="tx1"/>
                </a:solidFill>
                <a:cs typeface="Times New Roman" panose="02020603050405020304" pitchFamily="18" charset="0"/>
              </a:rPr>
              <a:t>LR</a:t>
            </a:r>
            <a:r>
              <a:rPr lang="en-US" altLang="zh-CN" sz="3000" b="1">
                <a:solidFill>
                  <a:schemeClr val="tx1"/>
                </a:solidFill>
                <a:cs typeface="Times New Roman" panose="02020603050405020304" pitchFamily="18" charset="0"/>
              </a:rPr>
              <a:t>(0)</a:t>
            </a:r>
            <a:r>
              <a:rPr lang="zh-CN" altLang="en-US" sz="3000" b="1">
                <a:solidFill>
                  <a:schemeClr val="tx1"/>
                </a:solidFill>
                <a:cs typeface="Times New Roman" panose="02020603050405020304" pitchFamily="18" charset="0"/>
              </a:rPr>
              <a:t>自动机</a:t>
            </a:r>
            <a:endParaRPr lang="en-US" altLang="zh-CN" sz="3000" b="1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4000"/>
              </a:lnSpc>
              <a:buFont typeface="Wingdings" panose="05000000000000000000" pitchFamily="2" charset="2"/>
              <a:buNone/>
            </a:pP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M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= (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T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3000" b="1" i="1" baseline="-2500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0 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3000" b="1" i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3000" b="1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}∪{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}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CLOSURE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({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8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8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→.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})</a:t>
            </a: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={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CLOSURE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({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8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1"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kumimoji="1"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}) }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0240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自动机的形式化定义</a:t>
            </a:r>
          </a:p>
        </p:txBody>
      </p:sp>
      <p:sp>
        <p:nvSpPr>
          <p:cNvPr id="102404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887C09-A20B-416D-86C8-F87C9C74B6D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内容占位符 2"/>
          <p:cNvSpPr>
            <a:spLocks noGrp="1"/>
          </p:cNvSpPr>
          <p:nvPr>
            <p:ph idx="1"/>
          </p:nvPr>
        </p:nvSpPr>
        <p:spPr>
          <a:xfrm>
            <a:off x="442913" y="849313"/>
            <a:ext cx="1628775" cy="2701925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anchor="ctr"/>
          <a:lstStyle/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文法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(0)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lang="en-US" altLang="zh-CN" sz="2000" b="1" i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′</a:t>
            </a:r>
            <a:r>
              <a:rPr lang="en-US" altLang="zh-CN" sz="2000" b="1" i="1" dirty="0"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(1)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+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(2)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(3)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*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(4)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T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(5)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(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E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marL="0" indent="0" eaLnBrk="1" hangingPunct="1">
              <a:lnSpc>
                <a:spcPts val="2000"/>
              </a:lnSpc>
              <a:buClrTx/>
              <a:buFont typeface="Symbol" panose="05050102010706020507" pitchFamily="18" charset="2"/>
              <a:buNone/>
              <a:defRPr/>
            </a:pPr>
            <a:r>
              <a:rPr kumimoji="1" lang="en-US" altLang="zh-CN" sz="2000" b="1" dirty="0">
                <a:solidFill>
                  <a:schemeClr val="tx1"/>
                </a:solidFill>
              </a:rPr>
              <a:t>(6) </a:t>
            </a:r>
            <a:r>
              <a:rPr kumimoji="1" lang="en-US" altLang="zh-CN" sz="2000" b="1" i="1" dirty="0">
                <a:solidFill>
                  <a:schemeClr val="tx1"/>
                </a:solidFill>
              </a:rPr>
              <a:t>F</a:t>
            </a:r>
            <a:r>
              <a:rPr kumimoji="1" lang="en-US" altLang="zh-CN" sz="2000" b="1" dirty="0">
                <a:solidFill>
                  <a:schemeClr val="tx1"/>
                </a:solidFill>
              </a:rPr>
              <a:t> → id</a:t>
            </a:r>
          </a:p>
        </p:txBody>
      </p:sp>
      <p:sp>
        <p:nvSpPr>
          <p:cNvPr id="121859" name="标题 1"/>
          <p:cNvSpPr txBox="1">
            <a:spLocks/>
          </p:cNvSpPr>
          <p:nvPr/>
        </p:nvSpPr>
        <p:spPr bwMode="auto">
          <a:xfrm>
            <a:off x="690563" y="844550"/>
            <a:ext cx="79311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86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467360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</a:rPr>
              <a:t>LR</a:t>
            </a:r>
            <a:r>
              <a:rPr lang="en-US" altLang="zh-CN" sz="3000">
                <a:solidFill>
                  <a:schemeClr val="tx1"/>
                </a:solidFill>
              </a:rPr>
              <a:t>(0)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分析过程中的冲突</a:t>
            </a:r>
          </a:p>
        </p:txBody>
      </p:sp>
      <p:sp>
        <p:nvSpPr>
          <p:cNvPr id="63" name="矩形 62"/>
          <p:cNvSpPr>
            <a:spLocks noChangeArrowheads="1"/>
          </p:cNvSpPr>
          <p:nvPr/>
        </p:nvSpPr>
        <p:spPr bwMode="auto">
          <a:xfrm>
            <a:off x="214313" y="4357688"/>
            <a:ext cx="2357437" cy="461962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移进</a:t>
            </a:r>
            <a:r>
              <a:rPr lang="en-US" altLang="zh-CN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3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归约冲突</a:t>
            </a:r>
          </a:p>
        </p:txBody>
      </p:sp>
      <p:sp>
        <p:nvSpPr>
          <p:cNvPr id="64" name="任意多边形 63"/>
          <p:cNvSpPr/>
          <p:nvPr/>
        </p:nvSpPr>
        <p:spPr>
          <a:xfrm>
            <a:off x="2571750" y="966788"/>
            <a:ext cx="6288088" cy="4117975"/>
          </a:xfrm>
          <a:custGeom>
            <a:avLst/>
            <a:gdLst>
              <a:gd name="connsiteX0" fmla="*/ 5697416 w 8383465"/>
              <a:gd name="connsiteY0" fmla="*/ 2930 h 5489330"/>
              <a:gd name="connsiteX1" fmla="*/ 6770077 w 8383465"/>
              <a:gd name="connsiteY1" fmla="*/ 20515 h 5489330"/>
              <a:gd name="connsiteX2" fmla="*/ 7429500 w 8383465"/>
              <a:gd name="connsiteY2" fmla="*/ 126023 h 5489330"/>
              <a:gd name="connsiteX3" fmla="*/ 8018585 w 8383465"/>
              <a:gd name="connsiteY3" fmla="*/ 574430 h 5489330"/>
              <a:gd name="connsiteX4" fmla="*/ 8326316 w 8383465"/>
              <a:gd name="connsiteY4" fmla="*/ 1471246 h 5489330"/>
              <a:gd name="connsiteX5" fmla="*/ 8317523 w 8383465"/>
              <a:gd name="connsiteY5" fmla="*/ 3968261 h 5489330"/>
              <a:gd name="connsiteX6" fmla="*/ 7930662 w 8383465"/>
              <a:gd name="connsiteY6" fmla="*/ 5146430 h 5489330"/>
              <a:gd name="connsiteX7" fmla="*/ 6761285 w 8383465"/>
              <a:gd name="connsiteY7" fmla="*/ 5427784 h 5489330"/>
              <a:gd name="connsiteX8" fmla="*/ 2233246 w 8383465"/>
              <a:gd name="connsiteY8" fmla="*/ 5462953 h 5489330"/>
              <a:gd name="connsiteX9" fmla="*/ 826477 w 8383465"/>
              <a:gd name="connsiteY9" fmla="*/ 5269523 h 5489330"/>
              <a:gd name="connsiteX10" fmla="*/ 0 w 8383465"/>
              <a:gd name="connsiteY10" fmla="*/ 4205653 h 548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383465" h="5489330">
                <a:moveTo>
                  <a:pt x="5697416" y="2930"/>
                </a:moveTo>
                <a:cubicBezTo>
                  <a:pt x="6089406" y="1465"/>
                  <a:pt x="6481396" y="0"/>
                  <a:pt x="6770077" y="20515"/>
                </a:cubicBezTo>
                <a:cubicBezTo>
                  <a:pt x="7058758" y="41031"/>
                  <a:pt x="7221415" y="33704"/>
                  <a:pt x="7429500" y="126023"/>
                </a:cubicBezTo>
                <a:cubicBezTo>
                  <a:pt x="7637585" y="218342"/>
                  <a:pt x="7869116" y="350226"/>
                  <a:pt x="8018585" y="574430"/>
                </a:cubicBezTo>
                <a:cubicBezTo>
                  <a:pt x="8168054" y="798634"/>
                  <a:pt x="8276493" y="905607"/>
                  <a:pt x="8326316" y="1471246"/>
                </a:cubicBezTo>
                <a:cubicBezTo>
                  <a:pt x="8376139" y="2036885"/>
                  <a:pt x="8383465" y="3355730"/>
                  <a:pt x="8317523" y="3968261"/>
                </a:cubicBezTo>
                <a:cubicBezTo>
                  <a:pt x="8251581" y="4580792"/>
                  <a:pt x="8190035" y="4903176"/>
                  <a:pt x="7930662" y="5146430"/>
                </a:cubicBezTo>
                <a:cubicBezTo>
                  <a:pt x="7671289" y="5389684"/>
                  <a:pt x="7710854" y="5375030"/>
                  <a:pt x="6761285" y="5427784"/>
                </a:cubicBezTo>
                <a:cubicBezTo>
                  <a:pt x="5811716" y="5480538"/>
                  <a:pt x="3222381" y="5489330"/>
                  <a:pt x="2233246" y="5462953"/>
                </a:cubicBezTo>
                <a:cubicBezTo>
                  <a:pt x="1244111" y="5436576"/>
                  <a:pt x="1198685" y="5479073"/>
                  <a:pt x="826477" y="5269523"/>
                </a:cubicBezTo>
                <a:cubicBezTo>
                  <a:pt x="454269" y="5059973"/>
                  <a:pt x="227134" y="4632813"/>
                  <a:pt x="0" y="4205653"/>
                </a:cubicBez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21863" name="组合 1"/>
          <p:cNvGrpSpPr>
            <a:grpSpLocks/>
          </p:cNvGrpSpPr>
          <p:nvPr/>
        </p:nvGrpSpPr>
        <p:grpSpPr bwMode="auto">
          <a:xfrm>
            <a:off x="2205038" y="628650"/>
            <a:ext cx="6470650" cy="4287838"/>
            <a:chOff x="2204642" y="642490"/>
            <a:chExt cx="6471793" cy="4286713"/>
          </a:xfrm>
        </p:grpSpPr>
        <p:sp>
          <p:nvSpPr>
            <p:cNvPr id="121864" name="Freeform 27"/>
            <p:cNvSpPr>
              <a:spLocks/>
            </p:cNvSpPr>
            <p:nvPr/>
          </p:nvSpPr>
          <p:spPr bwMode="auto">
            <a:xfrm>
              <a:off x="4807592" y="2144636"/>
              <a:ext cx="373618" cy="1070076"/>
            </a:xfrm>
            <a:custGeom>
              <a:avLst/>
              <a:gdLst>
                <a:gd name="T0" fmla="*/ 0 w 160"/>
                <a:gd name="T1" fmla="*/ 2147483646 h 1008"/>
                <a:gd name="T2" fmla="*/ 2147483646 w 160"/>
                <a:gd name="T3" fmla="*/ 2147483646 h 1008"/>
                <a:gd name="T4" fmla="*/ 2147483646 w 160"/>
                <a:gd name="T5" fmla="*/ 2147483646 h 1008"/>
                <a:gd name="T6" fmla="*/ 0 w 160"/>
                <a:gd name="T7" fmla="*/ 0 h 10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1008"/>
                <a:gd name="T14" fmla="*/ 160 w 160"/>
                <a:gd name="T15" fmla="*/ 1008 h 10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1008">
                  <a:moveTo>
                    <a:pt x="0" y="1008"/>
                  </a:moveTo>
                  <a:cubicBezTo>
                    <a:pt x="36" y="988"/>
                    <a:pt x="72" y="968"/>
                    <a:pt x="96" y="864"/>
                  </a:cubicBezTo>
                  <a:cubicBezTo>
                    <a:pt x="120" y="760"/>
                    <a:pt x="160" y="528"/>
                    <a:pt x="144" y="384"/>
                  </a:cubicBezTo>
                  <a:cubicBezTo>
                    <a:pt x="128" y="240"/>
                    <a:pt x="64" y="12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5" name="Line 35"/>
            <p:cNvSpPr>
              <a:spLocks noChangeShapeType="1"/>
            </p:cNvSpPr>
            <p:nvPr/>
          </p:nvSpPr>
          <p:spPr bwMode="auto">
            <a:xfrm flipV="1">
              <a:off x="6713523" y="1714531"/>
              <a:ext cx="45723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6" name="Line 43"/>
            <p:cNvSpPr>
              <a:spLocks noChangeShapeType="1"/>
            </p:cNvSpPr>
            <p:nvPr/>
          </p:nvSpPr>
          <p:spPr bwMode="auto">
            <a:xfrm>
              <a:off x="6673134" y="2786090"/>
              <a:ext cx="504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7" name="Line 9"/>
            <p:cNvSpPr>
              <a:spLocks noChangeShapeType="1"/>
            </p:cNvSpPr>
            <p:nvPr/>
          </p:nvSpPr>
          <p:spPr bwMode="auto">
            <a:xfrm flipV="1">
              <a:off x="3242074" y="2500681"/>
              <a:ext cx="5289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8" name="Line 3"/>
            <p:cNvSpPr>
              <a:spLocks noChangeShapeType="1"/>
            </p:cNvSpPr>
            <p:nvPr/>
          </p:nvSpPr>
          <p:spPr bwMode="auto">
            <a:xfrm flipV="1">
              <a:off x="3180236" y="1060348"/>
              <a:ext cx="590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69" name="Freeform 55"/>
            <p:cNvSpPr>
              <a:spLocks/>
            </p:cNvSpPr>
            <p:nvPr/>
          </p:nvSpPr>
          <p:spPr bwMode="auto">
            <a:xfrm>
              <a:off x="2857505" y="3487227"/>
              <a:ext cx="3429023" cy="1441976"/>
            </a:xfrm>
            <a:custGeom>
              <a:avLst/>
              <a:gdLst>
                <a:gd name="T0" fmla="*/ 2147483646 w 2912"/>
                <a:gd name="T1" fmla="*/ 0 h 1760"/>
                <a:gd name="T2" fmla="*/ 2147483646 w 2912"/>
                <a:gd name="T3" fmla="*/ 2147483646 h 1760"/>
                <a:gd name="T4" fmla="*/ 2147483646 w 2912"/>
                <a:gd name="T5" fmla="*/ 2147483646 h 1760"/>
                <a:gd name="T6" fmla="*/ 2147483646 w 2912"/>
                <a:gd name="T7" fmla="*/ 2147483646 h 1760"/>
                <a:gd name="T8" fmla="*/ 2147483646 w 2912"/>
                <a:gd name="T9" fmla="*/ 2147483646 h 1760"/>
                <a:gd name="T10" fmla="*/ 2147483646 w 2912"/>
                <a:gd name="T11" fmla="*/ 2147483646 h 1760"/>
                <a:gd name="T12" fmla="*/ 2147483646 w 2912"/>
                <a:gd name="T13" fmla="*/ 2147483646 h 1760"/>
                <a:gd name="T14" fmla="*/ 0 w 2912"/>
                <a:gd name="T15" fmla="*/ 2147483646 h 1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912"/>
                <a:gd name="T25" fmla="*/ 0 h 1760"/>
                <a:gd name="T26" fmla="*/ 2912 w 2912"/>
                <a:gd name="T27" fmla="*/ 1760 h 17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912" h="1760">
                  <a:moveTo>
                    <a:pt x="2880" y="0"/>
                  </a:moveTo>
                  <a:cubicBezTo>
                    <a:pt x="2896" y="280"/>
                    <a:pt x="2912" y="560"/>
                    <a:pt x="2832" y="816"/>
                  </a:cubicBezTo>
                  <a:cubicBezTo>
                    <a:pt x="2752" y="1072"/>
                    <a:pt x="2544" y="1384"/>
                    <a:pt x="2400" y="1536"/>
                  </a:cubicBezTo>
                  <a:cubicBezTo>
                    <a:pt x="2256" y="1688"/>
                    <a:pt x="2232" y="1696"/>
                    <a:pt x="1968" y="1728"/>
                  </a:cubicBezTo>
                  <a:cubicBezTo>
                    <a:pt x="1704" y="1760"/>
                    <a:pt x="1064" y="1752"/>
                    <a:pt x="816" y="1728"/>
                  </a:cubicBezTo>
                  <a:cubicBezTo>
                    <a:pt x="568" y="1704"/>
                    <a:pt x="592" y="1672"/>
                    <a:pt x="480" y="1584"/>
                  </a:cubicBezTo>
                  <a:cubicBezTo>
                    <a:pt x="368" y="1496"/>
                    <a:pt x="224" y="1336"/>
                    <a:pt x="144" y="1200"/>
                  </a:cubicBezTo>
                  <a:cubicBezTo>
                    <a:pt x="64" y="1064"/>
                    <a:pt x="8" y="856"/>
                    <a:pt x="0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0" name="Line 53"/>
            <p:cNvSpPr>
              <a:spLocks noChangeShapeType="1"/>
            </p:cNvSpPr>
            <p:nvPr/>
          </p:nvSpPr>
          <p:spPr bwMode="auto">
            <a:xfrm>
              <a:off x="7928628" y="3728389"/>
              <a:ext cx="0" cy="5715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1" name="Line 15"/>
            <p:cNvSpPr>
              <a:spLocks noChangeShapeType="1"/>
            </p:cNvSpPr>
            <p:nvPr/>
          </p:nvSpPr>
          <p:spPr bwMode="auto">
            <a:xfrm flipH="1">
              <a:off x="2518141" y="2888271"/>
              <a:ext cx="0" cy="645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2" name="Line 6"/>
            <p:cNvSpPr>
              <a:spLocks noChangeShapeType="1"/>
            </p:cNvSpPr>
            <p:nvPr/>
          </p:nvSpPr>
          <p:spPr bwMode="auto">
            <a:xfrm>
              <a:off x="3170645" y="1780514"/>
              <a:ext cx="6004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2"/>
            <p:cNvSpPr txBox="1">
              <a:spLocks noChangeArrowheads="1"/>
            </p:cNvSpPr>
            <p:nvPr/>
          </p:nvSpPr>
          <p:spPr bwMode="auto">
            <a:xfrm>
              <a:off x="2214169" y="837702"/>
              <a:ext cx="1051111" cy="20425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→</a:t>
              </a:r>
              <a:r>
                <a:rPr lang="en-US" altLang="zh-CN" sz="1600" b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E+T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92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21874" name="Text Box 4"/>
            <p:cNvSpPr txBox="1">
              <a:spLocks noChangeArrowheads="1"/>
            </p:cNvSpPr>
            <p:nvPr/>
          </p:nvSpPr>
          <p:spPr bwMode="auto">
            <a:xfrm>
              <a:off x="3289631" y="71301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2" name="Text Box 5"/>
            <p:cNvSpPr txBox="1">
              <a:spLocks noChangeArrowheads="1"/>
            </p:cNvSpPr>
            <p:nvPr/>
          </p:nvSpPr>
          <p:spPr bwMode="auto">
            <a:xfrm>
              <a:off x="3770193" y="817069"/>
              <a:ext cx="1035233" cy="7475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→E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  <p:sp>
          <p:nvSpPr>
            <p:cNvPr id="121876" name="Text Box 7"/>
            <p:cNvSpPr txBox="1">
              <a:spLocks noChangeArrowheads="1"/>
            </p:cNvSpPr>
            <p:nvPr/>
          </p:nvSpPr>
          <p:spPr bwMode="auto">
            <a:xfrm>
              <a:off x="3289630" y="141717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85" name="Text Box 8"/>
            <p:cNvSpPr txBox="1">
              <a:spLocks noChangeArrowheads="1"/>
            </p:cNvSpPr>
            <p:nvPr/>
          </p:nvSpPr>
          <p:spPr bwMode="auto">
            <a:xfrm>
              <a:off x="3770193" y="1609024"/>
              <a:ext cx="1025706" cy="7475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21878" name="Text Box 10"/>
            <p:cNvSpPr txBox="1">
              <a:spLocks noChangeArrowheads="1"/>
            </p:cNvSpPr>
            <p:nvPr/>
          </p:nvSpPr>
          <p:spPr bwMode="auto">
            <a:xfrm>
              <a:off x="3470593" y="2715766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8" name="Text Box 11"/>
            <p:cNvSpPr txBox="1">
              <a:spLocks noChangeArrowheads="1"/>
            </p:cNvSpPr>
            <p:nvPr/>
          </p:nvSpPr>
          <p:spPr bwMode="auto">
            <a:xfrm>
              <a:off x="3770193" y="2405740"/>
              <a:ext cx="1035233" cy="5269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21880" name="Freeform 12"/>
            <p:cNvSpPr>
              <a:spLocks/>
            </p:cNvSpPr>
            <p:nvPr/>
          </p:nvSpPr>
          <p:spPr bwMode="auto">
            <a:xfrm>
              <a:off x="3051271" y="2914464"/>
              <a:ext cx="699242" cy="577250"/>
            </a:xfrm>
            <a:custGeom>
              <a:avLst/>
              <a:gdLst>
                <a:gd name="T0" fmla="*/ 2147483646 w 736"/>
                <a:gd name="T1" fmla="*/ 0 h 768"/>
                <a:gd name="T2" fmla="*/ 2147483646 w 736"/>
                <a:gd name="T3" fmla="*/ 2147483646 h 768"/>
                <a:gd name="T4" fmla="*/ 2147483646 w 736"/>
                <a:gd name="T5" fmla="*/ 2147483646 h 768"/>
                <a:gd name="T6" fmla="*/ 2147483646 w 736"/>
                <a:gd name="T7" fmla="*/ 2147483646 h 768"/>
                <a:gd name="T8" fmla="*/ 2147483646 w 736"/>
                <a:gd name="T9" fmla="*/ 2147483646 h 7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6"/>
                <a:gd name="T16" fmla="*/ 0 h 768"/>
                <a:gd name="T17" fmla="*/ 736 w 736"/>
                <a:gd name="T18" fmla="*/ 768 h 7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6" h="768">
                  <a:moveTo>
                    <a:pt x="16" y="0"/>
                  </a:moveTo>
                  <a:cubicBezTo>
                    <a:pt x="8" y="144"/>
                    <a:pt x="0" y="288"/>
                    <a:pt x="16" y="384"/>
                  </a:cubicBezTo>
                  <a:cubicBezTo>
                    <a:pt x="32" y="480"/>
                    <a:pt x="64" y="528"/>
                    <a:pt x="112" y="576"/>
                  </a:cubicBezTo>
                  <a:cubicBezTo>
                    <a:pt x="160" y="624"/>
                    <a:pt x="200" y="640"/>
                    <a:pt x="304" y="672"/>
                  </a:cubicBezTo>
                  <a:cubicBezTo>
                    <a:pt x="408" y="704"/>
                    <a:pt x="572" y="736"/>
                    <a:pt x="736" y="7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1" name="Text Box 13"/>
            <p:cNvSpPr txBox="1">
              <a:spLocks noChangeArrowheads="1"/>
            </p:cNvSpPr>
            <p:nvPr/>
          </p:nvSpPr>
          <p:spPr bwMode="auto">
            <a:xfrm>
              <a:off x="3052238" y="2844940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93" name="Text Box 14"/>
            <p:cNvSpPr txBox="1">
              <a:spLocks noChangeArrowheads="1"/>
            </p:cNvSpPr>
            <p:nvPr/>
          </p:nvSpPr>
          <p:spPr bwMode="auto">
            <a:xfrm>
              <a:off x="3770193" y="2999309"/>
              <a:ext cx="1078102" cy="1836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E+T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lnSpc>
                  <a:spcPts val="1700"/>
                </a:lnSpc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21883" name="Text Box 16"/>
            <p:cNvSpPr txBox="1">
              <a:spLocks noChangeArrowheads="1"/>
            </p:cNvSpPr>
            <p:nvPr/>
          </p:nvSpPr>
          <p:spPr bwMode="auto">
            <a:xfrm>
              <a:off x="2504953" y="2964957"/>
              <a:ext cx="53344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95" name="Text Box 17"/>
            <p:cNvSpPr txBox="1">
              <a:spLocks noChangeArrowheads="1"/>
            </p:cNvSpPr>
            <p:nvPr/>
          </p:nvSpPr>
          <p:spPr bwMode="auto">
            <a:xfrm>
              <a:off x="2204642" y="3537330"/>
              <a:ext cx="800241" cy="58563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21885" name="Line 18"/>
            <p:cNvSpPr>
              <a:spLocks noChangeShapeType="1"/>
            </p:cNvSpPr>
            <p:nvPr/>
          </p:nvSpPr>
          <p:spPr bwMode="auto">
            <a:xfrm>
              <a:off x="4813903" y="1071552"/>
              <a:ext cx="838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6" name="Text Box 19"/>
            <p:cNvSpPr txBox="1">
              <a:spLocks noChangeArrowheads="1"/>
            </p:cNvSpPr>
            <p:nvPr/>
          </p:nvSpPr>
          <p:spPr bwMode="auto">
            <a:xfrm>
              <a:off x="4793132" y="724992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98" name="Text Box 20"/>
            <p:cNvSpPr txBox="1">
              <a:spLocks noChangeArrowheads="1"/>
            </p:cNvSpPr>
            <p:nvPr/>
          </p:nvSpPr>
          <p:spPr bwMode="auto">
            <a:xfrm>
              <a:off x="5651713" y="785328"/>
              <a:ext cx="1200362" cy="1569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 E+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T*F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21888" name="Line 21"/>
            <p:cNvSpPr>
              <a:spLocks noChangeShapeType="1"/>
            </p:cNvSpPr>
            <p:nvPr/>
          </p:nvSpPr>
          <p:spPr bwMode="auto">
            <a:xfrm>
              <a:off x="4814062" y="1957352"/>
              <a:ext cx="838264" cy="685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9" name="Text Box 22"/>
            <p:cNvSpPr txBox="1">
              <a:spLocks noChangeArrowheads="1"/>
            </p:cNvSpPr>
            <p:nvPr/>
          </p:nvSpPr>
          <p:spPr bwMode="auto">
            <a:xfrm>
              <a:off x="4715769" y="1707654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01" name="Text Box 23"/>
            <p:cNvSpPr txBox="1">
              <a:spLocks noChangeArrowheads="1"/>
            </p:cNvSpPr>
            <p:nvPr/>
          </p:nvSpPr>
          <p:spPr bwMode="auto">
            <a:xfrm>
              <a:off x="5651713" y="2483507"/>
              <a:ext cx="1051111" cy="107604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7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 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21891" name="Line 24"/>
            <p:cNvSpPr>
              <a:spLocks noChangeShapeType="1"/>
            </p:cNvSpPr>
            <p:nvPr/>
          </p:nvSpPr>
          <p:spPr bwMode="auto">
            <a:xfrm flipV="1">
              <a:off x="4860887" y="3929118"/>
              <a:ext cx="2280978" cy="107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2" name="Text Box 25"/>
            <p:cNvSpPr txBox="1">
              <a:spLocks noChangeArrowheads="1"/>
            </p:cNvSpPr>
            <p:nvPr/>
          </p:nvSpPr>
          <p:spPr bwMode="auto">
            <a:xfrm>
              <a:off x="4814062" y="357877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05" name="Text Box 26"/>
            <p:cNvSpPr txBox="1">
              <a:spLocks noChangeArrowheads="1"/>
            </p:cNvSpPr>
            <p:nvPr/>
          </p:nvSpPr>
          <p:spPr bwMode="auto">
            <a:xfrm>
              <a:off x="7182333" y="3219914"/>
              <a:ext cx="114161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8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E→E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+T</a:t>
              </a:r>
            </a:p>
          </p:txBody>
        </p:sp>
        <p:sp>
          <p:nvSpPr>
            <p:cNvPr id="121894" name="Text Box 28"/>
            <p:cNvSpPr txBox="1">
              <a:spLocks noChangeArrowheads="1"/>
            </p:cNvSpPr>
            <p:nvPr/>
          </p:nvSpPr>
          <p:spPr bwMode="auto">
            <a:xfrm>
              <a:off x="4766814" y="2819735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21895" name="Freeform 29"/>
            <p:cNvSpPr>
              <a:spLocks/>
            </p:cNvSpPr>
            <p:nvPr/>
          </p:nvSpPr>
          <p:spPr bwMode="auto">
            <a:xfrm>
              <a:off x="3426747" y="2649294"/>
              <a:ext cx="344314" cy="571553"/>
            </a:xfrm>
            <a:custGeom>
              <a:avLst/>
              <a:gdLst>
                <a:gd name="T0" fmla="*/ 2147483646 w 112"/>
                <a:gd name="T1" fmla="*/ 2147483646 h 480"/>
                <a:gd name="T2" fmla="*/ 2147483646 w 112"/>
                <a:gd name="T3" fmla="*/ 2147483646 h 480"/>
                <a:gd name="T4" fmla="*/ 2147483646 w 112"/>
                <a:gd name="T5" fmla="*/ 2147483646 h 480"/>
                <a:gd name="T6" fmla="*/ 2147483646 w 112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480"/>
                <a:gd name="T14" fmla="*/ 112 w 112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480">
                  <a:moveTo>
                    <a:pt x="112" y="480"/>
                  </a:moveTo>
                  <a:cubicBezTo>
                    <a:pt x="72" y="436"/>
                    <a:pt x="32" y="392"/>
                    <a:pt x="16" y="336"/>
                  </a:cubicBezTo>
                  <a:cubicBezTo>
                    <a:pt x="0" y="280"/>
                    <a:pt x="0" y="200"/>
                    <a:pt x="16" y="144"/>
                  </a:cubicBezTo>
                  <a:cubicBezTo>
                    <a:pt x="32" y="88"/>
                    <a:pt x="72" y="44"/>
                    <a:pt x="11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6" name="Text Box 30"/>
            <p:cNvSpPr txBox="1">
              <a:spLocks noChangeArrowheads="1"/>
            </p:cNvSpPr>
            <p:nvPr/>
          </p:nvSpPr>
          <p:spPr bwMode="auto">
            <a:xfrm>
              <a:off x="3242074" y="2143157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1897" name="Freeform 31"/>
            <p:cNvSpPr>
              <a:spLocks/>
            </p:cNvSpPr>
            <p:nvPr/>
          </p:nvSpPr>
          <p:spPr bwMode="auto">
            <a:xfrm>
              <a:off x="3466237" y="4173623"/>
              <a:ext cx="330225" cy="571553"/>
            </a:xfrm>
            <a:custGeom>
              <a:avLst/>
              <a:gdLst>
                <a:gd name="T0" fmla="*/ 2147483646 w 208"/>
                <a:gd name="T1" fmla="*/ 2147483646 h 480"/>
                <a:gd name="T2" fmla="*/ 0 w 208"/>
                <a:gd name="T3" fmla="*/ 2147483646 h 480"/>
                <a:gd name="T4" fmla="*/ 2147483646 w 208"/>
                <a:gd name="T5" fmla="*/ 0 h 480"/>
                <a:gd name="T6" fmla="*/ 0 60000 65536"/>
                <a:gd name="T7" fmla="*/ 0 60000 65536"/>
                <a:gd name="T8" fmla="*/ 0 60000 65536"/>
                <a:gd name="T9" fmla="*/ 0 w 208"/>
                <a:gd name="T10" fmla="*/ 0 h 480"/>
                <a:gd name="T11" fmla="*/ 208 w 208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" h="480">
                  <a:moveTo>
                    <a:pt x="192" y="480"/>
                  </a:moveTo>
                  <a:cubicBezTo>
                    <a:pt x="96" y="400"/>
                    <a:pt x="0" y="320"/>
                    <a:pt x="0" y="240"/>
                  </a:cubicBezTo>
                  <a:cubicBezTo>
                    <a:pt x="0" y="160"/>
                    <a:pt x="208" y="40"/>
                    <a:pt x="19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8" name="Text Box 32"/>
            <p:cNvSpPr txBox="1">
              <a:spLocks noChangeArrowheads="1"/>
            </p:cNvSpPr>
            <p:nvPr/>
          </p:nvSpPr>
          <p:spPr bwMode="auto">
            <a:xfrm>
              <a:off x="3513111" y="4273058"/>
              <a:ext cx="30482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21899" name="Line 33"/>
            <p:cNvSpPr>
              <a:spLocks noChangeShapeType="1"/>
            </p:cNvSpPr>
            <p:nvPr/>
          </p:nvSpPr>
          <p:spPr bwMode="auto">
            <a:xfrm flipH="1">
              <a:off x="3015899" y="3953088"/>
              <a:ext cx="7551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0" name="Text Box 34"/>
            <p:cNvSpPr txBox="1">
              <a:spLocks noChangeArrowheads="1"/>
            </p:cNvSpPr>
            <p:nvPr/>
          </p:nvSpPr>
          <p:spPr bwMode="auto">
            <a:xfrm>
              <a:off x="3466399" y="3624986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21901" name="Text Box 36"/>
            <p:cNvSpPr txBox="1">
              <a:spLocks noChangeArrowheads="1"/>
            </p:cNvSpPr>
            <p:nvPr/>
          </p:nvSpPr>
          <p:spPr bwMode="auto">
            <a:xfrm>
              <a:off x="6834944" y="136743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16" name="Text Box 37"/>
            <p:cNvSpPr txBox="1">
              <a:spLocks noChangeArrowheads="1"/>
            </p:cNvSpPr>
            <p:nvPr/>
          </p:nvSpPr>
          <p:spPr bwMode="auto">
            <a:xfrm>
              <a:off x="7166455" y="1404290"/>
              <a:ext cx="1019355" cy="8316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9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E→E+T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kumimoji="1" lang="en-US" altLang="zh-CN" sz="1600" b="1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T→T</a:t>
              </a:r>
              <a:r>
                <a:rPr lang="en-US" altLang="zh-CN" sz="16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Times New Roman" pitchFamily="18" charset="0"/>
                </a:rPr>
                <a:t>*</a:t>
              </a:r>
              <a:r>
                <a:rPr kumimoji="1" lang="en-US" altLang="zh-CN" sz="1600" b="1" i="1" dirty="0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121903" name="Freeform 38"/>
            <p:cNvSpPr>
              <a:spLocks/>
            </p:cNvSpPr>
            <p:nvPr/>
          </p:nvSpPr>
          <p:spPr bwMode="auto">
            <a:xfrm>
              <a:off x="4814062" y="1214473"/>
              <a:ext cx="838264" cy="1543193"/>
            </a:xfrm>
            <a:custGeom>
              <a:avLst/>
              <a:gdLst>
                <a:gd name="T0" fmla="*/ 2147483646 w 528"/>
                <a:gd name="T1" fmla="*/ 0 h 1296"/>
                <a:gd name="T2" fmla="*/ 2147483646 w 528"/>
                <a:gd name="T3" fmla="*/ 2147483646 h 1296"/>
                <a:gd name="T4" fmla="*/ 2147483646 w 528"/>
                <a:gd name="T5" fmla="*/ 2147483646 h 1296"/>
                <a:gd name="T6" fmla="*/ 0 w 528"/>
                <a:gd name="T7" fmla="*/ 2147483646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296"/>
                <a:gd name="T14" fmla="*/ 528 w 528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296">
                  <a:moveTo>
                    <a:pt x="528" y="0"/>
                  </a:moveTo>
                  <a:cubicBezTo>
                    <a:pt x="464" y="36"/>
                    <a:pt x="400" y="72"/>
                    <a:pt x="336" y="240"/>
                  </a:cubicBezTo>
                  <a:cubicBezTo>
                    <a:pt x="272" y="408"/>
                    <a:pt x="200" y="832"/>
                    <a:pt x="144" y="1008"/>
                  </a:cubicBezTo>
                  <a:cubicBezTo>
                    <a:pt x="88" y="1184"/>
                    <a:pt x="44" y="1240"/>
                    <a:pt x="0" y="1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4" name="Text Box 39"/>
            <p:cNvSpPr txBox="1">
              <a:spLocks noChangeArrowheads="1"/>
            </p:cNvSpPr>
            <p:nvPr/>
          </p:nvSpPr>
          <p:spPr bwMode="auto">
            <a:xfrm>
              <a:off x="5377818" y="1254578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1905" name="Freeform 40"/>
            <p:cNvSpPr>
              <a:spLocks/>
            </p:cNvSpPr>
            <p:nvPr/>
          </p:nvSpPr>
          <p:spPr bwMode="auto">
            <a:xfrm>
              <a:off x="4858589" y="1714531"/>
              <a:ext cx="793737" cy="1857367"/>
            </a:xfrm>
            <a:custGeom>
              <a:avLst/>
              <a:gdLst>
                <a:gd name="T0" fmla="*/ 2147483646 w 528"/>
                <a:gd name="T1" fmla="*/ 0 h 1488"/>
                <a:gd name="T2" fmla="*/ 2147483646 w 528"/>
                <a:gd name="T3" fmla="*/ 2147483646 h 1488"/>
                <a:gd name="T4" fmla="*/ 2147483646 w 528"/>
                <a:gd name="T5" fmla="*/ 2147483646 h 1488"/>
                <a:gd name="T6" fmla="*/ 0 w 528"/>
                <a:gd name="T7" fmla="*/ 2147483646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488"/>
                <a:gd name="T14" fmla="*/ 528 w 528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488">
                  <a:moveTo>
                    <a:pt x="528" y="0"/>
                  </a:moveTo>
                  <a:cubicBezTo>
                    <a:pt x="504" y="48"/>
                    <a:pt x="480" y="96"/>
                    <a:pt x="432" y="288"/>
                  </a:cubicBezTo>
                  <a:cubicBezTo>
                    <a:pt x="384" y="480"/>
                    <a:pt x="312" y="952"/>
                    <a:pt x="240" y="1152"/>
                  </a:cubicBezTo>
                  <a:cubicBezTo>
                    <a:pt x="168" y="1352"/>
                    <a:pt x="84" y="1420"/>
                    <a:pt x="0" y="14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6" name="Text Box 41"/>
            <p:cNvSpPr txBox="1">
              <a:spLocks noChangeArrowheads="1"/>
            </p:cNvSpPr>
            <p:nvPr/>
          </p:nvSpPr>
          <p:spPr bwMode="auto">
            <a:xfrm>
              <a:off x="5431268" y="1950088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21907" name="Text Box 42"/>
            <p:cNvSpPr txBox="1">
              <a:spLocks noChangeArrowheads="1"/>
            </p:cNvSpPr>
            <p:nvPr/>
          </p:nvSpPr>
          <p:spPr bwMode="auto">
            <a:xfrm>
              <a:off x="6250830" y="3498857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121908" name="Text Box 44"/>
            <p:cNvSpPr txBox="1">
              <a:spLocks noChangeArrowheads="1"/>
            </p:cNvSpPr>
            <p:nvPr/>
          </p:nvSpPr>
          <p:spPr bwMode="auto">
            <a:xfrm>
              <a:off x="6749802" y="2418173"/>
              <a:ext cx="381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24" name="Text Box 45"/>
            <p:cNvSpPr txBox="1">
              <a:spLocks noChangeArrowheads="1"/>
            </p:cNvSpPr>
            <p:nvPr/>
          </p:nvSpPr>
          <p:spPr bwMode="auto">
            <a:xfrm>
              <a:off x="7166455" y="2345431"/>
              <a:ext cx="1019355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10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T→T*F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21910" name="Text Box 46"/>
            <p:cNvSpPr txBox="1">
              <a:spLocks noChangeArrowheads="1"/>
            </p:cNvSpPr>
            <p:nvPr/>
          </p:nvSpPr>
          <p:spPr bwMode="auto">
            <a:xfrm>
              <a:off x="5822385" y="3473203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121911" name="Text Box 47"/>
            <p:cNvSpPr txBox="1">
              <a:spLocks noChangeArrowheads="1"/>
            </p:cNvSpPr>
            <p:nvPr/>
          </p:nvSpPr>
          <p:spPr bwMode="auto">
            <a:xfrm>
              <a:off x="7575292" y="3958397"/>
              <a:ext cx="3810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7" name="Text Box 48"/>
            <p:cNvSpPr txBox="1">
              <a:spLocks noChangeArrowheads="1"/>
            </p:cNvSpPr>
            <p:nvPr/>
          </p:nvSpPr>
          <p:spPr bwMode="auto">
            <a:xfrm>
              <a:off x="7174395" y="4300718"/>
              <a:ext cx="1000302" cy="5840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1600" b="1" baseline="-25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F→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(</a:t>
              </a:r>
              <a:r>
                <a:rPr kumimoji="1" lang="en-US" altLang="zh-CN" sz="1600" b="1" i="1" dirty="0">
                  <a:solidFill>
                    <a:prstClr val="black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sz="1600" b="1" dirty="0">
                  <a:solidFill>
                    <a:prstClr val="black"/>
                  </a:solidFill>
                  <a:latin typeface="Times New Roman" pitchFamily="18" charset="0"/>
                </a:rPr>
                <a:t>)</a:t>
              </a:r>
              <a:r>
                <a:rPr lang="en-US" altLang="zh-CN" sz="16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16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21913" name="Text Box 49"/>
            <p:cNvSpPr txBox="1">
              <a:spLocks noChangeArrowheads="1"/>
            </p:cNvSpPr>
            <p:nvPr/>
          </p:nvSpPr>
          <p:spPr bwMode="auto">
            <a:xfrm>
              <a:off x="8295406" y="3291830"/>
              <a:ext cx="3810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21914" name="Line 50"/>
            <p:cNvSpPr>
              <a:spLocks noChangeShapeType="1"/>
            </p:cNvSpPr>
            <p:nvPr/>
          </p:nvSpPr>
          <p:spPr bwMode="auto">
            <a:xfrm flipH="1">
              <a:off x="6725936" y="2000301"/>
              <a:ext cx="439904" cy="625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5" name="Text Box 51"/>
            <p:cNvSpPr txBox="1">
              <a:spLocks noChangeArrowheads="1"/>
            </p:cNvSpPr>
            <p:nvPr/>
          </p:nvSpPr>
          <p:spPr bwMode="auto">
            <a:xfrm>
              <a:off x="6902213" y="1773195"/>
              <a:ext cx="4572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21916" name="Freeform 52"/>
            <p:cNvSpPr>
              <a:spLocks/>
            </p:cNvSpPr>
            <p:nvPr/>
          </p:nvSpPr>
          <p:spPr bwMode="auto">
            <a:xfrm>
              <a:off x="6862433" y="1166909"/>
              <a:ext cx="1759255" cy="2285989"/>
            </a:xfrm>
            <a:custGeom>
              <a:avLst/>
              <a:gdLst>
                <a:gd name="T0" fmla="*/ 2147483646 w 1712"/>
                <a:gd name="T1" fmla="*/ 2147483646 h 2352"/>
                <a:gd name="T2" fmla="*/ 2147483646 w 1712"/>
                <a:gd name="T3" fmla="*/ 2147483646 h 2352"/>
                <a:gd name="T4" fmla="*/ 2147483646 w 1712"/>
                <a:gd name="T5" fmla="*/ 2147483646 h 2352"/>
                <a:gd name="T6" fmla="*/ 2147483646 w 1712"/>
                <a:gd name="T7" fmla="*/ 2147483646 h 2352"/>
                <a:gd name="T8" fmla="*/ 2147483646 w 1712"/>
                <a:gd name="T9" fmla="*/ 2147483646 h 2352"/>
                <a:gd name="T10" fmla="*/ 0 w 1712"/>
                <a:gd name="T11" fmla="*/ 0 h 23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12"/>
                <a:gd name="T19" fmla="*/ 0 h 2352"/>
                <a:gd name="T20" fmla="*/ 1712 w 1712"/>
                <a:gd name="T21" fmla="*/ 2352 h 235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12" h="2352">
                  <a:moveTo>
                    <a:pt x="1440" y="2352"/>
                  </a:moveTo>
                  <a:cubicBezTo>
                    <a:pt x="1516" y="2060"/>
                    <a:pt x="1592" y="1768"/>
                    <a:pt x="1632" y="1488"/>
                  </a:cubicBezTo>
                  <a:cubicBezTo>
                    <a:pt x="1672" y="1208"/>
                    <a:pt x="1712" y="888"/>
                    <a:pt x="1680" y="672"/>
                  </a:cubicBezTo>
                  <a:cubicBezTo>
                    <a:pt x="1648" y="456"/>
                    <a:pt x="1536" y="296"/>
                    <a:pt x="1440" y="192"/>
                  </a:cubicBezTo>
                  <a:cubicBezTo>
                    <a:pt x="1344" y="88"/>
                    <a:pt x="1344" y="80"/>
                    <a:pt x="1104" y="48"/>
                  </a:cubicBezTo>
                  <a:cubicBezTo>
                    <a:pt x="864" y="16"/>
                    <a:pt x="152" y="0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7" name="Freeform 54"/>
            <p:cNvSpPr>
              <a:spLocks/>
            </p:cNvSpPr>
            <p:nvPr/>
          </p:nvSpPr>
          <p:spPr bwMode="auto">
            <a:xfrm>
              <a:off x="4878000" y="3546021"/>
              <a:ext cx="971549" cy="844978"/>
            </a:xfrm>
            <a:custGeom>
              <a:avLst/>
              <a:gdLst>
                <a:gd name="T0" fmla="*/ 2147483646 w 640"/>
                <a:gd name="T1" fmla="*/ 0 h 1104"/>
                <a:gd name="T2" fmla="*/ 2147483646 w 640"/>
                <a:gd name="T3" fmla="*/ 2147483646 h 1104"/>
                <a:gd name="T4" fmla="*/ 2147483646 w 640"/>
                <a:gd name="T5" fmla="*/ 2147483646 h 1104"/>
                <a:gd name="T6" fmla="*/ 0 w 640"/>
                <a:gd name="T7" fmla="*/ 2147483646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04"/>
                <a:gd name="T14" fmla="*/ 640 w 6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04">
                  <a:moveTo>
                    <a:pt x="624" y="0"/>
                  </a:moveTo>
                  <a:cubicBezTo>
                    <a:pt x="632" y="144"/>
                    <a:pt x="640" y="288"/>
                    <a:pt x="624" y="384"/>
                  </a:cubicBezTo>
                  <a:cubicBezTo>
                    <a:pt x="608" y="480"/>
                    <a:pt x="632" y="456"/>
                    <a:pt x="528" y="576"/>
                  </a:cubicBezTo>
                  <a:cubicBezTo>
                    <a:pt x="424" y="696"/>
                    <a:pt x="212" y="900"/>
                    <a:pt x="0" y="110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8" name="Text Box 56"/>
            <p:cNvSpPr txBox="1">
              <a:spLocks noChangeArrowheads="1"/>
            </p:cNvSpPr>
            <p:nvPr/>
          </p:nvSpPr>
          <p:spPr bwMode="auto">
            <a:xfrm>
              <a:off x="6894170" y="642490"/>
              <a:ext cx="4572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8208963" cy="358775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表达式文法的</a:t>
            </a:r>
            <a:r>
              <a:rPr lang="en-US" altLang="zh-CN" sz="2800" i="1">
                <a:solidFill>
                  <a:schemeClr val="tx1"/>
                </a:solidFill>
              </a:rPr>
              <a:t>LR</a:t>
            </a:r>
            <a:r>
              <a:rPr lang="en-US" altLang="zh-CN" sz="2800">
                <a:solidFill>
                  <a:schemeClr val="tx1"/>
                </a:solidFill>
              </a:rPr>
              <a:t>(0)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分析表含有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zh-CN" altLang="zh-CN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Group 18"/>
          <p:cNvGraphicFramePr>
            <a:graphicFrameLocks noGrp="1"/>
          </p:cNvGraphicFramePr>
          <p:nvPr/>
        </p:nvGraphicFramePr>
        <p:xfrm>
          <a:off x="755650" y="700088"/>
          <a:ext cx="7777163" cy="440848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7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状态</a:t>
                      </a:r>
                    </a:p>
                  </a:txBody>
                  <a:tcPr marL="91442" marR="91442" marT="34283" marB="3428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ACTION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GOTO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</a:rPr>
                        <a:t>＋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*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（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itchFamily="2" charset="-122"/>
                          <a:ea typeface="华文楷体" pitchFamily="2" charset="-122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E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</a:rPr>
                        <a:t>T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ea typeface="华文楷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宋体" pitchFamily="2" charset="-122"/>
                          <a:ea typeface="华文楷体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s4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s6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s11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r1/s7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r3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楷体" pitchFamily="2" charset="-122"/>
                          <a:cs typeface="Times New Roman" pitchFamily="18" charset="0"/>
                        </a:rPr>
                        <a:t>r5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楷体" pitchFamily="2" charset="-122"/>
                        <a:cs typeface="Times New Roman" pitchFamily="18" charset="0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1442" marR="91442" marT="34283" marB="3428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移进</a:t>
            </a:r>
            <a:r>
              <a:rPr lang="en-US" altLang="zh-CN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冲突和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en-US" altLang="zh-CN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0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归约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22263" y="4529138"/>
            <a:ext cx="8607425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不是所有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都能用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方法进行分析，也就是说，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CFG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不总是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7" name="矩形 6"/>
          <p:cNvSpPr/>
          <p:nvPr/>
        </p:nvSpPr>
        <p:spPr>
          <a:xfrm>
            <a:off x="765175" y="3076575"/>
            <a:ext cx="2520950" cy="13239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</a:t>
            </a:r>
            <a:r>
              <a:rPr lang="en-US" altLang="zh-CN" sz="2000" b="1" i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分析表中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没有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语法分析动作</a:t>
            </a:r>
            <a:r>
              <a:rPr lang="zh-CN" altLang="en-US" sz="2000" b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冲突</a:t>
            </a:r>
            <a:r>
              <a:rPr lang="zh-CN" altLang="en-US" sz="2000" b="1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，那么给定的文法就称为</a:t>
            </a: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LR</a:t>
            </a:r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</a:t>
            </a:r>
            <a:r>
              <a:rPr lang="zh-CN" altLang="en-US" sz="2000" b="1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</a:t>
            </a:r>
          </a:p>
        </p:txBody>
      </p:sp>
      <p:sp>
        <p:nvSpPr>
          <p:cNvPr id="114694" name="矩形 7"/>
          <p:cNvSpPr>
            <a:spLocks noChangeArrowheads="1"/>
          </p:cNvSpPr>
          <p:nvPr/>
        </p:nvSpPr>
        <p:spPr bwMode="auto">
          <a:xfrm>
            <a:off x="785813" y="928688"/>
            <a:ext cx="1530350" cy="2000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endParaRPr lang="en-US" altLang="zh-CN" sz="2400" b="1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(0)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S′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→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aBd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b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(3)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(4)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→ 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ε</a:t>
            </a:r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zh-CN" altLang="en-US" sz="2000" b="1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429000" y="928688"/>
            <a:ext cx="5191125" cy="3511550"/>
            <a:chOff x="3586436" y="889635"/>
            <a:chExt cx="5190781" cy="3510628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3586436" y="889635"/>
              <a:ext cx="1285790" cy="13236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0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586436" y="2460847"/>
              <a:ext cx="1285790" cy="19394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Tb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 →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 </a:t>
              </a: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aBd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T →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5657987" y="1324496"/>
              <a:ext cx="1261978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S</a:t>
              </a:r>
              <a:r>
                <a:rPr lang="en-US" altLang="zh-CN" sz="2000" b="1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′</a:t>
              </a:r>
              <a:r>
                <a:rPr kumimoji="1" lang="en-US" altLang="zh-CN" sz="2000" b="1" i="1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→ 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5657987" y="2610033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d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5657987" y="3540064"/>
              <a:ext cx="1285790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B→T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 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7586671" y="2610033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T→aBd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7586671" y="3540064"/>
              <a:ext cx="1190546" cy="7078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en-US" altLang="zh-CN" sz="2000" b="1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000" b="1" dirty="0">
                  <a:solidFill>
                    <a:prstClr val="black"/>
                  </a:solidFill>
                  <a:latin typeface="Times New Roman" pitchFamily="18" charset="0"/>
                </a:rPr>
                <a:t>:</a:t>
              </a:r>
            </a:p>
            <a:p>
              <a:pPr>
                <a:buClr>
                  <a:srgbClr val="073E87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000" b="1" i="1" dirty="0" err="1">
                  <a:solidFill>
                    <a:prstClr val="black"/>
                  </a:solidFill>
                  <a:latin typeface="Times New Roman" pitchFamily="18" charset="0"/>
                </a:rPr>
                <a:t>B→Tb</a:t>
              </a:r>
              <a:r>
                <a:rPr kumimoji="1" lang="en-US" altLang="zh-CN" sz="2000" b="1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·</a:t>
              </a:r>
              <a:endParaRPr kumimoji="1" lang="en-US" altLang="zh-CN" sz="2000" b="1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25967" name="Line 18"/>
            <p:cNvSpPr>
              <a:spLocks noChangeShapeType="1"/>
            </p:cNvSpPr>
            <p:nvPr/>
          </p:nvSpPr>
          <p:spPr bwMode="auto">
            <a:xfrm>
              <a:off x="4872320" y="1675453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8" name="Line 18"/>
            <p:cNvSpPr>
              <a:spLocks noChangeShapeType="1"/>
            </p:cNvSpPr>
            <p:nvPr/>
          </p:nvSpPr>
          <p:spPr bwMode="auto">
            <a:xfrm>
              <a:off x="4872320" y="2961337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9" name="Line 18"/>
            <p:cNvSpPr>
              <a:spLocks noChangeShapeType="1"/>
            </p:cNvSpPr>
            <p:nvPr/>
          </p:nvSpPr>
          <p:spPr bwMode="auto">
            <a:xfrm>
              <a:off x="4872320" y="3890031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0" name="Line 18"/>
            <p:cNvSpPr>
              <a:spLocks noChangeShapeType="1"/>
            </p:cNvSpPr>
            <p:nvPr/>
          </p:nvSpPr>
          <p:spPr bwMode="auto">
            <a:xfrm>
              <a:off x="6944022" y="3890031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1" name="Line 18"/>
            <p:cNvSpPr>
              <a:spLocks noChangeShapeType="1"/>
            </p:cNvSpPr>
            <p:nvPr/>
          </p:nvSpPr>
          <p:spPr bwMode="auto">
            <a:xfrm>
              <a:off x="6944022" y="2961337"/>
              <a:ext cx="6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72" name="Line 18"/>
            <p:cNvSpPr>
              <a:spLocks noChangeShapeType="1"/>
            </p:cNvSpPr>
            <p:nvPr/>
          </p:nvSpPr>
          <p:spPr bwMode="auto">
            <a:xfrm flipH="1">
              <a:off x="4229378" y="2227273"/>
              <a:ext cx="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4710312" y="2298965"/>
              <a:ext cx="357164" cy="376138"/>
            </a:xfrm>
            <a:custGeom>
              <a:avLst/>
              <a:gdLst>
                <a:gd name="connsiteX0" fmla="*/ 231006 w 495701"/>
                <a:gd name="connsiteY0" fmla="*/ 519764 h 519764"/>
                <a:gd name="connsiteX1" fmla="*/ 442762 w 495701"/>
                <a:gd name="connsiteY1" fmla="*/ 423511 h 519764"/>
                <a:gd name="connsiteX2" fmla="*/ 490888 w 495701"/>
                <a:gd name="connsiteY2" fmla="*/ 202130 h 519764"/>
                <a:gd name="connsiteX3" fmla="*/ 413886 w 495701"/>
                <a:gd name="connsiteY3" fmla="*/ 48126 h 519764"/>
                <a:gd name="connsiteX4" fmla="*/ 221381 w 495701"/>
                <a:gd name="connsiteY4" fmla="*/ 0 h 519764"/>
                <a:gd name="connsiteX5" fmla="*/ 77002 w 495701"/>
                <a:gd name="connsiteY5" fmla="*/ 48126 h 519764"/>
                <a:gd name="connsiteX6" fmla="*/ 0 w 495701"/>
                <a:gd name="connsiteY6" fmla="*/ 211756 h 51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01" h="519764">
                  <a:moveTo>
                    <a:pt x="231006" y="519764"/>
                  </a:moveTo>
                  <a:cubicBezTo>
                    <a:pt x="315227" y="498107"/>
                    <a:pt x="399448" y="476450"/>
                    <a:pt x="442762" y="423511"/>
                  </a:cubicBezTo>
                  <a:cubicBezTo>
                    <a:pt x="486076" y="370572"/>
                    <a:pt x="495701" y="264694"/>
                    <a:pt x="490888" y="202130"/>
                  </a:cubicBezTo>
                  <a:cubicBezTo>
                    <a:pt x="486075" y="139566"/>
                    <a:pt x="458804" y="81814"/>
                    <a:pt x="413886" y="48126"/>
                  </a:cubicBezTo>
                  <a:cubicBezTo>
                    <a:pt x="368968" y="14438"/>
                    <a:pt x="277528" y="0"/>
                    <a:pt x="221381" y="0"/>
                  </a:cubicBezTo>
                  <a:cubicBezTo>
                    <a:pt x="165234" y="0"/>
                    <a:pt x="113899" y="12833"/>
                    <a:pt x="77002" y="48126"/>
                  </a:cubicBezTo>
                  <a:cubicBezTo>
                    <a:pt x="40105" y="83419"/>
                    <a:pt x="20052" y="147587"/>
                    <a:pt x="0" y="211756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25974" name="Text Box 4"/>
            <p:cNvSpPr txBox="1">
              <a:spLocks noChangeArrowheads="1"/>
            </p:cNvSpPr>
            <p:nvPr/>
          </p:nvSpPr>
          <p:spPr bwMode="auto">
            <a:xfrm>
              <a:off x="5086634" y="1318263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25975" name="Text Box 4"/>
            <p:cNvSpPr txBox="1">
              <a:spLocks noChangeArrowheads="1"/>
            </p:cNvSpPr>
            <p:nvPr/>
          </p:nvSpPr>
          <p:spPr bwMode="auto">
            <a:xfrm>
              <a:off x="5086634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25976" name="Text Box 4"/>
            <p:cNvSpPr txBox="1">
              <a:spLocks noChangeArrowheads="1"/>
            </p:cNvSpPr>
            <p:nvPr/>
          </p:nvSpPr>
          <p:spPr bwMode="auto">
            <a:xfrm>
              <a:off x="5086634" y="256128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5977" name="Text Box 4"/>
            <p:cNvSpPr txBox="1">
              <a:spLocks noChangeArrowheads="1"/>
            </p:cNvSpPr>
            <p:nvPr/>
          </p:nvSpPr>
          <p:spPr bwMode="auto">
            <a:xfrm>
              <a:off x="5015196" y="206122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5978" name="Text Box 4"/>
            <p:cNvSpPr txBox="1">
              <a:spLocks noChangeArrowheads="1"/>
            </p:cNvSpPr>
            <p:nvPr/>
          </p:nvSpPr>
          <p:spPr bwMode="auto">
            <a:xfrm>
              <a:off x="3903128" y="2120366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25979" name="Text Box 4"/>
            <p:cNvSpPr txBox="1">
              <a:spLocks noChangeArrowheads="1"/>
            </p:cNvSpPr>
            <p:nvPr/>
          </p:nvSpPr>
          <p:spPr bwMode="auto">
            <a:xfrm>
              <a:off x="7086898" y="2604147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25980" name="Text Box 4"/>
            <p:cNvSpPr txBox="1">
              <a:spLocks noChangeArrowheads="1"/>
            </p:cNvSpPr>
            <p:nvPr/>
          </p:nvSpPr>
          <p:spPr bwMode="auto">
            <a:xfrm>
              <a:off x="7086898" y="3532841"/>
              <a:ext cx="38106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8" name="AutoShape 58"/>
          <p:cNvSpPr>
            <a:spLocks noChangeArrowheads="1"/>
          </p:cNvSpPr>
          <p:nvPr/>
        </p:nvSpPr>
        <p:spPr bwMode="auto">
          <a:xfrm>
            <a:off x="6858000" y="857250"/>
            <a:ext cx="2197100" cy="1133475"/>
          </a:xfrm>
          <a:prstGeom prst="cloudCallout">
            <a:avLst>
              <a:gd name="adj1" fmla="val -44381"/>
              <a:gd name="adj2" fmla="val 78759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46800" rIns="46800"/>
          <a:lstStyle/>
          <a:p>
            <a:pPr algn="ctr">
              <a:spcBef>
                <a:spcPct val="20000"/>
              </a:spcBef>
              <a:buClr>
                <a:srgbClr val="333399"/>
              </a:buClr>
              <a:buSzPct val="75000"/>
              <a:buFont typeface="Monotype Sorts"/>
              <a:buNone/>
              <a:defRPr/>
            </a:pPr>
            <a:r>
              <a:rPr lang="zh-CN" altLang="en-US" sz="2500" b="1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如何消解冲突？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2800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800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FA5C14-AC74-4610-99E1-7EB726080640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69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611188" y="91122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计算文法符号</a:t>
            </a:r>
            <a:r>
              <a:rPr lang="en-US" altLang="zh-CN" sz="3000" i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FIRST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X 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0" name="内容占位符 1"/>
          <p:cNvSpPr>
            <a:spLocks noGrp="1"/>
          </p:cNvSpPr>
          <p:nvPr>
            <p:ph idx="1"/>
          </p:nvPr>
        </p:nvSpPr>
        <p:spPr>
          <a:xfrm>
            <a:off x="863600" y="2355850"/>
            <a:ext cx="8280400" cy="2481263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+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TE'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|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FT '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T'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*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FT '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|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</a:t>
            </a:r>
          </a:p>
          <a:p>
            <a:pPr>
              <a:buClr>
                <a:schemeClr val="tx2"/>
              </a:buClr>
              <a:buSzPct val="75000"/>
              <a:buFont typeface="Symbol" panose="05050102010706020507" pitchFamily="18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→ (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)|id		</a:t>
            </a:r>
            <a:endParaRPr kumimoji="1" lang="en-US" altLang="zh-CN" sz="25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2000" b="1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007100" y="3316288"/>
            <a:ext cx="4460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473825" y="3284538"/>
            <a:ext cx="31591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022975" y="4233863"/>
            <a:ext cx="4254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6481763" y="4162425"/>
            <a:ext cx="3968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5967413" y="3730625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   id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967413" y="4665663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2500" b="1">
                <a:solidFill>
                  <a:srgbClr val="073E87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 b="1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967413" y="2827338"/>
            <a:ext cx="104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    </a:t>
            </a:r>
            <a:r>
              <a:rPr kumimoji="1"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25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lang="zh-CN" altLang="en-US" sz="2500">
              <a:solidFill>
                <a:srgbClr val="000000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22663" y="2806700"/>
            <a:ext cx="4730750" cy="269240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E'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T'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= {		}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073E87"/>
              </a:buClr>
              <a:buSzPct val="75000"/>
              <a:defRPr/>
            </a:pP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FIRST 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 </a:t>
            </a:r>
            <a:r>
              <a:rPr kumimoji="1"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1"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)  = {		</a:t>
            </a:r>
            <a:r>
              <a:rPr kumimoji="1" lang="en-US" altLang="zh-CN" sz="25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 </a:t>
            </a: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en-US" altLang="zh-CN" sz="2000" b="1" dirty="0">
              <a:solidFill>
                <a:srgbClr val="073E87"/>
              </a:solidFill>
              <a:latin typeface="Times New Roman" panose="02020603050405020304" pitchFamily="18" charset="0"/>
              <a:ea typeface="华文楷体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388" y="1417638"/>
            <a:ext cx="8858250" cy="9382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6263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FIRST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spc="-3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：可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以从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推导出的所有</a:t>
            </a:r>
            <a:r>
              <a:rPr lang="zh-CN" altLang="en-US" sz="2500" b="1" dirty="0">
                <a:solidFill>
                  <a:srgbClr val="3333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串首终结符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构成的集合</a:t>
            </a:r>
            <a:endParaRPr lang="en-US" altLang="zh-CN" sz="2500" b="1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5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，</a:t>
            </a:r>
            <a:r>
              <a:rPr lang="zh-CN" altLang="en-US" sz="2500" b="1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lang="zh-CN" altLang="en-US" sz="2500" b="1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539750" y="-60325"/>
            <a:ext cx="692308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000" b="1" spc="300" dirty="0">
                <a:latin typeface="微软雅黑" pitchFamily="34" charset="-122"/>
                <a:ea typeface="微软雅黑" pitchFamily="34" charset="-122"/>
              </a:rPr>
              <a:t> 3. </a:t>
            </a:r>
            <a:r>
              <a:rPr lang="en-US" altLang="zh-CN" sz="3000" b="1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</a:rPr>
              <a:t>集和</a:t>
            </a:r>
            <a:r>
              <a:rPr lang="en-US" altLang="zh-CN" sz="3000" b="1" dirty="0">
                <a:latin typeface="微软雅黑" pitchFamily="34" charset="-122"/>
                <a:ea typeface="微软雅黑" pitchFamily="34" charset="-122"/>
              </a:rPr>
              <a:t>FOLLOW</a:t>
            </a: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</a:rPr>
              <a:t>集的计算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内容占位符 2"/>
          <p:cNvSpPr>
            <a:spLocks noGrp="1"/>
          </p:cNvSpPr>
          <p:nvPr>
            <p:ph idx="1"/>
          </p:nvPr>
        </p:nvSpPr>
        <p:spPr>
          <a:xfrm>
            <a:off x="336550" y="714375"/>
            <a:ext cx="85217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不断应用下列规则，直到没有新的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终结符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sz="2800" b="1" i="1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ε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可以被加入到任何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集合中为止</a:t>
            </a:r>
            <a:endParaRPr lang="en-US" altLang="zh-CN" sz="28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是一个终结符，那么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{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是一个非终结符，且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k</a:t>
            </a:r>
            <a:r>
              <a:rPr lang="en-US" altLang="zh-CN" sz="2400" b="1" i="1" dirty="0">
                <a:solidFill>
                  <a:schemeClr val="tx1"/>
                </a:solidFill>
                <a:cs typeface="Tahoma" panose="020B0604030504040204" pitchFamily="34" charset="0"/>
              </a:rPr>
              <a:t>≥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1)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，那么如果对于某个</a:t>
            </a:r>
            <a:r>
              <a:rPr lang="en-US" altLang="zh-CN" sz="24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FIRST 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 中且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在所有的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</a:rPr>
              <a:t>) , … , 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i-1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即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...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-1</a:t>
            </a:r>
            <a:r>
              <a:rPr lang="en-US" altLang="zh-CN" sz="24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>
                <a:solidFill>
                  <a:schemeClr val="tx1"/>
                </a:solidFill>
              </a:rPr>
              <a:t> )</a:t>
            </a:r>
            <a:r>
              <a:rPr lang="zh-CN" altLang="en-US" sz="2400" b="1" dirty="0">
                <a:solidFill>
                  <a:schemeClr val="tx1"/>
                </a:solidFill>
              </a:rPr>
              <a:t>，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就把</a:t>
            </a:r>
            <a:r>
              <a:rPr lang="en-US" altLang="zh-CN" sz="2400" b="1" i="1" dirty="0">
                <a:solidFill>
                  <a:schemeClr val="tx1"/>
                </a:solidFill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中。如果对于所有的 </a:t>
            </a:r>
            <a:r>
              <a:rPr lang="en-US" altLang="zh-CN" sz="2400" b="1" i="1" dirty="0">
                <a:solidFill>
                  <a:schemeClr val="tx1"/>
                </a:solidFill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</a:rPr>
              <a:t> = 1,2, . . . , </a:t>
            </a:r>
            <a:r>
              <a:rPr lang="en-US" altLang="zh-CN" sz="2400" b="1" i="1" dirty="0">
                <a:solidFill>
                  <a:schemeClr val="tx1"/>
                </a:solidFill>
              </a:rPr>
              <a:t>k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，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在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Y</a:t>
            </a:r>
            <a:r>
              <a:rPr lang="en-US" altLang="zh-CN" sz="24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中，那么将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</a:rPr>
              <a:t>) </a:t>
            </a: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如果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→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</a:rPr>
              <a:t>，那么将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</a:rPr>
              <a:t>加入到</a:t>
            </a:r>
            <a:r>
              <a:rPr lang="en-US" altLang="zh-CN" sz="2400" b="1" i="1" dirty="0">
                <a:solidFill>
                  <a:schemeClr val="tx1"/>
                </a:solidFill>
              </a:rPr>
              <a:t>FIRST</a:t>
            </a:r>
            <a:r>
              <a:rPr lang="en-US" altLang="zh-CN" sz="2400" b="1" dirty="0">
                <a:solidFill>
                  <a:schemeClr val="tx1"/>
                </a:solidFill>
              </a:rPr>
              <a:t>( </a:t>
            </a:r>
            <a:r>
              <a:rPr lang="en-US" altLang="zh-CN" sz="2400" b="1" i="1" dirty="0">
                <a:solidFill>
                  <a:schemeClr val="tx1"/>
                </a:solidFill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中</a:t>
            </a:r>
          </a:p>
          <a:p>
            <a:pPr eaLnBrk="1" hangingPunct="1">
              <a:lnSpc>
                <a:spcPts val="3500"/>
              </a:lnSpc>
              <a:defRPr/>
            </a:pPr>
            <a:endParaRPr lang="zh-CN" altLang="en-US" sz="2500" dirty="0"/>
          </a:p>
        </p:txBody>
      </p:sp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算法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572500" cy="3225800"/>
          </a:xfrm>
        </p:spPr>
        <p:txBody>
          <a:bodyPr/>
          <a:lstStyle/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向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加入</a:t>
            </a:r>
            <a:r>
              <a:rPr lang="en-US" altLang="zh-CN" sz="2500" b="1" i="1">
                <a:solidFill>
                  <a:schemeClr val="tx1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>
                <a:solidFill>
                  <a:schemeClr val="tx1"/>
                </a:solidFill>
                <a:cs typeface="Times New Roman" panose="02020603050405020304" pitchFamily="18" charset="0"/>
              </a:rPr>
              <a:t>中所有的非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如果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中，再加入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中的所有非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符号；如果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和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中，再加入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3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中的所有非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符号，以此类推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4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最后，如果对所有的</a:t>
            </a:r>
            <a:r>
              <a:rPr lang="en-US" altLang="zh-CN" sz="2500" b="1" i="1">
                <a:solidFill>
                  <a:schemeClr val="tx1"/>
                </a:solidFill>
              </a:rPr>
              <a:t>i</a:t>
            </a:r>
            <a:r>
              <a:rPr lang="zh-CN" altLang="en-US" sz="2500" b="1">
                <a:solidFill>
                  <a:schemeClr val="tx1"/>
                </a:solidFill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都</a:t>
            </a:r>
            <a:r>
              <a:rPr lang="zh-CN" altLang="en-US" sz="2500" b="1">
                <a:solidFill>
                  <a:schemeClr val="tx1"/>
                </a:solidFill>
              </a:rPr>
              <a:t>在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>
                <a:solidFill>
                  <a:schemeClr val="tx1"/>
                </a:solidFill>
              </a:rPr>
              <a:t>)</a:t>
            </a:r>
            <a:r>
              <a:rPr lang="zh-CN" altLang="en-US" sz="2500" b="1">
                <a:solidFill>
                  <a:schemeClr val="tx1"/>
                </a:solidFill>
              </a:rPr>
              <a:t>中，那么将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>
                <a:solidFill>
                  <a:schemeClr val="tx1"/>
                </a:solidFill>
              </a:rPr>
              <a:t>加入到</a:t>
            </a:r>
            <a:r>
              <a:rPr lang="en-US" altLang="zh-CN" sz="2500" b="1" i="1">
                <a:solidFill>
                  <a:schemeClr val="tx1"/>
                </a:solidFill>
              </a:rPr>
              <a:t>FIRST</a:t>
            </a:r>
            <a:r>
              <a:rPr lang="en-US" altLang="zh-CN" sz="2500" b="1">
                <a:solidFill>
                  <a:schemeClr val="tx1"/>
                </a:solidFill>
              </a:rPr>
              <a:t>(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baseline="-2500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…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i="1" baseline="-2500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>
                <a:solidFill>
                  <a:schemeClr val="tx1"/>
                </a:solidFill>
              </a:rPr>
              <a:t>) </a:t>
            </a:r>
            <a:r>
              <a:rPr lang="zh-CN" altLang="en-US" sz="2500" b="1">
                <a:solidFill>
                  <a:schemeClr val="tx1"/>
                </a:solidFill>
              </a:rPr>
              <a:t>中</a:t>
            </a:r>
          </a:p>
        </p:txBody>
      </p:sp>
      <p:sp>
        <p:nvSpPr>
          <p:cNvPr id="4813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计算串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3000" i="1" spc="300" baseline="-250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…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3000" i="1" spc="300" baseline="-25000" dirty="0" err="1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FIRST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集合</a:t>
            </a:r>
            <a:endParaRPr lang="zh-CN" altLang="en-US" sz="3000" i="1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29250" y="176213"/>
            <a:ext cx="3883025" cy="47529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   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栈	  剩余输入</a:t>
            </a:r>
            <a:endParaRPr lang="en-US" altLang="zh-CN" sz="18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ignore 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id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T'E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id*+id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T'E'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*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*+id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  error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	</a:t>
            </a:r>
            <a:endParaRPr lang="zh-CN" altLang="en-US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E'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+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+id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TE'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'E'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endParaRPr lang="en-US" altLang="zh-CN" sz="1600" b="1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id</a:t>
            </a:r>
            <a:r>
              <a:rPr kumimoji="1" lang="en-US" altLang="zh-CN" sz="16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 err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'E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id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     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kumimoji="1" lang="en-US" altLang="zh-CN" sz="16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'E'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华文楷体 (正文)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	           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  </a:t>
            </a:r>
            <a:r>
              <a:rPr lang="en-US" altLang="zh-CN" sz="1600" b="1" i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E'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	           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$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     </a:t>
            </a:r>
            <a:r>
              <a:rPr lang="en-US" altLang="zh-CN" sz="1800" dirty="0">
                <a:latin typeface="Times New Roman" pitchFamily="18" charset="0"/>
                <a:ea typeface="楷体_GB2312" pitchFamily="49" charset="-122"/>
              </a:rPr>
              <a:t>	</a:t>
            </a: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128588" y="1563688"/>
          <a:ext cx="5184775" cy="2203453"/>
        </p:xfrm>
        <a:graphic>
          <a:graphicData uri="http://schemas.openxmlformats.org/drawingml/2006/table">
            <a:tbl>
              <a:tblPr/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itchFamily="18" charset="0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65" marR="183565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7647" name="组合 4"/>
          <p:cNvGrpSpPr>
            <a:grpSpLocks/>
          </p:cNvGrpSpPr>
          <p:nvPr/>
        </p:nvGrpSpPr>
        <p:grpSpPr bwMode="auto">
          <a:xfrm>
            <a:off x="200025" y="2232025"/>
            <a:ext cx="5113338" cy="1546225"/>
            <a:chOff x="395536" y="3558112"/>
            <a:chExt cx="5112568" cy="1547090"/>
          </a:xfrm>
        </p:grpSpPr>
        <p:sp>
          <p:nvSpPr>
            <p:cNvPr id="67649" name="矩形 17"/>
            <p:cNvSpPr>
              <a:spLocks noChangeArrowheads="1"/>
            </p:cNvSpPr>
            <p:nvPr/>
          </p:nvSpPr>
          <p:spPr bwMode="auto">
            <a:xfrm>
              <a:off x="395536" y="3558112"/>
              <a:ext cx="5112568" cy="1547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1400" b="1" i="1">
                  <a:latin typeface="Times New Roman" panose="02020603050405020304" pitchFamily="18" charset="0"/>
                </a:rPr>
                <a:t>E       </a:t>
              </a:r>
              <a:r>
                <a:rPr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→TE</a:t>
              </a:r>
              <a:r>
                <a:rPr kumimoji="1" lang="en-US" altLang="zh-CN" sz="1400" b="1" i="1">
                  <a:latin typeface="Times New Roman" panose="02020603050405020304" pitchFamily="18" charset="0"/>
                </a:rPr>
                <a:t>'</a:t>
              </a:r>
              <a:r>
                <a:rPr kumimoji="1" lang="en-US" altLang="zh-CN" sz="1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                                   </a:t>
              </a:r>
              <a:r>
                <a:rPr lang="en-US" altLang="zh-CN" sz="1400" b="1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1400" b="1" i="1">
                  <a:latin typeface="Times New Roman" panose="02020603050405020304" pitchFamily="18" charset="0"/>
                </a:rPr>
                <a:t>→TE'</a:t>
              </a:r>
              <a:endParaRPr kumimoji="1" lang="zh-CN" altLang="en-US" sz="1400" b="1" i="1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latin typeface="Times New Roman" panose="02020603050405020304" pitchFamily="18" charset="0"/>
                </a:rPr>
                <a:t>E'                       E'→+TE'                                       E'→ε</a:t>
              </a:r>
              <a:r>
                <a:rPr lang="zh-CN" altLang="en-US" sz="1400">
                  <a:latin typeface="Candara" panose="020E0502030303020204" pitchFamily="34" charset="0"/>
                  <a:ea typeface="华文楷体" panose="02010600040101010101" pitchFamily="2" charset="-122"/>
                </a:rPr>
                <a:t>      </a:t>
              </a:r>
              <a:r>
                <a:rPr kumimoji="1" lang="en-US" altLang="zh-CN" sz="1400" b="1" i="1">
                  <a:latin typeface="Times New Roman" panose="02020603050405020304" pitchFamily="18" charset="0"/>
                </a:rPr>
                <a:t>E'→ε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latin typeface="Times New Roman" panose="02020603050405020304" pitchFamily="18" charset="0"/>
                </a:rPr>
                <a:t>T       T→FT'                                           T→FT'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latin typeface="Times New Roman" panose="02020603050405020304" pitchFamily="18" charset="0"/>
                </a:rPr>
                <a:t>T'                         T'→ε          T'→*FT'                  T'→ε      T'→ε</a:t>
              </a:r>
            </a:p>
            <a:p>
              <a:pPr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kumimoji="1" lang="en-US" altLang="zh-CN" sz="1400" b="1" i="1">
                  <a:latin typeface="Times New Roman" panose="02020603050405020304" pitchFamily="18" charset="0"/>
                </a:rPr>
                <a:t>F       F→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id</a:t>
              </a:r>
              <a:r>
                <a:rPr kumimoji="1" lang="en-US" altLang="zh-CN" sz="1400" b="1" i="1">
                  <a:latin typeface="Times New Roman" panose="02020603050405020304" pitchFamily="18" charset="0"/>
                </a:rPr>
                <a:t>                                              F→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( </a:t>
              </a:r>
              <a:r>
                <a:rPr kumimoji="1" lang="en-US" altLang="zh-CN" sz="1400" b="1" i="1">
                  <a:latin typeface="Times New Roman" panose="02020603050405020304" pitchFamily="18" charset="0"/>
                </a:rPr>
                <a:t>E </a:t>
              </a:r>
              <a:r>
                <a:rPr kumimoji="1" lang="en-US" altLang="zh-CN" sz="1400" b="1">
                  <a:latin typeface="Times New Roman" panose="02020603050405020304" pitchFamily="18" charset="0"/>
                </a:rPr>
                <a:t>)</a:t>
              </a:r>
              <a:endParaRPr kumimoji="1" lang="zh-CN" altLang="en-US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67650" name="Rectangle 28"/>
            <p:cNvSpPr>
              <a:spLocks noChangeArrowheads="1"/>
            </p:cNvSpPr>
            <p:nvPr/>
          </p:nvSpPr>
          <p:spPr bwMode="auto">
            <a:xfrm>
              <a:off x="4857748" y="3590486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1" name="Rectangle 29"/>
            <p:cNvSpPr>
              <a:spLocks noChangeArrowheads="1"/>
            </p:cNvSpPr>
            <p:nvPr/>
          </p:nvSpPr>
          <p:spPr bwMode="auto">
            <a:xfrm>
              <a:off x="4149654" y="3579862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2" name="Rectangle 30"/>
            <p:cNvSpPr>
              <a:spLocks noChangeArrowheads="1"/>
            </p:cNvSpPr>
            <p:nvPr/>
          </p:nvSpPr>
          <p:spPr bwMode="auto">
            <a:xfrm>
              <a:off x="1763688" y="4221924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3" name="Rectangle 31"/>
            <p:cNvSpPr>
              <a:spLocks noChangeArrowheads="1"/>
            </p:cNvSpPr>
            <p:nvPr/>
          </p:nvSpPr>
          <p:spPr bwMode="auto">
            <a:xfrm>
              <a:off x="4139952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4" name="Rectangle 32"/>
            <p:cNvSpPr>
              <a:spLocks noChangeArrowheads="1"/>
            </p:cNvSpPr>
            <p:nvPr/>
          </p:nvSpPr>
          <p:spPr bwMode="auto">
            <a:xfrm>
              <a:off x="4857748" y="4214650"/>
              <a:ext cx="504694" cy="215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5" name="Rectangle 33"/>
            <p:cNvSpPr>
              <a:spLocks noChangeArrowheads="1"/>
            </p:cNvSpPr>
            <p:nvPr/>
          </p:nvSpPr>
          <p:spPr bwMode="auto">
            <a:xfrm>
              <a:off x="1763688" y="480358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6" name="Rectangle 34"/>
            <p:cNvSpPr>
              <a:spLocks noChangeArrowheads="1"/>
            </p:cNvSpPr>
            <p:nvPr/>
          </p:nvSpPr>
          <p:spPr bwMode="auto">
            <a:xfrm>
              <a:off x="2627146" y="4804735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7" name="Rectangle 35"/>
            <p:cNvSpPr>
              <a:spLocks noChangeArrowheads="1"/>
            </p:cNvSpPr>
            <p:nvPr/>
          </p:nvSpPr>
          <p:spPr bwMode="auto">
            <a:xfrm>
              <a:off x="4144659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  <p:sp>
          <p:nvSpPr>
            <p:cNvPr id="67658" name="Rectangle 36"/>
            <p:cNvSpPr>
              <a:spLocks noChangeArrowheads="1"/>
            </p:cNvSpPr>
            <p:nvPr/>
          </p:nvSpPr>
          <p:spPr bwMode="auto">
            <a:xfrm>
              <a:off x="4859394" y="4792179"/>
              <a:ext cx="504694" cy="21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synch</a:t>
              </a:r>
            </a:p>
          </p:txBody>
        </p:sp>
      </p:grpSp>
      <p:sp>
        <p:nvSpPr>
          <p:cNvPr id="67648" name="矩形 2"/>
          <p:cNvSpPr>
            <a:spLocks noChangeArrowheads="1"/>
          </p:cNvSpPr>
          <p:nvPr/>
        </p:nvSpPr>
        <p:spPr bwMode="auto">
          <a:xfrm>
            <a:off x="107950" y="1574800"/>
            <a:ext cx="595313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</a:t>
            </a:r>
            <a:endParaRPr lang="en-US" altLang="zh-CN" sz="16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结符</a:t>
            </a:r>
          </a:p>
        </p:txBody>
      </p:sp>
    </p:spTree>
    <p:extLst>
      <p:ext uri="{BB962C8B-B14F-4D97-AF65-F5344CB8AC3E}">
        <p14:creationId xmlns:p14="http://schemas.microsoft.com/office/powerpoint/2010/main" val="219165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6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6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69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669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69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669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669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697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6697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34612</TotalTime>
  <Words>9394</Words>
  <Application>Microsoft Office PowerPoint</Application>
  <PresentationFormat>全屏显示(16:9)</PresentationFormat>
  <Paragraphs>1757</Paragraphs>
  <Slides>73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73</vt:i4>
      </vt:variant>
    </vt:vector>
  </HeadingPairs>
  <TitlesOfParts>
    <vt:vector size="97" baseType="lpstr">
      <vt:lpstr>Courier</vt:lpstr>
      <vt:lpstr>Monotype Sorts</vt:lpstr>
      <vt:lpstr>黑体</vt:lpstr>
      <vt:lpstr>华文楷体</vt:lpstr>
      <vt:lpstr>华文楷体 (正文)</vt:lpstr>
      <vt:lpstr>楷体</vt:lpstr>
      <vt:lpstr>楷体_GB2312</vt:lpstr>
      <vt:lpstr>宋体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自定义设计方案</vt:lpstr>
      <vt:lpstr>波形</vt:lpstr>
      <vt:lpstr>1_波形</vt:lpstr>
      <vt:lpstr>2_波形</vt:lpstr>
      <vt:lpstr>3_波形</vt:lpstr>
      <vt:lpstr>4_波形</vt:lpstr>
      <vt:lpstr>5_波形</vt:lpstr>
      <vt:lpstr>PowerPoint 演示文稿</vt:lpstr>
      <vt:lpstr>PowerPoint 演示文稿</vt:lpstr>
      <vt:lpstr>例：表达式文法各产生式的SELECT 集</vt:lpstr>
      <vt:lpstr>例：表达式文法各产生式的SELECT 集</vt:lpstr>
      <vt:lpstr>预测分析表</vt:lpstr>
      <vt:lpstr>LL(1)文法的分析方法</vt:lpstr>
      <vt:lpstr>4. 递归的预测分析法</vt:lpstr>
      <vt:lpstr>例</vt:lpstr>
      <vt:lpstr>例</vt:lpstr>
      <vt:lpstr>例</vt:lpstr>
      <vt:lpstr>例</vt:lpstr>
      <vt:lpstr>例</vt:lpstr>
      <vt:lpstr>例</vt:lpstr>
      <vt:lpstr>例</vt:lpstr>
      <vt:lpstr>5. 非递归的预测分析法</vt:lpstr>
      <vt:lpstr>例</vt:lpstr>
      <vt:lpstr>表驱动的预测分析法</vt:lpstr>
      <vt:lpstr>递归的预测分析法vs.非递归的预测分析法</vt:lpstr>
      <vt:lpstr>预测分析法实现步骤</vt:lpstr>
      <vt:lpstr>6. 预测分析中的错误检测</vt:lpstr>
      <vt:lpstr>预测分析中的错误恢复</vt:lpstr>
      <vt:lpstr>例</vt:lpstr>
      <vt:lpstr>PowerPoint 演示文稿</vt:lpstr>
      <vt:lpstr>作业：</vt:lpstr>
      <vt:lpstr>PowerPoint 演示文稿</vt:lpstr>
      <vt:lpstr>主要内容</vt:lpstr>
      <vt:lpstr>1. 自底向上的语法分析</vt:lpstr>
      <vt:lpstr>例：移入-归约分析</vt:lpstr>
      <vt:lpstr>例1：移入-归约分析</vt:lpstr>
      <vt:lpstr>移入-归约分析的工作过程</vt:lpstr>
      <vt:lpstr>移入-归约分析器可采取的4种动作</vt:lpstr>
      <vt:lpstr>PowerPoint 演示文稿</vt:lpstr>
      <vt:lpstr>移入-归约分析中存在的问题</vt:lpstr>
      <vt:lpstr>移入-归约分析中存在的问题</vt:lpstr>
      <vt:lpstr> (句型的）短语</vt:lpstr>
      <vt:lpstr>移入-归约分析中存在的问题</vt:lpstr>
      <vt:lpstr>移入-归约分析中存在的问题</vt:lpstr>
      <vt:lpstr>PowerPoint 演示文稿</vt:lpstr>
      <vt:lpstr>2. LR 分析法</vt:lpstr>
      <vt:lpstr>LR 分析法的基本原理</vt:lpstr>
      <vt:lpstr>LR 分析器（自动机）的总体结构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分析表的结构</vt:lpstr>
      <vt:lpstr>LR 分析器的工作过程</vt:lpstr>
      <vt:lpstr>LR 分析器的工作过程</vt:lpstr>
      <vt:lpstr>LR 分析器的工作过程</vt:lpstr>
      <vt:lpstr>LR 分析算法</vt:lpstr>
      <vt:lpstr>如何构造给定文法的LR分析表？</vt:lpstr>
      <vt:lpstr>LR(0) 项目</vt:lpstr>
      <vt:lpstr>增广文法 (Augmented Grammar)</vt:lpstr>
      <vt:lpstr>文法中的项目</vt:lpstr>
      <vt:lpstr>文法中的项目</vt:lpstr>
      <vt:lpstr>文法中的项目</vt:lpstr>
      <vt:lpstr>例：LR(0)自动机</vt:lpstr>
      <vt:lpstr>例：LR(0)自动机</vt:lpstr>
      <vt:lpstr>CLOSURE( )函数</vt:lpstr>
      <vt:lpstr>CLOSURE( )函数</vt:lpstr>
      <vt:lpstr>GOTO ( )函数</vt:lpstr>
      <vt:lpstr>构造LR(0)自动机的状态集</vt:lpstr>
      <vt:lpstr>LR(0)分析表构造算法</vt:lpstr>
      <vt:lpstr>LR(0) 自动机的形式化定义</vt:lpstr>
      <vt:lpstr>LR(0) 分析过程中的冲突</vt:lpstr>
      <vt:lpstr>表达式文法的LR(0)分析表含有移进/归约冲突</vt:lpstr>
      <vt:lpstr>例：移进/归约冲突和归约/归约冲突</vt:lpstr>
      <vt:lpstr>PowerPoint 演示文稿</vt:lpstr>
      <vt:lpstr>计算文法符号X的FIRST(X )</vt:lpstr>
      <vt:lpstr>算法</vt:lpstr>
      <vt:lpstr>计算串X1X2 …Xn的FIRST 集合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妙根 凌</cp:lastModifiedBy>
  <cp:revision>2085</cp:revision>
  <cp:lastPrinted>2019-03-03T08:55:32Z</cp:lastPrinted>
  <dcterms:created xsi:type="dcterms:W3CDTF">2003-07-09T14:46:46Z</dcterms:created>
  <dcterms:modified xsi:type="dcterms:W3CDTF">2025-10-22T17:48:15Z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