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488" r:id="rId1"/>
    <p:sldMasterId id="2147485141" r:id="rId2"/>
    <p:sldMasterId id="2147485183" r:id="rId3"/>
    <p:sldMasterId id="2147485201" r:id="rId4"/>
  </p:sldMasterIdLst>
  <p:notesMasterIdLst>
    <p:notesMasterId r:id="rId61"/>
  </p:notesMasterIdLst>
  <p:handoutMasterIdLst>
    <p:handoutMasterId r:id="rId62"/>
  </p:handoutMasterIdLst>
  <p:sldIdLst>
    <p:sldId id="755" r:id="rId5"/>
    <p:sldId id="757" r:id="rId6"/>
    <p:sldId id="606" r:id="rId7"/>
    <p:sldId id="742" r:id="rId8"/>
    <p:sldId id="743" r:id="rId9"/>
    <p:sldId id="602" r:id="rId10"/>
    <p:sldId id="744" r:id="rId11"/>
    <p:sldId id="609" r:id="rId12"/>
    <p:sldId id="610" r:id="rId13"/>
    <p:sldId id="614" r:id="rId14"/>
    <p:sldId id="611" r:id="rId15"/>
    <p:sldId id="392" r:id="rId16"/>
    <p:sldId id="613" r:id="rId17"/>
    <p:sldId id="759" r:id="rId18"/>
    <p:sldId id="760" r:id="rId19"/>
    <p:sldId id="761" r:id="rId20"/>
    <p:sldId id="762" r:id="rId21"/>
    <p:sldId id="763" r:id="rId22"/>
    <p:sldId id="764" r:id="rId23"/>
    <p:sldId id="765" r:id="rId24"/>
    <p:sldId id="766" r:id="rId25"/>
    <p:sldId id="767" r:id="rId26"/>
    <p:sldId id="768" r:id="rId27"/>
    <p:sldId id="769" r:id="rId28"/>
    <p:sldId id="770" r:id="rId29"/>
    <p:sldId id="771" r:id="rId30"/>
    <p:sldId id="772" r:id="rId31"/>
    <p:sldId id="776" r:id="rId32"/>
    <p:sldId id="777" r:id="rId33"/>
    <p:sldId id="778" r:id="rId34"/>
    <p:sldId id="779" r:id="rId35"/>
    <p:sldId id="780" r:id="rId36"/>
    <p:sldId id="781" r:id="rId37"/>
    <p:sldId id="782" r:id="rId38"/>
    <p:sldId id="775" r:id="rId39"/>
    <p:sldId id="783" r:id="rId40"/>
    <p:sldId id="784" r:id="rId41"/>
    <p:sldId id="812" r:id="rId42"/>
    <p:sldId id="813" r:id="rId43"/>
    <p:sldId id="814" r:id="rId44"/>
    <p:sldId id="815" r:id="rId45"/>
    <p:sldId id="816" r:id="rId46"/>
    <p:sldId id="817" r:id="rId47"/>
    <p:sldId id="818" r:id="rId48"/>
    <p:sldId id="785" r:id="rId49"/>
    <p:sldId id="786" r:id="rId50"/>
    <p:sldId id="787" r:id="rId51"/>
    <p:sldId id="852" r:id="rId52"/>
    <p:sldId id="860" r:id="rId53"/>
    <p:sldId id="854" r:id="rId54"/>
    <p:sldId id="855" r:id="rId55"/>
    <p:sldId id="856" r:id="rId56"/>
    <p:sldId id="857" r:id="rId57"/>
    <p:sldId id="858" r:id="rId58"/>
    <p:sldId id="859" r:id="rId59"/>
    <p:sldId id="758" r:id="rId60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CC"/>
    <a:srgbClr val="FF9900"/>
    <a:srgbClr val="FF0000"/>
    <a:srgbClr val="0000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8" autoAdjust="0"/>
    <p:restoredTop sz="68382" autoAdjust="0"/>
  </p:normalViewPr>
  <p:slideViewPr>
    <p:cSldViewPr>
      <p:cViewPr varScale="1">
        <p:scale>
          <a:sx n="98" d="100"/>
          <a:sy n="98" d="100"/>
        </p:scale>
        <p:origin x="738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5076"/>
    </p:cViewPr>
  </p:sorterViewPr>
  <p:notesViewPr>
    <p:cSldViewPr>
      <p:cViewPr varScale="1">
        <p:scale>
          <a:sx n="82" d="100"/>
          <a:sy n="82" d="100"/>
        </p:scale>
        <p:origin x="559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4E5B63-2548-4848-8591-495FE90E847C}" type="datetimeFigureOut">
              <a:rPr lang="zh-CN" altLang="en-US"/>
              <a:pPr>
                <a:defRPr/>
              </a:pPr>
              <a:t>2024-11-5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0CAF0D7-3BDE-43A3-8944-7B41990171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319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8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8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8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A920CE-4A67-4588-AB44-6478EEAE43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7622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6287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2583F1-08C5-4055-BD54-2C6DB8B989C5}" type="slidenum">
              <a:rPr lang="zh-CN" altLang="en-US" sz="1300" smtClean="0">
                <a:solidFill>
                  <a:srgbClr val="000000"/>
                </a:solidFill>
                <a:ea typeface="楷体_GB2312"/>
                <a:cs typeface="楷体_GB2312"/>
              </a:rPr>
              <a:pPr>
                <a:spcBef>
                  <a:spcPct val="0"/>
                </a:spcBef>
              </a:pPr>
              <a:t>2</a:t>
            </a:fld>
            <a:endParaRPr lang="en-US" altLang="zh-CN" sz="130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12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4726D20-25CB-4358-BB2B-1467EAF0BB8E}" type="slidenum">
              <a:rPr lang="zh-CN" altLang="en-US" b="0" smtClean="0">
                <a:latin typeface="Arial" panose="020B0604020202020204" pitchFamily="34" charset="0"/>
              </a:rPr>
              <a:pPr/>
              <a:t>3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1990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9573F16-AFE1-4C09-B5D8-F15C5CA010EE}" type="slidenum">
              <a:rPr lang="zh-CN" altLang="en-US" b="0" smtClean="0">
                <a:latin typeface="Arial" panose="020B0604020202020204" pitchFamily="34" charset="0"/>
              </a:rPr>
              <a:pPr/>
              <a:t>4</a:t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06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50F826-09F7-40E8-B622-04113EA51477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33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C34A537-B197-4574-BF80-4E301AE387CF}" type="slidenum">
              <a:rPr lang="zh-CN" altLang="en-US" b="0" smtClean="0">
                <a:latin typeface="Arial" panose="020B0604020202020204" pitchFamily="34" charset="0"/>
              </a:rPr>
              <a:pPr/>
              <a:t>6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7116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BA19375-DD5F-4F20-9719-3E9181EE382A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7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582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019706A-1C5A-4919-83B4-2213AAF81111}" type="slidenum">
              <a:rPr lang="zh-CN" altLang="en-US" b="0" smtClean="0">
                <a:latin typeface="Arial" panose="020B0604020202020204" pitchFamily="34" charset="0"/>
              </a:rPr>
              <a:pPr/>
              <a:t>8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475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A75329D-B517-41B3-9C60-C60631BD6078}" type="slidenum">
              <a:rPr lang="zh-CN" altLang="en-US" b="0" smtClean="0">
                <a:latin typeface="Arial" panose="020B0604020202020204" pitchFamily="34" charset="0"/>
              </a:rPr>
              <a:pPr/>
              <a:t>9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919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2408796-ACE7-457B-8D39-FBA0BBD02E67}" type="slidenum">
              <a:rPr lang="zh-CN" altLang="en-US" b="0" smtClean="0">
                <a:latin typeface="Arial" panose="020B0604020202020204" pitchFamily="34" charset="0"/>
              </a:rPr>
              <a:pPr/>
              <a:t>10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0913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440FC5E-D6F1-4CBF-A634-B963447CCE18}" type="slidenum">
              <a:rPr lang="zh-CN" altLang="en-US" b="0" smtClean="0">
                <a:latin typeface="Arial" panose="020B0604020202020204" pitchFamily="34" charset="0"/>
              </a:rPr>
              <a:pPr/>
              <a:t>11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10614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EB0568-E507-4654-9940-F3CF3CB726EE}" type="slidenum">
              <a:rPr lang="zh-CN" altLang="en-US" b="0" smtClean="0">
                <a:latin typeface="Arial" panose="020B0604020202020204" pitchFamily="34" charset="0"/>
              </a:rPr>
              <a:pPr/>
              <a:t>12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187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CC0A650-42CB-4945-B918-A7E232CC3B62}" type="slidenum">
              <a:rPr lang="zh-CN" altLang="en-US" b="0" smtClean="0">
                <a:latin typeface="Arial" panose="020B0604020202020204" pitchFamily="34" charset="0"/>
              </a:rPr>
              <a:pPr/>
              <a:t>13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2998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3DE17B-7468-4693-9942-E311CABE0A52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14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89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DAD3E09-E0CF-4153-95DD-59D252AECFEE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15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420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C376CC-82A0-4187-87C5-11703ACBF69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8948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5B9C04-4760-46B3-B43A-BCC9F427ED0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118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0353AF-FE90-4C0C-8CFD-F5821047AF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405782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6D5D76-C89A-4EDD-93C2-EE93F00DE52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180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081A70-03C8-43C6-9238-86020C05D6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0926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C200DA-8BBF-4CB7-B7CC-ACDC6F2D02D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4000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70384D-214D-412E-8212-0C59208DD15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0110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B0A044-E8D3-4F1D-BF70-2446106CCB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6809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B6C5BB-E9A5-43A9-AB9F-8BFEE0AA07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09417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7A28CF-6FD4-4FCB-87D1-3D36A066838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089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7" rIns="91434" bIns="45717"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B9F0DA-54F9-401C-8701-33A07A812C4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56920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BA578F-D0B7-405D-8859-290AF6D567D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7893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1610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008684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99583B-4D2B-4E9C-A2CC-69A2944144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40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3FFA14-F990-4115-9439-D056B790C1A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9213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993A01-07B0-4F08-9158-AC430ECEE1D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99544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endParaRPr lang="en-US" altLang="zh-CN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207965-D20F-4CBC-8EEA-413427B3663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6313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FE0B80-C84A-4965-AA2F-B4F32A28A3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6700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F89AF7-017E-43B2-803C-33AD3594A9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02239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C7611F-08FD-4DB5-9B4C-44FA60D721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066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E7B01E-D4C0-431B-BD35-03A707E6A9E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45698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59E7B8-EDD5-48F9-94DF-6983F0CA17B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90562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4CBB4-06CA-4F67-A9B4-11BD1D7FF3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047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4CE18C-8231-4ED9-B262-298871D82F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415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2B035C-49BA-435F-8484-5D93CCCCADD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1003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F7BCA-A384-48E8-8ADB-B48A488EDC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36507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AE01A8-508F-4FFF-8797-E00DD392D8E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28924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ECC9E3-2E3C-4003-A551-47213DBABE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6496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ED2BE8-95C0-4341-B4FE-98D7B1B8FE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38755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3EF19F-7081-4CE5-9A74-5B8726474F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64178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8F7542-4965-458F-8C5D-6353AB1FC8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31186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1A7676-7DFD-4F5D-97E1-51D63F8F495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2036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D3BECB-6849-4A7D-86EB-F1BB61B18D2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8583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466CCB-1547-4827-BD1E-5E577C22CD8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61240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ECD81D-0022-4D66-9234-AF85E562791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76727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3C1784-10E1-4861-8B81-A39909DFD31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0044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46D8E1-7223-43B1-866D-1743669A127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8890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6578E3-474A-4E38-A8D0-557A39EE117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25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8C5A1A-243E-4324-B3BA-17FFEE8C02A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2346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74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32195-EB09-4B13-8A7F-494F93DDBD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74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8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0CD80FF-98D6-4AB8-B36A-38B9D1CC97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96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CFE75A21-4D54-4A6B-95C2-C3F87DD39E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4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pPr>
              <a:defRPr/>
            </a:pPr>
            <a:fld id="{6FD66506-AEB2-4BCB-BE53-AA850072C7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240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 pitchFamily="49" charset="-122"/>
              </a:defRPr>
            </a:lvl1pPr>
          </a:lstStyle>
          <a:p>
            <a:pPr>
              <a:defRPr/>
            </a:pPr>
            <a:fld id="{CEE7D8BE-8296-4204-86D0-B730246C8B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15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442B0-65F0-423C-9435-98AA9BE52A5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49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79493-E21D-422A-98EC-F13B376958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42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01EAF-2024-420B-89FD-CB2E5CA27F4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304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F02C9-C14D-482A-B52F-3589E799176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95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94CBE-1E17-4CEF-A3A7-170C057093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25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A313C-52AD-4199-90BE-6E73990C806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22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DDFC5-9F9A-46EA-BC67-EFFA405F2CB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10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6696-D5F5-4DA4-BB3B-4C6D2C0C678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85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6F351-3068-44AA-80EE-7C0A002AFEE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060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F4327-437C-4671-8E57-EFE09BBB6570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517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4ACF3-8C5F-4551-86EA-D6BD487FB7F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503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17963" y="195486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6B4237-9F78-486C-8693-380A31267B76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71392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28F9A2-09C9-4AF8-AF7C-3585CC9924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70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352" y="259485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ADF5252-5F77-44FA-92FC-74752EF2DF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4" r:id="rId1"/>
    <p:sldLayoutId id="214748517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A0B534C-EB79-4F8C-81BE-C4C78F575B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8" r:id="rId1"/>
    <p:sldLayoutId id="214748517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E98608-490A-41B4-86CC-75532A80593C}" type="slidenum">
              <a:rPr lang="zh-CN" altLang="en-US" b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34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4" r:id="rId1"/>
    <p:sldLayoutId id="2147485185" r:id="rId2"/>
    <p:sldLayoutId id="2147485186" r:id="rId3"/>
    <p:sldLayoutId id="2147485187" r:id="rId4"/>
    <p:sldLayoutId id="2147485188" r:id="rId5"/>
    <p:sldLayoutId id="2147485189" r:id="rId6"/>
    <p:sldLayoutId id="2147485190" r:id="rId7"/>
    <p:sldLayoutId id="2147485191" r:id="rId8"/>
    <p:sldLayoutId id="2147485192" r:id="rId9"/>
    <p:sldLayoutId id="2147485193" r:id="rId10"/>
    <p:sldLayoutId id="214748519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A306ABB-A670-4062-9ADB-C4AF3A631345}" type="slidenum">
              <a:rPr lang="zh-CN" altLang="en-US" b="0"/>
              <a:pPr>
                <a:defRPr/>
              </a:pPr>
              <a:t>‹#›</a:t>
            </a:fld>
            <a:endParaRPr lang="en-US" altLang="zh-CN" b="0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103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2" r:id="rId1"/>
    <p:sldLayoutId id="214748520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22" y="35736"/>
            <a:ext cx="8352928" cy="5125991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284663" y="162401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endParaRPr lang="zh-CN" altLang="en-US" sz="35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9149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32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 计软院 </a:t>
            </a:r>
            <a:endParaRPr lang="en-US" altLang="zh-CN" sz="28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8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2024</a:t>
            </a: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  <a:endParaRPr lang="zh-CN" altLang="en-US" sz="28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331640" y="869157"/>
            <a:ext cx="6119912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lvl="0" eaLnBrk="1" fontAlgn="auto" hangingPunct="1">
              <a:spcAft>
                <a:spcPts val="0"/>
              </a:spcAft>
              <a:defRPr/>
            </a:pPr>
            <a:r>
              <a:rPr lang="zh-CN" altLang="en-US" sz="36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第五章  语法制导翻译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36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7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4916731" cy="21852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语法制导翻译的概念</a:t>
            </a:r>
            <a:endParaRPr lang="en-US" altLang="zh-CN" sz="3600" b="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b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语法制导定义</a:t>
            </a:r>
            <a:r>
              <a:rPr lang="en-US" altLang="zh-CN" sz="3600" b="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SDD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altLang="zh-CN" sz="3600" b="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SDD</a:t>
            </a:r>
            <a:r>
              <a:rPr lang="zh-CN" altLang="en-US" sz="3600" b="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的求值顺序</a:t>
            </a:r>
            <a:endParaRPr lang="zh-CN" altLang="en-US" sz="2800" b="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zh-CN" altLang="en-US" sz="2800" b="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6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29700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9701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048D8A-0B49-4763-B513-68598BFDDAED}" type="slidenum">
              <a:rPr lang="zh-CN" altLang="en-US" sz="14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4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88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908050"/>
            <a:ext cx="5927725" cy="3225800"/>
          </a:xfrm>
        </p:spPr>
        <p:txBody>
          <a:bodyPr/>
          <a:lstStyle/>
          <a:p>
            <a:pPr marL="273044" indent="-273044" eaLnBrk="1" hangingPunct="1">
              <a:lnSpc>
                <a:spcPts val="3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编译的阶段</a:t>
            </a:r>
          </a:p>
          <a:p>
            <a:pPr marL="576248" lvl="1" indent="-273044" eaLnBrk="1" hangingPunct="1">
              <a:lnSpc>
                <a:spcPts val="3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词法分析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576248" lvl="1" indent="-273044" eaLnBrk="1" hangingPunct="1">
              <a:lnSpc>
                <a:spcPts val="3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语法分析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576248" lvl="1" indent="-273044" eaLnBrk="1" hangingPunct="1">
              <a:lnSpc>
                <a:spcPts val="3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语义分析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576248" lvl="1" indent="-273044" eaLnBrk="1" hangingPunct="1">
              <a:lnSpc>
                <a:spcPts val="3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中间代码生成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576248" lvl="1" indent="-273044" eaLnBrk="1" hangingPunct="1">
              <a:lnSpc>
                <a:spcPts val="3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代码优化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576248" lvl="1" indent="-273044" eaLnBrk="1" hangingPunct="1">
              <a:lnSpc>
                <a:spcPts val="3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目标代码生成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225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3000" spc="225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什么是语法制导翻译</a:t>
            </a:r>
          </a:p>
        </p:txBody>
      </p:sp>
      <p:grpSp>
        <p:nvGrpSpPr>
          <p:cNvPr id="2" name="组合 2"/>
          <p:cNvGrpSpPr>
            <a:grpSpLocks/>
          </p:cNvGrpSpPr>
          <p:nvPr/>
        </p:nvGrpSpPr>
        <p:grpSpPr bwMode="auto">
          <a:xfrm>
            <a:off x="3132138" y="2763838"/>
            <a:ext cx="2143125" cy="792162"/>
            <a:chOff x="3131840" y="2570932"/>
            <a:chExt cx="2142802" cy="792162"/>
          </a:xfrm>
        </p:grpSpPr>
        <p:sp>
          <p:nvSpPr>
            <p:cNvPr id="32777" name="Rectangle 10"/>
            <p:cNvSpPr>
              <a:spLocks noChangeArrowheads="1"/>
            </p:cNvSpPr>
            <p:nvPr/>
          </p:nvSpPr>
          <p:spPr bwMode="auto">
            <a:xfrm>
              <a:off x="3492148" y="2778894"/>
              <a:ext cx="1782494" cy="376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5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语义翻译</a:t>
              </a:r>
            </a:p>
          </p:txBody>
        </p:sp>
        <p:sp>
          <p:nvSpPr>
            <p:cNvPr id="32778" name="右大括号 10"/>
            <p:cNvSpPr>
              <a:spLocks/>
            </p:cNvSpPr>
            <p:nvPr/>
          </p:nvSpPr>
          <p:spPr bwMode="auto">
            <a:xfrm>
              <a:off x="3131840" y="2570932"/>
              <a:ext cx="241264" cy="792162"/>
            </a:xfrm>
            <a:prstGeom prst="rightBrace">
              <a:avLst>
                <a:gd name="adj1" fmla="val 8344"/>
                <a:gd name="adj2" fmla="val 50000"/>
              </a:avLst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组合 4"/>
          <p:cNvGrpSpPr>
            <a:grpSpLocks/>
          </p:cNvGrpSpPr>
          <p:nvPr/>
        </p:nvGrpSpPr>
        <p:grpSpPr bwMode="auto">
          <a:xfrm>
            <a:off x="4859338" y="2260600"/>
            <a:ext cx="2168525" cy="1295400"/>
            <a:chOff x="4859040" y="2067694"/>
            <a:chExt cx="2168823" cy="1295400"/>
          </a:xfrm>
        </p:grpSpPr>
        <p:sp>
          <p:nvSpPr>
            <p:cNvPr id="32775" name="Rectangle 10"/>
            <p:cNvSpPr>
              <a:spLocks noChangeArrowheads="1"/>
            </p:cNvSpPr>
            <p:nvPr/>
          </p:nvSpPr>
          <p:spPr bwMode="auto">
            <a:xfrm>
              <a:off x="5244855" y="2504257"/>
              <a:ext cx="1783008" cy="3762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5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语法制导翻译</a:t>
              </a:r>
              <a:endParaRPr lang="en-US" altLang="zh-CN" sz="2500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eaLnBrk="1" hangingPunct="1">
                <a:defRPr/>
              </a:pPr>
              <a:r>
                <a:rPr lang="en-US" altLang="zh-CN" sz="1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(Syntax-Directed Translation)</a:t>
              </a:r>
              <a:endPara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2776" name="右大括号 11"/>
            <p:cNvSpPr>
              <a:spLocks/>
            </p:cNvSpPr>
            <p:nvPr/>
          </p:nvSpPr>
          <p:spPr bwMode="auto">
            <a:xfrm>
              <a:off x="4859040" y="2067694"/>
              <a:ext cx="241333" cy="1295400"/>
            </a:xfrm>
            <a:prstGeom prst="rightBrace">
              <a:avLst>
                <a:gd name="adj1" fmla="val 8326"/>
                <a:gd name="adj2" fmla="val 50000"/>
              </a:avLst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3473327" y="3784600"/>
            <a:ext cx="5280025" cy="1015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ea"/>
                <a:ea typeface="+mn-ea"/>
              </a:rPr>
              <a:t>语法制导翻译使用</a:t>
            </a:r>
            <a:r>
              <a:rPr lang="en-US" altLang="zh-CN" sz="20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  <a:r>
              <a:rPr lang="zh-CN" altLang="en-US" sz="2000" dirty="0">
                <a:latin typeface="+mn-ea"/>
                <a:ea typeface="+mn-ea"/>
              </a:rPr>
              <a:t>来引导对语言的翻译，是通过向一个文法的产生式附加一些规则或程序片段而得到的。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语法制导翻译的基本思想</a:t>
            </a:r>
            <a:endParaRPr lang="zh-CN" altLang="en-US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42938" y="857250"/>
            <a:ext cx="8002587" cy="263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000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如何表示语义信息？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CFG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文法符号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设置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语义属性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，用来表示语法成分对应的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语义信息</a:t>
            </a:r>
            <a:endParaRPr lang="en-US" altLang="zh-CN" sz="24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如何计算语义属性？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文法符号的语义属性值是用与文法符号所在产生式（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语法规则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）相关联的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语义规则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来计算的</a:t>
            </a:r>
            <a:endParaRPr lang="en-US" altLang="zh-CN" sz="24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430213" y="928688"/>
            <a:ext cx="8356600" cy="3225800"/>
          </a:xfrm>
        </p:spPr>
        <p:txBody>
          <a:bodyPr lIns="69056" tIns="34529" rIns="69056" bIns="34529"/>
          <a:lstStyle/>
          <a:p>
            <a:pPr marL="272654" indent="-272654" eaLnBrk="1" hangingPunct="1">
              <a:lnSpc>
                <a:spcPts val="42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将</a:t>
            </a:r>
            <a:r>
              <a:rPr kumimoji="1"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语义规则</a:t>
            </a:r>
            <a:r>
              <a:rPr kumimoji="1"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同</a:t>
            </a:r>
            <a:r>
              <a:rPr kumimoji="1"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语法规则</a:t>
            </a:r>
            <a:r>
              <a:rPr kumimoji="1"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（产生式）联系起来要涉及两个概念</a:t>
            </a:r>
            <a:endParaRPr kumimoji="1" lang="en-US" altLang="zh-CN" sz="3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575866" lvl="1" indent="-272654" eaLnBrk="1" hangingPunct="1">
              <a:lnSpc>
                <a:spcPts val="42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语法制导定义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Syntax-Directed Definitions, SDD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</a:p>
          <a:p>
            <a:pPr marL="575866" lvl="1" indent="-272654" eaLnBrk="1" hangingPunct="1">
              <a:lnSpc>
                <a:spcPts val="42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语法制导翻译 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Syntax-Directed Translation , SDT 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  <a:endParaRPr lang="en-US" altLang="zh-CN" sz="28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272654" indent="-272654" eaLnBrk="1" hangingPunct="1">
              <a:lnSpc>
                <a:spcPts val="4200"/>
              </a:lnSpc>
              <a:buClrTx/>
              <a:buFont typeface="Wingdings" pitchFamily="2" charset="2"/>
              <a:buChar char="Ø"/>
              <a:defRPr/>
            </a:pPr>
            <a:endParaRPr lang="zh-CN" altLang="en-US" sz="3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272654" indent="-272654" eaLnBrk="1" hangingPunct="1">
              <a:defRPr/>
            </a:pPr>
            <a:endParaRPr lang="zh-CN" altLang="en-US" sz="3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两个概念</a:t>
            </a:r>
            <a:endParaRPr lang="zh-CN" altLang="en-US" sz="250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714375"/>
            <a:ext cx="8258175" cy="3225800"/>
          </a:xfrm>
        </p:spPr>
        <p:txBody>
          <a:bodyPr/>
          <a:lstStyle/>
          <a:p>
            <a:pPr marL="272654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是对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CFG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的推广</a:t>
            </a:r>
          </a:p>
          <a:p>
            <a:pPr marL="575866" lvl="1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将每个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文法符号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和一个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语义属性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集合相关联</a:t>
            </a:r>
          </a:p>
          <a:p>
            <a:pPr marL="575866" lvl="1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将每个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产生式</a:t>
            </a:r>
            <a:r>
              <a:rPr lang="zh-CN" altLang="en-US" sz="26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包含的语义信息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用各文法符号的属性值的计算来表示，即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语义规则</a:t>
            </a:r>
            <a:endParaRPr lang="en-US" altLang="zh-CN" sz="26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marL="272654" indent="-272654" eaLnBrk="1" hangingPunct="1">
              <a:lnSpc>
                <a:spcPts val="42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是一个文法符号，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的一个属性，则用</a:t>
            </a:r>
            <a:r>
              <a:rPr lang="en-US" altLang="zh-CN" sz="28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X.a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表示属性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在某个标号为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的分析树结点上的值</a:t>
            </a:r>
          </a:p>
          <a:p>
            <a:pPr marL="272654" indent="-272654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endParaRPr lang="zh-CN" altLang="en-US" sz="3200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语法制导定义</a:t>
            </a:r>
            <a:r>
              <a:rPr kumimoji="1"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30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SDD</a:t>
            </a:r>
            <a:r>
              <a:rPr kumimoji="1"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30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711200"/>
            <a:ext cx="8258175" cy="3225800"/>
          </a:xfrm>
        </p:spPr>
        <p:txBody>
          <a:bodyPr/>
          <a:lstStyle/>
          <a:p>
            <a:pPr marL="272654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是对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CFG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的推广</a:t>
            </a:r>
          </a:p>
          <a:p>
            <a:pPr marL="575866" lvl="1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将每个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文法符号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和一个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语义属性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集合相关联</a:t>
            </a:r>
          </a:p>
          <a:p>
            <a:pPr marL="575866" lvl="1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将每个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产生式</a:t>
            </a:r>
            <a:r>
              <a:rPr lang="zh-CN" altLang="en-US" sz="26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包含的语义信息</a:t>
            </a:r>
            <a:r>
              <a:rPr lang="zh-CN" altLang="en-US" sz="2600" b="1" dirty="0">
                <a:solidFill>
                  <a:schemeClr val="tx1"/>
                </a:solidFill>
                <a:cs typeface="Times New Roman" panose="02020603050405020304" pitchFamily="18" charset="0"/>
              </a:rPr>
              <a:t>用各文法符号的属性值的计算来表示，即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语义规则</a:t>
            </a:r>
            <a:endParaRPr lang="en-US" altLang="zh-CN" sz="26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marL="575866" lvl="1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zh-CN" altLang="en-US" sz="2600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语法制导定义</a:t>
            </a:r>
            <a:r>
              <a:rPr kumimoji="1"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30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SDD</a:t>
            </a:r>
            <a:r>
              <a:rPr kumimoji="1"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3000" i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组合 3"/>
          <p:cNvGrpSpPr/>
          <p:nvPr/>
        </p:nvGrpSpPr>
        <p:grpSpPr>
          <a:xfrm>
            <a:off x="2445359" y="2931790"/>
            <a:ext cx="4055467" cy="2123658"/>
            <a:chOff x="3359696" y="3284984"/>
            <a:chExt cx="4055467" cy="2123658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" name="矩形 4"/>
            <p:cNvSpPr/>
            <p:nvPr/>
          </p:nvSpPr>
          <p:spPr>
            <a:xfrm>
              <a:off x="3359696" y="3284984"/>
              <a:ext cx="4055467" cy="212365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ts val="2100"/>
                </a:lnSpc>
                <a:spcBef>
                  <a:spcPct val="30000"/>
                </a:spcBef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zh-CN" altLang="en-US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lang="en-US" altLang="zh-CN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</a:t>
              </a:r>
              <a:r>
                <a:rPr lang="zh-CN" altLang="en-US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2100"/>
                </a:lnSpc>
                <a:spcBef>
                  <a:spcPct val="30000"/>
                </a:spcBef>
                <a:defRPr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→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</a:t>
              </a:r>
              <a:r>
                <a:rPr lang="en-US" altLang="zh-CN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	</a:t>
              </a:r>
              <a:r>
                <a:rPr lang="en-US" altLang="zh-CN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	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L .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 </a:t>
              </a:r>
              <a:endPara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eaLnBrk="1" hangingPunct="1">
                <a:lnSpc>
                  <a:spcPts val="2100"/>
                </a:lnSpc>
                <a:spcBef>
                  <a:spcPct val="30000"/>
                </a:spcBef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→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int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		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int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</a:p>
            <a:p>
              <a:pPr eaLnBrk="1" hangingPunct="1">
                <a:lnSpc>
                  <a:spcPts val="2100"/>
                </a:lnSpc>
                <a:spcBef>
                  <a:spcPct val="30000"/>
                </a:spcBef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→ real 	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real </a:t>
              </a:r>
            </a:p>
            <a:p>
              <a:pPr eaLnBrk="1" hangingPunct="1">
                <a:lnSpc>
                  <a:spcPts val="2100"/>
                </a:lnSpc>
                <a:spcBef>
                  <a:spcPct val="30000"/>
                </a:spcBef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→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 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, id 	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.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L .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endPara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eaLnBrk="1" hangingPunct="1">
                <a:lnSpc>
                  <a:spcPts val="2100"/>
                </a:lnSpc>
                <a:spcBef>
                  <a:spcPct val="30000"/>
                </a:spcBef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         …		            …</a:t>
              </a: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3359696" y="3648444"/>
              <a:ext cx="4055467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5054289" y="3284984"/>
              <a:ext cx="0" cy="2123658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E7D8BE-8296-4204-86D0-B730246C8B56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14375"/>
            <a:ext cx="8450263" cy="4017963"/>
          </a:xfrm>
        </p:spPr>
        <p:txBody>
          <a:bodyPr/>
          <a:lstStyle/>
          <a:p>
            <a:pPr marL="303212" lvl="1" indent="0" eaLnBrk="1" hangingPunct="1">
              <a:lnSpc>
                <a:spcPts val="4000"/>
              </a:lnSpc>
              <a:buClrTx/>
              <a:buNone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每个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文法符号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语义属性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集合相关联：</a:t>
            </a:r>
          </a:p>
          <a:p>
            <a:pPr marL="273044" indent="-27304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文法符号的属性</a:t>
            </a:r>
          </a:p>
          <a:p>
            <a:pPr marL="576248" lvl="1" indent="-273044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综合属性 </a:t>
            </a:r>
            <a:r>
              <a:rPr kumimoji="1" lang="en-US" altLang="zh-CN" sz="2400" b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synthesized attribute</a:t>
            </a:r>
            <a:r>
              <a:rPr kumimoji="1" lang="en-US" altLang="zh-CN" sz="2400" b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kumimoji="1"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6248" lvl="1" indent="-273044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继承属性 </a:t>
            </a:r>
            <a:r>
              <a:rPr kumimoji="1" lang="en-US" altLang="zh-CN" sz="2000" b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inherited attribute</a:t>
            </a:r>
            <a:r>
              <a:rPr kumimoji="1" lang="en-US" altLang="zh-CN" sz="2000" b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kumimoji="1"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endParaRPr kumimoji="1"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5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5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85813"/>
            <a:ext cx="8428037" cy="4286250"/>
          </a:xfrm>
        </p:spPr>
        <p:txBody>
          <a:bodyPr/>
          <a:lstStyle/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在分析树结点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上的非终结符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综合属性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是指通过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的子结点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或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本身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的属性值来定义的属性</a:t>
            </a:r>
          </a:p>
          <a:p>
            <a:pPr marL="575866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例		</a:t>
            </a:r>
          </a:p>
          <a:p>
            <a:pPr marL="0" indent="0">
              <a:lnSpc>
                <a:spcPts val="3500"/>
              </a:lnSpc>
              <a:buClrTx/>
              <a:buFont typeface="Symbol" panose="05050102010706020507" pitchFamily="18" charset="2"/>
              <a:buNone/>
              <a:defRPr/>
            </a:pP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>
              <a:lnSpc>
                <a:spcPts val="3500"/>
              </a:lnSpc>
              <a:buClrTx/>
              <a:buFont typeface="Symbol" panose="05050102010706020507" pitchFamily="18" charset="2"/>
              <a:buNone/>
              <a:defRPr/>
            </a:pP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终结符可以具有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。终结符的综合属性值是由词法分析器提供的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词法值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，因此在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中没有计算终结符属性值的语义规则</a:t>
            </a: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综合属性</a:t>
            </a:r>
            <a:r>
              <a:rPr kumimoji="1" lang="en-US" altLang="zh-CN" sz="28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kumimoji="1"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synthesized attribute</a:t>
            </a:r>
            <a:r>
              <a:rPr kumimoji="1" lang="en-US" altLang="zh-CN" sz="28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组合 2"/>
          <p:cNvGrpSpPr>
            <a:grpSpLocks/>
          </p:cNvGrpSpPr>
          <p:nvPr/>
        </p:nvGrpSpPr>
        <p:grpSpPr bwMode="auto">
          <a:xfrm>
            <a:off x="5591175" y="2233613"/>
            <a:ext cx="2852738" cy="452437"/>
            <a:chOff x="5519738" y="2305050"/>
            <a:chExt cx="2852724" cy="452438"/>
          </a:xfrm>
        </p:grpSpPr>
        <p:sp>
          <p:nvSpPr>
            <p:cNvPr id="34830" name="Line 39"/>
            <p:cNvSpPr>
              <a:spLocks noChangeShapeType="1"/>
            </p:cNvSpPr>
            <p:nvPr/>
          </p:nvSpPr>
          <p:spPr bwMode="auto">
            <a:xfrm flipV="1">
              <a:off x="5519738" y="2305050"/>
              <a:ext cx="1223962" cy="4524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1" name="Line 40"/>
            <p:cNvSpPr>
              <a:spLocks noChangeShapeType="1"/>
            </p:cNvSpPr>
            <p:nvPr/>
          </p:nvSpPr>
          <p:spPr bwMode="auto">
            <a:xfrm flipH="1" flipV="1">
              <a:off x="7072299" y="2314588"/>
              <a:ext cx="1300163" cy="4222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lg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5014913" y="1730375"/>
            <a:ext cx="3914775" cy="1484313"/>
            <a:chOff x="4943475" y="1801813"/>
            <a:chExt cx="3914775" cy="1484312"/>
          </a:xfrm>
        </p:grpSpPr>
        <p:sp>
          <p:nvSpPr>
            <p:cNvPr id="34823" name="Text Box 17"/>
            <p:cNvSpPr txBox="1">
              <a:spLocks noChangeArrowheads="1"/>
            </p:cNvSpPr>
            <p:nvPr/>
          </p:nvSpPr>
          <p:spPr bwMode="auto">
            <a:xfrm>
              <a:off x="6743700" y="2881313"/>
              <a:ext cx="457200" cy="401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4824" name="Rectangle 21"/>
            <p:cNvSpPr>
              <a:spLocks noChangeArrowheads="1"/>
            </p:cNvSpPr>
            <p:nvPr/>
          </p:nvSpPr>
          <p:spPr bwMode="auto">
            <a:xfrm>
              <a:off x="7607300" y="2836863"/>
              <a:ext cx="1250950" cy="403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25" name="Rectangle 23"/>
            <p:cNvSpPr>
              <a:spLocks noChangeArrowheads="1"/>
            </p:cNvSpPr>
            <p:nvPr/>
          </p:nvSpPr>
          <p:spPr bwMode="auto">
            <a:xfrm>
              <a:off x="6240463" y="1801813"/>
              <a:ext cx="1346200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4826" name="Line 24"/>
            <p:cNvSpPr>
              <a:spLocks noChangeShapeType="1"/>
            </p:cNvSpPr>
            <p:nvPr/>
          </p:nvSpPr>
          <p:spPr bwMode="auto">
            <a:xfrm flipH="1">
              <a:off x="5723469" y="2376488"/>
              <a:ext cx="1150938" cy="439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7" name="Line 25"/>
            <p:cNvSpPr>
              <a:spLocks noChangeShapeType="1"/>
            </p:cNvSpPr>
            <p:nvPr/>
          </p:nvSpPr>
          <p:spPr bwMode="auto">
            <a:xfrm>
              <a:off x="6888163" y="2376488"/>
              <a:ext cx="0" cy="457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8" name="Line 26"/>
            <p:cNvSpPr>
              <a:spLocks noChangeShapeType="1"/>
            </p:cNvSpPr>
            <p:nvPr/>
          </p:nvSpPr>
          <p:spPr bwMode="auto">
            <a:xfrm>
              <a:off x="6888163" y="2376488"/>
              <a:ext cx="1316037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9" name="Rectangle 16"/>
            <p:cNvSpPr>
              <a:spLocks noChangeArrowheads="1"/>
            </p:cNvSpPr>
            <p:nvPr/>
          </p:nvSpPr>
          <p:spPr bwMode="auto">
            <a:xfrm>
              <a:off x="4943475" y="2882900"/>
              <a:ext cx="1417638" cy="403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000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063625" y="2308225"/>
            <a:ext cx="4079875" cy="76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kumimoji="1" lang="zh-CN" altLang="en-US" sz="2000" b="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  </a:t>
            </a:r>
            <a:r>
              <a:rPr kumimoji="1"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产生式                  语义规则</a:t>
            </a:r>
            <a:endParaRPr kumimoji="1"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E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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E</a:t>
            </a:r>
            <a:r>
              <a:rPr kumimoji="1"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1 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T       E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val 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E</a:t>
            </a:r>
            <a:r>
              <a:rPr kumimoji="1"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val 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+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val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14375"/>
            <a:ext cx="8593138" cy="3729038"/>
          </a:xfrm>
        </p:spPr>
        <p:txBody>
          <a:bodyPr/>
          <a:lstStyle/>
          <a:p>
            <a:pPr marL="272654" indent="-27265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在分析树结点 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上的非终结符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继承属性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只能通过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的父结点、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的兄弟结点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或 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本身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的属性值来定义</a:t>
            </a: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5866" lvl="1" indent="-27265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例</a:t>
            </a:r>
          </a:p>
          <a:p>
            <a:pPr marL="0" indent="0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endParaRPr lang="en-US" altLang="zh-CN" sz="28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终结符没有继承属性。终结符从词法分析器处获得的属性值被归为综合属性值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继承属性</a:t>
            </a:r>
            <a:r>
              <a:rPr lang="en-US" altLang="zh-CN" sz="25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kumimoji="1"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inherited attribute</a:t>
            </a:r>
            <a:r>
              <a:rPr lang="en-US" altLang="zh-CN" sz="25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85875" y="2495550"/>
            <a:ext cx="3173413" cy="862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50000"/>
              </a:spcBef>
              <a:defRPr/>
            </a:pPr>
            <a:r>
              <a:rPr kumimoji="1"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产生式             语义规则</a:t>
            </a:r>
            <a:endParaRPr kumimoji="1"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ts val="2400"/>
              </a:lnSpc>
              <a:spcBef>
                <a:spcPct val="50000"/>
              </a:spcBef>
              <a:defRPr/>
            </a:pP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 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T L       </a:t>
            </a:r>
            <a:r>
              <a:rPr kumimoji="1" lang="en-US" altLang="zh-CN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inh</a:t>
            </a:r>
            <a:r>
              <a:rPr kumimoji="1" lang="en-US" altLang="zh-CN" sz="2000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</a:t>
            </a:r>
          </a:p>
        </p:txBody>
      </p:sp>
      <p:sp>
        <p:nvSpPr>
          <p:cNvPr id="57351" name="Freeform 10"/>
          <p:cNvSpPr>
            <a:spLocks/>
          </p:cNvSpPr>
          <p:nvPr/>
        </p:nvSpPr>
        <p:spPr bwMode="auto">
          <a:xfrm rot="120000">
            <a:off x="5670550" y="2671763"/>
            <a:ext cx="1668463" cy="298450"/>
          </a:xfrm>
          <a:custGeom>
            <a:avLst/>
            <a:gdLst>
              <a:gd name="T0" fmla="*/ 0 w 680"/>
              <a:gd name="T1" fmla="*/ 2147483646 h 190"/>
              <a:gd name="T2" fmla="*/ 2147483646 w 680"/>
              <a:gd name="T3" fmla="*/ 2147483646 h 190"/>
              <a:gd name="T4" fmla="*/ 2147483646 w 680"/>
              <a:gd name="T5" fmla="*/ 2147483646 h 190"/>
              <a:gd name="T6" fmla="*/ 0 60000 65536"/>
              <a:gd name="T7" fmla="*/ 0 60000 65536"/>
              <a:gd name="T8" fmla="*/ 0 60000 65536"/>
              <a:gd name="T9" fmla="*/ 0 w 680"/>
              <a:gd name="T10" fmla="*/ 0 h 190"/>
              <a:gd name="T11" fmla="*/ 680 w 680"/>
              <a:gd name="T12" fmla="*/ 190 h 1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0" h="190">
                <a:moveTo>
                  <a:pt x="0" y="190"/>
                </a:moveTo>
                <a:cubicBezTo>
                  <a:pt x="102" y="103"/>
                  <a:pt x="204" y="16"/>
                  <a:pt x="317" y="8"/>
                </a:cubicBezTo>
                <a:cubicBezTo>
                  <a:pt x="430" y="0"/>
                  <a:pt x="620" y="121"/>
                  <a:pt x="680" y="144"/>
                </a:cubicBezTo>
              </a:path>
            </a:pathLst>
          </a:custGeom>
          <a:noFill/>
          <a:ln w="3810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1"/>
          <p:cNvGrpSpPr>
            <a:grpSpLocks/>
          </p:cNvGrpSpPr>
          <p:nvPr/>
        </p:nvGrpSpPr>
        <p:grpSpPr bwMode="auto">
          <a:xfrm>
            <a:off x="4500563" y="2071688"/>
            <a:ext cx="3914775" cy="1285875"/>
            <a:chOff x="5014943" y="1928808"/>
            <a:chExt cx="3914775" cy="1285884"/>
          </a:xfrm>
        </p:grpSpPr>
        <p:sp>
          <p:nvSpPr>
            <p:cNvPr id="36871" name="Rectangle 21"/>
            <p:cNvSpPr>
              <a:spLocks noChangeArrowheads="1"/>
            </p:cNvSpPr>
            <p:nvPr/>
          </p:nvSpPr>
          <p:spPr bwMode="auto">
            <a:xfrm>
              <a:off x="7678768" y="2765430"/>
              <a:ext cx="1250950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L.inh</a:t>
              </a:r>
              <a:endParaRPr kumimoji="1"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36872" name="Rectangle 23"/>
            <p:cNvSpPr>
              <a:spLocks noChangeArrowheads="1"/>
            </p:cNvSpPr>
            <p:nvPr/>
          </p:nvSpPr>
          <p:spPr bwMode="auto">
            <a:xfrm>
              <a:off x="6311931" y="1928808"/>
              <a:ext cx="1346200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6873" name="Line 24"/>
            <p:cNvSpPr>
              <a:spLocks noChangeShapeType="1"/>
            </p:cNvSpPr>
            <p:nvPr/>
          </p:nvSpPr>
          <p:spPr bwMode="auto">
            <a:xfrm flipH="1">
              <a:off x="5794937" y="2305055"/>
              <a:ext cx="1150938" cy="439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74" name="Line 26"/>
            <p:cNvSpPr>
              <a:spLocks noChangeShapeType="1"/>
            </p:cNvSpPr>
            <p:nvPr/>
          </p:nvSpPr>
          <p:spPr bwMode="auto">
            <a:xfrm>
              <a:off x="6959631" y="2305055"/>
              <a:ext cx="1316037" cy="377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75" name="Rectangle 16"/>
            <p:cNvSpPr>
              <a:spLocks noChangeArrowheads="1"/>
            </p:cNvSpPr>
            <p:nvPr/>
          </p:nvSpPr>
          <p:spPr bwMode="auto">
            <a:xfrm>
              <a:off x="5014943" y="2811467"/>
              <a:ext cx="1417638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T.type</a:t>
              </a:r>
              <a:endParaRPr kumimoji="1"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73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2"/>
          <p:cNvSpPr txBox="1">
            <a:spLocks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带有综合属性</a:t>
            </a: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SDD </a:t>
            </a:r>
            <a:endParaRPr lang="zh-CN" altLang="en-US" sz="3000" i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7359" name="Rectangle 2"/>
          <p:cNvSpPr>
            <a:spLocks noChangeArrowheads="1"/>
          </p:cNvSpPr>
          <p:nvPr/>
        </p:nvSpPr>
        <p:spPr bwMode="auto">
          <a:xfrm>
            <a:off x="4948238" y="4357688"/>
            <a:ext cx="1597025" cy="3794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=3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60" name="Rectangle 3"/>
          <p:cNvSpPr>
            <a:spLocks noChangeArrowheads="1"/>
          </p:cNvSpPr>
          <p:nvPr/>
        </p:nvSpPr>
        <p:spPr bwMode="auto">
          <a:xfrm>
            <a:off x="4914900" y="3643313"/>
            <a:ext cx="1025525" cy="3794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=3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61" name="Line 4"/>
          <p:cNvSpPr>
            <a:spLocks noChangeShapeType="1"/>
          </p:cNvSpPr>
          <p:nvPr/>
        </p:nvSpPr>
        <p:spPr bwMode="auto">
          <a:xfrm flipV="1">
            <a:off x="5454650" y="4103688"/>
            <a:ext cx="0" cy="285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62" name="Line 5"/>
          <p:cNvSpPr>
            <a:spLocks noChangeShapeType="1"/>
          </p:cNvSpPr>
          <p:nvPr/>
        </p:nvSpPr>
        <p:spPr bwMode="auto">
          <a:xfrm flipV="1">
            <a:off x="5454650" y="3294063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63" name="Rectangle 6"/>
          <p:cNvSpPr>
            <a:spLocks noChangeArrowheads="1"/>
          </p:cNvSpPr>
          <p:nvPr/>
        </p:nvSpPr>
        <p:spPr bwMode="auto">
          <a:xfrm>
            <a:off x="4859338" y="2857500"/>
            <a:ext cx="1081087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=3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64" name="Rectangle 7"/>
          <p:cNvSpPr>
            <a:spLocks noChangeArrowheads="1"/>
          </p:cNvSpPr>
          <p:nvPr/>
        </p:nvSpPr>
        <p:spPr bwMode="auto">
          <a:xfrm>
            <a:off x="6210300" y="3643313"/>
            <a:ext cx="1597025" cy="3794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=5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65" name="Line 8"/>
          <p:cNvSpPr>
            <a:spLocks noChangeShapeType="1"/>
          </p:cNvSpPr>
          <p:nvPr/>
        </p:nvSpPr>
        <p:spPr bwMode="auto">
          <a:xfrm flipV="1">
            <a:off x="6804025" y="3294063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66" name="Rectangle 9"/>
          <p:cNvSpPr>
            <a:spLocks noChangeArrowheads="1"/>
          </p:cNvSpPr>
          <p:nvPr/>
        </p:nvSpPr>
        <p:spPr bwMode="auto">
          <a:xfrm>
            <a:off x="6230938" y="2857500"/>
            <a:ext cx="971550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=5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67" name="Rectangle 10"/>
          <p:cNvSpPr>
            <a:spLocks noChangeArrowheads="1"/>
          </p:cNvSpPr>
          <p:nvPr/>
        </p:nvSpPr>
        <p:spPr bwMode="auto">
          <a:xfrm>
            <a:off x="5276850" y="2000250"/>
            <a:ext cx="1657350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=15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68" name="Line 11"/>
          <p:cNvSpPr>
            <a:spLocks noChangeShapeType="1"/>
          </p:cNvSpPr>
          <p:nvPr/>
        </p:nvSpPr>
        <p:spPr bwMode="auto">
          <a:xfrm flipH="1">
            <a:off x="5351463" y="2476500"/>
            <a:ext cx="742950" cy="42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69" name="Line 12"/>
          <p:cNvSpPr>
            <a:spLocks noChangeShapeType="1"/>
          </p:cNvSpPr>
          <p:nvPr/>
        </p:nvSpPr>
        <p:spPr bwMode="auto">
          <a:xfrm>
            <a:off x="6102350" y="2482850"/>
            <a:ext cx="701675" cy="377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70" name="Text Box 13"/>
          <p:cNvSpPr txBox="1">
            <a:spLocks noChangeArrowheads="1"/>
          </p:cNvSpPr>
          <p:nvPr/>
        </p:nvSpPr>
        <p:spPr bwMode="auto">
          <a:xfrm>
            <a:off x="5994400" y="2914650"/>
            <a:ext cx="269875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57371" name="Line 14"/>
          <p:cNvSpPr>
            <a:spLocks noChangeShapeType="1"/>
          </p:cNvSpPr>
          <p:nvPr/>
        </p:nvSpPr>
        <p:spPr bwMode="auto">
          <a:xfrm>
            <a:off x="6102350" y="24828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72" name="Line 15"/>
          <p:cNvSpPr>
            <a:spLocks noChangeShapeType="1"/>
          </p:cNvSpPr>
          <p:nvPr/>
        </p:nvSpPr>
        <p:spPr bwMode="auto">
          <a:xfrm flipV="1">
            <a:off x="6134100" y="1706563"/>
            <a:ext cx="0" cy="285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73" name="Text Box 17"/>
          <p:cNvSpPr txBox="1">
            <a:spLocks noChangeArrowheads="1"/>
          </p:cNvSpPr>
          <p:nvPr/>
        </p:nvSpPr>
        <p:spPr bwMode="auto">
          <a:xfrm>
            <a:off x="6911975" y="1285875"/>
            <a:ext cx="342900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57374" name="Rectangle 18"/>
          <p:cNvSpPr>
            <a:spLocks noChangeArrowheads="1"/>
          </p:cNvSpPr>
          <p:nvPr/>
        </p:nvSpPr>
        <p:spPr bwMode="auto">
          <a:xfrm>
            <a:off x="7183438" y="2857500"/>
            <a:ext cx="1619250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75" name="Line 19"/>
          <p:cNvSpPr>
            <a:spLocks noChangeShapeType="1"/>
          </p:cNvSpPr>
          <p:nvPr/>
        </p:nvSpPr>
        <p:spPr bwMode="auto">
          <a:xfrm flipV="1">
            <a:off x="7991475" y="2482850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76" name="Rectangle 20"/>
          <p:cNvSpPr>
            <a:spLocks noChangeArrowheads="1"/>
          </p:cNvSpPr>
          <p:nvPr/>
        </p:nvSpPr>
        <p:spPr bwMode="auto">
          <a:xfrm>
            <a:off x="7445375" y="2000250"/>
            <a:ext cx="1171575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77" name="Rectangle 21"/>
          <p:cNvSpPr>
            <a:spLocks noChangeArrowheads="1"/>
          </p:cNvSpPr>
          <p:nvPr/>
        </p:nvSpPr>
        <p:spPr bwMode="auto">
          <a:xfrm>
            <a:off x="7559675" y="1285875"/>
            <a:ext cx="938213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78" name="Line 22"/>
          <p:cNvSpPr>
            <a:spLocks noChangeShapeType="1"/>
          </p:cNvSpPr>
          <p:nvPr/>
        </p:nvSpPr>
        <p:spPr bwMode="auto">
          <a:xfrm flipV="1">
            <a:off x="7991475" y="161925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79" name="Rectangle 23"/>
          <p:cNvSpPr>
            <a:spLocks noChangeArrowheads="1"/>
          </p:cNvSpPr>
          <p:nvPr/>
        </p:nvSpPr>
        <p:spPr bwMode="auto">
          <a:xfrm>
            <a:off x="6445250" y="539750"/>
            <a:ext cx="1339850" cy="377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=19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7380" name="Line 24"/>
          <p:cNvSpPr>
            <a:spLocks noChangeShapeType="1"/>
          </p:cNvSpPr>
          <p:nvPr/>
        </p:nvSpPr>
        <p:spPr bwMode="auto">
          <a:xfrm flipH="1">
            <a:off x="6102350" y="969963"/>
            <a:ext cx="86360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81" name="Line 25"/>
          <p:cNvSpPr>
            <a:spLocks noChangeShapeType="1"/>
          </p:cNvSpPr>
          <p:nvPr/>
        </p:nvSpPr>
        <p:spPr bwMode="auto">
          <a:xfrm>
            <a:off x="7019925" y="969963"/>
            <a:ext cx="0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82" name="Line 26"/>
          <p:cNvSpPr>
            <a:spLocks noChangeShapeType="1"/>
          </p:cNvSpPr>
          <p:nvPr/>
        </p:nvSpPr>
        <p:spPr bwMode="auto">
          <a:xfrm>
            <a:off x="7019925" y="969963"/>
            <a:ext cx="987425" cy="284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83" name="Rectangle 27"/>
          <p:cNvSpPr>
            <a:spLocks noChangeArrowheads="1"/>
          </p:cNvSpPr>
          <p:nvPr/>
        </p:nvSpPr>
        <p:spPr bwMode="auto">
          <a:xfrm>
            <a:off x="7016750" y="-71438"/>
            <a:ext cx="12573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endParaRPr kumimoji="1" lang="en-US" altLang="zh-CN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84" name="Line 28"/>
          <p:cNvSpPr>
            <a:spLocks noChangeShapeType="1"/>
          </p:cNvSpPr>
          <p:nvPr/>
        </p:nvSpPr>
        <p:spPr bwMode="auto">
          <a:xfrm flipH="1" flipV="1">
            <a:off x="7615238" y="322263"/>
            <a:ext cx="43180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57385" name="Text Box 29"/>
          <p:cNvSpPr txBox="1">
            <a:spLocks noChangeArrowheads="1"/>
          </p:cNvSpPr>
          <p:nvPr/>
        </p:nvSpPr>
        <p:spPr bwMode="auto">
          <a:xfrm>
            <a:off x="8101013" y="538163"/>
            <a:ext cx="342900" cy="3794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57386" name="Line 30"/>
          <p:cNvSpPr>
            <a:spLocks noChangeShapeType="1"/>
          </p:cNvSpPr>
          <p:nvPr/>
        </p:nvSpPr>
        <p:spPr bwMode="auto">
          <a:xfrm flipH="1">
            <a:off x="7291388" y="322263"/>
            <a:ext cx="323850" cy="161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7500" tIns="35100" rIns="67500" bIns="35100" anchor="ctr">
            <a:spAutoFit/>
          </a:bodyPr>
          <a:lstStyle/>
          <a:p>
            <a:endParaRPr lang="zh-CN" altLang="en-US"/>
          </a:p>
        </p:txBody>
      </p:sp>
      <p:sp>
        <p:nvSpPr>
          <p:cNvPr id="405535" name="Line 31"/>
          <p:cNvSpPr>
            <a:spLocks noChangeShapeType="1"/>
          </p:cNvSpPr>
          <p:nvPr/>
        </p:nvSpPr>
        <p:spPr bwMode="auto">
          <a:xfrm flipV="1">
            <a:off x="5626100" y="4103688"/>
            <a:ext cx="0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36" name="Line 32"/>
          <p:cNvSpPr>
            <a:spLocks noChangeShapeType="1"/>
          </p:cNvSpPr>
          <p:nvPr/>
        </p:nvSpPr>
        <p:spPr bwMode="auto">
          <a:xfrm flipV="1">
            <a:off x="5626100" y="3294063"/>
            <a:ext cx="0" cy="3429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37" name="Line 33"/>
          <p:cNvSpPr>
            <a:spLocks noChangeShapeType="1"/>
          </p:cNvSpPr>
          <p:nvPr/>
        </p:nvSpPr>
        <p:spPr bwMode="auto">
          <a:xfrm flipV="1">
            <a:off x="6910388" y="3294063"/>
            <a:ext cx="0" cy="3429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38" name="Line 34"/>
          <p:cNvSpPr>
            <a:spLocks noChangeShapeType="1"/>
          </p:cNvSpPr>
          <p:nvPr/>
        </p:nvSpPr>
        <p:spPr bwMode="auto">
          <a:xfrm flipV="1">
            <a:off x="5230813" y="2493963"/>
            <a:ext cx="628650" cy="363537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39" name="Line 35"/>
          <p:cNvSpPr>
            <a:spLocks noChangeShapeType="1"/>
          </p:cNvSpPr>
          <p:nvPr/>
        </p:nvSpPr>
        <p:spPr bwMode="auto">
          <a:xfrm flipH="1" flipV="1">
            <a:off x="6264275" y="2482850"/>
            <a:ext cx="593725" cy="325438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40" name="Line 36"/>
          <p:cNvSpPr>
            <a:spLocks noChangeShapeType="1"/>
          </p:cNvSpPr>
          <p:nvPr/>
        </p:nvSpPr>
        <p:spPr bwMode="auto">
          <a:xfrm flipV="1">
            <a:off x="6246813" y="1706563"/>
            <a:ext cx="0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41" name="Line 37"/>
          <p:cNvSpPr>
            <a:spLocks noChangeShapeType="1"/>
          </p:cNvSpPr>
          <p:nvPr/>
        </p:nvSpPr>
        <p:spPr bwMode="auto">
          <a:xfrm flipV="1">
            <a:off x="8101013" y="2536825"/>
            <a:ext cx="0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42" name="Line 38"/>
          <p:cNvSpPr>
            <a:spLocks noChangeShapeType="1"/>
          </p:cNvSpPr>
          <p:nvPr/>
        </p:nvSpPr>
        <p:spPr bwMode="auto">
          <a:xfrm flipV="1">
            <a:off x="8101013" y="1673225"/>
            <a:ext cx="0" cy="3429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43" name="Line 39"/>
          <p:cNvSpPr>
            <a:spLocks noChangeShapeType="1"/>
          </p:cNvSpPr>
          <p:nvPr/>
        </p:nvSpPr>
        <p:spPr bwMode="auto">
          <a:xfrm flipV="1">
            <a:off x="5994400" y="969963"/>
            <a:ext cx="701675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44" name="Line 40"/>
          <p:cNvSpPr>
            <a:spLocks noChangeShapeType="1"/>
          </p:cNvSpPr>
          <p:nvPr/>
        </p:nvSpPr>
        <p:spPr bwMode="auto">
          <a:xfrm flipH="1" flipV="1">
            <a:off x="7291388" y="917575"/>
            <a:ext cx="865187" cy="274638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405545" name="Line 41"/>
          <p:cNvSpPr>
            <a:spLocks noChangeShapeType="1"/>
          </p:cNvSpPr>
          <p:nvPr/>
        </p:nvSpPr>
        <p:spPr bwMode="auto">
          <a:xfrm flipV="1">
            <a:off x="6965950" y="268288"/>
            <a:ext cx="433388" cy="1778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57398" name="Rectangle 16"/>
          <p:cNvSpPr>
            <a:spLocks noChangeArrowheads="1"/>
          </p:cNvSpPr>
          <p:nvPr/>
        </p:nvSpPr>
        <p:spPr bwMode="auto">
          <a:xfrm>
            <a:off x="5445125" y="1285875"/>
            <a:ext cx="131127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000" i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1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=15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05551" name="AutoShape 47"/>
          <p:cNvSpPr>
            <a:spLocks noChangeArrowheads="1"/>
          </p:cNvSpPr>
          <p:nvPr/>
        </p:nvSpPr>
        <p:spPr bwMode="auto">
          <a:xfrm>
            <a:off x="6794500" y="4032250"/>
            <a:ext cx="2206625" cy="1039813"/>
          </a:xfrm>
          <a:prstGeom prst="wedgeRoundRectCallout">
            <a:avLst>
              <a:gd name="adj1" fmla="val 10812"/>
              <a:gd name="adj2" fmla="val -7155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注释分析树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14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1400" i="1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Annotated parse tree</a:t>
            </a:r>
            <a:r>
              <a:rPr lang="en-US" altLang="zh-CN" sz="14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) </a:t>
            </a:r>
            <a:r>
              <a:rPr lang="zh-CN" altLang="en-US" sz="1400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：</a:t>
            </a:r>
            <a:endParaRPr lang="en-US" altLang="zh-CN" sz="1400" dirty="0">
              <a:solidFill>
                <a:schemeClr val="bg1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每个节点都带有属性值的分析树</a:t>
            </a:r>
          </a:p>
        </p:txBody>
      </p:sp>
      <p:grpSp>
        <p:nvGrpSpPr>
          <p:cNvPr id="3895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0" name="五边形 4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8965" name="五边形 50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23850" y="4040188"/>
            <a:ext cx="45720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00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kumimoji="1" lang="zh-CN" altLang="en-US" sz="200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3*5+4n</a:t>
            </a:r>
            <a:endParaRPr kumimoji="1" lang="en-US" altLang="zh-CN" sz="20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8958" name="组合 6"/>
          <p:cNvGrpSpPr>
            <a:grpSpLocks/>
          </p:cNvGrpSpPr>
          <p:nvPr/>
        </p:nvGrpSpPr>
        <p:grpSpPr bwMode="auto">
          <a:xfrm>
            <a:off x="377825" y="1419225"/>
            <a:ext cx="4484688" cy="2554288"/>
            <a:chOff x="146153" y="1542256"/>
            <a:chExt cx="4485280" cy="2554545"/>
          </a:xfrm>
        </p:grpSpPr>
        <p:sp>
          <p:nvSpPr>
            <p:cNvPr id="52" name="矩形 51"/>
            <p:cNvSpPr/>
            <p:nvPr/>
          </p:nvSpPr>
          <p:spPr bwMode="auto">
            <a:xfrm>
              <a:off x="146153" y="1542256"/>
              <a:ext cx="4485280" cy="25545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zh-CN" altLang="en-US" sz="20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产生式</a:t>
              </a:r>
              <a:r>
                <a:rPr lang="en-US" altLang="zh-CN" sz="20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lang="zh-CN" altLang="en-US" sz="20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eaLnBrk="1" hangingPunct="1">
                <a:defRPr/>
              </a:pP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print(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eaLnBrk="1" hangingPunct="1">
                <a:defRPr/>
              </a:pP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	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val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	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1"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179495" y="1856613"/>
              <a:ext cx="4451938" cy="206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 bwMode="auto">
            <a:xfrm>
              <a:off x="1979958" y="1542256"/>
              <a:ext cx="0" cy="2554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AutoShape 48"/>
          <p:cNvSpPr>
            <a:spLocks/>
          </p:cNvSpPr>
          <p:nvPr/>
        </p:nvSpPr>
        <p:spPr bwMode="auto">
          <a:xfrm>
            <a:off x="3348038" y="987425"/>
            <a:ext cx="1958975" cy="322263"/>
          </a:xfrm>
          <a:prstGeom prst="borderCallout1">
            <a:avLst>
              <a:gd name="adj1" fmla="val 111067"/>
              <a:gd name="adj2" fmla="val 48467"/>
              <a:gd name="adj3" fmla="val 296966"/>
              <a:gd name="adj4" fmla="val 11950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副作用</a:t>
            </a:r>
            <a:r>
              <a:rPr lang="en-US" altLang="zh-CN" sz="16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1600" i="1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Side effect</a:t>
            </a:r>
            <a:r>
              <a:rPr lang="en-US" altLang="zh-CN" sz="1600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endParaRPr lang="zh-CN" altLang="en-US" sz="1600" i="1" dirty="0">
              <a:solidFill>
                <a:schemeClr val="bg1"/>
              </a:solidFill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8960" name="Text Box 45"/>
          <p:cNvSpPr txBox="1">
            <a:spLocks noChangeArrowheads="1"/>
          </p:cNvSpPr>
          <p:nvPr/>
        </p:nvSpPr>
        <p:spPr bwMode="auto">
          <a:xfrm>
            <a:off x="338138" y="987425"/>
            <a:ext cx="126841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000" i="1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kumimoji="1" lang="zh-CN" altLang="en-US" sz="200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7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7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7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7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7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7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7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7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7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7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7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7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7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7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7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7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7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7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7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7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7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7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7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7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7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7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7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7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7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7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7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7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7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7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0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0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0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0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0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0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9" grpId="0" animBg="1"/>
      <p:bldP spid="57360" grpId="0" animBg="1"/>
      <p:bldP spid="57361" grpId="0" animBg="1"/>
      <p:bldP spid="57362" grpId="0" animBg="1"/>
      <p:bldP spid="57363" grpId="0" animBg="1"/>
      <p:bldP spid="57364" grpId="0" animBg="1"/>
      <p:bldP spid="57365" grpId="0" animBg="1"/>
      <p:bldP spid="57366" grpId="0" animBg="1"/>
      <p:bldP spid="57367" grpId="0" animBg="1"/>
      <p:bldP spid="57368" grpId="0" animBg="1"/>
      <p:bldP spid="57369" grpId="0" animBg="1"/>
      <p:bldP spid="57370" grpId="0" animBg="1"/>
      <p:bldP spid="57371" grpId="0" animBg="1"/>
      <p:bldP spid="57372" grpId="0" animBg="1"/>
      <p:bldP spid="57373" grpId="0" animBg="1"/>
      <p:bldP spid="57374" grpId="0" animBg="1"/>
      <p:bldP spid="57375" grpId="0" animBg="1"/>
      <p:bldP spid="57376" grpId="0" animBg="1"/>
      <p:bldP spid="57377" grpId="0" animBg="1"/>
      <p:bldP spid="57378" grpId="0" animBg="1"/>
      <p:bldP spid="57379" grpId="0" animBg="1"/>
      <p:bldP spid="57380" grpId="0" animBg="1"/>
      <p:bldP spid="57381" grpId="0" animBg="1"/>
      <p:bldP spid="57382" grpId="0" animBg="1"/>
      <p:bldP spid="57383" grpId="0"/>
      <p:bldP spid="57384" grpId="0" animBg="1"/>
      <p:bldP spid="57385" grpId="0" animBg="1"/>
      <p:bldP spid="57386" grpId="0" animBg="1"/>
      <p:bldP spid="57398" grpId="0"/>
      <p:bldP spid="405551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带有继承属性</a:t>
            </a:r>
            <a:r>
              <a:rPr lang="en-US" altLang="zh-CN" sz="3000" i="1" dirty="0" err="1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L.in</a:t>
            </a: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SDD </a:t>
            </a:r>
            <a:endParaRPr lang="zh-CN" altLang="en-US" sz="3000" i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9403" name="Freeform 10"/>
          <p:cNvSpPr>
            <a:spLocks/>
          </p:cNvSpPr>
          <p:nvPr/>
        </p:nvSpPr>
        <p:spPr bwMode="auto">
          <a:xfrm rot="401358">
            <a:off x="6216650" y="1417638"/>
            <a:ext cx="788988" cy="276225"/>
          </a:xfrm>
          <a:custGeom>
            <a:avLst/>
            <a:gdLst>
              <a:gd name="T0" fmla="*/ 0 w 680"/>
              <a:gd name="T1" fmla="*/ 2147483646 h 190"/>
              <a:gd name="T2" fmla="*/ 2147483646 w 680"/>
              <a:gd name="T3" fmla="*/ 2147483646 h 190"/>
              <a:gd name="T4" fmla="*/ 2147483646 w 680"/>
              <a:gd name="T5" fmla="*/ 2147483646 h 190"/>
              <a:gd name="T6" fmla="*/ 0 60000 65536"/>
              <a:gd name="T7" fmla="*/ 0 60000 65536"/>
              <a:gd name="T8" fmla="*/ 0 60000 65536"/>
              <a:gd name="T9" fmla="*/ 0 w 680"/>
              <a:gd name="T10" fmla="*/ 0 h 190"/>
              <a:gd name="T11" fmla="*/ 680 w 680"/>
              <a:gd name="T12" fmla="*/ 190 h 1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0" h="190">
                <a:moveTo>
                  <a:pt x="0" y="190"/>
                </a:moveTo>
                <a:cubicBezTo>
                  <a:pt x="102" y="103"/>
                  <a:pt x="204" y="16"/>
                  <a:pt x="317" y="8"/>
                </a:cubicBezTo>
                <a:cubicBezTo>
                  <a:pt x="430" y="0"/>
                  <a:pt x="620" y="121"/>
                  <a:pt x="680" y="144"/>
                </a:cubicBezTo>
              </a:path>
            </a:pathLst>
          </a:custGeom>
          <a:noFill/>
          <a:ln w="38100">
            <a:solidFill>
              <a:schemeClr val="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9404" name="Line 11"/>
          <p:cNvSpPr>
            <a:spLocks noChangeShapeType="1"/>
          </p:cNvSpPr>
          <p:nvPr/>
        </p:nvSpPr>
        <p:spPr bwMode="auto">
          <a:xfrm flipH="1">
            <a:off x="6561138" y="2032000"/>
            <a:ext cx="571500" cy="357188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9405" name="Line 12"/>
          <p:cNvSpPr>
            <a:spLocks noChangeShapeType="1"/>
          </p:cNvSpPr>
          <p:nvPr/>
        </p:nvSpPr>
        <p:spPr bwMode="auto">
          <a:xfrm flipH="1">
            <a:off x="5632450" y="2674938"/>
            <a:ext cx="539750" cy="323850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000625" y="1000125"/>
            <a:ext cx="4000500" cy="3132138"/>
            <a:chOff x="5000625" y="1000125"/>
            <a:chExt cx="4000500" cy="3132138"/>
          </a:xfrm>
        </p:grpSpPr>
        <p:sp>
          <p:nvSpPr>
            <p:cNvPr id="40974" name="矩形 1"/>
            <p:cNvSpPr>
              <a:spLocks noChangeArrowheads="1"/>
            </p:cNvSpPr>
            <p:nvPr/>
          </p:nvSpPr>
          <p:spPr bwMode="auto">
            <a:xfrm>
              <a:off x="5072063" y="3786035"/>
              <a:ext cx="1300668" cy="346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lang="en-US" altLang="zh-CN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lexeme=a</a:t>
              </a:r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75" name="矩形 12"/>
            <p:cNvSpPr>
              <a:spLocks noChangeArrowheads="1"/>
            </p:cNvSpPr>
            <p:nvPr/>
          </p:nvSpPr>
          <p:spPr bwMode="auto">
            <a:xfrm>
              <a:off x="6715125" y="3071699"/>
              <a:ext cx="1300668" cy="346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lang="en-US" altLang="zh-CN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lexeme=b</a:t>
              </a:r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76" name="矩形 13"/>
            <p:cNvSpPr>
              <a:spLocks noChangeArrowheads="1"/>
            </p:cNvSpPr>
            <p:nvPr/>
          </p:nvSpPr>
          <p:spPr bwMode="auto">
            <a:xfrm>
              <a:off x="7713281" y="2357363"/>
              <a:ext cx="1287844" cy="346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lang="en-US" altLang="zh-CN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lexeme=c</a:t>
              </a:r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0977" name="矩形 16"/>
            <p:cNvSpPr>
              <a:spLocks noChangeArrowheads="1"/>
            </p:cNvSpPr>
            <p:nvPr/>
          </p:nvSpPr>
          <p:spPr bwMode="auto">
            <a:xfrm>
              <a:off x="6462117" y="1000125"/>
              <a:ext cx="324446" cy="377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0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78" name="Line 7"/>
            <p:cNvSpPr>
              <a:spLocks noChangeShapeType="1"/>
            </p:cNvSpPr>
            <p:nvPr/>
          </p:nvSpPr>
          <p:spPr bwMode="auto">
            <a:xfrm flipV="1">
              <a:off x="6000750" y="1305693"/>
              <a:ext cx="428624" cy="2857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79" name="Line 7"/>
            <p:cNvSpPr>
              <a:spLocks noChangeShapeType="1"/>
            </p:cNvSpPr>
            <p:nvPr/>
          </p:nvSpPr>
          <p:spPr bwMode="auto">
            <a:xfrm flipH="1" flipV="1">
              <a:off x="6786562" y="1305694"/>
              <a:ext cx="500063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0" name="矩形 19"/>
            <p:cNvSpPr>
              <a:spLocks noChangeArrowheads="1"/>
            </p:cNvSpPr>
            <p:nvPr/>
          </p:nvSpPr>
          <p:spPr bwMode="auto">
            <a:xfrm>
              <a:off x="6858000" y="1591429"/>
              <a:ext cx="1273426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inh=real</a:t>
              </a:r>
              <a:endParaRPr lang="zh-CN" altLang="en-US" sz="2000"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0981" name="矩形 20"/>
            <p:cNvSpPr>
              <a:spLocks noChangeArrowheads="1"/>
            </p:cNvSpPr>
            <p:nvPr/>
          </p:nvSpPr>
          <p:spPr bwMode="auto">
            <a:xfrm>
              <a:off x="5000625" y="1591429"/>
              <a:ext cx="1339332" cy="377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type=real</a:t>
              </a:r>
              <a:endParaRPr lang="zh-CN" altLang="en-US" sz="2000"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0982" name="Line 7"/>
            <p:cNvSpPr>
              <a:spLocks noChangeShapeType="1"/>
            </p:cNvSpPr>
            <p:nvPr/>
          </p:nvSpPr>
          <p:spPr bwMode="auto">
            <a:xfrm flipV="1">
              <a:off x="5572125" y="2000195"/>
              <a:ext cx="0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3" name="矩形 22"/>
            <p:cNvSpPr>
              <a:spLocks noChangeArrowheads="1"/>
            </p:cNvSpPr>
            <p:nvPr/>
          </p:nvSpPr>
          <p:spPr bwMode="auto">
            <a:xfrm>
              <a:off x="5307407" y="2285929"/>
              <a:ext cx="560282" cy="377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real</a:t>
              </a:r>
              <a:endParaRPr lang="zh-CN" altLang="en-US" sz="200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0984" name="Line 7"/>
            <p:cNvSpPr>
              <a:spLocks noChangeShapeType="1"/>
            </p:cNvSpPr>
            <p:nvPr/>
          </p:nvSpPr>
          <p:spPr bwMode="auto">
            <a:xfrm flipV="1">
              <a:off x="7572375" y="2000195"/>
              <a:ext cx="0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5" name="Line 7"/>
            <p:cNvSpPr>
              <a:spLocks noChangeShapeType="1"/>
            </p:cNvSpPr>
            <p:nvPr/>
          </p:nvSpPr>
          <p:spPr bwMode="auto">
            <a:xfrm flipH="1" flipV="1">
              <a:off x="7572375" y="2000195"/>
              <a:ext cx="642938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6" name="Line 7"/>
            <p:cNvSpPr>
              <a:spLocks noChangeShapeType="1"/>
            </p:cNvSpPr>
            <p:nvPr/>
          </p:nvSpPr>
          <p:spPr bwMode="auto">
            <a:xfrm flipV="1">
              <a:off x="6929438" y="2000195"/>
              <a:ext cx="642938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7" name="矩形 26"/>
            <p:cNvSpPr>
              <a:spLocks noChangeArrowheads="1"/>
            </p:cNvSpPr>
            <p:nvPr/>
          </p:nvSpPr>
          <p:spPr bwMode="auto">
            <a:xfrm>
              <a:off x="6143625" y="2337529"/>
              <a:ext cx="1658146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inh=real     </a:t>
              </a:r>
              <a:r>
                <a:rPr kumimoji="1"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,</a:t>
              </a:r>
              <a:endParaRPr lang="zh-CN" altLang="en-US" sz="200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0988" name="Line 7"/>
            <p:cNvSpPr>
              <a:spLocks noChangeShapeType="1"/>
            </p:cNvSpPr>
            <p:nvPr/>
          </p:nvSpPr>
          <p:spPr bwMode="auto">
            <a:xfrm flipV="1">
              <a:off x="6500813" y="2714531"/>
              <a:ext cx="0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9" name="Line 7"/>
            <p:cNvSpPr>
              <a:spLocks noChangeShapeType="1"/>
            </p:cNvSpPr>
            <p:nvPr/>
          </p:nvSpPr>
          <p:spPr bwMode="auto">
            <a:xfrm flipH="1" flipV="1">
              <a:off x="6500813" y="2714531"/>
              <a:ext cx="642938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0" name="Line 7"/>
            <p:cNvSpPr>
              <a:spLocks noChangeShapeType="1"/>
            </p:cNvSpPr>
            <p:nvPr/>
          </p:nvSpPr>
          <p:spPr bwMode="auto">
            <a:xfrm flipV="1">
              <a:off x="5857875" y="2714531"/>
              <a:ext cx="642938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91" name="矩形 33"/>
            <p:cNvSpPr>
              <a:spLocks noChangeArrowheads="1"/>
            </p:cNvSpPr>
            <p:nvPr/>
          </p:nvSpPr>
          <p:spPr bwMode="auto">
            <a:xfrm>
              <a:off x="5072063" y="3051864"/>
              <a:ext cx="1658146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inh=real     ,</a:t>
              </a:r>
              <a:endParaRPr lang="zh-CN" altLang="en-US" sz="2000"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0992" name="Line 7"/>
            <p:cNvSpPr>
              <a:spLocks noChangeShapeType="1"/>
            </p:cNvSpPr>
            <p:nvPr/>
          </p:nvSpPr>
          <p:spPr bwMode="auto">
            <a:xfrm flipV="1">
              <a:off x="5572125" y="3428867"/>
              <a:ext cx="0" cy="357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0967" name="Text Box 45"/>
          <p:cNvSpPr txBox="1">
            <a:spLocks noChangeArrowheads="1"/>
          </p:cNvSpPr>
          <p:nvPr/>
        </p:nvSpPr>
        <p:spPr bwMode="auto">
          <a:xfrm>
            <a:off x="338138" y="987425"/>
            <a:ext cx="126841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000" i="1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kumimoji="1" lang="zh-CN" altLang="en-US" sz="200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40968" name="组合 2"/>
          <p:cNvGrpSpPr>
            <a:grpSpLocks/>
          </p:cNvGrpSpPr>
          <p:nvPr/>
        </p:nvGrpSpPr>
        <p:grpSpPr bwMode="auto">
          <a:xfrm>
            <a:off x="407988" y="1470025"/>
            <a:ext cx="4573587" cy="2524125"/>
            <a:chOff x="285750" y="1211262"/>
            <a:chExt cx="4598988" cy="2524892"/>
          </a:xfrm>
        </p:grpSpPr>
        <p:sp>
          <p:nvSpPr>
            <p:cNvPr id="57346" name="Rectangle 6"/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248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lnSpc>
                  <a:spcPts val="1700"/>
                </a:lnSpc>
                <a:spcBef>
                  <a:spcPct val="50000"/>
                </a:spcBef>
                <a:defRPr/>
              </a:pPr>
              <a:r>
                <a:rPr kumimoji="1" lang="en-US" altLang="zh-CN" sz="1200" b="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   </a:t>
              </a:r>
              <a:r>
                <a:rPr kumimoji="1" lang="zh-CN" altLang="en-US" sz="2000" dirty="0"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      语义规则</a:t>
              </a:r>
            </a:p>
            <a:p>
              <a:pPr eaLnBrk="1" hangingPunct="1">
                <a:lnSpc>
                  <a:spcPts val="1700"/>
                </a:lnSpc>
                <a:spcBef>
                  <a:spcPct val="50000"/>
                </a:spcBef>
                <a:defRPr/>
              </a:pP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(1)</a:t>
              </a:r>
              <a:r>
                <a:rPr kumimoji="1" lang="zh-CN" altLang="en-US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 L	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inh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</a:p>
            <a:p>
              <a:pPr eaLnBrk="1" hangingPunct="1">
                <a:lnSpc>
                  <a:spcPts val="1700"/>
                </a:lnSpc>
                <a:spcBef>
                  <a:spcPct val="50000"/>
                </a:spcBef>
                <a:defRPr/>
              </a:pP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(2)  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int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	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int</a:t>
              </a:r>
              <a:endParaRPr kumimoji="1" lang="en-US" altLang="zh-CN" sz="2000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eaLnBrk="1" hangingPunct="1">
                <a:lnSpc>
                  <a:spcPts val="1700"/>
                </a:lnSpc>
                <a:spcBef>
                  <a:spcPct val="50000"/>
                </a:spcBef>
                <a:defRPr/>
              </a:pP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(3)  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real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	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real</a:t>
              </a:r>
            </a:p>
            <a:p>
              <a:pPr eaLnBrk="1" hangingPunct="1">
                <a:lnSpc>
                  <a:spcPts val="1700"/>
                </a:lnSpc>
                <a:spcBef>
                  <a:spcPct val="50000"/>
                </a:spcBef>
                <a:defRPr/>
              </a:pP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(4)  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id   	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 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= 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</a:p>
            <a:p>
              <a:pPr eaLnBrk="1" hangingPunct="1">
                <a:lnSpc>
                  <a:spcPts val="1700"/>
                </a:lnSpc>
                <a:spcBef>
                  <a:spcPct val="50000"/>
                </a:spcBef>
                <a:defRPr/>
              </a:pP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	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000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  <a:p>
              <a:pPr eaLnBrk="1" hangingPunct="1">
                <a:lnSpc>
                  <a:spcPts val="1700"/>
                </a:lnSpc>
                <a:spcBef>
                  <a:spcPct val="50000"/>
                </a:spcBef>
                <a:defRPr/>
              </a:pP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(5)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</a:t>
              </a:r>
              <a:r>
                <a:rPr kumimoji="1" lang="en-US" altLang="zh-CN" sz="2000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 id       	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000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</p:txBody>
        </p:sp>
        <p:sp>
          <p:nvSpPr>
            <p:cNvPr id="40972" name="Line 7"/>
            <p:cNvSpPr>
              <a:spLocks noChangeShapeType="1"/>
            </p:cNvSpPr>
            <p:nvPr/>
          </p:nvSpPr>
          <p:spPr bwMode="auto">
            <a:xfrm>
              <a:off x="303213" y="1522413"/>
              <a:ext cx="45815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40973" name="直接连接符 4"/>
            <p:cNvCxnSpPr>
              <a:cxnSpLocks noChangeShapeType="1"/>
            </p:cNvCxnSpPr>
            <p:nvPr/>
          </p:nvCxnSpPr>
          <p:spPr bwMode="auto">
            <a:xfrm>
              <a:off x="2086261" y="1211262"/>
              <a:ext cx="0" cy="252489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323850" y="4040188"/>
            <a:ext cx="23780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00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kumimoji="1" lang="zh-CN" altLang="en-US" sz="200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real</a:t>
            </a:r>
            <a:r>
              <a:rPr kumimoji="1"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kumimoji="1"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b </a:t>
            </a:r>
            <a:r>
              <a:rPr kumimoji="1" lang="en-US" altLang="zh-CN" sz="2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c</a:t>
            </a:r>
            <a:endParaRPr kumimoji="1" lang="en-US" altLang="zh-CN" sz="2000" i="1" baseline="-250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830263" y="1501775"/>
            <a:ext cx="0" cy="250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3" grpId="0" animBg="1"/>
      <p:bldP spid="59404" grpId="0" animBg="1"/>
      <p:bldP spid="594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774700"/>
            <a:ext cx="7915275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一个没有副作用的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有时也称为</a:t>
            </a:r>
            <a:r>
              <a:rPr lang="zh-CN" altLang="en-US" sz="3000" b="1" dirty="0">
                <a:solidFill>
                  <a:srgbClr val="FF0000"/>
                </a:solidFill>
                <a:cs typeface="Times New Roman" panose="02020603050405020304" pitchFamily="18" charset="0"/>
              </a:rPr>
              <a:t>属性文法</a:t>
            </a:r>
            <a:endParaRPr lang="en-US" altLang="zh-CN" sz="3000" b="1" i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属性文法的规则仅仅通过其它属性值和常量来定义一个属性值</a:t>
            </a: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属性文法</a:t>
            </a:r>
            <a:r>
              <a:rPr lang="en-US" altLang="zh-CN" sz="3000" dirty="0">
                <a:solidFill>
                  <a:srgbClr val="0000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cs typeface="Times New Roman" panose="02020603050405020304" pitchFamily="18" charset="0"/>
              </a:rPr>
              <a:t>Attribute Grammar</a:t>
            </a:r>
            <a:r>
              <a:rPr lang="en-US" altLang="zh-CN" sz="25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2255838" y="2357438"/>
            <a:ext cx="4230687" cy="2338387"/>
            <a:chOff x="3359696" y="3284984"/>
            <a:chExt cx="3367010" cy="2339200"/>
          </a:xfrm>
        </p:grpSpPr>
        <p:sp>
          <p:nvSpPr>
            <p:cNvPr id="9" name="矩形 8"/>
            <p:cNvSpPr/>
            <p:nvPr/>
          </p:nvSpPr>
          <p:spPr>
            <a:xfrm>
              <a:off x="3359696" y="3284984"/>
              <a:ext cx="3367010" cy="2339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zh-CN" altLang="en-US" b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lang="en-US" altLang="zh-CN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    </a:t>
              </a:r>
              <a:r>
                <a:rPr lang="zh-CN" altLang="en-US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eaLnBrk="1" hangingPunct="1">
                <a:defRPr/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defRPr/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	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	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Fval</a:t>
              </a:r>
              <a:endPara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defRPr/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	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eaLnBrk="1" hangingPunct="1">
                <a:defRPr/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 	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lang="en-US" altLang="zh-CN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lang="en-US" altLang="zh-CN" i="1" dirty="0" err="1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359696" y="3599418"/>
              <a:ext cx="33518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744403" y="3284984"/>
              <a:ext cx="0" cy="2339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28625" y="774700"/>
            <a:ext cx="8343900" cy="3225800"/>
          </a:xfrm>
        </p:spPr>
        <p:txBody>
          <a:bodyPr/>
          <a:lstStyle/>
          <a:p>
            <a:pPr marL="273044" indent="-27304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CFG</a:t>
            </a: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中的文法符号设置</a:t>
            </a:r>
            <a:r>
              <a:rPr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语义属性</a:t>
            </a: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。对于给定的输入串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，应用</a:t>
            </a:r>
            <a:r>
              <a:rPr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语义规则</a:t>
            </a: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计算分析树中各结点对应的属性值</a:t>
            </a:r>
          </a:p>
          <a:p>
            <a:pPr marL="273044" indent="-27304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按照什么顺序计算属性值？</a:t>
            </a:r>
          </a:p>
          <a:p>
            <a:pPr marL="576256" lvl="1" indent="-27304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语义规则建立了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属性之间的依赖关系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，在对语法分析树节点的一个属性求值之前，必须首先求出这个属性值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所依赖的所有属性值</a:t>
            </a:r>
          </a:p>
        </p:txBody>
      </p:sp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3. SDD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的求值顺序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064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85813"/>
            <a:ext cx="8535988" cy="3946525"/>
          </a:xfrm>
        </p:spPr>
        <p:txBody>
          <a:bodyPr/>
          <a:lstStyle/>
          <a:p>
            <a:pPr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依赖图是一个描述了分析树中结点属性间依赖关系的有向图</a:t>
            </a:r>
          </a:p>
          <a:p>
            <a:pPr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分析树中每个标号为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的结点的每个属性</a:t>
            </a:r>
            <a:r>
              <a:rPr lang="en-US" altLang="zh-CN" sz="3000" b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都对应着依赖图中的一个结点</a:t>
            </a:r>
          </a:p>
          <a:p>
            <a:pPr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如果属性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X.a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的值依赖于属性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Y.b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的值，则依赖图中有一条从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Y.b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的结点指向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X.a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的结点的有向边</a:t>
            </a:r>
          </a:p>
          <a:p>
            <a:pPr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endParaRPr lang="en-US" altLang="zh-CN" sz="3000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依赖图</a:t>
            </a:r>
            <a:r>
              <a:rPr lang="en-US" altLang="zh-CN" sz="25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cs typeface="Times New Roman" panose="02020603050405020304" pitchFamily="18" charset="0"/>
              </a:rPr>
              <a:t>Dependency Graph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620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sz="3000" i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6" name="Rectangle 54"/>
          <p:cNvSpPr>
            <a:spLocks noChangeArrowheads="1"/>
          </p:cNvSpPr>
          <p:nvPr/>
        </p:nvSpPr>
        <p:spPr bwMode="auto">
          <a:xfrm>
            <a:off x="5446713" y="1635125"/>
            <a:ext cx="593725" cy="377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type</a:t>
            </a:r>
          </a:p>
        </p:txBody>
      </p:sp>
      <p:sp>
        <p:nvSpPr>
          <p:cNvPr id="97" name="Rectangle 55"/>
          <p:cNvSpPr>
            <a:spLocks noChangeArrowheads="1"/>
          </p:cNvSpPr>
          <p:nvPr/>
        </p:nvSpPr>
        <p:spPr bwMode="auto">
          <a:xfrm>
            <a:off x="6643688" y="1612900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98" name="Rectangle 56"/>
          <p:cNvSpPr>
            <a:spLocks noChangeArrowheads="1"/>
          </p:cNvSpPr>
          <p:nvPr/>
        </p:nvSpPr>
        <p:spPr bwMode="auto">
          <a:xfrm>
            <a:off x="5788025" y="2286000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99" name="Rectangle 57"/>
          <p:cNvSpPr>
            <a:spLocks noChangeArrowheads="1"/>
          </p:cNvSpPr>
          <p:nvPr/>
        </p:nvSpPr>
        <p:spPr bwMode="auto">
          <a:xfrm>
            <a:off x="5000625" y="3049588"/>
            <a:ext cx="377825" cy="3794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100" name="Freeform 60"/>
          <p:cNvSpPr>
            <a:spLocks/>
          </p:cNvSpPr>
          <p:nvPr/>
        </p:nvSpPr>
        <p:spPr bwMode="auto">
          <a:xfrm>
            <a:off x="5680075" y="1558925"/>
            <a:ext cx="1133475" cy="106363"/>
          </a:xfrm>
          <a:custGeom>
            <a:avLst/>
            <a:gdLst>
              <a:gd name="T0" fmla="*/ 0 w 453"/>
              <a:gd name="T1" fmla="*/ 2147483646 h 136"/>
              <a:gd name="T2" fmla="*/ 2147483646 w 453"/>
              <a:gd name="T3" fmla="*/ 0 h 136"/>
              <a:gd name="T4" fmla="*/ 2147483646 w 453"/>
              <a:gd name="T5" fmla="*/ 2147483646 h 136"/>
              <a:gd name="T6" fmla="*/ 0 60000 65536"/>
              <a:gd name="T7" fmla="*/ 0 60000 65536"/>
              <a:gd name="T8" fmla="*/ 0 60000 65536"/>
              <a:gd name="T9" fmla="*/ 0 w 453"/>
              <a:gd name="T10" fmla="*/ 0 h 136"/>
              <a:gd name="T11" fmla="*/ 453 w 453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36">
                <a:moveTo>
                  <a:pt x="0" y="136"/>
                </a:moveTo>
                <a:cubicBezTo>
                  <a:pt x="53" y="68"/>
                  <a:pt x="106" y="0"/>
                  <a:pt x="181" y="0"/>
                </a:cubicBezTo>
                <a:cubicBezTo>
                  <a:pt x="256" y="0"/>
                  <a:pt x="354" y="68"/>
                  <a:pt x="453" y="136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Line 61"/>
          <p:cNvSpPr>
            <a:spLocks noChangeShapeType="1"/>
          </p:cNvSpPr>
          <p:nvPr/>
        </p:nvSpPr>
        <p:spPr bwMode="auto">
          <a:xfrm flipH="1">
            <a:off x="6040438" y="1963738"/>
            <a:ext cx="914400" cy="396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" name="Freeform 62"/>
          <p:cNvSpPr>
            <a:spLocks/>
          </p:cNvSpPr>
          <p:nvPr/>
        </p:nvSpPr>
        <p:spPr bwMode="auto">
          <a:xfrm>
            <a:off x="6989763" y="1884363"/>
            <a:ext cx="323850" cy="115887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Line 63"/>
          <p:cNvSpPr>
            <a:spLocks noChangeShapeType="1"/>
          </p:cNvSpPr>
          <p:nvPr/>
        </p:nvSpPr>
        <p:spPr bwMode="auto">
          <a:xfrm flipH="1" flipV="1">
            <a:off x="7358063" y="1938338"/>
            <a:ext cx="1003300" cy="4191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Rectangle 65"/>
          <p:cNvSpPr>
            <a:spLocks noChangeArrowheads="1"/>
          </p:cNvSpPr>
          <p:nvPr/>
        </p:nvSpPr>
        <p:spPr bwMode="auto">
          <a:xfrm>
            <a:off x="8072438" y="2335213"/>
            <a:ext cx="1000125" cy="3794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05" name="Line 66"/>
          <p:cNvSpPr>
            <a:spLocks noChangeShapeType="1"/>
          </p:cNvSpPr>
          <p:nvPr/>
        </p:nvSpPr>
        <p:spPr bwMode="auto">
          <a:xfrm flipH="1">
            <a:off x="5230813" y="2603500"/>
            <a:ext cx="830262" cy="414338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Rectangle 69"/>
          <p:cNvSpPr>
            <a:spLocks noChangeArrowheads="1"/>
          </p:cNvSpPr>
          <p:nvPr/>
        </p:nvSpPr>
        <p:spPr bwMode="auto">
          <a:xfrm>
            <a:off x="7194550" y="3068638"/>
            <a:ext cx="949325" cy="377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07" name="Line 67"/>
          <p:cNvSpPr>
            <a:spLocks noChangeShapeType="1"/>
          </p:cNvSpPr>
          <p:nvPr/>
        </p:nvSpPr>
        <p:spPr bwMode="auto">
          <a:xfrm flipH="1" flipV="1">
            <a:off x="6454775" y="2636838"/>
            <a:ext cx="955675" cy="4127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" name="Freeform 72"/>
          <p:cNvSpPr>
            <a:spLocks/>
          </p:cNvSpPr>
          <p:nvPr/>
        </p:nvSpPr>
        <p:spPr bwMode="auto">
          <a:xfrm>
            <a:off x="6057900" y="2586038"/>
            <a:ext cx="325438" cy="115887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" name="Freeform 82"/>
          <p:cNvSpPr>
            <a:spLocks/>
          </p:cNvSpPr>
          <p:nvPr/>
        </p:nvSpPr>
        <p:spPr bwMode="auto">
          <a:xfrm>
            <a:off x="5338763" y="3373438"/>
            <a:ext cx="325437" cy="115887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" name="Rectangle 83"/>
          <p:cNvSpPr>
            <a:spLocks noChangeArrowheads="1"/>
          </p:cNvSpPr>
          <p:nvPr/>
        </p:nvSpPr>
        <p:spPr bwMode="auto">
          <a:xfrm>
            <a:off x="5659438" y="3835400"/>
            <a:ext cx="912812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11" name="Line 84"/>
          <p:cNvSpPr>
            <a:spLocks noChangeShapeType="1"/>
          </p:cNvSpPr>
          <p:nvPr/>
        </p:nvSpPr>
        <p:spPr bwMode="auto">
          <a:xfrm flipV="1">
            <a:off x="5770563" y="3451225"/>
            <a:ext cx="0" cy="3238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" name="Line 42"/>
          <p:cNvSpPr>
            <a:spLocks noChangeShapeType="1"/>
          </p:cNvSpPr>
          <p:nvPr/>
        </p:nvSpPr>
        <p:spPr bwMode="auto">
          <a:xfrm flipV="1">
            <a:off x="5603875" y="1966913"/>
            <a:ext cx="0" cy="2476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3268" name="组合 74"/>
          <p:cNvGrpSpPr>
            <a:grpSpLocks/>
          </p:cNvGrpSpPr>
          <p:nvPr/>
        </p:nvGrpSpPr>
        <p:grpSpPr bwMode="auto">
          <a:xfrm>
            <a:off x="5072063" y="857250"/>
            <a:ext cx="3201987" cy="3357563"/>
            <a:chOff x="5072066" y="857238"/>
            <a:chExt cx="3201591" cy="3357586"/>
          </a:xfrm>
        </p:grpSpPr>
        <p:sp>
          <p:nvSpPr>
            <p:cNvPr id="53276" name="Text Box 16"/>
            <p:cNvSpPr txBox="1">
              <a:spLocks noChangeArrowheads="1"/>
            </p:cNvSpPr>
            <p:nvPr/>
          </p:nvSpPr>
          <p:spPr bwMode="auto">
            <a:xfrm>
              <a:off x="7029453" y="2352665"/>
              <a:ext cx="342900" cy="378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</a:p>
          </p:txBody>
        </p:sp>
        <p:sp>
          <p:nvSpPr>
            <p:cNvPr id="53277" name="Rectangle 20"/>
            <p:cNvSpPr>
              <a:spLocks noChangeArrowheads="1"/>
            </p:cNvSpPr>
            <p:nvPr/>
          </p:nvSpPr>
          <p:spPr bwMode="auto">
            <a:xfrm>
              <a:off x="7733113" y="2324090"/>
              <a:ext cx="540544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id</a:t>
              </a:r>
            </a:p>
          </p:txBody>
        </p:sp>
        <p:sp>
          <p:nvSpPr>
            <p:cNvPr id="53278" name="Rectangle 22"/>
            <p:cNvSpPr>
              <a:spLocks noChangeArrowheads="1"/>
            </p:cNvSpPr>
            <p:nvPr/>
          </p:nvSpPr>
          <p:spPr bwMode="auto">
            <a:xfrm>
              <a:off x="6921107" y="1621584"/>
              <a:ext cx="432197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53279" name="Line 24"/>
            <p:cNvSpPr>
              <a:spLocks noChangeShapeType="1"/>
            </p:cNvSpPr>
            <p:nvPr/>
          </p:nvSpPr>
          <p:spPr bwMode="auto">
            <a:xfrm>
              <a:off x="7153707" y="2013336"/>
              <a:ext cx="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0" name="Line 25"/>
            <p:cNvSpPr>
              <a:spLocks noChangeShapeType="1"/>
            </p:cNvSpPr>
            <p:nvPr/>
          </p:nvSpPr>
          <p:spPr bwMode="auto">
            <a:xfrm>
              <a:off x="7137801" y="2013336"/>
              <a:ext cx="827484" cy="310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1" name="Rectangle 26"/>
            <p:cNvSpPr>
              <a:spLocks noChangeArrowheads="1"/>
            </p:cNvSpPr>
            <p:nvPr/>
          </p:nvSpPr>
          <p:spPr bwMode="auto">
            <a:xfrm>
              <a:off x="6000760" y="857238"/>
              <a:ext cx="432197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3282" name="Text Box 28"/>
            <p:cNvSpPr txBox="1">
              <a:spLocks noChangeArrowheads="1"/>
            </p:cNvSpPr>
            <p:nvPr/>
          </p:nvSpPr>
          <p:spPr bwMode="auto">
            <a:xfrm>
              <a:off x="5193510" y="1621621"/>
              <a:ext cx="342900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53283" name="Line 29"/>
            <p:cNvSpPr>
              <a:spLocks noChangeShapeType="1"/>
            </p:cNvSpPr>
            <p:nvPr/>
          </p:nvSpPr>
          <p:spPr bwMode="auto">
            <a:xfrm flipH="1">
              <a:off x="5301856" y="1214428"/>
              <a:ext cx="913218" cy="4345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4" name="Rectangle 43"/>
            <p:cNvSpPr>
              <a:spLocks noChangeArrowheads="1"/>
            </p:cNvSpPr>
            <p:nvPr/>
          </p:nvSpPr>
          <p:spPr bwMode="auto">
            <a:xfrm>
              <a:off x="6004326" y="2285998"/>
              <a:ext cx="540544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53285" name="Text Box 46"/>
            <p:cNvSpPr txBox="1">
              <a:spLocks noChangeArrowheads="1"/>
            </p:cNvSpPr>
            <p:nvPr/>
          </p:nvSpPr>
          <p:spPr bwMode="auto">
            <a:xfrm>
              <a:off x="6111482" y="3055133"/>
              <a:ext cx="342900" cy="378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</a:p>
          </p:txBody>
        </p:sp>
        <p:sp>
          <p:nvSpPr>
            <p:cNvPr id="53286" name="Rectangle 47"/>
            <p:cNvSpPr>
              <a:spLocks noChangeArrowheads="1"/>
            </p:cNvSpPr>
            <p:nvPr/>
          </p:nvSpPr>
          <p:spPr bwMode="auto">
            <a:xfrm>
              <a:off x="6816332" y="3051561"/>
              <a:ext cx="540544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id</a:t>
              </a:r>
            </a:p>
          </p:txBody>
        </p:sp>
        <p:sp>
          <p:nvSpPr>
            <p:cNvPr id="53287" name="Line 49"/>
            <p:cNvSpPr>
              <a:spLocks noChangeShapeType="1"/>
            </p:cNvSpPr>
            <p:nvPr/>
          </p:nvSpPr>
          <p:spPr bwMode="auto">
            <a:xfrm>
              <a:off x="6219828" y="2689611"/>
              <a:ext cx="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8" name="Line 50"/>
            <p:cNvSpPr>
              <a:spLocks noChangeShapeType="1"/>
            </p:cNvSpPr>
            <p:nvPr/>
          </p:nvSpPr>
          <p:spPr bwMode="auto">
            <a:xfrm>
              <a:off x="6219828" y="2689611"/>
              <a:ext cx="809625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9" name="Rectangle 51"/>
            <p:cNvSpPr>
              <a:spLocks noChangeArrowheads="1"/>
            </p:cNvSpPr>
            <p:nvPr/>
          </p:nvSpPr>
          <p:spPr bwMode="auto">
            <a:xfrm>
              <a:off x="5230420" y="3057515"/>
              <a:ext cx="540544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53290" name="Text Box 52"/>
            <p:cNvSpPr txBox="1">
              <a:spLocks noChangeArrowheads="1"/>
            </p:cNvSpPr>
            <p:nvPr/>
          </p:nvSpPr>
          <p:spPr bwMode="auto">
            <a:xfrm>
              <a:off x="5338766" y="3836162"/>
              <a:ext cx="504825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id</a:t>
              </a:r>
            </a:p>
          </p:txBody>
        </p:sp>
        <p:sp>
          <p:nvSpPr>
            <p:cNvPr id="53291" name="Line 53"/>
            <p:cNvSpPr>
              <a:spLocks noChangeShapeType="1"/>
            </p:cNvSpPr>
            <p:nvPr/>
          </p:nvSpPr>
          <p:spPr bwMode="auto">
            <a:xfrm>
              <a:off x="5500691" y="3514734"/>
              <a:ext cx="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2" name="Line 23"/>
            <p:cNvSpPr>
              <a:spLocks noChangeShapeType="1"/>
            </p:cNvSpPr>
            <p:nvPr/>
          </p:nvSpPr>
          <p:spPr bwMode="auto">
            <a:xfrm flipH="1">
              <a:off x="6382945" y="2013336"/>
              <a:ext cx="788194" cy="3393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3" name="Line 48"/>
            <p:cNvSpPr>
              <a:spLocks noChangeShapeType="1"/>
            </p:cNvSpPr>
            <p:nvPr/>
          </p:nvSpPr>
          <p:spPr bwMode="auto">
            <a:xfrm flipH="1">
              <a:off x="5479259" y="2689611"/>
              <a:ext cx="719138" cy="3679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4" name="Text Box 70"/>
            <p:cNvSpPr txBox="1">
              <a:spLocks noChangeArrowheads="1"/>
            </p:cNvSpPr>
            <p:nvPr/>
          </p:nvSpPr>
          <p:spPr bwMode="auto">
            <a:xfrm>
              <a:off x="5072066" y="2193088"/>
              <a:ext cx="611981" cy="378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real</a:t>
              </a:r>
            </a:p>
          </p:txBody>
        </p:sp>
        <p:sp>
          <p:nvSpPr>
            <p:cNvPr id="53295" name="Line 71"/>
            <p:cNvSpPr>
              <a:spLocks noChangeShapeType="1"/>
            </p:cNvSpPr>
            <p:nvPr/>
          </p:nvSpPr>
          <p:spPr bwMode="auto">
            <a:xfrm>
              <a:off x="5335195" y="2000246"/>
              <a:ext cx="1190" cy="247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6" name="Line 27"/>
            <p:cNvSpPr>
              <a:spLocks noChangeShapeType="1"/>
            </p:cNvSpPr>
            <p:nvPr/>
          </p:nvSpPr>
          <p:spPr bwMode="auto">
            <a:xfrm flipH="1" flipV="1">
              <a:off x="6215074" y="1214427"/>
              <a:ext cx="871530" cy="4345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3269" name="Text Box 45"/>
          <p:cNvSpPr txBox="1">
            <a:spLocks noChangeArrowheads="1"/>
          </p:cNvSpPr>
          <p:nvPr/>
        </p:nvSpPr>
        <p:spPr bwMode="auto">
          <a:xfrm>
            <a:off x="338138" y="987425"/>
            <a:ext cx="126841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SDD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grpSp>
        <p:nvGrpSpPr>
          <p:cNvPr id="53270" name="组合 135"/>
          <p:cNvGrpSpPr>
            <a:grpSpLocks/>
          </p:cNvGrpSpPr>
          <p:nvPr/>
        </p:nvGrpSpPr>
        <p:grpSpPr bwMode="auto">
          <a:xfrm>
            <a:off x="407988" y="1470025"/>
            <a:ext cx="4573587" cy="2524125"/>
            <a:chOff x="285750" y="1211262"/>
            <a:chExt cx="4598988" cy="2524892"/>
          </a:xfrm>
        </p:grpSpPr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248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 L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(2)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int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(3)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real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real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(4)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id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(5)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 id  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</p:txBody>
        </p:sp>
        <p:sp>
          <p:nvSpPr>
            <p:cNvPr id="53274" name="Line 7"/>
            <p:cNvSpPr>
              <a:spLocks noChangeShapeType="1"/>
            </p:cNvSpPr>
            <p:nvPr/>
          </p:nvSpPr>
          <p:spPr bwMode="auto">
            <a:xfrm>
              <a:off x="303213" y="1522413"/>
              <a:ext cx="45815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3275" name="直接连接符 4"/>
            <p:cNvCxnSpPr>
              <a:cxnSpLocks noChangeShapeType="1"/>
            </p:cNvCxnSpPr>
            <p:nvPr/>
          </p:nvCxnSpPr>
          <p:spPr bwMode="auto">
            <a:xfrm>
              <a:off x="2086261" y="1211262"/>
              <a:ext cx="0" cy="252489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3271" name="矩形 139"/>
          <p:cNvSpPr>
            <a:spLocks noChangeArrowheads="1"/>
          </p:cNvSpPr>
          <p:nvPr/>
        </p:nvSpPr>
        <p:spPr bwMode="auto">
          <a:xfrm>
            <a:off x="323850" y="4040188"/>
            <a:ext cx="23780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输入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real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b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c</a:t>
            </a:r>
            <a:endParaRPr kumimoji="1" lang="en-US" altLang="zh-CN" sz="2000" b="1" i="1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cxnSp>
        <p:nvCxnSpPr>
          <p:cNvPr id="141" name="直接连接符 140"/>
          <p:cNvCxnSpPr/>
          <p:nvPr/>
        </p:nvCxnSpPr>
        <p:spPr>
          <a:xfrm>
            <a:off x="830263" y="1501775"/>
            <a:ext cx="0" cy="250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72200" y="2402269"/>
            <a:ext cx="117700" cy="16459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641269" y="3151678"/>
            <a:ext cx="139128" cy="21113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0488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430213" y="857250"/>
            <a:ext cx="8462962" cy="3225800"/>
          </a:xfrm>
        </p:spPr>
        <p:txBody>
          <a:bodyPr/>
          <a:lstStyle/>
          <a:p>
            <a:pPr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可行的求值顺序是满足下列条件的结点序列</a:t>
            </a:r>
            <a:r>
              <a:rPr kumimoji="1" lang="en-US" altLang="zh-CN" sz="30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30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en-US" altLang="zh-CN" sz="30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30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… , </a:t>
            </a:r>
            <a:r>
              <a:rPr kumimoji="1" lang="en-US" altLang="zh-CN" sz="30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</a:t>
            </a:r>
            <a:r>
              <a:rPr kumimoji="1" lang="en-US" altLang="zh-CN" sz="30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：如果依赖图中有一条从结点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3000" b="1">
                <a:solidFill>
                  <a:schemeClr val="tx1"/>
                </a:solidFill>
              </a:rPr>
              <a:t>到</a:t>
            </a:r>
            <a:r>
              <a:rPr lang="en-US" altLang="zh-CN" sz="3000" b="1">
                <a:solidFill>
                  <a:schemeClr val="tx1"/>
                </a:solidFill>
              </a:rPr>
              <a:t> </a:t>
            </a:r>
            <a:r>
              <a:rPr lang="en-US" altLang="zh-CN" sz="3000" b="1" i="1">
                <a:solidFill>
                  <a:schemeClr val="tx1"/>
                </a:solidFill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sz="3000" b="1">
                <a:solidFill>
                  <a:schemeClr val="tx1"/>
                </a:solidFill>
              </a:rPr>
              <a:t> </a:t>
            </a:r>
            <a:r>
              <a:rPr lang="zh-CN" altLang="en-US" sz="3000" b="1">
                <a:solidFill>
                  <a:schemeClr val="tx1"/>
                </a:solidFill>
              </a:rPr>
              <a:t>的边</a:t>
            </a:r>
            <a:r>
              <a:rPr lang="en-US" altLang="zh-CN" sz="3000" b="1">
                <a:solidFill>
                  <a:schemeClr val="tx1"/>
                </a:solidFill>
              </a:rPr>
              <a:t>(</a:t>
            </a:r>
            <a:r>
              <a:rPr kumimoji="1" lang="en-US" altLang="zh-CN" sz="3000" b="1" i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kumimoji="1" lang="en-US" altLang="zh-CN" sz="3000" b="1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kumimoji="1" lang="en-US" altLang="zh-CN" sz="3000" b="1" i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sz="3000" b="1">
                <a:solidFill>
                  <a:schemeClr val="tx1"/>
                </a:solidFill>
              </a:rPr>
              <a:t>),  </a:t>
            </a:r>
            <a:r>
              <a:rPr lang="zh-CN" altLang="en-US" sz="3000" b="1">
                <a:solidFill>
                  <a:schemeClr val="tx1"/>
                </a:solidFill>
              </a:rPr>
              <a:t>那么</a:t>
            </a:r>
            <a:r>
              <a:rPr lang="en-US" altLang="zh-CN" sz="3000" b="1" i="1">
                <a:solidFill>
                  <a:schemeClr val="tx1"/>
                </a:solidFill>
              </a:rPr>
              <a:t>i </a:t>
            </a:r>
            <a:r>
              <a:rPr lang="en-US" altLang="zh-CN" sz="3000" b="1">
                <a:solidFill>
                  <a:schemeClr val="tx1"/>
                </a:solidFill>
              </a:rPr>
              <a:t>&lt; </a:t>
            </a:r>
            <a:r>
              <a:rPr lang="en-US" altLang="zh-CN" sz="3000" b="1" i="1">
                <a:solidFill>
                  <a:schemeClr val="tx1"/>
                </a:solidFill>
              </a:rPr>
              <a:t>j</a:t>
            </a:r>
            <a:r>
              <a:rPr lang="zh-CN" altLang="en-US" sz="3000" b="1">
                <a:solidFill>
                  <a:schemeClr val="tx1"/>
                </a:solidFill>
              </a:rPr>
              <a:t>（即：在节点序列中，</a:t>
            </a:r>
            <a:r>
              <a:rPr lang="en-US" altLang="zh-CN" sz="3000" b="1" i="1">
                <a:solidFill>
                  <a:schemeClr val="tx1"/>
                </a:solidFill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3000" b="1">
                <a:solidFill>
                  <a:schemeClr val="tx1"/>
                </a:solidFill>
              </a:rPr>
              <a:t> 排在</a:t>
            </a:r>
            <a:r>
              <a:rPr lang="en-US" altLang="zh-CN" sz="3000" b="1" i="1">
                <a:solidFill>
                  <a:schemeClr val="tx1"/>
                </a:solidFill>
              </a:rPr>
              <a:t>N</a:t>
            </a:r>
            <a:r>
              <a:rPr kumimoji="1" lang="en-US" altLang="zh-CN" sz="3000" b="1" i="1" baseline="-25000">
                <a:solidFill>
                  <a:schemeClr val="tx1"/>
                </a:solidFill>
                <a:ea typeface="楷体_GB2312"/>
                <a:cs typeface="楷体_GB2312"/>
              </a:rPr>
              <a:t>j </a:t>
            </a:r>
            <a:r>
              <a:rPr lang="zh-CN" altLang="en-US" sz="3000" b="1">
                <a:solidFill>
                  <a:schemeClr val="tx1"/>
                </a:solidFill>
              </a:rPr>
              <a:t>前面）</a:t>
            </a:r>
            <a:endParaRPr lang="en-US" altLang="zh-CN" sz="3000" b="1">
              <a:solidFill>
                <a:schemeClr val="tx1"/>
              </a:solidFill>
            </a:endParaRPr>
          </a:p>
          <a:p>
            <a:pPr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这样的排序将一个有向图变成了一个线性排序，这个排序称为这个图的</a:t>
            </a:r>
            <a:r>
              <a:rPr lang="zh-CN" altLang="en-US" sz="3000" b="1">
                <a:solidFill>
                  <a:srgbClr val="FF0000"/>
                </a:solidFill>
              </a:rPr>
              <a:t>拓扑排序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</a:rPr>
              <a:t>topological sort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属性值的计算顺序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3387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3" name="Rectangle 45"/>
          <p:cNvSpPr>
            <a:spLocks noChangeArrowheads="1"/>
          </p:cNvSpPr>
          <p:nvPr/>
        </p:nvSpPr>
        <p:spPr bwMode="auto">
          <a:xfrm>
            <a:off x="5500688" y="3771900"/>
            <a:ext cx="2928937" cy="13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拓扑排序：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1, 2, 3, 4, 5, 6, 7, 8, 9, 10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4, 3, 2, 1, 5, 7, 6, 9, 8, 10</a:t>
            </a:r>
          </a:p>
        </p:txBody>
      </p:sp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5572125" y="4641850"/>
            <a:ext cx="901700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>
            <a:off x="6786563" y="4641850"/>
            <a:ext cx="428625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连接符 49"/>
          <p:cNvCxnSpPr>
            <a:cxnSpLocks noChangeShapeType="1"/>
          </p:cNvCxnSpPr>
          <p:nvPr/>
        </p:nvCxnSpPr>
        <p:spPr bwMode="auto">
          <a:xfrm>
            <a:off x="7339013" y="4641850"/>
            <a:ext cx="395287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735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2" name="五边形 6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7399" name="五边形 62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57" name="Rectangle 54"/>
          <p:cNvSpPr>
            <a:spLocks noChangeArrowheads="1"/>
          </p:cNvSpPr>
          <p:nvPr/>
        </p:nvSpPr>
        <p:spPr bwMode="auto">
          <a:xfrm>
            <a:off x="5446713" y="928688"/>
            <a:ext cx="911225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type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57352" name="Rectangle 55"/>
          <p:cNvSpPr>
            <a:spLocks noChangeArrowheads="1"/>
          </p:cNvSpPr>
          <p:nvPr/>
        </p:nvSpPr>
        <p:spPr bwMode="auto">
          <a:xfrm>
            <a:off x="6143625" y="898525"/>
            <a:ext cx="1571625" cy="995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in 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1" i="1" u="none" strike="noStrike" kern="1200" cap="none" spc="0" normalizeH="0" baseline="0" noProof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53" name="Rectangle 56"/>
          <p:cNvSpPr>
            <a:spLocks noChangeArrowheads="1"/>
          </p:cNvSpPr>
          <p:nvPr/>
        </p:nvSpPr>
        <p:spPr bwMode="auto">
          <a:xfrm>
            <a:off x="5857875" y="1571625"/>
            <a:ext cx="142875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1" i="1" u="none" strike="noStrike" kern="1200" cap="none" spc="0" normalizeH="0" baseline="0" noProof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5000625" y="2335213"/>
            <a:ext cx="1357313" cy="6873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in   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</a:p>
        </p:txBody>
      </p:sp>
      <p:sp>
        <p:nvSpPr>
          <p:cNvPr id="61" name="Freeform 60"/>
          <p:cNvSpPr>
            <a:spLocks/>
          </p:cNvSpPr>
          <p:nvPr/>
        </p:nvSpPr>
        <p:spPr bwMode="auto">
          <a:xfrm>
            <a:off x="5680075" y="844550"/>
            <a:ext cx="1133475" cy="106363"/>
          </a:xfrm>
          <a:custGeom>
            <a:avLst/>
            <a:gdLst>
              <a:gd name="T0" fmla="*/ 0 w 453"/>
              <a:gd name="T1" fmla="*/ 2147483646 h 136"/>
              <a:gd name="T2" fmla="*/ 2147483646 w 453"/>
              <a:gd name="T3" fmla="*/ 0 h 136"/>
              <a:gd name="T4" fmla="*/ 2147483646 w 453"/>
              <a:gd name="T5" fmla="*/ 2147483646 h 136"/>
              <a:gd name="T6" fmla="*/ 0 60000 65536"/>
              <a:gd name="T7" fmla="*/ 0 60000 65536"/>
              <a:gd name="T8" fmla="*/ 0 60000 65536"/>
              <a:gd name="T9" fmla="*/ 0 w 453"/>
              <a:gd name="T10" fmla="*/ 0 h 136"/>
              <a:gd name="T11" fmla="*/ 453 w 453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36">
                <a:moveTo>
                  <a:pt x="0" y="136"/>
                </a:moveTo>
                <a:cubicBezTo>
                  <a:pt x="53" y="68"/>
                  <a:pt x="106" y="0"/>
                  <a:pt x="181" y="0"/>
                </a:cubicBezTo>
                <a:cubicBezTo>
                  <a:pt x="256" y="0"/>
                  <a:pt x="354" y="68"/>
                  <a:pt x="453" y="136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" name="Line 61"/>
          <p:cNvSpPr>
            <a:spLocks noChangeShapeType="1"/>
          </p:cNvSpPr>
          <p:nvPr/>
        </p:nvSpPr>
        <p:spPr bwMode="auto">
          <a:xfrm flipH="1">
            <a:off x="6040438" y="1249363"/>
            <a:ext cx="914400" cy="396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Freeform 62"/>
          <p:cNvSpPr>
            <a:spLocks/>
          </p:cNvSpPr>
          <p:nvPr/>
        </p:nvSpPr>
        <p:spPr bwMode="auto">
          <a:xfrm>
            <a:off x="6989763" y="1169988"/>
            <a:ext cx="323850" cy="115887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" name="Line 63"/>
          <p:cNvSpPr>
            <a:spLocks noChangeShapeType="1"/>
          </p:cNvSpPr>
          <p:nvPr/>
        </p:nvSpPr>
        <p:spPr bwMode="auto">
          <a:xfrm flipH="1" flipV="1">
            <a:off x="7358063" y="1223963"/>
            <a:ext cx="1003300" cy="4191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8072438" y="1620838"/>
            <a:ext cx="1000125" cy="68738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lexeme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67" name="Line 66"/>
          <p:cNvSpPr>
            <a:spLocks noChangeShapeType="1"/>
          </p:cNvSpPr>
          <p:nvPr/>
        </p:nvSpPr>
        <p:spPr bwMode="auto">
          <a:xfrm flipH="1">
            <a:off x="5230813" y="1889125"/>
            <a:ext cx="830262" cy="414338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Rectangle 69"/>
          <p:cNvSpPr>
            <a:spLocks noChangeArrowheads="1"/>
          </p:cNvSpPr>
          <p:nvPr/>
        </p:nvSpPr>
        <p:spPr bwMode="auto">
          <a:xfrm>
            <a:off x="7194550" y="2354263"/>
            <a:ext cx="1092200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lexeme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     </a:t>
            </a:r>
          </a:p>
        </p:txBody>
      </p:sp>
      <p:sp>
        <p:nvSpPr>
          <p:cNvPr id="69" name="Line 67"/>
          <p:cNvSpPr>
            <a:spLocks noChangeShapeType="1"/>
          </p:cNvSpPr>
          <p:nvPr/>
        </p:nvSpPr>
        <p:spPr bwMode="auto">
          <a:xfrm flipH="1" flipV="1">
            <a:off x="6454775" y="1922463"/>
            <a:ext cx="955675" cy="4127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Freeform 72"/>
          <p:cNvSpPr>
            <a:spLocks/>
          </p:cNvSpPr>
          <p:nvPr/>
        </p:nvSpPr>
        <p:spPr bwMode="auto">
          <a:xfrm>
            <a:off x="6057900" y="1871663"/>
            <a:ext cx="325438" cy="115887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Freeform 82"/>
          <p:cNvSpPr>
            <a:spLocks/>
          </p:cNvSpPr>
          <p:nvPr/>
        </p:nvSpPr>
        <p:spPr bwMode="auto">
          <a:xfrm>
            <a:off x="5338763" y="2659063"/>
            <a:ext cx="325437" cy="115887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Rectangle 83"/>
          <p:cNvSpPr>
            <a:spLocks noChangeArrowheads="1"/>
          </p:cNvSpPr>
          <p:nvPr/>
        </p:nvSpPr>
        <p:spPr bwMode="auto">
          <a:xfrm>
            <a:off x="5572125" y="3121025"/>
            <a:ext cx="1055688" cy="68738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lexeme          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3" name="Line 84"/>
          <p:cNvSpPr>
            <a:spLocks noChangeShapeType="1"/>
          </p:cNvSpPr>
          <p:nvPr/>
        </p:nvSpPr>
        <p:spPr bwMode="auto">
          <a:xfrm flipV="1">
            <a:off x="5770563" y="2736850"/>
            <a:ext cx="0" cy="3238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Line 42"/>
          <p:cNvSpPr>
            <a:spLocks noChangeShapeType="1"/>
          </p:cNvSpPr>
          <p:nvPr/>
        </p:nvSpPr>
        <p:spPr bwMode="auto">
          <a:xfrm flipV="1">
            <a:off x="5715000" y="1252538"/>
            <a:ext cx="0" cy="2476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7368" name="组合 74"/>
          <p:cNvGrpSpPr>
            <a:grpSpLocks/>
          </p:cNvGrpSpPr>
          <p:nvPr/>
        </p:nvGrpSpPr>
        <p:grpSpPr bwMode="auto">
          <a:xfrm>
            <a:off x="5072063" y="142875"/>
            <a:ext cx="3201987" cy="3357563"/>
            <a:chOff x="5072066" y="857238"/>
            <a:chExt cx="3201591" cy="3357586"/>
          </a:xfrm>
        </p:grpSpPr>
        <p:sp>
          <p:nvSpPr>
            <p:cNvPr id="57377" name="Text Box 16"/>
            <p:cNvSpPr txBox="1">
              <a:spLocks noChangeArrowheads="1"/>
            </p:cNvSpPr>
            <p:nvPr/>
          </p:nvSpPr>
          <p:spPr bwMode="auto">
            <a:xfrm>
              <a:off x="7029453" y="2352665"/>
              <a:ext cx="342900" cy="378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</a:p>
          </p:txBody>
        </p:sp>
        <p:sp>
          <p:nvSpPr>
            <p:cNvPr id="57378" name="Rectangle 20"/>
            <p:cNvSpPr>
              <a:spLocks noChangeArrowheads="1"/>
            </p:cNvSpPr>
            <p:nvPr/>
          </p:nvSpPr>
          <p:spPr bwMode="auto">
            <a:xfrm>
              <a:off x="7733113" y="2324090"/>
              <a:ext cx="540544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id</a:t>
              </a:r>
            </a:p>
          </p:txBody>
        </p:sp>
        <p:sp>
          <p:nvSpPr>
            <p:cNvPr id="57379" name="Rectangle 22"/>
            <p:cNvSpPr>
              <a:spLocks noChangeArrowheads="1"/>
            </p:cNvSpPr>
            <p:nvPr/>
          </p:nvSpPr>
          <p:spPr bwMode="auto">
            <a:xfrm>
              <a:off x="6921107" y="1621584"/>
              <a:ext cx="432197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57380" name="Line 24"/>
            <p:cNvSpPr>
              <a:spLocks noChangeShapeType="1"/>
            </p:cNvSpPr>
            <p:nvPr/>
          </p:nvSpPr>
          <p:spPr bwMode="auto">
            <a:xfrm>
              <a:off x="7153707" y="2013336"/>
              <a:ext cx="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81" name="Line 25"/>
            <p:cNvSpPr>
              <a:spLocks noChangeShapeType="1"/>
            </p:cNvSpPr>
            <p:nvPr/>
          </p:nvSpPr>
          <p:spPr bwMode="auto">
            <a:xfrm>
              <a:off x="7137801" y="2013336"/>
              <a:ext cx="827484" cy="310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82" name="Rectangle 26"/>
            <p:cNvSpPr>
              <a:spLocks noChangeArrowheads="1"/>
            </p:cNvSpPr>
            <p:nvPr/>
          </p:nvSpPr>
          <p:spPr bwMode="auto">
            <a:xfrm>
              <a:off x="6000760" y="857238"/>
              <a:ext cx="432197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7383" name="Text Box 28"/>
            <p:cNvSpPr txBox="1">
              <a:spLocks noChangeArrowheads="1"/>
            </p:cNvSpPr>
            <p:nvPr/>
          </p:nvSpPr>
          <p:spPr bwMode="auto">
            <a:xfrm>
              <a:off x="5193510" y="1621621"/>
              <a:ext cx="342900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57384" name="Line 29"/>
            <p:cNvSpPr>
              <a:spLocks noChangeShapeType="1"/>
            </p:cNvSpPr>
            <p:nvPr/>
          </p:nvSpPr>
          <p:spPr bwMode="auto">
            <a:xfrm flipH="1">
              <a:off x="5301856" y="1214428"/>
              <a:ext cx="913218" cy="4345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85" name="Rectangle 43"/>
            <p:cNvSpPr>
              <a:spLocks noChangeArrowheads="1"/>
            </p:cNvSpPr>
            <p:nvPr/>
          </p:nvSpPr>
          <p:spPr bwMode="auto">
            <a:xfrm>
              <a:off x="6004326" y="2285998"/>
              <a:ext cx="853690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 </a:t>
              </a:r>
            </a:p>
          </p:txBody>
        </p:sp>
        <p:sp>
          <p:nvSpPr>
            <p:cNvPr id="57386" name="Text Box 46"/>
            <p:cNvSpPr txBox="1">
              <a:spLocks noChangeArrowheads="1"/>
            </p:cNvSpPr>
            <p:nvPr/>
          </p:nvSpPr>
          <p:spPr bwMode="auto">
            <a:xfrm>
              <a:off x="6111482" y="3055133"/>
              <a:ext cx="342900" cy="378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</a:p>
          </p:txBody>
        </p:sp>
        <p:sp>
          <p:nvSpPr>
            <p:cNvPr id="57387" name="Rectangle 47"/>
            <p:cNvSpPr>
              <a:spLocks noChangeArrowheads="1"/>
            </p:cNvSpPr>
            <p:nvPr/>
          </p:nvSpPr>
          <p:spPr bwMode="auto">
            <a:xfrm>
              <a:off x="6816332" y="3051561"/>
              <a:ext cx="540544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id</a:t>
              </a:r>
            </a:p>
          </p:txBody>
        </p:sp>
        <p:sp>
          <p:nvSpPr>
            <p:cNvPr id="57388" name="Line 49"/>
            <p:cNvSpPr>
              <a:spLocks noChangeShapeType="1"/>
            </p:cNvSpPr>
            <p:nvPr/>
          </p:nvSpPr>
          <p:spPr bwMode="auto">
            <a:xfrm>
              <a:off x="6219828" y="2689611"/>
              <a:ext cx="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89" name="Line 50"/>
            <p:cNvSpPr>
              <a:spLocks noChangeShapeType="1"/>
            </p:cNvSpPr>
            <p:nvPr/>
          </p:nvSpPr>
          <p:spPr bwMode="auto">
            <a:xfrm>
              <a:off x="6219828" y="2689611"/>
              <a:ext cx="809625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90" name="Rectangle 51"/>
            <p:cNvSpPr>
              <a:spLocks noChangeArrowheads="1"/>
            </p:cNvSpPr>
            <p:nvPr/>
          </p:nvSpPr>
          <p:spPr bwMode="auto">
            <a:xfrm>
              <a:off x="5230420" y="3057515"/>
              <a:ext cx="540544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57391" name="Text Box 52"/>
            <p:cNvSpPr txBox="1">
              <a:spLocks noChangeArrowheads="1"/>
            </p:cNvSpPr>
            <p:nvPr/>
          </p:nvSpPr>
          <p:spPr bwMode="auto">
            <a:xfrm>
              <a:off x="5338766" y="3836162"/>
              <a:ext cx="504825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id</a:t>
              </a:r>
            </a:p>
          </p:txBody>
        </p:sp>
        <p:sp>
          <p:nvSpPr>
            <p:cNvPr id="57392" name="Line 53"/>
            <p:cNvSpPr>
              <a:spLocks noChangeShapeType="1"/>
            </p:cNvSpPr>
            <p:nvPr/>
          </p:nvSpPr>
          <p:spPr bwMode="auto">
            <a:xfrm>
              <a:off x="5500691" y="3514734"/>
              <a:ext cx="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93" name="Line 23"/>
            <p:cNvSpPr>
              <a:spLocks noChangeShapeType="1"/>
            </p:cNvSpPr>
            <p:nvPr/>
          </p:nvSpPr>
          <p:spPr bwMode="auto">
            <a:xfrm flipH="1">
              <a:off x="6382945" y="2013336"/>
              <a:ext cx="788194" cy="3393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94" name="Line 48"/>
            <p:cNvSpPr>
              <a:spLocks noChangeShapeType="1"/>
            </p:cNvSpPr>
            <p:nvPr/>
          </p:nvSpPr>
          <p:spPr bwMode="auto">
            <a:xfrm flipH="1">
              <a:off x="5479259" y="2689611"/>
              <a:ext cx="719138" cy="3679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95" name="Text Box 70"/>
            <p:cNvSpPr txBox="1">
              <a:spLocks noChangeArrowheads="1"/>
            </p:cNvSpPr>
            <p:nvPr/>
          </p:nvSpPr>
          <p:spPr bwMode="auto">
            <a:xfrm>
              <a:off x="5072066" y="2193088"/>
              <a:ext cx="611981" cy="37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real</a:t>
              </a:r>
            </a:p>
          </p:txBody>
        </p:sp>
        <p:sp>
          <p:nvSpPr>
            <p:cNvPr id="57396" name="Line 71"/>
            <p:cNvSpPr>
              <a:spLocks noChangeShapeType="1"/>
            </p:cNvSpPr>
            <p:nvPr/>
          </p:nvSpPr>
          <p:spPr bwMode="auto">
            <a:xfrm>
              <a:off x="5335195" y="2000246"/>
              <a:ext cx="1190" cy="247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97" name="Line 27"/>
            <p:cNvSpPr>
              <a:spLocks noChangeShapeType="1"/>
            </p:cNvSpPr>
            <p:nvPr/>
          </p:nvSpPr>
          <p:spPr bwMode="auto">
            <a:xfrm flipH="1" flipV="1">
              <a:off x="6215074" y="1214427"/>
              <a:ext cx="871530" cy="4345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sz="3000" i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7370" name="Text Box 45"/>
          <p:cNvSpPr txBox="1">
            <a:spLocks noChangeArrowheads="1"/>
          </p:cNvSpPr>
          <p:nvPr/>
        </p:nvSpPr>
        <p:spPr bwMode="auto">
          <a:xfrm>
            <a:off x="338138" y="987425"/>
            <a:ext cx="126841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SDD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grpSp>
        <p:nvGrpSpPr>
          <p:cNvPr id="57371" name="组合 54"/>
          <p:cNvGrpSpPr>
            <a:grpSpLocks/>
          </p:cNvGrpSpPr>
          <p:nvPr/>
        </p:nvGrpSpPr>
        <p:grpSpPr bwMode="auto">
          <a:xfrm>
            <a:off x="407988" y="1470025"/>
            <a:ext cx="4573587" cy="2524125"/>
            <a:chOff x="285750" y="1211262"/>
            <a:chExt cx="4598988" cy="2524892"/>
          </a:xfrm>
        </p:grpSpPr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248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 L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(2)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int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(3)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real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real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(4)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id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(5)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 id  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)</a:t>
              </a:r>
            </a:p>
          </p:txBody>
        </p:sp>
        <p:sp>
          <p:nvSpPr>
            <p:cNvPr id="57375" name="Line 7"/>
            <p:cNvSpPr>
              <a:spLocks noChangeShapeType="1"/>
            </p:cNvSpPr>
            <p:nvPr/>
          </p:nvSpPr>
          <p:spPr bwMode="auto">
            <a:xfrm>
              <a:off x="303213" y="1522413"/>
              <a:ext cx="45815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7376" name="直接连接符 4"/>
            <p:cNvCxnSpPr>
              <a:cxnSpLocks noChangeShapeType="1"/>
            </p:cNvCxnSpPr>
            <p:nvPr/>
          </p:nvCxnSpPr>
          <p:spPr bwMode="auto">
            <a:xfrm>
              <a:off x="2086261" y="1211262"/>
              <a:ext cx="0" cy="252489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7372" name="矩形 76"/>
          <p:cNvSpPr>
            <a:spLocks noChangeArrowheads="1"/>
          </p:cNvSpPr>
          <p:nvPr/>
        </p:nvSpPr>
        <p:spPr bwMode="auto">
          <a:xfrm>
            <a:off x="323850" y="4040188"/>
            <a:ext cx="237807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输入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real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b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c</a:t>
            </a:r>
            <a:endParaRPr kumimoji="1" lang="en-US" altLang="zh-CN" sz="2000" b="1" i="1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830263" y="1501775"/>
            <a:ext cx="0" cy="250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93349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3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428625" y="3203575"/>
            <a:ext cx="8358188" cy="654050"/>
          </a:xfrm>
        </p:spPr>
        <p:txBody>
          <a:bodyPr/>
          <a:lstStyle/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3" name="矩形 2"/>
          <p:cNvSpPr/>
          <p:nvPr/>
        </p:nvSpPr>
        <p:spPr>
          <a:xfrm>
            <a:off x="357188" y="4572000"/>
            <a:ext cx="5786437" cy="4079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如果图中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没有环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，那么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至少存在一个拓扑排序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" name="组合 27"/>
          <p:cNvGrpSpPr>
            <a:grpSpLocks/>
          </p:cNvGrpSpPr>
          <p:nvPr/>
        </p:nvGrpSpPr>
        <p:grpSpPr bwMode="auto">
          <a:xfrm>
            <a:off x="6400800" y="2857500"/>
            <a:ext cx="1600200" cy="1928813"/>
            <a:chOff x="7500958" y="2929734"/>
            <a:chExt cx="1600252" cy="1929620"/>
          </a:xfrm>
        </p:grpSpPr>
        <p:cxnSp>
          <p:nvCxnSpPr>
            <p:cNvPr id="15" name="直接连接符 14"/>
            <p:cNvCxnSpPr/>
            <p:nvPr/>
          </p:nvCxnSpPr>
          <p:spPr>
            <a:xfrm rot="5400000" flipH="1" flipV="1">
              <a:off x="7379291" y="3500679"/>
              <a:ext cx="1143478" cy="158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7786717" y="3285483"/>
              <a:ext cx="357200" cy="35733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7786717" y="4101799"/>
              <a:ext cx="357200" cy="3573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59405" name="矩形 10"/>
            <p:cNvSpPr>
              <a:spLocks noChangeArrowheads="1"/>
            </p:cNvSpPr>
            <p:nvPr/>
          </p:nvSpPr>
          <p:spPr bwMode="auto">
            <a:xfrm>
              <a:off x="8358214" y="3286130"/>
              <a:ext cx="4860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.s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59406" name="矩形 11"/>
            <p:cNvSpPr>
              <a:spLocks noChangeArrowheads="1"/>
            </p:cNvSpPr>
            <p:nvPr/>
          </p:nvSpPr>
          <p:spPr bwMode="auto">
            <a:xfrm>
              <a:off x="8358214" y="4131244"/>
              <a:ext cx="4603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59407" name="矩形 12"/>
            <p:cNvSpPr>
              <a:spLocks noChangeArrowheads="1"/>
            </p:cNvSpPr>
            <p:nvPr/>
          </p:nvSpPr>
          <p:spPr bwMode="auto">
            <a:xfrm>
              <a:off x="7786710" y="3273988"/>
              <a:ext cx="338554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rot="5400000" flipH="1" flipV="1">
              <a:off x="7465949" y="4463970"/>
              <a:ext cx="428804" cy="35878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16200000" flipV="1">
              <a:off x="8001748" y="4501278"/>
              <a:ext cx="428804" cy="28417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0800000">
              <a:off x="7500958" y="4857765"/>
              <a:ext cx="857278" cy="158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弧形 25"/>
            <p:cNvSpPr/>
            <p:nvPr/>
          </p:nvSpPr>
          <p:spPr>
            <a:xfrm rot="2589569">
              <a:off x="8043901" y="3539589"/>
              <a:ext cx="785839" cy="643207"/>
            </a:xfrm>
            <a:prstGeom prst="arc">
              <a:avLst>
                <a:gd name="adj1" fmla="val 16200000"/>
                <a:gd name="adj2" fmla="val 753922"/>
              </a:avLst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7" name="弧形 26"/>
            <p:cNvSpPr/>
            <p:nvPr/>
          </p:nvSpPr>
          <p:spPr>
            <a:xfrm rot="13430130">
              <a:off x="8315372" y="3631703"/>
              <a:ext cx="785838" cy="643207"/>
            </a:xfrm>
            <a:prstGeom prst="arc">
              <a:avLst>
                <a:gd name="adj1" fmla="val 16200000"/>
                <a:gd name="adj2" fmla="val 753922"/>
              </a:avLst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grpSp>
        <p:nvGrpSpPr>
          <p:cNvPr id="4" name="组合 23"/>
          <p:cNvGrpSpPr>
            <a:grpSpLocks/>
          </p:cNvGrpSpPr>
          <p:nvPr/>
        </p:nvGrpSpPr>
        <p:grpSpPr bwMode="auto">
          <a:xfrm>
            <a:off x="1785938" y="3295650"/>
            <a:ext cx="2857500" cy="1147763"/>
            <a:chOff x="1571634" y="3086982"/>
            <a:chExt cx="2857490" cy="1012016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571634" y="3086982"/>
              <a:ext cx="2857490" cy="10120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 anchor="b" anchorCtr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9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9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A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B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A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.s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B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9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B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.i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.s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+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59400" name="Line 7"/>
            <p:cNvSpPr>
              <a:spLocks noChangeShapeType="1"/>
            </p:cNvSpPr>
            <p:nvPr/>
          </p:nvSpPr>
          <p:spPr bwMode="auto">
            <a:xfrm flipV="1">
              <a:off x="1589097" y="3476554"/>
              <a:ext cx="28400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9401" name="直接连接符 4"/>
            <p:cNvCxnSpPr>
              <a:cxnSpLocks noChangeShapeType="1"/>
            </p:cNvCxnSpPr>
            <p:nvPr/>
          </p:nvCxnSpPr>
          <p:spPr bwMode="auto">
            <a:xfrm rot="16200000" flipH="1">
              <a:off x="2178833" y="3607605"/>
              <a:ext cx="928681" cy="1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内容占位符 2"/>
          <p:cNvSpPr txBox="1">
            <a:spLocks/>
          </p:cNvSpPr>
          <p:nvPr/>
        </p:nvSpPr>
        <p:spPr bwMode="auto">
          <a:xfrm>
            <a:off x="500063" y="500063"/>
            <a:ext cx="8343900" cy="221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72654" marR="0" lvl="0" indent="-272654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对于只具有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综合属性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SDD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，可以按照任何自底向上的顺序计算它们的值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2654" marR="0" lvl="0" indent="-272654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对于同时具有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继承属性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和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综合属性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SDD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，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不能保证存在一个顺序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来对各个节点上的属性进行求值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2917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93700" y="627063"/>
            <a:ext cx="8464550" cy="4681537"/>
          </a:xfrm>
        </p:spPr>
        <p:txBody>
          <a:bodyPr/>
          <a:lstStyle/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从计算的角度看，给定一个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，很难确定是否存在某棵语法分析树，使得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的属性之间存在循环依赖关系</a:t>
            </a:r>
            <a:endParaRPr lang="en-US" altLang="zh-CN" sz="26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幸运的是，存在一个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的有用子类，它们能够保证对每棵语法分析树都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存在一个求值顺序</a:t>
            </a: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，因为它们不允许产生带有环的依赖图</a:t>
            </a:r>
            <a:endParaRPr lang="en-US" altLang="zh-CN" sz="26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不仅如此，接下来介绍的两类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可以和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自顶向下</a:t>
            </a: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及</a:t>
            </a:r>
            <a:r>
              <a:rPr lang="zh-CN" altLang="en-US" sz="2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自底向上</a:t>
            </a:r>
            <a:r>
              <a:rPr lang="zh-CN" altLang="en-US" sz="2600" b="1" dirty="0">
                <a:solidFill>
                  <a:schemeClr val="tx1"/>
                </a:solidFill>
                <a:cs typeface="Times New Roman" pitchFamily="18" charset="0"/>
              </a:rPr>
              <a:t>的语法分析过程一起高效地实现</a:t>
            </a:r>
            <a:endParaRPr lang="en-US" altLang="zh-CN" sz="26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kumimoji="1" lang="zh-CN" altLang="en-US" b="1" dirty="0">
                <a:solidFill>
                  <a:schemeClr val="tx1"/>
                </a:solidFill>
                <a:cs typeface="Times New Roman" pitchFamily="18" charset="0"/>
              </a:rPr>
              <a:t>属性定义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itchFamily="18" charset="0"/>
              </a:rPr>
              <a:t>S-Attributed Definitions</a:t>
            </a:r>
            <a:r>
              <a:rPr kumimoji="1" lang="en-US" altLang="zh-CN" sz="1800" b="1" i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kumimoji="1"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S-SDD</a:t>
            </a:r>
            <a:r>
              <a:rPr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b="1" i="1" dirty="0">
                <a:solidFill>
                  <a:schemeClr val="tx1"/>
                </a:solidFill>
              </a:rPr>
              <a:t>L</a:t>
            </a:r>
            <a:r>
              <a:rPr kumimoji="1" lang="en-US" altLang="zh-CN" b="1" dirty="0">
                <a:solidFill>
                  <a:schemeClr val="tx1"/>
                </a:solidFill>
              </a:rPr>
              <a:t>-</a:t>
            </a:r>
            <a:r>
              <a:rPr kumimoji="1" lang="zh-CN" altLang="en-US" b="1" dirty="0">
                <a:solidFill>
                  <a:schemeClr val="tx1"/>
                </a:solidFill>
              </a:rPr>
              <a:t>属性定义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</a:rPr>
              <a:t>L-Attributed Definitions</a:t>
            </a:r>
            <a:r>
              <a:rPr kumimoji="1" lang="en-US" altLang="zh-CN" sz="1800" b="1" i="1" dirty="0">
                <a:solidFill>
                  <a:schemeClr val="tx1"/>
                </a:solidFill>
              </a:rPr>
              <a:t>, </a:t>
            </a:r>
            <a:r>
              <a:rPr kumimoji="1"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L-SDD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78765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71438" y="785812"/>
            <a:ext cx="8715375" cy="4306217"/>
          </a:xfrm>
        </p:spPr>
        <p:txBody>
          <a:bodyPr/>
          <a:lstStyle/>
          <a:p>
            <a:pPr marL="575072" lvl="1" indent="-272654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仅仅使用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称为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S</a:t>
            </a:r>
            <a:r>
              <a:rPr lang="zh-CN" altLang="en-US" sz="2400" b="1" dirty="0">
                <a:solidFill>
                  <a:srgbClr val="FF0000"/>
                </a:solidFill>
                <a:cs typeface="Times New Roman" pitchFamily="18" charset="0"/>
              </a:rPr>
              <a:t>属性的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SDD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，或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S-</a:t>
            </a:r>
            <a:r>
              <a:rPr lang="zh-CN" altLang="en-US" sz="2400" b="1" dirty="0">
                <a:solidFill>
                  <a:srgbClr val="FF0000"/>
                </a:solidFill>
                <a:cs typeface="Times New Roman" pitchFamily="18" charset="0"/>
              </a:rPr>
              <a:t>属性定义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S-SDD</a:t>
            </a:r>
            <a:endParaRPr kumimoji="1" lang="zh-CN" altLang="en-US" sz="2400" b="1" i="1" dirty="0">
              <a:solidFill>
                <a:srgbClr val="FF0000"/>
              </a:solidFill>
              <a:cs typeface="Times New Roman" pitchFamily="18" charset="0"/>
            </a:endParaRPr>
          </a:p>
          <a:p>
            <a:pPr marL="854869" lvl="2" indent="-227410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例</a:t>
            </a:r>
            <a:endParaRPr lang="en-US" altLang="zh-CN" sz="24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854869" lvl="2" indent="-227410"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575072" lvl="1" indent="-272654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575072" lvl="1" indent="-272654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 marL="575072" lvl="1" indent="-272654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如果一个</a:t>
            </a:r>
            <a:r>
              <a:rPr lang="en-US" altLang="zh-CN" sz="2400" b="1" i="1" dirty="0">
                <a:solidFill>
                  <a:schemeClr val="tx1"/>
                </a:solidFill>
              </a:rPr>
              <a:t>SDD</a:t>
            </a:r>
            <a:r>
              <a:rPr lang="zh-CN" altLang="en-US" sz="2400" b="1" dirty="0">
                <a:solidFill>
                  <a:schemeClr val="tx1"/>
                </a:solidFill>
              </a:rPr>
              <a:t>是</a:t>
            </a:r>
            <a:r>
              <a:rPr lang="en-US" altLang="zh-CN" sz="2400" b="1" i="1" dirty="0">
                <a:solidFill>
                  <a:schemeClr val="tx1"/>
                </a:solidFill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</a:rPr>
              <a:t>属性的，可以按照语法分析树节点的任何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自底向上</a:t>
            </a:r>
            <a:r>
              <a:rPr lang="zh-CN" altLang="en-US" sz="2400" b="1" dirty="0">
                <a:solidFill>
                  <a:schemeClr val="tx1"/>
                </a:solidFill>
              </a:rPr>
              <a:t>顺序来计算它的各个属性值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575072" lvl="1" indent="-272654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solidFill>
                  <a:schemeClr val="tx1"/>
                </a:solidFill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</a:rPr>
              <a:t>属性定义可以在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自底向上的语法分析</a:t>
            </a:r>
            <a:r>
              <a:rPr lang="zh-CN" altLang="en-US" sz="2400" b="1" dirty="0">
                <a:solidFill>
                  <a:schemeClr val="tx1"/>
                </a:solidFill>
              </a:rPr>
              <a:t>过程中实现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4. </a:t>
            </a:r>
            <a:r>
              <a:rPr lang="en-US" altLang="zh-CN" sz="32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32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2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属性定义</a:t>
            </a:r>
            <a:endParaRPr kumimoji="1"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2054225" y="1285875"/>
            <a:ext cx="4232275" cy="2338388"/>
            <a:chOff x="3359696" y="3284984"/>
            <a:chExt cx="3367020" cy="2339200"/>
          </a:xfrm>
        </p:grpSpPr>
        <p:sp>
          <p:nvSpPr>
            <p:cNvPr id="5" name="矩形 4"/>
            <p:cNvSpPr/>
            <p:nvPr/>
          </p:nvSpPr>
          <p:spPr>
            <a:xfrm>
              <a:off x="3359696" y="3284984"/>
              <a:ext cx="3367020" cy="2339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3359696" y="3572422"/>
              <a:ext cx="3367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632748" y="3284984"/>
              <a:ext cx="0" cy="2339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0685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7642225" cy="3225800"/>
          </a:xfrm>
        </p:spPr>
        <p:txBody>
          <a:bodyPr/>
          <a:lstStyle/>
          <a:p>
            <a:pPr marL="272654" lvl="1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属性定义</a:t>
            </a:r>
            <a:r>
              <a:rPr kumimoji="1" lang="en-US" altLang="zh-CN" sz="2800" b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也称为</a:t>
            </a:r>
            <a:r>
              <a:rPr lang="en-US" altLang="zh-CN" sz="2800" b="1" i="1" dirty="0">
                <a:solidFill>
                  <a:srgbClr val="FF0000"/>
                </a:solidFill>
                <a:cs typeface="Times New Roman" pitchFamily="18" charset="0"/>
              </a:rPr>
              <a:t>L</a:t>
            </a:r>
            <a:r>
              <a:rPr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属性的</a:t>
            </a:r>
            <a:r>
              <a:rPr lang="en-US" altLang="zh-CN" sz="2800" b="1" i="1" dirty="0">
                <a:solidFill>
                  <a:srgbClr val="FF0000"/>
                </a:solidFill>
                <a:cs typeface="Times New Roman" pitchFamily="18" charset="0"/>
              </a:rPr>
              <a:t>SDD</a:t>
            </a:r>
            <a:r>
              <a:rPr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en-US" altLang="zh-CN" sz="2800" b="1" i="1" dirty="0">
                <a:solidFill>
                  <a:srgbClr val="FF0000"/>
                </a:solidFill>
                <a:cs typeface="Times New Roman" pitchFamily="18" charset="0"/>
              </a:rPr>
              <a:t>L-SDD</a:t>
            </a:r>
            <a:r>
              <a:rPr kumimoji="1" lang="en-US" altLang="zh-CN" sz="2800" b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的直观含义：在一个产生式所关联的各属性之间，依赖图的边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可以从左到右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，但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不能从右到左，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因此称为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L(left)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属性的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属性定义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612612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8462963" cy="3225800"/>
          </a:xfrm>
        </p:spPr>
        <p:txBody>
          <a:bodyPr/>
          <a:lstStyle/>
          <a:p>
            <a:pPr marL="272654" indent="-272654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一个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kumimoji="1" lang="en-US" altLang="zh-CN" sz="2800" b="1" i="1" dirty="0">
                <a:solidFill>
                  <a:srgbClr val="FF0000"/>
                </a:solidFill>
                <a:cs typeface="Times New Roman" pitchFamily="18" charset="0"/>
              </a:rPr>
              <a:t>L</a:t>
            </a:r>
            <a:r>
              <a:rPr kumimoji="1" lang="en-US" altLang="zh-CN" sz="2800" b="1" dirty="0">
                <a:solidFill>
                  <a:srgbClr val="FF0000"/>
                </a:solidFill>
                <a:cs typeface="Times New Roman" pitchFamily="18" charset="0"/>
              </a:rPr>
              <a:t>-</a:t>
            </a:r>
            <a:r>
              <a:rPr kumimoji="1"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属性定义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，当且仅当它的每个属性要么是一个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，要么是满足如下条件的继承属性：假设存在一个产生式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→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  <a:r>
              <a:rPr kumimoji="1" lang="en-US" altLang="zh-CN" sz="2800" b="1" i="1" dirty="0" err="1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i="1" baseline="-25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，其右部符号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i="1" baseline="-25000" dirty="0">
                <a:solidFill>
                  <a:schemeClr val="tx1"/>
                </a:solidFill>
                <a:cs typeface="Times New Roman" pitchFamily="18" charset="0"/>
              </a:rPr>
              <a:t>i 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(1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仅依赖于下列属性：</a:t>
            </a: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继承属性</a:t>
            </a:r>
            <a:endParaRPr lang="en-US" altLang="zh-CN" sz="2400" b="1" dirty="0">
              <a:solidFill>
                <a:srgbClr val="073E87">
                  <a:lumMod val="60000"/>
                  <a:lumOff val="40000"/>
                </a:srgbClr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产生式中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kumimoji="1"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左边</a:t>
            </a: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的符号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2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… 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i-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的属性</a:t>
            </a:r>
            <a:endParaRPr lang="en-US" altLang="zh-CN" sz="2400" b="1" dirty="0">
              <a:solidFill>
                <a:prstClr val="black"/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本身的属性，但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的全部属性不能在依赖图中形成环路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SDD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的正式定义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979613" y="4443413"/>
            <a:ext cx="4537075" cy="4397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每个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属性定义都是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属性定义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27645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8462963" cy="3225800"/>
          </a:xfrm>
        </p:spPr>
        <p:txBody>
          <a:bodyPr/>
          <a:lstStyle/>
          <a:p>
            <a:pPr marL="272654" indent="-272654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一个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kumimoji="1" lang="en-US" altLang="zh-CN" sz="2800" b="1" i="1" dirty="0">
                <a:solidFill>
                  <a:srgbClr val="FF0000"/>
                </a:solidFill>
                <a:cs typeface="Times New Roman" pitchFamily="18" charset="0"/>
              </a:rPr>
              <a:t>L</a:t>
            </a:r>
            <a:r>
              <a:rPr kumimoji="1" lang="en-US" altLang="zh-CN" sz="2800" b="1" dirty="0">
                <a:solidFill>
                  <a:srgbClr val="FF0000"/>
                </a:solidFill>
                <a:cs typeface="Times New Roman" pitchFamily="18" charset="0"/>
              </a:rPr>
              <a:t>-</a:t>
            </a:r>
            <a:r>
              <a:rPr kumimoji="1"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属性定义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，当且仅当它的每个属性要么是一个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，要么是满足如下条件的继承属性：假设存在一个产生式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→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  <a:r>
              <a:rPr kumimoji="1" lang="en-US" altLang="zh-CN" sz="2800" b="1" i="1" dirty="0" err="1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i="1" baseline="-25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，其右部符号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i="1" baseline="-25000" dirty="0">
                <a:solidFill>
                  <a:schemeClr val="tx1"/>
                </a:solidFill>
                <a:cs typeface="Times New Roman" pitchFamily="18" charset="0"/>
              </a:rPr>
              <a:t>i 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(1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仅依赖于下列属性：</a:t>
            </a: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继承属性</a:t>
            </a:r>
            <a:endParaRPr lang="en-US" altLang="zh-CN" sz="2400" b="1" dirty="0">
              <a:solidFill>
                <a:srgbClr val="073E87">
                  <a:lumMod val="60000"/>
                  <a:lumOff val="40000"/>
                </a:srgbClr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产生式中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kumimoji="1"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左边</a:t>
            </a: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的符号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2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… 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i-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的属性</a:t>
            </a:r>
            <a:endParaRPr lang="en-US" altLang="zh-CN" sz="2400" b="1" dirty="0">
              <a:solidFill>
                <a:prstClr val="black"/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本身的属性，但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的全部属性不能在依赖图中形成环路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SDD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的正式定义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云形标注 8"/>
          <p:cNvSpPr>
            <a:spLocks noChangeArrowheads="1"/>
          </p:cNvSpPr>
          <p:nvPr/>
        </p:nvSpPr>
        <p:spPr bwMode="auto">
          <a:xfrm>
            <a:off x="3708400" y="2643188"/>
            <a:ext cx="4156075" cy="674687"/>
          </a:xfrm>
          <a:prstGeom prst="cloudCallout">
            <a:avLst>
              <a:gd name="adj1" fmla="val -63602"/>
              <a:gd name="adj2" fmla="val 20971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68580" tIns="8100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为什么不能是综合属性？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619250" y="2790825"/>
            <a:ext cx="1357313" cy="357188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85121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8462963" cy="3225800"/>
          </a:xfrm>
        </p:spPr>
        <p:txBody>
          <a:bodyPr/>
          <a:lstStyle/>
          <a:p>
            <a:pPr marL="272654" indent="-272654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一个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kumimoji="1" lang="en-US" altLang="zh-CN" sz="2800" b="1" i="1" dirty="0">
                <a:solidFill>
                  <a:srgbClr val="FF0000"/>
                </a:solidFill>
                <a:cs typeface="Times New Roman" pitchFamily="18" charset="0"/>
              </a:rPr>
              <a:t>L</a:t>
            </a:r>
            <a:r>
              <a:rPr kumimoji="1" lang="en-US" altLang="zh-CN" sz="2800" b="1" dirty="0">
                <a:solidFill>
                  <a:srgbClr val="FF0000"/>
                </a:solidFill>
                <a:cs typeface="Times New Roman" pitchFamily="18" charset="0"/>
              </a:rPr>
              <a:t>-</a:t>
            </a:r>
            <a:r>
              <a:rPr kumimoji="1" lang="zh-CN" altLang="en-US" sz="2800" b="1" dirty="0">
                <a:solidFill>
                  <a:srgbClr val="FF0000"/>
                </a:solidFill>
                <a:cs typeface="Times New Roman" pitchFamily="18" charset="0"/>
              </a:rPr>
              <a:t>属性定义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，当且仅当它的每个属性要么是一个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，要么是满足如下条件的继承属性：假设存在一个产生式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→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  <a:r>
              <a:rPr kumimoji="1" lang="en-US" altLang="zh-CN" sz="2800" b="1" i="1" dirty="0" err="1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i="1" baseline="-25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，其右部符号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800" b="1" i="1" baseline="-25000" dirty="0">
                <a:solidFill>
                  <a:schemeClr val="tx1"/>
                </a:solidFill>
                <a:cs typeface="Times New Roman" pitchFamily="18" charset="0"/>
              </a:rPr>
              <a:t>i 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(1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仅依赖于下列属性：</a:t>
            </a: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继承属性</a:t>
            </a:r>
            <a:endParaRPr lang="en-US" altLang="zh-CN" sz="2400" b="1" dirty="0">
              <a:solidFill>
                <a:srgbClr val="073E87">
                  <a:lumMod val="60000"/>
                  <a:lumOff val="40000"/>
                </a:srgbClr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产生式中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kumimoji="1"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左边</a:t>
            </a: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的符号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2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… 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i-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的属性</a:t>
            </a:r>
            <a:endParaRPr lang="en-US" altLang="zh-CN" sz="2400" b="1" dirty="0">
              <a:solidFill>
                <a:prstClr val="black"/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本身的属性，但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的全部属性不能在依赖图中形成环路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L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SDD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的正式定义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7891463" y="3475038"/>
            <a:ext cx="488950" cy="377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835900" y="2500313"/>
            <a:ext cx="431800" cy="3794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8053388" y="2879725"/>
            <a:ext cx="0" cy="5953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7567613" y="2554288"/>
            <a:ext cx="214312" cy="377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8377238" y="2514600"/>
            <a:ext cx="217487" cy="379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7523163" y="3492500"/>
            <a:ext cx="215900" cy="377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8386763" y="3492500"/>
            <a:ext cx="217487" cy="377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67500" tIns="35100" rIns="67500" bIns="35100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5" name="Line 33"/>
          <p:cNvSpPr>
            <a:spLocks noChangeShapeType="1"/>
          </p:cNvSpPr>
          <p:nvPr/>
        </p:nvSpPr>
        <p:spPr bwMode="auto">
          <a:xfrm flipH="1" flipV="1">
            <a:off x="8485188" y="2879725"/>
            <a:ext cx="0" cy="54133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33"/>
          <p:cNvSpPr>
            <a:spLocks noChangeShapeType="1"/>
          </p:cNvSpPr>
          <p:nvPr/>
        </p:nvSpPr>
        <p:spPr bwMode="auto">
          <a:xfrm>
            <a:off x="7673975" y="2879725"/>
            <a:ext cx="0" cy="59531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33"/>
          <p:cNvSpPr>
            <a:spLocks noChangeShapeType="1"/>
          </p:cNvSpPr>
          <p:nvPr/>
        </p:nvSpPr>
        <p:spPr bwMode="auto">
          <a:xfrm flipH="1">
            <a:off x="7729538" y="2827338"/>
            <a:ext cx="592137" cy="647700"/>
          </a:xfrm>
          <a:prstGeom prst="line">
            <a:avLst/>
          </a:prstGeom>
          <a:noFill/>
          <a:ln w="38100">
            <a:solidFill>
              <a:schemeClr val="hlink"/>
            </a:solidFill>
            <a:prstDash val="lg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33"/>
          <p:cNvSpPr>
            <a:spLocks noChangeShapeType="1"/>
          </p:cNvSpPr>
          <p:nvPr/>
        </p:nvSpPr>
        <p:spPr bwMode="auto">
          <a:xfrm flipV="1">
            <a:off x="7835900" y="2827338"/>
            <a:ext cx="593725" cy="6477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91" name="矩形 18"/>
          <p:cNvSpPr>
            <a:spLocks noChangeArrowheads="1"/>
          </p:cNvSpPr>
          <p:nvPr/>
        </p:nvSpPr>
        <p:spPr bwMode="auto">
          <a:xfrm>
            <a:off x="1619250" y="2790825"/>
            <a:ext cx="1357313" cy="357188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5216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31640" y="1048040"/>
            <a:ext cx="6480720" cy="3423085"/>
            <a:chOff x="214313" y="1211263"/>
            <a:chExt cx="4598987" cy="342308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214313" y="1211263"/>
              <a:ext cx="4598987" cy="342308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 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(1)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F 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= F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           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marL="457200" marR="0" lvl="0" indent="-45720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(2)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*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F T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 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 × 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  <a:p>
              <a:pPr marL="457200" marR="0" lvl="0" indent="-45720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                  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.syn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     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(3)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ε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inh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(4)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 digit       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= 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digit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.lexval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93222" name="Line 7"/>
            <p:cNvSpPr>
              <a:spLocks noChangeShapeType="1"/>
            </p:cNvSpPr>
            <p:nvPr/>
          </p:nvSpPr>
          <p:spPr bwMode="auto">
            <a:xfrm>
              <a:off x="231775" y="1571303"/>
              <a:ext cx="4581525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93223" name="直接连接符 2"/>
            <p:cNvCxnSpPr>
              <a:cxnSpLocks noChangeShapeType="1"/>
            </p:cNvCxnSpPr>
            <p:nvPr/>
          </p:nvCxnSpPr>
          <p:spPr bwMode="auto">
            <a:xfrm flipH="1">
              <a:off x="572012" y="1211263"/>
              <a:ext cx="1588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3224" name="直接连接符 4"/>
            <p:cNvCxnSpPr>
              <a:cxnSpLocks noChangeShapeType="1"/>
            </p:cNvCxnSpPr>
            <p:nvPr/>
          </p:nvCxnSpPr>
          <p:spPr bwMode="auto">
            <a:xfrm>
              <a:off x="2100263" y="1211263"/>
              <a:ext cx="4745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32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L-SDD</a:t>
            </a:r>
            <a:endParaRPr lang="zh-CN" altLang="en-US" sz="3000" i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3" name="组合 47"/>
          <p:cNvGrpSpPr>
            <a:grpSpLocks/>
          </p:cNvGrpSpPr>
          <p:nvPr/>
        </p:nvGrpSpPr>
        <p:grpSpPr bwMode="auto">
          <a:xfrm>
            <a:off x="1568450" y="2055813"/>
            <a:ext cx="3517900" cy="2944812"/>
            <a:chOff x="3371542" y="2780928"/>
            <a:chExt cx="3516546" cy="2944504"/>
          </a:xfrm>
        </p:grpSpPr>
        <p:sp>
          <p:nvSpPr>
            <p:cNvPr id="49" name="矩形 48"/>
            <p:cNvSpPr>
              <a:spLocks noChangeArrowheads="1"/>
            </p:cNvSpPr>
            <p:nvPr/>
          </p:nvSpPr>
          <p:spPr bwMode="auto">
            <a:xfrm>
              <a:off x="5880414" y="2780928"/>
              <a:ext cx="86326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矩形 49"/>
            <p:cNvSpPr>
              <a:spLocks noChangeArrowheads="1"/>
            </p:cNvSpPr>
            <p:nvPr/>
          </p:nvSpPr>
          <p:spPr bwMode="auto">
            <a:xfrm>
              <a:off x="5880414" y="3715867"/>
              <a:ext cx="1007674" cy="360325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矩形 50"/>
            <p:cNvSpPr>
              <a:spLocks noChangeArrowheads="1"/>
            </p:cNvSpPr>
            <p:nvPr/>
          </p:nvSpPr>
          <p:spPr bwMode="auto">
            <a:xfrm>
              <a:off x="5951823" y="4796842"/>
              <a:ext cx="79185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矩形 51"/>
            <p:cNvSpPr>
              <a:spLocks noChangeArrowheads="1"/>
            </p:cNvSpPr>
            <p:nvPr/>
          </p:nvSpPr>
          <p:spPr bwMode="auto">
            <a:xfrm>
              <a:off x="5951823" y="4292070"/>
              <a:ext cx="864855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5"/>
            <p:cNvSpPr>
              <a:spLocks noChangeShapeType="1"/>
            </p:cNvSpPr>
            <p:nvPr/>
          </p:nvSpPr>
          <p:spPr bwMode="auto">
            <a:xfrm flipH="1">
              <a:off x="4913998" y="2923788"/>
              <a:ext cx="963242" cy="253814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54" name="Line 5"/>
            <p:cNvSpPr>
              <a:spLocks noChangeShapeType="1"/>
            </p:cNvSpPr>
            <p:nvPr/>
          </p:nvSpPr>
          <p:spPr bwMode="auto">
            <a:xfrm flipH="1">
              <a:off x="4991756" y="3901586"/>
              <a:ext cx="880723" cy="143653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55" name="Line 5"/>
            <p:cNvSpPr>
              <a:spLocks noChangeShapeType="1"/>
            </p:cNvSpPr>
            <p:nvPr/>
          </p:nvSpPr>
          <p:spPr bwMode="auto">
            <a:xfrm flipH="1">
              <a:off x="4994930" y="4652394"/>
              <a:ext cx="953720" cy="685728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56" name="Line 5"/>
            <p:cNvSpPr>
              <a:spLocks noChangeShapeType="1"/>
            </p:cNvSpPr>
            <p:nvPr/>
          </p:nvSpPr>
          <p:spPr bwMode="auto">
            <a:xfrm flipH="1">
              <a:off x="4994930" y="5227009"/>
              <a:ext cx="953720" cy="184131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77843" name="矩形 56"/>
            <p:cNvSpPr>
              <a:spLocks noChangeArrowheads="1"/>
            </p:cNvSpPr>
            <p:nvPr/>
          </p:nvSpPr>
          <p:spPr bwMode="auto">
            <a:xfrm>
              <a:off x="3371542" y="5201612"/>
              <a:ext cx="1620214" cy="523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综合属性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57"/>
          <p:cNvGrpSpPr>
            <a:grpSpLocks/>
          </p:cNvGrpSpPr>
          <p:nvPr/>
        </p:nvGrpSpPr>
        <p:grpSpPr bwMode="auto">
          <a:xfrm>
            <a:off x="4057650" y="330200"/>
            <a:ext cx="4171950" cy="2552700"/>
            <a:chOff x="5872829" y="1141583"/>
            <a:chExt cx="4171708" cy="2552806"/>
          </a:xfrm>
        </p:grpSpPr>
        <p:sp>
          <p:nvSpPr>
            <p:cNvPr id="77830" name="矩形 48"/>
            <p:cNvSpPr>
              <a:spLocks noChangeArrowheads="1"/>
            </p:cNvSpPr>
            <p:nvPr/>
          </p:nvSpPr>
          <p:spPr bwMode="auto">
            <a:xfrm>
              <a:off x="5902296" y="2384375"/>
              <a:ext cx="864096" cy="360363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831" name="矩形 49"/>
            <p:cNvSpPr>
              <a:spLocks noChangeArrowheads="1"/>
            </p:cNvSpPr>
            <p:nvPr/>
          </p:nvSpPr>
          <p:spPr bwMode="auto">
            <a:xfrm>
              <a:off x="5872829" y="3334026"/>
              <a:ext cx="985792" cy="360363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832" name="Line 5"/>
            <p:cNvSpPr>
              <a:spLocks noChangeShapeType="1"/>
            </p:cNvSpPr>
            <p:nvPr/>
          </p:nvSpPr>
          <p:spPr bwMode="auto">
            <a:xfrm flipV="1">
              <a:off x="6851798" y="1349950"/>
              <a:ext cx="1584177" cy="115855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833" name="Line 5"/>
            <p:cNvSpPr>
              <a:spLocks noChangeShapeType="1"/>
            </p:cNvSpPr>
            <p:nvPr/>
          </p:nvSpPr>
          <p:spPr bwMode="auto">
            <a:xfrm flipV="1">
              <a:off x="6858621" y="1406352"/>
              <a:ext cx="1522417" cy="209530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834" name="矩形 52"/>
            <p:cNvSpPr>
              <a:spLocks noChangeArrowheads="1"/>
            </p:cNvSpPr>
            <p:nvPr/>
          </p:nvSpPr>
          <p:spPr bwMode="auto">
            <a:xfrm>
              <a:off x="8423580" y="1141583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继承属性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3528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内容占位符 2"/>
          <p:cNvSpPr>
            <a:spLocks noGrp="1"/>
          </p:cNvSpPr>
          <p:nvPr>
            <p:ph idx="1"/>
          </p:nvPr>
        </p:nvSpPr>
        <p:spPr>
          <a:xfrm>
            <a:off x="755650" y="987425"/>
            <a:ext cx="1285875" cy="714375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例</a:t>
            </a:r>
            <a:r>
              <a:rPr lang="en-US" altLang="zh-CN" sz="3000" b="1" dirty="0">
                <a:solidFill>
                  <a:schemeClr val="tx1"/>
                </a:solidFill>
              </a:rPr>
              <a:t>2</a:t>
            </a:r>
            <a:endParaRPr lang="zh-CN" altLang="en-US" sz="3000" b="1" dirty="0">
              <a:solidFill>
                <a:schemeClr val="tx1"/>
              </a:solidFill>
            </a:endParaRPr>
          </a:p>
        </p:txBody>
      </p:sp>
      <p:sp>
        <p:nvSpPr>
          <p:cNvPr id="3687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2411413" y="1087438"/>
            <a:ext cx="4249737" cy="3341687"/>
            <a:chOff x="6304185" y="526505"/>
            <a:chExt cx="4250229" cy="334245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1" name="矩形 10"/>
            <p:cNvSpPr/>
            <p:nvPr/>
          </p:nvSpPr>
          <p:spPr>
            <a:xfrm>
              <a:off x="6304185" y="526505"/>
              <a:ext cx="4231177" cy="334245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+mn-cs"/>
                </a:rPr>
                <a:t>(1)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LM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A.i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M.i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A.s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+mn-cs"/>
                </a:rPr>
                <a:t>(2)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QR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R.i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A.i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Q.i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8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A.s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6304185" y="952053"/>
              <a:ext cx="4231177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039523" y="526505"/>
              <a:ext cx="0" cy="3342453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323237" y="2420826"/>
              <a:ext cx="4231177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2395538" y="2598738"/>
            <a:ext cx="2405062" cy="2444750"/>
            <a:chOff x="2395571" y="2599414"/>
            <a:chExt cx="2405374" cy="2444578"/>
          </a:xfrm>
        </p:grpSpPr>
        <p:sp>
          <p:nvSpPr>
            <p:cNvPr id="79889" name="矩形 48"/>
            <p:cNvSpPr>
              <a:spLocks noChangeArrowheads="1"/>
            </p:cNvSpPr>
            <p:nvPr/>
          </p:nvSpPr>
          <p:spPr bwMode="auto">
            <a:xfrm>
              <a:off x="4222968" y="2599414"/>
              <a:ext cx="577977" cy="342013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890" name="矩形 49"/>
            <p:cNvSpPr>
              <a:spLocks noChangeArrowheads="1"/>
            </p:cNvSpPr>
            <p:nvPr/>
          </p:nvSpPr>
          <p:spPr bwMode="auto">
            <a:xfrm>
              <a:off x="4222968" y="4018367"/>
              <a:ext cx="577977" cy="381910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891" name="Line 5"/>
            <p:cNvSpPr>
              <a:spLocks noChangeShapeType="1"/>
            </p:cNvSpPr>
            <p:nvPr/>
          </p:nvSpPr>
          <p:spPr bwMode="auto">
            <a:xfrm flipV="1">
              <a:off x="3563888" y="2743030"/>
              <a:ext cx="678103" cy="17777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892" name="Line 5"/>
            <p:cNvSpPr>
              <a:spLocks noChangeShapeType="1"/>
            </p:cNvSpPr>
            <p:nvPr/>
          </p:nvSpPr>
          <p:spPr bwMode="auto">
            <a:xfrm flipV="1">
              <a:off x="3563888" y="4110014"/>
              <a:ext cx="659080" cy="41075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893" name="矩形 52"/>
            <p:cNvSpPr>
              <a:spLocks noChangeArrowheads="1"/>
            </p:cNvSpPr>
            <p:nvPr/>
          </p:nvSpPr>
          <p:spPr bwMode="auto">
            <a:xfrm>
              <a:off x="2395571" y="4520772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综合属性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98475" y="1604963"/>
            <a:ext cx="4318000" cy="2335212"/>
            <a:chOff x="499244" y="1604535"/>
            <a:chExt cx="4317552" cy="2335367"/>
          </a:xfrm>
        </p:grpSpPr>
        <p:sp>
          <p:nvSpPr>
            <p:cNvPr id="31" name="矩形 30"/>
            <p:cNvSpPr>
              <a:spLocks noChangeArrowheads="1"/>
            </p:cNvSpPr>
            <p:nvPr/>
          </p:nvSpPr>
          <p:spPr bwMode="auto">
            <a:xfrm>
              <a:off x="4223133" y="1604535"/>
              <a:ext cx="525408" cy="411189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矩形 31"/>
            <p:cNvSpPr>
              <a:spLocks noChangeArrowheads="1"/>
            </p:cNvSpPr>
            <p:nvPr/>
          </p:nvSpPr>
          <p:spPr bwMode="auto">
            <a:xfrm>
              <a:off x="4212022" y="2130032"/>
              <a:ext cx="604774" cy="357212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矩形 32"/>
            <p:cNvSpPr>
              <a:spLocks noChangeArrowheads="1"/>
            </p:cNvSpPr>
            <p:nvPr/>
          </p:nvSpPr>
          <p:spPr bwMode="auto">
            <a:xfrm>
              <a:off x="4212022" y="3581103"/>
              <a:ext cx="552393" cy="358799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矩形 33"/>
            <p:cNvSpPr>
              <a:spLocks noChangeArrowheads="1"/>
            </p:cNvSpPr>
            <p:nvPr/>
          </p:nvSpPr>
          <p:spPr bwMode="auto">
            <a:xfrm>
              <a:off x="4212022" y="3085770"/>
              <a:ext cx="552393" cy="390551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 flipH="1">
              <a:off x="2042134" y="1814099"/>
              <a:ext cx="2180999" cy="504859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36" name="Line 5"/>
            <p:cNvSpPr>
              <a:spLocks noChangeShapeType="1"/>
            </p:cNvSpPr>
            <p:nvPr/>
          </p:nvSpPr>
          <p:spPr bwMode="auto">
            <a:xfrm>
              <a:off x="2042134" y="2334833"/>
              <a:ext cx="2104807" cy="12701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37" name="Line 5"/>
            <p:cNvSpPr>
              <a:spLocks noChangeShapeType="1"/>
            </p:cNvSpPr>
            <p:nvPr/>
          </p:nvSpPr>
          <p:spPr bwMode="auto">
            <a:xfrm>
              <a:off x="2042134" y="2364997"/>
              <a:ext cx="2180999" cy="900173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2042134" y="2347534"/>
              <a:ext cx="2180999" cy="1435195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SimSun" panose="02010600030101010101" pitchFamily="2" charset="-122"/>
                <a:cs typeface="+mn-cs"/>
              </a:endParaRPr>
            </a:p>
          </p:txBody>
        </p:sp>
        <p:sp>
          <p:nvSpPr>
            <p:cNvPr id="79888" name="矩形 56"/>
            <p:cNvSpPr>
              <a:spLocks noChangeArrowheads="1"/>
            </p:cNvSpPr>
            <p:nvPr/>
          </p:nvSpPr>
          <p:spPr bwMode="auto">
            <a:xfrm>
              <a:off x="499244" y="2046076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继承属性</a:t>
              </a: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737225" y="3503613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×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75A21-4D54-4A6B-95C2-C3F87DD39E44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9977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00225"/>
            <a:ext cx="1274762" cy="771525"/>
          </a:xfrm>
        </p:spPr>
        <p:txBody>
          <a:bodyPr/>
          <a:lstStyle/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kumimoji="1" lang="en-US" altLang="zh-CN" sz="5000"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kumimoji="1"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语法制导翻译方案</a:t>
            </a:r>
            <a:r>
              <a:rPr kumimoji="1"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SDT</a:t>
            </a:r>
            <a:endParaRPr kumimoji="1"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480666" y="1970376"/>
            <a:ext cx="4278312" cy="2416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6353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66763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39825" indent="-3032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2413" indent="-3032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947863" indent="-3032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377381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804090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30799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509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real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id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" y="785813"/>
            <a:ext cx="8486775" cy="11430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72654" marR="0" lvl="0" indent="-272654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语法制导翻译方案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是在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产生式右部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中嵌入了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程序片段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称为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语义动作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CFG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3B8A51-55A0-4B73-A4EC-9A39A52F17C7}"/>
              </a:ext>
            </a:extLst>
          </p:cNvPr>
          <p:cNvSpPr/>
          <p:nvPr/>
        </p:nvSpPr>
        <p:spPr>
          <a:xfrm>
            <a:off x="400050" y="4500563"/>
            <a:ext cx="8315325" cy="461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一个语义动作在产生式中的位置决定了这个动作的执行时间</a:t>
            </a:r>
          </a:p>
        </p:txBody>
      </p:sp>
    </p:spTree>
    <p:extLst>
      <p:ext uri="{BB962C8B-B14F-4D97-AF65-F5344CB8AC3E}">
        <p14:creationId xmlns:p14="http://schemas.microsoft.com/office/powerpoint/2010/main" val="217691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846263"/>
            <a:ext cx="8821738" cy="3225800"/>
          </a:xfrm>
        </p:spPr>
        <p:txBody>
          <a:bodyPr/>
          <a:lstStyle/>
          <a:p>
            <a:pPr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可以看作是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的具体实施方案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本节主要关注如何使用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来实现两类重要的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，因为在这两种情况下，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可在语法分析过程中实现</a:t>
            </a:r>
            <a:endParaRPr lang="en-US" altLang="zh-CN" sz="28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基本文法可以使用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分析技术，且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属性的</a:t>
            </a:r>
          </a:p>
          <a:p>
            <a:pPr lvl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基本文法可以使用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LL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分析技术，且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属性的</a:t>
            </a:r>
          </a:p>
          <a:p>
            <a:pPr marL="0" indent="0">
              <a:lnSpc>
                <a:spcPts val="3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endParaRPr lang="en-US" altLang="zh-CN" sz="28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ts val="3800"/>
              </a:lnSpc>
              <a:defRPr/>
            </a:pPr>
            <a:endParaRPr kumimoji="1" lang="en-US" altLang="zh-CN" sz="18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endParaRPr kumimoji="1" lang="en-US" altLang="zh-CN" sz="5000" dirty="0"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5425" y="785813"/>
            <a:ext cx="8486775" cy="11430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72654" marR="0" lvl="0" indent="-272654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语法制导翻译方案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是在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产生式右部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中嵌入了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程序片段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称为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语义动作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CFG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语法制导翻译方案</a:t>
            </a:r>
            <a:r>
              <a:rPr kumimoji="1"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SDT</a:t>
            </a:r>
            <a:endParaRPr kumimoji="1" lang="zh-CN" altLang="en-US" sz="3000" i="1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794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28625" y="857250"/>
            <a:ext cx="8429625" cy="3225800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将一个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S-SDD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转换为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的方法：将每个语义动作都放在产生式的最后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4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S-SDD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转换为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697538" y="2386013"/>
            <a:ext cx="1303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25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254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SDT</a:t>
            </a:r>
          </a:p>
        </p:txBody>
      </p:sp>
      <p:grpSp>
        <p:nvGrpSpPr>
          <p:cNvPr id="4" name="组合 7"/>
          <p:cNvGrpSpPr>
            <a:grpSpLocks/>
          </p:cNvGrpSpPr>
          <p:nvPr/>
        </p:nvGrpSpPr>
        <p:grpSpPr bwMode="auto">
          <a:xfrm>
            <a:off x="357188" y="2511425"/>
            <a:ext cx="4232275" cy="2338388"/>
            <a:chOff x="1376363" y="3787775"/>
            <a:chExt cx="4232275" cy="2338388"/>
          </a:xfrm>
        </p:grpSpPr>
        <p:sp>
          <p:nvSpPr>
            <p:cNvPr id="9" name="矩形 8"/>
            <p:cNvSpPr/>
            <p:nvPr/>
          </p:nvSpPr>
          <p:spPr>
            <a:xfrm>
              <a:off x="1376363" y="3787775"/>
              <a:ext cx="4232275" cy="23082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376363" y="4075113"/>
              <a:ext cx="42322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978150" y="3787775"/>
              <a:ext cx="0" cy="2338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4725988" y="2784475"/>
            <a:ext cx="4032250" cy="2030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L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E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*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(5)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(6)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(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)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(7)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digit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digit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lexval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412875" y="2136775"/>
            <a:ext cx="1558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25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254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S-SDD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5243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258763" y="846138"/>
            <a:ext cx="8428037" cy="3225800"/>
          </a:xfrm>
        </p:spPr>
        <p:txBody>
          <a:bodyPr/>
          <a:lstStyle/>
          <a:p>
            <a:pPr>
              <a:lnSpc>
                <a:spcPts val="33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如果一个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S-SDD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的基本文法可以使用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分析技术，那么它的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可以在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语法分析过程中实现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3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00" b="1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en-US" altLang="zh-CN" sz="2600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属性定义的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SDT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实现</a:t>
            </a:r>
            <a:endParaRPr lang="zh-CN" altLang="en-US" sz="30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107950" y="2100263"/>
            <a:ext cx="3527425" cy="2462212"/>
            <a:chOff x="107504" y="2288346"/>
            <a:chExt cx="3528393" cy="2463418"/>
          </a:xfrm>
        </p:grpSpPr>
        <p:grpSp>
          <p:nvGrpSpPr>
            <p:cNvPr id="14345" name="组合 3"/>
            <p:cNvGrpSpPr>
              <a:grpSpLocks/>
            </p:cNvGrpSpPr>
            <p:nvPr/>
          </p:nvGrpSpPr>
          <p:grpSpPr bwMode="auto">
            <a:xfrm>
              <a:off x="107504" y="2628106"/>
              <a:ext cx="3528393" cy="2123658"/>
              <a:chOff x="1376363" y="3787775"/>
              <a:chExt cx="3528393" cy="212365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376363" y="3787906"/>
                <a:ext cx="3528393" cy="212352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产生式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	  	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语义规则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(1)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n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  <a:endPara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(2)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   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E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(3)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(4)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*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×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(5)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(6)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(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)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(7)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digit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digit</a:t>
                </a:r>
                <a:r>
                  <a:rPr kumimoji="0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lexval</a:t>
                </a:r>
                <a:endPara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1376363" y="4075384"/>
                <a:ext cx="3528393" cy="158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2745164" y="3787906"/>
                <a:ext cx="0" cy="21235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矩形 7"/>
            <p:cNvSpPr/>
            <p:nvPr/>
          </p:nvSpPr>
          <p:spPr>
            <a:xfrm>
              <a:off x="683925" y="2288346"/>
              <a:ext cx="1559353" cy="4002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27062" marR="0" lvl="2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S-SDD</a:t>
              </a:r>
            </a:p>
          </p:txBody>
        </p:sp>
      </p:grpSp>
      <p:grpSp>
        <p:nvGrpSpPr>
          <p:cNvPr id="9" name="组合 13"/>
          <p:cNvGrpSpPr>
            <a:grpSpLocks/>
          </p:cNvGrpSpPr>
          <p:nvPr/>
        </p:nvGrpSpPr>
        <p:grpSpPr bwMode="auto">
          <a:xfrm>
            <a:off x="3797300" y="1506538"/>
            <a:ext cx="5303838" cy="3625850"/>
            <a:chOff x="271244" y="1749769"/>
            <a:chExt cx="6344963" cy="5108231"/>
          </a:xfrm>
        </p:grpSpPr>
        <p:pic>
          <p:nvPicPr>
            <p:cNvPr id="14343" name="图片 1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244" y="2134623"/>
              <a:ext cx="6269118" cy="4723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4" name="矩形 15"/>
            <p:cNvSpPr>
              <a:spLocks noChangeArrowheads="1"/>
            </p:cNvSpPr>
            <p:nvPr/>
          </p:nvSpPr>
          <p:spPr bwMode="auto">
            <a:xfrm>
              <a:off x="5029883" y="1749769"/>
              <a:ext cx="1586324" cy="737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SLR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自动机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71438" y="4619625"/>
            <a:ext cx="4030662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发生时执行相应的语义动作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8137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8"/>
          <p:cNvSpPr>
            <a:spLocks noChangeArrowheads="1"/>
          </p:cNvSpPr>
          <p:nvPr/>
        </p:nvSpPr>
        <p:spPr bwMode="auto">
          <a:xfrm>
            <a:off x="1020763" y="744538"/>
            <a:ext cx="138112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5EAE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扩展的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LR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语法分析栈</a:t>
            </a:r>
          </a:p>
        </p:txBody>
      </p:sp>
      <p:graphicFrame>
        <p:nvGraphicFramePr>
          <p:cNvPr id="6" name="Group 125"/>
          <p:cNvGraphicFramePr>
            <a:graphicFrameLocks noGrp="1"/>
          </p:cNvGraphicFramePr>
          <p:nvPr/>
        </p:nvGraphicFramePr>
        <p:xfrm>
          <a:off x="1012825" y="1030288"/>
          <a:ext cx="4394200" cy="3640148"/>
        </p:xfrm>
        <a:graphic>
          <a:graphicData uri="http://schemas.openxmlformats.org/drawingml/2006/table">
            <a:tbl>
              <a:tblPr/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状态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文法符号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m-2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X.x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m-1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Y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Y.y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m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Z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Z.z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68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420" name="Text Box 2"/>
          <p:cNvSpPr txBox="1">
            <a:spLocks noChangeArrowheads="1"/>
          </p:cNvSpPr>
          <p:nvPr/>
        </p:nvSpPr>
        <p:spPr bwMode="auto">
          <a:xfrm>
            <a:off x="250825" y="3216275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top</a:t>
            </a:r>
          </a:p>
        </p:txBody>
      </p:sp>
      <p:sp>
        <p:nvSpPr>
          <p:cNvPr id="8" name="Line 13"/>
          <p:cNvSpPr>
            <a:spLocks noChangeShapeType="1"/>
          </p:cNvSpPr>
          <p:nvPr/>
        </p:nvSpPr>
        <p:spPr bwMode="auto">
          <a:xfrm>
            <a:off x="250825" y="3795713"/>
            <a:ext cx="685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451475" y="3113088"/>
            <a:ext cx="457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143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若支持多个属性</a:t>
            </a:r>
          </a:p>
          <a:p>
            <a:pPr marL="614363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使栈记录变得足够大</a:t>
            </a:r>
          </a:p>
          <a:p>
            <a:pPr marL="614363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在栈记录中存放指针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5143500" y="206375"/>
            <a:ext cx="3797300" cy="865188"/>
          </a:xfrm>
          <a:prstGeom prst="wedgeRoundRectCallout">
            <a:avLst>
              <a:gd name="adj1" fmla="val -39869"/>
              <a:gd name="adj2" fmla="val 79745"/>
              <a:gd name="adj3" fmla="val 16667"/>
            </a:avLst>
          </a:prstGeom>
          <a:solidFill>
            <a:srgbClr val="FFCC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在分析栈中使用一个附加的域来存放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综合属性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值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5652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1362075"/>
            <a:ext cx="2462212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8174038" cy="358775"/>
          </a:xfrm>
        </p:spPr>
        <p:txBody>
          <a:bodyPr/>
          <a:lstStyle/>
          <a:p>
            <a:r>
              <a:rPr lang="zh-CN" altLang="en-US" sz="2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将语义动作中的抽象定义式改写成具体可执行的栈操作</a:t>
            </a:r>
          </a:p>
        </p:txBody>
      </p:sp>
      <p:sp>
        <p:nvSpPr>
          <p:cNvPr id="118787" name="Text Box 24"/>
          <p:cNvSpPr txBox="1">
            <a:spLocks noChangeArrowheads="1"/>
          </p:cNvSpPr>
          <p:nvPr/>
        </p:nvSpPr>
        <p:spPr bwMode="auto">
          <a:xfrm>
            <a:off x="2605088" y="2519363"/>
            <a:ext cx="3794125" cy="3778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  <a:miter lim="800000"/>
            <a:headEnd/>
            <a:tailEnd type="none" w="lg" len="lg"/>
          </a:ln>
        </p:spPr>
        <p:txBody>
          <a:bodyPr lIns="67500" tIns="35100" rIns="67500" bIns="3510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XYZ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{ 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a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=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f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, 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Y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y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, 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Z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z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) }</a:t>
            </a:r>
          </a:p>
        </p:txBody>
      </p:sp>
      <p:grpSp>
        <p:nvGrpSpPr>
          <p:cNvPr id="2" name="组合 22"/>
          <p:cNvGrpSpPr>
            <a:grpSpLocks/>
          </p:cNvGrpSpPr>
          <p:nvPr/>
        </p:nvGrpSpPr>
        <p:grpSpPr bwMode="auto">
          <a:xfrm>
            <a:off x="2706688" y="928688"/>
            <a:ext cx="3794125" cy="1301750"/>
            <a:chOff x="2706688" y="928688"/>
            <a:chExt cx="3794125" cy="1301750"/>
          </a:xfrm>
        </p:grpSpPr>
        <p:sp>
          <p:nvSpPr>
            <p:cNvPr id="18446" name="Text Box 24"/>
            <p:cNvSpPr txBox="1">
              <a:spLocks noChangeArrowheads="1"/>
            </p:cNvSpPr>
            <p:nvPr/>
          </p:nvSpPr>
          <p:spPr bwMode="auto">
            <a:xfrm>
              <a:off x="2706688" y="928688"/>
              <a:ext cx="3794125" cy="130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67500" tIns="35100" rIns="67500" bIns="3510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 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Z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z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rot="5400000">
              <a:off x="4321970" y="1605756"/>
              <a:ext cx="500062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4725988" y="1357313"/>
              <a:ext cx="703262" cy="5715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10800000" flipV="1">
              <a:off x="3857625" y="1357313"/>
              <a:ext cx="581025" cy="5715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755650" y="2901950"/>
            <a:ext cx="7286625" cy="2184335"/>
            <a:chOff x="755650" y="2901950"/>
            <a:chExt cx="7286625" cy="2184335"/>
          </a:xfrm>
        </p:grpSpPr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755650" y="3845849"/>
              <a:ext cx="7286625" cy="124043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stack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[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top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-2].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stack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[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top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-2].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val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stack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[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top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-1].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val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,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stack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[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top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].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stack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[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top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-2].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symb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A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top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=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top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-2;</a:t>
              </a:r>
            </a:p>
          </p:txBody>
        </p:sp>
        <p:cxnSp>
          <p:nvCxnSpPr>
            <p:cNvPr id="18443" name="直接箭头连接符 18"/>
            <p:cNvCxnSpPr>
              <a:cxnSpLocks noChangeShapeType="1"/>
            </p:cNvCxnSpPr>
            <p:nvPr/>
          </p:nvCxnSpPr>
          <p:spPr bwMode="auto">
            <a:xfrm flipH="1">
              <a:off x="3857625" y="2923673"/>
              <a:ext cx="1183998" cy="1100023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4" name="直接箭头连接符 19"/>
            <p:cNvCxnSpPr>
              <a:cxnSpLocks noChangeShapeType="1"/>
            </p:cNvCxnSpPr>
            <p:nvPr/>
          </p:nvCxnSpPr>
          <p:spPr bwMode="auto">
            <a:xfrm>
              <a:off x="5491556" y="2906373"/>
              <a:ext cx="132660" cy="1117323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5" name="直接箭头连接符 20"/>
            <p:cNvCxnSpPr>
              <a:cxnSpLocks noChangeShapeType="1"/>
            </p:cNvCxnSpPr>
            <p:nvPr/>
          </p:nvCxnSpPr>
          <p:spPr bwMode="auto">
            <a:xfrm>
              <a:off x="5914816" y="2901950"/>
              <a:ext cx="1233646" cy="977622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20845" name="直接箭头连接符 21"/>
          <p:cNvCxnSpPr>
            <a:cxnSpLocks noChangeShapeType="1"/>
          </p:cNvCxnSpPr>
          <p:nvPr/>
        </p:nvCxnSpPr>
        <p:spPr bwMode="auto">
          <a:xfrm flipH="1">
            <a:off x="2244725" y="2924175"/>
            <a:ext cx="1944688" cy="95567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右箭头 4"/>
          <p:cNvSpPr>
            <a:spLocks noChangeArrowheads="1"/>
          </p:cNvSpPr>
          <p:nvPr/>
        </p:nvSpPr>
        <p:spPr bwMode="auto">
          <a:xfrm>
            <a:off x="3298825" y="2197100"/>
            <a:ext cx="2808288" cy="282575"/>
          </a:xfrm>
          <a:prstGeom prst="rightArrow">
            <a:avLst>
              <a:gd name="adj1" fmla="val 50000"/>
              <a:gd name="adj2" fmla="val 49829"/>
            </a:avLst>
          </a:prstGeom>
          <a:solidFill>
            <a:srgbClr val="FFCC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1843088"/>
            <a:ext cx="2379662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5286548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例：在自底向上语法分析栈中实现桌面计算器</a:t>
            </a:r>
          </a:p>
        </p:txBody>
      </p:sp>
      <p:grpSp>
        <p:nvGrpSpPr>
          <p:cNvPr id="20483" name="组合 11"/>
          <p:cNvGrpSpPr>
            <a:grpSpLocks/>
          </p:cNvGrpSpPr>
          <p:nvPr/>
        </p:nvGrpSpPr>
        <p:grpSpPr bwMode="auto">
          <a:xfrm>
            <a:off x="368300" y="1071563"/>
            <a:ext cx="8347075" cy="3419475"/>
            <a:chOff x="174552" y="2636910"/>
            <a:chExt cx="11130026" cy="4560509"/>
          </a:xfrm>
        </p:grpSpPr>
        <p:sp>
          <p:nvSpPr>
            <p:cNvPr id="6" name="内容占位符 2"/>
            <p:cNvSpPr txBox="1">
              <a:spLocks/>
            </p:cNvSpPr>
            <p:nvPr/>
          </p:nvSpPr>
          <p:spPr bwMode="auto">
            <a:xfrm>
              <a:off x="174552" y="2636910"/>
              <a:ext cx="11130026" cy="45605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txBody>
            <a:bodyPr lIns="51435" tIns="25718" rIns="51435" bIns="25718"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639763" indent="-169863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indent="-169863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18288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2860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27432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2004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产生式                                                    语义动作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(1)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	            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print(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	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print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);}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(2)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E</a:t>
              </a: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+ T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6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+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(3)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T	    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(4)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T</a:t>
              </a: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*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6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(5)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F	   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(6)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 (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)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(7)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→ digit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639763" marR="0" lvl="2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174552" y="3068825"/>
              <a:ext cx="111300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088121" y="2636910"/>
              <a:ext cx="0" cy="4560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966941" y="3068825"/>
              <a:ext cx="0" cy="4128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879698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24932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539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40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245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26980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587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8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5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32858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29028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6635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6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3188" y="2247900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3188" y="262572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1262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31076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8683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84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3188" y="2247900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3188" y="262572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11216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33124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73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32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06700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35172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2779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80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9538" y="2247900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9538" y="262572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11635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37220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4827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28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9538" y="2247900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9538" y="262572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61826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39268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6877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278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7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9538" y="2247900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9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9538" y="262572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092950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19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5510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41316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8923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24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092950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19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8611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000250" y="706438"/>
            <a:ext cx="50022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300" b="1" i="0" u="none" strike="noStrike" kern="1200" cap="none" spc="0" normalizeH="0" baseline="0" noProof="0">
              <a:ln>
                <a:noFill/>
              </a:ln>
              <a:solidFill>
                <a:srgbClr val="5EAE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65138" y="857250"/>
            <a:ext cx="849947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57175" marR="0" lvl="0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L-SDD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转换为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SDT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的规则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将计算某个非终结符号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继承属性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的动作插入到产生式右部中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紧靠在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的本次出现之前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的位置上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将计算一个产生式左部符号的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综合属性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的动作放置在这个产生式右部的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最右端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3000" i="1">
                <a:solidFill>
                  <a:prstClr val="black"/>
                </a:solidFill>
                <a:cs typeface="Times New Roman" panose="02020603050405020304" pitchFamily="18" charset="0"/>
              </a:rPr>
              <a:t>L-SDD</a:t>
            </a:r>
            <a:r>
              <a:rPr lang="zh-CN" altLang="en-US" sz="3000" spc="3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转换为</a:t>
            </a:r>
            <a:r>
              <a:rPr lang="en-US" altLang="zh-CN" sz="3000" i="1">
                <a:solidFill>
                  <a:prstClr val="black"/>
                </a:solidFill>
                <a:cs typeface="Times New Roman" panose="02020603050405020304" pitchFamily="18" charset="0"/>
              </a:rPr>
              <a:t>SDT</a:t>
            </a:r>
            <a:endParaRPr kumimoji="1" lang="zh-CN" altLang="en-US" sz="3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801012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2051050" y="571486"/>
            <a:ext cx="4714875" cy="2611438"/>
            <a:chOff x="214282" y="1210931"/>
            <a:chExt cx="4715291" cy="261177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14282" y="1210931"/>
              <a:ext cx="4715291" cy="261018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       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syn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*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inh 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×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                 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=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.syn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     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(3)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ε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inh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(4)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 digit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.val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digit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.lexval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43376" name="Line 7"/>
            <p:cNvSpPr>
              <a:spLocks noChangeShapeType="1"/>
            </p:cNvSpPr>
            <p:nvPr/>
          </p:nvSpPr>
          <p:spPr bwMode="auto">
            <a:xfrm>
              <a:off x="231703" y="1522401"/>
              <a:ext cx="45819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3377" name="直接连接符 2"/>
            <p:cNvCxnSpPr>
              <a:cxnSpLocks noChangeShapeType="1"/>
            </p:cNvCxnSpPr>
            <p:nvPr/>
          </p:nvCxnSpPr>
          <p:spPr bwMode="auto">
            <a:xfrm>
              <a:off x="626398" y="1210931"/>
              <a:ext cx="0" cy="257206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378" name="直接连接符 4"/>
            <p:cNvCxnSpPr>
              <a:cxnSpLocks noChangeShapeType="1"/>
            </p:cNvCxnSpPr>
            <p:nvPr/>
          </p:nvCxnSpPr>
          <p:spPr bwMode="auto">
            <a:xfrm>
              <a:off x="2066686" y="1210931"/>
              <a:ext cx="0" cy="2611773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571500"/>
            <a:ext cx="1692275" cy="3225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endParaRPr lang="zh-CN" altLang="en-US" sz="30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L-SDD</a:t>
            </a:r>
          </a:p>
          <a:p>
            <a:pPr lvl="1" eaLnBrk="1" hangingPunct="1">
              <a:lnSpc>
                <a:spcPct val="110000"/>
              </a:lnSpc>
            </a:pPr>
            <a:endParaRPr lang="en-US" altLang="zh-CN" sz="3000" b="1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CN" sz="3000" b="1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CN" sz="3000" b="1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kumimoji="1" lang="zh-CN" altLang="en-US" sz="3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329" name="Freeform 9"/>
          <p:cNvSpPr>
            <a:spLocks/>
          </p:cNvSpPr>
          <p:nvPr/>
        </p:nvSpPr>
        <p:spPr bwMode="auto">
          <a:xfrm>
            <a:off x="3551238" y="1117600"/>
            <a:ext cx="428625" cy="382588"/>
          </a:xfrm>
          <a:custGeom>
            <a:avLst/>
            <a:gdLst>
              <a:gd name="T0" fmla="*/ 2147483646 w 454"/>
              <a:gd name="T1" fmla="*/ 2147483646 h 159"/>
              <a:gd name="T2" fmla="*/ 2147483646 w 454"/>
              <a:gd name="T3" fmla="*/ 2147483646 h 159"/>
              <a:gd name="T4" fmla="*/ 0 w 454"/>
              <a:gd name="T5" fmla="*/ 0 h 159"/>
              <a:gd name="T6" fmla="*/ 0 60000 65536"/>
              <a:gd name="T7" fmla="*/ 0 60000 65536"/>
              <a:gd name="T8" fmla="*/ 0 60000 65536"/>
              <a:gd name="T9" fmla="*/ 0 w 454"/>
              <a:gd name="T10" fmla="*/ 0 h 159"/>
              <a:gd name="T11" fmla="*/ 454 w 454"/>
              <a:gd name="T12" fmla="*/ 159 h 1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4" h="159">
                <a:moveTo>
                  <a:pt x="454" y="136"/>
                </a:moveTo>
                <a:cubicBezTo>
                  <a:pt x="446" y="147"/>
                  <a:pt x="439" y="159"/>
                  <a:pt x="363" y="136"/>
                </a:cubicBezTo>
                <a:cubicBezTo>
                  <a:pt x="287" y="113"/>
                  <a:pt x="143" y="56"/>
                  <a:pt x="0" y="0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0" name="Freeform 10"/>
          <p:cNvSpPr>
            <a:spLocks/>
          </p:cNvSpPr>
          <p:nvPr/>
        </p:nvSpPr>
        <p:spPr bwMode="auto">
          <a:xfrm>
            <a:off x="3551238" y="1636713"/>
            <a:ext cx="466725" cy="220662"/>
          </a:xfrm>
          <a:custGeom>
            <a:avLst/>
            <a:gdLst>
              <a:gd name="T0" fmla="*/ 2147483646 w 453"/>
              <a:gd name="T1" fmla="*/ 2147483646 h 219"/>
              <a:gd name="T2" fmla="*/ 2147483646 w 453"/>
              <a:gd name="T3" fmla="*/ 2147483646 h 219"/>
              <a:gd name="T4" fmla="*/ 2147483646 w 453"/>
              <a:gd name="T5" fmla="*/ 2147483646 h 219"/>
              <a:gd name="T6" fmla="*/ 2147483646 w 453"/>
              <a:gd name="T7" fmla="*/ 2147483646 h 219"/>
              <a:gd name="T8" fmla="*/ 0 w 453"/>
              <a:gd name="T9" fmla="*/ 2147483646 h 2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3"/>
              <a:gd name="T16" fmla="*/ 0 h 219"/>
              <a:gd name="T17" fmla="*/ 453 w 453"/>
              <a:gd name="T18" fmla="*/ 219 h 2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3" h="219">
                <a:moveTo>
                  <a:pt x="453" y="196"/>
                </a:moveTo>
                <a:cubicBezTo>
                  <a:pt x="366" y="207"/>
                  <a:pt x="280" y="219"/>
                  <a:pt x="227" y="196"/>
                </a:cubicBezTo>
                <a:cubicBezTo>
                  <a:pt x="174" y="173"/>
                  <a:pt x="166" y="90"/>
                  <a:pt x="136" y="60"/>
                </a:cubicBezTo>
                <a:cubicBezTo>
                  <a:pt x="106" y="30"/>
                  <a:pt x="68" y="0"/>
                  <a:pt x="45" y="15"/>
                </a:cubicBezTo>
                <a:cubicBezTo>
                  <a:pt x="22" y="30"/>
                  <a:pt x="11" y="90"/>
                  <a:pt x="0" y="151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1" name="Freeform 11"/>
          <p:cNvSpPr>
            <a:spLocks/>
          </p:cNvSpPr>
          <p:nvPr/>
        </p:nvSpPr>
        <p:spPr bwMode="auto">
          <a:xfrm>
            <a:off x="3819525" y="1984375"/>
            <a:ext cx="323850" cy="214313"/>
          </a:xfrm>
          <a:custGeom>
            <a:avLst/>
            <a:gdLst>
              <a:gd name="T0" fmla="*/ 2147483646 w 272"/>
              <a:gd name="T1" fmla="*/ 2147483646 h 106"/>
              <a:gd name="T2" fmla="*/ 2147483646 w 272"/>
              <a:gd name="T3" fmla="*/ 2147483646 h 106"/>
              <a:gd name="T4" fmla="*/ 0 w 272"/>
              <a:gd name="T5" fmla="*/ 0 h 106"/>
              <a:gd name="T6" fmla="*/ 0 60000 65536"/>
              <a:gd name="T7" fmla="*/ 0 60000 65536"/>
              <a:gd name="T8" fmla="*/ 0 60000 65536"/>
              <a:gd name="T9" fmla="*/ 0 w 272"/>
              <a:gd name="T10" fmla="*/ 0 h 106"/>
              <a:gd name="T11" fmla="*/ 272 w 272"/>
              <a:gd name="T12" fmla="*/ 106 h 1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106">
                <a:moveTo>
                  <a:pt x="272" y="91"/>
                </a:moveTo>
                <a:cubicBezTo>
                  <a:pt x="204" y="98"/>
                  <a:pt x="136" y="106"/>
                  <a:pt x="91" y="91"/>
                </a:cubicBezTo>
                <a:cubicBezTo>
                  <a:pt x="46" y="76"/>
                  <a:pt x="23" y="38"/>
                  <a:pt x="0" y="0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2" name="Freeform 12"/>
          <p:cNvSpPr>
            <a:spLocks/>
          </p:cNvSpPr>
          <p:nvPr/>
        </p:nvSpPr>
        <p:spPr bwMode="auto">
          <a:xfrm>
            <a:off x="3303588" y="2503488"/>
            <a:ext cx="714375" cy="107950"/>
          </a:xfrm>
          <a:custGeom>
            <a:avLst/>
            <a:gdLst>
              <a:gd name="T0" fmla="*/ 2147483646 w 499"/>
              <a:gd name="T1" fmla="*/ 2147483646 h 90"/>
              <a:gd name="T2" fmla="*/ 2147483646 w 499"/>
              <a:gd name="T3" fmla="*/ 0 h 90"/>
              <a:gd name="T4" fmla="*/ 0 w 499"/>
              <a:gd name="T5" fmla="*/ 2147483646 h 90"/>
              <a:gd name="T6" fmla="*/ 0 60000 65536"/>
              <a:gd name="T7" fmla="*/ 0 60000 65536"/>
              <a:gd name="T8" fmla="*/ 0 60000 65536"/>
              <a:gd name="T9" fmla="*/ 0 w 499"/>
              <a:gd name="T10" fmla="*/ 0 h 90"/>
              <a:gd name="T11" fmla="*/ 499 w 499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9" h="90">
                <a:moveTo>
                  <a:pt x="499" y="90"/>
                </a:moveTo>
                <a:cubicBezTo>
                  <a:pt x="381" y="45"/>
                  <a:pt x="264" y="0"/>
                  <a:pt x="181" y="0"/>
                </a:cubicBezTo>
                <a:cubicBezTo>
                  <a:pt x="98" y="0"/>
                  <a:pt x="49" y="45"/>
                  <a:pt x="0" y="90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3" name="Freeform 13"/>
          <p:cNvSpPr>
            <a:spLocks/>
          </p:cNvSpPr>
          <p:nvPr/>
        </p:nvSpPr>
        <p:spPr bwMode="auto">
          <a:xfrm>
            <a:off x="3603625" y="2960688"/>
            <a:ext cx="431800" cy="53975"/>
          </a:xfrm>
          <a:custGeom>
            <a:avLst/>
            <a:gdLst>
              <a:gd name="T0" fmla="*/ 2147483646 w 363"/>
              <a:gd name="T1" fmla="*/ 2147483646 h 45"/>
              <a:gd name="T2" fmla="*/ 2147483646 w 363"/>
              <a:gd name="T3" fmla="*/ 0 h 45"/>
              <a:gd name="T4" fmla="*/ 0 w 363"/>
              <a:gd name="T5" fmla="*/ 2147483646 h 45"/>
              <a:gd name="T6" fmla="*/ 0 60000 65536"/>
              <a:gd name="T7" fmla="*/ 0 60000 65536"/>
              <a:gd name="T8" fmla="*/ 0 60000 65536"/>
              <a:gd name="T9" fmla="*/ 0 w 363"/>
              <a:gd name="T10" fmla="*/ 0 h 45"/>
              <a:gd name="T11" fmla="*/ 363 w 363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3" h="45">
                <a:moveTo>
                  <a:pt x="363" y="45"/>
                </a:moveTo>
                <a:cubicBezTo>
                  <a:pt x="302" y="22"/>
                  <a:pt x="242" y="0"/>
                  <a:pt x="182" y="0"/>
                </a:cubicBezTo>
                <a:cubicBezTo>
                  <a:pt x="122" y="0"/>
                  <a:pt x="61" y="22"/>
                  <a:pt x="0" y="45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8" name="Freeform 8"/>
          <p:cNvSpPr>
            <a:spLocks/>
          </p:cNvSpPr>
          <p:nvPr/>
        </p:nvSpPr>
        <p:spPr bwMode="auto">
          <a:xfrm>
            <a:off x="3265488" y="820738"/>
            <a:ext cx="714375" cy="250825"/>
          </a:xfrm>
          <a:custGeom>
            <a:avLst/>
            <a:gdLst>
              <a:gd name="T0" fmla="*/ 2147483646 w 544"/>
              <a:gd name="T1" fmla="*/ 2147483646 h 211"/>
              <a:gd name="T2" fmla="*/ 2147483646 w 544"/>
              <a:gd name="T3" fmla="*/ 2147483646 h 211"/>
              <a:gd name="T4" fmla="*/ 2147483646 w 544"/>
              <a:gd name="T5" fmla="*/ 0 h 211"/>
              <a:gd name="T6" fmla="*/ 0 w 544"/>
              <a:gd name="T7" fmla="*/ 2147483646 h 211"/>
              <a:gd name="T8" fmla="*/ 0 60000 65536"/>
              <a:gd name="T9" fmla="*/ 0 60000 65536"/>
              <a:gd name="T10" fmla="*/ 0 60000 65536"/>
              <a:gd name="T11" fmla="*/ 0 60000 65536"/>
              <a:gd name="T12" fmla="*/ 0 w 544"/>
              <a:gd name="T13" fmla="*/ 0 h 211"/>
              <a:gd name="T14" fmla="*/ 544 w 544"/>
              <a:gd name="T15" fmla="*/ 211 h 2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44" h="211">
                <a:moveTo>
                  <a:pt x="544" y="181"/>
                </a:moveTo>
                <a:cubicBezTo>
                  <a:pt x="483" y="196"/>
                  <a:pt x="423" y="211"/>
                  <a:pt x="363" y="181"/>
                </a:cubicBezTo>
                <a:cubicBezTo>
                  <a:pt x="303" y="151"/>
                  <a:pt x="241" y="0"/>
                  <a:pt x="181" y="0"/>
                </a:cubicBezTo>
                <a:cubicBezTo>
                  <a:pt x="121" y="0"/>
                  <a:pt x="60" y="90"/>
                  <a:pt x="0" y="181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043113" y="3378200"/>
            <a:ext cx="6643687" cy="1584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0536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 animBg="1"/>
      <p:bldP spid="56330" grpId="0" animBg="1"/>
      <p:bldP spid="56331" grpId="0" animBg="1"/>
      <p:bldP spid="56332" grpId="0" animBg="1"/>
      <p:bldP spid="56333" grpId="0" animBg="1"/>
      <p:bldP spid="56328" grpId="0" animBg="1"/>
      <p:bldP spid="16" grpId="0" build="allAtOnce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2000250" y="706438"/>
            <a:ext cx="50022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300" b="1" i="0" u="none" strike="noStrike" kern="1200" cap="none" spc="0" normalizeH="0" baseline="0" noProof="0">
              <a:ln>
                <a:noFill/>
              </a:ln>
              <a:solidFill>
                <a:srgbClr val="5EAE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625" y="785813"/>
            <a:ext cx="8355013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000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如果一个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的基本文法可以使用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分析技术，那么它的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语法分析过程中实现</a:t>
            </a: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L-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属性定义的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SDT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实现</a:t>
            </a:r>
            <a:endParaRPr kumimoji="1" lang="zh-CN" altLang="en-US" sz="3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85750" y="2571750"/>
            <a:ext cx="6048375" cy="1376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.inh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T΄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T΄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07150" y="2581275"/>
            <a:ext cx="2519363" cy="1366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(1)=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{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(2)= {  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(3)= {  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(4)= {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9861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2000250" y="706438"/>
            <a:ext cx="50022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300" b="1" i="0" u="none" strike="noStrike" kern="1200" cap="none" spc="0" normalizeH="0" baseline="0" noProof="0">
              <a:ln>
                <a:noFill/>
              </a:ln>
              <a:solidFill>
                <a:srgbClr val="5EAE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625" y="785813"/>
            <a:ext cx="8355013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000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如果一个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的基本文法可以使用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分析技术，那么它的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语法分析过程中实现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在非递归的预测分析过程中进行语义翻译</a:t>
            </a: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在递归的预测分析过程中进行语义翻译</a:t>
            </a: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分析过程中进行语义翻译</a:t>
            </a:r>
          </a:p>
          <a:p>
            <a:pPr marL="257175" marR="0" lvl="0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L-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属性定义的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SDT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实现</a:t>
            </a:r>
            <a:endParaRPr kumimoji="1" lang="zh-CN" altLang="en-US" sz="3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6374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2006600" y="160338"/>
            <a:ext cx="584517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5EAEFF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6. </a:t>
            </a: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在非递归的预测分析过程中进行翻译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012825"/>
            <a:ext cx="4608512" cy="7048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新的语法分析栈</a:t>
            </a:r>
          </a:p>
        </p:txBody>
      </p:sp>
      <p:grpSp>
        <p:nvGrpSpPr>
          <p:cNvPr id="53253" name="组合 1"/>
          <p:cNvGrpSpPr>
            <a:grpSpLocks/>
          </p:cNvGrpSpPr>
          <p:nvPr/>
        </p:nvGrpSpPr>
        <p:grpSpPr bwMode="auto">
          <a:xfrm>
            <a:off x="2752725" y="2284413"/>
            <a:ext cx="4710113" cy="2016125"/>
            <a:chOff x="2752725" y="2283718"/>
            <a:chExt cx="4710113" cy="2016820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2916238" y="3003103"/>
              <a:ext cx="809625" cy="43353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     A</a:t>
              </a:r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2916238" y="2571154"/>
              <a:ext cx="809625" cy="43194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action</a:t>
              </a: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2916238" y="3436640"/>
              <a:ext cx="809625" cy="43194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  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Asyn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53257" name="Line 13"/>
            <p:cNvSpPr>
              <a:spLocks noChangeShapeType="1"/>
            </p:cNvSpPr>
            <p:nvPr/>
          </p:nvSpPr>
          <p:spPr bwMode="auto">
            <a:xfrm flipV="1">
              <a:off x="2752725" y="2627313"/>
              <a:ext cx="0" cy="1239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14"/>
            <p:cNvSpPr>
              <a:spLocks/>
            </p:cNvSpPr>
            <p:nvPr/>
          </p:nvSpPr>
          <p:spPr bwMode="auto">
            <a:xfrm>
              <a:off x="4967288" y="2283718"/>
              <a:ext cx="2495550" cy="641571"/>
            </a:xfrm>
            <a:prstGeom prst="borderCallout2">
              <a:avLst>
                <a:gd name="adj1" fmla="val 18750"/>
                <a:gd name="adj2" fmla="val -3528"/>
                <a:gd name="adj3" fmla="val 20555"/>
                <a:gd name="adj4" fmla="val -14279"/>
                <a:gd name="adj5" fmla="val 73058"/>
                <a:gd name="adj6" fmla="val -26061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指向将被执行的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语义动作代码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的指针</a:t>
              </a:r>
            </a:p>
          </p:txBody>
        </p:sp>
        <p:sp>
          <p:nvSpPr>
            <p:cNvPr id="27" name="AutoShape 15"/>
            <p:cNvSpPr>
              <a:spLocks/>
            </p:cNvSpPr>
            <p:nvPr/>
          </p:nvSpPr>
          <p:spPr bwMode="auto">
            <a:xfrm>
              <a:off x="4967288" y="2996751"/>
              <a:ext cx="1620837" cy="325550"/>
            </a:xfrm>
            <a:prstGeom prst="borderCallout2">
              <a:avLst>
                <a:gd name="adj1" fmla="val 26375"/>
                <a:gd name="adj2" fmla="val -3528"/>
                <a:gd name="adj3" fmla="val 26375"/>
                <a:gd name="adj4" fmla="val -21602"/>
                <a:gd name="adj5" fmla="val 63958"/>
                <a:gd name="adj6" fmla="val -39725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的继承属性</a:t>
              </a:r>
            </a:p>
          </p:txBody>
        </p:sp>
        <p:sp>
          <p:nvSpPr>
            <p:cNvPr id="28" name="AutoShape 16"/>
            <p:cNvSpPr>
              <a:spLocks/>
            </p:cNvSpPr>
            <p:nvPr/>
          </p:nvSpPr>
          <p:spPr bwMode="auto">
            <a:xfrm>
              <a:off x="4967288" y="3425523"/>
              <a:ext cx="1620837" cy="325550"/>
            </a:xfrm>
            <a:prstGeom prst="borderCallout2">
              <a:avLst>
                <a:gd name="adj1" fmla="val 26375"/>
                <a:gd name="adj2" fmla="val -3528"/>
                <a:gd name="adj3" fmla="val 26375"/>
                <a:gd name="adj4" fmla="val -20940"/>
                <a:gd name="adj5" fmla="val 72353"/>
                <a:gd name="adj6" fmla="val -40241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的综合属性</a:t>
              </a:r>
            </a:p>
          </p:txBody>
        </p:sp>
        <p:sp>
          <p:nvSpPr>
            <p:cNvPr id="53261" name="Rectangle 10"/>
            <p:cNvSpPr>
              <a:spLocks noChangeArrowheads="1"/>
            </p:cNvSpPr>
            <p:nvPr/>
          </p:nvSpPr>
          <p:spPr bwMode="auto">
            <a:xfrm>
              <a:off x="2916238" y="3868738"/>
              <a:ext cx="140335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34290" rIns="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Symbol  Value</a:t>
              </a:r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3725863" y="3003103"/>
              <a:ext cx="593725" cy="43353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3725863" y="2571154"/>
              <a:ext cx="593725" cy="4319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3725863" y="3436640"/>
              <a:ext cx="593725" cy="4319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     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897835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矩形 7"/>
          <p:cNvSpPr>
            <a:spLocks noChangeArrowheads="1"/>
          </p:cNvSpPr>
          <p:nvPr/>
        </p:nvSpPr>
        <p:spPr bwMode="auto">
          <a:xfrm>
            <a:off x="1500188" y="2786063"/>
            <a:ext cx="6161087" cy="21447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7218" name="Rectangle 3"/>
          <p:cNvSpPr txBox="1">
            <a:spLocks noChangeArrowheads="1"/>
          </p:cNvSpPr>
          <p:nvPr/>
        </p:nvSpPr>
        <p:spPr bwMode="auto">
          <a:xfrm>
            <a:off x="1285875" y="785813"/>
            <a:ext cx="6643688" cy="1500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251" name="Rectangle 3"/>
          <p:cNvSpPr txBox="1">
            <a:spLocks noChangeArrowheads="1"/>
          </p:cNvSpPr>
          <p:nvPr/>
        </p:nvSpPr>
        <p:spPr bwMode="auto">
          <a:xfrm>
            <a:off x="4519613" y="2786063"/>
            <a:ext cx="3624262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.inh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marL="257175" marR="0" lvl="0" indent="-257175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.syn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.syn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.syn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digit.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252" name="Rectangle 3"/>
          <p:cNvSpPr txBox="1">
            <a:spLocks noChangeArrowheads="1"/>
          </p:cNvSpPr>
          <p:nvPr/>
        </p:nvSpPr>
        <p:spPr bwMode="auto">
          <a:xfrm>
            <a:off x="1571625" y="3289300"/>
            <a:ext cx="2962275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254" name="下箭头 8"/>
          <p:cNvSpPr>
            <a:spLocks noChangeArrowheads="1"/>
          </p:cNvSpPr>
          <p:nvPr/>
        </p:nvSpPr>
        <p:spPr bwMode="auto">
          <a:xfrm>
            <a:off x="4286250" y="2339975"/>
            <a:ext cx="428625" cy="3746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3" name="Rectangle 2"/>
          <p:cNvSpPr>
            <a:spLocks noChangeArrowheads="1"/>
          </p:cNvSpPr>
          <p:nvPr/>
        </p:nvSpPr>
        <p:spPr bwMode="auto">
          <a:xfrm>
            <a:off x="2006600" y="160338"/>
            <a:ext cx="584517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5EAEFF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53878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 animBg="1"/>
      <p:bldP spid="53251" grpId="0"/>
      <p:bldP spid="53252" grpId="0"/>
      <p:bldP spid="5325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50163" y="4014788"/>
            <a:ext cx="593725" cy="4302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320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3200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351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7352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7353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55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inh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syn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syn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inh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= 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digit.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356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SDT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 *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3)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l-GR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80684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0025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0025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Arial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572000" y="4010025"/>
            <a:ext cx="541338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0025"/>
            <a:ext cx="592137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113338" y="4008438"/>
            <a:ext cx="593725" cy="439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76"/>
          <p:cNvSpPr>
            <a:spLocks noChangeArrowheads="1"/>
          </p:cNvSpPr>
          <p:nvPr/>
        </p:nvSpPr>
        <p:spPr bwMode="auto">
          <a:xfrm>
            <a:off x="5113338" y="4438650"/>
            <a:ext cx="593725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0025"/>
            <a:ext cx="5413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45000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07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9408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9409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27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11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412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SDT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 *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3)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l-GR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98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6"/>
          <p:cNvSpPr>
            <a:spLocks noChangeArrowheads="1"/>
          </p:cNvSpPr>
          <p:nvPr/>
        </p:nvSpPr>
        <p:spPr bwMode="auto">
          <a:xfrm>
            <a:off x="5114925" y="4427538"/>
            <a:ext cx="5969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866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320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3200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06850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Arial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478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817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4788"/>
            <a:ext cx="592137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100638" y="4011613"/>
            <a:ext cx="606425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4788"/>
            <a:ext cx="541338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48175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38"/>
          <p:cNvSpPr>
            <a:spLocks noChangeArrowheads="1"/>
          </p:cNvSpPr>
          <p:nvPr/>
        </p:nvSpPr>
        <p:spPr bwMode="auto">
          <a:xfrm>
            <a:off x="4000500" y="4008438"/>
            <a:ext cx="1112838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6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5" name="Rectangle 43"/>
          <p:cNvSpPr>
            <a:spLocks noChangeArrowheads="1"/>
          </p:cNvSpPr>
          <p:nvPr/>
        </p:nvSpPr>
        <p:spPr bwMode="auto">
          <a:xfrm>
            <a:off x="3249613" y="4008438"/>
            <a:ext cx="758825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digit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44"/>
          <p:cNvSpPr>
            <a:spLocks noChangeArrowheads="1"/>
          </p:cNvSpPr>
          <p:nvPr/>
        </p:nvSpPr>
        <p:spPr bwMode="auto">
          <a:xfrm>
            <a:off x="3249613" y="4452938"/>
            <a:ext cx="7588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=3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7" name="Freeform 45"/>
          <p:cNvSpPr>
            <a:spLocks/>
          </p:cNvSpPr>
          <p:nvPr/>
        </p:nvSpPr>
        <p:spPr bwMode="auto">
          <a:xfrm>
            <a:off x="3811588" y="4767263"/>
            <a:ext cx="649287" cy="107950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39"/>
          <p:cNvSpPr>
            <a:spLocks noChangeArrowheads="1"/>
          </p:cNvSpPr>
          <p:nvPr/>
        </p:nvSpPr>
        <p:spPr bwMode="auto">
          <a:xfrm>
            <a:off x="4000500" y="4440238"/>
            <a:ext cx="11128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digit_lexval=3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9" name="Line 41"/>
          <p:cNvSpPr>
            <a:spLocks noChangeShapeType="1"/>
          </p:cNvSpPr>
          <p:nvPr/>
        </p:nvSpPr>
        <p:spPr bwMode="auto">
          <a:xfrm flipH="1" flipV="1">
            <a:off x="4054475" y="3532188"/>
            <a:ext cx="460375" cy="47942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40"/>
          <p:cNvSpPr>
            <a:spLocks noChangeArrowheads="1"/>
          </p:cNvSpPr>
          <p:nvPr/>
        </p:nvSpPr>
        <p:spPr bwMode="auto">
          <a:xfrm>
            <a:off x="2951163" y="3065463"/>
            <a:ext cx="3192462" cy="4445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stack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-1].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stack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].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digit_lexval</a:t>
            </a:r>
          </a:p>
        </p:txBody>
      </p:sp>
      <p:sp>
        <p:nvSpPr>
          <p:cNvPr id="31" name="Rectangle 77"/>
          <p:cNvSpPr>
            <a:spLocks noChangeArrowheads="1"/>
          </p:cNvSpPr>
          <p:nvPr/>
        </p:nvSpPr>
        <p:spPr bwMode="auto">
          <a:xfrm>
            <a:off x="5694363" y="4451350"/>
            <a:ext cx="606425" cy="260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Fval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Freeform 78"/>
          <p:cNvSpPr>
            <a:spLocks/>
          </p:cNvSpPr>
          <p:nvPr/>
        </p:nvSpPr>
        <p:spPr bwMode="auto">
          <a:xfrm>
            <a:off x="5334000" y="4760913"/>
            <a:ext cx="649288" cy="107950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76"/>
          <p:cNvSpPr>
            <a:spLocks noChangeArrowheads="1"/>
          </p:cNvSpPr>
          <p:nvPr/>
        </p:nvSpPr>
        <p:spPr bwMode="auto">
          <a:xfrm>
            <a:off x="5108575" y="4445000"/>
            <a:ext cx="5953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465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1466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1467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9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9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470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SDT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 *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3)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l-GR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03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2" grpId="0" animBg="1"/>
      <p:bldP spid="32" grpId="1" animBg="1"/>
      <p:bldP spid="33" grpId="0" animBg="1"/>
      <p:bldP spid="34" grpId="0" animBg="1"/>
      <p:bldP spid="34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0025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0025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Arial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0025"/>
            <a:ext cx="592137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29125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77"/>
          <p:cNvSpPr>
            <a:spLocks noChangeArrowheads="1"/>
          </p:cNvSpPr>
          <p:nvPr/>
        </p:nvSpPr>
        <p:spPr bwMode="auto">
          <a:xfrm>
            <a:off x="5694363" y="4446588"/>
            <a:ext cx="606425" cy="2619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Fval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H="1" flipV="1">
            <a:off x="5465763" y="3503613"/>
            <a:ext cx="458787" cy="47942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40"/>
          <p:cNvSpPr>
            <a:spLocks noChangeArrowheads="1"/>
          </p:cNvSpPr>
          <p:nvPr/>
        </p:nvSpPr>
        <p:spPr bwMode="auto">
          <a:xfrm>
            <a:off x="4268788" y="3033713"/>
            <a:ext cx="2660650" cy="442912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stack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-1].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stack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].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Fval</a:t>
            </a: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6297613" y="4449763"/>
            <a:ext cx="554037" cy="265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3762375" y="4779963"/>
            <a:ext cx="2835275" cy="277812"/>
          </a:xfrm>
          <a:custGeom>
            <a:avLst/>
            <a:gdLst>
              <a:gd name="connsiteX0" fmla="*/ 2835798 w 2835798"/>
              <a:gd name="connsiteY0" fmla="*/ 0 h 277987"/>
              <a:gd name="connsiteX1" fmla="*/ 1585732 w 2835798"/>
              <a:gd name="connsiteY1" fmla="*/ 277793 h 277987"/>
              <a:gd name="connsiteX2" fmla="*/ 0 w 2835798"/>
              <a:gd name="connsiteY2" fmla="*/ 34724 h 27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5798" h="277987">
                <a:moveTo>
                  <a:pt x="2835798" y="0"/>
                </a:moveTo>
                <a:cubicBezTo>
                  <a:pt x="2447081" y="136003"/>
                  <a:pt x="2058365" y="272006"/>
                  <a:pt x="1585732" y="277793"/>
                </a:cubicBezTo>
                <a:cubicBezTo>
                  <a:pt x="1113099" y="283580"/>
                  <a:pt x="556549" y="159152"/>
                  <a:pt x="0" y="3472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3503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04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3505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3506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0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511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SDT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 *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3)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l-GR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0025"/>
            <a:ext cx="5413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94323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31" grpId="0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2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685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6850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3865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1613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Arial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0843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08438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08438"/>
            <a:ext cx="6969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08438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T 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08438"/>
            <a:ext cx="9128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3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2789238" y="4008438"/>
            <a:ext cx="5953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Fsyn</a:t>
            </a:r>
          </a:p>
        </p:txBody>
      </p:sp>
      <p:sp>
        <p:nvSpPr>
          <p:cNvPr id="28" name="Rectangle 106"/>
          <p:cNvSpPr>
            <a:spLocks noChangeArrowheads="1"/>
          </p:cNvSpPr>
          <p:nvPr/>
        </p:nvSpPr>
        <p:spPr bwMode="auto">
          <a:xfrm>
            <a:off x="1709738" y="4008438"/>
            <a:ext cx="541337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29" name="Rectangle 107"/>
          <p:cNvSpPr>
            <a:spLocks noChangeArrowheads="1"/>
          </p:cNvSpPr>
          <p:nvPr/>
        </p:nvSpPr>
        <p:spPr bwMode="auto">
          <a:xfrm>
            <a:off x="2249488" y="4008438"/>
            <a:ext cx="539750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56113"/>
            <a:ext cx="9128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297363" y="4452938"/>
            <a:ext cx="7747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Rectangle 103"/>
          <p:cNvSpPr>
            <a:spLocks noChangeArrowheads="1"/>
          </p:cNvSpPr>
          <p:nvPr/>
        </p:nvSpPr>
        <p:spPr bwMode="auto">
          <a:xfrm>
            <a:off x="2789238" y="4456113"/>
            <a:ext cx="5953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3762375" y="4791075"/>
            <a:ext cx="2835275" cy="277813"/>
          </a:xfrm>
          <a:custGeom>
            <a:avLst/>
            <a:gdLst>
              <a:gd name="connsiteX0" fmla="*/ 2835798 w 2835798"/>
              <a:gd name="connsiteY0" fmla="*/ 0 h 277987"/>
              <a:gd name="connsiteX1" fmla="*/ 1585732 w 2835798"/>
              <a:gd name="connsiteY1" fmla="*/ 277793 h 277987"/>
              <a:gd name="connsiteX2" fmla="*/ 0 w 2835798"/>
              <a:gd name="connsiteY2" fmla="*/ 34724 h 27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5798" h="277987">
                <a:moveTo>
                  <a:pt x="2835798" y="0"/>
                </a:moveTo>
                <a:cubicBezTo>
                  <a:pt x="2447081" y="136003"/>
                  <a:pt x="2058365" y="272006"/>
                  <a:pt x="1585732" y="277793"/>
                </a:cubicBezTo>
                <a:cubicBezTo>
                  <a:pt x="1113099" y="283580"/>
                  <a:pt x="556549" y="159152"/>
                  <a:pt x="0" y="3472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5557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58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5559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5560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4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63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564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SDT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 *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3)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l-GR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56113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2869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4" grpId="0" animBg="1"/>
      <p:bldP spid="38" grpId="0" animBg="1"/>
      <p:bldP spid="39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8438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8438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023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Arial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341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11613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11613"/>
            <a:ext cx="6969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11613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T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11613"/>
            <a:ext cx="9128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3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2789238" y="4011613"/>
            <a:ext cx="5953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Fsyn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57700"/>
            <a:ext cx="9128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306888" y="4452938"/>
            <a:ext cx="76517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Rectangle 103"/>
          <p:cNvSpPr>
            <a:spLocks noChangeArrowheads="1"/>
          </p:cNvSpPr>
          <p:nvPr/>
        </p:nvSpPr>
        <p:spPr bwMode="auto">
          <a:xfrm>
            <a:off x="2789238" y="4457700"/>
            <a:ext cx="5953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90"/>
          <p:cNvSpPr>
            <a:spLocks noChangeArrowheads="1"/>
          </p:cNvSpPr>
          <p:nvPr/>
        </p:nvSpPr>
        <p:spPr bwMode="auto">
          <a:xfrm>
            <a:off x="1709738" y="4011613"/>
            <a:ext cx="1079500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6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6" name="Rectangle 92"/>
          <p:cNvSpPr>
            <a:spLocks noChangeArrowheads="1"/>
          </p:cNvSpPr>
          <p:nvPr/>
        </p:nvSpPr>
        <p:spPr bwMode="auto">
          <a:xfrm>
            <a:off x="1008063" y="4011613"/>
            <a:ext cx="70167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imSun" panose="02010600030101010101" pitchFamily="2" charset="-122"/>
                <a:cs typeface="+mn-cs"/>
              </a:rPr>
              <a:t>digit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9" name="Rectangle 93"/>
          <p:cNvSpPr>
            <a:spLocks noChangeArrowheads="1"/>
          </p:cNvSpPr>
          <p:nvPr/>
        </p:nvSpPr>
        <p:spPr bwMode="auto">
          <a:xfrm>
            <a:off x="1008063" y="4446588"/>
            <a:ext cx="701675" cy="2619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lexval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=5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Freeform 113"/>
          <p:cNvSpPr>
            <a:spLocks/>
          </p:cNvSpPr>
          <p:nvPr/>
        </p:nvSpPr>
        <p:spPr bwMode="auto">
          <a:xfrm>
            <a:off x="1358900" y="4848225"/>
            <a:ext cx="649288" cy="106363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Rectangle 91"/>
          <p:cNvSpPr>
            <a:spLocks noChangeArrowheads="1"/>
          </p:cNvSpPr>
          <p:nvPr/>
        </p:nvSpPr>
        <p:spPr bwMode="auto">
          <a:xfrm>
            <a:off x="1714500" y="4440238"/>
            <a:ext cx="1082675" cy="2873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digit_lexval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=5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Line 79"/>
          <p:cNvSpPr>
            <a:spLocks noChangeShapeType="1"/>
          </p:cNvSpPr>
          <p:nvPr/>
        </p:nvSpPr>
        <p:spPr bwMode="auto">
          <a:xfrm flipV="1">
            <a:off x="82264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74"/>
          <p:cNvSpPr>
            <a:spLocks noChangeArrowheads="1"/>
          </p:cNvSpPr>
          <p:nvPr/>
        </p:nvSpPr>
        <p:spPr bwMode="auto">
          <a:xfrm>
            <a:off x="2628900" y="3257550"/>
            <a:ext cx="3228975" cy="417513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stack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top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-1].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stack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top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].</a:t>
            </a:r>
            <a:r>
              <a: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digit_lexval</a:t>
            </a:r>
          </a:p>
        </p:txBody>
      </p:sp>
      <p:sp>
        <p:nvSpPr>
          <p:cNvPr id="44" name="Line 75"/>
          <p:cNvSpPr>
            <a:spLocks noChangeShapeType="1"/>
          </p:cNvSpPr>
          <p:nvPr/>
        </p:nvSpPr>
        <p:spPr bwMode="auto">
          <a:xfrm flipV="1">
            <a:off x="2311400" y="3695700"/>
            <a:ext cx="485775" cy="26987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Rectangle 103"/>
          <p:cNvSpPr>
            <a:spLocks noChangeArrowheads="1"/>
          </p:cNvSpPr>
          <p:nvPr/>
        </p:nvSpPr>
        <p:spPr bwMode="auto">
          <a:xfrm>
            <a:off x="2790825" y="4459288"/>
            <a:ext cx="593725" cy="277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val=5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Freeform 113"/>
          <p:cNvSpPr>
            <a:spLocks/>
          </p:cNvSpPr>
          <p:nvPr/>
        </p:nvSpPr>
        <p:spPr bwMode="auto">
          <a:xfrm>
            <a:off x="3184525" y="5010150"/>
            <a:ext cx="649288" cy="106363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Rectangle 109"/>
          <p:cNvSpPr>
            <a:spLocks noChangeArrowheads="1"/>
          </p:cNvSpPr>
          <p:nvPr/>
        </p:nvSpPr>
        <p:spPr bwMode="auto">
          <a:xfrm>
            <a:off x="3381375" y="4735513"/>
            <a:ext cx="92075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=5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2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3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4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7615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7616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53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19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.syn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.inh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620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SDT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 *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3) </a:t>
              </a:r>
              <a:r>
                <a:rPr kumimoji="0" lang="zh-CN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kumimoji="0" lang="el-GR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}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kumimoji="0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kumimoji="0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57700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22AC-58A3-4BAF-B472-82F2A4C1D002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4435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8" grpId="0" animBg="1"/>
      <p:bldP spid="35" grpId="0" animBg="1"/>
      <p:bldP spid="35" grpId="1" animBg="1"/>
      <p:bldP spid="36" grpId="0" animBg="1"/>
      <p:bldP spid="36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7782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0B370A-2D43-4ABD-85E1-20CEEB2CC6E9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8677803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14193</TotalTime>
  <Words>6676</Words>
  <Application>Microsoft Office PowerPoint</Application>
  <PresentationFormat>全屏显示(16:9)</PresentationFormat>
  <Paragraphs>991</Paragraphs>
  <Slides>56</Slides>
  <Notes>56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56</vt:i4>
      </vt:variant>
    </vt:vector>
  </HeadingPairs>
  <TitlesOfParts>
    <vt:vector size="71" baseType="lpstr">
      <vt:lpstr>华文楷体</vt:lpstr>
      <vt:lpstr>楷体</vt:lpstr>
      <vt:lpstr>楷体_GB2312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1_波形</vt:lpstr>
      <vt:lpstr>3_波形</vt:lpstr>
      <vt:lpstr>自定义设计方案</vt:lpstr>
      <vt:lpstr>2_波形</vt:lpstr>
      <vt:lpstr>PowerPoint 演示文稿</vt:lpstr>
      <vt:lpstr>主要内容</vt:lpstr>
      <vt:lpstr>1. 什么是语法制导翻译</vt:lpstr>
      <vt:lpstr>语法制导翻译的基本思想</vt:lpstr>
      <vt:lpstr>两个概念</vt:lpstr>
      <vt:lpstr>2. 语法制导定义(SDD)</vt:lpstr>
      <vt:lpstr>语法制导定义(SDD)</vt:lpstr>
      <vt:lpstr>PowerPoint 演示文稿</vt:lpstr>
      <vt:lpstr>综合属性(synthesized attribute)</vt:lpstr>
      <vt:lpstr>继承属性(inherited attribute)</vt:lpstr>
      <vt:lpstr>PowerPoint 演示文稿</vt:lpstr>
      <vt:lpstr>例：带有继承属性L.in的SDD </vt:lpstr>
      <vt:lpstr>属性文法 (Attribute Grammar)</vt:lpstr>
      <vt:lpstr>3. SDD的求值顺序</vt:lpstr>
      <vt:lpstr>依赖图(Dependency Graph)</vt:lpstr>
      <vt:lpstr>例</vt:lpstr>
      <vt:lpstr>属性值的计算顺序 </vt:lpstr>
      <vt:lpstr>例</vt:lpstr>
      <vt:lpstr>PowerPoint 演示文稿</vt:lpstr>
      <vt:lpstr>PowerPoint 演示文稿</vt:lpstr>
      <vt:lpstr>4. S-属性定义</vt:lpstr>
      <vt:lpstr>L-属性定义</vt:lpstr>
      <vt:lpstr>L-SDD的正式定义</vt:lpstr>
      <vt:lpstr>L-SDD的正式定义</vt:lpstr>
      <vt:lpstr>L-SDD的正式定义</vt:lpstr>
      <vt:lpstr>例1：L-SDD</vt:lpstr>
      <vt:lpstr>PowerPoint 演示文稿</vt:lpstr>
      <vt:lpstr>5. 语法制导翻译方案SDT</vt:lpstr>
      <vt:lpstr>语法制导翻译方案SDT</vt:lpstr>
      <vt:lpstr>将S-SDD转换为SDT</vt:lpstr>
      <vt:lpstr>S-属性定义的SDT 实现</vt:lpstr>
      <vt:lpstr>扩展的LR语法分析栈</vt:lpstr>
      <vt:lpstr>将语义动作中的抽象定义式改写成具体可执行的栈操作</vt:lpstr>
      <vt:lpstr>例：在自底向上语法分析栈中实现桌面计算器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将L-SDD转换为SDT</vt:lpstr>
      <vt:lpstr>例</vt:lpstr>
      <vt:lpstr>L-属性定义的SDT 实现</vt:lpstr>
      <vt:lpstr>L-属性定义的SDT 实现</vt:lpstr>
      <vt:lpstr>6. 在非递归的预测分析过程中进行翻译</vt:lpstr>
      <vt:lpstr>例</vt:lpstr>
      <vt:lpstr>例</vt:lpstr>
      <vt:lpstr>例</vt:lpstr>
      <vt:lpstr>例</vt:lpstr>
      <vt:lpstr>例</vt:lpstr>
      <vt:lpstr>例</vt:lpstr>
      <vt:lpstr>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语法制导翻译</dc:title>
  <dc:creator>chenyin</dc:creator>
  <cp:lastModifiedBy>8615952081735</cp:lastModifiedBy>
  <cp:revision>861</cp:revision>
  <cp:lastPrinted>2017-07-25T08:07:27Z</cp:lastPrinted>
  <dcterms:modified xsi:type="dcterms:W3CDTF">2024-11-05T15:20:39Z</dcterms:modified>
</cp:coreProperties>
</file>