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88" r:id="rId1"/>
    <p:sldMasterId id="2147485183" r:id="rId2"/>
    <p:sldMasterId id="2147485201" r:id="rId3"/>
    <p:sldMasterId id="2147485207" r:id="rId4"/>
    <p:sldMasterId id="2147485225" r:id="rId5"/>
    <p:sldMasterId id="2147485228" r:id="rId6"/>
  </p:sldMasterIdLst>
  <p:notesMasterIdLst>
    <p:notesMasterId r:id="rId33"/>
  </p:notesMasterIdLst>
  <p:handoutMasterIdLst>
    <p:handoutMasterId r:id="rId34"/>
  </p:handoutMasterIdLst>
  <p:sldIdLst>
    <p:sldId id="875" r:id="rId7"/>
    <p:sldId id="876" r:id="rId8"/>
    <p:sldId id="878" r:id="rId9"/>
    <p:sldId id="879" r:id="rId10"/>
    <p:sldId id="880" r:id="rId11"/>
    <p:sldId id="881" r:id="rId12"/>
    <p:sldId id="882" r:id="rId13"/>
    <p:sldId id="883" r:id="rId14"/>
    <p:sldId id="884" r:id="rId15"/>
    <p:sldId id="839" r:id="rId16"/>
    <p:sldId id="757" r:id="rId17"/>
    <p:sldId id="804" r:id="rId18"/>
    <p:sldId id="842" r:id="rId19"/>
    <p:sldId id="843" r:id="rId20"/>
    <p:sldId id="844" r:id="rId21"/>
    <p:sldId id="845" r:id="rId22"/>
    <p:sldId id="846" r:id="rId23"/>
    <p:sldId id="810" r:id="rId24"/>
    <p:sldId id="812" r:id="rId25"/>
    <p:sldId id="813" r:id="rId26"/>
    <p:sldId id="814" r:id="rId27"/>
    <p:sldId id="815" r:id="rId28"/>
    <p:sldId id="841" r:id="rId29"/>
    <p:sldId id="858" r:id="rId30"/>
    <p:sldId id="886" r:id="rId31"/>
    <p:sldId id="887" r:id="rId32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00"/>
    <a:srgbClr val="FF0000"/>
    <a:srgbClr val="0000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6" autoAdjust="0"/>
    <p:restoredTop sz="74941" autoAdjust="0"/>
  </p:normalViewPr>
  <p:slideViewPr>
    <p:cSldViewPr>
      <p:cViewPr varScale="1">
        <p:scale>
          <a:sx n="128" d="100"/>
          <a:sy n="128" d="100"/>
        </p:scale>
        <p:origin x="1152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5076"/>
    </p:cViewPr>
  </p:sorterViewPr>
  <p:notesViewPr>
    <p:cSldViewPr>
      <p:cViewPr varScale="1">
        <p:scale>
          <a:sx n="82" d="100"/>
          <a:sy n="82" d="100"/>
        </p:scale>
        <p:origin x="55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4E5B63-2548-4848-8591-495FE90E847C}" type="datetimeFigureOut">
              <a:rPr lang="zh-CN" altLang="en-US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CAF0D7-3BDE-43A3-8944-7B4199017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1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8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8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8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A920CE-4A67-4588-AB44-6478EEAE43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76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60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2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9645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412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341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2935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151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B81236-5CA4-44F1-8C15-3E70EA21C68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551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D9AD98-3C1A-477E-B2C8-3B706606D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603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10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31774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583F1-08C5-4055-BD54-2C6DB8B989C5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11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2212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DE2A7E-244E-40ED-A488-3B8F9D38C818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471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5206441-C929-4576-8AE7-DA2F305FF15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13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1943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BFA537-8508-4BDC-8313-8689AACA6D1E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59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B6A0DAB-E026-4524-AF94-A31DC7CFB224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4743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D25E6CD-D794-4B34-828E-BFD7863568C8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16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461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36899A9-2058-42C8-80A4-9E41B749B5E7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9889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7B9C92-4181-4D6E-B85C-4650B98115C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18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23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B4F564-0723-486A-B1CB-4C91A8A9035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601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747A425-90E5-4637-9C53-F1B5E691831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9989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zh-CN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309E038-A6A8-4F25-B124-E99A22C16AB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0920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2DCDD9-3C78-4D80-B49B-5D3E7A6146E5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22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739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B32195-EB09-4B13-8A7F-494F93DDBD70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7458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583F1-08C5-4055-BD54-2C6DB8B989C5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24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912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920CE-4A67-4588-AB44-6478EEAE4373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905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A920CE-4A67-4588-AB44-6478EEAE4373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1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0CD80FF-98D6-4AB8-B36A-38B9D1CC97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96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FE75A21-4D54-4A6B-95C2-C3F87DD39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4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442B0-65F0-423C-9435-98AA9BE52A5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9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79493-E21D-422A-98EC-F13B376958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2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1EAF-2024-420B-89FD-CB2E5CA27F4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30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F02C9-C14D-482A-B52F-3589E799176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95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94CBE-1E17-4CEF-A3A7-170C057093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25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313C-52AD-4199-90BE-6E73990C806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2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DDFC5-9F9A-46EA-BC67-EFFA405F2CB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0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6696-D5F5-4DA4-BB3B-4C6D2C0C678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6F351-3068-44AA-80EE-7C0A002AFEE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6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F4327-437C-4671-8E57-EFE09BBB657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17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4ACF3-8C5F-4551-86EA-D6BD487FB7F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03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17963" y="195486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6B4237-9F78-486C-8693-380A31267B76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713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28F9A2-09C9-4AF8-AF7C-3585CC9924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701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B9176-EB8F-4616-89B4-51E5D780E2B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070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A906F-316C-40F7-B075-13847AE22AA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478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1D815-459A-4DCB-999D-DB3FA80F608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96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59599-65B3-4438-B92B-4C40C75AA14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6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B6F86-131C-4288-A201-43FFDAAEE03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2283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507DA-D1C0-48B1-BAF2-B34FC6D812D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6399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2FED-AB51-47A4-BB71-BE7DF5E95A2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86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CDF24-95F8-40F9-B66F-FF96F7B5AB4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402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F4D15-E920-47A1-80ED-B004602EB2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21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D6271-45EB-4F30-8E22-51E7F0FCEBB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70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41681-920E-436D-A71E-836DE009EE7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9280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6B9CD60-A46B-4E42-896D-935ED499C2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987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337159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25197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6B9CD60-A46B-4E42-896D-935ED499C2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6224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337159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7008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259485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ADF5252-5F77-44FA-92FC-74752EF2DF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4" r:id="rId1"/>
    <p:sldLayoutId id="214748517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E98608-490A-41B4-86CC-75532A80593C}" type="slidenum">
              <a:rPr lang="zh-CN" altLang="en-US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4" r:id="rId1"/>
    <p:sldLayoutId id="2147485185" r:id="rId2"/>
    <p:sldLayoutId id="2147485186" r:id="rId3"/>
    <p:sldLayoutId id="2147485187" r:id="rId4"/>
    <p:sldLayoutId id="2147485188" r:id="rId5"/>
    <p:sldLayoutId id="2147485189" r:id="rId6"/>
    <p:sldLayoutId id="2147485190" r:id="rId7"/>
    <p:sldLayoutId id="2147485191" r:id="rId8"/>
    <p:sldLayoutId id="2147485192" r:id="rId9"/>
    <p:sldLayoutId id="2147485193" r:id="rId10"/>
    <p:sldLayoutId id="21474851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A306ABB-A670-4062-9ADB-C4AF3A631345}" type="slidenum">
              <a:rPr lang="zh-CN" altLang="en-US" b="0"/>
              <a:pPr>
                <a:defRPr/>
              </a:pPr>
              <a:t>‹#›</a:t>
            </a:fld>
            <a:endParaRPr lang="en-US" altLang="zh-CN" b="0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103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3DB3CD-805F-46DD-861D-6EA6DC0F2EB5}" type="slidenum">
              <a:rPr lang="zh-CN" altLang="en-US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5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8" r:id="rId1"/>
    <p:sldLayoutId id="2147485209" r:id="rId2"/>
    <p:sldLayoutId id="2147485210" r:id="rId3"/>
    <p:sldLayoutId id="2147485211" r:id="rId4"/>
    <p:sldLayoutId id="2147485212" r:id="rId5"/>
    <p:sldLayoutId id="2147485213" r:id="rId6"/>
    <p:sldLayoutId id="2147485214" r:id="rId7"/>
    <p:sldLayoutId id="2147485215" r:id="rId8"/>
    <p:sldLayoutId id="2147485216" r:id="rId9"/>
    <p:sldLayoutId id="2147485217" r:id="rId10"/>
    <p:sldLayoutId id="214748521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3813" y="383382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5B67911-6EBB-4F14-AF9B-76D344A2CC38}" type="slidenum">
              <a:rPr lang="zh-CN" altLang="en-US" b="0" smtClean="0"/>
              <a:pPr>
                <a:defRPr/>
              </a:pPr>
              <a:t>‹#›</a:t>
            </a:fld>
            <a:endParaRPr lang="en-US" altLang="zh-CN" b="0" dirty="0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1887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26" r:id="rId1"/>
    <p:sldLayoutId id="2147485227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3813" y="383382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5B67911-6EBB-4F14-AF9B-76D344A2CC38}" type="slidenum">
              <a:rPr lang="zh-CN" altLang="en-US" b="0" smtClean="0"/>
              <a:pPr>
                <a:defRPr/>
              </a:pPr>
              <a:t>‹#›</a:t>
            </a:fld>
            <a:endParaRPr lang="en-US" altLang="zh-CN" b="0" dirty="0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761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29" r:id="rId1"/>
    <p:sldLayoutId id="2147485230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olia.net/tinyc/index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8. L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属性定义的自底向上翻译 </a:t>
            </a:r>
            <a:endParaRPr lang="zh-CN" altLang="en-US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71500" y="857250"/>
            <a:ext cx="8131175" cy="1541463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给定一个以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LL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文法为基础的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L-SDD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，可以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修改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这个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文法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，并在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语法分析过程中计算这个新文法之上的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endParaRPr lang="zh-CN" altLang="en-US" sz="3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154864-37E5-4D03-AF59-CA0527EC2A99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737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</a:p>
        </p:txBody>
      </p:sp>
      <p:sp>
        <p:nvSpPr>
          <p:cNvPr id="175107" name="Rectangle 3"/>
          <p:cNvSpPr txBox="1">
            <a:spLocks noChangeArrowheads="1"/>
          </p:cNvSpPr>
          <p:nvPr/>
        </p:nvSpPr>
        <p:spPr bwMode="auto">
          <a:xfrm>
            <a:off x="1803400" y="490538"/>
            <a:ext cx="6500813" cy="1473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71750" y="2428875"/>
            <a:ext cx="3857625" cy="2643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ε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.lexval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47" name="AutoShape 23"/>
          <p:cNvSpPr>
            <a:spLocks noChangeArrowheads="1"/>
          </p:cNvSpPr>
          <p:nvPr/>
        </p:nvSpPr>
        <p:spPr bwMode="auto">
          <a:xfrm>
            <a:off x="4397375" y="2100263"/>
            <a:ext cx="323850" cy="212725"/>
          </a:xfrm>
          <a:prstGeom prst="downArrow">
            <a:avLst>
              <a:gd name="adj1" fmla="val 50000"/>
              <a:gd name="adj2" fmla="val 5809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49" name="Rectangle 25"/>
          <p:cNvSpPr>
            <a:spLocks noChangeArrowheads="1"/>
          </p:cNvSpPr>
          <p:nvPr/>
        </p:nvSpPr>
        <p:spPr bwMode="auto">
          <a:xfrm>
            <a:off x="285750" y="3071813"/>
            <a:ext cx="1997075" cy="608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楷体_GB2312" pitchFamily="49" charset="-122"/>
              </a:rPr>
              <a:t>标记非终结符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楷体_GB2312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(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Marker </a:t>
            </a:r>
            <a:r>
              <a:rPr kumimoji="0" lang="en-US" altLang="zh-CN" sz="1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Nonterminal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)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" pitchFamily="49" charset="-122"/>
              <a:cs typeface="楷体_GB2312" pitchFamily="49" charset="-122"/>
            </a:endParaRPr>
          </a:p>
        </p:txBody>
      </p:sp>
      <p:sp>
        <p:nvSpPr>
          <p:cNvPr id="180250" name="Line 26"/>
          <p:cNvSpPr>
            <a:spLocks noChangeShapeType="1"/>
          </p:cNvSpPr>
          <p:nvPr/>
        </p:nvSpPr>
        <p:spPr bwMode="auto">
          <a:xfrm flipV="1">
            <a:off x="2286000" y="3071813"/>
            <a:ext cx="574675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51" name="Line 27"/>
          <p:cNvSpPr>
            <a:spLocks noChangeShapeType="1"/>
          </p:cNvSpPr>
          <p:nvPr/>
        </p:nvSpPr>
        <p:spPr bwMode="auto">
          <a:xfrm>
            <a:off x="2286000" y="3357563"/>
            <a:ext cx="571500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云形标注 2"/>
          <p:cNvSpPr>
            <a:spLocks noChangeArrowheads="1"/>
          </p:cNvSpPr>
          <p:nvPr/>
        </p:nvSpPr>
        <p:spPr bwMode="auto">
          <a:xfrm>
            <a:off x="6588125" y="3357563"/>
            <a:ext cx="2357438" cy="1571625"/>
          </a:xfrm>
          <a:prstGeom prst="cloudCallout">
            <a:avLst>
              <a:gd name="adj1" fmla="val -78618"/>
              <a:gd name="adj2" fmla="val -1239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访问未出现在该产生式中的符号的属性？</a:t>
            </a:r>
          </a:p>
        </p:txBody>
      </p:sp>
      <p:sp>
        <p:nvSpPr>
          <p:cNvPr id="4" name="矩形 3"/>
          <p:cNvSpPr/>
          <p:nvPr/>
        </p:nvSpPr>
        <p:spPr>
          <a:xfrm>
            <a:off x="6716713" y="2220913"/>
            <a:ext cx="1906587" cy="9223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修改后的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SDT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，所有语义动作都位于产生式末尾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663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70D7E1-1DDE-4821-9899-CB0A61ECF0D1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5206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0247" grpId="0" animBg="1"/>
      <p:bldP spid="180249" grpId="0" animBg="1"/>
      <p:bldP spid="180250" grpId="0" animBg="1"/>
      <p:bldP spid="180251" grpId="0" animBg="1"/>
      <p:bldP spid="3" grpId="0" animBg="1"/>
      <p:bldP spid="4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00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32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32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914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28678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721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28684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685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8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28690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28692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28695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9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28698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28699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9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28701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2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9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28704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5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0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7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8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0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0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1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2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28713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28714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28715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6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28717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28718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9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8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CDDA72-E682-4233-A66A-220D31EFECE8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5349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0" grpId="0"/>
      <p:bldP spid="182328" grpId="0" animBg="1"/>
      <p:bldP spid="182329" grpId="0" animBg="1"/>
      <p:bldP spid="16" grpId="0" animBg="1"/>
      <p:bldP spid="17" grpId="0" animBg="1"/>
      <p:bldP spid="17" grpId="1" animBg="1"/>
      <p:bldP spid="18" grpId="0" animBg="1"/>
      <p:bldP spid="29" grpId="0" animBg="1"/>
      <p:bldP spid="30" grpId="0" animBg="1"/>
      <p:bldP spid="3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18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0725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79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=3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</p:txBody>
      </p:sp>
      <p:sp>
        <p:nvSpPr>
          <p:cNvPr id="28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34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1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43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7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0748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0750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51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7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0753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8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0756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0757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0759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0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18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0762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3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9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5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6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9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8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9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0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0771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0772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30773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4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30775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0776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7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B7172D-9F8D-4283-BE2B-D3DC29547B2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5442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323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2773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83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=3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</p:txBody>
      </p:sp>
      <p:sp>
        <p:nvSpPr>
          <p:cNvPr id="32784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32788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6948488" y="3857625"/>
            <a:ext cx="1195387" cy="280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6948488" y="4143375"/>
            <a:ext cx="1195387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7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=15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948488" y="3598863"/>
            <a:ext cx="11334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8083550" y="3868738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8083550" y="4141788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syn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=15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8081963" y="3598863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9</a:t>
            </a:r>
            <a:endParaRPr kumimoji="0" lang="en-US" altLang="zh-CN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2795" name="矩形 40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79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8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69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280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1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280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74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280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6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7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281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281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0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281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183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281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6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89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282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282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3282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3282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283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3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9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AC41BC-C15B-48E3-8FD7-89DB72198C6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3195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8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4821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487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7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=3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34830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1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6408738" y="3868738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6408738" y="4137025"/>
            <a:ext cx="9175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syn</a:t>
            </a: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=15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6408738" y="3598863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</a:p>
        </p:txBody>
      </p:sp>
      <p:sp>
        <p:nvSpPr>
          <p:cNvPr id="34835" name="矩形 43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83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0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71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484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3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484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76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484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8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9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485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485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2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485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185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485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8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91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486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486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3486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3486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487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7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3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6061F-F63A-4253-998C-E23DAA82576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410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0" grpId="0" animBg="1"/>
      <p:bldP spid="20" grpId="0" animBg="1"/>
      <p:bldP spid="21" grpId="0" animBg="1"/>
      <p:bldP spid="22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3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6869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6915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6872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73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5165725" y="3821113"/>
            <a:ext cx="865188" cy="341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</a:p>
        </p:txBody>
      </p:sp>
      <p:sp>
        <p:nvSpPr>
          <p:cNvPr id="32" name="Rectangle 36"/>
          <p:cNvSpPr>
            <a:spLocks noChangeArrowheads="1"/>
          </p:cNvSpPr>
          <p:nvPr/>
        </p:nvSpPr>
        <p:spPr bwMode="auto">
          <a:xfrm>
            <a:off x="5165725" y="4138613"/>
            <a:ext cx="865188" cy="369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5165725" y="3598863"/>
            <a:ext cx="865188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36877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879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4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65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6884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7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6886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87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70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6889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2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3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6892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6893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76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6895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96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179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6898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899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82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1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2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185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4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5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6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T’</a:t>
              </a:r>
            </a:p>
          </p:txBody>
        </p:sp>
        <p:sp>
          <p:nvSpPr>
            <p:cNvPr id="36907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6908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36909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10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36911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</a:p>
          </p:txBody>
        </p:sp>
        <p:sp>
          <p:nvSpPr>
            <p:cNvPr id="36912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13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881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07B1D9-D643-43C2-8CA3-C009C5A29185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07808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2565400"/>
            <a:ext cx="8915400" cy="2649538"/>
          </a:xfrm>
        </p:spPr>
        <p:txBody>
          <a:bodyPr/>
          <a:lstStyle/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1)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</a:rPr>
              <a:t>1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 	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2) </a:t>
            </a:r>
            <a:r>
              <a:rPr lang="en-US" altLang="zh-CN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dirty="0">
                <a:solidFill>
                  <a:schemeClr val="tx1"/>
                </a:solidFill>
              </a:rPr>
              <a:t>→*</a:t>
            </a:r>
            <a:r>
              <a:rPr lang="zh-CN" altLang="en-US" sz="2000" b="1" i="1" dirty="0">
                <a:solidFill>
                  <a:schemeClr val="tx1"/>
                </a:solidFill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zh-CN" alt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3]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syn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</a:rPr>
              <a:t>3;}</a:t>
            </a:r>
          </a:p>
          <a:p>
            <a:pPr lvl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΄inh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×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 </a:t>
            </a:r>
            <a:endParaRPr lang="zh-CN" altLang="en-US" sz="2000" b="1" dirty="0">
              <a:solidFill>
                <a:srgbClr val="2D83F4"/>
              </a:solidFill>
              <a:sym typeface="Times New Roman" panose="02020603050405020304" pitchFamily="18" charset="0"/>
            </a:endParaRPr>
          </a:p>
          <a:p>
            <a:pPr lvl="1">
              <a:lnSpc>
                <a:spcPts val="28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3)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.syn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</a:p>
          <a:p>
            <a:pPr marL="457200" indent="-457200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4) </a:t>
            </a:r>
            <a:r>
              <a:rPr lang="en-US" altLang="zh-CN" sz="2000" b="1" i="1" dirty="0">
                <a:solidFill>
                  <a:schemeClr val="tx1"/>
                </a:solidFill>
                <a:sym typeface="Times New Roman" panose="02020603050405020304" pitchFamily="18" charset="0"/>
              </a:rPr>
              <a:t>F</a:t>
            </a:r>
            <a:r>
              <a:rPr lang="zh-CN" altLang="en-US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digit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lexval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  <a:endParaRPr lang="zh-CN" altLang="en-US" sz="2000" b="1" dirty="0">
              <a:solidFill>
                <a:srgbClr val="2D83F4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12750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将语义动作改写为</a:t>
            </a: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可执行的栈操作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42049B-53A7-4DEF-A306-FA621BA984F1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106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631825"/>
            <a:ext cx="8715375" cy="3225800"/>
          </a:xfrm>
        </p:spPr>
        <p:txBody>
          <a:bodyPr/>
          <a:lstStyle/>
          <a:p>
            <a:pPr marL="0" indent="0">
              <a:lnSpc>
                <a:spcPts val="27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给定一个以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文法为基础的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属性定义，可以修改这个文法，并在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语法分析过程中计算这个新文法之上的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首先构造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SDT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，在各个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非终结符之前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放置语义动作来计算它的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并在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产生式后端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放置语义动作计算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对每个内嵌的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语义动作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，向文法中引入一个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标记非终结符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来替换它。每个这样的位置都有一个不同的标记，并且对于任意一个标记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都有一个产生式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ε</a:t>
            </a:r>
            <a:endParaRPr lang="en-US" altLang="zh-CN" sz="2000" b="1" i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如果标记非终结符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在某个产生式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中替换了语义动作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，对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进行修改得到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，并且将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关联到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上。动作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(a)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需要的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中符号的任何属性作为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的继承属性进行复制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(b)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按照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中的方法计算各个属性，但是将计算得到的这些属性作为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的综合属性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4096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8790B7-FC50-4B50-8915-BB66A9E78BCA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574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509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88024" y="1203598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zh-CN" altLang="en-US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中间代码生成</a:t>
            </a:r>
            <a:r>
              <a:rPr lang="en-US" altLang="zh-CN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6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436096" y="1779662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5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0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南京信息工程大学  凌妙根</a:t>
            </a:r>
            <a:endParaRPr lang="zh-CN" altLang="en-US" sz="20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46438" y="555526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第六章</a:t>
            </a: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3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399340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类型表达式</a:t>
            </a:r>
            <a:endParaRPr lang="en-US" altLang="zh-CN" sz="36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声明语句的翻译</a:t>
            </a:r>
            <a:endParaRPr lang="en-US" altLang="zh-CN" sz="3600" b="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赋值语句的翻译</a:t>
            </a:r>
            <a:endParaRPr lang="en-US" altLang="zh-CN" sz="36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48D8A-0B49-4763-B513-68598BFDDAED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8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real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char</a:t>
            </a: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boolean</a:t>
            </a:r>
            <a:endParaRPr kumimoji="1" lang="zh-CN" altLang="en-US" sz="2000" i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type_error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出错类型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无类型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02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dirty="0">
              <a:solidFill>
                <a:srgbClr val="000000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1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是类型表达式，则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array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)</a:t>
            </a:r>
            <a:r>
              <a:rPr lang="zh-CN" altLang="en-US" sz="1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是一个整数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18"/>
          <p:cNvGraphicFramePr>
            <a:graphicFrameLocks noGrp="1"/>
          </p:cNvGraphicFramePr>
          <p:nvPr/>
        </p:nvGraphicFramePr>
        <p:xfrm>
          <a:off x="1979613" y="3292475"/>
          <a:ext cx="4702175" cy="1211334"/>
        </p:xfrm>
        <a:graphic>
          <a:graphicData uri="http://schemas.openxmlformats.org/drawingml/2006/table">
            <a:tbl>
              <a:tblPr/>
              <a:tblGrid>
                <a:gridCol w="148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类型表达式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(3, </a:t>
                      </a: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)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[2][3]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(2, 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(3,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) ) 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89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dirty="0">
              <a:solidFill>
                <a:srgbClr val="000000"/>
              </a:solidFill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kumimoji="1" lang="zh-CN" altLang="en-US" i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3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 </a:t>
            </a: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pointer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是类型表达式，它表示一个指针类型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830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dirty="0">
              <a:solidFill>
                <a:srgbClr val="000000"/>
              </a:solidFill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kumimoji="1" lang="zh-CN" altLang="en-US" i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3711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dirty="0">
              <a:solidFill>
                <a:srgbClr val="000000"/>
              </a:solidFill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笛卡尔乘积构造符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：</a:t>
            </a:r>
            <a:r>
              <a:rPr lang="zh-CN" altLang="en-US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zh-CN" altLang="en-US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类型两两组合构成的列表</a:t>
            </a:r>
            <a:endParaRPr lang="en-US" altLang="zh-CN" sz="2400" dirty="0">
              <a:solidFill>
                <a:srgbClr val="2D83F4"/>
              </a:solidFill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3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</a:t>
            </a:r>
            <a:r>
              <a:rPr kumimoji="1"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函数构造符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→</a:t>
            </a:r>
          </a:p>
          <a:p>
            <a:pPr lvl="3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是类型表达式，则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18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…</a:t>
            </a:r>
            <a:r>
              <a:rPr kumimoji="1" lang="en-US" altLang="zh-CN" sz="18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sz="18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是类型表达式</a:t>
            </a:r>
            <a:endParaRPr kumimoji="1" lang="zh-CN" altLang="en-US" sz="1800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lvl="2" eaLnBrk="1" hangingPunct="1">
              <a:lnSpc>
                <a:spcPts val="2500"/>
              </a:lnSpc>
              <a:buClrTx/>
              <a:buFontTx/>
              <a:buNone/>
            </a:pPr>
            <a:endParaRPr kumimoji="1" lang="zh-CN" altLang="en-US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933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lang="zh-CN" altLang="en-US" sz="2400" dirty="0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lang="zh-CN" altLang="en-US" sz="2400" dirty="0">
                <a:solidFill>
                  <a:prstClr val="black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dirty="0">
              <a:solidFill>
                <a:srgbClr val="000000"/>
              </a:solidFill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指针构造符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笛卡尔乘积构造符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函数构造符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→</a:t>
            </a:r>
            <a:endParaRPr kumimoji="1" lang="en-US" altLang="zh-CN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lvl="2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记录构造符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record</a:t>
            </a:r>
            <a:endParaRPr kumimoji="1" lang="en-US" altLang="zh-CN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lvl="3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若有标识符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与类型表达式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 则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3" eaLnBrk="1" hangingPunct="1">
              <a:lnSpc>
                <a:spcPts val="2500"/>
              </a:lnSpc>
              <a:buClrTx/>
              <a:buFontTx/>
              <a:buNone/>
            </a:pP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1"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record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( 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(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T</a:t>
            </a:r>
            <a:r>
              <a:rPr lang="en-US" altLang="zh-CN" sz="1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en-US" altLang="zh-CN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))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是一个类型表达式 </a:t>
            </a: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endParaRPr kumimoji="1" lang="zh-CN" altLang="en-US" sz="1600" dirty="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053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00438" y="796925"/>
            <a:ext cx="2571750" cy="1857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787459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2765425"/>
            <a:ext cx="8070850" cy="4521200"/>
          </a:xfrm>
        </p:spPr>
        <p:txBody>
          <a:bodyPr/>
          <a:lstStyle/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  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record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 (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name</a:t>
            </a:r>
            <a:r>
              <a:rPr kumimoji="1" lang="en-US" altLang="zh-CN" b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(8,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char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))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score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table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(50,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pointer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4050" y="765175"/>
            <a:ext cx="80708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2654" indent="-272654" eaLnBrk="1" hangingPunct="1">
              <a:lnSpc>
                <a:spcPts val="23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设有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程序片段：     </a:t>
            </a:r>
            <a:r>
              <a:rPr kumimoji="1"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struct</a:t>
            </a:r>
            <a:r>
              <a:rPr kumimoji="1"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1"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</a:t>
            </a:r>
            <a:r>
              <a:rPr kumimoji="1" lang="en-US" altLang="zh-CN" sz="22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endParaRPr kumimoji="1" lang="en-US" altLang="zh-CN" sz="2200" i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2654" indent="-272654" eaLnBrk="1" hangingPunct="1">
              <a:lnSpc>
                <a:spcPts val="23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itchFamily="2" charset="2"/>
              <a:buNone/>
              <a:defRPr/>
            </a:pP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	                             {   </a:t>
            </a:r>
            <a:r>
              <a:rPr kumimoji="1"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char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[8] </a:t>
            </a:r>
            <a:r>
              <a:rPr kumimoji="1"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name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                                  </a:t>
            </a:r>
            <a:r>
              <a:rPr kumimoji="1"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kumimoji="1" lang="en-US" altLang="zh-CN" sz="22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 </a:t>
            </a:r>
            <a:r>
              <a:rPr kumimoji="1"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score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}; </a:t>
            </a:r>
            <a:b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</a:t>
            </a:r>
            <a:r>
              <a:rPr kumimoji="1" lang="en-US" altLang="zh-CN" sz="22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[50] </a:t>
            </a:r>
            <a:r>
              <a:rPr kumimoji="1"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table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</a:t>
            </a:r>
            <a:r>
              <a:rPr kumimoji="1" lang="en-US" altLang="zh-CN" sz="22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 </a:t>
            </a:r>
            <a:r>
              <a:rPr kumimoji="1"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1"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endParaRPr kumimoji="1" lang="zh-CN" altLang="en-US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55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132" y="987574"/>
            <a:ext cx="8358188" cy="3225800"/>
          </a:xfrm>
        </p:spPr>
        <p:txBody>
          <a:bodyPr/>
          <a:lstStyle/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对于声明语句，语义分析的主要任务就是收集标识符的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类型</a:t>
            </a:r>
            <a:r>
              <a:rPr lang="zh-CN" altLang="en-US" sz="2500" b="1" dirty="0">
                <a:solidFill>
                  <a:schemeClr val="tx1"/>
                </a:solidFill>
              </a:rPr>
              <a:t>等属性信息，并为每一个名字分配一个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</a:p>
          <a:p>
            <a:pPr marL="575866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从类型表达式可以知道该类型在运行时刻所需的存储单元数量称为</a:t>
            </a:r>
            <a:r>
              <a:rPr lang="zh-CN" altLang="en-US" b="1" dirty="0">
                <a:solidFill>
                  <a:srgbClr val="FF0000"/>
                </a:solidFill>
              </a:rPr>
              <a:t>类型的宽度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width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，</a:t>
            </a:r>
            <a:r>
              <a:rPr lang="zh-CN" altLang="en-US" b="1" dirty="0">
                <a:solidFill>
                  <a:schemeClr val="tx1"/>
                </a:solidFill>
              </a:rPr>
              <a:t>在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编译时刻</a:t>
            </a:r>
            <a:r>
              <a:rPr lang="zh-CN" altLang="en-US" b="1" dirty="0">
                <a:solidFill>
                  <a:schemeClr val="tx1"/>
                </a:solidFill>
              </a:rPr>
              <a:t>，就可以使用类型的宽度为每一个名字分配一个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名字的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类型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  <a:r>
              <a:rPr lang="zh-CN" altLang="en-US" sz="2500" b="1" dirty="0">
                <a:solidFill>
                  <a:schemeClr val="tx1"/>
                </a:solidFill>
              </a:rPr>
              <a:t>信息保存在相应的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符号表</a:t>
            </a:r>
            <a:r>
              <a:rPr lang="zh-CN" altLang="en-US" sz="2500" b="1" dirty="0">
                <a:solidFill>
                  <a:schemeClr val="tx1"/>
                </a:solidFill>
              </a:rPr>
              <a:t>记录中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668270" y="289175"/>
            <a:ext cx="1162050" cy="273050"/>
          </a:xfrm>
        </p:spPr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115616" y="425700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声明语句的翻译</a:t>
            </a:r>
          </a:p>
        </p:txBody>
      </p:sp>
      <p:sp>
        <p:nvSpPr>
          <p:cNvPr id="6" name="矩形 5"/>
          <p:cNvSpPr/>
          <p:nvPr/>
        </p:nvSpPr>
        <p:spPr>
          <a:xfrm>
            <a:off x="709521" y="63078"/>
            <a:ext cx="463460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en-US" altLang="zh-CN" sz="3500" spc="6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3500" spc="600" dirty="0">
                <a:latin typeface="微软雅黑" pitchFamily="34" charset="-122"/>
                <a:ea typeface="微软雅黑" pitchFamily="34" charset="-122"/>
              </a:rPr>
              <a:t>声明语句的翻译</a:t>
            </a:r>
          </a:p>
        </p:txBody>
      </p:sp>
    </p:spTree>
    <p:extLst>
      <p:ext uri="{BB962C8B-B14F-4D97-AF65-F5344CB8AC3E}">
        <p14:creationId xmlns:p14="http://schemas.microsoft.com/office/powerpoint/2010/main" val="72444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74700"/>
            <a:ext cx="5783263" cy="3225800"/>
          </a:xfrm>
        </p:spPr>
        <p:txBody>
          <a:bodyPr/>
          <a:lstStyle/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0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D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[num]C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4572000" y="123825"/>
            <a:ext cx="4537075" cy="1008063"/>
          </a:xfrm>
          <a:prstGeom prst="wedgeRectCallout">
            <a:avLst>
              <a:gd name="adj1" fmla="val -66400"/>
              <a:gd name="adj2" fmla="val 53211"/>
            </a:avLst>
          </a:prstGeom>
          <a:solidFill>
            <a:schemeClr val="accent5">
              <a:lumMod val="60000"/>
              <a:lumOff val="4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):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在符号表中为标识符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创建记录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的类型设置为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相对地址设置为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18"/>
          <p:cNvGraphicFramePr>
            <a:graphicFrameLocks noGrp="1"/>
          </p:cNvGraphicFramePr>
          <p:nvPr/>
        </p:nvGraphicFramePr>
        <p:xfrm>
          <a:off x="5975350" y="3508375"/>
          <a:ext cx="3133725" cy="1485905"/>
        </p:xfrm>
        <a:graphic>
          <a:graphicData uri="http://schemas.openxmlformats.org/drawingml/2006/table">
            <a:tbl>
              <a:tblPr/>
              <a:tblGrid>
                <a:gridCol w="656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,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将类型和宽度信息从语法分析树中的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结点传递到对应于产生式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→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的结点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6156325" y="1819275"/>
          <a:ext cx="2133600" cy="1493840"/>
        </p:xfrm>
        <a:graphic>
          <a:graphicData uri="http://schemas.openxmlformats.org/drawingml/2006/table">
            <a:tbl>
              <a:tblPr/>
              <a:tblGrid>
                <a:gridCol w="70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682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 </a:t>
            </a:r>
            <a:r>
              <a:rPr lang="en-US" altLang="zh-CN" sz="3000" spc="-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real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; 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;”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的语法制导翻译</a:t>
            </a:r>
          </a:p>
        </p:txBody>
      </p:sp>
      <p:sp>
        <p:nvSpPr>
          <p:cNvPr id="797776" name="Rectangle 80"/>
          <p:cNvSpPr>
            <a:spLocks noChangeArrowheads="1"/>
          </p:cNvSpPr>
          <p:nvPr/>
        </p:nvSpPr>
        <p:spPr bwMode="auto">
          <a:xfrm>
            <a:off x="4659313" y="37433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2" name="Rectangle 96"/>
          <p:cNvSpPr>
            <a:spLocks noChangeArrowheads="1"/>
          </p:cNvSpPr>
          <p:nvPr/>
        </p:nvSpPr>
        <p:spPr bwMode="auto">
          <a:xfrm>
            <a:off x="5965825" y="3779838"/>
            <a:ext cx="9207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3" name="Rectangle 97"/>
          <p:cNvSpPr>
            <a:spLocks noChangeArrowheads="1"/>
          </p:cNvSpPr>
          <p:nvPr/>
        </p:nvSpPr>
        <p:spPr bwMode="auto">
          <a:xfrm>
            <a:off x="5316538" y="293846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801" name="Rectangle 105"/>
          <p:cNvSpPr>
            <a:spLocks noChangeArrowheads="1"/>
          </p:cNvSpPr>
          <p:nvPr/>
        </p:nvSpPr>
        <p:spPr bwMode="auto">
          <a:xfrm>
            <a:off x="6765925" y="443071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1" name="Rectangle 115"/>
          <p:cNvSpPr>
            <a:spLocks noChangeArrowheads="1"/>
          </p:cNvSpPr>
          <p:nvPr/>
        </p:nvSpPr>
        <p:spPr bwMode="auto">
          <a:xfrm>
            <a:off x="7850188" y="4518025"/>
            <a:ext cx="700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2" name="Rectangle 116"/>
          <p:cNvSpPr>
            <a:spLocks noChangeArrowheads="1"/>
          </p:cNvSpPr>
          <p:nvPr/>
        </p:nvSpPr>
        <p:spPr bwMode="auto">
          <a:xfrm>
            <a:off x="7500938" y="36925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algn="ctr"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grpSp>
        <p:nvGrpSpPr>
          <p:cNvPr id="4" name="组合 14"/>
          <p:cNvGrpSpPr>
            <a:grpSpLocks/>
          </p:cNvGrpSpPr>
          <p:nvPr/>
        </p:nvGrpSpPr>
        <p:grpSpPr bwMode="auto">
          <a:xfrm>
            <a:off x="8834438" y="3938588"/>
            <a:ext cx="323850" cy="649287"/>
            <a:chOff x="11567269" y="4868863"/>
            <a:chExt cx="431800" cy="865187"/>
          </a:xfrm>
        </p:grpSpPr>
        <p:sp>
          <p:nvSpPr>
            <p:cNvPr id="29793" name="Line 117"/>
            <p:cNvSpPr>
              <a:spLocks noChangeShapeType="1"/>
            </p:cNvSpPr>
            <p:nvPr/>
          </p:nvSpPr>
          <p:spPr bwMode="auto">
            <a:xfrm flipH="1">
              <a:off x="11783169" y="48688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94" name="Rectangle 118"/>
            <p:cNvSpPr>
              <a:spLocks noChangeArrowheads="1"/>
            </p:cNvSpPr>
            <p:nvPr/>
          </p:nvSpPr>
          <p:spPr bwMode="auto">
            <a:xfrm>
              <a:off x="11567269" y="5373688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643063" y="4011613"/>
            <a:ext cx="1079500" cy="334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0 </a:t>
            </a:r>
            <a:endParaRPr lang="zh-CN" altLang="en-US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V="1">
            <a:off x="2141538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65" name="Line 57"/>
          <p:cNvSpPr>
            <a:spLocks noChangeShapeType="1"/>
          </p:cNvSpPr>
          <p:nvPr/>
        </p:nvSpPr>
        <p:spPr bwMode="auto">
          <a:xfrm flipV="1">
            <a:off x="25003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 flipV="1">
            <a:off x="2714625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68" name="Line 57"/>
          <p:cNvSpPr>
            <a:spLocks noChangeShapeType="1"/>
          </p:cNvSpPr>
          <p:nvPr/>
        </p:nvSpPr>
        <p:spPr bwMode="auto">
          <a:xfrm flipV="1">
            <a:off x="30718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76" name="Line 57"/>
          <p:cNvSpPr>
            <a:spLocks noChangeShapeType="1"/>
          </p:cNvSpPr>
          <p:nvPr/>
        </p:nvSpPr>
        <p:spPr bwMode="auto">
          <a:xfrm flipV="1">
            <a:off x="342900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80" name="Line 57"/>
          <p:cNvSpPr>
            <a:spLocks noChangeShapeType="1"/>
          </p:cNvSpPr>
          <p:nvPr/>
        </p:nvSpPr>
        <p:spPr bwMode="auto">
          <a:xfrm flipV="1">
            <a:off x="3571875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81" name="Line 57"/>
          <p:cNvSpPr>
            <a:spLocks noChangeShapeType="1"/>
          </p:cNvSpPr>
          <p:nvPr/>
        </p:nvSpPr>
        <p:spPr bwMode="auto">
          <a:xfrm flipV="1">
            <a:off x="371475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grpSp>
        <p:nvGrpSpPr>
          <p:cNvPr id="5" name="组合 21"/>
          <p:cNvGrpSpPr>
            <a:grpSpLocks/>
          </p:cNvGrpSpPr>
          <p:nvPr/>
        </p:nvGrpSpPr>
        <p:grpSpPr bwMode="auto">
          <a:xfrm>
            <a:off x="6340475" y="1803400"/>
            <a:ext cx="649288" cy="773113"/>
            <a:chOff x="7748873" y="1916113"/>
            <a:chExt cx="866490" cy="1032610"/>
          </a:xfrm>
        </p:grpSpPr>
        <p:sp>
          <p:nvSpPr>
            <p:cNvPr id="29788" name="Rectangle 70"/>
            <p:cNvSpPr>
              <a:spLocks noChangeArrowheads="1"/>
            </p:cNvSpPr>
            <p:nvPr/>
          </p:nvSpPr>
          <p:spPr bwMode="auto">
            <a:xfrm>
              <a:off x="8183563" y="191611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9789" name="Rectangle 71"/>
            <p:cNvSpPr>
              <a:spLocks noChangeArrowheads="1"/>
            </p:cNvSpPr>
            <p:nvPr/>
          </p:nvSpPr>
          <p:spPr bwMode="auto">
            <a:xfrm>
              <a:off x="8183563" y="26368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90" name="Line 72"/>
            <p:cNvSpPr>
              <a:spLocks noChangeShapeType="1"/>
            </p:cNvSpPr>
            <p:nvPr/>
          </p:nvSpPr>
          <p:spPr bwMode="auto">
            <a:xfrm>
              <a:off x="8399463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7748873" y="2588264"/>
              <a:ext cx="432185" cy="360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92" name="Line 75"/>
            <p:cNvSpPr>
              <a:spLocks noChangeShapeType="1"/>
            </p:cNvSpPr>
            <p:nvPr/>
          </p:nvSpPr>
          <p:spPr bwMode="auto">
            <a:xfrm flipH="1">
              <a:off x="7967661" y="2266668"/>
              <a:ext cx="428911" cy="3456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组合 22"/>
          <p:cNvGrpSpPr>
            <a:grpSpLocks/>
          </p:cNvGrpSpPr>
          <p:nvPr/>
        </p:nvGrpSpPr>
        <p:grpSpPr bwMode="auto">
          <a:xfrm>
            <a:off x="5045075" y="2559050"/>
            <a:ext cx="3336925" cy="649288"/>
            <a:chOff x="6022975" y="2924175"/>
            <a:chExt cx="4448233" cy="865188"/>
          </a:xfrm>
        </p:grpSpPr>
        <p:sp>
          <p:nvSpPr>
            <p:cNvPr id="29778" name="Line 73"/>
            <p:cNvSpPr>
              <a:spLocks noChangeShapeType="1"/>
            </p:cNvSpPr>
            <p:nvPr/>
          </p:nvSpPr>
          <p:spPr bwMode="auto">
            <a:xfrm flipH="1">
              <a:off x="6238875" y="2924175"/>
              <a:ext cx="2160588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79" name="Rectangle 74"/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9780" name="Line 75"/>
            <p:cNvSpPr>
              <a:spLocks noChangeShapeType="1"/>
            </p:cNvSpPr>
            <p:nvPr/>
          </p:nvSpPr>
          <p:spPr bwMode="auto">
            <a:xfrm flipH="1">
              <a:off x="7751763" y="2924175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81" name="Line 76"/>
            <p:cNvSpPr>
              <a:spLocks noChangeShapeType="1"/>
            </p:cNvSpPr>
            <p:nvPr/>
          </p:nvSpPr>
          <p:spPr bwMode="auto">
            <a:xfrm flipH="1">
              <a:off x="8399463" y="2924175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82" name="Line 77"/>
            <p:cNvSpPr>
              <a:spLocks noChangeShapeType="1"/>
            </p:cNvSpPr>
            <p:nvPr/>
          </p:nvSpPr>
          <p:spPr bwMode="auto">
            <a:xfrm>
              <a:off x="8399463" y="2924176"/>
              <a:ext cx="1830447" cy="515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83" name="Rectangle 78"/>
            <p:cNvSpPr>
              <a:spLocks noChangeArrowheads="1"/>
            </p:cNvSpPr>
            <p:nvPr/>
          </p:nvSpPr>
          <p:spPr bwMode="auto">
            <a:xfrm>
              <a:off x="75358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29784" name="Rectangle 79"/>
            <p:cNvSpPr>
              <a:spLocks noChangeArrowheads="1"/>
            </p:cNvSpPr>
            <p:nvPr/>
          </p:nvSpPr>
          <p:spPr bwMode="auto">
            <a:xfrm>
              <a:off x="81835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29785" name="Rectangle 81"/>
            <p:cNvSpPr>
              <a:spLocks noChangeArrowheads="1"/>
            </p:cNvSpPr>
            <p:nvPr/>
          </p:nvSpPr>
          <p:spPr bwMode="auto">
            <a:xfrm>
              <a:off x="10039408" y="35004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2" name="Rectangle 79"/>
            <p:cNvSpPr>
              <a:spLocks noChangeArrowheads="1"/>
            </p:cNvSpPr>
            <p:nvPr/>
          </p:nvSpPr>
          <p:spPr bwMode="auto">
            <a:xfrm>
              <a:off x="8765558" y="3427634"/>
              <a:ext cx="431703" cy="3596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87" name="Line 75"/>
            <p:cNvSpPr>
              <a:spLocks noChangeShapeType="1"/>
            </p:cNvSpPr>
            <p:nvPr/>
          </p:nvSpPr>
          <p:spPr bwMode="auto">
            <a:xfrm>
              <a:off x="8396572" y="2924175"/>
              <a:ext cx="537879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组合 23"/>
          <p:cNvGrpSpPr>
            <a:grpSpLocks/>
          </p:cNvGrpSpPr>
          <p:nvPr/>
        </p:nvGrpSpPr>
        <p:grpSpPr bwMode="auto">
          <a:xfrm>
            <a:off x="4489450" y="3206750"/>
            <a:ext cx="2701925" cy="731838"/>
            <a:chOff x="5282205" y="3787279"/>
            <a:chExt cx="3601264" cy="976410"/>
          </a:xfrm>
        </p:grpSpPr>
        <p:sp>
          <p:nvSpPr>
            <p:cNvPr id="29770" name="Line 82"/>
            <p:cNvSpPr>
              <a:spLocks noChangeShapeType="1"/>
            </p:cNvSpPr>
            <p:nvPr/>
          </p:nvSpPr>
          <p:spPr bwMode="auto">
            <a:xfrm flipH="1">
              <a:off x="5753044" y="3787775"/>
              <a:ext cx="485438" cy="509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71" name="Line 84"/>
            <p:cNvSpPr>
              <a:spLocks noChangeShapeType="1"/>
            </p:cNvSpPr>
            <p:nvPr/>
          </p:nvSpPr>
          <p:spPr bwMode="auto">
            <a:xfrm>
              <a:off x="6238479" y="3787775"/>
              <a:ext cx="1008635" cy="6258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72" name="Rectangle 85"/>
            <p:cNvSpPr>
              <a:spLocks noChangeArrowheads="1"/>
            </p:cNvSpPr>
            <p:nvPr/>
          </p:nvSpPr>
          <p:spPr bwMode="auto">
            <a:xfrm>
              <a:off x="5282205" y="4306392"/>
              <a:ext cx="431602" cy="360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73" name="Rectangle 87"/>
            <p:cNvSpPr>
              <a:spLocks noChangeArrowheads="1"/>
            </p:cNvSpPr>
            <p:nvPr/>
          </p:nvSpPr>
          <p:spPr bwMode="auto">
            <a:xfrm>
              <a:off x="7027168" y="4451197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" name="Rectangle 79"/>
            <p:cNvSpPr>
              <a:spLocks noChangeArrowheads="1"/>
            </p:cNvSpPr>
            <p:nvPr/>
          </p:nvSpPr>
          <p:spPr bwMode="auto">
            <a:xfrm>
              <a:off x="6725250" y="4369736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4" name="Rectangle 79"/>
            <p:cNvSpPr>
              <a:spLocks noChangeArrowheads="1"/>
            </p:cNvSpPr>
            <p:nvPr/>
          </p:nvSpPr>
          <p:spPr bwMode="auto">
            <a:xfrm>
              <a:off x="8451825" y="4403625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76" name="Line 75"/>
            <p:cNvSpPr>
              <a:spLocks noChangeShapeType="1"/>
            </p:cNvSpPr>
            <p:nvPr/>
          </p:nvSpPr>
          <p:spPr bwMode="auto">
            <a:xfrm>
              <a:off x="6235700" y="3787279"/>
              <a:ext cx="615783" cy="6468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77" name="Line 75"/>
            <p:cNvSpPr>
              <a:spLocks noChangeShapeType="1"/>
            </p:cNvSpPr>
            <p:nvPr/>
          </p:nvSpPr>
          <p:spPr bwMode="auto">
            <a:xfrm>
              <a:off x="6235700" y="3809998"/>
              <a:ext cx="2338072" cy="6199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8" name="组合 24"/>
          <p:cNvGrpSpPr>
            <a:grpSpLocks/>
          </p:cNvGrpSpPr>
          <p:nvPr/>
        </p:nvGrpSpPr>
        <p:grpSpPr bwMode="auto">
          <a:xfrm>
            <a:off x="4254500" y="3838575"/>
            <a:ext cx="690563" cy="658813"/>
            <a:chOff x="5105402" y="4652963"/>
            <a:chExt cx="922600" cy="877795"/>
          </a:xfrm>
        </p:grpSpPr>
        <p:sp>
          <p:nvSpPr>
            <p:cNvPr id="29766" name="Line 83"/>
            <p:cNvSpPr>
              <a:spLocks noChangeShapeType="1"/>
            </p:cNvSpPr>
            <p:nvPr/>
          </p:nvSpPr>
          <p:spPr bwMode="auto">
            <a:xfrm flipH="1">
              <a:off x="5379540" y="4652963"/>
              <a:ext cx="211636" cy="5540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67" name="Rectangle 86"/>
            <p:cNvSpPr>
              <a:spLocks noChangeArrowheads="1"/>
            </p:cNvSpPr>
            <p:nvPr/>
          </p:nvSpPr>
          <p:spPr bwMode="auto">
            <a:xfrm>
              <a:off x="5105402" y="5170396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85" name="Rectangle 79"/>
            <p:cNvSpPr>
              <a:spLocks noChangeArrowheads="1"/>
            </p:cNvSpPr>
            <p:nvPr/>
          </p:nvSpPr>
          <p:spPr bwMode="auto">
            <a:xfrm>
              <a:off x="5595335" y="5169064"/>
              <a:ext cx="432667" cy="35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69" name="Line 75"/>
            <p:cNvSpPr>
              <a:spLocks noChangeShapeType="1"/>
            </p:cNvSpPr>
            <p:nvPr/>
          </p:nvSpPr>
          <p:spPr bwMode="auto">
            <a:xfrm>
              <a:off x="5621338" y="4652964"/>
              <a:ext cx="76467" cy="496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组合 25"/>
          <p:cNvGrpSpPr>
            <a:grpSpLocks/>
          </p:cNvGrpSpPr>
          <p:nvPr/>
        </p:nvGrpSpPr>
        <p:grpSpPr bwMode="auto">
          <a:xfrm>
            <a:off x="5613400" y="3956050"/>
            <a:ext cx="625475" cy="696913"/>
            <a:chOff x="6671675" y="4724399"/>
            <a:chExt cx="833003" cy="927643"/>
          </a:xfrm>
        </p:grpSpPr>
        <p:sp>
          <p:nvSpPr>
            <p:cNvPr id="29762" name="Line 94"/>
            <p:cNvSpPr>
              <a:spLocks noChangeShapeType="1"/>
            </p:cNvSpPr>
            <p:nvPr/>
          </p:nvSpPr>
          <p:spPr bwMode="auto">
            <a:xfrm flipH="1">
              <a:off x="6945762" y="4724400"/>
              <a:ext cx="158301" cy="534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63" name="Rectangle 95"/>
            <p:cNvSpPr>
              <a:spLocks noChangeArrowheads="1"/>
            </p:cNvSpPr>
            <p:nvPr/>
          </p:nvSpPr>
          <p:spPr bwMode="auto">
            <a:xfrm>
              <a:off x="6671675" y="5286371"/>
              <a:ext cx="431800" cy="354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87" name="Rectangle 79"/>
            <p:cNvSpPr>
              <a:spLocks noChangeArrowheads="1"/>
            </p:cNvSpPr>
            <p:nvPr/>
          </p:nvSpPr>
          <p:spPr bwMode="auto">
            <a:xfrm>
              <a:off x="7073377" y="5292818"/>
              <a:ext cx="431301" cy="35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65" name="Line 75"/>
            <p:cNvSpPr>
              <a:spLocks noChangeShapeType="1"/>
            </p:cNvSpPr>
            <p:nvPr/>
          </p:nvSpPr>
          <p:spPr bwMode="auto">
            <a:xfrm>
              <a:off x="7142219" y="4724399"/>
              <a:ext cx="87808" cy="577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组合 26"/>
          <p:cNvGrpSpPr>
            <a:grpSpLocks/>
          </p:cNvGrpSpPr>
          <p:nvPr/>
        </p:nvGrpSpPr>
        <p:grpSpPr bwMode="auto">
          <a:xfrm>
            <a:off x="7207250" y="3224213"/>
            <a:ext cx="1949450" cy="739775"/>
            <a:chOff x="9104380" y="3821124"/>
            <a:chExt cx="2600138" cy="984354"/>
          </a:xfrm>
        </p:grpSpPr>
        <p:sp>
          <p:nvSpPr>
            <p:cNvPr id="29752" name="Line 98"/>
            <p:cNvSpPr>
              <a:spLocks noChangeShapeType="1"/>
            </p:cNvSpPr>
            <p:nvPr/>
          </p:nvSpPr>
          <p:spPr bwMode="auto">
            <a:xfrm flipH="1">
              <a:off x="9440689" y="3821994"/>
              <a:ext cx="1068661" cy="484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53" name="Rectangle 99"/>
            <p:cNvSpPr>
              <a:spLocks noChangeArrowheads="1"/>
            </p:cNvSpPr>
            <p:nvPr/>
          </p:nvSpPr>
          <p:spPr bwMode="auto">
            <a:xfrm>
              <a:off x="9104380" y="4460631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9754" name="Line 100"/>
            <p:cNvSpPr>
              <a:spLocks noChangeShapeType="1"/>
            </p:cNvSpPr>
            <p:nvPr/>
          </p:nvSpPr>
          <p:spPr bwMode="auto">
            <a:xfrm>
              <a:off x="10523549" y="3821126"/>
              <a:ext cx="60959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55" name="Line 101"/>
            <p:cNvSpPr>
              <a:spLocks noChangeShapeType="1"/>
            </p:cNvSpPr>
            <p:nvPr/>
          </p:nvSpPr>
          <p:spPr bwMode="auto">
            <a:xfrm>
              <a:off x="10523551" y="3821124"/>
              <a:ext cx="285751" cy="571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56" name="Line 102"/>
            <p:cNvSpPr>
              <a:spLocks noChangeShapeType="1"/>
            </p:cNvSpPr>
            <p:nvPr/>
          </p:nvSpPr>
          <p:spPr bwMode="auto">
            <a:xfrm>
              <a:off x="10523551" y="3821124"/>
              <a:ext cx="952507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57" name="Rectangle 103"/>
            <p:cNvSpPr>
              <a:spLocks noChangeArrowheads="1"/>
            </p:cNvSpPr>
            <p:nvPr/>
          </p:nvSpPr>
          <p:spPr bwMode="auto">
            <a:xfrm>
              <a:off x="10372611" y="443323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29758" name="Rectangle 104"/>
            <p:cNvSpPr>
              <a:spLocks noChangeArrowheads="1"/>
            </p:cNvSpPr>
            <p:nvPr/>
          </p:nvSpPr>
          <p:spPr bwMode="auto">
            <a:xfrm>
              <a:off x="10621319" y="440470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29759" name="Rectangle 106"/>
            <p:cNvSpPr>
              <a:spLocks noChangeArrowheads="1"/>
            </p:cNvSpPr>
            <p:nvPr/>
          </p:nvSpPr>
          <p:spPr bwMode="auto">
            <a:xfrm>
              <a:off x="11272717" y="4488272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0" name="Rectangle 79"/>
            <p:cNvSpPr>
              <a:spLocks noChangeArrowheads="1"/>
            </p:cNvSpPr>
            <p:nvPr/>
          </p:nvSpPr>
          <p:spPr bwMode="auto">
            <a:xfrm>
              <a:off x="10944381" y="4444266"/>
              <a:ext cx="431945" cy="36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61" name="Line 75"/>
            <p:cNvSpPr>
              <a:spLocks noChangeShapeType="1"/>
            </p:cNvSpPr>
            <p:nvPr/>
          </p:nvSpPr>
          <p:spPr bwMode="auto">
            <a:xfrm>
              <a:off x="10523552" y="3821125"/>
              <a:ext cx="571504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组合 27"/>
          <p:cNvGrpSpPr>
            <a:grpSpLocks/>
          </p:cNvGrpSpPr>
          <p:nvPr/>
        </p:nvGrpSpPr>
        <p:grpSpPr bwMode="auto">
          <a:xfrm>
            <a:off x="6480175" y="4016375"/>
            <a:ext cx="2400300" cy="619125"/>
            <a:chOff x="7945668" y="4724401"/>
            <a:chExt cx="3198628" cy="824552"/>
          </a:xfrm>
        </p:grpSpPr>
        <p:sp>
          <p:nvSpPr>
            <p:cNvPr id="29744" name="Line 107"/>
            <p:cNvSpPr>
              <a:spLocks noChangeShapeType="1"/>
            </p:cNvSpPr>
            <p:nvPr/>
          </p:nvSpPr>
          <p:spPr bwMode="auto">
            <a:xfrm flipH="1">
              <a:off x="8245915" y="4724401"/>
              <a:ext cx="873610" cy="442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45" name="Line 109"/>
            <p:cNvSpPr>
              <a:spLocks noChangeShapeType="1"/>
            </p:cNvSpPr>
            <p:nvPr/>
          </p:nvSpPr>
          <p:spPr bwMode="auto">
            <a:xfrm>
              <a:off x="9119527" y="4724404"/>
              <a:ext cx="661014" cy="4762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46" name="Rectangle 110"/>
            <p:cNvSpPr>
              <a:spLocks noChangeArrowheads="1"/>
            </p:cNvSpPr>
            <p:nvPr/>
          </p:nvSpPr>
          <p:spPr bwMode="auto">
            <a:xfrm>
              <a:off x="7945668" y="5188591"/>
              <a:ext cx="431469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47" name="Rectangle 112"/>
            <p:cNvSpPr>
              <a:spLocks noChangeArrowheads="1"/>
            </p:cNvSpPr>
            <p:nvPr/>
          </p:nvSpPr>
          <p:spPr bwMode="auto">
            <a:xfrm>
              <a:off x="9484197" y="5228744"/>
              <a:ext cx="43147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4" name="Rectangle 79"/>
            <p:cNvSpPr>
              <a:spLocks noChangeArrowheads="1"/>
            </p:cNvSpPr>
            <p:nvPr/>
          </p:nvSpPr>
          <p:spPr bwMode="auto">
            <a:xfrm>
              <a:off x="9208619" y="5157820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9" name="Rectangle 79"/>
            <p:cNvSpPr>
              <a:spLocks noChangeArrowheads="1"/>
            </p:cNvSpPr>
            <p:nvPr/>
          </p:nvSpPr>
          <p:spPr bwMode="auto">
            <a:xfrm>
              <a:off x="10712735" y="5181076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50" name="Line 75"/>
            <p:cNvSpPr>
              <a:spLocks noChangeShapeType="1"/>
            </p:cNvSpPr>
            <p:nvPr/>
          </p:nvSpPr>
          <p:spPr bwMode="auto">
            <a:xfrm>
              <a:off x="9119527" y="4751308"/>
              <a:ext cx="280025" cy="4493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51" name="Line 75"/>
            <p:cNvSpPr>
              <a:spLocks noChangeShapeType="1"/>
            </p:cNvSpPr>
            <p:nvPr/>
          </p:nvSpPr>
          <p:spPr bwMode="auto">
            <a:xfrm>
              <a:off x="9150350" y="4746626"/>
              <a:ext cx="1768730" cy="471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12" name="组合 28"/>
          <p:cNvGrpSpPr>
            <a:grpSpLocks/>
          </p:cNvGrpSpPr>
          <p:nvPr/>
        </p:nvGrpSpPr>
        <p:grpSpPr bwMode="auto">
          <a:xfrm>
            <a:off x="6188075" y="4627563"/>
            <a:ext cx="641350" cy="454025"/>
            <a:chOff x="7924456" y="5588005"/>
            <a:chExt cx="855799" cy="605951"/>
          </a:xfrm>
        </p:grpSpPr>
        <p:sp>
          <p:nvSpPr>
            <p:cNvPr id="29740" name="Line 108"/>
            <p:cNvSpPr>
              <a:spLocks noChangeShapeType="1"/>
            </p:cNvSpPr>
            <p:nvPr/>
          </p:nvSpPr>
          <p:spPr bwMode="auto">
            <a:xfrm flipH="1">
              <a:off x="8181795" y="5589590"/>
              <a:ext cx="290700" cy="261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41" name="Rectangle 111"/>
            <p:cNvSpPr>
              <a:spLocks noChangeArrowheads="1"/>
            </p:cNvSpPr>
            <p:nvPr/>
          </p:nvSpPr>
          <p:spPr bwMode="auto">
            <a:xfrm>
              <a:off x="7924456" y="5833591"/>
              <a:ext cx="431800" cy="360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91" name="Rectangle 79"/>
            <p:cNvSpPr>
              <a:spLocks noChangeArrowheads="1"/>
            </p:cNvSpPr>
            <p:nvPr/>
          </p:nvSpPr>
          <p:spPr bwMode="auto">
            <a:xfrm>
              <a:off x="8348119" y="5831656"/>
              <a:ext cx="432136" cy="360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43" name="Line 75"/>
            <p:cNvSpPr>
              <a:spLocks noChangeShapeType="1"/>
            </p:cNvSpPr>
            <p:nvPr/>
          </p:nvSpPr>
          <p:spPr bwMode="auto">
            <a:xfrm>
              <a:off x="8472333" y="5588005"/>
              <a:ext cx="66603" cy="2730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组合 29"/>
          <p:cNvGrpSpPr>
            <a:grpSpLocks/>
          </p:cNvGrpSpPr>
          <p:nvPr/>
        </p:nvGrpSpPr>
        <p:grpSpPr bwMode="auto">
          <a:xfrm>
            <a:off x="7358063" y="4618038"/>
            <a:ext cx="655637" cy="527050"/>
            <a:chOff x="9502380" y="5794954"/>
            <a:chExt cx="872263" cy="701147"/>
          </a:xfrm>
        </p:grpSpPr>
        <p:sp>
          <p:nvSpPr>
            <p:cNvPr id="29736" name="Line 113"/>
            <p:cNvSpPr>
              <a:spLocks noChangeShapeType="1"/>
            </p:cNvSpPr>
            <p:nvPr/>
          </p:nvSpPr>
          <p:spPr bwMode="auto">
            <a:xfrm flipH="1">
              <a:off x="9732020" y="5832122"/>
              <a:ext cx="326908" cy="4180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29737" name="Rectangle 114"/>
            <p:cNvSpPr>
              <a:spLocks noChangeArrowheads="1"/>
            </p:cNvSpPr>
            <p:nvPr/>
          </p:nvSpPr>
          <p:spPr bwMode="auto">
            <a:xfrm>
              <a:off x="9502380" y="613573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93" name="Rectangle 79"/>
            <p:cNvSpPr>
              <a:spLocks noChangeArrowheads="1"/>
            </p:cNvSpPr>
            <p:nvPr/>
          </p:nvSpPr>
          <p:spPr bwMode="auto">
            <a:xfrm>
              <a:off x="9943791" y="6118072"/>
              <a:ext cx="430852" cy="3590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39" name="Line 75"/>
            <p:cNvSpPr>
              <a:spLocks noChangeShapeType="1"/>
            </p:cNvSpPr>
            <p:nvPr/>
          </p:nvSpPr>
          <p:spPr bwMode="auto">
            <a:xfrm>
              <a:off x="10066408" y="5794954"/>
              <a:ext cx="83404" cy="4125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39" name="任意多边形 38"/>
          <p:cNvSpPr/>
          <p:nvPr/>
        </p:nvSpPr>
        <p:spPr>
          <a:xfrm>
            <a:off x="2681288" y="4181475"/>
            <a:ext cx="3505200" cy="779463"/>
          </a:xfrm>
          <a:custGeom>
            <a:avLst/>
            <a:gdLst>
              <a:gd name="connsiteX0" fmla="*/ 0 w 5303520"/>
              <a:gd name="connsiteY0" fmla="*/ 1353312 h 1526928"/>
              <a:gd name="connsiteX1" fmla="*/ 2724912 w 5303520"/>
              <a:gd name="connsiteY1" fmla="*/ 1408176 h 1526928"/>
              <a:gd name="connsiteX2" fmla="*/ 5303520 w 5303520"/>
              <a:gd name="connsiteY2" fmla="*/ 0 h 152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3520" h="1526928">
                <a:moveTo>
                  <a:pt x="0" y="1353312"/>
                </a:moveTo>
                <a:cubicBezTo>
                  <a:pt x="920496" y="1493520"/>
                  <a:pt x="1840992" y="1633728"/>
                  <a:pt x="2724912" y="1408176"/>
                </a:cubicBezTo>
                <a:cubicBezTo>
                  <a:pt x="3608832" y="1182624"/>
                  <a:pt x="4456176" y="591312"/>
                  <a:pt x="530352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40" name="任意多边形 39"/>
          <p:cNvSpPr/>
          <p:nvPr/>
        </p:nvSpPr>
        <p:spPr>
          <a:xfrm rot="21480000">
            <a:off x="2716213" y="4716463"/>
            <a:ext cx="4038600" cy="127000"/>
          </a:xfrm>
          <a:custGeom>
            <a:avLst/>
            <a:gdLst>
              <a:gd name="connsiteX0" fmla="*/ 6318913 w 6318913"/>
              <a:gd name="connsiteY0" fmla="*/ 0 h 709683"/>
              <a:gd name="connsiteX1" fmla="*/ 2975212 w 6318913"/>
              <a:gd name="connsiteY1" fmla="*/ 177420 h 709683"/>
              <a:gd name="connsiteX2" fmla="*/ 0 w 6318913"/>
              <a:gd name="connsiteY2" fmla="*/ 709683 h 70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8913" h="709683">
                <a:moveTo>
                  <a:pt x="6318913" y="0"/>
                </a:moveTo>
                <a:cubicBezTo>
                  <a:pt x="5173638" y="29569"/>
                  <a:pt x="4028364" y="59139"/>
                  <a:pt x="2975212" y="177420"/>
                </a:cubicBezTo>
                <a:cubicBezTo>
                  <a:pt x="1922060" y="295701"/>
                  <a:pt x="961030" y="502692"/>
                  <a:pt x="0" y="709683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41" name="任意多边形 40"/>
          <p:cNvSpPr/>
          <p:nvPr/>
        </p:nvSpPr>
        <p:spPr>
          <a:xfrm rot="21540000">
            <a:off x="2640013" y="4878388"/>
            <a:ext cx="5207000" cy="150812"/>
          </a:xfrm>
          <a:custGeom>
            <a:avLst/>
            <a:gdLst>
              <a:gd name="connsiteX0" fmla="*/ 0 w 7955280"/>
              <a:gd name="connsiteY0" fmla="*/ 676656 h 950076"/>
              <a:gd name="connsiteX1" fmla="*/ 4187952 w 7955280"/>
              <a:gd name="connsiteY1" fmla="*/ 914400 h 950076"/>
              <a:gd name="connsiteX2" fmla="*/ 7955280 w 7955280"/>
              <a:gd name="connsiteY2" fmla="*/ 0 h 95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5280" h="950076">
                <a:moveTo>
                  <a:pt x="0" y="676656"/>
                </a:moveTo>
                <a:cubicBezTo>
                  <a:pt x="1431036" y="851916"/>
                  <a:pt x="2862072" y="1027176"/>
                  <a:pt x="4187952" y="914400"/>
                </a:cubicBezTo>
                <a:cubicBezTo>
                  <a:pt x="5513832" y="801624"/>
                  <a:pt x="6734556" y="400812"/>
                  <a:pt x="795528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643063" y="4419600"/>
            <a:ext cx="1071562" cy="65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</a:t>
            </a:r>
          </a:p>
        </p:txBody>
      </p:sp>
      <p:sp>
        <p:nvSpPr>
          <p:cNvPr id="38" name="任意多边形 37"/>
          <p:cNvSpPr/>
          <p:nvPr/>
        </p:nvSpPr>
        <p:spPr>
          <a:xfrm>
            <a:off x="2714625" y="3905250"/>
            <a:ext cx="2095500" cy="852488"/>
          </a:xfrm>
          <a:custGeom>
            <a:avLst/>
            <a:gdLst>
              <a:gd name="connsiteX0" fmla="*/ 3466532 w 3466532"/>
              <a:gd name="connsiteY0" fmla="*/ 0 h 1078174"/>
              <a:gd name="connsiteX1" fmla="*/ 1269242 w 3466532"/>
              <a:gd name="connsiteY1" fmla="*/ 354842 h 1078174"/>
              <a:gd name="connsiteX2" fmla="*/ 0 w 3466532"/>
              <a:gd name="connsiteY2" fmla="*/ 1078174 h 107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532" h="1078174">
                <a:moveTo>
                  <a:pt x="3466532" y="0"/>
                </a:moveTo>
                <a:cubicBezTo>
                  <a:pt x="2656764" y="87573"/>
                  <a:pt x="1846997" y="175146"/>
                  <a:pt x="1269242" y="354842"/>
                </a:cubicBezTo>
                <a:cubicBezTo>
                  <a:pt x="691487" y="534538"/>
                  <a:pt x="345743" y="806356"/>
                  <a:pt x="0" y="1078174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63830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 </a:t>
            </a:r>
            <a:endParaRPr lang="zh-CN" altLang="en-US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61925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250"/>
              </a:lnSpc>
              <a:defRPr/>
            </a:pPr>
            <a:r>
              <a:rPr lang="en-US" altLang="zh-CN" sz="1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12 </a:t>
            </a:r>
            <a:endParaRPr lang="zh-CN" altLang="en-US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619250" y="4427538"/>
            <a:ext cx="1071563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lang="en-US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</a:t>
            </a:r>
          </a:p>
        </p:txBody>
      </p:sp>
      <p:sp>
        <p:nvSpPr>
          <p:cNvPr id="14" name="线形标注 1 13"/>
          <p:cNvSpPr/>
          <p:nvPr/>
        </p:nvSpPr>
        <p:spPr>
          <a:xfrm>
            <a:off x="7113588" y="1438275"/>
            <a:ext cx="1811337" cy="487363"/>
          </a:xfrm>
          <a:prstGeom prst="borderCallout1">
            <a:avLst>
              <a:gd name="adj1" fmla="val 104946"/>
              <a:gd name="adj2" fmla="val 7291"/>
              <a:gd name="adj3" fmla="val 318176"/>
              <a:gd name="adj4" fmla="val 1111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0 )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" name="线形标注 1 101"/>
          <p:cNvSpPr/>
          <p:nvPr/>
        </p:nvSpPr>
        <p:spPr>
          <a:xfrm>
            <a:off x="7531100" y="2022475"/>
            <a:ext cx="1568450" cy="487363"/>
          </a:xfrm>
          <a:prstGeom prst="borderCallout1">
            <a:avLst>
              <a:gd name="adj1" fmla="val 109068"/>
              <a:gd name="adj2" fmla="val 89261"/>
              <a:gd name="adj3" fmla="val 357337"/>
              <a:gd name="adj4" fmla="val 78093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8 )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6143625" y="3168649"/>
            <a:ext cx="1164679" cy="574675"/>
          </a:xfrm>
          <a:custGeom>
            <a:avLst/>
            <a:gdLst>
              <a:gd name="connsiteX0" fmla="*/ 167425 w 252438"/>
              <a:gd name="connsiteY0" fmla="*/ 502276 h 502276"/>
              <a:gd name="connsiteX1" fmla="*/ 244698 w 252438"/>
              <a:gd name="connsiteY1" fmla="*/ 206062 h 502276"/>
              <a:gd name="connsiteX2" fmla="*/ 0 w 252438"/>
              <a:gd name="connsiteY2" fmla="*/ 0 h 50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438" h="502276">
                <a:moveTo>
                  <a:pt x="167425" y="502276"/>
                </a:moveTo>
                <a:cubicBezTo>
                  <a:pt x="220013" y="396025"/>
                  <a:pt x="272602" y="289775"/>
                  <a:pt x="244698" y="206062"/>
                </a:cubicBezTo>
                <a:cubicBezTo>
                  <a:pt x="216794" y="122349"/>
                  <a:pt x="108397" y="6117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8024813" y="4094163"/>
            <a:ext cx="220662" cy="368300"/>
          </a:xfrm>
          <a:custGeom>
            <a:avLst/>
            <a:gdLst>
              <a:gd name="connsiteX0" fmla="*/ 81886 w 219981"/>
              <a:gd name="connsiteY0" fmla="*/ 368490 h 368490"/>
              <a:gd name="connsiteX1" fmla="*/ 218364 w 219981"/>
              <a:gd name="connsiteY1" fmla="*/ 177421 h 368490"/>
              <a:gd name="connsiteX2" fmla="*/ 0 w 219981"/>
              <a:gd name="connsiteY2" fmla="*/ 0 h 36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981" h="368490">
                <a:moveTo>
                  <a:pt x="81886" y="368490"/>
                </a:moveTo>
                <a:cubicBezTo>
                  <a:pt x="156949" y="303663"/>
                  <a:pt x="232012" y="238836"/>
                  <a:pt x="218364" y="177421"/>
                </a:cubicBezTo>
                <a:cubicBezTo>
                  <a:pt x="204716" y="116006"/>
                  <a:pt x="102358" y="58003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84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9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9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9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797792" grpId="0"/>
      <p:bldP spid="797793" grpId="0"/>
      <p:bldP spid="797801" grpId="0"/>
      <p:bldP spid="797811" grpId="0"/>
      <p:bldP spid="797812" grpId="0"/>
      <p:bldP spid="2" grpId="0" animBg="1"/>
      <p:bldP spid="64" grpId="0" animBg="1"/>
      <p:bldP spid="65" grpId="0" animBg="1"/>
      <p:bldP spid="67" grpId="0" animBg="1"/>
      <p:bldP spid="68" grpId="0" animBg="1"/>
      <p:bldP spid="76" grpId="0" animBg="1"/>
      <p:bldP spid="80" grpId="0" animBg="1"/>
      <p:bldP spid="81" grpId="0" animBg="1"/>
      <p:bldP spid="127" grpId="0" animBg="1"/>
      <p:bldP spid="98" grpId="0" animBg="1"/>
      <p:bldP spid="100" grpId="0" animBg="1"/>
      <p:bldP spid="101" grpId="0" animBg="1"/>
      <p:bldP spid="14" grpId="0" animBg="1"/>
      <p:bldP spid="10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49630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例：数组类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型表达式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“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[2][3]”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的语法制导翻译</a:t>
            </a:r>
          </a:p>
        </p:txBody>
      </p:sp>
      <p:sp>
        <p:nvSpPr>
          <p:cNvPr id="797776" name="Rectangle 80"/>
          <p:cNvSpPr>
            <a:spLocks noChangeArrowheads="1"/>
          </p:cNvSpPr>
          <p:nvPr/>
        </p:nvSpPr>
        <p:spPr bwMode="auto">
          <a:xfrm>
            <a:off x="5011738" y="1708150"/>
            <a:ext cx="85566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792" name="Rectangle 96"/>
          <p:cNvSpPr>
            <a:spLocks noChangeArrowheads="1"/>
          </p:cNvSpPr>
          <p:nvPr/>
        </p:nvSpPr>
        <p:spPr bwMode="auto">
          <a:xfrm>
            <a:off x="6429375" y="166687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31749" name="Line 57"/>
          <p:cNvSpPr>
            <a:spLocks noChangeShapeType="1"/>
          </p:cNvSpPr>
          <p:nvPr/>
        </p:nvSpPr>
        <p:spPr bwMode="auto">
          <a:xfrm flipV="1">
            <a:off x="4643438" y="681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4789488" y="1000125"/>
            <a:ext cx="4211637" cy="917575"/>
            <a:chOff x="5087243" y="3429000"/>
            <a:chExt cx="5616624" cy="1223963"/>
          </a:xfrm>
        </p:grpSpPr>
        <p:sp>
          <p:nvSpPr>
            <p:cNvPr id="31800" name="Rectangle 74"/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1801" name="Line 82"/>
            <p:cNvSpPr>
              <a:spLocks noChangeShapeType="1"/>
            </p:cNvSpPr>
            <p:nvPr/>
          </p:nvSpPr>
          <p:spPr bwMode="auto">
            <a:xfrm flipH="1">
              <a:off x="5591076" y="3787775"/>
              <a:ext cx="647403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802" name="Line 84"/>
            <p:cNvSpPr>
              <a:spLocks noChangeShapeType="1"/>
            </p:cNvSpPr>
            <p:nvPr/>
          </p:nvSpPr>
          <p:spPr bwMode="auto">
            <a:xfrm>
              <a:off x="6238479" y="3787775"/>
              <a:ext cx="720394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803" name="Rectangle 85"/>
            <p:cNvSpPr>
              <a:spLocks noChangeArrowheads="1"/>
            </p:cNvSpPr>
            <p:nvPr/>
          </p:nvSpPr>
          <p:spPr bwMode="auto">
            <a:xfrm>
              <a:off x="5087243" y="4292600"/>
              <a:ext cx="431602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804" name="Rectangle 87"/>
            <p:cNvSpPr>
              <a:spLocks noChangeArrowheads="1"/>
            </p:cNvSpPr>
            <p:nvPr/>
          </p:nvSpPr>
          <p:spPr bwMode="auto">
            <a:xfrm>
              <a:off x="6888361" y="4293096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805" name="Rectangle 79"/>
            <p:cNvSpPr>
              <a:spLocks noChangeArrowheads="1"/>
            </p:cNvSpPr>
            <p:nvPr/>
          </p:nvSpPr>
          <p:spPr bwMode="auto">
            <a:xfrm>
              <a:off x="6383387" y="422116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806" name="Rectangle 79"/>
            <p:cNvSpPr>
              <a:spLocks noChangeArrowheads="1"/>
            </p:cNvSpPr>
            <p:nvPr/>
          </p:nvSpPr>
          <p:spPr bwMode="auto">
            <a:xfrm>
              <a:off x="10272067" y="426728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807" name="Line 75"/>
            <p:cNvSpPr>
              <a:spLocks noChangeShapeType="1"/>
            </p:cNvSpPr>
            <p:nvPr/>
          </p:nvSpPr>
          <p:spPr bwMode="auto">
            <a:xfrm>
              <a:off x="6235700" y="3789040"/>
              <a:ext cx="399257" cy="504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808" name="Line 75"/>
            <p:cNvSpPr>
              <a:spLocks noChangeShapeType="1"/>
            </p:cNvSpPr>
            <p:nvPr/>
          </p:nvSpPr>
          <p:spPr bwMode="auto">
            <a:xfrm>
              <a:off x="6235700" y="3796147"/>
              <a:ext cx="4252143" cy="508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组合 24"/>
          <p:cNvGrpSpPr>
            <a:grpSpLocks/>
          </p:cNvGrpSpPr>
          <p:nvPr/>
        </p:nvGrpSpPr>
        <p:grpSpPr bwMode="auto">
          <a:xfrm>
            <a:off x="4735513" y="1917700"/>
            <a:ext cx="730250" cy="725488"/>
            <a:chOff x="5375275" y="4652963"/>
            <a:chExt cx="974452" cy="966801"/>
          </a:xfrm>
        </p:grpSpPr>
        <p:sp>
          <p:nvSpPr>
            <p:cNvPr id="31796" name="Line 83"/>
            <p:cNvSpPr>
              <a:spLocks noChangeShapeType="1"/>
            </p:cNvSpPr>
            <p:nvPr/>
          </p:nvSpPr>
          <p:spPr bwMode="auto">
            <a:xfrm flipH="1">
              <a:off x="5591175" y="46529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97" name="Rectangle 86"/>
            <p:cNvSpPr>
              <a:spLocks noChangeArrowheads="1"/>
            </p:cNvSpPr>
            <p:nvPr/>
          </p:nvSpPr>
          <p:spPr bwMode="auto">
            <a:xfrm>
              <a:off x="5375275" y="525939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31798" name="Rectangle 79"/>
            <p:cNvSpPr>
              <a:spLocks noChangeArrowheads="1"/>
            </p:cNvSpPr>
            <p:nvPr/>
          </p:nvSpPr>
          <p:spPr bwMode="auto">
            <a:xfrm>
              <a:off x="5917927" y="5259402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99" name="Line 75"/>
            <p:cNvSpPr>
              <a:spLocks noChangeShapeType="1"/>
            </p:cNvSpPr>
            <p:nvPr/>
          </p:nvSpPr>
          <p:spPr bwMode="auto">
            <a:xfrm>
              <a:off x="5621338" y="4652964"/>
              <a:ext cx="483453" cy="5540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107" name="Line 57"/>
          <p:cNvSpPr>
            <a:spLocks noChangeShapeType="1"/>
          </p:cNvSpPr>
          <p:nvPr/>
        </p:nvSpPr>
        <p:spPr bwMode="auto">
          <a:xfrm flipV="1">
            <a:off x="49133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5622925" y="1925638"/>
            <a:ext cx="3378200" cy="676275"/>
            <a:chOff x="6485155" y="3427585"/>
            <a:chExt cx="4503601" cy="901696"/>
          </a:xfrm>
        </p:grpSpPr>
        <p:sp>
          <p:nvSpPr>
            <p:cNvPr id="31786" name="Line 94"/>
            <p:cNvSpPr>
              <a:spLocks noChangeShapeType="1"/>
            </p:cNvSpPr>
            <p:nvPr/>
          </p:nvSpPr>
          <p:spPr bwMode="auto">
            <a:xfrm>
              <a:off x="7464150" y="3428998"/>
              <a:ext cx="77001" cy="523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87" name="Rectangle 95"/>
            <p:cNvSpPr>
              <a:spLocks noChangeArrowheads="1"/>
            </p:cNvSpPr>
            <p:nvPr/>
          </p:nvSpPr>
          <p:spPr bwMode="auto">
            <a:xfrm>
              <a:off x="7388848" y="3908607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31788" name="Rectangle 79"/>
            <p:cNvSpPr>
              <a:spLocks noChangeArrowheads="1"/>
            </p:cNvSpPr>
            <p:nvPr/>
          </p:nvSpPr>
          <p:spPr bwMode="auto">
            <a:xfrm>
              <a:off x="10556956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89" name="Line 75"/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90" name="Line 100"/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91" name="Line 100"/>
            <p:cNvSpPr>
              <a:spLocks noChangeShapeType="1"/>
            </p:cNvSpPr>
            <p:nvPr/>
          </p:nvSpPr>
          <p:spPr bwMode="auto">
            <a:xfrm flipH="1">
              <a:off x="7178843" y="3432416"/>
              <a:ext cx="285307" cy="476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92" name="Rectangle 103"/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31793" name="Rectangle 103"/>
            <p:cNvSpPr>
              <a:spLocks noChangeArrowheads="1"/>
            </p:cNvSpPr>
            <p:nvPr/>
          </p:nvSpPr>
          <p:spPr bwMode="auto">
            <a:xfrm>
              <a:off x="6937540" y="389374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31794" name="Line 75"/>
            <p:cNvSpPr>
              <a:spLocks noChangeShapeType="1"/>
            </p:cNvSpPr>
            <p:nvPr/>
          </p:nvSpPr>
          <p:spPr bwMode="auto">
            <a:xfrm>
              <a:off x="7470280" y="3427585"/>
              <a:ext cx="3086676" cy="7026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95" name="Rectangle 87"/>
            <p:cNvSpPr>
              <a:spLocks noChangeArrowheads="1"/>
            </p:cNvSpPr>
            <p:nvPr/>
          </p:nvSpPr>
          <p:spPr bwMode="auto">
            <a:xfrm>
              <a:off x="7707138" y="3964025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9" name="Line 57"/>
          <p:cNvSpPr>
            <a:spLocks noChangeShapeType="1"/>
          </p:cNvSpPr>
          <p:nvPr/>
        </p:nvSpPr>
        <p:spPr bwMode="auto">
          <a:xfrm flipV="1">
            <a:off x="506253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120" name="Line 57"/>
          <p:cNvSpPr>
            <a:spLocks noChangeShapeType="1"/>
          </p:cNvSpPr>
          <p:nvPr/>
        </p:nvSpPr>
        <p:spPr bwMode="auto">
          <a:xfrm flipV="1">
            <a:off x="5195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121" name="Line 57"/>
          <p:cNvSpPr>
            <a:spLocks noChangeShapeType="1"/>
          </p:cNvSpPr>
          <p:nvPr/>
        </p:nvSpPr>
        <p:spPr bwMode="auto">
          <a:xfrm flipV="1">
            <a:off x="53578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grpSp>
        <p:nvGrpSpPr>
          <p:cNvPr id="5" name="组合 121"/>
          <p:cNvGrpSpPr>
            <a:grpSpLocks/>
          </p:cNvGrpSpPr>
          <p:nvPr/>
        </p:nvGrpSpPr>
        <p:grpSpPr bwMode="auto">
          <a:xfrm>
            <a:off x="5965825" y="2622550"/>
            <a:ext cx="2552700" cy="676275"/>
            <a:chOff x="6485155" y="3427586"/>
            <a:chExt cx="3403545" cy="901695"/>
          </a:xfrm>
        </p:grpSpPr>
        <p:sp>
          <p:nvSpPr>
            <p:cNvPr id="31776" name="Line 94"/>
            <p:cNvSpPr>
              <a:spLocks noChangeShapeType="1"/>
            </p:cNvSpPr>
            <p:nvPr/>
          </p:nvSpPr>
          <p:spPr bwMode="auto">
            <a:xfrm>
              <a:off x="7464151" y="3429001"/>
              <a:ext cx="115194" cy="501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77" name="Rectangle 95"/>
            <p:cNvSpPr>
              <a:spLocks noChangeArrowheads="1"/>
            </p:cNvSpPr>
            <p:nvPr/>
          </p:nvSpPr>
          <p:spPr bwMode="auto">
            <a:xfrm>
              <a:off x="7388847" y="389605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31778" name="Rectangle 79"/>
            <p:cNvSpPr>
              <a:spLocks noChangeArrowheads="1"/>
            </p:cNvSpPr>
            <p:nvPr/>
          </p:nvSpPr>
          <p:spPr bwMode="auto">
            <a:xfrm>
              <a:off x="9456900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i="1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>
                  <a:solidFill>
                    <a:srgbClr val="2D83F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79" name="Line 75"/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80" name="Line 100"/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81" name="Line 100"/>
            <p:cNvSpPr>
              <a:spLocks noChangeShapeType="1"/>
            </p:cNvSpPr>
            <p:nvPr/>
          </p:nvSpPr>
          <p:spPr bwMode="auto">
            <a:xfrm flipH="1">
              <a:off x="7199494" y="3432417"/>
              <a:ext cx="264657" cy="498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82" name="Rectangle 103"/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31783" name="Rectangle 103"/>
            <p:cNvSpPr>
              <a:spLocks noChangeArrowheads="1"/>
            </p:cNvSpPr>
            <p:nvPr/>
          </p:nvSpPr>
          <p:spPr bwMode="auto">
            <a:xfrm>
              <a:off x="6958194" y="3893743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31784" name="Line 75"/>
            <p:cNvSpPr>
              <a:spLocks noChangeShapeType="1"/>
            </p:cNvSpPr>
            <p:nvPr/>
          </p:nvSpPr>
          <p:spPr bwMode="auto">
            <a:xfrm>
              <a:off x="7470280" y="3427586"/>
              <a:ext cx="1916546" cy="608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85" name="Rectangle 87"/>
            <p:cNvSpPr>
              <a:spLocks noChangeArrowheads="1"/>
            </p:cNvSpPr>
            <p:nvPr/>
          </p:nvSpPr>
          <p:spPr bwMode="auto">
            <a:xfrm>
              <a:off x="7707138" y="3940310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" name="Line 57"/>
          <p:cNvSpPr>
            <a:spLocks noChangeShapeType="1"/>
          </p:cNvSpPr>
          <p:nvPr/>
        </p:nvSpPr>
        <p:spPr bwMode="auto">
          <a:xfrm flipV="1">
            <a:off x="55229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134" name="Line 57"/>
          <p:cNvSpPr>
            <a:spLocks noChangeShapeType="1"/>
          </p:cNvSpPr>
          <p:nvPr/>
        </p:nvSpPr>
        <p:spPr bwMode="auto">
          <a:xfrm flipV="1">
            <a:off x="566896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sp>
        <p:nvSpPr>
          <p:cNvPr id="135" name="Line 57"/>
          <p:cNvSpPr>
            <a:spLocks noChangeShapeType="1"/>
          </p:cNvSpPr>
          <p:nvPr/>
        </p:nvSpPr>
        <p:spPr bwMode="auto">
          <a:xfrm flipV="1">
            <a:off x="5830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b="0">
              <a:solidFill>
                <a:prstClr val="black"/>
              </a:solidFill>
            </a:endParaRPr>
          </a:p>
        </p:txBody>
      </p:sp>
      <p:grpSp>
        <p:nvGrpSpPr>
          <p:cNvPr id="6" name="组合 135"/>
          <p:cNvGrpSpPr>
            <a:grpSpLocks/>
          </p:cNvGrpSpPr>
          <p:nvPr/>
        </p:nvGrpSpPr>
        <p:grpSpPr bwMode="auto">
          <a:xfrm>
            <a:off x="6908800" y="3305175"/>
            <a:ext cx="735013" cy="649288"/>
            <a:chOff x="6888163" y="4724400"/>
            <a:chExt cx="979375" cy="865188"/>
          </a:xfrm>
        </p:grpSpPr>
        <p:sp>
          <p:nvSpPr>
            <p:cNvPr id="31772" name="Line 94"/>
            <p:cNvSpPr>
              <a:spLocks noChangeShapeType="1"/>
            </p:cNvSpPr>
            <p:nvPr/>
          </p:nvSpPr>
          <p:spPr bwMode="auto">
            <a:xfrm flipH="1">
              <a:off x="7104063" y="4724400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31773" name="Rectangle 95"/>
            <p:cNvSpPr>
              <a:spLocks noChangeArrowheads="1"/>
            </p:cNvSpPr>
            <p:nvPr/>
          </p:nvSpPr>
          <p:spPr bwMode="auto">
            <a:xfrm>
              <a:off x="6888163" y="5229225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39" name="Rectangle 79"/>
            <p:cNvSpPr>
              <a:spLocks noChangeArrowheads="1"/>
            </p:cNvSpPr>
            <p:nvPr/>
          </p:nvSpPr>
          <p:spPr bwMode="auto">
            <a:xfrm>
              <a:off x="7436021" y="5204590"/>
              <a:ext cx="431517" cy="361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1800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75" name="Line 75"/>
            <p:cNvSpPr>
              <a:spLocks noChangeShapeType="1"/>
            </p:cNvSpPr>
            <p:nvPr/>
          </p:nvSpPr>
          <p:spPr bwMode="auto">
            <a:xfrm>
              <a:off x="7142219" y="4724400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141" name="Rectangle 80"/>
          <p:cNvSpPr>
            <a:spLocks noChangeArrowheads="1"/>
          </p:cNvSpPr>
          <p:nvPr/>
        </p:nvSpPr>
        <p:spPr bwMode="auto">
          <a:xfrm>
            <a:off x="7092950" y="3017838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142" name="Rectangle 80"/>
          <p:cNvSpPr>
            <a:spLocks noChangeArrowheads="1"/>
          </p:cNvSpPr>
          <p:nvPr/>
        </p:nvSpPr>
        <p:spPr bwMode="auto">
          <a:xfrm>
            <a:off x="6738938" y="2319338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</a:t>
            </a:r>
          </a:p>
        </p:txBody>
      </p:sp>
      <p:sp>
        <p:nvSpPr>
          <p:cNvPr id="143" name="Rectangle 96"/>
          <p:cNvSpPr>
            <a:spLocks noChangeArrowheads="1"/>
          </p:cNvSpPr>
          <p:nvPr/>
        </p:nvSpPr>
        <p:spPr bwMode="auto">
          <a:xfrm>
            <a:off x="5715000" y="944563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ts val="1800"/>
              </a:lnSpc>
            </a:pPr>
            <a:r>
              <a:rPr lang="en-US" altLang="zh-CN" sz="1600" i="1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zh-CN" sz="160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144" name="矩形 143"/>
          <p:cNvSpPr/>
          <p:nvPr/>
        </p:nvSpPr>
        <p:spPr>
          <a:xfrm>
            <a:off x="4611688" y="3402013"/>
            <a:ext cx="725487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>
              <a:lnSpc>
                <a:spcPts val="2250"/>
              </a:lnSpc>
              <a:defRPr/>
            </a:pPr>
            <a:r>
              <a:rPr lang="en-US" altLang="zh-CN" sz="1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5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1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 </a:t>
            </a:r>
          </a:p>
        </p:txBody>
      </p:sp>
      <p:sp>
        <p:nvSpPr>
          <p:cNvPr id="11" name="任意多边形 10"/>
          <p:cNvSpPr/>
          <p:nvPr/>
        </p:nvSpPr>
        <p:spPr>
          <a:xfrm>
            <a:off x="4627563" y="2159000"/>
            <a:ext cx="446087" cy="1228725"/>
          </a:xfrm>
          <a:custGeom>
            <a:avLst/>
            <a:gdLst>
              <a:gd name="connsiteX0" fmla="*/ 498569 w 498569"/>
              <a:gd name="connsiteY0" fmla="*/ 0 h 1637731"/>
              <a:gd name="connsiteX1" fmla="*/ 20897 w 498569"/>
              <a:gd name="connsiteY1" fmla="*/ 272955 h 1637731"/>
              <a:gd name="connsiteX2" fmla="*/ 130079 w 498569"/>
              <a:gd name="connsiteY2" fmla="*/ 1637731 h 163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8569" h="1637731">
                <a:moveTo>
                  <a:pt x="498569" y="0"/>
                </a:moveTo>
                <a:cubicBezTo>
                  <a:pt x="290440" y="0"/>
                  <a:pt x="82312" y="0"/>
                  <a:pt x="20897" y="272955"/>
                </a:cubicBezTo>
                <a:cubicBezTo>
                  <a:pt x="-40518" y="545910"/>
                  <a:pt x="44780" y="1091820"/>
                  <a:pt x="130079" y="1637731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5337175" y="3478213"/>
            <a:ext cx="2057400" cy="304800"/>
          </a:xfrm>
          <a:custGeom>
            <a:avLst/>
            <a:gdLst>
              <a:gd name="connsiteX0" fmla="*/ 0 w 2066544"/>
              <a:gd name="connsiteY0" fmla="*/ 603504 h 634951"/>
              <a:gd name="connsiteX1" fmla="*/ 1078992 w 2066544"/>
              <a:gd name="connsiteY1" fmla="*/ 566928 h 634951"/>
              <a:gd name="connsiteX2" fmla="*/ 2066544 w 2066544"/>
              <a:gd name="connsiteY2" fmla="*/ 0 h 63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6544" h="634951">
                <a:moveTo>
                  <a:pt x="0" y="603504"/>
                </a:moveTo>
                <a:cubicBezTo>
                  <a:pt x="367284" y="635508"/>
                  <a:pt x="734568" y="667512"/>
                  <a:pt x="1078992" y="566928"/>
                </a:cubicBezTo>
                <a:cubicBezTo>
                  <a:pt x="1423416" y="466344"/>
                  <a:pt x="1744980" y="233172"/>
                  <a:pt x="206654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 b="0">
              <a:solidFill>
                <a:prstClr val="white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693025" y="2530475"/>
            <a:ext cx="115888" cy="4381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 flipV="1">
            <a:off x="7715250" y="1833563"/>
            <a:ext cx="15875" cy="4635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 flipV="1">
            <a:off x="7496175" y="1103313"/>
            <a:ext cx="196850" cy="42386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2EB4065-6485-4F0C-8799-503927B8E9AB}"/>
              </a:ext>
            </a:extLst>
          </p:cNvPr>
          <p:cNvSpPr txBox="1"/>
          <p:nvPr/>
        </p:nvSpPr>
        <p:spPr>
          <a:xfrm>
            <a:off x="161389" y="4186113"/>
            <a:ext cx="8677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3"/>
              </a:rPr>
              <a:t>https://pandolia.net/tinyc/index.html</a:t>
            </a:r>
            <a:endParaRPr lang="en-US" altLang="zh-CN" dirty="0"/>
          </a:p>
          <a:p>
            <a:r>
              <a:rPr lang="zh-CN" altLang="en-US" b="0" dirty="0"/>
              <a:t>欢迎阅读本书</a:t>
            </a:r>
            <a:r>
              <a:rPr lang="en-US" altLang="zh-CN" b="0" dirty="0"/>
              <a:t>《</a:t>
            </a:r>
            <a:r>
              <a:rPr lang="zh-CN" altLang="en-US" b="0" dirty="0"/>
              <a:t>自己动手写编译器</a:t>
            </a:r>
            <a:r>
              <a:rPr lang="en-US" altLang="zh-CN" b="0" dirty="0"/>
              <a:t>》</a:t>
            </a:r>
            <a:r>
              <a:rPr lang="zh-CN" altLang="en-US" b="0" dirty="0"/>
              <a:t>，本书将介绍一个非常简单的编译器（ </a:t>
            </a:r>
            <a:r>
              <a:rPr lang="en-US" altLang="zh-CN" b="0" dirty="0" err="1"/>
              <a:t>TinyC</a:t>
            </a:r>
            <a:r>
              <a:rPr lang="en-US" altLang="zh-CN" b="0" dirty="0"/>
              <a:t> </a:t>
            </a:r>
            <a:r>
              <a:rPr lang="zh-CN" altLang="en-US" b="0" dirty="0"/>
              <a:t>编译器）的实现，用简单和易于实现的实例来描述基本的编译原理及过程，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3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107" grpId="0" animBg="1"/>
      <p:bldP spid="119" grpId="0" animBg="1"/>
      <p:bldP spid="120" grpId="0" animBg="1"/>
      <p:bldP spid="121" grpId="0" animBg="1"/>
      <p:bldP spid="133" grpId="0" animBg="1"/>
      <p:bldP spid="134" grpId="0" animBg="1"/>
      <p:bldP spid="135" grpId="0" animBg="1"/>
      <p:bldP spid="141" grpId="0"/>
      <p:bldP spid="144" grpId="0" animBg="1"/>
      <p:bldP spid="6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7782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0B370A-2D43-4ABD-85E1-20CEEB2CC6E9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64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67544" y="1059582"/>
            <a:ext cx="774479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/>
              <a:t>8</a:t>
            </a:r>
            <a:r>
              <a:rPr lang="zh-CN" altLang="zh-CN" sz="2000" dirty="0"/>
              <a:t>、构造正则表达式</a:t>
            </a:r>
            <a:r>
              <a:rPr lang="en-US" altLang="zh-CN" sz="2000" dirty="0"/>
              <a:t>b*((</a:t>
            </a:r>
            <a:r>
              <a:rPr lang="en-US" altLang="zh-CN" sz="2000" dirty="0" err="1"/>
              <a:t>ba</a:t>
            </a:r>
            <a:r>
              <a:rPr lang="en-US" altLang="zh-CN" sz="2000" dirty="0"/>
              <a:t>)*|ab)</a:t>
            </a:r>
            <a:r>
              <a:rPr lang="zh-CN" altLang="zh-CN" sz="2000" dirty="0"/>
              <a:t>的最小化</a:t>
            </a:r>
            <a:r>
              <a:rPr lang="en-US" altLang="zh-CN" sz="2000" dirty="0"/>
              <a:t>DFA</a:t>
            </a:r>
            <a:r>
              <a:rPr lang="zh-CN" altLang="zh-CN" sz="2000" dirty="0"/>
              <a:t>，请给出具体过程。（提示：非终结符在遇到输入符号进入到空串</a:t>
            </a:r>
            <a:r>
              <a:rPr lang="en-US" altLang="zh-CN" sz="2000" dirty="0"/>
              <a:t>Ø</a:t>
            </a:r>
            <a:r>
              <a:rPr lang="zh-CN" altLang="zh-CN" sz="2000" dirty="0"/>
              <a:t>时， 认为是进入到了不同的分组，可进行划分）（</a:t>
            </a:r>
            <a:r>
              <a:rPr lang="en-US" altLang="zh-CN" sz="2000" dirty="0"/>
              <a:t>20</a:t>
            </a:r>
            <a:r>
              <a:rPr lang="zh-CN" altLang="zh-CN" sz="2000" dirty="0"/>
              <a:t>分）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altLang="zh-CN" sz="48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altLang="zh-CN" sz="54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期中考试回顾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48D8A-0B49-4763-B513-68598BFDDAED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6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70CCA8-26E9-4B12-B9ED-5DF788ED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25AB15-AD0F-4621-B72C-A0FB3EC7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4A8A9-B291-48C6-BC70-EA8A4581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A9AA1C-AD53-40BE-B04C-E88149EC9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05" y="14838"/>
            <a:ext cx="6912700" cy="5178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0997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8992E3E-6AA4-4BC4-A575-9CC3C2BC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463EF4-CA34-46F1-BD8C-51A14B42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4D94F-106A-438D-A1D4-90BF0DF8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A6CB3E-B419-4392-9611-8EB6C5CD5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76" y="0"/>
            <a:ext cx="6954091" cy="52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0514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8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22700</TotalTime>
  <Words>4051</Words>
  <Application>Microsoft Office PowerPoint</Application>
  <PresentationFormat>全屏显示(16:9)</PresentationFormat>
  <Paragraphs>599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自定义设计方案</vt:lpstr>
      <vt:lpstr>2_波形</vt:lpstr>
      <vt:lpstr>1_自定义设计方案</vt:lpstr>
      <vt:lpstr>7_波形</vt:lpstr>
      <vt:lpstr>8_波形</vt:lpstr>
      <vt:lpstr>8. L-属性定义的自底向上翻译 </vt:lpstr>
      <vt:lpstr>例</vt:lpstr>
      <vt:lpstr>例</vt:lpstr>
      <vt:lpstr>例</vt:lpstr>
      <vt:lpstr>例</vt:lpstr>
      <vt:lpstr>例</vt:lpstr>
      <vt:lpstr>例</vt:lpstr>
      <vt:lpstr>将语义动作改写为 可执行的栈操作</vt:lpstr>
      <vt:lpstr>PowerPoint 演示文稿</vt:lpstr>
      <vt:lpstr>PowerPoint 演示文稿</vt:lpstr>
      <vt:lpstr>主要内容</vt:lpstr>
      <vt:lpstr>1. 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例</vt:lpstr>
      <vt:lpstr>PowerPoint 演示文稿</vt:lpstr>
      <vt:lpstr>变量声明语句的SDT</vt:lpstr>
      <vt:lpstr>例： “real x; int i;”的语法制导翻译</vt:lpstr>
      <vt:lpstr>例：数组类型表达式“int[2][3]”的语法制导翻译</vt:lpstr>
      <vt:lpstr>PowerPoint 演示文稿</vt:lpstr>
      <vt:lpstr>期中考试回顾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</dc:title>
  <dc:creator>chenyin</dc:creator>
  <cp:lastModifiedBy>妙根 凌</cp:lastModifiedBy>
  <cp:revision>1176</cp:revision>
  <cp:lastPrinted>2017-07-25T08:07:27Z</cp:lastPrinted>
  <dcterms:modified xsi:type="dcterms:W3CDTF">2025-12-15T03:23:23Z</dcterms:modified>
</cp:coreProperties>
</file>