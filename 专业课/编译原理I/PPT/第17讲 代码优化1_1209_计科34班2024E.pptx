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61" r:id="rId1"/>
    <p:sldMasterId id="2147484068" r:id="rId2"/>
  </p:sldMasterIdLst>
  <p:notesMasterIdLst>
    <p:notesMasterId r:id="rId71"/>
  </p:notesMasterIdLst>
  <p:handoutMasterIdLst>
    <p:handoutMasterId r:id="rId72"/>
  </p:handoutMasterIdLst>
  <p:sldIdLst>
    <p:sldId id="982" r:id="rId3"/>
    <p:sldId id="1014" r:id="rId4"/>
    <p:sldId id="1015" r:id="rId5"/>
    <p:sldId id="771" r:id="rId6"/>
    <p:sldId id="574" r:id="rId7"/>
    <p:sldId id="916" r:id="rId8"/>
    <p:sldId id="917" r:id="rId9"/>
    <p:sldId id="918" r:id="rId10"/>
    <p:sldId id="817" r:id="rId11"/>
    <p:sldId id="671" r:id="rId12"/>
    <p:sldId id="580" r:id="rId13"/>
    <p:sldId id="791" r:id="rId14"/>
    <p:sldId id="643" r:id="rId15"/>
    <p:sldId id="702" r:id="rId16"/>
    <p:sldId id="679" r:id="rId17"/>
    <p:sldId id="680" r:id="rId18"/>
    <p:sldId id="681" r:id="rId19"/>
    <p:sldId id="682" r:id="rId20"/>
    <p:sldId id="683" r:id="rId21"/>
    <p:sldId id="888" r:id="rId22"/>
    <p:sldId id="889" r:id="rId23"/>
    <p:sldId id="819" r:id="rId24"/>
    <p:sldId id="890" r:id="rId25"/>
    <p:sldId id="891" r:id="rId26"/>
    <p:sldId id="892" r:id="rId27"/>
    <p:sldId id="779" r:id="rId28"/>
    <p:sldId id="780" r:id="rId29"/>
    <p:sldId id="896" r:id="rId30"/>
    <p:sldId id="915" r:id="rId31"/>
    <p:sldId id="898" r:id="rId32"/>
    <p:sldId id="798" r:id="rId33"/>
    <p:sldId id="784" r:id="rId34"/>
    <p:sldId id="785" r:id="rId35"/>
    <p:sldId id="787" r:id="rId36"/>
    <p:sldId id="778" r:id="rId37"/>
    <p:sldId id="686" r:id="rId38"/>
    <p:sldId id="899" r:id="rId39"/>
    <p:sldId id="900" r:id="rId40"/>
    <p:sldId id="901" r:id="rId41"/>
    <p:sldId id="902" r:id="rId42"/>
    <p:sldId id="792" r:id="rId43"/>
    <p:sldId id="981" r:id="rId44"/>
    <p:sldId id="646" r:id="rId45"/>
    <p:sldId id="710" r:id="rId46"/>
    <p:sldId id="926" r:id="rId47"/>
    <p:sldId id="927" r:id="rId48"/>
    <p:sldId id="979" r:id="rId49"/>
    <p:sldId id="980" r:id="rId50"/>
    <p:sldId id="1008" r:id="rId51"/>
    <p:sldId id="985" r:id="rId52"/>
    <p:sldId id="986" r:id="rId53"/>
    <p:sldId id="987" r:id="rId54"/>
    <p:sldId id="988" r:id="rId55"/>
    <p:sldId id="991" r:id="rId56"/>
    <p:sldId id="992" r:id="rId57"/>
    <p:sldId id="993" r:id="rId58"/>
    <p:sldId id="994" r:id="rId59"/>
    <p:sldId id="995" r:id="rId60"/>
    <p:sldId id="996" r:id="rId61"/>
    <p:sldId id="997" r:id="rId62"/>
    <p:sldId id="998" r:id="rId63"/>
    <p:sldId id="999" r:id="rId64"/>
    <p:sldId id="1000" r:id="rId65"/>
    <p:sldId id="1003" r:id="rId66"/>
    <p:sldId id="1004" r:id="rId67"/>
    <p:sldId id="1005" r:id="rId68"/>
    <p:sldId id="1006" r:id="rId69"/>
    <p:sldId id="1007" r:id="rId70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F9999"/>
    <a:srgbClr val="FF7C80"/>
    <a:srgbClr val="FF5050"/>
    <a:srgbClr val="FF00FF"/>
    <a:srgbClr val="0033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79" autoAdjust="0"/>
    <p:restoredTop sz="66117" autoAdjust="0"/>
  </p:normalViewPr>
  <p:slideViewPr>
    <p:cSldViewPr>
      <p:cViewPr varScale="1">
        <p:scale>
          <a:sx n="113" d="100"/>
          <a:sy n="113" d="100"/>
        </p:scale>
        <p:origin x="93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21" tIns="45711" rIns="91421" bIns="45711" rtlCol="0"/>
          <a:lstStyle>
            <a:lvl1pPr algn="l" eaLnBrk="1" hangingPunct="1">
              <a:defRPr sz="1200">
                <a:latin typeface="Tahoma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21" tIns="45711" rIns="91421" bIns="45711" rtlCol="0"/>
          <a:lstStyle>
            <a:lvl1pPr algn="r" eaLnBrk="1" hangingPunct="1">
              <a:defRPr sz="1200">
                <a:latin typeface="Tahoma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fld id="{776F62CC-9FF9-4461-BCB0-56689762325D}" type="datetimeFigureOut">
              <a:rPr lang="zh-CN" altLang="en-US"/>
              <a:pPr>
                <a:defRPr/>
              </a:pPr>
              <a:t>2024/12/15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21" tIns="45711" rIns="91421" bIns="45711" rtlCol="0" anchor="b"/>
          <a:lstStyle>
            <a:lvl1pPr algn="l" eaLnBrk="1" hangingPunct="1">
              <a:defRPr sz="1200">
                <a:latin typeface="Tahoma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21" tIns="45711" rIns="91421" bIns="457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324763BD-8534-445B-987C-24E0F3AB906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627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50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FA789A-B29E-42E5-886B-B7F1DE3690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762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952890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2583F1-08C5-4055-BD54-2C6DB8B989C5}" type="slidenum">
              <a:rPr lang="zh-CN" altLang="en-US" sz="1300" smtClean="0">
                <a:solidFill>
                  <a:srgbClr val="000000"/>
                </a:solidFill>
                <a:ea typeface="楷体_GB2312"/>
                <a:cs typeface="楷体_GB2312"/>
              </a:rPr>
              <a:pPr>
                <a:spcBef>
                  <a:spcPct val="0"/>
                </a:spcBef>
              </a:pPr>
              <a:t>2</a:t>
            </a:fld>
            <a:endParaRPr lang="en-US" altLang="zh-CN" sz="130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88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A789A-B29E-42E5-886B-B7F1DE369019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949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F1AF1E-F6AB-4380-BE1D-032A4F88C89F}" type="slidenum">
              <a:rPr lang="zh-CN" altLang="en-US" sz="1200" smtClean="0"/>
              <a:pPr>
                <a:spcBef>
                  <a:spcPct val="0"/>
                </a:spcBef>
              </a:pPr>
              <a:t>4</a:t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71571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316D2F-BE0A-4285-B26A-B7DAC06D659E}" type="slidenum">
              <a:rPr lang="zh-CN" altLang="en-US" sz="1200" smtClean="0"/>
              <a:pPr>
                <a:spcBef>
                  <a:spcPct val="0"/>
                </a:spcBef>
              </a:pPr>
              <a:t>5</a:t>
            </a:fld>
            <a:endParaRPr lang="en-US" altLang="zh-CN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5069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F2320A3-5C05-421B-A199-27EDFD66BA9D}" type="slidenum">
              <a:rPr lang="zh-CN" altLang="en-US" sz="1200" smtClean="0"/>
              <a:pPr>
                <a:spcBef>
                  <a:spcPct val="0"/>
                </a:spcBef>
              </a:pPr>
              <a:t>6</a:t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7294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B10599-1F54-4EE1-B6C6-A89EEF9EE1AF}" type="slidenum">
              <a:rPr lang="zh-CN" altLang="en-US" sz="1200" smtClean="0"/>
              <a:pPr>
                <a:spcBef>
                  <a:spcPct val="0"/>
                </a:spcBef>
              </a:pPr>
              <a:t>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245493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B0ABF0-573A-4DA9-BD98-F3F77A2FBB03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26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439F4B4-5D86-4ECA-8D58-B11EE617173E}" type="slidenum">
              <a:rPr lang="zh-CN" altLang="en-US" sz="1200" smtClean="0"/>
              <a:pPr>
                <a:spcBef>
                  <a:spcPct val="0"/>
                </a:spcBef>
              </a:pPr>
              <a:t>9</a:t>
            </a:fld>
            <a:endParaRPr lang="en-US" altLang="zh-CN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195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4AF91D-0D82-473F-9124-F1DCAA9309B8}" type="slidenum">
              <a:rPr lang="zh-CN" altLang="en-US" sz="1200" smtClean="0"/>
              <a:pPr>
                <a:spcBef>
                  <a:spcPct val="0"/>
                </a:spcBef>
              </a:pPr>
              <a:t>10</a:t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9567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F89F19-47ED-4649-AC57-9A44891D1CD2}" type="slidenum">
              <a:rPr lang="zh-CN" altLang="en-US" sz="1200" smtClean="0"/>
              <a:pPr>
                <a:spcBef>
                  <a:spcPct val="0"/>
                </a:spcBef>
              </a:pPr>
              <a:t>11</a:t>
            </a:fld>
            <a:endParaRPr lang="en-US" altLang="zh-CN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331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A8FDBF-8DC0-482F-B86F-C52B5C6758A4}" type="slidenum">
              <a:rPr lang="zh-CN" altLang="en-US" sz="1200" smtClean="0"/>
              <a:pPr>
                <a:spcBef>
                  <a:spcPct val="0"/>
                </a:spcBef>
              </a:pPr>
              <a:t>12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30954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676E1D-221B-450F-A740-6477437EC0CD}" type="slidenum">
              <a:rPr lang="zh-CN" altLang="en-US" sz="1200" smtClean="0"/>
              <a:pPr>
                <a:spcBef>
                  <a:spcPct val="0"/>
                </a:spcBef>
              </a:pPr>
              <a:t>13</a:t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7809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CA3D3FE-B91E-4B24-A431-D7003FA4D9EE}" type="slidenum">
              <a:rPr lang="zh-CN" altLang="en-US" sz="1200" smtClean="0"/>
              <a:pPr>
                <a:spcBef>
                  <a:spcPct val="0"/>
                </a:spcBef>
              </a:pPr>
              <a:t>14</a:t>
            </a:fld>
            <a:endParaRPr lang="en-US" altLang="zh-CN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9735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015577-D187-4ACD-AE19-51A74018AA11}" type="slidenum">
              <a:rPr lang="zh-CN" altLang="en-US" sz="1200" smtClean="0"/>
              <a:pPr>
                <a:spcBef>
                  <a:spcPct val="0"/>
                </a:spcBef>
              </a:pPr>
              <a:t>15</a:t>
            </a:fld>
            <a:endParaRPr lang="en-US" altLang="zh-CN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9881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C30B8EF-2737-4377-9983-3C45C4D52191}" type="slidenum">
              <a:rPr lang="zh-CN" altLang="en-US" sz="1200" smtClean="0"/>
              <a:pPr>
                <a:spcBef>
                  <a:spcPct val="0"/>
                </a:spcBef>
              </a:pPr>
              <a:t>16</a:t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729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84F886-1B0C-44DA-A219-6550B2318581}" type="slidenum">
              <a:rPr lang="zh-CN" altLang="en-US" sz="1200" smtClean="0"/>
              <a:pPr>
                <a:spcBef>
                  <a:spcPct val="0"/>
                </a:spcBef>
              </a:pPr>
              <a:t>17</a:t>
            </a:fld>
            <a:endParaRPr lang="en-US" altLang="zh-CN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012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76370F-5061-4B36-B7FA-5F5664A6E5C0}" type="slidenum">
              <a:rPr lang="zh-CN" altLang="en-US" sz="1200" smtClean="0"/>
              <a:pPr>
                <a:spcBef>
                  <a:spcPct val="0"/>
                </a:spcBef>
              </a:pPr>
              <a:t>18</a:t>
            </a:fld>
            <a:endParaRPr lang="en-US" altLang="zh-CN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277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0EA201-951D-415A-9149-0D042645CA7C}" type="slidenum">
              <a:rPr lang="zh-CN" altLang="en-US" sz="1200" smtClean="0"/>
              <a:pPr>
                <a:spcBef>
                  <a:spcPct val="0"/>
                </a:spcBef>
              </a:pPr>
              <a:t>19</a:t>
            </a:fld>
            <a:endParaRPr lang="en-US" altLang="zh-CN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5855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21EB32-0205-4244-BC39-C675A8DAB0D3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140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DFE8C36-1913-4A19-9BE0-851369F03A55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2373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F7E94F7-4F66-4E11-9B04-C70791A0BEE9}" type="slidenum">
              <a:rPr lang="zh-CN" altLang="en-US" sz="1200" smtClean="0"/>
              <a:pPr>
                <a:spcBef>
                  <a:spcPct val="0"/>
                </a:spcBef>
              </a:pPr>
              <a:t>22</a:t>
            </a:fld>
            <a:endParaRPr lang="en-US" altLang="zh-CN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7941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12D633-2312-4BDD-89C7-CD404C666C14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23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38476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EDB36BC-068D-437D-BD16-E4980715DACA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24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9456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ED8D4D8-EADB-4B26-8ADE-0BAA341A9239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12588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C4A73D-4E79-4ADC-8657-FA65EB63EA66}" type="slidenum">
              <a:rPr lang="zh-CN" altLang="en-US" sz="1200" smtClean="0"/>
              <a:pPr>
                <a:spcBef>
                  <a:spcPct val="0"/>
                </a:spcBef>
              </a:pPr>
              <a:t>26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407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E96A767-B484-4FB3-B61B-DB2EED95A5EA}" type="slidenum">
              <a:rPr lang="zh-CN" altLang="en-US" sz="1200" smtClean="0"/>
              <a:pPr>
                <a:spcBef>
                  <a:spcPct val="0"/>
                </a:spcBef>
              </a:pPr>
              <a:t>27</a:t>
            </a:fld>
            <a:endParaRPr lang="en-US" altLang="zh-CN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84311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60F6783-BE7F-4A00-974C-548C3F0FA2DC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4786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9B3E130-68BF-49EC-981E-91A83B765F75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defTabSz="944563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53786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309DBD4-D865-4E0A-A969-610DBA4BD295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82834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7730024-D5C7-4D1A-B3F3-EFA9A2B39760}" type="slidenum">
              <a:rPr lang="zh-CN" altLang="en-US" sz="1200" smtClean="0"/>
              <a:pPr>
                <a:spcBef>
                  <a:spcPct val="0"/>
                </a:spcBef>
              </a:pPr>
              <a:t>31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9923917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4A419BE-9A06-4B08-89C6-16F1033B52A4}" type="slidenum">
              <a:rPr lang="zh-CN" altLang="en-US" sz="1200" smtClean="0"/>
              <a:pPr>
                <a:spcBef>
                  <a:spcPct val="0"/>
                </a:spcBef>
              </a:pPr>
              <a:t>32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8991549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B63225-5167-484D-AC37-E8278C6807D9}" type="slidenum">
              <a:rPr lang="zh-CN" altLang="en-US" sz="1200" smtClean="0"/>
              <a:pPr>
                <a:spcBef>
                  <a:spcPct val="0"/>
                </a:spcBef>
              </a:pPr>
              <a:t>33</a:t>
            </a:fld>
            <a:endParaRPr lang="en-US" altLang="zh-CN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90796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C5DDA9C-A45C-4A11-864A-F4A4D8443703}" type="slidenum">
              <a:rPr lang="zh-CN" altLang="en-US" sz="1200" smtClean="0"/>
              <a:pPr>
                <a:spcBef>
                  <a:spcPct val="0"/>
                </a:spcBef>
              </a:pPr>
              <a:t>34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2701568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BC05B6-9EF2-4AC4-9C14-06644C61FC39}" type="slidenum">
              <a:rPr lang="zh-CN" altLang="en-US" sz="1200" smtClean="0"/>
              <a:pPr>
                <a:spcBef>
                  <a:spcPct val="0"/>
                </a:spcBef>
              </a:pPr>
              <a:t>35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6090780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7F974D-1E07-4AFA-9353-615A909EF068}" type="slidenum">
              <a:rPr lang="zh-CN" altLang="en-US" sz="1200" smtClean="0"/>
              <a:pPr>
                <a:spcBef>
                  <a:spcPct val="0"/>
                </a:spcBef>
              </a:pPr>
              <a:t>36</a:t>
            </a:fld>
            <a:endParaRPr lang="en-US" altLang="zh-CN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821082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6AE975A-8DB4-4975-A908-45C22385CFE1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93627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E21C384-6874-48EB-A2E6-822707FE911D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89424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6A68E1-E1D9-444F-8DEE-2E9B28A2C9B2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39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3240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92C4D2-77CE-4984-939A-ED67C5986E40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40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3731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84B67E-7840-496D-ADA6-428EC42A6190}" type="slidenum">
              <a:rPr lang="zh-CN" altLang="en-US" sz="1200" smtClean="0"/>
              <a:pPr>
                <a:spcBef>
                  <a:spcPct val="0"/>
                </a:spcBef>
              </a:pPr>
              <a:t>41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8864427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54E93E-144A-4A7D-8121-8FE892B9E8DD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77935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E17A4E5-7528-434D-8C75-48EA369741A1}" type="slidenum">
              <a:rPr lang="zh-CN" altLang="en-US" sz="1200" smtClean="0"/>
              <a:pPr>
                <a:spcBef>
                  <a:spcPct val="0"/>
                </a:spcBef>
              </a:pPr>
              <a:t>43</a:t>
            </a:fld>
            <a:endParaRPr lang="en-US" altLang="zh-CN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31346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3F1DC4-7F0B-41C1-AC05-C5EE3A9BC16C}" type="slidenum">
              <a:rPr lang="zh-CN" altLang="en-US" sz="1200" smtClean="0"/>
              <a:pPr>
                <a:spcBef>
                  <a:spcPct val="0"/>
                </a:spcBef>
              </a:pPr>
              <a:t>44</a:t>
            </a:fld>
            <a:endParaRPr lang="en-US" altLang="zh-CN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25685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33A56F6-E016-4698-BEBC-D2BE698D9063}" type="slidenum">
              <a:rPr lang="zh-CN" altLang="en-US" sz="1200" smtClean="0"/>
              <a:pPr>
                <a:spcBef>
                  <a:spcPct val="0"/>
                </a:spcBef>
              </a:pPr>
              <a:t>45</a:t>
            </a:fld>
            <a:endParaRPr lang="en-US" altLang="zh-CN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49770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116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7553B35-635A-4CD8-A5F9-5A11B44E0913}" type="slidenum">
              <a:rPr lang="zh-CN" altLang="en-US" sz="1200" smtClean="0"/>
              <a:pPr>
                <a:spcBef>
                  <a:spcPct val="0"/>
                </a:spcBef>
              </a:pPr>
              <a:t>46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2260247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E6D1E1E-2520-409A-82FF-E1AA83A1C448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395398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3FFCAA-8303-4340-A322-23FABEC61C83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25764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116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7553B35-635A-4CD8-A5F9-5A11B44E0913}" type="slidenum">
              <a:rPr lang="zh-CN" altLang="en-US" sz="1200" smtClean="0"/>
              <a:pPr>
                <a:spcBef>
                  <a:spcPct val="0"/>
                </a:spcBef>
              </a:pPr>
              <a:t>49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6372672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03683F-FBAE-4309-AA7D-3E33BBE475AD}" type="slidenum">
              <a:rPr lang="zh-CN" altLang="en-US" sz="1200" smtClean="0"/>
              <a:pPr>
                <a:spcBef>
                  <a:spcPct val="0"/>
                </a:spcBef>
              </a:pPr>
              <a:t>50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0672854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DF8BB39-5326-4E37-A39B-7990608372A1}" type="slidenum">
              <a:rPr lang="zh-CN" altLang="en-US" sz="1200" smtClean="0"/>
              <a:pPr>
                <a:spcBef>
                  <a:spcPct val="0"/>
                </a:spcBef>
              </a:pPr>
              <a:t>51</a:t>
            </a:fld>
            <a:endParaRPr lang="en-US" altLang="zh-CN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417743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F92A90-1073-400B-807A-BB21F93A5D42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78996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7B9494F-D61D-4968-BB61-140DDCFEA13B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53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8348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65F90B1-5C29-44AA-9ADB-F048AF94ADFE}" type="slidenum">
              <a:rPr lang="zh-CN" altLang="en-US" sz="1200" smtClean="0"/>
              <a:pPr>
                <a:spcBef>
                  <a:spcPct val="0"/>
                </a:spcBef>
              </a:pPr>
              <a:t>54</a:t>
            </a:fld>
            <a:endParaRPr lang="en-US" altLang="zh-CN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40049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DD20E66-981C-4014-9541-27F6C7DB0E48}" type="slidenum">
              <a:rPr lang="zh-CN" altLang="en-US" sz="1200" smtClean="0"/>
              <a:pPr>
                <a:spcBef>
                  <a:spcPct val="0"/>
                </a:spcBef>
              </a:pPr>
              <a:t>55</a:t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30704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A87E1B-A4C6-4122-A27E-324EF842E44C}" type="slidenum">
              <a:rPr lang="zh-CN" altLang="en-US" sz="1200" smtClean="0"/>
              <a:pPr>
                <a:spcBef>
                  <a:spcPct val="0"/>
                </a:spcBef>
              </a:pPr>
              <a:t>56</a:t>
            </a:fld>
            <a:endParaRPr lang="en-US" altLang="zh-CN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816340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7DCE743-CAAF-42BE-B07D-A3B125416F5D}" type="slidenum">
              <a:rPr lang="zh-CN" altLang="en-US" sz="1200" smtClean="0"/>
              <a:pPr>
                <a:spcBef>
                  <a:spcPct val="0"/>
                </a:spcBef>
              </a:pPr>
              <a:t>57</a:t>
            </a:fld>
            <a:endParaRPr lang="en-US" altLang="zh-CN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08708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DAF3D4-5CFD-4880-AD7F-84BD59BE260A}" type="slidenum">
              <a:rPr lang="zh-CN" altLang="en-US" sz="1200" smtClean="0"/>
              <a:pPr>
                <a:spcBef>
                  <a:spcPct val="0"/>
                </a:spcBef>
              </a:pPr>
              <a:t>58</a:t>
            </a:fld>
            <a:endParaRPr lang="en-US" altLang="zh-CN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228049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0DF30C-6E59-4505-8FA5-B5C92D5BE718}" type="slidenum">
              <a:rPr lang="zh-CN" altLang="en-US" sz="1200" smtClean="0"/>
              <a:pPr>
                <a:spcBef>
                  <a:spcPct val="0"/>
                </a:spcBef>
              </a:pPr>
              <a:t>59</a:t>
            </a:fld>
            <a:endParaRPr lang="en-US" altLang="zh-CN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42769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35F4EF8-930B-4073-B54A-C8B6F1F0FF0D}" type="slidenum">
              <a:rPr lang="zh-CN" altLang="en-US" sz="1200" smtClean="0"/>
              <a:pPr>
                <a:spcBef>
                  <a:spcPct val="0"/>
                </a:spcBef>
              </a:pPr>
              <a:t>60</a:t>
            </a:fld>
            <a:endParaRPr lang="en-US" altLang="zh-CN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43614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606605C-995A-40C7-BB4D-041A395DE61D}" type="slidenum">
              <a:rPr lang="zh-CN" altLang="en-US" sz="1200" smtClean="0"/>
              <a:pPr>
                <a:spcBef>
                  <a:spcPct val="0"/>
                </a:spcBef>
              </a:pPr>
              <a:t>61</a:t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40129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3B7DF48-C889-4D34-B148-D0601C792895}" type="slidenum">
              <a:rPr lang="zh-CN" altLang="en-US" sz="1200" smtClean="0"/>
              <a:pPr>
                <a:spcBef>
                  <a:spcPct val="0"/>
                </a:spcBef>
              </a:pPr>
              <a:t>62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7538818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4AEF817-10B6-450D-BB96-9E74D416F74C}" type="slidenum">
              <a:rPr lang="zh-CN" altLang="en-US" sz="1200" smtClean="0"/>
              <a:pPr>
                <a:spcBef>
                  <a:spcPct val="0"/>
                </a:spcBef>
              </a:pPr>
              <a:t>63</a:t>
            </a:fld>
            <a:endParaRPr lang="en-US" altLang="zh-CN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2" eaLnBrk="1" hangingPunct="1"/>
            <a:endParaRPr lang="en-US" altLang="zh-CN" sz="2600" b="1"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2758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1B0A91A-75AE-4C37-BB3B-E0CB6C6B988F}" type="slidenum">
              <a:rPr lang="zh-CN" altLang="en-US" sz="1200" smtClean="0"/>
              <a:pPr>
                <a:spcBef>
                  <a:spcPct val="0"/>
                </a:spcBef>
              </a:pPr>
              <a:t>64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29301984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FEDC851-971C-4C8D-97EC-BC79C9300FD1}" type="slidenum">
              <a:rPr lang="zh-CN" altLang="en-US" sz="1200" smtClean="0"/>
              <a:pPr>
                <a:spcBef>
                  <a:spcPct val="0"/>
                </a:spcBef>
              </a:pPr>
              <a:t>65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7874430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0539B4-0B97-422C-BB94-F3E0214464F1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66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3846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39AD56A-6A86-4ECB-80FF-E5AEEABD3194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018196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BB6ED23-B813-4E7E-87AD-81407EC99233}" type="slidenum">
              <a:rPr lang="zh-CN" altLang="en-US" sz="120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68</a:t>
            </a:fld>
            <a:endParaRPr lang="zh-CN" altLang="en-US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99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89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368426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lIns="68580" tIns="34290" rIns="68580" bIns="34290"/>
          <a:lstStyle>
            <a:lvl1pPr eaLnBrk="1" hangingPunct="1">
              <a:defRPr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lIns="68580" tIns="34290" rIns="68580" bIns="34290"/>
          <a:lstStyle>
            <a:lvl1pPr eaLnBrk="1" hangingPunct="1">
              <a:defRPr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9D2BEF4-6113-4BC0-A85D-F9DD820676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370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/>
          <a:lstStyle>
            <a:lvl1pPr eaLnBrk="0" hangingPunct="0">
              <a:defRPr b="1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/>
          <a:lstStyle>
            <a:lvl1pPr eaLnBrk="0" hangingPunct="0">
              <a:defRPr b="1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>
              <a:defRPr/>
            </a:pPr>
            <a:fld id="{4BCDC6AD-707E-4D19-BBFD-27C0A092E6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316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F0ACACE-DA9C-4FAB-BA01-EFB4B08DDE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184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22B65F0-FE38-46CC-813F-586CF90FE97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8289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grpSp>
        <p:nvGrpSpPr>
          <p:cNvPr id="102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7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1" r:id="rId1"/>
    <p:sldLayoutId id="2147484672" r:id="rId2"/>
    <p:sldLayoutId id="214748467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DA33F6FE-D2B2-457C-80F5-B0D2DCCC28A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4" r:id="rId1"/>
    <p:sldLayoutId id="214748467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509"/>
            <a:ext cx="8352928" cy="5125991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88024" y="1203598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lvl="0" eaLnBrk="1" fontAlgn="auto" hangingPunct="1">
              <a:spcAft>
                <a:spcPts val="0"/>
              </a:spcAft>
              <a:defRPr/>
            </a:pPr>
            <a:r>
              <a:rPr lang="zh-CN" altLang="en-US" sz="36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代码优化</a:t>
            </a:r>
            <a:r>
              <a:rPr lang="en-US" altLang="zh-CN" sz="36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6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771800" y="602783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第八章</a:t>
            </a: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83FF574-3910-4825-AEF9-FB1009F12383}"/>
              </a:ext>
            </a:extLst>
          </p:cNvPr>
          <p:cNvSpPr txBox="1">
            <a:spLocks noChangeArrowheads="1"/>
          </p:cNvSpPr>
          <p:nvPr/>
        </p:nvSpPr>
        <p:spPr>
          <a:xfrm>
            <a:off x="5233168" y="2232737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5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0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南京信息工程大学 </a:t>
            </a:r>
            <a:endParaRPr lang="en-US" altLang="zh-CN" sz="2000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凌妙根</a:t>
            </a:r>
            <a:endParaRPr lang="en-US" altLang="zh-CN" sz="2000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000" spc="6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2024</a:t>
            </a:r>
            <a:r>
              <a:rPr lang="zh-CN" altLang="en-US" sz="2000" spc="6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年冬</a:t>
            </a:r>
            <a:endParaRPr lang="zh-CN" altLang="en-US" sz="20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518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3993401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基本块和流图</a:t>
            </a:r>
            <a:endParaRPr lang="en-US" altLang="zh-CN" sz="3600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常用的优化方法</a:t>
            </a:r>
            <a:endParaRPr lang="en-US" altLang="zh-CN" sz="3600" b="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基本块的优化</a:t>
            </a:r>
            <a:endParaRPr lang="en-US" altLang="zh-CN" sz="3600" b="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数据流分析</a:t>
            </a:r>
            <a:endParaRPr lang="en-US" altLang="zh-CN" sz="3600" b="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6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29700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9701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048D8A-0B49-4763-B513-68598BFDDAED}" type="slidenum">
              <a:rPr lang="zh-CN" altLang="en-US" sz="14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400" dirty="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4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7E31EEC-0ADF-E481-EE9D-F1A8148DD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658541"/>
            <a:ext cx="7931224" cy="3225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400" dirty="0">
                <a:solidFill>
                  <a:schemeClr val="tx1"/>
                </a:solidFill>
              </a:rPr>
              <a:t>什么是代码优化？</a:t>
            </a:r>
            <a:endParaRPr lang="en-US" altLang="zh-CN" sz="4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tx1"/>
                </a:solidFill>
              </a:rPr>
              <a:t>对代码进行等价的程序变换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4000" dirty="0">
                <a:solidFill>
                  <a:schemeClr val="tx1"/>
                </a:solidFill>
              </a:rPr>
              <a:t>采用什么工具？</a:t>
            </a:r>
            <a:endParaRPr lang="en-US" altLang="zh-CN" sz="4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tx1"/>
                </a:solidFill>
              </a:rPr>
              <a:t>优化时，通常需要分析程序的控制流程。用来描述代码优化的工具叫</a:t>
            </a:r>
            <a:r>
              <a:rPr lang="zh-CN" altLang="en-US" sz="3200" dirty="0">
                <a:solidFill>
                  <a:srgbClr val="0070C0"/>
                </a:solidFill>
              </a:rPr>
              <a:t>流图</a:t>
            </a:r>
            <a:r>
              <a:rPr lang="zh-CN" altLang="en-US" sz="3200" dirty="0">
                <a:solidFill>
                  <a:schemeClr val="tx1"/>
                </a:solidFill>
              </a:rPr>
              <a:t>。流图的每一个节点是一个</a:t>
            </a:r>
            <a:r>
              <a:rPr lang="zh-CN" altLang="en-US" sz="2800" b="1" dirty="0">
                <a:solidFill>
                  <a:srgbClr val="2D83F4"/>
                </a:solidFill>
                <a:cs typeface="Times New Roman" panose="02020603050405020304" pitchFamily="18" charset="0"/>
              </a:rPr>
              <a:t>基本块</a:t>
            </a:r>
            <a:r>
              <a:rPr lang="zh-CN" altLang="en-US" sz="320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5CC9CF-ECFC-645F-6CD5-FA245A13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21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1506538"/>
            <a:ext cx="828675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cs typeface="Times New Roman" panose="02020603050405020304" pitchFamily="18" charset="0"/>
              </a:rPr>
              <a:t>基本块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是满足下列条件的</a:t>
            </a:r>
            <a:r>
              <a:rPr lang="zh-CN" altLang="en-US" sz="2600" b="1" dirty="0">
                <a:solidFill>
                  <a:srgbClr val="2D83F4"/>
                </a:solidFill>
                <a:cs typeface="Times New Roman" panose="02020603050405020304" pitchFamily="18" charset="0"/>
              </a:rPr>
              <a:t>最大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600" b="1" dirty="0">
                <a:solidFill>
                  <a:srgbClr val="2D83F4"/>
                </a:solidFill>
                <a:cs typeface="Times New Roman" panose="02020603050405020304" pitchFamily="18" charset="0"/>
              </a:rPr>
              <a:t>连续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三地址指令序列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控制流只能从基本块的</a:t>
            </a:r>
            <a:r>
              <a:rPr lang="zh-CN" altLang="en-US" b="1" dirty="0">
                <a:solidFill>
                  <a:srgbClr val="2D83F4"/>
                </a:solidFill>
                <a:cs typeface="Times New Roman" panose="02020603050405020304" pitchFamily="18" charset="0"/>
              </a:rPr>
              <a:t>第一个指令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进入该块。也就是说，没有跳转到基本块中间或末尾指令的转移指令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除了基本块的</a:t>
            </a:r>
            <a:r>
              <a:rPr lang="zh-CN" altLang="en-US" b="1" dirty="0">
                <a:solidFill>
                  <a:srgbClr val="2D83F4"/>
                </a:solidFill>
                <a:cs typeface="Times New Roman" panose="02020603050405020304" pitchFamily="18" charset="0"/>
              </a:rPr>
              <a:t>最后一个指令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，控制流在离开基本块之前不会跳转或者停机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647278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8.1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流图</a:t>
            </a:r>
            <a:b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zh-CN" altLang="en-US" sz="25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26"/>
          <p:cNvSpPr>
            <a:spLocks noChangeArrowheads="1"/>
          </p:cNvSpPr>
          <p:nvPr/>
        </p:nvSpPr>
        <p:spPr bwMode="auto">
          <a:xfrm>
            <a:off x="4572000" y="3797028"/>
            <a:ext cx="3529013" cy="1238250"/>
          </a:xfrm>
          <a:prstGeom prst="cloudCallout">
            <a:avLst>
              <a:gd name="adj1" fmla="val -66867"/>
              <a:gd name="adj2" fmla="val -57108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endParaRPr lang="en-US" altLang="zh-CN" sz="800" dirty="0">
              <a:solidFill>
                <a:schemeClr val="bg1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如何划分基本块？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8625" y="987574"/>
            <a:ext cx="3351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基本块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Basic Block</a:t>
            </a:r>
            <a:r>
              <a:rPr lang="en-US" altLang="zh-CN" sz="2000" dirty="0"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714375"/>
            <a:ext cx="8499475" cy="4737100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输入：</a:t>
            </a:r>
            <a:r>
              <a:rPr lang="en-US" altLang="zh-CN" sz="2200" b="1" dirty="0">
                <a:solidFill>
                  <a:schemeClr val="tx1"/>
                </a:solidFill>
              </a:rPr>
              <a:t> </a:t>
            </a:r>
          </a:p>
          <a:p>
            <a:pPr lvl="1"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三地址指令序列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输出：</a:t>
            </a:r>
            <a:r>
              <a:rPr lang="en-US" altLang="zh-CN" sz="2200" b="1" dirty="0">
                <a:solidFill>
                  <a:schemeClr val="tx1"/>
                </a:solidFill>
              </a:rPr>
              <a:t> </a:t>
            </a:r>
          </a:p>
          <a:p>
            <a:pPr lvl="1"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输入序列对应的</a:t>
            </a:r>
            <a:r>
              <a:rPr lang="zh-CN" altLang="en-US" sz="2000" b="1" dirty="0">
                <a:solidFill>
                  <a:srgbClr val="2D83F4"/>
                </a:solidFill>
              </a:rPr>
              <a:t>基本块列表</a:t>
            </a:r>
            <a:r>
              <a:rPr lang="zh-CN" altLang="en-US" sz="2000" b="1" dirty="0">
                <a:solidFill>
                  <a:schemeClr val="tx1"/>
                </a:solidFill>
              </a:rPr>
              <a:t>，其中每个指令恰好被分配给一个基本块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方法：</a:t>
            </a:r>
            <a:r>
              <a:rPr lang="en-US" altLang="zh-CN" sz="2200" b="1" dirty="0">
                <a:solidFill>
                  <a:schemeClr val="tx1"/>
                </a:solidFill>
              </a:rPr>
              <a:t> </a:t>
            </a:r>
          </a:p>
          <a:p>
            <a:pPr lvl="1"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首先，确定指令序列中哪些指令是</a:t>
            </a:r>
            <a:r>
              <a:rPr lang="zh-CN" altLang="en-US" sz="2000" b="1" dirty="0">
                <a:solidFill>
                  <a:srgbClr val="FF0000"/>
                </a:solidFill>
              </a:rPr>
              <a:t>首指令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</a:rPr>
              <a:t>leaders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</a:rPr>
              <a:t>，即某个基本块的第一个指令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24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1. </a:t>
            </a:r>
            <a:r>
              <a:rPr lang="zh-CN" altLang="en-US" b="1" dirty="0">
                <a:solidFill>
                  <a:schemeClr val="tx1"/>
                </a:solidFill>
              </a:rPr>
              <a:t>指令序列的</a:t>
            </a:r>
            <a:r>
              <a:rPr lang="zh-CN" altLang="en-US" b="1" dirty="0">
                <a:solidFill>
                  <a:srgbClr val="2D83F4"/>
                </a:solidFill>
              </a:rPr>
              <a:t>第一个三地址指令</a:t>
            </a:r>
            <a:r>
              <a:rPr lang="zh-CN" altLang="en-US" b="1" dirty="0">
                <a:solidFill>
                  <a:schemeClr val="tx1"/>
                </a:solidFill>
              </a:rPr>
              <a:t>是一个首指令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24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2. </a:t>
            </a:r>
            <a:r>
              <a:rPr lang="zh-CN" altLang="en-US" b="1" dirty="0">
                <a:solidFill>
                  <a:schemeClr val="tx1"/>
                </a:solidFill>
              </a:rPr>
              <a:t>任意一个条件或无条件</a:t>
            </a:r>
            <a:r>
              <a:rPr lang="zh-CN" altLang="en-US" b="1" dirty="0">
                <a:solidFill>
                  <a:srgbClr val="2D83F4"/>
                </a:solidFill>
              </a:rPr>
              <a:t>跳转指令的目标指令</a:t>
            </a:r>
            <a:r>
              <a:rPr lang="zh-CN" altLang="en-US" b="1" dirty="0">
                <a:solidFill>
                  <a:schemeClr val="tx1"/>
                </a:solidFill>
              </a:rPr>
              <a:t>是一个首指令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24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3. </a:t>
            </a:r>
            <a:r>
              <a:rPr lang="zh-CN" altLang="en-US" b="1" dirty="0">
                <a:solidFill>
                  <a:schemeClr val="tx1"/>
                </a:solidFill>
              </a:rPr>
              <a:t>紧跟在一个条件或无条件</a:t>
            </a:r>
            <a:r>
              <a:rPr lang="zh-CN" altLang="en-US" b="1" dirty="0">
                <a:solidFill>
                  <a:srgbClr val="2D83F4"/>
                </a:solidFill>
              </a:rPr>
              <a:t>跳转指令之后的指令</a:t>
            </a:r>
            <a:r>
              <a:rPr lang="zh-CN" altLang="en-US" b="1" dirty="0">
                <a:solidFill>
                  <a:schemeClr val="tx1"/>
                </a:solidFill>
              </a:rPr>
              <a:t>是一个首指令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然后，每个首指令对应的基本块包括了从它自己开始，直到</a:t>
            </a:r>
            <a:r>
              <a:rPr lang="zh-CN" altLang="en-US" sz="2000" b="1" dirty="0">
                <a:solidFill>
                  <a:srgbClr val="2D83F4"/>
                </a:solidFill>
              </a:rPr>
              <a:t>下一个首指令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</a:rPr>
              <a:t>不含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</a:rPr>
              <a:t>或者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指令序列</a:t>
            </a:r>
            <a:r>
              <a:rPr lang="zh-CN" altLang="en-US" sz="2000" b="1" dirty="0">
                <a:solidFill>
                  <a:srgbClr val="2D83F4"/>
                </a:solidFill>
              </a:rPr>
              <a:t>结尾</a:t>
            </a:r>
            <a:r>
              <a:rPr lang="zh-CN" altLang="en-US" sz="2000" b="1" dirty="0">
                <a:solidFill>
                  <a:schemeClr val="tx1"/>
                </a:solidFill>
              </a:rPr>
              <a:t>之间的所有指令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基本块划分算法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425450" y="1425575"/>
            <a:ext cx="2855913" cy="2428875"/>
          </a:xfr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 dirty="0">
                <a:solidFill>
                  <a:schemeClr val="tx1"/>
                </a:solidFill>
              </a:rPr>
              <a:t>m</a:t>
            </a: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CN" sz="1800" b="1" dirty="0">
                <a:solidFill>
                  <a:schemeClr val="tx1"/>
                </a:solidFill>
              </a:rPr>
              <a:t>1; 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</a:rPr>
              <a:t>; </a:t>
            </a:r>
            <a:r>
              <a:rPr lang="en-US" altLang="zh-CN" sz="1800" b="1" i="1" dirty="0">
                <a:solidFill>
                  <a:schemeClr val="tx1"/>
                </a:solidFill>
              </a:rPr>
              <a:t>v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</a:rPr>
              <a:t>];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i="1" dirty="0">
                <a:solidFill>
                  <a:srgbClr val="0000FF"/>
                </a:solidFill>
              </a:rPr>
              <a:t>while</a:t>
            </a:r>
            <a:r>
              <a:rPr lang="en-US" altLang="zh-CN" sz="1800" b="1" dirty="0">
                <a:solidFill>
                  <a:schemeClr val="tx1"/>
                </a:solidFill>
              </a:rPr>
              <a:t> (1) {	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 	</a:t>
            </a:r>
            <a:r>
              <a:rPr lang="en-US" altLang="zh-CN" sz="1800" b="1" i="1" dirty="0">
                <a:solidFill>
                  <a:srgbClr val="0000FF"/>
                </a:solidFill>
              </a:rPr>
              <a:t>do</a:t>
            </a: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 +1; </a:t>
            </a:r>
            <a:r>
              <a:rPr lang="en-US" altLang="zh-CN" sz="1800" b="1" i="1" dirty="0">
                <a:solidFill>
                  <a:srgbClr val="0000FF"/>
                </a:solidFill>
              </a:rPr>
              <a:t>while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]&lt;</a:t>
            </a:r>
            <a:r>
              <a:rPr lang="en-US" altLang="zh-CN" sz="1800" b="1" i="1" dirty="0">
                <a:solidFill>
                  <a:schemeClr val="tx1"/>
                </a:solidFill>
              </a:rPr>
              <a:t>v</a:t>
            </a:r>
            <a:r>
              <a:rPr lang="en-US" altLang="zh-CN" sz="1800" b="1" dirty="0">
                <a:solidFill>
                  <a:schemeClr val="tx1"/>
                </a:solidFill>
              </a:rPr>
              <a:t>);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 	</a:t>
            </a:r>
            <a:r>
              <a:rPr lang="en-US" altLang="zh-CN" sz="1800" b="1" i="1" dirty="0">
                <a:solidFill>
                  <a:srgbClr val="0000FF"/>
                </a:solidFill>
              </a:rPr>
              <a:t>do</a:t>
            </a: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CN" sz="1800" b="1" dirty="0">
                <a:solidFill>
                  <a:schemeClr val="tx1"/>
                </a:solidFill>
              </a:rPr>
              <a:t>1;</a:t>
            </a:r>
            <a:r>
              <a:rPr lang="en-US" altLang="zh-CN" sz="1800" b="1" i="1" dirty="0">
                <a:solidFill>
                  <a:srgbClr val="0000FF"/>
                </a:solidFill>
              </a:rPr>
              <a:t>while</a:t>
            </a:r>
            <a:r>
              <a:rPr lang="en-US" altLang="zh-CN" sz="1800" b="1" i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]&gt;</a:t>
            </a:r>
            <a:r>
              <a:rPr lang="en-US" altLang="zh-CN" sz="1800" b="1" i="1" dirty="0">
                <a:solidFill>
                  <a:schemeClr val="tx1"/>
                </a:solidFill>
              </a:rPr>
              <a:t>v</a:t>
            </a:r>
            <a:r>
              <a:rPr lang="en-US" altLang="zh-CN" sz="1800" b="1" dirty="0">
                <a:solidFill>
                  <a:schemeClr val="tx1"/>
                </a:solidFill>
              </a:rPr>
              <a:t>);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 	</a:t>
            </a:r>
            <a:r>
              <a:rPr lang="en-US" altLang="zh-CN" sz="1800" b="1" i="1" dirty="0">
                <a:solidFill>
                  <a:srgbClr val="0000FF"/>
                </a:solidFill>
              </a:rPr>
              <a:t>if</a:t>
            </a:r>
            <a:r>
              <a:rPr lang="en-US" altLang="zh-CN" sz="1800" b="1" dirty="0">
                <a:solidFill>
                  <a:srgbClr val="0000FF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 &gt;= 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) </a:t>
            </a:r>
            <a:r>
              <a:rPr lang="en-US" altLang="zh-CN" sz="1800" b="1" i="1" dirty="0">
                <a:solidFill>
                  <a:srgbClr val="0000FF"/>
                </a:solidFill>
              </a:rPr>
              <a:t>break</a:t>
            </a:r>
            <a:r>
              <a:rPr lang="en-US" altLang="zh-CN" sz="1800" b="1" dirty="0">
                <a:solidFill>
                  <a:schemeClr val="tx1"/>
                </a:solidFill>
              </a:rPr>
              <a:t>;	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 	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=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];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]=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];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]=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;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}			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=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];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]=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</a:rPr>
              <a:t>];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</a:rPr>
              <a:t>]=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;  </a:t>
            </a:r>
          </a:p>
        </p:txBody>
      </p:sp>
      <p:sp>
        <p:nvSpPr>
          <p:cNvPr id="752645" name="Rectangle 5"/>
          <p:cNvSpPr>
            <a:spLocks noChangeArrowheads="1"/>
          </p:cNvSpPr>
          <p:nvPr/>
        </p:nvSpPr>
        <p:spPr bwMode="auto">
          <a:xfrm>
            <a:off x="4111625" y="222250"/>
            <a:ext cx="2286000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(1) 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m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(2)  </a:t>
            </a:r>
            <a:r>
              <a:rPr lang="en-US" altLang="zh-CN" sz="2000" i="1">
                <a:latin typeface="Times New Roman" panose="02020603050405020304" pitchFamily="18" charset="0"/>
              </a:rPr>
              <a:t>j </a:t>
            </a:r>
            <a:r>
              <a:rPr lang="en-US" altLang="zh-CN" sz="2000">
                <a:latin typeface="Times New Roman" panose="02020603050405020304" pitchFamily="18" charset="0"/>
              </a:rPr>
              <a:t>= </a:t>
            </a:r>
            <a:r>
              <a:rPr lang="en-US" altLang="zh-CN" sz="2000" i="1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(3)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n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(4)  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(5) 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+ 1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(6)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(7)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</a:rPr>
              <a:t>]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000">
                <a:latin typeface="Times New Roman" panose="02020603050405020304" pitchFamily="18" charset="0"/>
              </a:rPr>
              <a:t>(8) </a:t>
            </a:r>
            <a:r>
              <a:rPr lang="zh-CN" altLang="en-US" sz="2000" i="1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if 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latin typeface="Times New Roman" panose="02020603050405020304" pitchFamily="18" charset="0"/>
              </a:rPr>
              <a:t>&gt;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(5)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(9) 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>
                <a:latin typeface="Times New Roman" panose="02020603050405020304" pitchFamily="18" charset="0"/>
              </a:rPr>
              <a:t>1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(10)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(11)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5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]	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(12) </a:t>
            </a:r>
            <a:r>
              <a:rPr lang="en-US" altLang="zh-CN" sz="2000" i="1">
                <a:latin typeface="Times New Roman" panose="02020603050405020304" pitchFamily="18" charset="0"/>
              </a:rPr>
              <a:t>if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5</a:t>
            </a:r>
            <a:r>
              <a:rPr lang="en-US" altLang="zh-CN" sz="2000">
                <a:latin typeface="Times New Roman" panose="02020603050405020304" pitchFamily="18" charset="0"/>
              </a:rPr>
              <a:t>&gt;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(9)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(13) </a:t>
            </a:r>
            <a:r>
              <a:rPr lang="en-US" altLang="zh-CN" sz="2000" i="1">
                <a:latin typeface="Times New Roman" panose="02020603050405020304" pitchFamily="18" charset="0"/>
              </a:rPr>
              <a:t>if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&gt;=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(23)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(14)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6</a:t>
            </a:r>
            <a:r>
              <a:rPr lang="en-US" altLang="zh-CN" sz="2000">
                <a:latin typeface="Times New Roman" panose="02020603050405020304" pitchFamily="18" charset="0"/>
              </a:rPr>
              <a:t>  =4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(15) 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6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52647" name="Rectangle 7"/>
          <p:cNvSpPr>
            <a:spLocks noChangeArrowheads="1"/>
          </p:cNvSpPr>
          <p:nvPr/>
        </p:nvSpPr>
        <p:spPr bwMode="auto">
          <a:xfrm>
            <a:off x="6950075" y="214313"/>
            <a:ext cx="2590800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0" rIns="6858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(16)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(17)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8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(18)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9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8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(19)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latin typeface="Times New Roman" panose="02020603050405020304" pitchFamily="18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9</a:t>
            </a:r>
            <a:endParaRPr lang="en-US" altLang="zh-CN" sz="2000" i="1">
              <a:latin typeface="Times New Roman" panose="02020603050405020304" pitchFamily="18" charset="0"/>
            </a:endParaRP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(20)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10</a:t>
            </a:r>
            <a:r>
              <a:rPr lang="en-US" altLang="zh-CN" sz="2000">
                <a:latin typeface="Times New Roman" panose="02020603050405020304" pitchFamily="18" charset="0"/>
              </a:rPr>
              <a:t> = 4 *</a:t>
            </a:r>
            <a:r>
              <a:rPr lang="en-US" altLang="zh-CN" sz="2000" i="1">
                <a:latin typeface="Times New Roman" panose="02020603050405020304" pitchFamily="18" charset="0"/>
              </a:rPr>
              <a:t> j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(21)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10</a:t>
            </a:r>
            <a:r>
              <a:rPr lang="en-US" altLang="zh-CN" sz="2000">
                <a:latin typeface="Times New Roman" panose="02020603050405020304" pitchFamily="18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(22)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 </a:t>
            </a:r>
            <a:r>
              <a:rPr lang="en-US" altLang="zh-CN" sz="2000">
                <a:latin typeface="Times New Roman" panose="02020603050405020304" pitchFamily="18" charset="0"/>
              </a:rPr>
              <a:t>(5)</a:t>
            </a:r>
            <a:endParaRPr lang="en-US" altLang="zh-CN" sz="2000" baseline="-2500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(23)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(24)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]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(25)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= 4 *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i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(26)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13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= 4 *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(27)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14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13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]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(28)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14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(29)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(30)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040188" y="1500188"/>
            <a:ext cx="4357687" cy="2825750"/>
            <a:chOff x="385" y="2039"/>
            <a:chExt cx="3660" cy="2373"/>
          </a:xfrm>
        </p:grpSpPr>
        <p:sp>
          <p:nvSpPr>
            <p:cNvPr id="16397" name="Line 9"/>
            <p:cNvSpPr>
              <a:spLocks noChangeShapeType="1"/>
            </p:cNvSpPr>
            <p:nvPr/>
          </p:nvSpPr>
          <p:spPr bwMode="auto">
            <a:xfrm>
              <a:off x="385" y="2039"/>
              <a:ext cx="186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8" name="Line 10"/>
            <p:cNvSpPr>
              <a:spLocks noChangeShapeType="1"/>
            </p:cNvSpPr>
            <p:nvPr/>
          </p:nvSpPr>
          <p:spPr bwMode="auto">
            <a:xfrm>
              <a:off x="385" y="3083"/>
              <a:ext cx="186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Line 11"/>
            <p:cNvSpPr>
              <a:spLocks noChangeShapeType="1"/>
            </p:cNvSpPr>
            <p:nvPr/>
          </p:nvSpPr>
          <p:spPr bwMode="auto">
            <a:xfrm>
              <a:off x="385" y="4139"/>
              <a:ext cx="186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Line 12"/>
            <p:cNvSpPr>
              <a:spLocks noChangeShapeType="1"/>
            </p:cNvSpPr>
            <p:nvPr/>
          </p:nvSpPr>
          <p:spPr bwMode="auto">
            <a:xfrm>
              <a:off x="385" y="4412"/>
              <a:ext cx="186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Line 13"/>
            <p:cNvSpPr>
              <a:spLocks noChangeShapeType="1"/>
            </p:cNvSpPr>
            <p:nvPr/>
          </p:nvSpPr>
          <p:spPr bwMode="auto">
            <a:xfrm>
              <a:off x="2776" y="2819"/>
              <a:ext cx="126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2655" name="Rectangle 15"/>
          <p:cNvSpPr>
            <a:spLocks noChangeArrowheads="1"/>
          </p:cNvSpPr>
          <p:nvPr/>
        </p:nvSpPr>
        <p:spPr bwMode="auto">
          <a:xfrm>
            <a:off x="3754438" y="714375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2656" name="Rectangle 16"/>
          <p:cNvSpPr>
            <a:spLocks noChangeArrowheads="1"/>
          </p:cNvSpPr>
          <p:nvPr/>
        </p:nvSpPr>
        <p:spPr bwMode="auto">
          <a:xfrm>
            <a:off x="3754438" y="1928813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52657" name="Rectangle 17"/>
          <p:cNvSpPr>
            <a:spLocks noChangeArrowheads="1"/>
          </p:cNvSpPr>
          <p:nvPr/>
        </p:nvSpPr>
        <p:spPr bwMode="auto">
          <a:xfrm>
            <a:off x="3754438" y="3214688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52658" name="Rectangle 18"/>
          <p:cNvSpPr>
            <a:spLocks noChangeArrowheads="1"/>
          </p:cNvSpPr>
          <p:nvPr/>
        </p:nvSpPr>
        <p:spPr bwMode="auto">
          <a:xfrm>
            <a:off x="3698875" y="4000500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52659" name="Rectangle 19"/>
          <p:cNvSpPr>
            <a:spLocks noChangeArrowheads="1"/>
          </p:cNvSpPr>
          <p:nvPr/>
        </p:nvSpPr>
        <p:spPr bwMode="auto">
          <a:xfrm>
            <a:off x="6627813" y="1176338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52660" name="Rectangle 20"/>
          <p:cNvSpPr>
            <a:spLocks noChangeArrowheads="1"/>
          </p:cNvSpPr>
          <p:nvPr/>
        </p:nvSpPr>
        <p:spPr bwMode="auto">
          <a:xfrm>
            <a:off x="6627813" y="3500438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6396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5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5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5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5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5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5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5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5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5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52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52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52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5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5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5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52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52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52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5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5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5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5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5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5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5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5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5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5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5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5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5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5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5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5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5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5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526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526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526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526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526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526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526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526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526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526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526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526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526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526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526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526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526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526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526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526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526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526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526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526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8" dur="indefinite"/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2" dur="indefinite"/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6" dur="indefinite"/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70" dur="indefinite"/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74" dur="indefinite"/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78" dur="indefinite"/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52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52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5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752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752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5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752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752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52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752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752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75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752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752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5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752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752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75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2645" grpId="0" build="allAtOnce"/>
      <p:bldP spid="752647" grpId="0" build="allAtOnce"/>
      <p:bldP spid="752655" grpId="0"/>
      <p:bldP spid="752656" grpId="0"/>
      <p:bldP spid="752657" grpId="0"/>
      <p:bldP spid="752658" grpId="0"/>
      <p:bldP spid="752659" grpId="0"/>
      <p:bldP spid="7526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884238"/>
            <a:ext cx="8143875" cy="14239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600" b="1">
                <a:solidFill>
                  <a:schemeClr val="tx1"/>
                </a:solidFill>
              </a:rPr>
              <a:t>流图的</a:t>
            </a:r>
            <a:r>
              <a:rPr lang="zh-CN" altLang="en-US" sz="2600" b="1">
                <a:solidFill>
                  <a:srgbClr val="2D83F4"/>
                </a:solidFill>
              </a:rPr>
              <a:t>结点</a:t>
            </a:r>
            <a:r>
              <a:rPr lang="zh-CN" altLang="en-US" sz="2600" b="1">
                <a:solidFill>
                  <a:schemeClr val="tx1"/>
                </a:solidFill>
              </a:rPr>
              <a:t>是一些</a:t>
            </a:r>
            <a:r>
              <a:rPr lang="zh-CN" altLang="en-US" sz="2600" b="1">
                <a:solidFill>
                  <a:srgbClr val="2D83F4"/>
                </a:solidFill>
              </a:rPr>
              <a:t>基本块</a:t>
            </a:r>
            <a:endParaRPr lang="en-US" altLang="zh-CN" sz="2600" b="1">
              <a:solidFill>
                <a:srgbClr val="2D83F4"/>
              </a:solidFill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600" b="1">
                <a:solidFill>
                  <a:schemeClr val="tx1"/>
                </a:solidFill>
              </a:rPr>
              <a:t>从基本块</a:t>
            </a:r>
            <a:r>
              <a:rPr lang="en-US" altLang="zh-CN" sz="2600" b="1" i="1">
                <a:solidFill>
                  <a:schemeClr val="tx1"/>
                </a:solidFill>
              </a:rPr>
              <a:t>B</a:t>
            </a:r>
            <a:r>
              <a:rPr lang="zh-CN" altLang="en-US" sz="2600" b="1">
                <a:solidFill>
                  <a:schemeClr val="tx1"/>
                </a:solidFill>
              </a:rPr>
              <a:t>到基本块</a:t>
            </a:r>
            <a:r>
              <a:rPr lang="en-US" altLang="zh-CN" sz="2600" b="1" i="1">
                <a:solidFill>
                  <a:schemeClr val="tx1"/>
                </a:solidFill>
              </a:rPr>
              <a:t>C</a:t>
            </a:r>
            <a:r>
              <a:rPr lang="zh-CN" altLang="en-US" sz="2600" b="1">
                <a:solidFill>
                  <a:schemeClr val="tx1"/>
                </a:solidFill>
              </a:rPr>
              <a:t>之间有一条</a:t>
            </a:r>
            <a:r>
              <a:rPr lang="zh-CN" altLang="en-US" sz="2600" b="1">
                <a:solidFill>
                  <a:srgbClr val="2D83F4"/>
                </a:solidFill>
              </a:rPr>
              <a:t>边</a:t>
            </a:r>
            <a:r>
              <a:rPr lang="zh-CN" altLang="en-US" sz="2600" b="1">
                <a:solidFill>
                  <a:srgbClr val="FF0000"/>
                </a:solidFill>
              </a:rPr>
              <a:t>当且仅当</a:t>
            </a:r>
            <a:r>
              <a:rPr lang="zh-CN" altLang="en-US" sz="2600" b="1">
                <a:solidFill>
                  <a:schemeClr val="tx1"/>
                </a:solidFill>
              </a:rPr>
              <a:t>基本块</a:t>
            </a:r>
            <a:r>
              <a:rPr lang="en-US" altLang="zh-CN" sz="2600" b="1" i="1">
                <a:solidFill>
                  <a:schemeClr val="tx1"/>
                </a:solidFill>
              </a:rPr>
              <a:t>C</a:t>
            </a:r>
            <a:r>
              <a:rPr lang="zh-CN" altLang="en-US" sz="2600" b="1">
                <a:solidFill>
                  <a:schemeClr val="tx1"/>
                </a:solidFill>
              </a:rPr>
              <a:t>的第一个指令</a:t>
            </a:r>
            <a:r>
              <a:rPr lang="zh-CN" altLang="en-US" sz="2600" b="1">
                <a:solidFill>
                  <a:srgbClr val="2D83F4"/>
                </a:solidFill>
              </a:rPr>
              <a:t>可能</a:t>
            </a:r>
            <a:r>
              <a:rPr lang="zh-CN" altLang="en-US" sz="2600" b="1">
                <a:solidFill>
                  <a:schemeClr val="tx1"/>
                </a:solidFill>
              </a:rPr>
              <a:t>紧跟在</a:t>
            </a:r>
            <a:r>
              <a:rPr lang="en-US" altLang="zh-CN" sz="2600" b="1" i="1">
                <a:solidFill>
                  <a:schemeClr val="tx1"/>
                </a:solidFill>
              </a:rPr>
              <a:t>B</a:t>
            </a:r>
            <a:r>
              <a:rPr lang="zh-CN" altLang="en-US" sz="2600" b="1">
                <a:solidFill>
                  <a:schemeClr val="tx1"/>
                </a:solidFill>
              </a:rPr>
              <a:t>的最后一条指令之后执行</a:t>
            </a:r>
            <a:endParaRPr lang="en-US" altLang="zh-CN" sz="2600" b="1">
              <a:solidFill>
                <a:schemeClr val="tx1"/>
              </a:solidFill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流图</a:t>
            </a:r>
            <a:r>
              <a:rPr lang="en-US" altLang="zh-CN" sz="25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Flow Graphs</a:t>
            </a:r>
            <a:r>
              <a:rPr lang="en-US" altLang="zh-CN" sz="25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19250" y="2309813"/>
            <a:ext cx="5102225" cy="838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algn="ctr" eaLnBrk="1" hangingPunct="1">
              <a:defRPr/>
            </a:pP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此时称</a:t>
            </a:r>
            <a:r>
              <a:rPr lang="en-US" altLang="zh-CN" sz="25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en-US" altLang="zh-CN" sz="25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</a:t>
            </a:r>
            <a:r>
              <a:rPr lang="zh-CN" altLang="en-US" sz="25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前驱</a:t>
            </a:r>
            <a:r>
              <a:rPr lang="en-US" altLang="zh-CN" sz="25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lang="en-US" altLang="zh-CN" sz="2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predecessor</a:t>
            </a:r>
            <a:r>
              <a:rPr lang="en-US" altLang="zh-CN" sz="25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endParaRPr lang="en-US" altLang="zh-CN" sz="25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algn="ctr" eaLnBrk="1" hangingPunct="1">
              <a:defRPr/>
            </a:pP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</a:t>
            </a:r>
            <a:r>
              <a:rPr lang="en-US" altLang="zh-CN" sz="25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en-US" altLang="zh-CN" sz="25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</a:t>
            </a:r>
            <a:r>
              <a:rPr lang="zh-CN" altLang="en-US" sz="25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后继</a:t>
            </a:r>
            <a:r>
              <a:rPr lang="en-US" altLang="zh-CN" sz="25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lang="en-US" altLang="zh-CN" sz="2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successor</a:t>
            </a:r>
            <a:r>
              <a:rPr lang="en-US" altLang="zh-CN" sz="25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lang="en-US" altLang="zh-CN" sz="2500" dirty="0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884238"/>
            <a:ext cx="8143875" cy="3775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tx1"/>
                </a:solidFill>
              </a:rPr>
              <a:t>流图的</a:t>
            </a:r>
            <a:r>
              <a:rPr lang="zh-CN" altLang="en-US" sz="2600" b="1" dirty="0">
                <a:solidFill>
                  <a:srgbClr val="2D83F4"/>
                </a:solidFill>
              </a:rPr>
              <a:t>结点</a:t>
            </a:r>
            <a:r>
              <a:rPr lang="zh-CN" altLang="en-US" sz="2600" b="1" dirty="0">
                <a:solidFill>
                  <a:schemeClr val="tx1"/>
                </a:solidFill>
              </a:rPr>
              <a:t>是一些</a:t>
            </a:r>
            <a:r>
              <a:rPr lang="zh-CN" altLang="en-US" sz="2600" b="1" dirty="0">
                <a:solidFill>
                  <a:srgbClr val="2D83F4"/>
                </a:solidFill>
              </a:rPr>
              <a:t>基本块</a:t>
            </a:r>
            <a:endParaRPr lang="en-US" altLang="zh-CN" sz="2600" b="1" dirty="0">
              <a:solidFill>
                <a:srgbClr val="2D83F4"/>
              </a:solidFill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tx1"/>
                </a:solidFill>
              </a:rPr>
              <a:t>从基本块</a:t>
            </a:r>
            <a:r>
              <a:rPr lang="en-US" altLang="zh-CN" sz="2600" b="1" i="1" dirty="0">
                <a:solidFill>
                  <a:schemeClr val="tx1"/>
                </a:solidFill>
              </a:rPr>
              <a:t>B</a:t>
            </a:r>
            <a:r>
              <a:rPr lang="zh-CN" altLang="en-US" sz="2600" b="1" dirty="0">
                <a:solidFill>
                  <a:schemeClr val="tx1"/>
                </a:solidFill>
              </a:rPr>
              <a:t>到基本块</a:t>
            </a:r>
            <a:r>
              <a:rPr lang="en-US" altLang="zh-CN" sz="2600" b="1" i="1" dirty="0">
                <a:solidFill>
                  <a:schemeClr val="tx1"/>
                </a:solidFill>
              </a:rPr>
              <a:t>C</a:t>
            </a:r>
            <a:r>
              <a:rPr lang="zh-CN" altLang="en-US" sz="2600" b="1" dirty="0">
                <a:solidFill>
                  <a:schemeClr val="tx1"/>
                </a:solidFill>
              </a:rPr>
              <a:t>之间有一条</a:t>
            </a:r>
            <a:r>
              <a:rPr lang="zh-CN" altLang="en-US" sz="2600" b="1" dirty="0">
                <a:solidFill>
                  <a:srgbClr val="2D83F4"/>
                </a:solidFill>
              </a:rPr>
              <a:t>边</a:t>
            </a:r>
            <a:r>
              <a:rPr lang="zh-CN" altLang="en-US" sz="2600" b="1" dirty="0">
                <a:solidFill>
                  <a:srgbClr val="FF0000"/>
                </a:solidFill>
              </a:rPr>
              <a:t>当且仅当</a:t>
            </a:r>
            <a:r>
              <a:rPr lang="zh-CN" altLang="en-US" sz="2600" b="1" dirty="0">
                <a:solidFill>
                  <a:schemeClr val="tx1"/>
                </a:solidFill>
              </a:rPr>
              <a:t>基本块</a:t>
            </a:r>
            <a:r>
              <a:rPr lang="en-US" altLang="zh-CN" sz="2600" b="1" i="1" dirty="0">
                <a:solidFill>
                  <a:schemeClr val="tx1"/>
                </a:solidFill>
              </a:rPr>
              <a:t>C</a:t>
            </a:r>
            <a:r>
              <a:rPr lang="zh-CN" altLang="en-US" sz="2600" b="1" dirty="0">
                <a:solidFill>
                  <a:schemeClr val="tx1"/>
                </a:solidFill>
              </a:rPr>
              <a:t>的第一个指令</a:t>
            </a:r>
            <a:r>
              <a:rPr lang="zh-CN" altLang="en-US" sz="2600" b="1" dirty="0">
                <a:solidFill>
                  <a:srgbClr val="2D83F4"/>
                </a:solidFill>
              </a:rPr>
              <a:t>可能</a:t>
            </a:r>
            <a:r>
              <a:rPr lang="zh-CN" altLang="en-US" sz="2600" b="1" dirty="0">
                <a:solidFill>
                  <a:schemeClr val="tx1"/>
                </a:solidFill>
              </a:rPr>
              <a:t>紧跟在</a:t>
            </a:r>
            <a:r>
              <a:rPr lang="en-US" altLang="zh-CN" sz="2600" b="1" i="1" dirty="0">
                <a:solidFill>
                  <a:schemeClr val="tx1"/>
                </a:solidFill>
              </a:rPr>
              <a:t>B</a:t>
            </a:r>
            <a:r>
              <a:rPr lang="zh-CN" altLang="en-US" sz="2600" b="1" dirty="0">
                <a:solidFill>
                  <a:schemeClr val="tx1"/>
                </a:solidFill>
              </a:rPr>
              <a:t>的最后一条指令之后执行</a:t>
            </a:r>
            <a:endParaRPr lang="en-US" altLang="zh-CN" sz="26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</a:rPr>
              <a:t>有两种方式可以确认这样的边：</a:t>
            </a:r>
            <a:endParaRPr lang="en-US" altLang="zh-CN" sz="2500" b="1" dirty="0">
              <a:solidFill>
                <a:srgbClr val="000000"/>
              </a:solidFill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</a:rPr>
              <a:t>有一个</a:t>
            </a:r>
            <a:r>
              <a:rPr lang="zh-CN" altLang="en-US" sz="2500" b="1" dirty="0">
                <a:solidFill>
                  <a:srgbClr val="2D83F4"/>
                </a:solidFill>
              </a:rPr>
              <a:t>从</a:t>
            </a:r>
            <a:r>
              <a:rPr lang="en-US" altLang="zh-CN" sz="2500" b="1" i="1" dirty="0">
                <a:solidFill>
                  <a:srgbClr val="2D83F4"/>
                </a:solidFill>
              </a:rPr>
              <a:t>B</a:t>
            </a:r>
            <a:r>
              <a:rPr lang="zh-CN" altLang="en-US" sz="2500" b="1" dirty="0">
                <a:solidFill>
                  <a:srgbClr val="2D83F4"/>
                </a:solidFill>
              </a:rPr>
              <a:t>的结尾跳转到</a:t>
            </a:r>
            <a:r>
              <a:rPr lang="en-US" altLang="zh-CN" sz="2500" b="1" i="1" dirty="0">
                <a:solidFill>
                  <a:srgbClr val="2D83F4"/>
                </a:solidFill>
              </a:rPr>
              <a:t>C</a:t>
            </a:r>
            <a:r>
              <a:rPr lang="zh-CN" altLang="en-US" sz="2500" b="1" dirty="0">
                <a:solidFill>
                  <a:srgbClr val="2D83F4"/>
                </a:solidFill>
              </a:rPr>
              <a:t>的开头</a:t>
            </a:r>
            <a:r>
              <a:rPr lang="zh-CN" altLang="en-US" sz="2500" b="1" dirty="0">
                <a:solidFill>
                  <a:srgbClr val="000000"/>
                </a:solidFill>
              </a:rPr>
              <a:t>的条件或无条件跳转语句</a:t>
            </a:r>
            <a:endParaRPr lang="en-US" altLang="zh-CN" sz="2500" b="1" dirty="0">
              <a:solidFill>
                <a:srgbClr val="000000"/>
              </a:solidFill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</a:rPr>
              <a:t>按照原来的三地址语句序列中的顺序，</a:t>
            </a:r>
            <a:r>
              <a:rPr lang="en-US" altLang="zh-CN" sz="2500" b="1" i="1" dirty="0">
                <a:solidFill>
                  <a:srgbClr val="000000"/>
                </a:solidFill>
              </a:rPr>
              <a:t>C</a:t>
            </a:r>
            <a:r>
              <a:rPr lang="zh-CN" altLang="en-US" sz="2500" b="1" dirty="0">
                <a:solidFill>
                  <a:srgbClr val="000000"/>
                </a:solidFill>
              </a:rPr>
              <a:t>紧跟在之</a:t>
            </a:r>
            <a:r>
              <a:rPr lang="en-US" altLang="zh-CN" sz="2500" b="1" i="1" dirty="0">
                <a:solidFill>
                  <a:srgbClr val="000000"/>
                </a:solidFill>
              </a:rPr>
              <a:t>B</a:t>
            </a:r>
            <a:r>
              <a:rPr lang="zh-CN" altLang="en-US" sz="2500" b="1" dirty="0">
                <a:solidFill>
                  <a:srgbClr val="000000"/>
                </a:solidFill>
              </a:rPr>
              <a:t>后，且</a:t>
            </a:r>
            <a:r>
              <a:rPr lang="en-US" altLang="zh-CN" sz="2500" b="1" i="1" dirty="0">
                <a:solidFill>
                  <a:srgbClr val="000000"/>
                </a:solidFill>
              </a:rPr>
              <a:t>B</a:t>
            </a:r>
            <a:r>
              <a:rPr lang="zh-CN" altLang="en-US" sz="2500" b="1" dirty="0">
                <a:solidFill>
                  <a:srgbClr val="000000"/>
                </a:solidFill>
              </a:rPr>
              <a:t>的结尾不存在无条件跳转语句</a:t>
            </a:r>
            <a:endParaRPr lang="en-US" altLang="zh-CN" sz="2500" b="1" dirty="0">
              <a:solidFill>
                <a:srgbClr val="000000"/>
              </a:solidFill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600" b="1" dirty="0">
              <a:solidFill>
                <a:schemeClr val="tx1"/>
              </a:solidFill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流图</a:t>
            </a:r>
            <a:r>
              <a:rPr lang="en-US" altLang="zh-CN" sz="250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Flow Graphs</a:t>
            </a:r>
            <a:r>
              <a:rPr lang="en-US" altLang="zh-CN" sz="250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1"/>
          <p:cNvSpPr>
            <a:spLocks/>
          </p:cNvSpPr>
          <p:nvPr/>
        </p:nvSpPr>
        <p:spPr bwMode="auto">
          <a:xfrm>
            <a:off x="6618288" y="1589088"/>
            <a:ext cx="768350" cy="573087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" name="Freeform 22"/>
          <p:cNvSpPr>
            <a:spLocks/>
          </p:cNvSpPr>
          <p:nvPr/>
        </p:nvSpPr>
        <p:spPr bwMode="auto">
          <a:xfrm>
            <a:off x="6664325" y="2306638"/>
            <a:ext cx="754063" cy="587375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6764338" y="3492500"/>
            <a:ext cx="717550" cy="735013"/>
            <a:chOff x="8180222" y="5297456"/>
            <a:chExt cx="956239" cy="981424"/>
          </a:xfrm>
        </p:grpSpPr>
        <p:sp>
          <p:nvSpPr>
            <p:cNvPr id="22562" name="Line 18"/>
            <p:cNvSpPr>
              <a:spLocks noChangeShapeType="1"/>
            </p:cNvSpPr>
            <p:nvPr/>
          </p:nvSpPr>
          <p:spPr bwMode="auto">
            <a:xfrm flipH="1">
              <a:off x="8682123" y="5297456"/>
              <a:ext cx="454338" cy="4921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33"/>
            <p:cNvSpPr>
              <a:spLocks noChangeArrowheads="1"/>
            </p:cNvSpPr>
            <p:nvPr/>
          </p:nvSpPr>
          <p:spPr bwMode="auto">
            <a:xfrm>
              <a:off x="8180222" y="5810425"/>
              <a:ext cx="782762" cy="4684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3" name="组合 5"/>
          <p:cNvGrpSpPr>
            <a:grpSpLocks/>
          </p:cNvGrpSpPr>
          <p:nvPr/>
        </p:nvGrpSpPr>
        <p:grpSpPr bwMode="auto">
          <a:xfrm>
            <a:off x="7589838" y="3506788"/>
            <a:ext cx="666750" cy="720725"/>
            <a:chOff x="11189589" y="4967618"/>
            <a:chExt cx="888555" cy="962937"/>
          </a:xfrm>
        </p:grpSpPr>
        <p:sp>
          <p:nvSpPr>
            <p:cNvPr id="22560" name="Line 19"/>
            <p:cNvSpPr>
              <a:spLocks noChangeShapeType="1"/>
            </p:cNvSpPr>
            <p:nvPr/>
          </p:nvSpPr>
          <p:spPr bwMode="auto">
            <a:xfrm>
              <a:off x="11189589" y="4967618"/>
              <a:ext cx="534637" cy="447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33"/>
            <p:cNvSpPr>
              <a:spLocks noChangeArrowheads="1"/>
            </p:cNvSpPr>
            <p:nvPr/>
          </p:nvSpPr>
          <p:spPr bwMode="auto">
            <a:xfrm>
              <a:off x="11293253" y="5444844"/>
              <a:ext cx="784891" cy="4857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</a:p>
          </p:txBody>
        </p:sp>
      </p:grpSp>
      <p:grpSp>
        <p:nvGrpSpPr>
          <p:cNvPr id="4" name="组合 4"/>
          <p:cNvGrpSpPr>
            <a:grpSpLocks/>
          </p:cNvGrpSpPr>
          <p:nvPr/>
        </p:nvGrpSpPr>
        <p:grpSpPr bwMode="auto">
          <a:xfrm>
            <a:off x="7270750" y="2789238"/>
            <a:ext cx="584200" cy="703262"/>
            <a:chOff x="9038405" y="4481308"/>
            <a:chExt cx="1121035" cy="936104"/>
          </a:xfrm>
        </p:grpSpPr>
        <p:sp>
          <p:nvSpPr>
            <p:cNvPr id="22558" name="Line 12"/>
            <p:cNvSpPr>
              <a:spLocks noChangeShapeType="1"/>
            </p:cNvSpPr>
            <p:nvPr/>
          </p:nvSpPr>
          <p:spPr bwMode="auto">
            <a:xfrm>
              <a:off x="9561235" y="4481308"/>
              <a:ext cx="0" cy="423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33"/>
            <p:cNvSpPr>
              <a:spLocks noChangeArrowheads="1"/>
            </p:cNvSpPr>
            <p:nvPr/>
          </p:nvSpPr>
          <p:spPr bwMode="auto">
            <a:xfrm>
              <a:off x="9038405" y="4946191"/>
              <a:ext cx="1121035" cy="4712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5" name="组合 3"/>
          <p:cNvGrpSpPr>
            <a:grpSpLocks/>
          </p:cNvGrpSpPr>
          <p:nvPr/>
        </p:nvGrpSpPr>
        <p:grpSpPr bwMode="auto">
          <a:xfrm>
            <a:off x="7285038" y="2087563"/>
            <a:ext cx="584200" cy="701675"/>
            <a:chOff x="9057179" y="3545204"/>
            <a:chExt cx="1121035" cy="936104"/>
          </a:xfrm>
        </p:grpSpPr>
        <p:sp>
          <p:nvSpPr>
            <p:cNvPr id="22556" name="Line 10"/>
            <p:cNvSpPr>
              <a:spLocks noChangeShapeType="1"/>
            </p:cNvSpPr>
            <p:nvPr/>
          </p:nvSpPr>
          <p:spPr bwMode="auto">
            <a:xfrm>
              <a:off x="9561235" y="3545204"/>
              <a:ext cx="0" cy="422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33"/>
            <p:cNvSpPr>
              <a:spLocks noChangeArrowheads="1"/>
            </p:cNvSpPr>
            <p:nvPr/>
          </p:nvSpPr>
          <p:spPr bwMode="auto">
            <a:xfrm>
              <a:off x="9057179" y="4009020"/>
              <a:ext cx="1121035" cy="4722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6" name="组合 2"/>
          <p:cNvGrpSpPr>
            <a:grpSpLocks/>
          </p:cNvGrpSpPr>
          <p:nvPr/>
        </p:nvGrpSpPr>
        <p:grpSpPr bwMode="auto">
          <a:xfrm>
            <a:off x="7285038" y="1360488"/>
            <a:ext cx="584200" cy="703262"/>
            <a:chOff x="9057179" y="2575863"/>
            <a:chExt cx="1121035" cy="936908"/>
          </a:xfrm>
        </p:grpSpPr>
        <p:sp>
          <p:nvSpPr>
            <p:cNvPr id="22554" name="Line 9"/>
            <p:cNvSpPr>
              <a:spLocks noChangeShapeType="1"/>
            </p:cNvSpPr>
            <p:nvPr/>
          </p:nvSpPr>
          <p:spPr bwMode="auto">
            <a:xfrm>
              <a:off x="9583460" y="2575863"/>
              <a:ext cx="0" cy="422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33"/>
            <p:cNvSpPr>
              <a:spLocks noChangeArrowheads="1"/>
            </p:cNvSpPr>
            <p:nvPr/>
          </p:nvSpPr>
          <p:spPr bwMode="auto">
            <a:xfrm>
              <a:off x="9057179" y="3041145"/>
              <a:ext cx="1121035" cy="471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7285038" y="977900"/>
            <a:ext cx="584200" cy="354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ctr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2538" name="Rectangle 5"/>
          <p:cNvSpPr>
            <a:spLocks noChangeArrowheads="1"/>
          </p:cNvSpPr>
          <p:nvPr/>
        </p:nvSpPr>
        <p:spPr bwMode="auto">
          <a:xfrm>
            <a:off x="1500188" y="301625"/>
            <a:ext cx="2286000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(1) 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m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(2)  </a:t>
            </a:r>
            <a:r>
              <a:rPr lang="en-US" altLang="zh-CN" sz="2000" i="1">
                <a:latin typeface="Times New Roman" panose="02020603050405020304" pitchFamily="18" charset="0"/>
              </a:rPr>
              <a:t>j </a:t>
            </a:r>
            <a:r>
              <a:rPr lang="en-US" altLang="zh-CN" sz="2000">
                <a:latin typeface="Times New Roman" panose="02020603050405020304" pitchFamily="18" charset="0"/>
              </a:rPr>
              <a:t>= </a:t>
            </a:r>
            <a:r>
              <a:rPr lang="en-US" altLang="zh-CN" sz="2000" i="1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(3)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n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(4)  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(5) 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+ 1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(6)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(7)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</a:rPr>
              <a:t>]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000">
                <a:latin typeface="Times New Roman" panose="02020603050405020304" pitchFamily="18" charset="0"/>
              </a:rPr>
              <a:t>(8) </a:t>
            </a:r>
            <a:r>
              <a:rPr lang="zh-CN" altLang="en-US" sz="2000" i="1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if 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latin typeface="Times New Roman" panose="02020603050405020304" pitchFamily="18" charset="0"/>
              </a:rPr>
              <a:t>&gt;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(5)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(9) 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>
                <a:latin typeface="Times New Roman" panose="02020603050405020304" pitchFamily="18" charset="0"/>
              </a:rPr>
              <a:t>1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(10)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(11)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5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]	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(12) </a:t>
            </a:r>
            <a:r>
              <a:rPr lang="en-US" altLang="zh-CN" sz="2000" i="1">
                <a:latin typeface="Times New Roman" panose="02020603050405020304" pitchFamily="18" charset="0"/>
              </a:rPr>
              <a:t>if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5</a:t>
            </a:r>
            <a:r>
              <a:rPr lang="en-US" altLang="zh-CN" sz="2000">
                <a:latin typeface="Times New Roman" panose="02020603050405020304" pitchFamily="18" charset="0"/>
              </a:rPr>
              <a:t>&gt;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(9)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(13) </a:t>
            </a:r>
            <a:r>
              <a:rPr lang="en-US" altLang="zh-CN" sz="2000" i="1">
                <a:latin typeface="Times New Roman" panose="02020603050405020304" pitchFamily="18" charset="0"/>
              </a:rPr>
              <a:t>if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&gt;=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(23)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(14)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6</a:t>
            </a:r>
            <a:r>
              <a:rPr lang="en-US" altLang="zh-CN" sz="2000">
                <a:latin typeface="Times New Roman" panose="02020603050405020304" pitchFamily="18" charset="0"/>
              </a:rPr>
              <a:t>  =4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(15 ) 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6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22539" name="Rectangle 7"/>
          <p:cNvSpPr>
            <a:spLocks noChangeArrowheads="1"/>
          </p:cNvSpPr>
          <p:nvPr/>
        </p:nvSpPr>
        <p:spPr bwMode="auto">
          <a:xfrm>
            <a:off x="4338638" y="293688"/>
            <a:ext cx="2590800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0" rIns="6858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(16)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(17)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8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(18)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9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8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(19)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latin typeface="Times New Roman" panose="02020603050405020304" pitchFamily="18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9</a:t>
            </a:r>
            <a:endParaRPr lang="en-US" altLang="zh-CN" sz="2000" i="1">
              <a:latin typeface="Times New Roman" panose="02020603050405020304" pitchFamily="18" charset="0"/>
            </a:endParaRP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(20)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10</a:t>
            </a:r>
            <a:r>
              <a:rPr lang="en-US" altLang="zh-CN" sz="2000">
                <a:latin typeface="Times New Roman" panose="02020603050405020304" pitchFamily="18" charset="0"/>
              </a:rPr>
              <a:t> = 4 *</a:t>
            </a:r>
            <a:r>
              <a:rPr lang="en-US" altLang="zh-CN" sz="2000" i="1">
                <a:latin typeface="Times New Roman" panose="02020603050405020304" pitchFamily="18" charset="0"/>
              </a:rPr>
              <a:t> j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(21)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10</a:t>
            </a:r>
            <a:r>
              <a:rPr lang="en-US" altLang="zh-CN" sz="2000">
                <a:latin typeface="Times New Roman" panose="02020603050405020304" pitchFamily="18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(22)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 </a:t>
            </a:r>
            <a:r>
              <a:rPr lang="en-US" altLang="zh-CN" sz="2000">
                <a:latin typeface="Times New Roman" panose="02020603050405020304" pitchFamily="18" charset="0"/>
              </a:rPr>
              <a:t>(5)</a:t>
            </a:r>
            <a:endParaRPr lang="en-US" altLang="zh-CN" sz="2000" baseline="-2500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(23)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(24)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]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(25)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= 4 *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i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(26)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13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= 4 *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(27)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14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13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]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(28)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14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(29)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(30)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2540" name="Group 14"/>
          <p:cNvGrpSpPr>
            <a:grpSpLocks/>
          </p:cNvGrpSpPr>
          <p:nvPr/>
        </p:nvGrpSpPr>
        <p:grpSpPr bwMode="auto">
          <a:xfrm>
            <a:off x="1428750" y="1579563"/>
            <a:ext cx="4357688" cy="2825750"/>
            <a:chOff x="385" y="2039"/>
            <a:chExt cx="3660" cy="2373"/>
          </a:xfrm>
        </p:grpSpPr>
        <p:sp>
          <p:nvSpPr>
            <p:cNvPr id="22549" name="Line 9"/>
            <p:cNvSpPr>
              <a:spLocks noChangeShapeType="1"/>
            </p:cNvSpPr>
            <p:nvPr/>
          </p:nvSpPr>
          <p:spPr bwMode="auto">
            <a:xfrm>
              <a:off x="385" y="2039"/>
              <a:ext cx="186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10"/>
            <p:cNvSpPr>
              <a:spLocks noChangeShapeType="1"/>
            </p:cNvSpPr>
            <p:nvPr/>
          </p:nvSpPr>
          <p:spPr bwMode="auto">
            <a:xfrm>
              <a:off x="385" y="3083"/>
              <a:ext cx="186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11"/>
            <p:cNvSpPr>
              <a:spLocks noChangeShapeType="1"/>
            </p:cNvSpPr>
            <p:nvPr/>
          </p:nvSpPr>
          <p:spPr bwMode="auto">
            <a:xfrm>
              <a:off x="385" y="4139"/>
              <a:ext cx="186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12"/>
            <p:cNvSpPr>
              <a:spLocks noChangeShapeType="1"/>
            </p:cNvSpPr>
            <p:nvPr/>
          </p:nvSpPr>
          <p:spPr bwMode="auto">
            <a:xfrm>
              <a:off x="385" y="4412"/>
              <a:ext cx="186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13"/>
            <p:cNvSpPr>
              <a:spLocks noChangeShapeType="1"/>
            </p:cNvSpPr>
            <p:nvPr/>
          </p:nvSpPr>
          <p:spPr bwMode="auto">
            <a:xfrm>
              <a:off x="2775" y="2819"/>
              <a:ext cx="127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41" name="Rectangle 15"/>
          <p:cNvSpPr>
            <a:spLocks noChangeArrowheads="1"/>
          </p:cNvSpPr>
          <p:nvPr/>
        </p:nvSpPr>
        <p:spPr bwMode="auto">
          <a:xfrm>
            <a:off x="1143000" y="793750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542" name="Rectangle 16"/>
          <p:cNvSpPr>
            <a:spLocks noChangeArrowheads="1"/>
          </p:cNvSpPr>
          <p:nvPr/>
        </p:nvSpPr>
        <p:spPr bwMode="auto">
          <a:xfrm>
            <a:off x="1143000" y="2008188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543" name="Rectangle 17"/>
          <p:cNvSpPr>
            <a:spLocks noChangeArrowheads="1"/>
          </p:cNvSpPr>
          <p:nvPr/>
        </p:nvSpPr>
        <p:spPr bwMode="auto">
          <a:xfrm>
            <a:off x="1143000" y="3294063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544" name="Rectangle 18"/>
          <p:cNvSpPr>
            <a:spLocks noChangeArrowheads="1"/>
          </p:cNvSpPr>
          <p:nvPr/>
        </p:nvSpPr>
        <p:spPr bwMode="auto">
          <a:xfrm>
            <a:off x="1087438" y="4079875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2545" name="Rectangle 19"/>
          <p:cNvSpPr>
            <a:spLocks noChangeArrowheads="1"/>
          </p:cNvSpPr>
          <p:nvPr/>
        </p:nvSpPr>
        <p:spPr bwMode="auto">
          <a:xfrm>
            <a:off x="4016375" y="1255713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2546" name="Rectangle 20"/>
          <p:cNvSpPr>
            <a:spLocks noChangeArrowheads="1"/>
          </p:cNvSpPr>
          <p:nvPr/>
        </p:nvSpPr>
        <p:spPr bwMode="auto">
          <a:xfrm>
            <a:off x="4016375" y="3579813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2547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15" name="任意多边形 14"/>
          <p:cNvSpPr/>
          <p:nvPr/>
        </p:nvSpPr>
        <p:spPr>
          <a:xfrm>
            <a:off x="6407150" y="1339850"/>
            <a:ext cx="1071563" cy="3324225"/>
          </a:xfrm>
          <a:custGeom>
            <a:avLst/>
            <a:gdLst>
              <a:gd name="connsiteX0" fmla="*/ 694570 w 1070350"/>
              <a:gd name="connsiteY0" fmla="*/ 2906891 h 3323983"/>
              <a:gd name="connsiteX1" fmla="*/ 155950 w 1070350"/>
              <a:gd name="connsiteY1" fmla="*/ 3107308 h 3323983"/>
              <a:gd name="connsiteX2" fmla="*/ 68268 w 1070350"/>
              <a:gd name="connsiteY2" fmla="*/ 251373 h 3323983"/>
              <a:gd name="connsiteX3" fmla="*/ 1070350 w 1070350"/>
              <a:gd name="connsiteY3" fmla="*/ 326530 h 332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50" h="3323983">
                <a:moveTo>
                  <a:pt x="694570" y="2906891"/>
                </a:moveTo>
                <a:cubicBezTo>
                  <a:pt x="477452" y="3228392"/>
                  <a:pt x="260334" y="3549894"/>
                  <a:pt x="155950" y="3107308"/>
                </a:cubicBezTo>
                <a:cubicBezTo>
                  <a:pt x="51566" y="2664722"/>
                  <a:pt x="-84132" y="714836"/>
                  <a:pt x="68268" y="251373"/>
                </a:cubicBezTo>
                <a:cubicBezTo>
                  <a:pt x="220668" y="-212090"/>
                  <a:pt x="645509" y="57220"/>
                  <a:pt x="1070350" y="326530"/>
                </a:cubicBezTo>
              </a:path>
            </a:pathLst>
          </a:custGeom>
          <a:noFill/>
          <a:ln w="25400">
            <a:solidFill>
              <a:schemeClr val="tx1"/>
            </a:solidFill>
            <a:headEnd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22"/>
          <p:cNvGrpSpPr>
            <a:grpSpLocks/>
          </p:cNvGrpSpPr>
          <p:nvPr/>
        </p:nvGrpSpPr>
        <p:grpSpPr bwMode="auto">
          <a:xfrm>
            <a:off x="1071563" y="166688"/>
            <a:ext cx="6719887" cy="4521200"/>
            <a:chOff x="1071538" y="195263"/>
            <a:chExt cx="6719912" cy="4520505"/>
          </a:xfrm>
        </p:grpSpPr>
        <p:sp>
          <p:nvSpPr>
            <p:cNvPr id="2" name="Rectangle 4"/>
            <p:cNvSpPr>
              <a:spLocks noChangeArrowheads="1"/>
            </p:cNvSpPr>
            <p:nvPr/>
          </p:nvSpPr>
          <p:spPr bwMode="auto">
            <a:xfrm>
              <a:off x="3625835" y="212722"/>
              <a:ext cx="1693869" cy="8142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17411" name="Rectangle 5"/>
            <p:cNvSpPr>
              <a:spLocks noChangeArrowheads="1"/>
            </p:cNvSpPr>
            <p:nvPr/>
          </p:nvSpPr>
          <p:spPr bwMode="auto">
            <a:xfrm>
              <a:off x="3622659" y="1350785"/>
              <a:ext cx="1711331" cy="8142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4583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4584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8"/>
            <p:cNvSpPr>
              <a:spLocks noChangeArrowheads="1"/>
            </p:cNvSpPr>
            <p:nvPr/>
          </p:nvSpPr>
          <p:spPr bwMode="auto">
            <a:xfrm>
              <a:off x="3640123" y="2499959"/>
              <a:ext cx="1711331" cy="8126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4586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587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" name="Rectangle 11"/>
            <p:cNvSpPr>
              <a:spLocks noChangeArrowheads="1"/>
            </p:cNvSpPr>
            <p:nvPr/>
          </p:nvSpPr>
          <p:spPr bwMode="auto">
            <a:xfrm>
              <a:off x="3640123" y="3661830"/>
              <a:ext cx="1725618" cy="3047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4589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590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4591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4592" name="Rectangle 16"/>
            <p:cNvSpPr>
              <a:spLocks noChangeArrowheads="1"/>
            </p:cNvSpPr>
            <p:nvPr/>
          </p:nvSpPr>
          <p:spPr bwMode="auto">
            <a:xfrm>
              <a:off x="1071538" y="2625725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4593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594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595" name="Rectangle 20"/>
            <p:cNvSpPr>
              <a:spLocks noChangeArrowheads="1"/>
            </p:cNvSpPr>
            <p:nvPr/>
          </p:nvSpPr>
          <p:spPr bwMode="auto">
            <a:xfrm>
              <a:off x="7164388" y="2024261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4596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" name="Rectangle 33"/>
            <p:cNvSpPr>
              <a:spLocks noChangeArrowheads="1"/>
            </p:cNvSpPr>
            <p:nvPr/>
          </p:nvSpPr>
          <p:spPr bwMode="auto">
            <a:xfrm>
              <a:off x="1547790" y="2312662"/>
              <a:ext cx="1189041" cy="240310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7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8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9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8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7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9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10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10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" name="Rectangle 35"/>
            <p:cNvSpPr>
              <a:spLocks noChangeArrowheads="1"/>
            </p:cNvSpPr>
            <p:nvPr/>
          </p:nvSpPr>
          <p:spPr bwMode="auto">
            <a:xfrm>
              <a:off x="6192832" y="2455516"/>
              <a:ext cx="1308105" cy="22158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latin typeface="Times New Roman" pitchFamily="18" charset="0"/>
                </a:rPr>
                <a:t>t</a:t>
              </a:r>
              <a:r>
                <a:rPr lang="en-US" altLang="zh-CN" baseline="-30000" dirty="0">
                  <a:latin typeface="Times New Roman" pitchFamily="18" charset="0"/>
                </a:rPr>
                <a:t>14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11" name="任意多边形 10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580" name="Freeform 21"/>
          <p:cNvSpPr>
            <a:spLocks/>
          </p:cNvSpPr>
          <p:nvPr/>
        </p:nvSpPr>
        <p:spPr bwMode="auto">
          <a:xfrm rot="367755">
            <a:off x="2914650" y="1184275"/>
            <a:ext cx="768350" cy="1096963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30213" y="714375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机器无关优化</a:t>
            </a:r>
            <a:endParaRPr lang="en-US" altLang="zh-CN" sz="2800" b="1">
              <a:solidFill>
                <a:schemeClr val="tx1"/>
              </a:solidFill>
              <a:ea typeface="楷体_GB2312" pitchFamily="49" charset="-122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针对中间代码</a:t>
            </a:r>
            <a:endParaRPr lang="en-US" altLang="zh-CN" sz="2500" b="1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机器相关优化</a:t>
            </a:r>
            <a:endParaRPr lang="en-US" altLang="zh-CN" sz="2800" b="1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针对目标代码</a:t>
            </a: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局部代码优化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单个基本块范围内的优化</a:t>
            </a: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全局代码优化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面向多个基本块的优化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8.2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优化的分类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5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5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删除公共子表达式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删除无用代码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常量合并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强度削弱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删除归纳变量</a:t>
            </a:r>
          </a:p>
          <a:p>
            <a:pPr eaLnBrk="1" hangingPunct="1"/>
            <a:endParaRPr lang="zh-CN" altLang="en-US" sz="1800"/>
          </a:p>
        </p:txBody>
      </p:sp>
      <p:sp>
        <p:nvSpPr>
          <p:cNvPr id="3277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87400" y="857250"/>
            <a:ext cx="8142288" cy="32258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公共子表达式</a:t>
            </a:r>
            <a:endParaRPr lang="en-US" altLang="zh-CN" sz="2800" b="1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如果表达式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</a:rPr>
              <a:t>先前已被计算过，并且从先前的计算到现在，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op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</a:rPr>
              <a:t>中变量的值没有改变，那么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op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</a:rPr>
              <a:t>的这次出现就称为</a:t>
            </a:r>
            <a:r>
              <a:rPr lang="zh-CN" altLang="en-US" sz="2500" b="1" dirty="0">
                <a:solidFill>
                  <a:srgbClr val="FF0000"/>
                </a:solidFill>
              </a:rPr>
              <a:t>公共子表达式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common </a:t>
            </a:r>
            <a:r>
              <a:rPr lang="en-US" altLang="zh-CN" sz="2000" b="1" i="1" dirty="0" err="1">
                <a:solidFill>
                  <a:schemeClr val="tx1"/>
                </a:solidFill>
              </a:rPr>
              <a:t>subexpression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 删除公共子表达式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33"/>
          <p:cNvSpPr>
            <a:spLocks noChangeArrowheads="1"/>
          </p:cNvSpPr>
          <p:nvPr/>
        </p:nvSpPr>
        <p:spPr bwMode="auto">
          <a:xfrm>
            <a:off x="1544638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7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i="1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7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10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10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67" name="Rectangle 33"/>
          <p:cNvSpPr>
            <a:spLocks noChangeArrowheads="1"/>
          </p:cNvSpPr>
          <p:nvPr/>
        </p:nvSpPr>
        <p:spPr bwMode="auto">
          <a:xfrm>
            <a:off x="6127750" y="187325"/>
            <a:ext cx="1189038" cy="1889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3625850" y="212725"/>
            <a:ext cx="1693863" cy="814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</a:t>
            </a:r>
            <a:r>
              <a:rPr lang="en-US" altLang="zh-CN" i="1" dirty="0">
                <a:latin typeface="Times New Roman" pitchFamily="18" charset="0"/>
              </a:rPr>
              <a:t> m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 =</a:t>
            </a:r>
            <a:r>
              <a:rPr lang="en-US" altLang="zh-CN" i="1" dirty="0">
                <a:latin typeface="Times New Roman" pitchFamily="18" charset="0"/>
              </a:rPr>
              <a:t> 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v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3622675" y="1350963"/>
            <a:ext cx="1711325" cy="814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=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+ 1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if t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&lt; </a:t>
            </a:r>
            <a:r>
              <a:rPr lang="en-US" altLang="zh-CN" i="1" dirty="0">
                <a:latin typeface="Times New Roman" pitchFamily="18" charset="0"/>
              </a:rPr>
              <a:t>v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446713" y="195263"/>
            <a:ext cx="3937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1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5429250" y="1258888"/>
            <a:ext cx="627063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2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55" name="Rectangle 8"/>
          <p:cNvSpPr>
            <a:spLocks noChangeArrowheads="1"/>
          </p:cNvSpPr>
          <p:nvPr/>
        </p:nvSpPr>
        <p:spPr bwMode="auto">
          <a:xfrm>
            <a:off x="3640138" y="2500313"/>
            <a:ext cx="1711325" cy="81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j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i="1" dirty="0">
                <a:latin typeface="Times New Roman" pitchFamily="18" charset="0"/>
              </a:rPr>
              <a:t>j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5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if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5</a:t>
            </a:r>
            <a:r>
              <a:rPr lang="en-US" altLang="zh-CN" dirty="0">
                <a:latin typeface="Times New Roman" pitchFamily="18" charset="0"/>
              </a:rPr>
              <a:t> &gt; </a:t>
            </a:r>
            <a:r>
              <a:rPr lang="en-US" altLang="zh-CN" i="1" dirty="0">
                <a:latin typeface="Times New Roman" pitchFamily="18" charset="0"/>
              </a:rPr>
              <a:t>v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</a:p>
        </p:txBody>
      </p:sp>
      <p:sp>
        <p:nvSpPr>
          <p:cNvPr id="36874" name="Line 9"/>
          <p:cNvSpPr>
            <a:spLocks noChangeShapeType="1"/>
          </p:cNvSpPr>
          <p:nvPr/>
        </p:nvSpPr>
        <p:spPr bwMode="auto">
          <a:xfrm>
            <a:off x="4457700" y="103505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6875" name="Line 10"/>
          <p:cNvSpPr>
            <a:spLocks noChangeShapeType="1"/>
          </p:cNvSpPr>
          <p:nvPr/>
        </p:nvSpPr>
        <p:spPr bwMode="auto">
          <a:xfrm>
            <a:off x="4440238" y="218440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8" name="Rectangle 11"/>
          <p:cNvSpPr>
            <a:spLocks noChangeArrowheads="1"/>
          </p:cNvSpPr>
          <p:nvPr/>
        </p:nvSpPr>
        <p:spPr bwMode="auto">
          <a:xfrm>
            <a:off x="3640138" y="3662363"/>
            <a:ext cx="172561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7500" tIns="0" rIns="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if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&gt;= </a:t>
            </a:r>
            <a:r>
              <a:rPr lang="en-US" altLang="zh-CN" i="1" dirty="0">
                <a:latin typeface="Times New Roman" pitchFamily="18" charset="0"/>
              </a:rPr>
              <a:t>j </a:t>
            </a:r>
            <a:r>
              <a:rPr lang="en-US" altLang="zh-CN" i="1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</a:p>
        </p:txBody>
      </p:sp>
      <p:sp>
        <p:nvSpPr>
          <p:cNvPr id="36877" name="Line 12"/>
          <p:cNvSpPr>
            <a:spLocks noChangeShapeType="1"/>
          </p:cNvSpPr>
          <p:nvPr/>
        </p:nvSpPr>
        <p:spPr bwMode="auto">
          <a:xfrm>
            <a:off x="4440238" y="3332163"/>
            <a:ext cx="0" cy="319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5446713" y="3567113"/>
            <a:ext cx="625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4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6879" name="Rectangle 15"/>
          <p:cNvSpPr>
            <a:spLocks noChangeArrowheads="1"/>
          </p:cNvSpPr>
          <p:nvPr/>
        </p:nvSpPr>
        <p:spPr bwMode="auto">
          <a:xfrm>
            <a:off x="5443538" y="2408238"/>
            <a:ext cx="6286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3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6880" name="Rectangle 16"/>
          <p:cNvSpPr>
            <a:spLocks noChangeArrowheads="1"/>
          </p:cNvSpPr>
          <p:nvPr/>
        </p:nvSpPr>
        <p:spPr bwMode="auto">
          <a:xfrm>
            <a:off x="1071563" y="2284413"/>
            <a:ext cx="51435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5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6881" name="Line 18"/>
          <p:cNvSpPr>
            <a:spLocks noChangeShapeType="1"/>
          </p:cNvSpPr>
          <p:nvPr/>
        </p:nvSpPr>
        <p:spPr bwMode="auto">
          <a:xfrm flipH="1">
            <a:off x="2754313" y="3967163"/>
            <a:ext cx="1503362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6882" name="Line 19"/>
          <p:cNvSpPr>
            <a:spLocks noChangeShapeType="1"/>
          </p:cNvSpPr>
          <p:nvPr/>
        </p:nvSpPr>
        <p:spPr bwMode="auto">
          <a:xfrm>
            <a:off x="4640263" y="3967163"/>
            <a:ext cx="1487487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6884" name="Freeform 21"/>
          <p:cNvSpPr>
            <a:spLocks/>
          </p:cNvSpPr>
          <p:nvPr/>
        </p:nvSpPr>
        <p:spPr bwMode="auto">
          <a:xfrm rot="367755">
            <a:off x="2914650" y="1184275"/>
            <a:ext cx="768350" cy="1096963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6885" name="Freeform 22"/>
          <p:cNvSpPr>
            <a:spLocks/>
          </p:cNvSpPr>
          <p:nvPr/>
        </p:nvSpPr>
        <p:spPr bwMode="auto">
          <a:xfrm rot="190181">
            <a:off x="2922588" y="2346325"/>
            <a:ext cx="754062" cy="1106488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2" name="Rectangle 35"/>
          <p:cNvSpPr>
            <a:spLocks noChangeArrowheads="1"/>
          </p:cNvSpPr>
          <p:nvPr/>
        </p:nvSpPr>
        <p:spPr bwMode="auto">
          <a:xfrm>
            <a:off x="6192838" y="2424113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11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11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12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13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13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15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15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1493838" y="221138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954213" y="30765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954213" y="41560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1182688" y="3363913"/>
            <a:ext cx="850900" cy="79216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任意多边形 37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组合 5"/>
          <p:cNvGrpSpPr>
            <a:grpSpLocks/>
          </p:cNvGrpSpPr>
          <p:nvPr/>
        </p:nvGrpSpPr>
        <p:grpSpPr bwMode="auto">
          <a:xfrm>
            <a:off x="50800" y="3000375"/>
            <a:ext cx="2144713" cy="646113"/>
            <a:chOff x="50243" y="3359705"/>
            <a:chExt cx="2145493" cy="646331"/>
          </a:xfrm>
        </p:grpSpPr>
        <p:sp>
          <p:nvSpPr>
            <p:cNvPr id="4" name="矩形 3"/>
            <p:cNvSpPr/>
            <p:nvPr/>
          </p:nvSpPr>
          <p:spPr>
            <a:xfrm>
              <a:off x="50243" y="3359705"/>
              <a:ext cx="1137063" cy="64633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局部公共子表达式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 flipV="1">
              <a:off x="1192071" y="3435931"/>
              <a:ext cx="1003665" cy="24455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uild="allAtOnce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/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66" name="Rectangle 33"/>
          <p:cNvSpPr>
            <a:spLocks noChangeArrowheads="1"/>
          </p:cNvSpPr>
          <p:nvPr/>
        </p:nvSpPr>
        <p:spPr bwMode="auto">
          <a:xfrm>
            <a:off x="6127750" y="187325"/>
            <a:ext cx="1189038" cy="1889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grpSp>
        <p:nvGrpSpPr>
          <p:cNvPr id="38916" name="组合 49"/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28" name="Rectangle 5"/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8922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8923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8"/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8925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926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8928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929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8930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8931" name="Rectangle 16"/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8932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933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934" name="Rectangle 20"/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8935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936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" name="Rectangle 35"/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38917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8918" name="Rectangle 24"/>
          <p:cNvSpPr>
            <a:spLocks noChangeArrowheads="1"/>
          </p:cNvSpPr>
          <p:nvPr/>
        </p:nvSpPr>
        <p:spPr bwMode="auto">
          <a:xfrm>
            <a:off x="1493838" y="221138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89" name="Rectangle 25"/>
          <p:cNvSpPr>
            <a:spLocks noChangeArrowheads="1"/>
          </p:cNvSpPr>
          <p:nvPr/>
        </p:nvSpPr>
        <p:spPr bwMode="auto">
          <a:xfrm>
            <a:off x="6137275" y="195263"/>
            <a:ext cx="1243013" cy="1458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27" name="Rectangle 33"/>
          <p:cNvSpPr>
            <a:spLocks noChangeArrowheads="1"/>
          </p:cNvSpPr>
          <p:nvPr/>
        </p:nvSpPr>
        <p:spPr bwMode="auto">
          <a:xfrm>
            <a:off x="1547813" y="225901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grpSp>
        <p:nvGrpSpPr>
          <p:cNvPr id="40964" name="组合 49"/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0976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0977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8"/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0979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80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" name="Rectangle 11"/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0982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83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0984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0985" name="Rectangle 16"/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0986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87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88" name="Rectangle 20"/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0989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90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" name="Rectangle 35"/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40965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274478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40966" name="Rectangle 24"/>
          <p:cNvSpPr>
            <a:spLocks noChangeArrowheads="1"/>
          </p:cNvSpPr>
          <p:nvPr/>
        </p:nvSpPr>
        <p:spPr bwMode="auto">
          <a:xfrm>
            <a:off x="1493838" y="220503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954213" y="24923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任意多边形 31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" name="组合 33"/>
          <p:cNvGrpSpPr>
            <a:grpSpLocks/>
          </p:cNvGrpSpPr>
          <p:nvPr/>
        </p:nvGrpSpPr>
        <p:grpSpPr bwMode="auto">
          <a:xfrm>
            <a:off x="50800" y="2503488"/>
            <a:ext cx="2144713" cy="714375"/>
            <a:chOff x="50243" y="3435846"/>
            <a:chExt cx="2145493" cy="714206"/>
          </a:xfrm>
        </p:grpSpPr>
        <p:sp>
          <p:nvSpPr>
            <p:cNvPr id="35" name="矩形 34"/>
            <p:cNvSpPr/>
            <p:nvPr/>
          </p:nvSpPr>
          <p:spPr>
            <a:xfrm>
              <a:off x="50243" y="3504092"/>
              <a:ext cx="1137063" cy="64596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全局公共子表达式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 flipV="1">
              <a:off x="1192071" y="3435846"/>
              <a:ext cx="1003665" cy="24441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直接连接符 37"/>
          <p:cNvCxnSpPr/>
          <p:nvPr/>
        </p:nvCxnSpPr>
        <p:spPr>
          <a:xfrm>
            <a:off x="1979613" y="30765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187450" y="2747963"/>
            <a:ext cx="1152525" cy="32861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0728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0728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728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0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0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7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07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07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07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07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07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07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07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07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07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07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07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89" grpId="0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3"/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6137275" y="195263"/>
            <a:ext cx="1243013" cy="1458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grpSp>
        <p:nvGrpSpPr>
          <p:cNvPr id="43013" name="组合 49"/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3018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3019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3021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3022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3024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3025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3026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3027" name="Rectangle 16"/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3028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3029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3030" name="Rectangle 20"/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3031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3032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0" name="Rectangle 35"/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26" name="任意多边形 25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015" name="Rectangle 24"/>
          <p:cNvSpPr>
            <a:spLocks noChangeArrowheads="1"/>
          </p:cNvSpPr>
          <p:nvPr/>
        </p:nvSpPr>
        <p:spPr bwMode="auto">
          <a:xfrm>
            <a:off x="1493838" y="220503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4" name="Rectangle 24"/>
          <p:cNvSpPr>
            <a:spLocks noChangeArrowheads="1"/>
          </p:cNvSpPr>
          <p:nvPr/>
        </p:nvSpPr>
        <p:spPr bwMode="auto">
          <a:xfrm>
            <a:off x="6215063" y="842963"/>
            <a:ext cx="1241425" cy="1133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45061" name="组合 49"/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5068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5069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5071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072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5074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075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5076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5077" name="Rectangle 16"/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5078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079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080" name="Rectangle 20"/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5081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082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" name="Rectangle 35"/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26" name="任意多边形 25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5063" name="Rectangle 24"/>
          <p:cNvSpPr>
            <a:spLocks noChangeArrowheads="1"/>
          </p:cNvSpPr>
          <p:nvPr/>
        </p:nvSpPr>
        <p:spPr bwMode="auto">
          <a:xfrm>
            <a:off x="1493838" y="220503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1954213" y="2571750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1979613" y="2787650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1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1138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1138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113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11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11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11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11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11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1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11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11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11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4" grpId="0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6215063" y="842963"/>
            <a:ext cx="1241425" cy="1133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11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11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12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13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13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15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15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</p:txBody>
      </p:sp>
      <p:sp>
        <p:nvSpPr>
          <p:cNvPr id="45" name="Rectangle 33"/>
          <p:cNvSpPr>
            <a:spLocks noChangeArrowheads="1"/>
          </p:cNvSpPr>
          <p:nvPr/>
        </p:nvSpPr>
        <p:spPr bwMode="auto">
          <a:xfrm>
            <a:off x="1547813" y="225901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5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7109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47110" name="组合 49"/>
          <p:cNvGrpSpPr>
            <a:grpSpLocks/>
          </p:cNvGrpSpPr>
          <p:nvPr/>
        </p:nvGrpSpPr>
        <p:grpSpPr bwMode="auto">
          <a:xfrm>
            <a:off x="1071563" y="195263"/>
            <a:ext cx="6719887" cy="4065587"/>
            <a:chOff x="1071538" y="195263"/>
            <a:chExt cx="6719912" cy="4065587"/>
          </a:xfrm>
        </p:grpSpPr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3625835" y="212725"/>
              <a:ext cx="1693869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3622659" y="1350963"/>
              <a:ext cx="1711331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7115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7116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640123" y="2500313"/>
              <a:ext cx="1711331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7118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119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" name="Rectangle 11"/>
            <p:cNvSpPr>
              <a:spLocks noChangeArrowheads="1"/>
            </p:cNvSpPr>
            <p:nvPr/>
          </p:nvSpPr>
          <p:spPr bwMode="auto">
            <a:xfrm>
              <a:off x="3640123" y="3662363"/>
              <a:ext cx="1725618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7121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122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7123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7124" name="Rectangle 16"/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7125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126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127" name="Rectangle 20"/>
            <p:cNvSpPr>
              <a:spLocks noChangeArrowheads="1"/>
            </p:cNvSpPr>
            <p:nvPr/>
          </p:nvSpPr>
          <p:spPr bwMode="auto">
            <a:xfrm>
              <a:off x="7164388" y="2067694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7128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129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7" name="任意多边形 26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493838" y="220503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5"/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5" name="Rectangle 33"/>
          <p:cNvSpPr>
            <a:spLocks noChangeArrowheads="1"/>
          </p:cNvSpPr>
          <p:nvPr/>
        </p:nvSpPr>
        <p:spPr bwMode="auto">
          <a:xfrm>
            <a:off x="1547813" y="2257425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49157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49158" name="组合 49"/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164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65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167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68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" name="Rectangle 11"/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170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71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72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73" name="Rectangle 16"/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74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75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76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77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7" name="任意多边形 26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6192838" y="700088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9161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/>
      <p:bldP spid="33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5"/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5" name="Rectangle 33"/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51205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51206" name="组合 49"/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1212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3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1215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16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" name="Rectangle 11"/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1218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19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0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1" name="Rectangle 16"/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2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23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24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25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7" name="任意多边形 26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6192838" y="700088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51209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9" name="Rectangle 27"/>
          <p:cNvSpPr>
            <a:spLocks noChangeArrowheads="1"/>
          </p:cNvSpPr>
          <p:nvPr/>
        </p:nvSpPr>
        <p:spPr bwMode="auto">
          <a:xfrm>
            <a:off x="2903538" y="4286250"/>
            <a:ext cx="3114675" cy="8080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把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[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1600" i="1" baseline="-30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作为公共子表达式是</a:t>
            </a:r>
            <a:r>
              <a:rPr lang="zh-CN" altLang="en-US" sz="1600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不稳妥的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，因为控制离开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16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1600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进入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16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6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之前可能进入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16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，而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16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有对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的赋值</a:t>
            </a: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3253" name="Rectangle 25"/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5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grpSp>
        <p:nvGrpSpPr>
          <p:cNvPr id="53255" name="组合 49"/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3266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67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3269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70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3272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73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74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75" name="Rectangle 16"/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76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77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78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79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" name="组合 28"/>
          <p:cNvGrpSpPr>
            <a:grpSpLocks/>
          </p:cNvGrpSpPr>
          <p:nvPr/>
        </p:nvGrpSpPr>
        <p:grpSpPr bwMode="auto">
          <a:xfrm>
            <a:off x="7204075" y="2763838"/>
            <a:ext cx="1631950" cy="744537"/>
            <a:chOff x="-445248" y="3405615"/>
            <a:chExt cx="1632554" cy="744437"/>
          </a:xfrm>
        </p:grpSpPr>
        <p:sp>
          <p:nvSpPr>
            <p:cNvPr id="31" name="矩形 30"/>
            <p:cNvSpPr/>
            <p:nvPr/>
          </p:nvSpPr>
          <p:spPr>
            <a:xfrm>
              <a:off x="50235" y="3504027"/>
              <a:ext cx="1137071" cy="64602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全局公共子表达式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 flipH="1" flipV="1">
              <a:off x="-445248" y="3405615"/>
              <a:ext cx="485955" cy="217458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接连接符 34"/>
          <p:cNvCxnSpPr/>
          <p:nvPr/>
        </p:nvCxnSpPr>
        <p:spPr>
          <a:xfrm>
            <a:off x="6602413" y="2763838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6588125" y="3032125"/>
            <a:ext cx="601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utoShape 26"/>
          <p:cNvSpPr>
            <a:spLocks noChangeArrowheads="1"/>
          </p:cNvSpPr>
          <p:nvPr/>
        </p:nvSpPr>
        <p:spPr bwMode="auto">
          <a:xfrm>
            <a:off x="5853113" y="804863"/>
            <a:ext cx="2397125" cy="865187"/>
          </a:xfrm>
          <a:prstGeom prst="cloudCallout">
            <a:avLst>
              <a:gd name="adj1" fmla="val 4101"/>
              <a:gd name="adj2" fmla="val 191477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en-US" altLang="zh-CN" i="1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[</a:t>
            </a:r>
            <a:r>
              <a:rPr lang="en-US" altLang="zh-CN" i="1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]</a:t>
            </a:r>
            <a:r>
              <a:rPr lang="zh-CN" altLang="en-US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能否作为公共子表达式？</a:t>
            </a:r>
          </a:p>
          <a:p>
            <a:pPr eaLnBrk="1" hangingPunct="1">
              <a:defRPr/>
            </a:pPr>
            <a:endParaRPr lang="zh-CN" altLang="en-US" sz="1100" b="0" dirty="0"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3261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48" grpId="0" animBg="1"/>
      <p:bldP spid="4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55299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5300" name="Rectangle 25"/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55302" name="组合 49"/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5308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09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5311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12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5314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15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6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7" name="Rectangle 16"/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8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19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20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21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6192838" y="700088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55305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57347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7348" name="Rectangle 25"/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57350" name="组合 49"/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7356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7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7359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0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7362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3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4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5" name="Rectangle 16"/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6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7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8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9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6192838" y="700088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57353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59395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9396" name="Rectangle 25"/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59398" name="组合 49"/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9404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05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9407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08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9410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11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2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3" name="Rectangle 16"/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4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15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16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17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AutoShape 26"/>
          <p:cNvSpPr>
            <a:spLocks noChangeArrowheads="1"/>
          </p:cNvSpPr>
          <p:nvPr/>
        </p:nvSpPr>
        <p:spPr bwMode="auto">
          <a:xfrm>
            <a:off x="5664200" y="407988"/>
            <a:ext cx="2540000" cy="1233487"/>
          </a:xfrm>
          <a:prstGeom prst="cloudCallout">
            <a:avLst>
              <a:gd name="adj1" fmla="val -45562"/>
              <a:gd name="adj2" fmla="val 90350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关键问题：</a:t>
            </a:r>
            <a:endParaRPr lang="en-US" altLang="zh-CN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如何自动识别公共子表达式</a:t>
            </a:r>
            <a:endParaRPr lang="en-US" altLang="zh-CN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59401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600" y="1492250"/>
            <a:ext cx="597535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665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00063" y="714375"/>
            <a:ext cx="8393112" cy="32258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10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复制传播</a:t>
            </a:r>
            <a:endParaRPr lang="zh-CN" altLang="en-US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常用的</a:t>
            </a:r>
            <a:r>
              <a:rPr lang="zh-CN" altLang="en-US" sz="2400" b="1" dirty="0">
                <a:solidFill>
                  <a:srgbClr val="2D83F4"/>
                </a:solidFill>
              </a:rPr>
              <a:t>公共子表达式消除算法</a:t>
            </a:r>
            <a:r>
              <a:rPr lang="zh-CN" altLang="en-US" sz="2400" b="1" dirty="0">
                <a:solidFill>
                  <a:schemeClr val="tx1"/>
                </a:solidFill>
              </a:rPr>
              <a:t>和其它一些优化算法会引入一些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复制语句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形如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的赋值语句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2" eaLnBrk="1" hangingPunct="1">
              <a:buClrTx/>
              <a:buFont typeface="Wingdings" panose="05000000000000000000" pitchFamily="2" charset="2"/>
              <a:buChar char="Ø"/>
              <a:defRPr/>
            </a:pPr>
            <a:endParaRPr lang="zh-CN" altLang="en-US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endParaRPr lang="zh-CN" altLang="en-US" b="1" dirty="0"/>
          </a:p>
        </p:txBody>
      </p:sp>
      <p:sp>
        <p:nvSpPr>
          <p:cNvPr id="65540" name="Rectangle 5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 删除无用代码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6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6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6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6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143125" y="2427288"/>
            <a:ext cx="1901825" cy="1357312"/>
            <a:chOff x="2143125" y="2427288"/>
            <a:chExt cx="1901825" cy="1357312"/>
          </a:xfrm>
        </p:grpSpPr>
        <p:sp>
          <p:nvSpPr>
            <p:cNvPr id="487429" name="Rectangle 5"/>
            <p:cNvSpPr>
              <a:spLocks noChangeArrowheads="1"/>
            </p:cNvSpPr>
            <p:nvPr/>
          </p:nvSpPr>
          <p:spPr bwMode="auto">
            <a:xfrm>
              <a:off x="2786063" y="2463800"/>
              <a:ext cx="1258887" cy="132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 err="1">
                  <a:solidFill>
                    <a:srgbClr val="000000"/>
                  </a:solidFill>
                  <a:latin typeface="Times New Roman" pitchFamily="18" charset="0"/>
                </a:rPr>
                <a:t>goto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7598" name="Rectangle 7"/>
            <p:cNvSpPr>
              <a:spLocks noChangeArrowheads="1"/>
            </p:cNvSpPr>
            <p:nvPr/>
          </p:nvSpPr>
          <p:spPr bwMode="auto">
            <a:xfrm>
              <a:off x="2143125" y="2427288"/>
              <a:ext cx="449263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组合 4"/>
          <p:cNvGrpSpPr>
            <a:grpSpLocks/>
          </p:cNvGrpSpPr>
          <p:nvPr/>
        </p:nvGrpSpPr>
        <p:grpSpPr bwMode="auto">
          <a:xfrm>
            <a:off x="4125913" y="2463800"/>
            <a:ext cx="1874837" cy="1285875"/>
            <a:chOff x="4125913" y="2463800"/>
            <a:chExt cx="1874837" cy="1285875"/>
          </a:xfrm>
        </p:grpSpPr>
        <p:sp>
          <p:nvSpPr>
            <p:cNvPr id="487428" name="Rectangle 4"/>
            <p:cNvSpPr>
              <a:spLocks noChangeArrowheads="1"/>
            </p:cNvSpPr>
            <p:nvPr/>
          </p:nvSpPr>
          <p:spPr bwMode="auto">
            <a:xfrm>
              <a:off x="4773613" y="2463800"/>
              <a:ext cx="1227137" cy="12858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 err="1">
                  <a:solidFill>
                    <a:srgbClr val="000000"/>
                  </a:solidFill>
                  <a:latin typeface="Times New Roman" pitchFamily="18" charset="0"/>
                </a:rPr>
                <a:t>goto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87432" name="AutoShape 8"/>
            <p:cNvSpPr>
              <a:spLocks noChangeArrowheads="1"/>
            </p:cNvSpPr>
            <p:nvPr/>
          </p:nvSpPr>
          <p:spPr bwMode="auto">
            <a:xfrm>
              <a:off x="4125913" y="2944813"/>
              <a:ext cx="593725" cy="268287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ea typeface="楷体_GB2312"/>
                <a:cs typeface="楷体_GB2312"/>
              </a:endParaRPr>
            </a:p>
          </p:txBody>
        </p:sp>
      </p:grpSp>
      <p:sp>
        <p:nvSpPr>
          <p:cNvPr id="67588" name="Rectangle 5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 删除无用代码</a:t>
            </a:r>
          </a:p>
        </p:txBody>
      </p:sp>
      <p:sp>
        <p:nvSpPr>
          <p:cNvPr id="66568" name="Rectangle 2"/>
          <p:cNvSpPr txBox="1">
            <a:spLocks noChangeArrowheads="1"/>
          </p:cNvSpPr>
          <p:nvPr/>
        </p:nvSpPr>
        <p:spPr bwMode="auto">
          <a:xfrm>
            <a:off x="500063" y="714375"/>
            <a:ext cx="8393112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407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复制传播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常用的</a:t>
            </a:r>
            <a:r>
              <a:rPr lang="zh-CN" altLang="en-US" sz="240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公共子表达式消除算法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和其它一些优化算法会引入一些</a:t>
            </a:r>
            <a:r>
              <a:rPr lang="zh-CN" altLang="en-US" sz="240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复制语句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形如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的赋值语句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  <a:p>
            <a:pPr lvl="1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复制传播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：在复制语句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之后尽可能地用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代替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</a:p>
        </p:txBody>
      </p:sp>
      <p:grpSp>
        <p:nvGrpSpPr>
          <p:cNvPr id="4" name="组合 2"/>
          <p:cNvGrpSpPr>
            <a:grpSpLocks/>
          </p:cNvGrpSpPr>
          <p:nvPr/>
        </p:nvGrpSpPr>
        <p:grpSpPr bwMode="auto">
          <a:xfrm>
            <a:off x="2124075" y="3867150"/>
            <a:ext cx="3960813" cy="1222375"/>
            <a:chOff x="2123728" y="3867894"/>
            <a:chExt cx="3960440" cy="1221407"/>
          </a:xfrm>
        </p:grpSpPr>
        <p:sp>
          <p:nvSpPr>
            <p:cNvPr id="9" name="Rectangle 35"/>
            <p:cNvSpPr>
              <a:spLocks noChangeArrowheads="1"/>
            </p:cNvSpPr>
            <p:nvPr/>
          </p:nvSpPr>
          <p:spPr bwMode="auto">
            <a:xfrm>
              <a:off x="2761843" y="3867894"/>
              <a:ext cx="1307977" cy="122140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endParaRPr lang="en-US" altLang="zh-CN" sz="2000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endParaRPr lang="en-US" altLang="zh-CN" sz="2000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67592" name="Rectangle 7"/>
            <p:cNvSpPr>
              <a:spLocks noChangeArrowheads="1"/>
            </p:cNvSpPr>
            <p:nvPr/>
          </p:nvSpPr>
          <p:spPr bwMode="auto">
            <a:xfrm>
              <a:off x="2123728" y="3867894"/>
              <a:ext cx="449263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35"/>
            <p:cNvSpPr>
              <a:spLocks noChangeArrowheads="1"/>
            </p:cNvSpPr>
            <p:nvPr/>
          </p:nvSpPr>
          <p:spPr bwMode="auto">
            <a:xfrm>
              <a:off x="4776191" y="3867894"/>
              <a:ext cx="1307977" cy="122140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endParaRPr lang="en-US" altLang="zh-CN" sz="2000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endParaRPr lang="en-US" altLang="zh-CN" sz="2000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>
              <a:off x="4139663" y="4319974"/>
              <a:ext cx="593669" cy="268075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ea typeface="楷体_GB2312"/>
                <a:cs typeface="楷体_GB231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1650" y="1428750"/>
            <a:ext cx="785653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10000"/>
              </a:spcBef>
            </a:pPr>
            <a:endParaRPr lang="zh-CN" altLang="en-US" sz="1800" b="1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b="1"/>
          </a:p>
        </p:txBody>
      </p:sp>
      <p:sp>
        <p:nvSpPr>
          <p:cNvPr id="69635" name="Rectangle 5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 删除无用代码</a:t>
            </a:r>
          </a:p>
        </p:txBody>
      </p:sp>
      <p:sp>
        <p:nvSpPr>
          <p:cNvPr id="66568" name="Rectangle 2"/>
          <p:cNvSpPr txBox="1">
            <a:spLocks noChangeArrowheads="1"/>
          </p:cNvSpPr>
          <p:nvPr/>
        </p:nvSpPr>
        <p:spPr bwMode="auto">
          <a:xfrm>
            <a:off x="500063" y="714375"/>
            <a:ext cx="8393112" cy="1785938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复制传播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常用的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公共子表达式消除算法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和其它一些优化算法会引入一些</a:t>
            </a:r>
            <a:r>
              <a:rPr lang="zh-CN" altLang="en-US" sz="24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复制语句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形如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的赋值语句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复制传播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：在复制语句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之后尽可能地用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代替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lvl="2" indent="-227013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复制传播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给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删除无用代码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带来机会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无用代码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死代码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Dead-Code</a:t>
            </a:r>
            <a:r>
              <a:rPr lang="en-US" altLang="zh-CN" sz="2400" b="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en-US" altLang="zh-CN" sz="2400" b="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：其计算结果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永远不会被使用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1" hangingPunct="1">
              <a:spcBef>
                <a:spcPct val="10000"/>
              </a:spcBef>
              <a:buSzPct val="100000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语句</a:t>
            </a:r>
          </a:p>
          <a:p>
            <a:pPr lvl="1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/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71683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1547813" y="22907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71685" name="组合 49"/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71694" name="Rectangle 6"/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695" name="Rectangle 7"/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71697" name="Line 9"/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1698" name="Line 10"/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71700" name="Line 12"/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1701" name="Rectangle 14"/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02" name="Rectangle 15"/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03" name="Rectangle 16"/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04" name="Line 18"/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1705" name="Line 19"/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1706" name="Freeform 21"/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1707" name="Freeform 22"/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1687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568450" y="1214438"/>
            <a:ext cx="1111250" cy="9302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US" altLang="zh-CN" sz="2000" i="1" dirty="0">
              <a:solidFill>
                <a:srgbClr val="00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] </a:t>
            </a:r>
            <a:r>
              <a:rPr lang="en-US" altLang="zh-CN" sz="2000" dirty="0">
                <a:latin typeface="Times New Roman" pitchFamily="18" charset="0"/>
              </a:rPr>
              <a:t>= </a:t>
            </a:r>
            <a:r>
              <a:rPr lang="en-US" altLang="zh-CN" sz="2000" i="1" dirty="0"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3</a:t>
            </a:r>
            <a:endParaRPr lang="en-US" altLang="zh-CN" sz="2000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Times New Roman" pitchFamily="18" charset="0"/>
              </a:rPr>
              <a:t>goto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1" name="Rectangle 35"/>
          <p:cNvSpPr>
            <a:spLocks noChangeArrowheads="1"/>
          </p:cNvSpPr>
          <p:nvPr/>
        </p:nvSpPr>
        <p:spPr bwMode="auto">
          <a:xfrm>
            <a:off x="6151563" y="1111250"/>
            <a:ext cx="1308100" cy="9064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sz="2000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3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2000250" y="4357688"/>
            <a:ext cx="5329238" cy="684212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程序员不大可能有意引入无用代码，无用代码通常是因为前面执行过的某些转换而造成的</a:t>
            </a:r>
          </a:p>
        </p:txBody>
      </p:sp>
      <p:sp>
        <p:nvSpPr>
          <p:cNvPr id="35" name="云形标注 34"/>
          <p:cNvSpPr>
            <a:spLocks noChangeArrowheads="1"/>
          </p:cNvSpPr>
          <p:nvPr/>
        </p:nvSpPr>
        <p:spPr bwMode="auto">
          <a:xfrm>
            <a:off x="5870575" y="38100"/>
            <a:ext cx="2786063" cy="998538"/>
          </a:xfrm>
          <a:prstGeom prst="cloudCallout">
            <a:avLst>
              <a:gd name="adj1" fmla="val -64717"/>
              <a:gd name="adj2" fmla="val 62804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如何自动识别无用代码？</a:t>
            </a:r>
            <a:endParaRPr lang="en-US" altLang="zh-CN" sz="2000" dirty="0">
              <a:solidFill>
                <a:schemeClr val="bg1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2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33"/>
          <p:cNvSpPr>
            <a:spLocks noChangeArrowheads="1"/>
          </p:cNvSpPr>
          <p:nvPr/>
        </p:nvSpPr>
        <p:spPr bwMode="auto">
          <a:xfrm>
            <a:off x="1544638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10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10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73731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3625850" y="212725"/>
            <a:ext cx="1693863" cy="814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m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3622675" y="1350963"/>
            <a:ext cx="1711325" cy="814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+ 1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 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&lt;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5446713" y="195263"/>
            <a:ext cx="3937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5" name="Rectangle 7"/>
          <p:cNvSpPr>
            <a:spLocks noChangeArrowheads="1"/>
          </p:cNvSpPr>
          <p:nvPr/>
        </p:nvSpPr>
        <p:spPr bwMode="auto">
          <a:xfrm>
            <a:off x="5429250" y="1258888"/>
            <a:ext cx="627063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Rectangle 8"/>
          <p:cNvSpPr>
            <a:spLocks noChangeArrowheads="1"/>
          </p:cNvSpPr>
          <p:nvPr/>
        </p:nvSpPr>
        <p:spPr bwMode="auto">
          <a:xfrm>
            <a:off x="3640138" y="2500313"/>
            <a:ext cx="1711325" cy="81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&gt;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3737" name="Line 9"/>
          <p:cNvSpPr>
            <a:spLocks noChangeShapeType="1"/>
          </p:cNvSpPr>
          <p:nvPr/>
        </p:nvSpPr>
        <p:spPr bwMode="auto">
          <a:xfrm>
            <a:off x="4457700" y="103505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3738" name="Line 10"/>
          <p:cNvSpPr>
            <a:spLocks noChangeShapeType="1"/>
          </p:cNvSpPr>
          <p:nvPr/>
        </p:nvSpPr>
        <p:spPr bwMode="auto">
          <a:xfrm>
            <a:off x="4440238" y="218440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8" name="Rectangle 11"/>
          <p:cNvSpPr>
            <a:spLocks noChangeArrowheads="1"/>
          </p:cNvSpPr>
          <p:nvPr/>
        </p:nvSpPr>
        <p:spPr bwMode="auto">
          <a:xfrm>
            <a:off x="3640138" y="3662363"/>
            <a:ext cx="172561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7500" tIns="0" rIns="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&gt;=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3740" name="Line 12"/>
          <p:cNvSpPr>
            <a:spLocks noChangeShapeType="1"/>
          </p:cNvSpPr>
          <p:nvPr/>
        </p:nvSpPr>
        <p:spPr bwMode="auto">
          <a:xfrm>
            <a:off x="4440238" y="3332163"/>
            <a:ext cx="0" cy="319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3741" name="Rectangle 14"/>
          <p:cNvSpPr>
            <a:spLocks noChangeArrowheads="1"/>
          </p:cNvSpPr>
          <p:nvPr/>
        </p:nvSpPr>
        <p:spPr bwMode="auto">
          <a:xfrm>
            <a:off x="5446713" y="3567113"/>
            <a:ext cx="625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2" name="Rectangle 15"/>
          <p:cNvSpPr>
            <a:spLocks noChangeArrowheads="1"/>
          </p:cNvSpPr>
          <p:nvPr/>
        </p:nvSpPr>
        <p:spPr bwMode="auto">
          <a:xfrm>
            <a:off x="5443538" y="2408238"/>
            <a:ext cx="6286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3" name="Rectangle 16"/>
          <p:cNvSpPr>
            <a:spLocks noChangeArrowheads="1"/>
          </p:cNvSpPr>
          <p:nvPr/>
        </p:nvSpPr>
        <p:spPr bwMode="auto">
          <a:xfrm>
            <a:off x="1071563" y="2284413"/>
            <a:ext cx="51435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4" name="Line 18"/>
          <p:cNvSpPr>
            <a:spLocks noChangeShapeType="1"/>
          </p:cNvSpPr>
          <p:nvPr/>
        </p:nvSpPr>
        <p:spPr bwMode="auto">
          <a:xfrm flipH="1">
            <a:off x="2754313" y="3967163"/>
            <a:ext cx="1503362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3745" name="Line 19"/>
          <p:cNvSpPr>
            <a:spLocks noChangeShapeType="1"/>
          </p:cNvSpPr>
          <p:nvPr/>
        </p:nvSpPr>
        <p:spPr bwMode="auto">
          <a:xfrm>
            <a:off x="4640263" y="3967163"/>
            <a:ext cx="1487487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3746" name="Rectangle 20"/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7" name="Freeform 21"/>
          <p:cNvSpPr>
            <a:spLocks/>
          </p:cNvSpPr>
          <p:nvPr/>
        </p:nvSpPr>
        <p:spPr bwMode="auto">
          <a:xfrm rot="367755">
            <a:off x="2914650" y="1184275"/>
            <a:ext cx="768350" cy="1096963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3748" name="Freeform 22"/>
          <p:cNvSpPr>
            <a:spLocks/>
          </p:cNvSpPr>
          <p:nvPr/>
        </p:nvSpPr>
        <p:spPr bwMode="auto">
          <a:xfrm rot="190181">
            <a:off x="2922588" y="2346325"/>
            <a:ext cx="754062" cy="1106488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2" name="Rectangle 35"/>
          <p:cNvSpPr>
            <a:spLocks noChangeArrowheads="1"/>
          </p:cNvSpPr>
          <p:nvPr/>
        </p:nvSpPr>
        <p:spPr bwMode="auto">
          <a:xfrm>
            <a:off x="6192838" y="2424113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73750" name="Rectangle 24"/>
          <p:cNvSpPr>
            <a:spLocks noChangeArrowheads="1"/>
          </p:cNvSpPr>
          <p:nvPr/>
        </p:nvSpPr>
        <p:spPr bwMode="auto">
          <a:xfrm>
            <a:off x="1493838" y="221138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1466850" y="1152525"/>
            <a:ext cx="1111250" cy="9302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US" altLang="zh-CN" sz="2000" i="1" dirty="0">
              <a:solidFill>
                <a:srgbClr val="00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] </a:t>
            </a:r>
            <a:r>
              <a:rPr lang="en-US" altLang="zh-CN" sz="2000" dirty="0">
                <a:latin typeface="Times New Roman" pitchFamily="18" charset="0"/>
              </a:rPr>
              <a:t>= </a:t>
            </a:r>
            <a:r>
              <a:rPr lang="en-US" altLang="zh-CN" sz="2000" i="1" dirty="0"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3</a:t>
            </a:r>
            <a:endParaRPr lang="en-US" altLang="zh-CN" sz="2000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Times New Roman" pitchFamily="18" charset="0"/>
              </a:rPr>
              <a:t>goto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6151563" y="1027113"/>
            <a:ext cx="1308100" cy="906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sz="2000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3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73754" name="Rectangle 25"/>
          <p:cNvSpPr>
            <a:spLocks noChangeArrowheads="1"/>
          </p:cNvSpPr>
          <p:nvPr/>
        </p:nvSpPr>
        <p:spPr bwMode="auto">
          <a:xfrm>
            <a:off x="6110288" y="2355850"/>
            <a:ext cx="149066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501650" y="857250"/>
            <a:ext cx="814228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如果在</a:t>
            </a:r>
            <a:r>
              <a:rPr lang="zh-CN" altLang="en-US" sz="2500" b="1">
                <a:solidFill>
                  <a:srgbClr val="2D83F4"/>
                </a:solidFill>
              </a:rPr>
              <a:t>编译时刻</a:t>
            </a:r>
            <a:r>
              <a:rPr lang="zh-CN" altLang="en-US" sz="2500" b="1">
                <a:solidFill>
                  <a:schemeClr val="tx1"/>
                </a:solidFill>
              </a:rPr>
              <a:t>推导出</a:t>
            </a:r>
            <a:r>
              <a:rPr lang="zh-CN" altLang="en-US" sz="2500" b="1">
                <a:solidFill>
                  <a:srgbClr val="2D83F4"/>
                </a:solidFill>
              </a:rPr>
              <a:t>一个表达式的值是常量</a:t>
            </a:r>
            <a:r>
              <a:rPr lang="zh-CN" altLang="en-US" sz="2500" b="1">
                <a:solidFill>
                  <a:schemeClr val="tx1"/>
                </a:solidFill>
              </a:rPr>
              <a:t>，就可以使用该常量来替代这个表达式。该技术被称为</a:t>
            </a:r>
            <a:r>
              <a:rPr lang="zh-CN" altLang="en-US" sz="2500" b="1">
                <a:solidFill>
                  <a:srgbClr val="FF0000"/>
                </a:solidFill>
              </a:rPr>
              <a:t>常量合并</a:t>
            </a:r>
            <a:endParaRPr lang="en-US" altLang="zh-CN" sz="2500" b="1" i="1">
              <a:solidFill>
                <a:srgbClr val="FF0000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例：</a:t>
            </a:r>
            <a:r>
              <a:rPr lang="en-US" altLang="zh-CN" sz="2500" b="1">
                <a:solidFill>
                  <a:schemeClr val="tx1"/>
                </a:solidFill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</a:rPr>
              <a:t>l</a:t>
            </a:r>
            <a:r>
              <a:rPr lang="en-US" altLang="zh-CN" sz="2500" b="1">
                <a:solidFill>
                  <a:schemeClr val="tx1"/>
                </a:solidFill>
              </a:rPr>
              <a:t> = 2*3.14*</a:t>
            </a:r>
            <a:r>
              <a:rPr lang="en-US" altLang="zh-CN" sz="2500" b="1" i="1">
                <a:solidFill>
                  <a:schemeClr val="tx1"/>
                </a:solidFill>
              </a:rPr>
              <a:t>r</a:t>
            </a:r>
          </a:p>
          <a:p>
            <a:pPr eaLnBrk="1" hangingPunct="1"/>
            <a:endParaRPr lang="zh-CN" altLang="en-US" sz="2100"/>
          </a:p>
        </p:txBody>
      </p:sp>
      <p:sp>
        <p:nvSpPr>
          <p:cNvPr id="757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marL="257175" indent="-257175"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常量合并</a:t>
            </a:r>
            <a:r>
              <a:rPr lang="en-US" altLang="zh-CN" sz="25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Constant Folding</a:t>
            </a:r>
            <a:r>
              <a:rPr lang="en-US" altLang="zh-CN" sz="25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50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4895850" y="2700338"/>
            <a:ext cx="2033588" cy="10144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 anchor="ctr"/>
          <a:lstStyle/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1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 = 2 * 3.14</a:t>
            </a:r>
          </a:p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2</a:t>
            </a:r>
            <a:r>
              <a:rPr lang="zh-CN" altLang="en-US" sz="2000" dirty="0"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= 6.28 * </a:t>
            </a: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r</a:t>
            </a:r>
          </a:p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l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 = </a:t>
            </a: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2</a:t>
            </a:r>
            <a:endParaRPr lang="en-US" altLang="zh-CN" sz="2000" i="1" dirty="0"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857375" y="2700338"/>
            <a:ext cx="2000250" cy="10144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 anchor="ctr"/>
          <a:lstStyle/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1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 = 2 * 3.14</a:t>
            </a:r>
          </a:p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2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 =</a:t>
            </a: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 t</a:t>
            </a:r>
            <a:r>
              <a:rPr lang="en-US" altLang="zh-CN" sz="2000" i="1" baseline="-25000" dirty="0">
                <a:latin typeface="Times New Roman" pitchFamily="18" charset="0"/>
              </a:rPr>
              <a:t>1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* </a:t>
            </a: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r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	</a:t>
            </a:r>
          </a:p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l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 = </a:t>
            </a: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2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	</a:t>
            </a:r>
            <a:endParaRPr lang="en-US" altLang="zh-CN" sz="2000" baseline="-25000" dirty="0">
              <a:latin typeface="Times New Roman" pitchFamily="18" charset="0"/>
            </a:endParaRPr>
          </a:p>
        </p:txBody>
      </p:sp>
      <p:sp>
        <p:nvSpPr>
          <p:cNvPr id="6" name="AutoShape 10"/>
          <p:cNvSpPr>
            <a:spLocks noChangeArrowheads="1"/>
          </p:cNvSpPr>
          <p:nvPr/>
        </p:nvSpPr>
        <p:spPr bwMode="auto">
          <a:xfrm>
            <a:off x="4143375" y="3057525"/>
            <a:ext cx="593725" cy="269875"/>
          </a:xfrm>
          <a:prstGeom prst="rightArrow">
            <a:avLst>
              <a:gd name="adj1" fmla="val 50000"/>
              <a:gd name="adj2" fmla="val 55000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 b="0"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930275"/>
            <a:ext cx="84296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代码移动</a:t>
            </a:r>
            <a:endParaRPr lang="en-US" altLang="zh-CN" sz="3000" b="1" i="1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这个转换处理的是那些</a:t>
            </a:r>
            <a:r>
              <a:rPr lang="zh-CN" altLang="en-US" sz="2500" b="1">
                <a:solidFill>
                  <a:srgbClr val="2D83F4"/>
                </a:solidFill>
              </a:rPr>
              <a:t>不管循环执行多少次都得到相同结果的表达式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>
                <a:solidFill>
                  <a:schemeClr val="tx1"/>
                </a:solidFill>
              </a:rPr>
              <a:t>即</a:t>
            </a:r>
            <a:r>
              <a:rPr lang="zh-CN" altLang="en-US" sz="2500" b="1">
                <a:solidFill>
                  <a:srgbClr val="FF0000"/>
                </a:solidFill>
              </a:rPr>
              <a:t>循环不变计算</a:t>
            </a:r>
            <a:r>
              <a:rPr lang="zh-CN" altLang="en-US" sz="2500" b="1">
                <a:solidFill>
                  <a:schemeClr val="tx1"/>
                </a:solidFill>
              </a:rPr>
              <a:t>，</a:t>
            </a:r>
            <a:r>
              <a:rPr lang="en-US" altLang="zh-CN" sz="2000" b="1" i="1">
                <a:solidFill>
                  <a:schemeClr val="tx1"/>
                </a:solidFill>
              </a:rPr>
              <a:t>loop-invariant computation</a:t>
            </a:r>
            <a:r>
              <a:rPr lang="en-US" altLang="zh-CN" sz="2500" b="1">
                <a:solidFill>
                  <a:schemeClr val="tx1"/>
                </a:solidFill>
              </a:rPr>
              <a:t>) </a:t>
            </a:r>
            <a:r>
              <a:rPr lang="zh-CN" altLang="en-US" sz="2500" b="1">
                <a:solidFill>
                  <a:schemeClr val="tx1"/>
                </a:solidFill>
              </a:rPr>
              <a:t>，在进入循环之前就对它们求值</a:t>
            </a:r>
            <a:endParaRPr lang="en-US" altLang="zh-CN" sz="2500" b="1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移动</a:t>
            </a:r>
            <a:r>
              <a:rPr lang="en-US" altLang="zh-CN" sz="25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Code Motion</a:t>
            </a:r>
            <a:r>
              <a:rPr lang="en-US" altLang="zh-CN" sz="25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50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40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4287838" y="627063"/>
            <a:ext cx="4713287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23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>
                <a:solidFill>
                  <a:srgbClr val="3333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en-US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优化后程序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= 1/360*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pi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for( 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=10; 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&lt;360; 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++ )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{	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	printf( “Area is %f ”, </a:t>
            </a:r>
            <a:r>
              <a:rPr lang="en-US" altLang="zh-CN" sz="24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); 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ts val="2500"/>
              </a:lnSpc>
            </a:pPr>
            <a:endParaRPr lang="zh-CN" altLang="en-US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9875" name="Rectangle 5"/>
          <p:cNvSpPr>
            <a:spLocks noChangeArrowheads="1"/>
          </p:cNvSpPr>
          <p:nvPr/>
        </p:nvSpPr>
        <p:spPr bwMode="auto">
          <a:xfrm>
            <a:off x="142875" y="857250"/>
            <a:ext cx="5072063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ts val="24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b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en-US" sz="240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原始程序</a:t>
            </a:r>
          </a:p>
          <a:p>
            <a:pPr lvl="2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for( 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=10; 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&lt;360; 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 )</a:t>
            </a:r>
          </a:p>
          <a:p>
            <a:pPr lvl="2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=1/360*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pi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2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printf( “Area is %f ”, 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); </a:t>
            </a:r>
          </a:p>
          <a:p>
            <a:pPr lvl="2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cxnSp>
        <p:nvCxnSpPr>
          <p:cNvPr id="5" name="直接连接符 4"/>
          <p:cNvCxnSpPr>
            <a:cxnSpLocks noChangeShapeType="1"/>
          </p:cNvCxnSpPr>
          <p:nvPr/>
        </p:nvCxnSpPr>
        <p:spPr bwMode="auto">
          <a:xfrm>
            <a:off x="1403350" y="1995488"/>
            <a:ext cx="172878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55650" y="2932113"/>
            <a:ext cx="4895850" cy="21478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1			(8)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5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*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(2) if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&gt;360 </a:t>
            </a:r>
            <a:r>
              <a:rPr lang="en-US" altLang="zh-CN" sz="18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(21) 	(9)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5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18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(4)	 	 …	…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(4)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1800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1 / 360 		(18)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9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+ 1</a:t>
            </a:r>
          </a:p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(5)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*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pi		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(19)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9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endParaRPr lang="en-US" altLang="zh-CN" sz="18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(6)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*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r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		(20) </a:t>
            </a:r>
            <a:r>
              <a:rPr lang="en-US" altLang="zh-CN" sz="18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(4)</a:t>
            </a:r>
            <a:endParaRPr lang="en-US" altLang="zh-CN" sz="18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(7)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*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r</a:t>
            </a:r>
            <a:r>
              <a:rPr lang="en-US" altLang="zh-CN" sz="1800" b="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Times New Roman" panose="02020603050405020304" pitchFamily="18" charset="0"/>
              </a:rPr>
              <a:t>		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(21)</a:t>
            </a:r>
          </a:p>
        </p:txBody>
      </p:sp>
      <p:sp>
        <p:nvSpPr>
          <p:cNvPr id="9" name="云形标注 8"/>
          <p:cNvSpPr>
            <a:spLocks noChangeArrowheads="1"/>
          </p:cNvSpPr>
          <p:nvPr/>
        </p:nvSpPr>
        <p:spPr bwMode="auto">
          <a:xfrm>
            <a:off x="5599113" y="2862263"/>
            <a:ext cx="3087687" cy="1143000"/>
          </a:xfrm>
          <a:prstGeom prst="cloudCallout">
            <a:avLst>
              <a:gd name="adj1" fmla="val -54865"/>
              <a:gd name="adj2" fmla="val 94994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sz="2200" dirty="0">
                <a:solidFill>
                  <a:prstClr val="white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如何自动识别循环不变计算？</a:t>
            </a:r>
            <a:endParaRPr lang="en-US" altLang="zh-CN" sz="2200" dirty="0">
              <a:solidFill>
                <a:prstClr val="white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2174875" y="1995488"/>
            <a:ext cx="2312988" cy="849312"/>
            <a:chOff x="-32036" y="3000717"/>
            <a:chExt cx="2313245" cy="849352"/>
          </a:xfrm>
        </p:grpSpPr>
        <p:sp>
          <p:nvSpPr>
            <p:cNvPr id="11" name="矩形 10"/>
            <p:cNvSpPr/>
            <p:nvPr/>
          </p:nvSpPr>
          <p:spPr>
            <a:xfrm>
              <a:off x="668130" y="3480165"/>
              <a:ext cx="1613079" cy="36990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循环不变计算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12" name="直接连接符 11"/>
            <p:cNvCxnSpPr>
              <a:stCxn id="11" idx="1"/>
            </p:cNvCxnSpPr>
            <p:nvPr/>
          </p:nvCxnSpPr>
          <p:spPr>
            <a:xfrm flipH="1" flipV="1">
              <a:off x="-32036" y="3000717"/>
              <a:ext cx="700166" cy="665193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3"/>
          <p:cNvGrpSpPr>
            <a:grpSpLocks/>
          </p:cNvGrpSpPr>
          <p:nvPr/>
        </p:nvGrpSpPr>
        <p:grpSpPr bwMode="auto">
          <a:xfrm>
            <a:off x="755650" y="2660650"/>
            <a:ext cx="2119313" cy="2419350"/>
            <a:chOff x="755576" y="2660084"/>
            <a:chExt cx="2119312" cy="2420019"/>
          </a:xfrm>
        </p:grpSpPr>
        <p:sp>
          <p:nvSpPr>
            <p:cNvPr id="3" name="矩形 2"/>
            <p:cNvSpPr/>
            <p:nvPr/>
          </p:nvSpPr>
          <p:spPr>
            <a:xfrm>
              <a:off x="755576" y="3852627"/>
              <a:ext cx="1655762" cy="122747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5" name="直接连接符 14"/>
            <p:cNvCxnSpPr>
              <a:stCxn id="11" idx="1"/>
            </p:cNvCxnSpPr>
            <p:nvPr/>
          </p:nvCxnSpPr>
          <p:spPr bwMode="auto">
            <a:xfrm flipH="1">
              <a:off x="1979538" y="2660084"/>
              <a:ext cx="895350" cy="1176663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5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5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5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5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5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5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5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5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5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5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5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5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9140" grpId="0" build="p"/>
      <p:bldP spid="7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1650" y="1001713"/>
            <a:ext cx="835660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对于多重嵌套的循环，循环不变计算是相对于某个循环而言的。可能对于更加外层的循环，它就不是循环不变计算</a:t>
            </a:r>
            <a:endParaRPr lang="en-US" altLang="zh-CN" sz="2500" b="1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例：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2D83F4"/>
                </a:solidFill>
                <a:ea typeface="楷体_GB2312" pitchFamily="49" charset="-122"/>
                <a:cs typeface="Times New Roman" panose="02020603050405020304" pitchFamily="18" charset="0"/>
              </a:rPr>
              <a:t>	for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1;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&lt;10;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++)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b="1">
                <a:solidFill>
                  <a:srgbClr val="2D83F4"/>
                </a:solidFill>
                <a:ea typeface="楷体_GB2312" pitchFamily="49" charset="-122"/>
                <a:cs typeface="Times New Roman" panose="02020603050405020304" pitchFamily="18" charset="0"/>
              </a:rPr>
              <a:t>for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=1;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&lt;360/(5*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);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++ 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		{  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=(5*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)/360*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pi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; ... }</a:t>
            </a:r>
          </a:p>
          <a:p>
            <a:pPr eaLnBrk="1" hangingPunct="1"/>
            <a:endParaRPr lang="zh-CN" altLang="en-US" sz="2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循环不变计算的相对性</a:t>
            </a:r>
          </a:p>
        </p:txBody>
      </p:sp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2124075" y="3508375"/>
            <a:ext cx="18732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6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501650" y="930275"/>
            <a:ext cx="899953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强度削弱</a:t>
            </a:r>
            <a:endParaRPr lang="en-US" altLang="zh-CN" sz="3000" b="1" i="1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用较</a:t>
            </a:r>
            <a:r>
              <a:rPr lang="zh-CN" altLang="en-US" sz="2500" b="1">
                <a:solidFill>
                  <a:srgbClr val="2D83F4"/>
                </a:solidFill>
              </a:rPr>
              <a:t>快</a:t>
            </a:r>
            <a:r>
              <a:rPr lang="zh-CN" altLang="en-US" sz="2500" b="1">
                <a:solidFill>
                  <a:schemeClr val="tx1"/>
                </a:solidFill>
              </a:rPr>
              <a:t>的操作代替较</a:t>
            </a:r>
            <a:r>
              <a:rPr lang="zh-CN" altLang="en-US" sz="2500" b="1">
                <a:solidFill>
                  <a:srgbClr val="2D83F4"/>
                </a:solidFill>
              </a:rPr>
              <a:t>慢</a:t>
            </a:r>
            <a:r>
              <a:rPr lang="zh-CN" altLang="en-US" sz="2500" b="1">
                <a:solidFill>
                  <a:schemeClr val="tx1"/>
                </a:solidFill>
              </a:rPr>
              <a:t>的操作，如用</a:t>
            </a:r>
            <a:r>
              <a:rPr lang="zh-CN" altLang="en-US" sz="2500" b="1">
                <a:solidFill>
                  <a:srgbClr val="2D83F4"/>
                </a:solidFill>
              </a:rPr>
              <a:t>加</a:t>
            </a:r>
            <a:r>
              <a:rPr lang="zh-CN" altLang="en-US" sz="2500" b="1">
                <a:solidFill>
                  <a:schemeClr val="tx1"/>
                </a:solidFill>
              </a:rPr>
              <a:t>代替</a:t>
            </a:r>
            <a:r>
              <a:rPr lang="zh-CN" altLang="en-US" sz="2500" b="1">
                <a:solidFill>
                  <a:srgbClr val="2D83F4"/>
                </a:solidFill>
              </a:rPr>
              <a:t>乘</a:t>
            </a:r>
            <a:endParaRPr lang="en-US" altLang="zh-CN" sz="2500" b="1" i="1">
              <a:solidFill>
                <a:srgbClr val="2D83F4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例</a:t>
            </a:r>
            <a:endParaRPr lang="en-US" altLang="zh-CN" sz="2500" b="1">
              <a:solidFill>
                <a:schemeClr val="tx1"/>
              </a:solidFill>
            </a:endParaRP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chemeClr val="tx1"/>
                </a:solidFill>
              </a:rPr>
              <a:t>或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2.0*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		</a:t>
            </a:r>
            <a:r>
              <a:rPr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		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/2			</a:t>
            </a:r>
            <a:r>
              <a:rPr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		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*0.5</a:t>
            </a: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 baseline="30000">
                <a:solidFill>
                  <a:schemeClr val="tx1"/>
                </a:solidFill>
                <a:ea typeface="楷体_GB2312" pitchFamily="49" charset="-122"/>
              </a:rPr>
              <a:t>2			</a:t>
            </a:r>
            <a:r>
              <a:rPr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		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*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endParaRPr lang="zh-CN" altLang="en-US" b="1" i="1">
              <a:solidFill>
                <a:schemeClr val="tx1"/>
              </a:solidFill>
              <a:ea typeface="楷体_GB2312" pitchFamily="49" charset="-122"/>
            </a:endParaRP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 i="1" baseline="3000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n-1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 i="1" baseline="30000">
                <a:solidFill>
                  <a:schemeClr val="tx1"/>
                </a:solidFill>
                <a:ea typeface="楷体_GB2312" pitchFamily="49" charset="-122"/>
              </a:rPr>
              <a:t>n-1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+…+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1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x+a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0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	</a:t>
            </a:r>
            <a:r>
              <a:rPr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((…(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n-1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+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n-2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)…)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1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楷体_GB2312" pitchFamily="49" charset="-122"/>
              </a:rPr>
              <a:t>0</a:t>
            </a:r>
            <a:endParaRPr lang="zh-CN" altLang="en-US" b="1" i="1" baseline="-2500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8397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⑤ 强度削弱</a:t>
            </a:r>
            <a:r>
              <a:rPr lang="en-US" altLang="zh-CN" sz="25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Strength</a:t>
            </a:r>
            <a:r>
              <a:rPr lang="zh-CN" altLang="en-US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Reduction</a:t>
            </a:r>
            <a:r>
              <a:rPr lang="en-US" altLang="zh-CN" sz="2500">
                <a:solidFill>
                  <a:schemeClr val="tx1"/>
                </a:solidFill>
              </a:rPr>
              <a:t>)</a:t>
            </a:r>
            <a:endParaRPr lang="zh-CN" altLang="en-US" sz="25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1650" y="930275"/>
            <a:ext cx="807085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归纳变量</a:t>
            </a:r>
            <a:endParaRPr lang="zh-CN" altLang="en-US" sz="30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对于一个变量</a:t>
            </a:r>
            <a:r>
              <a:rPr lang="en-US" altLang="zh-CN" sz="2500" b="1" i="1">
                <a:solidFill>
                  <a:schemeClr val="tx1"/>
                </a:solidFill>
              </a:rPr>
              <a:t>x </a:t>
            </a:r>
            <a:r>
              <a:rPr lang="zh-CN" altLang="en-US" sz="2500" b="1">
                <a:solidFill>
                  <a:schemeClr val="tx1"/>
                </a:solidFill>
              </a:rPr>
              <a:t>，如果存在一个正的或负的</a:t>
            </a:r>
            <a:r>
              <a:rPr lang="zh-CN" altLang="en-US" sz="2500" b="1">
                <a:solidFill>
                  <a:srgbClr val="2D83F4"/>
                </a:solidFill>
              </a:rPr>
              <a:t>常数</a:t>
            </a:r>
            <a:r>
              <a:rPr lang="en-US" altLang="zh-CN" sz="2500" b="1" i="1">
                <a:solidFill>
                  <a:schemeClr val="tx1"/>
                </a:solidFill>
              </a:rPr>
              <a:t>c</a:t>
            </a:r>
            <a:r>
              <a:rPr lang="zh-CN" altLang="en-US" sz="2500" b="1">
                <a:solidFill>
                  <a:schemeClr val="tx1"/>
                </a:solidFill>
              </a:rPr>
              <a:t>使得每次</a:t>
            </a:r>
            <a:r>
              <a:rPr lang="en-US" altLang="zh-CN" sz="2500" b="1" i="1">
                <a:solidFill>
                  <a:schemeClr val="tx1"/>
                </a:solidFill>
              </a:rPr>
              <a:t>x</a:t>
            </a:r>
            <a:r>
              <a:rPr lang="zh-CN" altLang="en-US" sz="2500" b="1">
                <a:solidFill>
                  <a:schemeClr val="tx1"/>
                </a:solidFill>
              </a:rPr>
              <a:t>被赋值时它的值总增加</a:t>
            </a:r>
            <a:r>
              <a:rPr lang="en-US" altLang="zh-CN" sz="2500" b="1" i="1">
                <a:solidFill>
                  <a:schemeClr val="tx1"/>
                </a:solidFill>
              </a:rPr>
              <a:t>c </a:t>
            </a:r>
            <a:r>
              <a:rPr lang="zh-CN" altLang="en-US" sz="2500" b="1">
                <a:solidFill>
                  <a:schemeClr val="tx1"/>
                </a:solidFill>
              </a:rPr>
              <a:t>，那么</a:t>
            </a:r>
            <a:r>
              <a:rPr lang="en-US" altLang="zh-CN" sz="2500" b="1" i="1">
                <a:solidFill>
                  <a:schemeClr val="tx1"/>
                </a:solidFill>
              </a:rPr>
              <a:t>x</a:t>
            </a:r>
            <a:r>
              <a:rPr lang="zh-CN" altLang="en-US" sz="2500" b="1">
                <a:solidFill>
                  <a:schemeClr val="tx1"/>
                </a:solidFill>
              </a:rPr>
              <a:t>就称为</a:t>
            </a:r>
            <a:r>
              <a:rPr lang="zh-CN" altLang="en-US" sz="2500" b="1">
                <a:solidFill>
                  <a:srgbClr val="FF0000"/>
                </a:solidFill>
              </a:rPr>
              <a:t>归纳变量</a:t>
            </a:r>
            <a:r>
              <a:rPr lang="en-US" altLang="zh-CN" sz="2000" b="1">
                <a:solidFill>
                  <a:schemeClr val="tx1"/>
                </a:solidFill>
              </a:rPr>
              <a:t>(</a:t>
            </a:r>
            <a:r>
              <a:rPr lang="en-US" altLang="zh-CN" sz="2000" b="1" i="1">
                <a:solidFill>
                  <a:schemeClr val="tx1"/>
                </a:solidFill>
              </a:rPr>
              <a:t>Induction Variable</a:t>
            </a:r>
            <a:r>
              <a:rPr lang="en-US" altLang="zh-CN" sz="2000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endParaRPr lang="en-US" altLang="zh-CN" sz="2500" b="1">
              <a:solidFill>
                <a:schemeClr val="tx1"/>
              </a:solidFill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循环中的强度削弱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787900" y="1708150"/>
            <a:ext cx="3292475" cy="992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归纳变量可以通过在每次循环迭代中进行一次简单的增量运算</a:t>
            </a:r>
            <a:r>
              <a:rPr lang="en-US" altLang="zh-CN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加法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或</a:t>
            </a: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减法</a:t>
            </a:r>
            <a:r>
              <a:rPr lang="en-US" altLang="zh-CN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来计算</a:t>
            </a:r>
            <a:endParaRPr lang="zh-CN" altLang="en-US" sz="2000" b="0" dirty="0">
              <a:solidFill>
                <a:prstClr val="black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88067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88068" name="组合 24"/>
          <p:cNvGrpSpPr>
            <a:grpSpLocks/>
          </p:cNvGrpSpPr>
          <p:nvPr/>
        </p:nvGrpSpPr>
        <p:grpSpPr bwMode="auto">
          <a:xfrm>
            <a:off x="1403350" y="531813"/>
            <a:ext cx="2863850" cy="4592637"/>
            <a:chOff x="1403648" y="531480"/>
            <a:chExt cx="2863654" cy="4592624"/>
          </a:xfrm>
        </p:grpSpPr>
        <p:sp>
          <p:nvSpPr>
            <p:cNvPr id="88069" name="Freeform 42"/>
            <p:cNvSpPr>
              <a:spLocks/>
            </p:cNvSpPr>
            <p:nvPr/>
          </p:nvSpPr>
          <p:spPr bwMode="auto">
            <a:xfrm>
              <a:off x="1403648" y="1195041"/>
              <a:ext cx="746127" cy="3929063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70" name="Freeform 40"/>
            <p:cNvSpPr>
              <a:spLocks/>
            </p:cNvSpPr>
            <p:nvPr/>
          </p:nvSpPr>
          <p:spPr bwMode="auto">
            <a:xfrm>
              <a:off x="1652683" y="1623666"/>
              <a:ext cx="385763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948124" y="539417"/>
              <a:ext cx="1693746" cy="9985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1940186" y="1777663"/>
              <a:ext cx="1711208" cy="10604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+ 1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 4 * </a:t>
              </a: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charset="0"/>
                <a:ea typeface="宋体" panose="02010600030101010101" pitchFamily="2" charset="-122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88073" name="Rectangle 25"/>
            <p:cNvSpPr>
              <a:spLocks noChangeArrowheads="1"/>
            </p:cNvSpPr>
            <p:nvPr/>
          </p:nvSpPr>
          <p:spPr bwMode="auto">
            <a:xfrm>
              <a:off x="3675611" y="531480"/>
              <a:ext cx="392774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74" name="Rectangle 26"/>
            <p:cNvSpPr>
              <a:spLocks noChangeArrowheads="1"/>
            </p:cNvSpPr>
            <p:nvPr/>
          </p:nvSpPr>
          <p:spPr bwMode="auto">
            <a:xfrm>
              <a:off x="3609108" y="1722006"/>
              <a:ext cx="626058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Rectangle 27"/>
            <p:cNvSpPr>
              <a:spLocks noChangeArrowheads="1"/>
            </p:cNvSpPr>
            <p:nvPr/>
          </p:nvSpPr>
          <p:spPr bwMode="auto">
            <a:xfrm>
              <a:off x="1957648" y="3123860"/>
              <a:ext cx="1711208" cy="10001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  <a:sym typeface="Symbol" charset="2"/>
                </a:rPr>
                <a:t>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4 *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j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>
              <a:off x="1957648" y="4254156"/>
              <a:ext cx="1727082" cy="2762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1932250" y="4727230"/>
              <a:ext cx="784171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8078" name="Rectangle 33"/>
            <p:cNvSpPr>
              <a:spLocks noChangeArrowheads="1"/>
            </p:cNvSpPr>
            <p:nvPr/>
          </p:nvSpPr>
          <p:spPr bwMode="auto">
            <a:xfrm>
              <a:off x="3625423" y="4206320"/>
              <a:ext cx="626058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79" name="Rectangle 34"/>
            <p:cNvSpPr>
              <a:spLocks noChangeArrowheads="1"/>
            </p:cNvSpPr>
            <p:nvPr/>
          </p:nvSpPr>
          <p:spPr bwMode="auto">
            <a:xfrm>
              <a:off x="3638864" y="3052416"/>
              <a:ext cx="62843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2849762" y="4727230"/>
              <a:ext cx="809570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8081" name="Rectangle 39"/>
            <p:cNvSpPr>
              <a:spLocks noChangeArrowheads="1"/>
            </p:cNvSpPr>
            <p:nvPr/>
          </p:nvSpPr>
          <p:spPr bwMode="auto">
            <a:xfrm>
              <a:off x="3624234" y="4673123"/>
              <a:ext cx="62724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82" name="Line 28"/>
            <p:cNvSpPr>
              <a:spLocks noChangeShapeType="1"/>
            </p:cNvSpPr>
            <p:nvPr/>
          </p:nvSpPr>
          <p:spPr bwMode="auto">
            <a:xfrm>
              <a:off x="2732186" y="1539535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3" name="Line 29"/>
            <p:cNvSpPr>
              <a:spLocks noChangeShapeType="1"/>
            </p:cNvSpPr>
            <p:nvPr/>
          </p:nvSpPr>
          <p:spPr bwMode="auto">
            <a:xfrm>
              <a:off x="2725848" y="2852393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4" name="Line 31"/>
            <p:cNvSpPr>
              <a:spLocks noChangeShapeType="1"/>
            </p:cNvSpPr>
            <p:nvPr/>
          </p:nvSpPr>
          <p:spPr bwMode="auto">
            <a:xfrm>
              <a:off x="2794098" y="4115916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5" name="Line 37"/>
            <p:cNvSpPr>
              <a:spLocks noChangeShapeType="1"/>
            </p:cNvSpPr>
            <p:nvPr/>
          </p:nvSpPr>
          <p:spPr bwMode="auto">
            <a:xfrm flipH="1">
              <a:off x="2236884" y="4543818"/>
              <a:ext cx="36830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6" name="Line 38"/>
            <p:cNvSpPr>
              <a:spLocks noChangeShapeType="1"/>
            </p:cNvSpPr>
            <p:nvPr/>
          </p:nvSpPr>
          <p:spPr bwMode="auto">
            <a:xfrm>
              <a:off x="2992537" y="4543818"/>
              <a:ext cx="32385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7" name="Freeform 41"/>
            <p:cNvSpPr>
              <a:spLocks/>
            </p:cNvSpPr>
            <p:nvPr/>
          </p:nvSpPr>
          <p:spPr bwMode="auto">
            <a:xfrm>
              <a:off x="1725713" y="2909541"/>
              <a:ext cx="271464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8" name="Rectangle 16"/>
            <p:cNvSpPr>
              <a:spLocks noChangeArrowheads="1"/>
            </p:cNvSpPr>
            <p:nvPr/>
          </p:nvSpPr>
          <p:spPr bwMode="auto">
            <a:xfrm>
              <a:off x="1582837" y="4673124"/>
              <a:ext cx="514351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4" name="Rectangle 23"/>
          <p:cNvSpPr>
            <a:spLocks noChangeArrowheads="1"/>
          </p:cNvSpPr>
          <p:nvPr/>
        </p:nvSpPr>
        <p:spPr bwMode="auto">
          <a:xfrm>
            <a:off x="5513388" y="142875"/>
            <a:ext cx="1693862" cy="1414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3600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800"/>
              </a:lnSpc>
              <a:defRPr/>
            </a:pPr>
            <a:r>
              <a:rPr lang="en-US" altLang="zh-CN" i="1">
                <a:solidFill>
                  <a:prstClr val="black"/>
                </a:solidFill>
                <a:latin typeface="Times New Roman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=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m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  <a:sym typeface="Symbol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1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n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4 *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n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 = 4 * </a:t>
            </a:r>
            <a:r>
              <a:rPr lang="en-US" altLang="zh-CN" i="1">
                <a:solidFill>
                  <a:srgbClr val="FF0000"/>
                </a:solidFill>
                <a:latin typeface="Times New Roman" charset="0"/>
              </a:rPr>
              <a:t>i</a:t>
            </a:r>
            <a:endParaRPr lang="en-US" altLang="zh-CN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= 4 *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 j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4140200" y="550863"/>
            <a:ext cx="3692525" cy="4592637"/>
            <a:chOff x="4140200" y="550877"/>
            <a:chExt cx="3692525" cy="4592623"/>
          </a:xfrm>
        </p:grpSpPr>
        <p:sp>
          <p:nvSpPr>
            <p:cNvPr id="90138" name="Freeform 42"/>
            <p:cNvSpPr>
              <a:spLocks/>
            </p:cNvSpPr>
            <p:nvPr/>
          </p:nvSpPr>
          <p:spPr bwMode="auto">
            <a:xfrm>
              <a:off x="4969111" y="1214438"/>
              <a:ext cx="746116" cy="3929062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" name="AutoShape 8"/>
            <p:cNvSpPr>
              <a:spLocks noChangeArrowheads="1"/>
            </p:cNvSpPr>
            <p:nvPr/>
          </p:nvSpPr>
          <p:spPr bwMode="auto">
            <a:xfrm>
              <a:off x="4140200" y="2232034"/>
              <a:ext cx="593725" cy="268287"/>
            </a:xfrm>
            <a:prstGeom prst="rightArrow">
              <a:avLst>
                <a:gd name="adj1" fmla="val 50000"/>
                <a:gd name="adj2" fmla="val 55326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prstClr val="black"/>
                </a:solidFill>
                <a:ea typeface="楷体_GB2312" charset="0"/>
                <a:cs typeface="楷体_GB2312" charset="0"/>
              </a:endParaRPr>
            </a:p>
          </p:txBody>
        </p:sp>
        <p:sp>
          <p:nvSpPr>
            <p:cNvPr id="90140" name="Freeform 40"/>
            <p:cNvSpPr>
              <a:spLocks/>
            </p:cNvSpPr>
            <p:nvPr/>
          </p:nvSpPr>
          <p:spPr bwMode="auto">
            <a:xfrm>
              <a:off x="5218143" y="1643063"/>
              <a:ext cx="385758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6115" name="Rectangle 24"/>
            <p:cNvSpPr>
              <a:spLocks noChangeArrowheads="1"/>
            </p:cNvSpPr>
            <p:nvPr/>
          </p:nvSpPr>
          <p:spPr bwMode="auto">
            <a:xfrm>
              <a:off x="5505450" y="1797060"/>
              <a:ext cx="1711325" cy="10604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>
                  <a:solidFill>
                    <a:srgbClr val="000000"/>
                  </a:solidFill>
                  <a:latin typeface="Times New Roman" charset="0"/>
                </a:rPr>
                <a:t>i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+ 1</a:t>
              </a:r>
              <a:endParaRPr lang="en-US" altLang="zh-CN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  <a:latin typeface="宋体" charset="0"/>
                </a:rPr>
                <a:t>+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4</a:t>
              </a:r>
              <a:endParaRPr lang="en-US" altLang="zh-CN" i="1" dirty="0">
                <a:solidFill>
                  <a:srgbClr val="FF0000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0142" name="Rectangle 25"/>
            <p:cNvSpPr>
              <a:spLocks noChangeArrowheads="1"/>
            </p:cNvSpPr>
            <p:nvPr/>
          </p:nvSpPr>
          <p:spPr bwMode="auto">
            <a:xfrm>
              <a:off x="7241042" y="550877"/>
              <a:ext cx="392768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43" name="Rectangle 26"/>
            <p:cNvSpPr>
              <a:spLocks noChangeArrowheads="1"/>
            </p:cNvSpPr>
            <p:nvPr/>
          </p:nvSpPr>
          <p:spPr bwMode="auto">
            <a:xfrm>
              <a:off x="7174540" y="1741403"/>
              <a:ext cx="626049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8" name="Rectangle 27"/>
            <p:cNvSpPr>
              <a:spLocks noChangeArrowheads="1"/>
            </p:cNvSpPr>
            <p:nvPr/>
          </p:nvSpPr>
          <p:spPr bwMode="auto">
            <a:xfrm>
              <a:off x="5522913" y="3143256"/>
              <a:ext cx="1711325" cy="10001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4 </a:t>
              </a:r>
              <a:r>
                <a:rPr lang="en-US" altLang="zh-CN" dirty="0">
                  <a:solidFill>
                    <a:srgbClr val="FF0000"/>
                  </a:solidFill>
                  <a:latin typeface="宋体" charset="0"/>
                </a:rPr>
                <a:t>- 4</a:t>
              </a:r>
              <a:endParaRPr lang="en-US" altLang="zh-CN" i="1" dirty="0">
                <a:solidFill>
                  <a:srgbClr val="FF0000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46119" name="Rectangle 30"/>
            <p:cNvSpPr>
              <a:spLocks noChangeArrowheads="1"/>
            </p:cNvSpPr>
            <p:nvPr/>
          </p:nvSpPr>
          <p:spPr bwMode="auto">
            <a:xfrm>
              <a:off x="5522913" y="4273553"/>
              <a:ext cx="1727200" cy="2762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46120" name="Rectangle 32"/>
            <p:cNvSpPr>
              <a:spLocks noChangeArrowheads="1"/>
            </p:cNvSpPr>
            <p:nvPr/>
          </p:nvSpPr>
          <p:spPr bwMode="auto">
            <a:xfrm>
              <a:off x="5497513" y="4746626"/>
              <a:ext cx="784225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0147" name="Rectangle 33"/>
            <p:cNvSpPr>
              <a:spLocks noChangeArrowheads="1"/>
            </p:cNvSpPr>
            <p:nvPr/>
          </p:nvSpPr>
          <p:spPr bwMode="auto">
            <a:xfrm>
              <a:off x="7190855" y="4225716"/>
              <a:ext cx="626049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48" name="Rectangle 34"/>
            <p:cNvSpPr>
              <a:spLocks noChangeArrowheads="1"/>
            </p:cNvSpPr>
            <p:nvPr/>
          </p:nvSpPr>
          <p:spPr bwMode="auto">
            <a:xfrm>
              <a:off x="7204296" y="3071812"/>
              <a:ext cx="628429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23" name="Rectangle 36"/>
            <p:cNvSpPr>
              <a:spLocks noChangeArrowheads="1"/>
            </p:cNvSpPr>
            <p:nvPr/>
          </p:nvSpPr>
          <p:spPr bwMode="auto">
            <a:xfrm>
              <a:off x="6415088" y="4746626"/>
              <a:ext cx="809625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0150" name="Rectangle 39"/>
            <p:cNvSpPr>
              <a:spLocks noChangeArrowheads="1"/>
            </p:cNvSpPr>
            <p:nvPr/>
          </p:nvSpPr>
          <p:spPr bwMode="auto">
            <a:xfrm>
              <a:off x="7189666" y="4692519"/>
              <a:ext cx="627239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51" name="Line 28"/>
            <p:cNvSpPr>
              <a:spLocks noChangeShapeType="1"/>
            </p:cNvSpPr>
            <p:nvPr/>
          </p:nvSpPr>
          <p:spPr bwMode="auto">
            <a:xfrm>
              <a:off x="6297631" y="1558932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2" name="Line 29"/>
            <p:cNvSpPr>
              <a:spLocks noChangeShapeType="1"/>
            </p:cNvSpPr>
            <p:nvPr/>
          </p:nvSpPr>
          <p:spPr bwMode="auto">
            <a:xfrm>
              <a:off x="6291293" y="2871789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3" name="Line 31"/>
            <p:cNvSpPr>
              <a:spLocks noChangeShapeType="1"/>
            </p:cNvSpPr>
            <p:nvPr/>
          </p:nvSpPr>
          <p:spPr bwMode="auto">
            <a:xfrm>
              <a:off x="6359542" y="4135312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4" name="Line 37"/>
            <p:cNvSpPr>
              <a:spLocks noChangeShapeType="1"/>
            </p:cNvSpPr>
            <p:nvPr/>
          </p:nvSpPr>
          <p:spPr bwMode="auto">
            <a:xfrm flipH="1">
              <a:off x="5802336" y="4563214"/>
              <a:ext cx="368296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5" name="Line 38"/>
            <p:cNvSpPr>
              <a:spLocks noChangeShapeType="1"/>
            </p:cNvSpPr>
            <p:nvPr/>
          </p:nvSpPr>
          <p:spPr bwMode="auto">
            <a:xfrm>
              <a:off x="6557978" y="4563214"/>
              <a:ext cx="323846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6" name="Freeform 41"/>
            <p:cNvSpPr>
              <a:spLocks/>
            </p:cNvSpPr>
            <p:nvPr/>
          </p:nvSpPr>
          <p:spPr bwMode="auto">
            <a:xfrm>
              <a:off x="5291172" y="2928937"/>
              <a:ext cx="271460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7" name="Rectangle 16"/>
            <p:cNvSpPr>
              <a:spLocks noChangeArrowheads="1"/>
            </p:cNvSpPr>
            <p:nvPr/>
          </p:nvSpPr>
          <p:spPr bwMode="auto">
            <a:xfrm>
              <a:off x="5148298" y="4692520"/>
              <a:ext cx="514344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16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90117" name="组合 2"/>
          <p:cNvGrpSpPr>
            <a:grpSpLocks/>
          </p:cNvGrpSpPr>
          <p:nvPr/>
        </p:nvGrpSpPr>
        <p:grpSpPr bwMode="auto">
          <a:xfrm>
            <a:off x="1403350" y="531813"/>
            <a:ext cx="2863850" cy="4592637"/>
            <a:chOff x="1403648" y="531480"/>
            <a:chExt cx="2863654" cy="4592624"/>
          </a:xfrm>
        </p:grpSpPr>
        <p:sp>
          <p:nvSpPr>
            <p:cNvPr id="90118" name="Freeform 42"/>
            <p:cNvSpPr>
              <a:spLocks/>
            </p:cNvSpPr>
            <p:nvPr/>
          </p:nvSpPr>
          <p:spPr bwMode="auto">
            <a:xfrm>
              <a:off x="1403648" y="1195041"/>
              <a:ext cx="746127" cy="3929063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19" name="Freeform 40"/>
            <p:cNvSpPr>
              <a:spLocks/>
            </p:cNvSpPr>
            <p:nvPr/>
          </p:nvSpPr>
          <p:spPr bwMode="auto">
            <a:xfrm>
              <a:off x="1652683" y="1623666"/>
              <a:ext cx="385763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" name="Rectangle 23"/>
            <p:cNvSpPr>
              <a:spLocks noChangeArrowheads="1"/>
            </p:cNvSpPr>
            <p:nvPr/>
          </p:nvSpPr>
          <p:spPr bwMode="auto">
            <a:xfrm>
              <a:off x="1948124" y="539417"/>
              <a:ext cx="1693746" cy="9985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</p:txBody>
        </p:sp>
        <p:sp>
          <p:nvSpPr>
            <p:cNvPr id="78" name="Rectangle 24"/>
            <p:cNvSpPr>
              <a:spLocks noChangeArrowheads="1"/>
            </p:cNvSpPr>
            <p:nvPr/>
          </p:nvSpPr>
          <p:spPr bwMode="auto">
            <a:xfrm>
              <a:off x="1940186" y="1777663"/>
              <a:ext cx="1711208" cy="10604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+ 1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 4 * </a:t>
              </a: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charset="0"/>
                <a:ea typeface="宋体" panose="02010600030101010101" pitchFamily="2" charset="-122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0122" name="Rectangle 25"/>
            <p:cNvSpPr>
              <a:spLocks noChangeArrowheads="1"/>
            </p:cNvSpPr>
            <p:nvPr/>
          </p:nvSpPr>
          <p:spPr bwMode="auto">
            <a:xfrm>
              <a:off x="3675611" y="531480"/>
              <a:ext cx="392774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23" name="Rectangle 26"/>
            <p:cNvSpPr>
              <a:spLocks noChangeArrowheads="1"/>
            </p:cNvSpPr>
            <p:nvPr/>
          </p:nvSpPr>
          <p:spPr bwMode="auto">
            <a:xfrm>
              <a:off x="3609108" y="1722006"/>
              <a:ext cx="626058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Rectangle 27"/>
            <p:cNvSpPr>
              <a:spLocks noChangeArrowheads="1"/>
            </p:cNvSpPr>
            <p:nvPr/>
          </p:nvSpPr>
          <p:spPr bwMode="auto">
            <a:xfrm>
              <a:off x="1957648" y="3123860"/>
              <a:ext cx="1711208" cy="10001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  <a:sym typeface="Symbol" charset="2"/>
                </a:rPr>
                <a:t>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4 *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j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82" name="Rectangle 30"/>
            <p:cNvSpPr>
              <a:spLocks noChangeArrowheads="1"/>
            </p:cNvSpPr>
            <p:nvPr/>
          </p:nvSpPr>
          <p:spPr bwMode="auto">
            <a:xfrm>
              <a:off x="1957648" y="4254156"/>
              <a:ext cx="1727082" cy="2762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83" name="Rectangle 32"/>
            <p:cNvSpPr>
              <a:spLocks noChangeArrowheads="1"/>
            </p:cNvSpPr>
            <p:nvPr/>
          </p:nvSpPr>
          <p:spPr bwMode="auto">
            <a:xfrm>
              <a:off x="1932250" y="4727230"/>
              <a:ext cx="784171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0127" name="Rectangle 33"/>
            <p:cNvSpPr>
              <a:spLocks noChangeArrowheads="1"/>
            </p:cNvSpPr>
            <p:nvPr/>
          </p:nvSpPr>
          <p:spPr bwMode="auto">
            <a:xfrm>
              <a:off x="3625423" y="4206320"/>
              <a:ext cx="626058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28" name="Rectangle 34"/>
            <p:cNvSpPr>
              <a:spLocks noChangeArrowheads="1"/>
            </p:cNvSpPr>
            <p:nvPr/>
          </p:nvSpPr>
          <p:spPr bwMode="auto">
            <a:xfrm>
              <a:off x="3638864" y="3052416"/>
              <a:ext cx="62843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Rectangle 36"/>
            <p:cNvSpPr>
              <a:spLocks noChangeArrowheads="1"/>
            </p:cNvSpPr>
            <p:nvPr/>
          </p:nvSpPr>
          <p:spPr bwMode="auto">
            <a:xfrm>
              <a:off x="2849762" y="4727230"/>
              <a:ext cx="809570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0130" name="Rectangle 39"/>
            <p:cNvSpPr>
              <a:spLocks noChangeArrowheads="1"/>
            </p:cNvSpPr>
            <p:nvPr/>
          </p:nvSpPr>
          <p:spPr bwMode="auto">
            <a:xfrm>
              <a:off x="3624234" y="4673123"/>
              <a:ext cx="62724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31" name="Line 28"/>
            <p:cNvSpPr>
              <a:spLocks noChangeShapeType="1"/>
            </p:cNvSpPr>
            <p:nvPr/>
          </p:nvSpPr>
          <p:spPr bwMode="auto">
            <a:xfrm>
              <a:off x="2732186" y="1539535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2" name="Line 29"/>
            <p:cNvSpPr>
              <a:spLocks noChangeShapeType="1"/>
            </p:cNvSpPr>
            <p:nvPr/>
          </p:nvSpPr>
          <p:spPr bwMode="auto">
            <a:xfrm>
              <a:off x="2725848" y="2852393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3" name="Line 31"/>
            <p:cNvSpPr>
              <a:spLocks noChangeShapeType="1"/>
            </p:cNvSpPr>
            <p:nvPr/>
          </p:nvSpPr>
          <p:spPr bwMode="auto">
            <a:xfrm>
              <a:off x="2794098" y="4115916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4" name="Line 37"/>
            <p:cNvSpPr>
              <a:spLocks noChangeShapeType="1"/>
            </p:cNvSpPr>
            <p:nvPr/>
          </p:nvSpPr>
          <p:spPr bwMode="auto">
            <a:xfrm flipH="1">
              <a:off x="2236884" y="4543818"/>
              <a:ext cx="36830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5" name="Line 38"/>
            <p:cNvSpPr>
              <a:spLocks noChangeShapeType="1"/>
            </p:cNvSpPr>
            <p:nvPr/>
          </p:nvSpPr>
          <p:spPr bwMode="auto">
            <a:xfrm>
              <a:off x="2992537" y="4543818"/>
              <a:ext cx="32385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6" name="Freeform 41"/>
            <p:cNvSpPr>
              <a:spLocks/>
            </p:cNvSpPr>
            <p:nvPr/>
          </p:nvSpPr>
          <p:spPr bwMode="auto">
            <a:xfrm>
              <a:off x="1725713" y="2909541"/>
              <a:ext cx="271464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7" name="Rectangle 16"/>
            <p:cNvSpPr>
              <a:spLocks noChangeArrowheads="1"/>
            </p:cNvSpPr>
            <p:nvPr/>
          </p:nvSpPr>
          <p:spPr bwMode="auto">
            <a:xfrm>
              <a:off x="1582837" y="4673124"/>
              <a:ext cx="514351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4" grpId="0" build="allAtOnce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754563" y="1924050"/>
            <a:ext cx="3201987" cy="13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在沿着循环运行时，如果有</a:t>
            </a: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一组归纳变量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的值的变化保持</a:t>
            </a: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步调一致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，常常可以将这组变量删除为只剩一个</a:t>
            </a:r>
            <a:endParaRPr lang="zh-CN" altLang="en-US" sz="2000" dirty="0">
              <a:solidFill>
                <a:prstClr val="black"/>
              </a:solidFill>
              <a:latin typeface="华文楷体" pitchFamily="2" charset="-122"/>
              <a:ea typeface="华文楷体" pitchFamily="2" charset="-122"/>
              <a:cs typeface="楷体_GB2312"/>
            </a:endParaRPr>
          </a:p>
        </p:txBody>
      </p:sp>
      <p:sp>
        <p:nvSpPr>
          <p:cNvPr id="921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 删除归纳变量</a:t>
            </a:r>
          </a:p>
        </p:txBody>
      </p:sp>
      <p:grpSp>
        <p:nvGrpSpPr>
          <p:cNvPr id="2" name="组合 24"/>
          <p:cNvGrpSpPr>
            <a:grpSpLocks/>
          </p:cNvGrpSpPr>
          <p:nvPr/>
        </p:nvGrpSpPr>
        <p:grpSpPr bwMode="auto">
          <a:xfrm>
            <a:off x="1611313" y="690563"/>
            <a:ext cx="2957512" cy="4452937"/>
            <a:chOff x="1611297" y="690935"/>
            <a:chExt cx="2957132" cy="4452583"/>
          </a:xfrm>
        </p:grpSpPr>
        <p:sp>
          <p:nvSpPr>
            <p:cNvPr id="92165" name="Line 28"/>
            <p:cNvSpPr>
              <a:spLocks noChangeShapeType="1"/>
            </p:cNvSpPr>
            <p:nvPr/>
          </p:nvSpPr>
          <p:spPr bwMode="auto">
            <a:xfrm>
              <a:off x="3000364" y="2000246"/>
              <a:ext cx="0" cy="239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2166" name="Line 29"/>
            <p:cNvSpPr>
              <a:spLocks noChangeShapeType="1"/>
            </p:cNvSpPr>
            <p:nvPr/>
          </p:nvSpPr>
          <p:spPr bwMode="auto">
            <a:xfrm>
              <a:off x="3013075" y="3071816"/>
              <a:ext cx="0" cy="2714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118" name="Rectangle 23"/>
            <p:cNvSpPr>
              <a:spLocks noChangeArrowheads="1"/>
            </p:cNvSpPr>
            <p:nvPr/>
          </p:nvSpPr>
          <p:spPr bwMode="auto">
            <a:xfrm>
              <a:off x="2214469" y="714745"/>
              <a:ext cx="1693644" cy="12857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47119" name="Rectangle 24"/>
            <p:cNvSpPr>
              <a:spLocks noChangeArrowheads="1"/>
            </p:cNvSpPr>
            <p:nvPr/>
          </p:nvSpPr>
          <p:spPr bwMode="auto">
            <a:xfrm>
              <a:off x="2193834" y="2214814"/>
              <a:ext cx="1712693" cy="928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+ 1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宋体" charset="0"/>
                </a:rPr>
                <a:t>+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4</a:t>
              </a:r>
              <a:endParaRPr lang="en-US" altLang="zh-CN" sz="1600" i="1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2169" name="Rectangle 25"/>
            <p:cNvSpPr>
              <a:spLocks noChangeArrowheads="1"/>
            </p:cNvSpPr>
            <p:nvPr/>
          </p:nvSpPr>
          <p:spPr bwMode="auto">
            <a:xfrm>
              <a:off x="3995936" y="690935"/>
              <a:ext cx="392906" cy="220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170" name="Rectangle 26"/>
            <p:cNvSpPr>
              <a:spLocks noChangeArrowheads="1"/>
            </p:cNvSpPr>
            <p:nvPr/>
          </p:nvSpPr>
          <p:spPr bwMode="auto">
            <a:xfrm>
              <a:off x="3863578" y="2143122"/>
              <a:ext cx="626269" cy="326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2" name="Rectangle 27"/>
            <p:cNvSpPr>
              <a:spLocks noChangeArrowheads="1"/>
            </p:cNvSpPr>
            <p:nvPr/>
          </p:nvSpPr>
          <p:spPr bwMode="auto">
            <a:xfrm>
              <a:off x="2212882" y="3357723"/>
              <a:ext cx="1709518" cy="928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4 </a:t>
              </a:r>
              <a:r>
                <a:rPr lang="en-US" altLang="zh-CN" sz="1600" dirty="0">
                  <a:solidFill>
                    <a:srgbClr val="0000FF"/>
                  </a:solidFill>
                  <a:latin typeface="宋体" charset="0"/>
                </a:rPr>
                <a:t>- 4</a:t>
              </a:r>
              <a:endParaRPr lang="en-US" altLang="zh-CN" sz="1600" i="1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47124" name="Rectangle 32"/>
            <p:cNvSpPr>
              <a:spLocks noChangeArrowheads="1"/>
            </p:cNvSpPr>
            <p:nvPr/>
          </p:nvSpPr>
          <p:spPr bwMode="auto">
            <a:xfrm>
              <a:off x="2185898" y="4940334"/>
              <a:ext cx="784124" cy="107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2173" name="Rectangle 33"/>
            <p:cNvSpPr>
              <a:spLocks noChangeArrowheads="1"/>
            </p:cNvSpPr>
            <p:nvPr/>
          </p:nvSpPr>
          <p:spPr bwMode="auto">
            <a:xfrm>
              <a:off x="3942160" y="4421953"/>
              <a:ext cx="626269" cy="323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174" name="Rectangle 34"/>
            <p:cNvSpPr>
              <a:spLocks noChangeArrowheads="1"/>
            </p:cNvSpPr>
            <p:nvPr/>
          </p:nvSpPr>
          <p:spPr bwMode="auto">
            <a:xfrm>
              <a:off x="3893344" y="3286130"/>
              <a:ext cx="628650" cy="32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7" name="Rectangle 36"/>
            <p:cNvSpPr>
              <a:spLocks noChangeArrowheads="1"/>
            </p:cNvSpPr>
            <p:nvPr/>
          </p:nvSpPr>
          <p:spPr bwMode="auto">
            <a:xfrm>
              <a:off x="3103355" y="4940334"/>
              <a:ext cx="809521" cy="107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2176" name="Rectangle 39"/>
            <p:cNvSpPr>
              <a:spLocks noChangeArrowheads="1"/>
            </p:cNvSpPr>
            <p:nvPr/>
          </p:nvSpPr>
          <p:spPr bwMode="auto">
            <a:xfrm>
              <a:off x="3929058" y="4814468"/>
              <a:ext cx="627460" cy="32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177" name="Line 31"/>
            <p:cNvSpPr>
              <a:spLocks noChangeShapeType="1"/>
            </p:cNvSpPr>
            <p:nvPr/>
          </p:nvSpPr>
          <p:spPr bwMode="auto">
            <a:xfrm>
              <a:off x="3013075" y="4286262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2178" name="Line 37"/>
            <p:cNvSpPr>
              <a:spLocks noChangeShapeType="1"/>
            </p:cNvSpPr>
            <p:nvPr/>
          </p:nvSpPr>
          <p:spPr bwMode="auto">
            <a:xfrm flipH="1">
              <a:off x="2455863" y="4714890"/>
              <a:ext cx="369887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2179" name="Line 38"/>
            <p:cNvSpPr>
              <a:spLocks noChangeShapeType="1"/>
            </p:cNvSpPr>
            <p:nvPr/>
          </p:nvSpPr>
          <p:spPr bwMode="auto">
            <a:xfrm>
              <a:off x="3211513" y="4714890"/>
              <a:ext cx="323850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2180" name="Freeform 40"/>
            <p:cNvSpPr>
              <a:spLocks/>
            </p:cNvSpPr>
            <p:nvPr/>
          </p:nvSpPr>
          <p:spPr bwMode="auto">
            <a:xfrm rot="250047">
              <a:off x="1866074" y="2072425"/>
              <a:ext cx="387350" cy="1213906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2181" name="Freeform 41"/>
            <p:cNvSpPr>
              <a:spLocks/>
            </p:cNvSpPr>
            <p:nvPr/>
          </p:nvSpPr>
          <p:spPr bwMode="auto">
            <a:xfrm rot="-156154">
              <a:off x="1989159" y="3212925"/>
              <a:ext cx="269875" cy="1193151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2182" name="Freeform 42"/>
            <p:cNvSpPr>
              <a:spLocks/>
            </p:cNvSpPr>
            <p:nvPr/>
          </p:nvSpPr>
          <p:spPr bwMode="auto">
            <a:xfrm>
              <a:off x="1611297" y="1714494"/>
              <a:ext cx="746125" cy="3429024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2183" name="Rectangle 16"/>
            <p:cNvSpPr>
              <a:spLocks noChangeArrowheads="1"/>
            </p:cNvSpPr>
            <p:nvPr/>
          </p:nvSpPr>
          <p:spPr bwMode="auto">
            <a:xfrm>
              <a:off x="1857356" y="4746643"/>
              <a:ext cx="514350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3" name="Rectangle 30"/>
            <p:cNvSpPr>
              <a:spLocks noChangeArrowheads="1"/>
            </p:cNvSpPr>
            <p:nvPr/>
          </p:nvSpPr>
          <p:spPr bwMode="auto">
            <a:xfrm>
              <a:off x="2212882" y="4429200"/>
              <a:ext cx="1725391" cy="2857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&gt;=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 删除归纳变量</a:t>
            </a:r>
          </a:p>
        </p:txBody>
      </p:sp>
      <p:grpSp>
        <p:nvGrpSpPr>
          <p:cNvPr id="2" name="组合 101"/>
          <p:cNvGrpSpPr>
            <a:grpSpLocks/>
          </p:cNvGrpSpPr>
          <p:nvPr/>
        </p:nvGrpSpPr>
        <p:grpSpPr bwMode="auto">
          <a:xfrm>
            <a:off x="4371975" y="714375"/>
            <a:ext cx="3575050" cy="4429125"/>
            <a:chOff x="4371975" y="714362"/>
            <a:chExt cx="3575050" cy="4429157"/>
          </a:xfrm>
        </p:grpSpPr>
        <p:sp>
          <p:nvSpPr>
            <p:cNvPr id="94233" name="Freeform 40"/>
            <p:cNvSpPr>
              <a:spLocks/>
            </p:cNvSpPr>
            <p:nvPr/>
          </p:nvSpPr>
          <p:spPr bwMode="auto">
            <a:xfrm>
              <a:off x="5284788" y="2152655"/>
              <a:ext cx="385762" cy="1133475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34" name="Line 29"/>
            <p:cNvSpPr>
              <a:spLocks noChangeShapeType="1"/>
            </p:cNvSpPr>
            <p:nvPr/>
          </p:nvSpPr>
          <p:spPr bwMode="auto">
            <a:xfrm>
              <a:off x="6426200" y="3143254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8152" name="Rectangle 23"/>
            <p:cNvSpPr>
              <a:spLocks noChangeArrowheads="1"/>
            </p:cNvSpPr>
            <p:nvPr/>
          </p:nvSpPr>
          <p:spPr bwMode="auto">
            <a:xfrm>
              <a:off x="5580063" y="714362"/>
              <a:ext cx="1693862" cy="128588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48153" name="Rectangle 24"/>
            <p:cNvSpPr>
              <a:spLocks noChangeArrowheads="1"/>
            </p:cNvSpPr>
            <p:nvPr/>
          </p:nvSpPr>
          <p:spPr bwMode="auto">
            <a:xfrm>
              <a:off x="5572125" y="2285998"/>
              <a:ext cx="1712913" cy="9128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endParaRPr lang="en-US" altLang="zh-CN" sz="1600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宋体" charset="0"/>
                </a:rPr>
                <a:t>+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4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4237" name="Rectangle 25"/>
            <p:cNvSpPr>
              <a:spLocks noChangeArrowheads="1"/>
            </p:cNvSpPr>
            <p:nvPr/>
          </p:nvSpPr>
          <p:spPr bwMode="auto">
            <a:xfrm>
              <a:off x="7347743" y="714362"/>
              <a:ext cx="392972" cy="22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38" name="Rectangle 26"/>
            <p:cNvSpPr>
              <a:spLocks noChangeArrowheads="1"/>
            </p:cNvSpPr>
            <p:nvPr/>
          </p:nvSpPr>
          <p:spPr bwMode="auto">
            <a:xfrm>
              <a:off x="7242058" y="2214560"/>
              <a:ext cx="626373" cy="326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6" name="Rectangle 27"/>
            <p:cNvSpPr>
              <a:spLocks noChangeArrowheads="1"/>
            </p:cNvSpPr>
            <p:nvPr/>
          </p:nvSpPr>
          <p:spPr bwMode="auto">
            <a:xfrm>
              <a:off x="5591175" y="3429007"/>
              <a:ext cx="1709738" cy="88583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70000"/>
                </a:lnSpc>
                <a:defRPr/>
              </a:pPr>
              <a:endParaRPr lang="en-US" altLang="zh-CN" sz="1600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 </a:t>
              </a:r>
              <a:r>
                <a:rPr lang="en-US" altLang="zh-CN" sz="1600" dirty="0">
                  <a:solidFill>
                    <a:prstClr val="black"/>
                  </a:solidFill>
                  <a:latin typeface="宋体" charset="0"/>
                </a:rPr>
                <a:t>- 4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48157" name="Rectangle 30"/>
            <p:cNvSpPr>
              <a:spLocks noChangeArrowheads="1"/>
            </p:cNvSpPr>
            <p:nvPr/>
          </p:nvSpPr>
          <p:spPr bwMode="auto">
            <a:xfrm>
              <a:off x="5591175" y="4510102"/>
              <a:ext cx="1725613" cy="2381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if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FF0000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charset="0"/>
                </a:rPr>
                <a:t> &gt;= </a:t>
              </a:r>
              <a:r>
                <a:rPr lang="en-US" altLang="zh-CN" sz="1600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FF0000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48158" name="Rectangle 32"/>
            <p:cNvSpPr>
              <a:spLocks noChangeArrowheads="1"/>
            </p:cNvSpPr>
            <p:nvPr/>
          </p:nvSpPr>
          <p:spPr bwMode="auto">
            <a:xfrm>
              <a:off x="5564188" y="4938731"/>
              <a:ext cx="784225" cy="1095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4242" name="Rectangle 33"/>
            <p:cNvSpPr>
              <a:spLocks noChangeArrowheads="1"/>
            </p:cNvSpPr>
            <p:nvPr/>
          </p:nvSpPr>
          <p:spPr bwMode="auto">
            <a:xfrm>
              <a:off x="7320652" y="4429138"/>
              <a:ext cx="626373" cy="323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43" name="Rectangle 34"/>
            <p:cNvSpPr>
              <a:spLocks noChangeArrowheads="1"/>
            </p:cNvSpPr>
            <p:nvPr/>
          </p:nvSpPr>
          <p:spPr bwMode="auto">
            <a:xfrm>
              <a:off x="7271829" y="3357568"/>
              <a:ext cx="628755" cy="32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1" name="Rectangle 36"/>
            <p:cNvSpPr>
              <a:spLocks noChangeArrowheads="1"/>
            </p:cNvSpPr>
            <p:nvPr/>
          </p:nvSpPr>
          <p:spPr bwMode="auto">
            <a:xfrm>
              <a:off x="6481763" y="4938731"/>
              <a:ext cx="809625" cy="1095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4245" name="Rectangle 39"/>
            <p:cNvSpPr>
              <a:spLocks noChangeArrowheads="1"/>
            </p:cNvSpPr>
            <p:nvPr/>
          </p:nvSpPr>
          <p:spPr bwMode="auto">
            <a:xfrm>
              <a:off x="7302022" y="4781060"/>
              <a:ext cx="627564" cy="32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AutoShape 8"/>
            <p:cNvSpPr>
              <a:spLocks noChangeArrowheads="1"/>
            </p:cNvSpPr>
            <p:nvPr/>
          </p:nvSpPr>
          <p:spPr bwMode="auto">
            <a:xfrm>
              <a:off x="4371975" y="2571750"/>
              <a:ext cx="593725" cy="268290"/>
            </a:xfrm>
            <a:prstGeom prst="rightArrow">
              <a:avLst>
                <a:gd name="adj1" fmla="val 50000"/>
                <a:gd name="adj2" fmla="val 55326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prstClr val="black"/>
                </a:solidFill>
                <a:ea typeface="楷体_GB2312" charset="0"/>
                <a:cs typeface="楷体_GB2312" charset="0"/>
              </a:endParaRPr>
            </a:p>
          </p:txBody>
        </p:sp>
        <p:sp>
          <p:nvSpPr>
            <p:cNvPr id="94247" name="Line 28"/>
            <p:cNvSpPr>
              <a:spLocks noChangeShapeType="1"/>
            </p:cNvSpPr>
            <p:nvPr/>
          </p:nvSpPr>
          <p:spPr bwMode="auto">
            <a:xfrm>
              <a:off x="6429388" y="2000246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48" name="Line 31"/>
            <p:cNvSpPr>
              <a:spLocks noChangeShapeType="1"/>
            </p:cNvSpPr>
            <p:nvPr/>
          </p:nvSpPr>
          <p:spPr bwMode="auto">
            <a:xfrm>
              <a:off x="6426200" y="4330713"/>
              <a:ext cx="0" cy="169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49" name="Line 37"/>
            <p:cNvSpPr>
              <a:spLocks noChangeShapeType="1"/>
            </p:cNvSpPr>
            <p:nvPr/>
          </p:nvSpPr>
          <p:spPr bwMode="auto">
            <a:xfrm flipH="1">
              <a:off x="5868988" y="4756168"/>
              <a:ext cx="368300" cy="182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50" name="Line 38"/>
            <p:cNvSpPr>
              <a:spLocks noChangeShapeType="1"/>
            </p:cNvSpPr>
            <p:nvPr/>
          </p:nvSpPr>
          <p:spPr bwMode="auto">
            <a:xfrm>
              <a:off x="6624638" y="4756168"/>
              <a:ext cx="323850" cy="182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51" name="Freeform 41"/>
            <p:cNvSpPr>
              <a:spLocks/>
            </p:cNvSpPr>
            <p:nvPr/>
          </p:nvSpPr>
          <p:spPr bwMode="auto">
            <a:xfrm>
              <a:off x="5357818" y="3243274"/>
              <a:ext cx="271463" cy="1185864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52" name="Freeform 42"/>
            <p:cNvSpPr>
              <a:spLocks/>
            </p:cNvSpPr>
            <p:nvPr/>
          </p:nvSpPr>
          <p:spPr bwMode="auto">
            <a:xfrm>
              <a:off x="4968883" y="1785933"/>
              <a:ext cx="746125" cy="3357586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53" name="Rectangle 16"/>
            <p:cNvSpPr>
              <a:spLocks noChangeArrowheads="1"/>
            </p:cNvSpPr>
            <p:nvPr/>
          </p:nvSpPr>
          <p:spPr bwMode="auto">
            <a:xfrm>
              <a:off x="5214942" y="4746643"/>
              <a:ext cx="514350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4212" name="组合 80"/>
          <p:cNvGrpSpPr>
            <a:grpSpLocks/>
          </p:cNvGrpSpPr>
          <p:nvPr/>
        </p:nvGrpSpPr>
        <p:grpSpPr bwMode="auto">
          <a:xfrm>
            <a:off x="1611313" y="690563"/>
            <a:ext cx="2957512" cy="4452937"/>
            <a:chOff x="1611297" y="690935"/>
            <a:chExt cx="2957132" cy="4452583"/>
          </a:xfrm>
        </p:grpSpPr>
        <p:sp>
          <p:nvSpPr>
            <p:cNvPr id="94213" name="Line 28"/>
            <p:cNvSpPr>
              <a:spLocks noChangeShapeType="1"/>
            </p:cNvSpPr>
            <p:nvPr/>
          </p:nvSpPr>
          <p:spPr bwMode="auto">
            <a:xfrm>
              <a:off x="3000364" y="2000246"/>
              <a:ext cx="0" cy="239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14" name="Line 29"/>
            <p:cNvSpPr>
              <a:spLocks noChangeShapeType="1"/>
            </p:cNvSpPr>
            <p:nvPr/>
          </p:nvSpPr>
          <p:spPr bwMode="auto">
            <a:xfrm>
              <a:off x="3013075" y="3071816"/>
              <a:ext cx="0" cy="2714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4" name="Rectangle 23"/>
            <p:cNvSpPr>
              <a:spLocks noChangeArrowheads="1"/>
            </p:cNvSpPr>
            <p:nvPr/>
          </p:nvSpPr>
          <p:spPr bwMode="auto">
            <a:xfrm>
              <a:off x="2214469" y="714745"/>
              <a:ext cx="1693644" cy="12857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85" name="Rectangle 24"/>
            <p:cNvSpPr>
              <a:spLocks noChangeArrowheads="1"/>
            </p:cNvSpPr>
            <p:nvPr/>
          </p:nvSpPr>
          <p:spPr bwMode="auto">
            <a:xfrm>
              <a:off x="2193834" y="2214814"/>
              <a:ext cx="1712693" cy="928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+ 1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宋体" charset="0"/>
                </a:rPr>
                <a:t>+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4</a:t>
              </a:r>
              <a:endParaRPr lang="en-US" altLang="zh-CN" sz="1600" i="1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4217" name="Rectangle 25"/>
            <p:cNvSpPr>
              <a:spLocks noChangeArrowheads="1"/>
            </p:cNvSpPr>
            <p:nvPr/>
          </p:nvSpPr>
          <p:spPr bwMode="auto">
            <a:xfrm>
              <a:off x="3995936" y="690935"/>
              <a:ext cx="392906" cy="220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18" name="Rectangle 26"/>
            <p:cNvSpPr>
              <a:spLocks noChangeArrowheads="1"/>
            </p:cNvSpPr>
            <p:nvPr/>
          </p:nvSpPr>
          <p:spPr bwMode="auto">
            <a:xfrm>
              <a:off x="3863578" y="2143122"/>
              <a:ext cx="626269" cy="326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" name="Rectangle 27"/>
            <p:cNvSpPr>
              <a:spLocks noChangeArrowheads="1"/>
            </p:cNvSpPr>
            <p:nvPr/>
          </p:nvSpPr>
          <p:spPr bwMode="auto">
            <a:xfrm>
              <a:off x="2212882" y="3357723"/>
              <a:ext cx="1709518" cy="928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4 </a:t>
              </a:r>
              <a:r>
                <a:rPr lang="en-US" altLang="zh-CN" sz="1600" dirty="0">
                  <a:solidFill>
                    <a:srgbClr val="0000FF"/>
                  </a:solidFill>
                  <a:latin typeface="宋体" charset="0"/>
                </a:rPr>
                <a:t>- 4</a:t>
              </a:r>
              <a:endParaRPr lang="en-US" altLang="zh-CN" sz="1600" i="1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89" name="Rectangle 32"/>
            <p:cNvSpPr>
              <a:spLocks noChangeArrowheads="1"/>
            </p:cNvSpPr>
            <p:nvPr/>
          </p:nvSpPr>
          <p:spPr bwMode="auto">
            <a:xfrm>
              <a:off x="2185898" y="4940334"/>
              <a:ext cx="784124" cy="107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4221" name="Rectangle 33"/>
            <p:cNvSpPr>
              <a:spLocks noChangeArrowheads="1"/>
            </p:cNvSpPr>
            <p:nvPr/>
          </p:nvSpPr>
          <p:spPr bwMode="auto">
            <a:xfrm>
              <a:off x="3942160" y="4421953"/>
              <a:ext cx="626269" cy="323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22" name="Rectangle 34"/>
            <p:cNvSpPr>
              <a:spLocks noChangeArrowheads="1"/>
            </p:cNvSpPr>
            <p:nvPr/>
          </p:nvSpPr>
          <p:spPr bwMode="auto">
            <a:xfrm>
              <a:off x="3893344" y="3286130"/>
              <a:ext cx="628650" cy="32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Rectangle 36"/>
            <p:cNvSpPr>
              <a:spLocks noChangeArrowheads="1"/>
            </p:cNvSpPr>
            <p:nvPr/>
          </p:nvSpPr>
          <p:spPr bwMode="auto">
            <a:xfrm>
              <a:off x="3103355" y="4940334"/>
              <a:ext cx="809521" cy="107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4224" name="Rectangle 39"/>
            <p:cNvSpPr>
              <a:spLocks noChangeArrowheads="1"/>
            </p:cNvSpPr>
            <p:nvPr/>
          </p:nvSpPr>
          <p:spPr bwMode="auto">
            <a:xfrm>
              <a:off x="3929058" y="4814468"/>
              <a:ext cx="627460" cy="32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25" name="Line 31"/>
            <p:cNvSpPr>
              <a:spLocks noChangeShapeType="1"/>
            </p:cNvSpPr>
            <p:nvPr/>
          </p:nvSpPr>
          <p:spPr bwMode="auto">
            <a:xfrm>
              <a:off x="3013075" y="4286262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26" name="Line 37"/>
            <p:cNvSpPr>
              <a:spLocks noChangeShapeType="1"/>
            </p:cNvSpPr>
            <p:nvPr/>
          </p:nvSpPr>
          <p:spPr bwMode="auto">
            <a:xfrm flipH="1">
              <a:off x="2455863" y="4714890"/>
              <a:ext cx="369887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27" name="Line 38"/>
            <p:cNvSpPr>
              <a:spLocks noChangeShapeType="1"/>
            </p:cNvSpPr>
            <p:nvPr/>
          </p:nvSpPr>
          <p:spPr bwMode="auto">
            <a:xfrm>
              <a:off x="3211513" y="4714890"/>
              <a:ext cx="323850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28" name="Freeform 40"/>
            <p:cNvSpPr>
              <a:spLocks/>
            </p:cNvSpPr>
            <p:nvPr/>
          </p:nvSpPr>
          <p:spPr bwMode="auto">
            <a:xfrm rot="250047">
              <a:off x="1866074" y="2072425"/>
              <a:ext cx="387350" cy="1213906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29" name="Freeform 41"/>
            <p:cNvSpPr>
              <a:spLocks/>
            </p:cNvSpPr>
            <p:nvPr/>
          </p:nvSpPr>
          <p:spPr bwMode="auto">
            <a:xfrm rot="-156154">
              <a:off x="1989159" y="3212925"/>
              <a:ext cx="269875" cy="1193151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30" name="Freeform 42"/>
            <p:cNvSpPr>
              <a:spLocks/>
            </p:cNvSpPr>
            <p:nvPr/>
          </p:nvSpPr>
          <p:spPr bwMode="auto">
            <a:xfrm>
              <a:off x="1611297" y="1714494"/>
              <a:ext cx="746125" cy="3429024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31" name="Rectangle 16"/>
            <p:cNvSpPr>
              <a:spLocks noChangeArrowheads="1"/>
            </p:cNvSpPr>
            <p:nvPr/>
          </p:nvSpPr>
          <p:spPr bwMode="auto">
            <a:xfrm>
              <a:off x="1857356" y="4746643"/>
              <a:ext cx="514350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1" name="Rectangle 30"/>
            <p:cNvSpPr>
              <a:spLocks noChangeArrowheads="1"/>
            </p:cNvSpPr>
            <p:nvPr/>
          </p:nvSpPr>
          <p:spPr bwMode="auto">
            <a:xfrm>
              <a:off x="2212882" y="4429200"/>
              <a:ext cx="1725391" cy="2857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&gt;=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内容占位符 2"/>
          <p:cNvSpPr>
            <a:spLocks noGrp="1"/>
          </p:cNvSpPr>
          <p:nvPr>
            <p:ph idx="1"/>
          </p:nvPr>
        </p:nvSpPr>
        <p:spPr bwMode="auto">
          <a:xfrm>
            <a:off x="468313" y="915988"/>
            <a:ext cx="777557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很多重要的</a:t>
            </a:r>
            <a:r>
              <a:rPr lang="zh-CN" altLang="en-US" sz="2500" b="1">
                <a:solidFill>
                  <a:srgbClr val="2D83F4"/>
                </a:solidFill>
              </a:rPr>
              <a:t>局部优化技术</a:t>
            </a:r>
            <a:r>
              <a:rPr lang="zh-CN" altLang="en-US" sz="2500" b="1">
                <a:solidFill>
                  <a:schemeClr val="tx1"/>
                </a:solidFill>
              </a:rPr>
              <a:t>首先把一个</a:t>
            </a:r>
            <a:r>
              <a:rPr lang="zh-CN" altLang="en-US" sz="2500" b="1">
                <a:solidFill>
                  <a:srgbClr val="2D83F4"/>
                </a:solidFill>
              </a:rPr>
              <a:t>基本块</a:t>
            </a:r>
            <a:r>
              <a:rPr lang="zh-CN" altLang="en-US" sz="2500" b="1">
                <a:solidFill>
                  <a:schemeClr val="tx1"/>
                </a:solidFill>
              </a:rPr>
              <a:t>转换成为一个</a:t>
            </a:r>
            <a:r>
              <a:rPr lang="zh-CN" altLang="en-US" sz="2500" b="1">
                <a:solidFill>
                  <a:srgbClr val="FF0000"/>
                </a:solidFill>
                <a:latin typeface="楷体" panose="02010609060101010101" pitchFamily="49" charset="-122"/>
              </a:rPr>
              <a:t>无环有向图</a:t>
            </a:r>
            <a:r>
              <a:rPr lang="en-US" altLang="zh-CN" sz="2000" b="1">
                <a:solidFill>
                  <a:schemeClr val="tx1"/>
                </a:solidFill>
              </a:rPr>
              <a:t>(</a:t>
            </a:r>
            <a:r>
              <a:rPr lang="en-US" altLang="zh-CN" sz="2000" b="1" i="1">
                <a:solidFill>
                  <a:schemeClr val="tx1"/>
                </a:solidFill>
              </a:rPr>
              <a:t>directed acyclic graph</a:t>
            </a:r>
            <a:r>
              <a:rPr lang="zh-CN" altLang="en-US" sz="2000" b="1" i="1">
                <a:solidFill>
                  <a:schemeClr val="tx1"/>
                </a:solidFill>
              </a:rPr>
              <a:t>，</a:t>
            </a:r>
            <a:r>
              <a:rPr lang="en-US" altLang="zh-CN" sz="2000" b="1" i="1">
                <a:solidFill>
                  <a:schemeClr val="tx1"/>
                </a:solidFill>
              </a:rPr>
              <a:t>DAG</a:t>
            </a:r>
            <a:r>
              <a:rPr lang="en-US" altLang="zh-CN" sz="2000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035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基本块的优化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50825" y="771525"/>
            <a:ext cx="8675688" cy="3749675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  <a:p>
            <a:pPr lvl="1"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+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c</a:t>
            </a:r>
            <a:endParaRPr lang="zh-CN" altLang="en-US" sz="20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-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endParaRPr lang="zh-CN" altLang="en-US" sz="20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endParaRPr lang="zh-CN" altLang="en-US" sz="20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-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endParaRPr lang="en-US" altLang="zh-CN" sz="2000" b="1" dirty="0">
              <a:solidFill>
                <a:schemeClr val="tx1"/>
              </a:solidFill>
              <a:latin typeface="楷体_GB2312"/>
              <a:cs typeface="Times New Roman" panose="02020603050405020304" pitchFamily="18" charset="0"/>
            </a:endParaRPr>
          </a:p>
          <a:p>
            <a:pPr lvl="1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基本块中的每个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语句</a:t>
            </a:r>
            <a:r>
              <a:rPr lang="en-US" altLang="zh-CN" sz="2000" b="1" i="1" dirty="0">
                <a:solidFill>
                  <a:schemeClr val="tx1"/>
                </a:solidFill>
              </a:rPr>
              <a:t>s</a:t>
            </a:r>
            <a:r>
              <a:rPr lang="zh-CN" altLang="en-US" sz="2000" b="1" dirty="0">
                <a:solidFill>
                  <a:schemeClr val="tx1"/>
                </a:solidFill>
              </a:rPr>
              <a:t>都对应一个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内部结点</a:t>
            </a:r>
            <a:r>
              <a:rPr lang="en-US" altLang="zh-CN" sz="2000" b="1" i="1" dirty="0">
                <a:solidFill>
                  <a:schemeClr val="tx1"/>
                </a:solidFill>
              </a:rPr>
              <a:t>N </a:t>
            </a:r>
            <a:r>
              <a:rPr lang="zh-CN" altLang="en-US" sz="2000" b="1" dirty="0">
                <a:solidFill>
                  <a:schemeClr val="tx1"/>
                </a:solidFill>
              </a:rPr>
              <a:t>和相应的子节点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2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chemeClr val="tx1"/>
                </a:solidFill>
              </a:rPr>
              <a:t>结点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</a:rPr>
              <a:t>的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标号</a:t>
            </a:r>
            <a:r>
              <a:rPr lang="zh-CN" altLang="en-US" sz="1800" b="1" dirty="0">
                <a:solidFill>
                  <a:schemeClr val="tx1"/>
                </a:solidFill>
              </a:rPr>
              <a:t>是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中的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运算符</a:t>
            </a:r>
            <a:r>
              <a:rPr lang="zh-CN" altLang="en-US" sz="1800" b="1" dirty="0">
                <a:solidFill>
                  <a:schemeClr val="tx1"/>
                </a:solidFill>
              </a:rPr>
              <a:t>；同时还有一个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定值变量（表）</a:t>
            </a:r>
            <a:r>
              <a:rPr lang="zh-CN" altLang="en-US" sz="1800" b="1" dirty="0">
                <a:solidFill>
                  <a:schemeClr val="tx1"/>
                </a:solidFill>
              </a:rPr>
              <a:t>被关联到</a:t>
            </a:r>
            <a:r>
              <a:rPr lang="en-US" altLang="zh-CN" sz="1800" b="1" i="1" dirty="0">
                <a:solidFill>
                  <a:schemeClr val="tx1"/>
                </a:solidFill>
              </a:rPr>
              <a:t>N </a:t>
            </a:r>
            <a:r>
              <a:rPr lang="zh-CN" altLang="en-US" sz="1800" b="1" dirty="0">
                <a:solidFill>
                  <a:schemeClr val="tx1"/>
                </a:solidFill>
              </a:rPr>
              <a:t>，表示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是在此基本块内最晚对表中变量进行定值的语句</a:t>
            </a:r>
          </a:p>
          <a:p>
            <a:pPr lvl="2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</a:rPr>
              <a:t>的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子结点</a:t>
            </a:r>
            <a:r>
              <a:rPr lang="zh-CN" altLang="en-US" sz="1800" b="1" dirty="0">
                <a:solidFill>
                  <a:schemeClr val="tx1"/>
                </a:solidFill>
              </a:rPr>
              <a:t>是基本块中在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之前、最后一个对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所使用的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运算分量</a:t>
            </a:r>
            <a:r>
              <a:rPr lang="zh-CN" altLang="en-US" sz="1800" b="1" dirty="0">
                <a:solidFill>
                  <a:schemeClr val="tx1"/>
                </a:solidFill>
              </a:rPr>
              <a:t>进行定值的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语句对应的结点</a:t>
            </a:r>
            <a:r>
              <a:rPr lang="zh-CN" altLang="en-US" sz="1800" b="1" dirty="0">
                <a:solidFill>
                  <a:schemeClr val="tx1"/>
                </a:solidFill>
              </a:rPr>
              <a:t>。如果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的某个运算分量在基本块内没有在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之前被定值，则这个运算分量对应的子结点就是代表该运算分量初始值的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叶结点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</a:rPr>
              <a:t>为区别起见，叶节点的定值变量表中的变量加上下脚标</a:t>
            </a:r>
            <a:r>
              <a:rPr lang="en-US" altLang="zh-CN" sz="1800" b="1" dirty="0">
                <a:solidFill>
                  <a:schemeClr val="tx1"/>
                </a:solidFill>
              </a:rPr>
              <a:t>0)</a:t>
            </a:r>
            <a:endParaRPr lang="zh-CN" altLang="en-US" sz="1800" b="1" dirty="0">
              <a:solidFill>
                <a:schemeClr val="tx1"/>
              </a:solidFill>
            </a:endParaRPr>
          </a:p>
          <a:p>
            <a:pPr lvl="2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chemeClr val="tx1"/>
                </a:solidFill>
              </a:rPr>
              <a:t>在为语句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=</a:t>
            </a:r>
            <a:r>
              <a:rPr lang="en-US" altLang="zh-CN" sz="1800" b="1" i="1" dirty="0" err="1">
                <a:solidFill>
                  <a:schemeClr val="tx1"/>
                </a:solidFill>
              </a:rPr>
              <a:t>y</a:t>
            </a:r>
            <a:r>
              <a:rPr lang="en-US" altLang="zh-CN" sz="1800" b="1" dirty="0" err="1">
                <a:solidFill>
                  <a:schemeClr val="tx1"/>
                </a:solidFill>
              </a:rPr>
              <a:t>+</a:t>
            </a:r>
            <a:r>
              <a:rPr lang="en-US" altLang="zh-CN" sz="1800" b="1" i="1" dirty="0" err="1">
                <a:solidFill>
                  <a:schemeClr val="tx1"/>
                </a:solidFill>
              </a:rPr>
              <a:t>z</a:t>
            </a:r>
            <a:r>
              <a:rPr lang="zh-CN" altLang="en-US" sz="1800" b="1" dirty="0">
                <a:solidFill>
                  <a:schemeClr val="tx1"/>
                </a:solidFill>
              </a:rPr>
              <a:t>构造结点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</a:rPr>
              <a:t>的时候，如果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</a:rPr>
              <a:t>已经在某结点</a:t>
            </a:r>
            <a:r>
              <a:rPr lang="en-US" altLang="zh-CN" sz="1800" b="1" i="1" dirty="0">
                <a:solidFill>
                  <a:schemeClr val="tx1"/>
                </a:solidFill>
              </a:rPr>
              <a:t>M</a:t>
            </a:r>
            <a:r>
              <a:rPr lang="zh-CN" altLang="en-US" sz="1800" b="1" dirty="0">
                <a:solidFill>
                  <a:schemeClr val="tx1"/>
                </a:solidFill>
              </a:rPr>
              <a:t>的定值变量表中，则从</a:t>
            </a:r>
            <a:r>
              <a:rPr lang="en-US" altLang="zh-CN" sz="1800" b="1" i="1" dirty="0">
                <a:solidFill>
                  <a:schemeClr val="tx1"/>
                </a:solidFill>
              </a:rPr>
              <a:t>M</a:t>
            </a:r>
            <a:r>
              <a:rPr lang="zh-CN" altLang="en-US" sz="1800" b="1" dirty="0">
                <a:solidFill>
                  <a:schemeClr val="tx1"/>
                </a:solidFill>
              </a:rPr>
              <a:t>的定值变量表中删除变量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</a:p>
          <a:p>
            <a:pPr lvl="2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schemeClr val="tx1"/>
              </a:solidFill>
            </a:endParaRPr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 </a:t>
            </a:r>
            <a:r>
              <a:rPr lang="en-US" altLang="zh-CN" sz="3000" i="1">
                <a:solidFill>
                  <a:schemeClr val="tx1"/>
                </a:solidFill>
              </a:rPr>
              <a:t>DAG</a:t>
            </a:r>
            <a:r>
              <a:rPr lang="zh-CN" altLang="en-US" sz="3000" i="1">
                <a:solidFill>
                  <a:schemeClr val="tx1"/>
                </a:solidFill>
              </a:rPr>
              <a:t>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</a:p>
        </p:txBody>
      </p: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6948153" y="689821"/>
            <a:ext cx="515883" cy="369887"/>
            <a:chOff x="4119" y="1833"/>
            <a:chExt cx="434" cy="310"/>
          </a:xfrm>
          <a:noFill/>
        </p:grpSpPr>
        <p:sp>
          <p:nvSpPr>
            <p:cNvPr id="95260" name="Oval 6"/>
            <p:cNvSpPr>
              <a:spLocks noChangeArrowheads="1"/>
            </p:cNvSpPr>
            <p:nvPr/>
          </p:nvSpPr>
          <p:spPr bwMode="auto">
            <a:xfrm>
              <a:off x="4150" y="1888"/>
              <a:ext cx="203" cy="1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0">
                <a:solidFill>
                  <a:prstClr val="black"/>
                </a:solidFill>
                <a:ea typeface="楷体_GB2312"/>
                <a:cs typeface="楷体_GB2312"/>
              </a:endParaRPr>
            </a:p>
          </p:txBody>
        </p:sp>
        <p:sp>
          <p:nvSpPr>
            <p:cNvPr id="95261" name="Text Box 7"/>
            <p:cNvSpPr txBox="1">
              <a:spLocks noChangeArrowheads="1"/>
            </p:cNvSpPr>
            <p:nvPr/>
          </p:nvSpPr>
          <p:spPr bwMode="auto">
            <a:xfrm>
              <a:off x="4119" y="1833"/>
              <a:ext cx="434" cy="31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633872" name="Line 16"/>
          <p:cNvSpPr>
            <a:spLocks noChangeShapeType="1"/>
          </p:cNvSpPr>
          <p:nvPr/>
        </p:nvSpPr>
        <p:spPr bwMode="auto">
          <a:xfrm flipH="1">
            <a:off x="5957888" y="1671638"/>
            <a:ext cx="268287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73" name="Line 17"/>
          <p:cNvSpPr>
            <a:spLocks noChangeShapeType="1"/>
          </p:cNvSpPr>
          <p:nvPr/>
        </p:nvSpPr>
        <p:spPr bwMode="auto">
          <a:xfrm>
            <a:off x="6430963" y="1671638"/>
            <a:ext cx="446087" cy="271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74" name="Line 18"/>
          <p:cNvSpPr>
            <a:spLocks noChangeShapeType="1"/>
          </p:cNvSpPr>
          <p:nvPr/>
        </p:nvSpPr>
        <p:spPr bwMode="auto">
          <a:xfrm flipV="1">
            <a:off x="6337300" y="1241425"/>
            <a:ext cx="29527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75" name="Line 19"/>
          <p:cNvSpPr>
            <a:spLocks noChangeShapeType="1"/>
          </p:cNvSpPr>
          <p:nvPr/>
        </p:nvSpPr>
        <p:spPr bwMode="auto">
          <a:xfrm flipV="1">
            <a:off x="6769100" y="915988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76" name="Line 20"/>
          <p:cNvSpPr>
            <a:spLocks noChangeShapeType="1"/>
          </p:cNvSpPr>
          <p:nvPr/>
        </p:nvSpPr>
        <p:spPr bwMode="auto">
          <a:xfrm>
            <a:off x="6823075" y="1239838"/>
            <a:ext cx="323850" cy="325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80" name="Text Box 24"/>
          <p:cNvSpPr txBox="1">
            <a:spLocks noChangeArrowheads="1"/>
          </p:cNvSpPr>
          <p:nvPr/>
        </p:nvSpPr>
        <p:spPr bwMode="auto">
          <a:xfrm>
            <a:off x="6448425" y="1433513"/>
            <a:ext cx="5715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33901" name="Text Box 45"/>
          <p:cNvSpPr txBox="1">
            <a:spLocks noChangeArrowheads="1"/>
          </p:cNvSpPr>
          <p:nvPr/>
        </p:nvSpPr>
        <p:spPr bwMode="auto">
          <a:xfrm>
            <a:off x="7200900" y="627063"/>
            <a:ext cx="4572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33905" name="Rectangle 49"/>
          <p:cNvSpPr>
            <a:spLocks noChangeArrowheads="1"/>
          </p:cNvSpPr>
          <p:nvPr/>
        </p:nvSpPr>
        <p:spPr bwMode="auto">
          <a:xfrm>
            <a:off x="2268538" y="842963"/>
            <a:ext cx="3032125" cy="14541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对于形如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的三地址指令，如果已经有一个结点表示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，就不往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DAG</a:t>
            </a: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中增加新的结点，而是给已经存在的结点附加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定值变量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endParaRPr lang="zh-CN" altLang="en-US" i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33907" name="Text Box 51"/>
          <p:cNvSpPr txBox="1">
            <a:spLocks noChangeArrowheads="1"/>
          </p:cNvSpPr>
          <p:nvPr/>
        </p:nvSpPr>
        <p:spPr bwMode="auto">
          <a:xfrm>
            <a:off x="6823075" y="1025525"/>
            <a:ext cx="24765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33915" name="Oval 59"/>
          <p:cNvSpPr>
            <a:spLocks noChangeArrowheads="1"/>
          </p:cNvSpPr>
          <p:nvPr/>
        </p:nvSpPr>
        <p:spPr bwMode="auto">
          <a:xfrm>
            <a:off x="6985000" y="1511300"/>
            <a:ext cx="269875" cy="2698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en-US" altLang="zh-CN" b="0" i="1" baseline="-25000">
              <a:solidFill>
                <a:prstClr val="black"/>
              </a:solidFill>
              <a:latin typeface="Times New Roman" pitchFamily="18" charset="0"/>
              <a:ea typeface="楷体_GB2312"/>
              <a:cs typeface="楷体_GB2312"/>
            </a:endParaRPr>
          </a:p>
        </p:txBody>
      </p:sp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6607175" y="987425"/>
            <a:ext cx="241300" cy="368300"/>
            <a:chOff x="4150" y="1810"/>
            <a:chExt cx="203" cy="310"/>
          </a:xfrm>
        </p:grpSpPr>
        <p:sp>
          <p:nvSpPr>
            <p:cNvPr id="95258" name="Oval 64"/>
            <p:cNvSpPr>
              <a:spLocks noChangeArrowheads="1"/>
            </p:cNvSpPr>
            <p:nvPr/>
          </p:nvSpPr>
          <p:spPr bwMode="auto">
            <a:xfrm>
              <a:off x="4150" y="1887"/>
              <a:ext cx="203" cy="18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0">
                <a:solidFill>
                  <a:prstClr val="black"/>
                </a:solidFill>
                <a:ea typeface="楷体_GB2312"/>
                <a:cs typeface="楷体_GB2312"/>
              </a:endParaRPr>
            </a:p>
          </p:txBody>
        </p:sp>
        <p:sp>
          <p:nvSpPr>
            <p:cNvPr id="102429" name="Text Box 65"/>
            <p:cNvSpPr txBox="1">
              <a:spLocks noChangeArrowheads="1"/>
            </p:cNvSpPr>
            <p:nvPr/>
          </p:nvSpPr>
          <p:spPr bwMode="auto">
            <a:xfrm>
              <a:off x="4150" y="1810"/>
              <a:ext cx="14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</p:grp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6192505" y="1404251"/>
            <a:ext cx="278149" cy="368300"/>
            <a:chOff x="4119" y="1829"/>
            <a:chExt cx="234" cy="310"/>
          </a:xfrm>
          <a:noFill/>
        </p:grpSpPr>
        <p:sp>
          <p:nvSpPr>
            <p:cNvPr id="95256" name="Oval 67"/>
            <p:cNvSpPr>
              <a:spLocks noChangeArrowheads="1"/>
            </p:cNvSpPr>
            <p:nvPr/>
          </p:nvSpPr>
          <p:spPr bwMode="auto">
            <a:xfrm>
              <a:off x="4150" y="1888"/>
              <a:ext cx="203" cy="1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0">
                <a:solidFill>
                  <a:prstClr val="black"/>
                </a:solidFill>
                <a:ea typeface="楷体_GB2312"/>
                <a:cs typeface="楷体_GB2312"/>
              </a:endParaRPr>
            </a:p>
          </p:txBody>
        </p:sp>
        <p:sp>
          <p:nvSpPr>
            <p:cNvPr id="95257" name="Text Box 68"/>
            <p:cNvSpPr txBox="1">
              <a:spLocks noChangeArrowheads="1"/>
            </p:cNvSpPr>
            <p:nvPr/>
          </p:nvSpPr>
          <p:spPr bwMode="auto">
            <a:xfrm>
              <a:off x="4119" y="1829"/>
              <a:ext cx="145" cy="31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633928" name="Oval 72"/>
          <p:cNvSpPr>
            <a:spLocks noChangeArrowheads="1"/>
          </p:cNvSpPr>
          <p:nvPr/>
        </p:nvSpPr>
        <p:spPr bwMode="auto">
          <a:xfrm>
            <a:off x="5743575" y="1941513"/>
            <a:ext cx="269875" cy="2698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spcBef>
                <a:spcPct val="50000"/>
              </a:spcBef>
              <a:defRPr/>
            </a:pPr>
            <a:endParaRPr lang="en-US" altLang="zh-CN" b="0" i="1" baseline="-25000">
              <a:solidFill>
                <a:srgbClr val="000000"/>
              </a:solidFill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633929" name="Oval 73"/>
          <p:cNvSpPr>
            <a:spLocks noChangeArrowheads="1"/>
          </p:cNvSpPr>
          <p:nvPr/>
        </p:nvSpPr>
        <p:spPr bwMode="auto">
          <a:xfrm>
            <a:off x="6769100" y="1949450"/>
            <a:ext cx="269875" cy="2698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en-US" altLang="zh-CN" b="0" i="1" baseline="-25000">
              <a:solidFill>
                <a:prstClr val="black"/>
              </a:solidFill>
              <a:latin typeface="Times New Roman" pitchFamily="18" charset="0"/>
              <a:ea typeface="楷体_GB2312"/>
              <a:cs typeface="楷体_GB2312"/>
            </a:endParaRPr>
          </a:p>
        </p:txBody>
      </p:sp>
      <p:sp>
        <p:nvSpPr>
          <p:cNvPr id="633930" name="Freeform 74"/>
          <p:cNvSpPr>
            <a:spLocks/>
          </p:cNvSpPr>
          <p:nvPr/>
        </p:nvSpPr>
        <p:spPr bwMode="auto">
          <a:xfrm>
            <a:off x="7038975" y="917575"/>
            <a:ext cx="846138" cy="1079500"/>
          </a:xfrm>
          <a:custGeom>
            <a:avLst/>
            <a:gdLst>
              <a:gd name="T0" fmla="*/ 2147483646 w 711"/>
              <a:gd name="T1" fmla="*/ 0 h 907"/>
              <a:gd name="T2" fmla="*/ 2147483646 w 711"/>
              <a:gd name="T3" fmla="*/ 2147483646 h 907"/>
              <a:gd name="T4" fmla="*/ 0 w 711"/>
              <a:gd name="T5" fmla="*/ 2147483646 h 907"/>
              <a:gd name="T6" fmla="*/ 0 60000 65536"/>
              <a:gd name="T7" fmla="*/ 0 60000 65536"/>
              <a:gd name="T8" fmla="*/ 0 60000 65536"/>
              <a:gd name="T9" fmla="*/ 0 w 711"/>
              <a:gd name="T10" fmla="*/ 0 h 907"/>
              <a:gd name="T11" fmla="*/ 711 w 711"/>
              <a:gd name="T12" fmla="*/ 907 h 9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1" h="907">
                <a:moveTo>
                  <a:pt x="182" y="0"/>
                </a:moveTo>
                <a:cubicBezTo>
                  <a:pt x="446" y="128"/>
                  <a:pt x="711" y="257"/>
                  <a:pt x="681" y="408"/>
                </a:cubicBezTo>
                <a:cubicBezTo>
                  <a:pt x="651" y="559"/>
                  <a:pt x="325" y="733"/>
                  <a:pt x="0" y="90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2420" name="Rectangle 77"/>
          <p:cNvSpPr>
            <a:spLocks noChangeArrowheads="1"/>
          </p:cNvSpPr>
          <p:nvPr/>
        </p:nvSpPr>
        <p:spPr bwMode="auto">
          <a:xfrm>
            <a:off x="1655763" y="3381375"/>
            <a:ext cx="5829300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931025" y="1025525"/>
            <a:ext cx="2540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957888" y="1887538"/>
            <a:ext cx="33178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981825" y="1943100"/>
            <a:ext cx="3175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7229475" y="1433513"/>
            <a:ext cx="3317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6021388" y="1968500"/>
            <a:ext cx="219075" cy="2508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070725" y="2062163"/>
            <a:ext cx="219075" cy="2508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223125" y="1457325"/>
            <a:ext cx="219075" cy="2508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3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33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33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3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33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33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3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33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33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33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33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33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33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3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33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33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3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3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33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3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33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33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3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33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33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3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33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33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3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633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633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3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633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633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3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72" grpId="0" animBg="1"/>
      <p:bldP spid="633873" grpId="0" animBg="1"/>
      <p:bldP spid="633874" grpId="0" animBg="1"/>
      <p:bldP spid="633875" grpId="0" animBg="1"/>
      <p:bldP spid="633876" grpId="0" animBg="1"/>
      <p:bldP spid="633880" grpId="0"/>
      <p:bldP spid="633901" grpId="0"/>
      <p:bldP spid="633905" grpId="0" animBg="1"/>
      <p:bldP spid="633907" grpId="0"/>
      <p:bldP spid="633915" grpId="0" animBg="1"/>
      <p:bldP spid="633928" grpId="0" animBg="1"/>
      <p:bldP spid="633929" grpId="0" animBg="1"/>
      <p:bldP spid="633930" grpId="0" animBg="1"/>
      <p:bldP spid="2" grpId="0"/>
      <p:bldP spid="3" grpId="0"/>
      <p:bldP spid="29" grpId="0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785813"/>
            <a:ext cx="8215313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从一个</a:t>
            </a:r>
            <a:r>
              <a:rPr lang="en-US" altLang="zh-CN" sz="2500" b="1" i="1" dirty="0">
                <a:solidFill>
                  <a:schemeClr val="tx1"/>
                </a:solidFill>
              </a:rPr>
              <a:t>DAG</a:t>
            </a:r>
            <a:r>
              <a:rPr lang="zh-CN" altLang="en-US" sz="2500" b="1" dirty="0">
                <a:solidFill>
                  <a:schemeClr val="tx1"/>
                </a:solidFill>
              </a:rPr>
              <a:t>上删除所有</a:t>
            </a:r>
            <a:r>
              <a:rPr lang="zh-CN" altLang="en-US" sz="2500" b="1" dirty="0">
                <a:solidFill>
                  <a:srgbClr val="2D83F4"/>
                </a:solidFill>
              </a:rPr>
              <a:t>不包含活跃变量</a:t>
            </a:r>
            <a:r>
              <a:rPr lang="zh-CN" altLang="en-US" sz="2500" b="1" dirty="0">
                <a:solidFill>
                  <a:schemeClr val="tx1"/>
                </a:solidFill>
              </a:rPr>
              <a:t>（活跃变量是指其值可能会在以后被使用的变量）的</a:t>
            </a:r>
            <a:r>
              <a:rPr lang="zh-CN" altLang="en-US" sz="2500" b="1" dirty="0">
                <a:solidFill>
                  <a:srgbClr val="2D83F4"/>
                </a:solidFill>
              </a:rPr>
              <a:t>根结点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</a:rPr>
              <a:t>即没有父结点的结点</a:t>
            </a:r>
            <a:r>
              <a:rPr lang="en-US" altLang="zh-CN" sz="2500" b="1" dirty="0">
                <a:solidFill>
                  <a:schemeClr val="tx1"/>
                </a:solidFill>
              </a:rPr>
              <a:t>) </a:t>
            </a:r>
            <a:r>
              <a:rPr lang="zh-CN" altLang="en-US" sz="2500" b="1" dirty="0">
                <a:solidFill>
                  <a:schemeClr val="tx1"/>
                </a:solidFill>
              </a:rPr>
              <a:t>。重复应用这样的处理过程就可以从</a:t>
            </a:r>
            <a:r>
              <a:rPr lang="en-US" altLang="zh-CN" sz="2500" b="1" i="1" dirty="0">
                <a:solidFill>
                  <a:schemeClr val="tx1"/>
                </a:solidFill>
              </a:rPr>
              <a:t>DAG</a:t>
            </a:r>
            <a:r>
              <a:rPr lang="zh-CN" altLang="en-US" sz="2500" b="1" dirty="0">
                <a:solidFill>
                  <a:schemeClr val="tx1"/>
                </a:solidFill>
              </a:rPr>
              <a:t>中消除所有对应于无用代码的结点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例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+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 c</a:t>
            </a:r>
          </a:p>
          <a:p>
            <a:pPr lvl="1"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-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d</a:t>
            </a:r>
            <a:endParaRPr lang="zh-CN" altLang="en-US" sz="2000" b="1" i="1" dirty="0">
              <a:solidFill>
                <a:srgbClr val="000000"/>
              </a:solidFill>
              <a:ea typeface="楷体_GB2312" pitchFamily="49" charset="-122"/>
            </a:endParaRPr>
          </a:p>
          <a:p>
            <a:pPr lvl="1"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c 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=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c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+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d</a:t>
            </a:r>
            <a:endParaRPr lang="zh-CN" altLang="en-US" sz="2000" b="1" i="1" dirty="0">
              <a:solidFill>
                <a:srgbClr val="000000"/>
              </a:solidFill>
              <a:ea typeface="楷体_GB2312" pitchFamily="49" charset="-122"/>
            </a:endParaRPr>
          </a:p>
          <a:p>
            <a:pPr lvl="1"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e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+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c</a:t>
            </a:r>
            <a:endParaRPr lang="en-US" altLang="zh-CN" sz="2000" b="1" dirty="0">
              <a:solidFill>
                <a:srgbClr val="000000"/>
              </a:solidFill>
              <a:latin typeface="楷体_GB2312" pitchFamily="49" charset="-122"/>
            </a:endParaRPr>
          </a:p>
          <a:p>
            <a:pPr eaLnBrk="1" hangingPunct="1">
              <a:lnSpc>
                <a:spcPts val="3500"/>
              </a:lnSpc>
              <a:buClrTx/>
              <a:buFont typeface="Symbol" panose="05050102010706020507" pitchFamily="18" charset="2"/>
              <a:buNone/>
            </a:pPr>
            <a:endParaRPr lang="zh-CN" altLang="en-US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基于基本块的 </a:t>
            </a:r>
            <a:r>
              <a:rPr lang="en-US" altLang="zh-CN" sz="3000" i="1">
                <a:solidFill>
                  <a:schemeClr val="tx1"/>
                </a:solidFill>
              </a:rPr>
              <a:t>DAG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删除无用代码</a:t>
            </a:r>
          </a:p>
        </p:txBody>
      </p:sp>
      <p:grpSp>
        <p:nvGrpSpPr>
          <p:cNvPr id="2" name="组合 73"/>
          <p:cNvGrpSpPr>
            <a:grpSpLocks/>
          </p:cNvGrpSpPr>
          <p:nvPr/>
        </p:nvGrpSpPr>
        <p:grpSpPr bwMode="auto">
          <a:xfrm>
            <a:off x="2484438" y="2689225"/>
            <a:ext cx="2428875" cy="1774825"/>
            <a:chOff x="5572132" y="4500576"/>
            <a:chExt cx="2428892" cy="1775045"/>
          </a:xfrm>
        </p:grpSpPr>
        <p:sp>
          <p:nvSpPr>
            <p:cNvPr id="104456" name="Line 49"/>
            <p:cNvSpPr>
              <a:spLocks noChangeShapeType="1"/>
            </p:cNvSpPr>
            <p:nvPr/>
          </p:nvSpPr>
          <p:spPr bwMode="auto">
            <a:xfrm flipH="1">
              <a:off x="5857884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4457" name="Line 50"/>
            <p:cNvSpPr>
              <a:spLocks noChangeShapeType="1"/>
            </p:cNvSpPr>
            <p:nvPr/>
          </p:nvSpPr>
          <p:spPr bwMode="auto">
            <a:xfrm>
              <a:off x="7183451" y="4857766"/>
              <a:ext cx="388945" cy="428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grpSp>
          <p:nvGrpSpPr>
            <p:cNvPr id="104458" name="Group 34"/>
            <p:cNvGrpSpPr>
              <a:grpSpLocks/>
            </p:cNvGrpSpPr>
            <p:nvPr/>
          </p:nvGrpSpPr>
          <p:grpSpPr bwMode="auto">
            <a:xfrm>
              <a:off x="5605472" y="5123528"/>
              <a:ext cx="323850" cy="369889"/>
              <a:chOff x="3648" y="1373"/>
              <a:chExt cx="336" cy="382"/>
            </a:xfrm>
          </p:grpSpPr>
          <p:sp>
            <p:nvSpPr>
              <p:cNvPr id="117791" name="Oval 35"/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 i="1" dirty="0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04482" name="Text Box 36"/>
              <p:cNvSpPr txBox="1">
                <a:spLocks noChangeArrowheads="1"/>
              </p:cNvSpPr>
              <p:nvPr/>
            </p:nvSpPr>
            <p:spPr bwMode="auto">
              <a:xfrm>
                <a:off x="3659" y="1373"/>
                <a:ext cx="24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104459" name="Line 44"/>
            <p:cNvSpPr>
              <a:spLocks noChangeShapeType="1"/>
            </p:cNvSpPr>
            <p:nvPr/>
          </p:nvSpPr>
          <p:spPr bwMode="auto">
            <a:xfrm flipH="1">
              <a:off x="5777393" y="5474535"/>
              <a:ext cx="0" cy="5000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4460" name="Line 49"/>
            <p:cNvSpPr>
              <a:spLocks noChangeShapeType="1"/>
            </p:cNvSpPr>
            <p:nvPr/>
          </p:nvSpPr>
          <p:spPr bwMode="auto">
            <a:xfrm>
              <a:off x="5857884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4461" name="Line 50"/>
            <p:cNvSpPr>
              <a:spLocks noChangeShapeType="1"/>
            </p:cNvSpPr>
            <p:nvPr/>
          </p:nvSpPr>
          <p:spPr bwMode="auto">
            <a:xfrm flipH="1">
              <a:off x="6675456" y="4857766"/>
              <a:ext cx="253997" cy="285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4462" name="矩形 52"/>
            <p:cNvSpPr>
              <a:spLocks noChangeArrowheads="1"/>
            </p:cNvSpPr>
            <p:nvPr/>
          </p:nvSpPr>
          <p:spPr bwMode="auto">
            <a:xfrm>
              <a:off x="5572132" y="5929336"/>
              <a:ext cx="330860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4463" name="矩形 53"/>
            <p:cNvSpPr>
              <a:spLocks noChangeArrowheads="1"/>
            </p:cNvSpPr>
            <p:nvPr/>
          </p:nvSpPr>
          <p:spPr bwMode="auto">
            <a:xfrm>
              <a:off x="6429388" y="5929336"/>
              <a:ext cx="318038" cy="346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c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04464" name="Group 34"/>
            <p:cNvGrpSpPr>
              <a:grpSpLocks/>
            </p:cNvGrpSpPr>
            <p:nvPr/>
          </p:nvGrpSpPr>
          <p:grpSpPr bwMode="auto">
            <a:xfrm>
              <a:off x="6462728" y="5096072"/>
              <a:ext cx="323850" cy="372793"/>
              <a:chOff x="3648" y="1343"/>
              <a:chExt cx="336" cy="385"/>
            </a:xfrm>
          </p:grpSpPr>
          <p:sp>
            <p:nvSpPr>
              <p:cNvPr id="117789" name="Oval 35"/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04480" name="Text Box 36"/>
              <p:cNvSpPr txBox="1">
                <a:spLocks noChangeArrowheads="1"/>
              </p:cNvSpPr>
              <p:nvPr/>
            </p:nvSpPr>
            <p:spPr bwMode="auto">
              <a:xfrm>
                <a:off x="3687" y="1343"/>
                <a:ext cx="24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</a:rPr>
                  <a:t>-</a:t>
                </a:r>
              </a:p>
            </p:txBody>
          </p:sp>
        </p:grpSp>
        <p:grpSp>
          <p:nvGrpSpPr>
            <p:cNvPr id="104465" name="Group 34"/>
            <p:cNvGrpSpPr>
              <a:grpSpLocks/>
            </p:cNvGrpSpPr>
            <p:nvPr/>
          </p:nvGrpSpPr>
          <p:grpSpPr bwMode="auto">
            <a:xfrm>
              <a:off x="7358082" y="5126088"/>
              <a:ext cx="323850" cy="369888"/>
              <a:chOff x="3648" y="1374"/>
              <a:chExt cx="336" cy="382"/>
            </a:xfrm>
          </p:grpSpPr>
          <p:sp>
            <p:nvSpPr>
              <p:cNvPr id="117787" name="Oval 35"/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04478" name="Text Box 36"/>
              <p:cNvSpPr txBox="1">
                <a:spLocks noChangeArrowheads="1"/>
              </p:cNvSpPr>
              <p:nvPr/>
            </p:nvSpPr>
            <p:spPr bwMode="auto">
              <a:xfrm>
                <a:off x="3661" y="1374"/>
                <a:ext cx="24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grpSp>
          <p:nvGrpSpPr>
            <p:cNvPr id="104466" name="Group 34"/>
            <p:cNvGrpSpPr>
              <a:grpSpLocks/>
            </p:cNvGrpSpPr>
            <p:nvPr/>
          </p:nvGrpSpPr>
          <p:grpSpPr bwMode="auto">
            <a:xfrm>
              <a:off x="6891356" y="4541886"/>
              <a:ext cx="323850" cy="369888"/>
              <a:chOff x="3648" y="1374"/>
              <a:chExt cx="336" cy="382"/>
            </a:xfrm>
          </p:grpSpPr>
          <p:sp>
            <p:nvSpPr>
              <p:cNvPr id="117785" name="Oval 35"/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04476" name="Text Box 36"/>
              <p:cNvSpPr txBox="1">
                <a:spLocks noChangeArrowheads="1"/>
              </p:cNvSpPr>
              <p:nvPr/>
            </p:nvSpPr>
            <p:spPr bwMode="auto">
              <a:xfrm>
                <a:off x="3661" y="1374"/>
                <a:ext cx="24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104467" name="矩形 64"/>
            <p:cNvSpPr>
              <a:spLocks noChangeArrowheads="1"/>
            </p:cNvSpPr>
            <p:nvPr/>
          </p:nvSpPr>
          <p:spPr bwMode="auto">
            <a:xfrm>
              <a:off x="7358082" y="5929336"/>
              <a:ext cx="330860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d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4468" name="矩形 65"/>
            <p:cNvSpPr>
              <a:spLocks noChangeArrowheads="1"/>
            </p:cNvSpPr>
            <p:nvPr/>
          </p:nvSpPr>
          <p:spPr bwMode="auto">
            <a:xfrm>
              <a:off x="7286644" y="4500576"/>
              <a:ext cx="241092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e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4469" name="矩形 66"/>
            <p:cNvSpPr>
              <a:spLocks noChangeArrowheads="1"/>
            </p:cNvSpPr>
            <p:nvPr/>
          </p:nvSpPr>
          <p:spPr bwMode="auto">
            <a:xfrm>
              <a:off x="7759932" y="5083021"/>
              <a:ext cx="241092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c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4470" name="矩形 67"/>
            <p:cNvSpPr>
              <a:spLocks noChangeArrowheads="1"/>
            </p:cNvSpPr>
            <p:nvPr/>
          </p:nvSpPr>
          <p:spPr bwMode="auto">
            <a:xfrm>
              <a:off x="6831238" y="5083021"/>
              <a:ext cx="253916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b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4471" name="矩形 68"/>
            <p:cNvSpPr>
              <a:spLocks noChangeArrowheads="1"/>
            </p:cNvSpPr>
            <p:nvPr/>
          </p:nvSpPr>
          <p:spPr bwMode="auto">
            <a:xfrm>
              <a:off x="5929322" y="5083021"/>
              <a:ext cx="253916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a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4472" name="Line 44"/>
            <p:cNvSpPr>
              <a:spLocks noChangeShapeType="1"/>
            </p:cNvSpPr>
            <p:nvPr/>
          </p:nvSpPr>
          <p:spPr bwMode="auto">
            <a:xfrm flipH="1">
              <a:off x="7536184" y="5473549"/>
              <a:ext cx="0" cy="5000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4473" name="Line 49"/>
            <p:cNvSpPr>
              <a:spLocks noChangeShapeType="1"/>
            </p:cNvSpPr>
            <p:nvPr/>
          </p:nvSpPr>
          <p:spPr bwMode="auto">
            <a:xfrm>
              <a:off x="6715140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4474" name="Line 49"/>
            <p:cNvSpPr>
              <a:spLocks noChangeShapeType="1"/>
            </p:cNvSpPr>
            <p:nvPr/>
          </p:nvSpPr>
          <p:spPr bwMode="auto">
            <a:xfrm flipH="1">
              <a:off x="6715140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 bwMode="auto">
          <a:xfrm>
            <a:off x="3743748" y="2643188"/>
            <a:ext cx="471062" cy="3211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68580" tIns="34290" rIns="68580" bIns="34290"/>
          <a:lstStyle/>
          <a:p>
            <a:pPr algn="ctr" eaLnBrk="1" hangingPunct="1">
              <a:defRPr/>
            </a:pPr>
            <a:r>
              <a:rPr lang="en-US" altLang="zh-CN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endParaRPr lang="zh-CN" altLang="en-US" sz="3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214810" y="3214692"/>
            <a:ext cx="471062" cy="4860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68580" tIns="34290" rIns="68580" bIns="34290"/>
          <a:lstStyle/>
          <a:p>
            <a:pPr algn="ctr" eaLnBrk="1" hangingPunct="1">
              <a:defRPr/>
            </a:pPr>
            <a:r>
              <a:rPr lang="en-US" altLang="zh-CN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endParaRPr lang="zh-CN" altLang="en-US" sz="3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31925" y="4522788"/>
            <a:ext cx="4741863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假设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是活跃变量，但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不是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846138"/>
            <a:ext cx="4119563" cy="1819275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]=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y</a:t>
            </a:r>
          </a:p>
          <a:p>
            <a:pPr lvl="1" eaLnBrk="1" hangingPunct="1">
              <a:lnSpc>
                <a:spcPct val="90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4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数组元素赋值指令的表示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1801" name="Rectangle 25"/>
          <p:cNvSpPr>
            <a:spLocks noGrp="1" noChangeArrowheads="1"/>
          </p:cNvSpPr>
          <p:nvPr>
            <p:ph sz="half" idx="4294967295"/>
          </p:nvPr>
        </p:nvSpPr>
        <p:spPr bwMode="auto">
          <a:xfrm>
            <a:off x="4487863" y="1387475"/>
            <a:ext cx="4487862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/>
          <a:p>
            <a:pPr eaLnBrk="1" hangingPunct="1">
              <a:lnSpc>
                <a:spcPts val="26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对于形如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= 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的三地址指令，创建一个运算符为“</a:t>
            </a: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[]=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”的结点，这个结点有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个子结点，分别表示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endParaRPr lang="zh-CN" altLang="en-US" b="1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6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该结点没有定值变量表</a:t>
            </a:r>
            <a:endParaRPr lang="en-US" altLang="zh-CN" b="1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6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该结点的创建将</a:t>
            </a:r>
            <a:r>
              <a:rPr lang="zh-CN" altLang="en-US" b="1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杀死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所有已经建立的、其值依赖于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的结点</a:t>
            </a:r>
            <a:endParaRPr lang="en-US" altLang="zh-CN" b="1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6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一个被杀死的结点</a:t>
            </a:r>
            <a:r>
              <a:rPr lang="zh-CN" altLang="en-US" b="1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不能再获得任何定值变量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，也就是说，它不可能成为一个公共子表达式</a:t>
            </a:r>
            <a:endParaRPr lang="en-US" altLang="zh-CN" b="1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1780" name="AutoShape 4"/>
          <p:cNvSpPr>
            <a:spLocks noChangeArrowheads="1"/>
          </p:cNvSpPr>
          <p:nvPr/>
        </p:nvSpPr>
        <p:spPr bwMode="auto">
          <a:xfrm>
            <a:off x="1979613" y="1411288"/>
            <a:ext cx="2509837" cy="1952625"/>
          </a:xfrm>
          <a:prstGeom prst="cloudCallout">
            <a:avLst>
              <a:gd name="adj1" fmla="val -64211"/>
              <a:gd name="adj2" fmla="val -2983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27000" rIns="0" bIns="54000"/>
          <a:lstStyle/>
          <a:p>
            <a:pPr algn="ctr" eaLnBrk="1" hangingPunct="1">
              <a:defRPr/>
            </a:pPr>
            <a:r>
              <a:rPr lang="zh-CN" altLang="en-US" sz="20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在构造</a:t>
            </a:r>
            <a:r>
              <a:rPr lang="en-US" altLang="zh-CN" sz="20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DAG</a:t>
            </a:r>
            <a:r>
              <a:rPr lang="zh-CN" altLang="en-US" sz="20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时，如何防止系统将</a:t>
            </a:r>
            <a:r>
              <a:rPr lang="en-US" altLang="zh-CN" sz="2000" i="1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0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[</a:t>
            </a:r>
            <a:r>
              <a:rPr lang="en-US" altLang="zh-CN" sz="2000" i="1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</a:t>
            </a:r>
            <a:r>
              <a:rPr lang="zh-CN" altLang="en-US" sz="20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误判为公共子表达式？</a:t>
            </a:r>
            <a:endParaRPr lang="en-US" altLang="zh-CN" sz="2000" dirty="0">
              <a:solidFill>
                <a:schemeClr val="bg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71796" name="Text Box 20"/>
          <p:cNvSpPr txBox="1">
            <a:spLocks noChangeArrowheads="1"/>
          </p:cNvSpPr>
          <p:nvPr/>
        </p:nvSpPr>
        <p:spPr bwMode="auto">
          <a:xfrm>
            <a:off x="1490663" y="3624263"/>
            <a:ext cx="6477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6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killed</a:t>
            </a:r>
            <a:endParaRPr kumimoji="1" lang="zh-CN" altLang="en-US" sz="1600" i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组合 5"/>
          <p:cNvGrpSpPr>
            <a:grpSpLocks/>
          </p:cNvGrpSpPr>
          <p:nvPr/>
        </p:nvGrpSpPr>
        <p:grpSpPr bwMode="auto">
          <a:xfrm>
            <a:off x="1042988" y="3003550"/>
            <a:ext cx="1455737" cy="1584325"/>
            <a:chOff x="1714499" y="2535387"/>
            <a:chExt cx="1455714" cy="1584177"/>
          </a:xfrm>
        </p:grpSpPr>
        <p:sp>
          <p:nvSpPr>
            <p:cNvPr id="106522" name="Text Box 15"/>
            <p:cNvSpPr txBox="1">
              <a:spLocks noChangeArrowheads="1"/>
            </p:cNvSpPr>
            <p:nvPr/>
          </p:nvSpPr>
          <p:spPr bwMode="auto">
            <a:xfrm>
              <a:off x="2770163" y="2535387"/>
              <a:ext cx="400050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06523" name="Freeform 23"/>
            <p:cNvSpPr>
              <a:spLocks/>
            </p:cNvSpPr>
            <p:nvPr/>
          </p:nvSpPr>
          <p:spPr bwMode="auto">
            <a:xfrm>
              <a:off x="1714499" y="2973969"/>
              <a:ext cx="630311" cy="1145595"/>
            </a:xfrm>
            <a:custGeom>
              <a:avLst/>
              <a:gdLst>
                <a:gd name="T0" fmla="*/ 2147483646 w 287"/>
                <a:gd name="T1" fmla="*/ 0 h 862"/>
                <a:gd name="T2" fmla="*/ 2147483646 w 287"/>
                <a:gd name="T3" fmla="*/ 2147483646 h 862"/>
                <a:gd name="T4" fmla="*/ 2147483646 w 287"/>
                <a:gd name="T5" fmla="*/ 2147483646 h 862"/>
                <a:gd name="T6" fmla="*/ 0 60000 65536"/>
                <a:gd name="T7" fmla="*/ 0 60000 65536"/>
                <a:gd name="T8" fmla="*/ 0 60000 65536"/>
                <a:gd name="T9" fmla="*/ 0 w 287"/>
                <a:gd name="T10" fmla="*/ 0 h 862"/>
                <a:gd name="T11" fmla="*/ 287 w 287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7" h="862">
                  <a:moveTo>
                    <a:pt x="287" y="0"/>
                  </a:moveTo>
                  <a:cubicBezTo>
                    <a:pt x="158" y="177"/>
                    <a:pt x="30" y="355"/>
                    <a:pt x="15" y="499"/>
                  </a:cubicBezTo>
                  <a:cubicBezTo>
                    <a:pt x="0" y="643"/>
                    <a:pt x="98" y="752"/>
                    <a:pt x="197" y="86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6524" name="Freeform 24"/>
            <p:cNvSpPr>
              <a:spLocks/>
            </p:cNvSpPr>
            <p:nvPr/>
          </p:nvSpPr>
          <p:spPr bwMode="auto">
            <a:xfrm>
              <a:off x="2541115" y="2894843"/>
              <a:ext cx="518717" cy="1214928"/>
            </a:xfrm>
            <a:custGeom>
              <a:avLst/>
              <a:gdLst>
                <a:gd name="T0" fmla="*/ 0 w 310"/>
                <a:gd name="T1" fmla="*/ 0 h 771"/>
                <a:gd name="T2" fmla="*/ 2147483646 w 310"/>
                <a:gd name="T3" fmla="*/ 2147483646 h 771"/>
                <a:gd name="T4" fmla="*/ 2147483646 w 310"/>
                <a:gd name="T5" fmla="*/ 2147483646 h 771"/>
                <a:gd name="T6" fmla="*/ 0 60000 65536"/>
                <a:gd name="T7" fmla="*/ 0 60000 65536"/>
                <a:gd name="T8" fmla="*/ 0 60000 65536"/>
                <a:gd name="T9" fmla="*/ 0 w 310"/>
                <a:gd name="T10" fmla="*/ 0 h 771"/>
                <a:gd name="T11" fmla="*/ 310 w 310"/>
                <a:gd name="T12" fmla="*/ 771 h 7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0" h="771">
                  <a:moveTo>
                    <a:pt x="0" y="0"/>
                  </a:moveTo>
                  <a:cubicBezTo>
                    <a:pt x="117" y="117"/>
                    <a:pt x="234" y="234"/>
                    <a:pt x="272" y="363"/>
                  </a:cubicBezTo>
                  <a:cubicBezTo>
                    <a:pt x="310" y="492"/>
                    <a:pt x="268" y="631"/>
                    <a:pt x="226" y="77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3" name="Oval 73"/>
            <p:cNvSpPr>
              <a:spLocks noChangeArrowheads="1"/>
            </p:cNvSpPr>
            <p:nvPr/>
          </p:nvSpPr>
          <p:spPr bwMode="auto">
            <a:xfrm>
              <a:off x="2224078" y="2567134"/>
              <a:ext cx="558791" cy="4127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r>
                <a:rPr kumimoji="1" lang="en-US" altLang="zh-CN" dirty="0">
                  <a:latin typeface="Times New Roman" pitchFamily="18" charset="0"/>
                </a:rPr>
                <a:t>=[ ]</a:t>
              </a:r>
              <a:endParaRPr lang="en-US" altLang="zh-CN" b="0" i="1" baseline="-25000" dirty="0">
                <a:latin typeface="Times New Roman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3" name="组合 6"/>
          <p:cNvGrpSpPr>
            <a:grpSpLocks/>
          </p:cNvGrpSpPr>
          <p:nvPr/>
        </p:nvGrpSpPr>
        <p:grpSpPr bwMode="auto">
          <a:xfrm>
            <a:off x="1339850" y="3848100"/>
            <a:ext cx="1306513" cy="1027113"/>
            <a:chOff x="1972491" y="3920609"/>
            <a:chExt cx="1305821" cy="1027405"/>
          </a:xfrm>
        </p:grpSpPr>
        <p:sp>
          <p:nvSpPr>
            <p:cNvPr id="106514" name="Text Box 6"/>
            <p:cNvSpPr txBox="1">
              <a:spLocks noChangeArrowheads="1"/>
            </p:cNvSpPr>
            <p:nvPr/>
          </p:nvSpPr>
          <p:spPr bwMode="auto">
            <a:xfrm>
              <a:off x="2935412" y="4509135"/>
              <a:ext cx="342900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6515" name="Text Box 5"/>
            <p:cNvSpPr txBox="1">
              <a:spLocks noChangeArrowheads="1"/>
            </p:cNvSpPr>
            <p:nvPr/>
          </p:nvSpPr>
          <p:spPr bwMode="auto">
            <a:xfrm>
              <a:off x="2228625" y="4509432"/>
              <a:ext cx="455613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6516" name="Line 7"/>
            <p:cNvSpPr>
              <a:spLocks noChangeShapeType="1"/>
            </p:cNvSpPr>
            <p:nvPr/>
          </p:nvSpPr>
          <p:spPr bwMode="auto">
            <a:xfrm flipV="1">
              <a:off x="2108956" y="4376923"/>
              <a:ext cx="249275" cy="2668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106517" name="Line 8"/>
            <p:cNvSpPr>
              <a:spLocks noChangeShapeType="1"/>
            </p:cNvSpPr>
            <p:nvPr/>
          </p:nvSpPr>
          <p:spPr bwMode="auto">
            <a:xfrm>
              <a:off x="2523605" y="4355932"/>
              <a:ext cx="301451" cy="2878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106518" name="Text Box 14"/>
            <p:cNvSpPr txBox="1">
              <a:spLocks noChangeArrowheads="1"/>
            </p:cNvSpPr>
            <p:nvPr/>
          </p:nvSpPr>
          <p:spPr bwMode="auto">
            <a:xfrm>
              <a:off x="2706426" y="3920609"/>
              <a:ext cx="342900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5" name="Oval 73"/>
            <p:cNvSpPr>
              <a:spLocks noChangeArrowheads="1"/>
            </p:cNvSpPr>
            <p:nvPr/>
          </p:nvSpPr>
          <p:spPr bwMode="auto">
            <a:xfrm>
              <a:off x="2145437" y="3936489"/>
              <a:ext cx="558504" cy="41286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r>
                <a:rPr kumimoji="1" lang="en-US" altLang="zh-CN" dirty="0">
                  <a:latin typeface="Times New Roman" pitchFamily="18" charset="0"/>
                </a:rPr>
                <a:t>=[ ]</a:t>
              </a:r>
              <a:endParaRPr lang="en-US" altLang="zh-CN" b="0" i="1" baseline="-25000" dirty="0">
                <a:latin typeface="Times New Roman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6" name="Oval 73"/>
            <p:cNvSpPr>
              <a:spLocks noChangeArrowheads="1"/>
            </p:cNvSpPr>
            <p:nvPr/>
          </p:nvSpPr>
          <p:spPr bwMode="auto">
            <a:xfrm>
              <a:off x="1972491" y="4652655"/>
              <a:ext cx="269732" cy="2699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7" name="Oval 73"/>
            <p:cNvSpPr>
              <a:spLocks noChangeArrowheads="1"/>
            </p:cNvSpPr>
            <p:nvPr/>
          </p:nvSpPr>
          <p:spPr bwMode="auto">
            <a:xfrm>
              <a:off x="2703941" y="4652655"/>
              <a:ext cx="269732" cy="2699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4" name="组合 4"/>
          <p:cNvGrpSpPr>
            <a:grpSpLocks/>
          </p:cNvGrpSpPr>
          <p:nvPr/>
        </p:nvGrpSpPr>
        <p:grpSpPr bwMode="auto">
          <a:xfrm>
            <a:off x="1512888" y="3870325"/>
            <a:ext cx="2643187" cy="1004888"/>
            <a:chOff x="2144712" y="3943182"/>
            <a:chExt cx="2643312" cy="1004832"/>
          </a:xfrm>
        </p:grpSpPr>
        <p:sp>
          <p:nvSpPr>
            <p:cNvPr id="106506" name="Text Box 10"/>
            <p:cNvSpPr txBox="1">
              <a:spLocks noChangeArrowheads="1"/>
            </p:cNvSpPr>
            <p:nvPr/>
          </p:nvSpPr>
          <p:spPr bwMode="auto">
            <a:xfrm>
              <a:off x="3690119" y="4509432"/>
              <a:ext cx="377825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6507" name="Line 11"/>
            <p:cNvSpPr>
              <a:spLocks noChangeShapeType="1"/>
            </p:cNvSpPr>
            <p:nvPr/>
          </p:nvSpPr>
          <p:spPr bwMode="auto">
            <a:xfrm flipV="1">
              <a:off x="2144712" y="4337049"/>
              <a:ext cx="1491196" cy="3298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106508" name="Line 12"/>
            <p:cNvSpPr>
              <a:spLocks noChangeShapeType="1"/>
            </p:cNvSpPr>
            <p:nvPr/>
          </p:nvSpPr>
          <p:spPr bwMode="auto">
            <a:xfrm flipH="1">
              <a:off x="3541018" y="4365628"/>
              <a:ext cx="53095" cy="2674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106509" name="Text Box 16"/>
            <p:cNvSpPr txBox="1">
              <a:spLocks noChangeArrowheads="1"/>
            </p:cNvSpPr>
            <p:nvPr/>
          </p:nvSpPr>
          <p:spPr bwMode="auto">
            <a:xfrm>
              <a:off x="4387974" y="4509432"/>
              <a:ext cx="400050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6510" name="Line 18"/>
            <p:cNvSpPr>
              <a:spLocks noChangeShapeType="1"/>
            </p:cNvSpPr>
            <p:nvPr/>
          </p:nvSpPr>
          <p:spPr bwMode="auto">
            <a:xfrm>
              <a:off x="3594113" y="4337049"/>
              <a:ext cx="737763" cy="2917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4" name="Oval 73"/>
            <p:cNvSpPr>
              <a:spLocks noChangeArrowheads="1"/>
            </p:cNvSpPr>
            <p:nvPr/>
          </p:nvSpPr>
          <p:spPr bwMode="auto">
            <a:xfrm>
              <a:off x="3365557" y="3943182"/>
              <a:ext cx="558826" cy="41272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r>
                <a:rPr kumimoji="1" lang="en-US" altLang="zh-CN" dirty="0">
                  <a:latin typeface="Times New Roman" pitchFamily="18" charset="0"/>
                </a:rPr>
                <a:t>[ ]=</a:t>
              </a:r>
              <a:endParaRPr lang="en-US" altLang="zh-CN" b="0" i="1" baseline="-25000" dirty="0">
                <a:latin typeface="Times New Roman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8" name="Oval 73"/>
            <p:cNvSpPr>
              <a:spLocks noChangeArrowheads="1"/>
            </p:cNvSpPr>
            <p:nvPr/>
          </p:nvSpPr>
          <p:spPr bwMode="auto">
            <a:xfrm>
              <a:off x="3381432" y="4652755"/>
              <a:ext cx="269888" cy="2698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9" name="Oval 73"/>
            <p:cNvSpPr>
              <a:spLocks noChangeArrowheads="1"/>
            </p:cNvSpPr>
            <p:nvPr/>
          </p:nvSpPr>
          <p:spPr bwMode="auto">
            <a:xfrm>
              <a:off x="4157757" y="4652755"/>
              <a:ext cx="269888" cy="2698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itchFamily="18" charset="0"/>
                <a:ea typeface="楷体_GB2312"/>
                <a:cs typeface="楷体_GB231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71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71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7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7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7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7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7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7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7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71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71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7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7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7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7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779" grpId="0" build="p"/>
      <p:bldP spid="971780" grpId="0" animBg="1"/>
      <p:bldP spid="97179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3883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根据基本块的</a:t>
            </a:r>
            <a:r>
              <a:rPr lang="en-US" altLang="zh-CN" sz="3000" i="1">
                <a:solidFill>
                  <a:schemeClr val="tx1"/>
                </a:solidFill>
              </a:rPr>
              <a:t>DAG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可以获得一些非常有用的信息</a:t>
            </a:r>
          </a:p>
        </p:txBody>
      </p:sp>
      <p:sp>
        <p:nvSpPr>
          <p:cNvPr id="131077" name="Rectangle 3"/>
          <p:cNvSpPr txBox="1">
            <a:spLocks noChangeArrowheads="1"/>
          </p:cNvSpPr>
          <p:nvPr/>
        </p:nvSpPr>
        <p:spPr bwMode="auto">
          <a:xfrm>
            <a:off x="468313" y="987425"/>
            <a:ext cx="8215312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确定哪些变量的值在该基本块中赋值前被</a:t>
            </a:r>
            <a:r>
              <a:rPr lang="zh-CN" altLang="en-US" sz="25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引用</a:t>
            </a: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过</a:t>
            </a:r>
            <a:endParaRPr lang="en-US" altLang="zh-CN" sz="25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en-US" sz="2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创建了叶结点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的那些变量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确定哪些语句计算的值可以在基本块外被引用</a:t>
            </a:r>
            <a:endParaRPr lang="en-US" altLang="zh-CN" sz="25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构造过程中为语句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（该语句为变量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定值）创建的节点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构造结束时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仍然是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的定值变量，没有被杀死</a:t>
            </a:r>
            <a:endParaRPr lang="en-US" altLang="zh-CN" sz="2200" dirty="0">
              <a:solidFill>
                <a:srgbClr val="000000"/>
              </a:solidFill>
              <a:latin typeface="楷体_GB2312" pitchFamily="49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zh-CN" sz="25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lang="zh-CN" altLang="en-US" sz="2500" dirty="0">
              <a:solidFill>
                <a:srgbClr val="000000"/>
              </a:solidFill>
              <a:latin typeface="楷体_GB2312" pitchFamily="49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zh-CN" sz="25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1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1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1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1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1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1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1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1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1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10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10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10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DAG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到基本块的重组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30213" y="785813"/>
            <a:ext cx="8213725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对每个具有若干定值变量的节点，构造一个</a:t>
            </a:r>
            <a:r>
              <a:rPr lang="zh-CN" altLang="en-US" sz="2500" b="1" dirty="0">
                <a:solidFill>
                  <a:srgbClr val="2D83F4"/>
                </a:solidFill>
              </a:rPr>
              <a:t>三地址语句</a:t>
            </a:r>
            <a:r>
              <a:rPr lang="zh-CN" altLang="en-US" sz="2500" b="1" dirty="0">
                <a:solidFill>
                  <a:schemeClr val="tx1"/>
                </a:solidFill>
              </a:rPr>
              <a:t>来计算其中某个变量的值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倾向于把计算得到的结果赋给一个在基本块</a:t>
            </a:r>
            <a:r>
              <a:rPr lang="zh-CN" altLang="en-US" b="1" dirty="0">
                <a:solidFill>
                  <a:srgbClr val="2D83F4"/>
                </a:solidFill>
              </a:rPr>
              <a:t>出口处活跃</a:t>
            </a:r>
            <a:r>
              <a:rPr lang="zh-CN" altLang="en-US" b="1" dirty="0">
                <a:solidFill>
                  <a:schemeClr val="tx1"/>
                </a:solidFill>
              </a:rPr>
              <a:t>的变量</a:t>
            </a:r>
            <a:endParaRPr lang="en-US" alt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68" name="Text Box 24"/>
          <p:cNvSpPr txBox="1">
            <a:spLocks noChangeArrowheads="1"/>
          </p:cNvSpPr>
          <p:nvPr/>
        </p:nvSpPr>
        <p:spPr bwMode="auto">
          <a:xfrm>
            <a:off x="6354763" y="2881313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857250"/>
            <a:ext cx="2979738" cy="4017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给定一个基本块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3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 A 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*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G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*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H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⑦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I 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*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⑧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H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⑨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* 5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⑩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⑪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  <a:endParaRPr lang="zh-CN" altLang="en-US" sz="2000" b="1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2571750" y="4429125"/>
            <a:ext cx="4384675" cy="3778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假设：仅变量</a:t>
            </a:r>
            <a:r>
              <a:rPr lang="en-US" altLang="zh-CN" sz="2000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zh-CN" altLang="en-US" sz="200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在基本块出口之后活跃</a:t>
            </a:r>
          </a:p>
        </p:txBody>
      </p:sp>
      <p:sp>
        <p:nvSpPr>
          <p:cNvPr id="1081356" name="Oval 12"/>
          <p:cNvSpPr>
            <a:spLocks noChangeArrowheads="1"/>
          </p:cNvSpPr>
          <p:nvPr/>
        </p:nvSpPr>
        <p:spPr bwMode="auto">
          <a:xfrm>
            <a:off x="6084888" y="2825750"/>
            <a:ext cx="323850" cy="3254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081357" name="Text Box 13"/>
          <p:cNvSpPr txBox="1">
            <a:spLocks noChangeArrowheads="1"/>
          </p:cNvSpPr>
          <p:nvPr/>
        </p:nvSpPr>
        <p:spPr bwMode="auto">
          <a:xfrm>
            <a:off x="6103938" y="2770188"/>
            <a:ext cx="2317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081360" name="Line 16"/>
          <p:cNvSpPr>
            <a:spLocks noChangeShapeType="1"/>
          </p:cNvSpPr>
          <p:nvPr/>
        </p:nvSpPr>
        <p:spPr bwMode="auto">
          <a:xfrm flipH="1">
            <a:off x="5956300" y="3128963"/>
            <a:ext cx="1651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1081361" name="Line 17"/>
          <p:cNvSpPr>
            <a:spLocks noChangeShapeType="1"/>
          </p:cNvSpPr>
          <p:nvPr/>
        </p:nvSpPr>
        <p:spPr bwMode="auto">
          <a:xfrm>
            <a:off x="6356350" y="3149600"/>
            <a:ext cx="342900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1081363" name="Line 19"/>
          <p:cNvSpPr>
            <a:spLocks noChangeShapeType="1"/>
          </p:cNvSpPr>
          <p:nvPr/>
        </p:nvSpPr>
        <p:spPr bwMode="auto">
          <a:xfrm flipH="1" flipV="1">
            <a:off x="5976938" y="2176463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6081713" y="2306638"/>
            <a:ext cx="327025" cy="461962"/>
            <a:chOff x="3645" y="1358"/>
            <a:chExt cx="339" cy="477"/>
          </a:xfrm>
        </p:grpSpPr>
        <p:sp>
          <p:nvSpPr>
            <p:cNvPr id="113713" name="Oval 29"/>
            <p:cNvSpPr>
              <a:spLocks noChangeArrowheads="1"/>
            </p:cNvSpPr>
            <p:nvPr/>
          </p:nvSpPr>
          <p:spPr bwMode="auto">
            <a:xfrm>
              <a:off x="3648" y="1392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2694" name="Text Box 30"/>
            <p:cNvSpPr txBox="1">
              <a:spLocks noChangeArrowheads="1"/>
            </p:cNvSpPr>
            <p:nvPr/>
          </p:nvSpPr>
          <p:spPr bwMode="auto">
            <a:xfrm>
              <a:off x="3645" y="1358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081375" name="Text Box 31"/>
          <p:cNvSpPr txBox="1">
            <a:spLocks noChangeArrowheads="1"/>
          </p:cNvSpPr>
          <p:nvPr/>
        </p:nvSpPr>
        <p:spPr bwMode="auto">
          <a:xfrm>
            <a:off x="6408738" y="2339975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81376" name="Freeform 32"/>
          <p:cNvSpPr>
            <a:spLocks/>
          </p:cNvSpPr>
          <p:nvPr/>
        </p:nvSpPr>
        <p:spPr bwMode="auto">
          <a:xfrm>
            <a:off x="5743575" y="2663825"/>
            <a:ext cx="412750" cy="822325"/>
          </a:xfrm>
          <a:custGeom>
            <a:avLst/>
            <a:gdLst>
              <a:gd name="T0" fmla="*/ 2147483646 w 347"/>
              <a:gd name="T1" fmla="*/ 2147483646 h 589"/>
              <a:gd name="T2" fmla="*/ 2147483646 w 347"/>
              <a:gd name="T3" fmla="*/ 2147483646 h 589"/>
              <a:gd name="T4" fmla="*/ 2147483646 w 347"/>
              <a:gd name="T5" fmla="*/ 0 h 589"/>
              <a:gd name="T6" fmla="*/ 0 60000 65536"/>
              <a:gd name="T7" fmla="*/ 0 60000 65536"/>
              <a:gd name="T8" fmla="*/ 0 60000 65536"/>
              <a:gd name="T9" fmla="*/ 0 w 347"/>
              <a:gd name="T10" fmla="*/ 0 h 589"/>
              <a:gd name="T11" fmla="*/ 347 w 347"/>
              <a:gd name="T12" fmla="*/ 589 h 5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7" h="589">
                <a:moveTo>
                  <a:pt x="166" y="589"/>
                </a:moveTo>
                <a:cubicBezTo>
                  <a:pt x="83" y="456"/>
                  <a:pt x="0" y="324"/>
                  <a:pt x="30" y="226"/>
                </a:cubicBezTo>
                <a:cubicBezTo>
                  <a:pt x="60" y="128"/>
                  <a:pt x="203" y="64"/>
                  <a:pt x="34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377" name="Freeform 33"/>
          <p:cNvSpPr>
            <a:spLocks/>
          </p:cNvSpPr>
          <p:nvPr/>
        </p:nvSpPr>
        <p:spPr bwMode="auto">
          <a:xfrm>
            <a:off x="6369050" y="2632075"/>
            <a:ext cx="660400" cy="868363"/>
          </a:xfrm>
          <a:custGeom>
            <a:avLst/>
            <a:gdLst>
              <a:gd name="T0" fmla="*/ 2147483646 w 11683"/>
              <a:gd name="T1" fmla="*/ 2147483646 h 10725"/>
              <a:gd name="T2" fmla="*/ 2147483646 w 11683"/>
              <a:gd name="T3" fmla="*/ 2147483646 h 10725"/>
              <a:gd name="T4" fmla="*/ 0 w 11683"/>
              <a:gd name="T5" fmla="*/ 0 h 10725"/>
              <a:gd name="T6" fmla="*/ 0 60000 65536"/>
              <a:gd name="T7" fmla="*/ 0 60000 65536"/>
              <a:gd name="T8" fmla="*/ 0 60000 65536"/>
              <a:gd name="T9" fmla="*/ 0 w 11683"/>
              <a:gd name="T10" fmla="*/ 0 h 10725"/>
              <a:gd name="T11" fmla="*/ 11683 w 11683"/>
              <a:gd name="T12" fmla="*/ 10725 h 107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683" h="10725">
                <a:moveTo>
                  <a:pt x="10098" y="10725"/>
                </a:moveTo>
                <a:cubicBezTo>
                  <a:pt x="12053" y="7098"/>
                  <a:pt x="11930" y="5558"/>
                  <a:pt x="11167" y="3896"/>
                </a:cubicBezTo>
                <a:cubicBezTo>
                  <a:pt x="10403" y="2234"/>
                  <a:pt x="4224" y="1162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5694363" y="1824038"/>
            <a:ext cx="336550" cy="461962"/>
            <a:chOff x="3634" y="1306"/>
            <a:chExt cx="350" cy="477"/>
          </a:xfrm>
        </p:grpSpPr>
        <p:sp>
          <p:nvSpPr>
            <p:cNvPr id="113711" name="Oval 35"/>
            <p:cNvSpPr>
              <a:spLocks noChangeArrowheads="1"/>
            </p:cNvSpPr>
            <p:nvPr/>
          </p:nvSpPr>
          <p:spPr bwMode="auto">
            <a:xfrm>
              <a:off x="3647" y="1391"/>
              <a:ext cx="337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2692" name="Text Box 36"/>
            <p:cNvSpPr txBox="1">
              <a:spLocks noChangeArrowheads="1"/>
            </p:cNvSpPr>
            <p:nvPr/>
          </p:nvSpPr>
          <p:spPr bwMode="auto">
            <a:xfrm>
              <a:off x="3634" y="1306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081381" name="Text Box 37"/>
          <p:cNvSpPr txBox="1">
            <a:spLocks noChangeArrowheads="1"/>
          </p:cNvSpPr>
          <p:nvPr/>
        </p:nvSpPr>
        <p:spPr bwMode="auto">
          <a:xfrm>
            <a:off x="6030913" y="1779588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081382" name="Freeform 38"/>
          <p:cNvSpPr>
            <a:spLocks/>
          </p:cNvSpPr>
          <p:nvPr/>
        </p:nvSpPr>
        <p:spPr bwMode="auto">
          <a:xfrm>
            <a:off x="5543550" y="2232025"/>
            <a:ext cx="541338" cy="647700"/>
          </a:xfrm>
          <a:custGeom>
            <a:avLst/>
            <a:gdLst>
              <a:gd name="T0" fmla="*/ 2147483646 w 455"/>
              <a:gd name="T1" fmla="*/ 0 h 544"/>
              <a:gd name="T2" fmla="*/ 2147483646 w 455"/>
              <a:gd name="T3" fmla="*/ 2147483646 h 544"/>
              <a:gd name="T4" fmla="*/ 2147483646 w 455"/>
              <a:gd name="T5" fmla="*/ 2147483646 h 544"/>
              <a:gd name="T6" fmla="*/ 0 60000 65536"/>
              <a:gd name="T7" fmla="*/ 0 60000 65536"/>
              <a:gd name="T8" fmla="*/ 0 60000 65536"/>
              <a:gd name="T9" fmla="*/ 0 w 455"/>
              <a:gd name="T10" fmla="*/ 0 h 544"/>
              <a:gd name="T11" fmla="*/ 455 w 455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5" h="544">
                <a:moveTo>
                  <a:pt x="182" y="0"/>
                </a:moveTo>
                <a:cubicBezTo>
                  <a:pt x="91" y="45"/>
                  <a:pt x="0" y="90"/>
                  <a:pt x="46" y="181"/>
                </a:cubicBezTo>
                <a:cubicBezTo>
                  <a:pt x="92" y="272"/>
                  <a:pt x="273" y="408"/>
                  <a:pt x="455" y="5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383" name="Line 39"/>
          <p:cNvSpPr>
            <a:spLocks noChangeShapeType="1"/>
          </p:cNvSpPr>
          <p:nvPr/>
        </p:nvSpPr>
        <p:spPr bwMode="auto">
          <a:xfrm>
            <a:off x="5543550" y="1638300"/>
            <a:ext cx="217488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5273675" y="1273175"/>
            <a:ext cx="325438" cy="461963"/>
            <a:chOff x="3646" y="1349"/>
            <a:chExt cx="338" cy="479"/>
          </a:xfrm>
        </p:grpSpPr>
        <p:sp>
          <p:nvSpPr>
            <p:cNvPr id="113709" name="Oval 41"/>
            <p:cNvSpPr>
              <a:spLocks noChangeArrowheads="1"/>
            </p:cNvSpPr>
            <p:nvPr/>
          </p:nvSpPr>
          <p:spPr bwMode="auto">
            <a:xfrm>
              <a:off x="3648" y="1392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2690" name="Text Box 42"/>
            <p:cNvSpPr txBox="1">
              <a:spLocks noChangeArrowheads="1"/>
            </p:cNvSpPr>
            <p:nvPr/>
          </p:nvSpPr>
          <p:spPr bwMode="auto">
            <a:xfrm>
              <a:off x="3646" y="1349"/>
              <a:ext cx="24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081387" name="Text Box 43"/>
          <p:cNvSpPr txBox="1">
            <a:spLocks noChangeArrowheads="1"/>
          </p:cNvSpPr>
          <p:nvPr/>
        </p:nvSpPr>
        <p:spPr bwMode="auto">
          <a:xfrm>
            <a:off x="5599113" y="1314450"/>
            <a:ext cx="3238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081388" name="Line 44"/>
          <p:cNvSpPr>
            <a:spLocks noChangeShapeType="1"/>
          </p:cNvSpPr>
          <p:nvPr/>
        </p:nvSpPr>
        <p:spPr bwMode="auto">
          <a:xfrm flipH="1">
            <a:off x="4751388" y="1638300"/>
            <a:ext cx="677862" cy="180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4003675" y="2454275"/>
            <a:ext cx="334963" cy="461963"/>
            <a:chOff x="3636" y="1350"/>
            <a:chExt cx="348" cy="477"/>
          </a:xfrm>
        </p:grpSpPr>
        <p:sp>
          <p:nvSpPr>
            <p:cNvPr id="113707" name="Oval 46"/>
            <p:cNvSpPr>
              <a:spLocks noChangeArrowheads="1"/>
            </p:cNvSpPr>
            <p:nvPr/>
          </p:nvSpPr>
          <p:spPr bwMode="auto">
            <a:xfrm>
              <a:off x="3648" y="1393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2688" name="Text Box 47"/>
            <p:cNvSpPr txBox="1">
              <a:spLocks noChangeArrowheads="1"/>
            </p:cNvSpPr>
            <p:nvPr/>
          </p:nvSpPr>
          <p:spPr bwMode="auto">
            <a:xfrm>
              <a:off x="3636" y="1350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081392" name="Text Box 48"/>
          <p:cNvSpPr txBox="1">
            <a:spLocks noChangeArrowheads="1"/>
          </p:cNvSpPr>
          <p:nvPr/>
        </p:nvSpPr>
        <p:spPr bwMode="auto">
          <a:xfrm>
            <a:off x="4294188" y="2408238"/>
            <a:ext cx="8524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K=15</a:t>
            </a:r>
          </a:p>
        </p:txBody>
      </p:sp>
      <p:sp>
        <p:nvSpPr>
          <p:cNvPr id="1081393" name="Line 49"/>
          <p:cNvSpPr>
            <a:spLocks noChangeShapeType="1"/>
          </p:cNvSpPr>
          <p:nvPr/>
        </p:nvSpPr>
        <p:spPr bwMode="auto">
          <a:xfrm>
            <a:off x="4275138" y="2803525"/>
            <a:ext cx="3016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394" name="Line 50"/>
          <p:cNvSpPr>
            <a:spLocks noChangeShapeType="1"/>
          </p:cNvSpPr>
          <p:nvPr/>
        </p:nvSpPr>
        <p:spPr bwMode="auto">
          <a:xfrm flipH="1">
            <a:off x="3633788" y="2820988"/>
            <a:ext cx="471487" cy="636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5159375" y="484188"/>
            <a:ext cx="330200" cy="461962"/>
            <a:chOff x="3642" y="1316"/>
            <a:chExt cx="342" cy="477"/>
          </a:xfrm>
        </p:grpSpPr>
        <p:sp>
          <p:nvSpPr>
            <p:cNvPr id="113705" name="Oval 53"/>
            <p:cNvSpPr>
              <a:spLocks noChangeArrowheads="1"/>
            </p:cNvSpPr>
            <p:nvPr/>
          </p:nvSpPr>
          <p:spPr bwMode="auto">
            <a:xfrm>
              <a:off x="3649" y="1391"/>
              <a:ext cx="335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2686" name="Text Box 54"/>
            <p:cNvSpPr txBox="1">
              <a:spLocks noChangeArrowheads="1"/>
            </p:cNvSpPr>
            <p:nvPr/>
          </p:nvSpPr>
          <p:spPr bwMode="auto">
            <a:xfrm>
              <a:off x="3642" y="1316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081399" name="Text Box 55"/>
          <p:cNvSpPr txBox="1">
            <a:spLocks noChangeArrowheads="1"/>
          </p:cNvSpPr>
          <p:nvPr/>
        </p:nvSpPr>
        <p:spPr bwMode="auto">
          <a:xfrm>
            <a:off x="5489575" y="488950"/>
            <a:ext cx="2714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081401" name="Line 57"/>
          <p:cNvSpPr>
            <a:spLocks noChangeShapeType="1"/>
          </p:cNvSpPr>
          <p:nvPr/>
        </p:nvSpPr>
        <p:spPr bwMode="auto">
          <a:xfrm flipH="1">
            <a:off x="4235450" y="882650"/>
            <a:ext cx="982663" cy="161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402" name="Freeform 58"/>
          <p:cNvSpPr>
            <a:spLocks/>
          </p:cNvSpPr>
          <p:nvPr/>
        </p:nvSpPr>
        <p:spPr bwMode="auto">
          <a:xfrm>
            <a:off x="5381625" y="882650"/>
            <a:ext cx="684213" cy="1025525"/>
          </a:xfrm>
          <a:custGeom>
            <a:avLst/>
            <a:gdLst>
              <a:gd name="T0" fmla="*/ 0 w 575"/>
              <a:gd name="T1" fmla="*/ 0 h 861"/>
              <a:gd name="T2" fmla="*/ 2147483646 w 575"/>
              <a:gd name="T3" fmla="*/ 2147483646 h 861"/>
              <a:gd name="T4" fmla="*/ 2147483646 w 575"/>
              <a:gd name="T5" fmla="*/ 2147483646 h 861"/>
              <a:gd name="T6" fmla="*/ 0 60000 65536"/>
              <a:gd name="T7" fmla="*/ 0 60000 65536"/>
              <a:gd name="T8" fmla="*/ 0 60000 65536"/>
              <a:gd name="T9" fmla="*/ 0 w 575"/>
              <a:gd name="T10" fmla="*/ 0 h 861"/>
              <a:gd name="T11" fmla="*/ 575 w 575"/>
              <a:gd name="T12" fmla="*/ 861 h 8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5" h="861">
                <a:moveTo>
                  <a:pt x="0" y="0"/>
                </a:moveTo>
                <a:cubicBezTo>
                  <a:pt x="211" y="132"/>
                  <a:pt x="423" y="265"/>
                  <a:pt x="499" y="408"/>
                </a:cubicBezTo>
                <a:cubicBezTo>
                  <a:pt x="575" y="551"/>
                  <a:pt x="514" y="706"/>
                  <a:pt x="454" y="86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408" name="Text Box 64"/>
          <p:cNvSpPr txBox="1">
            <a:spLocks noChangeArrowheads="1"/>
          </p:cNvSpPr>
          <p:nvPr/>
        </p:nvSpPr>
        <p:spPr bwMode="auto">
          <a:xfrm>
            <a:off x="6588125" y="2881313"/>
            <a:ext cx="2698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081409" name="Text Box 65"/>
          <p:cNvSpPr txBox="1">
            <a:spLocks noChangeArrowheads="1"/>
          </p:cNvSpPr>
          <p:nvPr/>
        </p:nvSpPr>
        <p:spPr bwMode="auto">
          <a:xfrm>
            <a:off x="6642100" y="2339975"/>
            <a:ext cx="1619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081410" name="Text Box 66"/>
          <p:cNvSpPr txBox="1">
            <a:spLocks noChangeArrowheads="1"/>
          </p:cNvSpPr>
          <p:nvPr/>
        </p:nvSpPr>
        <p:spPr bwMode="auto">
          <a:xfrm>
            <a:off x="6302375" y="1779588"/>
            <a:ext cx="2143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081411" name="Text Box 67"/>
          <p:cNvSpPr txBox="1">
            <a:spLocks noChangeArrowheads="1"/>
          </p:cNvSpPr>
          <p:nvPr/>
        </p:nvSpPr>
        <p:spPr bwMode="auto">
          <a:xfrm>
            <a:off x="5651500" y="484188"/>
            <a:ext cx="2714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081412" name="Oval 68"/>
          <p:cNvSpPr>
            <a:spLocks noChangeArrowheads="1"/>
          </p:cNvSpPr>
          <p:nvPr/>
        </p:nvSpPr>
        <p:spPr bwMode="auto">
          <a:xfrm>
            <a:off x="3417888" y="3462338"/>
            <a:ext cx="325437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081413" name="Oval 69"/>
          <p:cNvSpPr>
            <a:spLocks noChangeArrowheads="1"/>
          </p:cNvSpPr>
          <p:nvPr/>
        </p:nvSpPr>
        <p:spPr bwMode="auto">
          <a:xfrm>
            <a:off x="4518025" y="3446463"/>
            <a:ext cx="325438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34290" rIns="68580" bIns="34290" anchor="ctr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081414" name="Oval 70"/>
          <p:cNvSpPr>
            <a:spLocks noChangeArrowheads="1"/>
          </p:cNvSpPr>
          <p:nvPr/>
        </p:nvSpPr>
        <p:spPr bwMode="auto">
          <a:xfrm>
            <a:off x="5753100" y="3457575"/>
            <a:ext cx="331788" cy="3206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en-US" altLang="zh-CN" sz="2400" b="0" i="1" baseline="-25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081415" name="Oval 71"/>
          <p:cNvSpPr>
            <a:spLocks noChangeArrowheads="1"/>
          </p:cNvSpPr>
          <p:nvPr/>
        </p:nvSpPr>
        <p:spPr bwMode="auto">
          <a:xfrm>
            <a:off x="6664325" y="3478213"/>
            <a:ext cx="360363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en-US" altLang="zh-CN" sz="2400" b="0" i="1" baseline="-25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783138" y="3379788"/>
            <a:ext cx="10398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B=3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08400" y="3413125"/>
            <a:ext cx="2921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endParaRPr lang="zh-CN" altLang="en-US" sz="2400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054725" y="3390900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002463" y="3413125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2681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1793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5" name="Line 50"/>
          <p:cNvSpPr>
            <a:spLocks noChangeShapeType="1"/>
          </p:cNvSpPr>
          <p:nvPr/>
        </p:nvSpPr>
        <p:spPr bwMode="auto">
          <a:xfrm flipH="1">
            <a:off x="4702175" y="3786188"/>
            <a:ext cx="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6" name="Oval 68"/>
          <p:cNvSpPr>
            <a:spLocks noChangeArrowheads="1"/>
          </p:cNvSpPr>
          <p:nvPr/>
        </p:nvSpPr>
        <p:spPr bwMode="auto">
          <a:xfrm>
            <a:off x="4538663" y="4046538"/>
            <a:ext cx="325437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7" name="矩形 56"/>
          <p:cNvSpPr>
            <a:spLocks noChangeArrowheads="1"/>
          </p:cNvSpPr>
          <p:nvPr/>
        </p:nvSpPr>
        <p:spPr bwMode="auto">
          <a:xfrm>
            <a:off x="4838700" y="3992563"/>
            <a:ext cx="2936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endParaRPr lang="zh-CN" altLang="en-US" sz="2400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81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81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8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81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81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8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81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1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8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81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81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8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81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81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8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81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81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8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81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81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8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81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81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8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81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81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8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81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81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8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81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81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8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81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81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8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81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81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8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81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081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8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081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081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08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081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081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8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081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81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8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81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81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08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081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081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8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081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81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8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081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081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08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081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081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8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081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081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08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081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081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8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081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081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08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081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081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08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081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081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08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081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081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08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368" grpId="0"/>
      <p:bldP spid="1081356" grpId="0" animBg="1"/>
      <p:bldP spid="1081357" grpId="0"/>
      <p:bldP spid="1081360" grpId="0" animBg="1"/>
      <p:bldP spid="1081361" grpId="0" animBg="1"/>
      <p:bldP spid="1081363" grpId="0" animBg="1"/>
      <p:bldP spid="1081375" grpId="0"/>
      <p:bldP spid="1081376" grpId="0" animBg="1"/>
      <p:bldP spid="1081377" grpId="0" animBg="1"/>
      <p:bldP spid="1081381" grpId="0"/>
      <p:bldP spid="1081382" grpId="0" animBg="1"/>
      <p:bldP spid="1081383" grpId="0" animBg="1"/>
      <p:bldP spid="1081387" grpId="0"/>
      <p:bldP spid="1081388" grpId="0" animBg="1"/>
      <p:bldP spid="1081392" grpId="0"/>
      <p:bldP spid="1081393" grpId="0" animBg="1"/>
      <p:bldP spid="1081394" grpId="0" animBg="1"/>
      <p:bldP spid="1081399" grpId="0"/>
      <p:bldP spid="1081401" grpId="0" animBg="1"/>
      <p:bldP spid="1081402" grpId="0" animBg="1"/>
      <p:bldP spid="1081408" grpId="0"/>
      <p:bldP spid="1081409" grpId="0"/>
      <p:bldP spid="1081410" grpId="0"/>
      <p:bldP spid="1081411" grpId="0"/>
      <p:bldP spid="1081412" grpId="0" animBg="1"/>
      <p:bldP spid="1081413" grpId="0" animBg="1"/>
      <p:bldP spid="1081414" grpId="0" animBg="1"/>
      <p:bldP spid="1081415" grpId="0" animBg="1"/>
      <p:bldP spid="2" grpId="0"/>
      <p:bldP spid="3" grpId="0"/>
      <p:bldP spid="4" grpId="0"/>
      <p:bldP spid="5" grpId="0"/>
      <p:bldP spid="55" grpId="0" animBg="1"/>
      <p:bldP spid="56" grpId="0" animBg="1"/>
      <p:bldP spid="5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4"/>
          <p:cNvSpPr txBox="1">
            <a:spLocks noChangeArrowheads="1"/>
          </p:cNvSpPr>
          <p:nvPr/>
        </p:nvSpPr>
        <p:spPr bwMode="auto">
          <a:xfrm>
            <a:off x="6354763" y="2881313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82" name="Rectangle 4"/>
          <p:cNvSpPr>
            <a:spLocks noChangeArrowheads="1"/>
          </p:cNvSpPr>
          <p:nvPr/>
        </p:nvSpPr>
        <p:spPr bwMode="auto">
          <a:xfrm>
            <a:off x="2571750" y="4429125"/>
            <a:ext cx="4384675" cy="3778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假设：仅变量</a:t>
            </a:r>
            <a:r>
              <a:rPr lang="en-US" altLang="zh-CN" sz="2000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zh-CN" altLang="en-US" sz="200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在基本块出口之后活跃</a:t>
            </a:r>
          </a:p>
        </p:txBody>
      </p:sp>
      <p:sp>
        <p:nvSpPr>
          <p:cNvPr id="183" name="Oval 12"/>
          <p:cNvSpPr>
            <a:spLocks noChangeArrowheads="1"/>
          </p:cNvSpPr>
          <p:nvPr/>
        </p:nvSpPr>
        <p:spPr bwMode="auto">
          <a:xfrm>
            <a:off x="6084888" y="2825750"/>
            <a:ext cx="323850" cy="3254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14693" name="Text Box 13"/>
          <p:cNvSpPr txBox="1">
            <a:spLocks noChangeArrowheads="1"/>
          </p:cNvSpPr>
          <p:nvPr/>
        </p:nvSpPr>
        <p:spPr bwMode="auto">
          <a:xfrm>
            <a:off x="6103938" y="2770188"/>
            <a:ext cx="2317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14694" name="Line 16"/>
          <p:cNvSpPr>
            <a:spLocks noChangeShapeType="1"/>
          </p:cNvSpPr>
          <p:nvPr/>
        </p:nvSpPr>
        <p:spPr bwMode="auto">
          <a:xfrm flipH="1">
            <a:off x="5956300" y="3128963"/>
            <a:ext cx="1651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114695" name="Line 17"/>
          <p:cNvSpPr>
            <a:spLocks noChangeShapeType="1"/>
          </p:cNvSpPr>
          <p:nvPr/>
        </p:nvSpPr>
        <p:spPr bwMode="auto">
          <a:xfrm>
            <a:off x="6356350" y="3149600"/>
            <a:ext cx="342900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114696" name="Line 19"/>
          <p:cNvSpPr>
            <a:spLocks noChangeShapeType="1"/>
          </p:cNvSpPr>
          <p:nvPr/>
        </p:nvSpPr>
        <p:spPr bwMode="auto">
          <a:xfrm flipH="1" flipV="1">
            <a:off x="5976938" y="2176463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grpSp>
        <p:nvGrpSpPr>
          <p:cNvPr id="114697" name="Group 28"/>
          <p:cNvGrpSpPr>
            <a:grpSpLocks/>
          </p:cNvGrpSpPr>
          <p:nvPr/>
        </p:nvGrpSpPr>
        <p:grpSpPr bwMode="auto">
          <a:xfrm>
            <a:off x="6081713" y="2306638"/>
            <a:ext cx="327025" cy="461962"/>
            <a:chOff x="3645" y="1358"/>
            <a:chExt cx="339" cy="477"/>
          </a:xfrm>
        </p:grpSpPr>
        <p:sp>
          <p:nvSpPr>
            <p:cNvPr id="189" name="Oval 29"/>
            <p:cNvSpPr>
              <a:spLocks noChangeArrowheads="1"/>
            </p:cNvSpPr>
            <p:nvPr/>
          </p:nvSpPr>
          <p:spPr bwMode="auto">
            <a:xfrm>
              <a:off x="3648" y="1392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4758" name="Text Box 30"/>
            <p:cNvSpPr txBox="1">
              <a:spLocks noChangeArrowheads="1"/>
            </p:cNvSpPr>
            <p:nvPr/>
          </p:nvSpPr>
          <p:spPr bwMode="auto">
            <a:xfrm>
              <a:off x="3645" y="1358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14698" name="Text Box 31"/>
          <p:cNvSpPr txBox="1">
            <a:spLocks noChangeArrowheads="1"/>
          </p:cNvSpPr>
          <p:nvPr/>
        </p:nvSpPr>
        <p:spPr bwMode="auto">
          <a:xfrm>
            <a:off x="6408738" y="2339975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14699" name="Freeform 32"/>
          <p:cNvSpPr>
            <a:spLocks/>
          </p:cNvSpPr>
          <p:nvPr/>
        </p:nvSpPr>
        <p:spPr bwMode="auto">
          <a:xfrm>
            <a:off x="5743575" y="2663825"/>
            <a:ext cx="412750" cy="822325"/>
          </a:xfrm>
          <a:custGeom>
            <a:avLst/>
            <a:gdLst>
              <a:gd name="T0" fmla="*/ 2147483646 w 347"/>
              <a:gd name="T1" fmla="*/ 2147483646 h 589"/>
              <a:gd name="T2" fmla="*/ 2147483646 w 347"/>
              <a:gd name="T3" fmla="*/ 2147483646 h 589"/>
              <a:gd name="T4" fmla="*/ 2147483646 w 347"/>
              <a:gd name="T5" fmla="*/ 0 h 589"/>
              <a:gd name="T6" fmla="*/ 0 60000 65536"/>
              <a:gd name="T7" fmla="*/ 0 60000 65536"/>
              <a:gd name="T8" fmla="*/ 0 60000 65536"/>
              <a:gd name="T9" fmla="*/ 0 w 347"/>
              <a:gd name="T10" fmla="*/ 0 h 589"/>
              <a:gd name="T11" fmla="*/ 347 w 347"/>
              <a:gd name="T12" fmla="*/ 589 h 5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7" h="589">
                <a:moveTo>
                  <a:pt x="166" y="589"/>
                </a:moveTo>
                <a:cubicBezTo>
                  <a:pt x="83" y="456"/>
                  <a:pt x="0" y="324"/>
                  <a:pt x="30" y="226"/>
                </a:cubicBezTo>
                <a:cubicBezTo>
                  <a:pt x="60" y="128"/>
                  <a:pt x="203" y="64"/>
                  <a:pt x="34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4700" name="Freeform 33"/>
          <p:cNvSpPr>
            <a:spLocks/>
          </p:cNvSpPr>
          <p:nvPr/>
        </p:nvSpPr>
        <p:spPr bwMode="auto">
          <a:xfrm>
            <a:off x="6369050" y="2632075"/>
            <a:ext cx="660400" cy="868363"/>
          </a:xfrm>
          <a:custGeom>
            <a:avLst/>
            <a:gdLst>
              <a:gd name="T0" fmla="*/ 2147483646 w 11683"/>
              <a:gd name="T1" fmla="*/ 2147483646 h 10725"/>
              <a:gd name="T2" fmla="*/ 2147483646 w 11683"/>
              <a:gd name="T3" fmla="*/ 2147483646 h 10725"/>
              <a:gd name="T4" fmla="*/ 0 w 11683"/>
              <a:gd name="T5" fmla="*/ 0 h 10725"/>
              <a:gd name="T6" fmla="*/ 0 60000 65536"/>
              <a:gd name="T7" fmla="*/ 0 60000 65536"/>
              <a:gd name="T8" fmla="*/ 0 60000 65536"/>
              <a:gd name="T9" fmla="*/ 0 w 11683"/>
              <a:gd name="T10" fmla="*/ 0 h 10725"/>
              <a:gd name="T11" fmla="*/ 11683 w 11683"/>
              <a:gd name="T12" fmla="*/ 10725 h 107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683" h="10725">
                <a:moveTo>
                  <a:pt x="10098" y="10725"/>
                </a:moveTo>
                <a:cubicBezTo>
                  <a:pt x="12053" y="7098"/>
                  <a:pt x="11930" y="5558"/>
                  <a:pt x="11167" y="3896"/>
                </a:cubicBezTo>
                <a:cubicBezTo>
                  <a:pt x="10403" y="2234"/>
                  <a:pt x="4224" y="1162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14701" name="Group 34"/>
          <p:cNvGrpSpPr>
            <a:grpSpLocks/>
          </p:cNvGrpSpPr>
          <p:nvPr/>
        </p:nvGrpSpPr>
        <p:grpSpPr bwMode="auto">
          <a:xfrm>
            <a:off x="5694363" y="1824038"/>
            <a:ext cx="336550" cy="461962"/>
            <a:chOff x="3634" y="1306"/>
            <a:chExt cx="350" cy="477"/>
          </a:xfrm>
        </p:grpSpPr>
        <p:sp>
          <p:nvSpPr>
            <p:cNvPr id="195" name="Oval 35"/>
            <p:cNvSpPr>
              <a:spLocks noChangeArrowheads="1"/>
            </p:cNvSpPr>
            <p:nvPr/>
          </p:nvSpPr>
          <p:spPr bwMode="auto">
            <a:xfrm>
              <a:off x="3647" y="1391"/>
              <a:ext cx="337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4756" name="Text Box 36"/>
            <p:cNvSpPr txBox="1">
              <a:spLocks noChangeArrowheads="1"/>
            </p:cNvSpPr>
            <p:nvPr/>
          </p:nvSpPr>
          <p:spPr bwMode="auto">
            <a:xfrm>
              <a:off x="3634" y="1306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14702" name="Text Box 37"/>
          <p:cNvSpPr txBox="1">
            <a:spLocks noChangeArrowheads="1"/>
          </p:cNvSpPr>
          <p:nvPr/>
        </p:nvSpPr>
        <p:spPr bwMode="auto">
          <a:xfrm>
            <a:off x="6030913" y="1779588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14703" name="Freeform 38"/>
          <p:cNvSpPr>
            <a:spLocks/>
          </p:cNvSpPr>
          <p:nvPr/>
        </p:nvSpPr>
        <p:spPr bwMode="auto">
          <a:xfrm>
            <a:off x="5543550" y="2232025"/>
            <a:ext cx="541338" cy="647700"/>
          </a:xfrm>
          <a:custGeom>
            <a:avLst/>
            <a:gdLst>
              <a:gd name="T0" fmla="*/ 2147483646 w 455"/>
              <a:gd name="T1" fmla="*/ 0 h 544"/>
              <a:gd name="T2" fmla="*/ 2147483646 w 455"/>
              <a:gd name="T3" fmla="*/ 2147483646 h 544"/>
              <a:gd name="T4" fmla="*/ 2147483646 w 455"/>
              <a:gd name="T5" fmla="*/ 2147483646 h 544"/>
              <a:gd name="T6" fmla="*/ 0 60000 65536"/>
              <a:gd name="T7" fmla="*/ 0 60000 65536"/>
              <a:gd name="T8" fmla="*/ 0 60000 65536"/>
              <a:gd name="T9" fmla="*/ 0 w 455"/>
              <a:gd name="T10" fmla="*/ 0 h 544"/>
              <a:gd name="T11" fmla="*/ 455 w 455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5" h="544">
                <a:moveTo>
                  <a:pt x="182" y="0"/>
                </a:moveTo>
                <a:cubicBezTo>
                  <a:pt x="91" y="45"/>
                  <a:pt x="0" y="90"/>
                  <a:pt x="46" y="181"/>
                </a:cubicBezTo>
                <a:cubicBezTo>
                  <a:pt x="92" y="272"/>
                  <a:pt x="273" y="408"/>
                  <a:pt x="455" y="5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4704" name="Line 39"/>
          <p:cNvSpPr>
            <a:spLocks noChangeShapeType="1"/>
          </p:cNvSpPr>
          <p:nvPr/>
        </p:nvSpPr>
        <p:spPr bwMode="auto">
          <a:xfrm>
            <a:off x="5543550" y="1638300"/>
            <a:ext cx="217488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14705" name="Group 40"/>
          <p:cNvGrpSpPr>
            <a:grpSpLocks/>
          </p:cNvGrpSpPr>
          <p:nvPr/>
        </p:nvGrpSpPr>
        <p:grpSpPr bwMode="auto">
          <a:xfrm>
            <a:off x="5273675" y="1273175"/>
            <a:ext cx="325438" cy="461963"/>
            <a:chOff x="3646" y="1349"/>
            <a:chExt cx="338" cy="479"/>
          </a:xfrm>
        </p:grpSpPr>
        <p:sp>
          <p:nvSpPr>
            <p:cNvPr id="201" name="Oval 41"/>
            <p:cNvSpPr>
              <a:spLocks noChangeArrowheads="1"/>
            </p:cNvSpPr>
            <p:nvPr/>
          </p:nvSpPr>
          <p:spPr bwMode="auto">
            <a:xfrm>
              <a:off x="3648" y="1392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4754" name="Text Box 42"/>
            <p:cNvSpPr txBox="1">
              <a:spLocks noChangeArrowheads="1"/>
            </p:cNvSpPr>
            <p:nvPr/>
          </p:nvSpPr>
          <p:spPr bwMode="auto">
            <a:xfrm>
              <a:off x="3646" y="1349"/>
              <a:ext cx="24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14706" name="Text Box 43"/>
          <p:cNvSpPr txBox="1">
            <a:spLocks noChangeArrowheads="1"/>
          </p:cNvSpPr>
          <p:nvPr/>
        </p:nvSpPr>
        <p:spPr bwMode="auto">
          <a:xfrm>
            <a:off x="5599113" y="1314450"/>
            <a:ext cx="3238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14707" name="Line 44"/>
          <p:cNvSpPr>
            <a:spLocks noChangeShapeType="1"/>
          </p:cNvSpPr>
          <p:nvPr/>
        </p:nvSpPr>
        <p:spPr bwMode="auto">
          <a:xfrm flipH="1">
            <a:off x="4751388" y="1638300"/>
            <a:ext cx="677862" cy="180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14708" name="Group 45"/>
          <p:cNvGrpSpPr>
            <a:grpSpLocks/>
          </p:cNvGrpSpPr>
          <p:nvPr/>
        </p:nvGrpSpPr>
        <p:grpSpPr bwMode="auto">
          <a:xfrm>
            <a:off x="4003675" y="2454275"/>
            <a:ext cx="334963" cy="461963"/>
            <a:chOff x="3636" y="1350"/>
            <a:chExt cx="348" cy="477"/>
          </a:xfrm>
        </p:grpSpPr>
        <p:sp>
          <p:nvSpPr>
            <p:cNvPr id="206" name="Oval 46"/>
            <p:cNvSpPr>
              <a:spLocks noChangeArrowheads="1"/>
            </p:cNvSpPr>
            <p:nvPr/>
          </p:nvSpPr>
          <p:spPr bwMode="auto">
            <a:xfrm>
              <a:off x="3648" y="1393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4752" name="Text Box 47"/>
            <p:cNvSpPr txBox="1">
              <a:spLocks noChangeArrowheads="1"/>
            </p:cNvSpPr>
            <p:nvPr/>
          </p:nvSpPr>
          <p:spPr bwMode="auto">
            <a:xfrm>
              <a:off x="3636" y="1350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14709" name="Text Box 48"/>
          <p:cNvSpPr txBox="1">
            <a:spLocks noChangeArrowheads="1"/>
          </p:cNvSpPr>
          <p:nvPr/>
        </p:nvSpPr>
        <p:spPr bwMode="auto">
          <a:xfrm>
            <a:off x="4294188" y="2408238"/>
            <a:ext cx="8524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K=15</a:t>
            </a:r>
          </a:p>
        </p:txBody>
      </p:sp>
      <p:sp>
        <p:nvSpPr>
          <p:cNvPr id="114710" name="Line 49"/>
          <p:cNvSpPr>
            <a:spLocks noChangeShapeType="1"/>
          </p:cNvSpPr>
          <p:nvPr/>
        </p:nvSpPr>
        <p:spPr bwMode="auto">
          <a:xfrm>
            <a:off x="4275138" y="2803525"/>
            <a:ext cx="3016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4711" name="Line 50"/>
          <p:cNvSpPr>
            <a:spLocks noChangeShapeType="1"/>
          </p:cNvSpPr>
          <p:nvPr/>
        </p:nvSpPr>
        <p:spPr bwMode="auto">
          <a:xfrm flipH="1">
            <a:off x="3633788" y="2820988"/>
            <a:ext cx="471487" cy="636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14712" name="Group 52"/>
          <p:cNvGrpSpPr>
            <a:grpSpLocks/>
          </p:cNvGrpSpPr>
          <p:nvPr/>
        </p:nvGrpSpPr>
        <p:grpSpPr bwMode="auto">
          <a:xfrm>
            <a:off x="5159375" y="484188"/>
            <a:ext cx="330200" cy="461962"/>
            <a:chOff x="3642" y="1316"/>
            <a:chExt cx="342" cy="477"/>
          </a:xfrm>
        </p:grpSpPr>
        <p:sp>
          <p:nvSpPr>
            <p:cNvPr id="212" name="Oval 53"/>
            <p:cNvSpPr>
              <a:spLocks noChangeArrowheads="1"/>
            </p:cNvSpPr>
            <p:nvPr/>
          </p:nvSpPr>
          <p:spPr bwMode="auto">
            <a:xfrm>
              <a:off x="3649" y="1391"/>
              <a:ext cx="335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4750" name="Text Box 54"/>
            <p:cNvSpPr txBox="1">
              <a:spLocks noChangeArrowheads="1"/>
            </p:cNvSpPr>
            <p:nvPr/>
          </p:nvSpPr>
          <p:spPr bwMode="auto">
            <a:xfrm>
              <a:off x="3642" y="1316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14713" name="Text Box 55"/>
          <p:cNvSpPr txBox="1">
            <a:spLocks noChangeArrowheads="1"/>
          </p:cNvSpPr>
          <p:nvPr/>
        </p:nvSpPr>
        <p:spPr bwMode="auto">
          <a:xfrm>
            <a:off x="5489575" y="488950"/>
            <a:ext cx="2714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14714" name="Line 57"/>
          <p:cNvSpPr>
            <a:spLocks noChangeShapeType="1"/>
          </p:cNvSpPr>
          <p:nvPr/>
        </p:nvSpPr>
        <p:spPr bwMode="auto">
          <a:xfrm flipH="1">
            <a:off x="4235450" y="882650"/>
            <a:ext cx="982663" cy="161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4715" name="Freeform 58"/>
          <p:cNvSpPr>
            <a:spLocks/>
          </p:cNvSpPr>
          <p:nvPr/>
        </p:nvSpPr>
        <p:spPr bwMode="auto">
          <a:xfrm>
            <a:off x="5381625" y="882650"/>
            <a:ext cx="684213" cy="1025525"/>
          </a:xfrm>
          <a:custGeom>
            <a:avLst/>
            <a:gdLst>
              <a:gd name="T0" fmla="*/ 0 w 575"/>
              <a:gd name="T1" fmla="*/ 0 h 861"/>
              <a:gd name="T2" fmla="*/ 2147483646 w 575"/>
              <a:gd name="T3" fmla="*/ 2147483646 h 861"/>
              <a:gd name="T4" fmla="*/ 2147483646 w 575"/>
              <a:gd name="T5" fmla="*/ 2147483646 h 861"/>
              <a:gd name="T6" fmla="*/ 0 60000 65536"/>
              <a:gd name="T7" fmla="*/ 0 60000 65536"/>
              <a:gd name="T8" fmla="*/ 0 60000 65536"/>
              <a:gd name="T9" fmla="*/ 0 w 575"/>
              <a:gd name="T10" fmla="*/ 0 h 861"/>
              <a:gd name="T11" fmla="*/ 575 w 575"/>
              <a:gd name="T12" fmla="*/ 861 h 8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5" h="861">
                <a:moveTo>
                  <a:pt x="0" y="0"/>
                </a:moveTo>
                <a:cubicBezTo>
                  <a:pt x="211" y="132"/>
                  <a:pt x="423" y="265"/>
                  <a:pt x="499" y="408"/>
                </a:cubicBezTo>
                <a:cubicBezTo>
                  <a:pt x="575" y="551"/>
                  <a:pt x="514" y="706"/>
                  <a:pt x="454" y="86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4716" name="Text Box 64"/>
          <p:cNvSpPr txBox="1">
            <a:spLocks noChangeArrowheads="1"/>
          </p:cNvSpPr>
          <p:nvPr/>
        </p:nvSpPr>
        <p:spPr bwMode="auto">
          <a:xfrm>
            <a:off x="6588125" y="2881313"/>
            <a:ext cx="2698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14717" name="Text Box 65"/>
          <p:cNvSpPr txBox="1">
            <a:spLocks noChangeArrowheads="1"/>
          </p:cNvSpPr>
          <p:nvPr/>
        </p:nvSpPr>
        <p:spPr bwMode="auto">
          <a:xfrm>
            <a:off x="6642100" y="2339975"/>
            <a:ext cx="1619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14718" name="Text Box 66"/>
          <p:cNvSpPr txBox="1">
            <a:spLocks noChangeArrowheads="1"/>
          </p:cNvSpPr>
          <p:nvPr/>
        </p:nvSpPr>
        <p:spPr bwMode="auto">
          <a:xfrm>
            <a:off x="6302375" y="1779588"/>
            <a:ext cx="2143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14719" name="Text Box 67"/>
          <p:cNvSpPr txBox="1">
            <a:spLocks noChangeArrowheads="1"/>
          </p:cNvSpPr>
          <p:nvPr/>
        </p:nvSpPr>
        <p:spPr bwMode="auto">
          <a:xfrm>
            <a:off x="5651500" y="484188"/>
            <a:ext cx="2714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21" name="Oval 68"/>
          <p:cNvSpPr>
            <a:spLocks noChangeArrowheads="1"/>
          </p:cNvSpPr>
          <p:nvPr/>
        </p:nvSpPr>
        <p:spPr bwMode="auto">
          <a:xfrm>
            <a:off x="3417888" y="3462338"/>
            <a:ext cx="325437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222" name="Oval 69"/>
          <p:cNvSpPr>
            <a:spLocks noChangeArrowheads="1"/>
          </p:cNvSpPr>
          <p:nvPr/>
        </p:nvSpPr>
        <p:spPr bwMode="auto">
          <a:xfrm>
            <a:off x="4518025" y="3446463"/>
            <a:ext cx="325438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34290" rIns="68580" bIns="34290" anchor="ctr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223" name="Oval 70"/>
          <p:cNvSpPr>
            <a:spLocks noChangeArrowheads="1"/>
          </p:cNvSpPr>
          <p:nvPr/>
        </p:nvSpPr>
        <p:spPr bwMode="auto">
          <a:xfrm>
            <a:off x="5753100" y="3457575"/>
            <a:ext cx="331788" cy="3206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en-US" altLang="zh-CN" sz="2400" b="0" i="1" baseline="-25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24" name="Oval 71"/>
          <p:cNvSpPr>
            <a:spLocks noChangeArrowheads="1"/>
          </p:cNvSpPr>
          <p:nvPr/>
        </p:nvSpPr>
        <p:spPr bwMode="auto">
          <a:xfrm>
            <a:off x="6664325" y="3478213"/>
            <a:ext cx="360363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en-US" altLang="zh-CN" sz="2400" b="0" i="1" baseline="-25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14724" name="矩形 224"/>
          <p:cNvSpPr>
            <a:spLocks noChangeArrowheads="1"/>
          </p:cNvSpPr>
          <p:nvPr/>
        </p:nvSpPr>
        <p:spPr bwMode="auto">
          <a:xfrm>
            <a:off x="4783138" y="3379788"/>
            <a:ext cx="10398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B=3</a:t>
            </a:r>
          </a:p>
        </p:txBody>
      </p:sp>
      <p:sp>
        <p:nvSpPr>
          <p:cNvPr id="114725" name="矩形 225"/>
          <p:cNvSpPr>
            <a:spLocks noChangeArrowheads="1"/>
          </p:cNvSpPr>
          <p:nvPr/>
        </p:nvSpPr>
        <p:spPr bwMode="auto">
          <a:xfrm>
            <a:off x="3708400" y="3413125"/>
            <a:ext cx="2921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endParaRPr lang="zh-CN" altLang="en-US" sz="2400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4726" name="矩形 226"/>
          <p:cNvSpPr>
            <a:spLocks noChangeArrowheads="1"/>
          </p:cNvSpPr>
          <p:nvPr/>
        </p:nvSpPr>
        <p:spPr bwMode="auto">
          <a:xfrm>
            <a:off x="6054725" y="3390900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4727" name="矩形 227"/>
          <p:cNvSpPr>
            <a:spLocks noChangeArrowheads="1"/>
          </p:cNvSpPr>
          <p:nvPr/>
        </p:nvSpPr>
        <p:spPr bwMode="auto">
          <a:xfrm>
            <a:off x="7002463" y="3413125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4728" name="Line 50"/>
          <p:cNvSpPr>
            <a:spLocks noChangeShapeType="1"/>
          </p:cNvSpPr>
          <p:nvPr/>
        </p:nvSpPr>
        <p:spPr bwMode="auto">
          <a:xfrm flipH="1">
            <a:off x="4702175" y="3786188"/>
            <a:ext cx="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30" name="Oval 68"/>
          <p:cNvSpPr>
            <a:spLocks noChangeArrowheads="1"/>
          </p:cNvSpPr>
          <p:nvPr/>
        </p:nvSpPr>
        <p:spPr bwMode="auto">
          <a:xfrm>
            <a:off x="4538663" y="4046538"/>
            <a:ext cx="325437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14730" name="矩形 230"/>
          <p:cNvSpPr>
            <a:spLocks noChangeArrowheads="1"/>
          </p:cNvSpPr>
          <p:nvPr/>
        </p:nvSpPr>
        <p:spPr bwMode="auto">
          <a:xfrm>
            <a:off x="4838700" y="3992563"/>
            <a:ext cx="2936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endParaRPr lang="zh-CN" altLang="en-US" sz="2400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886575" y="928688"/>
            <a:ext cx="1400175" cy="132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D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+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C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*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C </a:t>
            </a:r>
          </a:p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+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D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L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15 +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</p:txBody>
      </p:sp>
      <p:sp>
        <p:nvSpPr>
          <p:cNvPr id="114732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8" name="Group 81"/>
          <p:cNvGrpSpPr>
            <a:grpSpLocks/>
          </p:cNvGrpSpPr>
          <p:nvPr/>
        </p:nvGrpSpPr>
        <p:grpSpPr bwMode="auto">
          <a:xfrm>
            <a:off x="6369050" y="1957388"/>
            <a:ext cx="161925" cy="161925"/>
            <a:chOff x="3470" y="1797"/>
            <a:chExt cx="272" cy="363"/>
          </a:xfrm>
        </p:grpSpPr>
        <p:sp>
          <p:nvSpPr>
            <p:cNvPr id="114747" name="Line 82"/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8" name="Line 83"/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78"/>
          <p:cNvGrpSpPr>
            <a:grpSpLocks/>
          </p:cNvGrpSpPr>
          <p:nvPr/>
        </p:nvGrpSpPr>
        <p:grpSpPr bwMode="auto">
          <a:xfrm>
            <a:off x="6699250" y="2486025"/>
            <a:ext cx="161925" cy="161925"/>
            <a:chOff x="3470" y="1797"/>
            <a:chExt cx="272" cy="363"/>
          </a:xfrm>
        </p:grpSpPr>
        <p:sp>
          <p:nvSpPr>
            <p:cNvPr id="114745" name="Line 79"/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6" name="Line 80"/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75"/>
          <p:cNvGrpSpPr>
            <a:grpSpLocks/>
          </p:cNvGrpSpPr>
          <p:nvPr/>
        </p:nvGrpSpPr>
        <p:grpSpPr bwMode="auto">
          <a:xfrm>
            <a:off x="6697663" y="3057525"/>
            <a:ext cx="161925" cy="161925"/>
            <a:chOff x="3470" y="1797"/>
            <a:chExt cx="272" cy="363"/>
          </a:xfrm>
        </p:grpSpPr>
        <p:sp>
          <p:nvSpPr>
            <p:cNvPr id="114743" name="Line 76"/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4" name="Line 77"/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78"/>
          <p:cNvGrpSpPr>
            <a:grpSpLocks/>
          </p:cNvGrpSpPr>
          <p:nvPr/>
        </p:nvGrpSpPr>
        <p:grpSpPr bwMode="auto">
          <a:xfrm>
            <a:off x="5778500" y="636588"/>
            <a:ext cx="161925" cy="161925"/>
            <a:chOff x="3470" y="1797"/>
            <a:chExt cx="272" cy="363"/>
          </a:xfrm>
        </p:grpSpPr>
        <p:sp>
          <p:nvSpPr>
            <p:cNvPr id="114741" name="Line 79"/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2" name="Line 80"/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78"/>
          <p:cNvGrpSpPr>
            <a:grpSpLocks/>
          </p:cNvGrpSpPr>
          <p:nvPr/>
        </p:nvGrpSpPr>
        <p:grpSpPr bwMode="auto">
          <a:xfrm>
            <a:off x="5367338" y="1438275"/>
            <a:ext cx="161925" cy="161925"/>
            <a:chOff x="3470" y="1797"/>
            <a:chExt cx="272" cy="363"/>
          </a:xfrm>
        </p:grpSpPr>
        <p:sp>
          <p:nvSpPr>
            <p:cNvPr id="114739" name="Line 79"/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0" name="Line 80"/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473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857250"/>
            <a:ext cx="2979738" cy="4017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给定一个基本块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3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 A 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*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G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*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H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⑦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I 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*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⑧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H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⑨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* 5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⑩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+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⑪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= 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</a:rPr>
              <a:t> </a:t>
            </a:r>
            <a:endParaRPr lang="zh-CN" altLang="en-US" sz="2000" b="1">
              <a:solidFill>
                <a:schemeClr val="tx1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30213" y="785813"/>
            <a:ext cx="8213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对每个具有若干定值变量的节点，构造一个</a:t>
            </a:r>
            <a:r>
              <a:rPr lang="zh-CN" altLang="en-US" sz="2500" b="1" dirty="0">
                <a:solidFill>
                  <a:srgbClr val="2D83F4"/>
                </a:solidFill>
              </a:rPr>
              <a:t>三地址语句</a:t>
            </a:r>
            <a:r>
              <a:rPr lang="zh-CN" altLang="en-US" sz="2500" b="1" dirty="0">
                <a:solidFill>
                  <a:schemeClr val="tx1"/>
                </a:solidFill>
              </a:rPr>
              <a:t>来计算其中某个变量的值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倾向于把计算得到的结果赋给一个在基本块</a:t>
            </a:r>
            <a:r>
              <a:rPr lang="zh-CN" altLang="en-US" b="1" dirty="0">
                <a:solidFill>
                  <a:srgbClr val="2D83F4"/>
                </a:solidFill>
              </a:rPr>
              <a:t>出口处活跃</a:t>
            </a:r>
            <a:r>
              <a:rPr lang="zh-CN" altLang="en-US" b="1" dirty="0">
                <a:solidFill>
                  <a:schemeClr val="tx1"/>
                </a:solidFill>
              </a:rPr>
              <a:t>的变量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</a:rPr>
              <a:t>如果没有</a:t>
            </a:r>
            <a:r>
              <a:rPr lang="zh-CN" altLang="en-US" b="1" dirty="0">
                <a:solidFill>
                  <a:srgbClr val="2D83F4"/>
                </a:solidFill>
              </a:rPr>
              <a:t>全局活跃变量的信息</a:t>
            </a:r>
            <a:r>
              <a:rPr lang="zh-CN" altLang="en-US" b="1" dirty="0">
                <a:solidFill>
                  <a:schemeClr val="tx1"/>
                </a:solidFill>
              </a:rPr>
              <a:t>作为依据，就要假设所有变量都在基本块出口处活跃，但是不包含编译器为处理表达式而生成的临时变量</a:t>
            </a:r>
            <a:r>
              <a:rPr lang="en-US" altLang="zh-CN" b="1" dirty="0">
                <a:solidFill>
                  <a:schemeClr val="tx1"/>
                </a:solidFill>
              </a:rPr>
              <a:t>) </a:t>
            </a: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如果结点有</a:t>
            </a:r>
            <a:r>
              <a:rPr lang="zh-CN" altLang="en-US" sz="2500" b="1" dirty="0">
                <a:solidFill>
                  <a:srgbClr val="2D83F4"/>
                </a:solidFill>
              </a:rPr>
              <a:t>多个附加的活跃变量</a:t>
            </a:r>
            <a:r>
              <a:rPr lang="zh-CN" altLang="en-US" sz="2500" b="1" dirty="0">
                <a:solidFill>
                  <a:schemeClr val="tx1"/>
                </a:solidFill>
              </a:rPr>
              <a:t>，就必须引入</a:t>
            </a:r>
            <a:r>
              <a:rPr lang="zh-CN" altLang="en-US" sz="2500" b="1" dirty="0">
                <a:solidFill>
                  <a:srgbClr val="2D83F4"/>
                </a:solidFill>
              </a:rPr>
              <a:t>复制语句</a:t>
            </a:r>
            <a:r>
              <a:rPr lang="zh-CN" altLang="en-US" sz="2500" b="1" dirty="0">
                <a:solidFill>
                  <a:schemeClr val="tx1"/>
                </a:solidFill>
              </a:rPr>
              <a:t>，以便给每一个变量都赋予正确的值</a:t>
            </a: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DAG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到基本块的重组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221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8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8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8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8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8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30213" y="858838"/>
            <a:ext cx="8285162" cy="4160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数据流分析</a:t>
            </a:r>
            <a:endParaRPr lang="en-US" altLang="zh-CN" sz="2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tx1"/>
                </a:solidFill>
                <a:cs typeface="Times New Roman" panose="02020603050405020304" pitchFamily="18" charset="0"/>
              </a:rPr>
              <a:t>一组用来获取程序执行路径上的数据流信息的技术</a:t>
            </a:r>
            <a:endParaRPr lang="en-US" altLang="zh-CN" sz="24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数据流分析应用</a:t>
            </a:r>
            <a:endParaRPr lang="en-US" altLang="zh-CN" sz="2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tx1"/>
                </a:solidFill>
                <a:cs typeface="Times New Roman" panose="02020603050405020304" pitchFamily="18" charset="0"/>
              </a:rPr>
              <a:t>到达</a:t>
            </a:r>
            <a:r>
              <a:rPr lang="en-US" altLang="zh-CN" sz="2400" b="1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sz="2400" b="1">
                <a:solidFill>
                  <a:schemeClr val="tx1"/>
                </a:solidFill>
                <a:cs typeface="Times New Roman" panose="02020603050405020304" pitchFamily="18" charset="0"/>
              </a:rPr>
              <a:t>定值分析</a:t>
            </a:r>
            <a:r>
              <a:rPr lang="en-US" altLang="zh-CN" sz="2400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Reaching-Definition Analysis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2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tx1"/>
                </a:solidFill>
                <a:cs typeface="Times New Roman" panose="02020603050405020304" pitchFamily="18" charset="0"/>
              </a:rPr>
              <a:t>活跃变量分析</a:t>
            </a:r>
            <a:r>
              <a:rPr lang="en-US" altLang="zh-CN" sz="2400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Live-Variable Analysis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2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tx1"/>
                </a:solidFill>
                <a:cs typeface="Times New Roman" panose="02020603050405020304" pitchFamily="18" charset="0"/>
              </a:rPr>
              <a:t>可用表达式分析</a:t>
            </a:r>
            <a:r>
              <a:rPr lang="en-US" altLang="zh-CN" sz="2400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Available-Expression Analysis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2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在每一种数据流分析应用中，都会把每个</a:t>
            </a:r>
            <a:r>
              <a:rPr lang="zh-CN" altLang="en-US" sz="2800" b="1">
                <a:solidFill>
                  <a:srgbClr val="2D83F4"/>
                </a:solidFill>
                <a:cs typeface="Times New Roman" panose="02020603050405020304" pitchFamily="18" charset="0"/>
              </a:rPr>
              <a:t>程序点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和一个</a:t>
            </a:r>
            <a:r>
              <a:rPr lang="zh-CN" altLang="en-US" sz="2800" b="1">
                <a:solidFill>
                  <a:srgbClr val="2D83F4"/>
                </a:solidFill>
                <a:cs typeface="Times New Roman" panose="02020603050405020304" pitchFamily="18" charset="0"/>
              </a:rPr>
              <a:t>数据流值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关联起来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  <a:r>
              <a:rPr lang="en-US" altLang="zh-CN" sz="3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(data-flow analysis)</a:t>
            </a:r>
            <a:endParaRPr lang="zh-CN" altLang="en-US" sz="30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25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23850" y="930275"/>
            <a:ext cx="8213725" cy="40894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语句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的数据流模式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]: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之前的数据流值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 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]: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之后的数据流值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sz="2500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传递函数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(transfer function)</a:t>
            </a:r>
            <a:endParaRPr lang="en-US" altLang="zh-CN" sz="25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一个赋值语句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之前和之后的数据流值的关系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传递函数的两种风格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信息沿执行路径前向传播 </a:t>
            </a:r>
            <a:r>
              <a:rPr lang="en-US" altLang="zh-CN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前向数据流问题</a:t>
            </a:r>
            <a:r>
              <a:rPr lang="en-US" altLang="zh-CN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lnSpc>
                <a:spcPts val="28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O</a:t>
            </a:r>
            <a:r>
              <a:rPr lang="en-US" altLang="zh-CN" sz="22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U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200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])</a:t>
            </a:r>
            <a:endParaRPr lang="zh-CN" altLang="en-US" sz="1800" b="1" dirty="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3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信息沿执行路径逆向传播 </a:t>
            </a:r>
            <a:r>
              <a:rPr lang="en-US" altLang="zh-CN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逆向数据流问题</a:t>
            </a:r>
            <a:r>
              <a:rPr lang="en-US" altLang="zh-CN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lnSpc>
                <a:spcPts val="28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200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])</a:t>
            </a:r>
            <a:endParaRPr lang="zh-CN" altLang="en-US" sz="1800" b="1" dirty="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数据流分析模式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397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23850" y="930275"/>
            <a:ext cx="8213725" cy="40894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语句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的数据流模式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]: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之前的数据流值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 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]: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之后的数据流值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sz="2500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传递函数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(transfer function)</a:t>
            </a:r>
            <a:endParaRPr lang="en-US" altLang="zh-CN" sz="25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一个赋值语句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之前和之后的数据流值的关系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基本块中相邻两个语句之间的数据流值的关系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设基本块</a:t>
            </a:r>
            <a:r>
              <a:rPr lang="en-US" altLang="zh-CN" sz="22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由语句</a:t>
            </a: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, s</a:t>
            </a:r>
            <a:r>
              <a:rPr lang="en-US" altLang="zh-CN" sz="2200" b="1" i="1" baseline="-30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, … , </a:t>
            </a:r>
            <a:r>
              <a:rPr lang="en-US" altLang="zh-CN" sz="2200" b="1" i="1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 err="1">
                <a:solidFill>
                  <a:prstClr val="black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prstClr val="black"/>
                </a:solidFill>
                <a:cs typeface="Times New Roman" panose="02020603050405020304" pitchFamily="18" charset="0"/>
              </a:rPr>
              <a:t>顺序组成，则</a:t>
            </a:r>
            <a:endParaRPr lang="en-US" altLang="zh-CN" sz="2200" b="1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627062" lvl="2" indent="0" eaLnBrk="1" hangingPunct="1">
              <a:lnSpc>
                <a:spcPts val="32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                  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i+1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]= 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  </a:t>
            </a: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=1, 2, … , </a:t>
            </a: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2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-1 </a:t>
            </a:r>
            <a:endParaRPr lang="zh-CN" altLang="en-US" sz="2200" b="1" dirty="0">
              <a:solidFill>
                <a:prstClr val="black"/>
              </a:solidFill>
              <a:ea typeface="楷体_GB231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数据流分析模式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377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30213" y="930275"/>
            <a:ext cx="7813675" cy="32258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200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rgbClr val="2D83F4"/>
                </a:solidFill>
                <a:cs typeface="Times New Roman" panose="02020603050405020304" pitchFamily="18" charset="0"/>
              </a:rPr>
              <a:t>]: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紧靠基本块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2D83F4"/>
                </a:solidFill>
                <a:cs typeface="Times New Roman" panose="02020603050405020304" pitchFamily="18" charset="0"/>
              </a:rPr>
              <a:t>之前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的数据流值</a:t>
            </a:r>
            <a:endParaRPr lang="en-US" altLang="zh-CN" sz="22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7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2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rgbClr val="2D83F4"/>
                </a:solidFill>
                <a:cs typeface="Times New Roman" panose="02020603050405020304" pitchFamily="18" charset="0"/>
              </a:rPr>
              <a:t>]: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紧随基本块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2D83F4"/>
                </a:solidFill>
                <a:cs typeface="Times New Roman" panose="02020603050405020304" pitchFamily="18" charset="0"/>
              </a:rPr>
              <a:t>之后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的数据流值</a:t>
            </a:r>
            <a:endParaRPr lang="en-US" altLang="zh-CN" sz="22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设基本块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由语句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,s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,…,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顺序组成，则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  =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 </a:t>
            </a:r>
          </a:p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200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2D83F4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的传递函数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cs typeface="Times New Roman" panose="02020603050405020304" pitchFamily="18" charset="0"/>
              </a:rPr>
              <a:t>前向数据流问题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 err="1">
                <a:solidFill>
                  <a:srgbClr val="2D83F4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])</a:t>
            </a:r>
          </a:p>
          <a:p>
            <a:pPr marL="303212" lvl="1" indent="0" eaLnBrk="1" hangingPunct="1">
              <a:lnSpc>
                <a:spcPts val="27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CN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sn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s2 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s1</a:t>
            </a: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cs typeface="Times New Roman" panose="02020603050405020304" pitchFamily="18" charset="0"/>
              </a:rPr>
              <a:t>逆向数据流问题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 err="1">
                <a:solidFill>
                  <a:srgbClr val="2D83F4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])</a:t>
            </a:r>
          </a:p>
          <a:p>
            <a:pPr marL="303212" lvl="1" indent="0" eaLnBrk="1" hangingPunct="1">
              <a:lnSpc>
                <a:spcPts val="27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CN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s1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f</a:t>
            </a:r>
            <a:r>
              <a:rPr lang="en-US" altLang="zh-CN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s2 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·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sn</a:t>
            </a:r>
            <a:endParaRPr lang="en-US" altLang="zh-CN" b="1" i="1" baseline="-30000" dirty="0">
              <a:solidFill>
                <a:srgbClr val="2D83F4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i="1" baseline="-30000" dirty="0">
              <a:solidFill>
                <a:srgbClr val="2D83F4"/>
              </a:solidFill>
              <a:cs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基本块上的数据流模式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84888" y="930275"/>
            <a:ext cx="3316287" cy="4035425"/>
          </a:xfrm>
          <a:prstGeom prst="rect">
            <a:avLst/>
          </a:prstGeom>
          <a:noFill/>
          <a:ln>
            <a:noFill/>
          </a:ln>
          <a:effectLst/>
        </p:spPr>
        <p:txBody>
          <a:bodyPr lIns="68580" tIns="34290" rIns="68580" bIns="34290"/>
          <a:lstStyle/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n-1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n-1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n-2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……</a:t>
            </a:r>
            <a:endParaRPr lang="en-US" altLang="zh-CN" sz="2000" kern="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·…·f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·…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s2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kern="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·…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s2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s1 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56529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30213" y="714375"/>
            <a:ext cx="8356600" cy="32258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Definition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1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变量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定值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可能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将一个值赋给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2D83F4"/>
                </a:solidFill>
                <a:cs typeface="Times New Roman" panose="02020603050405020304" pitchFamily="18" charset="0"/>
              </a:rPr>
              <a:t>语句</a:t>
            </a:r>
            <a:endParaRPr lang="en-US" altLang="zh-CN" b="1" dirty="0">
              <a:solidFill>
                <a:srgbClr val="2D83F4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到达定值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Reaching Definition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存在一条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从紧跟在定值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后面的点到达某一程序点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的路径，而且在此路径上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没有被“杀死”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(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如果在此路径上有对变量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的其它定值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，则称变量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被这个定值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杀死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”了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，则称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到达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程序点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直观地讲，如果某个变量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的一个定值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到达点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，在点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处使用的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的值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可能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就是由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最后赋予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到达定值分析</a:t>
            </a:r>
          </a:p>
        </p:txBody>
      </p:sp>
    </p:spTree>
    <p:extLst>
      <p:ext uri="{BB962C8B-B14F-4D97-AF65-F5344CB8AC3E}">
        <p14:creationId xmlns:p14="http://schemas.microsoft.com/office/powerpoint/2010/main" val="126609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例：可以到达各基本块的入口处的定值</a:t>
            </a:r>
          </a:p>
        </p:txBody>
      </p:sp>
      <p:sp>
        <p:nvSpPr>
          <p:cNvPr id="78897" name="矩形 1"/>
          <p:cNvSpPr>
            <a:spLocks noChangeArrowheads="1"/>
          </p:cNvSpPr>
          <p:nvPr/>
        </p:nvSpPr>
        <p:spPr bwMode="auto">
          <a:xfrm>
            <a:off x="4071938" y="965200"/>
            <a:ext cx="4357687" cy="13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假设每个控制流图都有两个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空基本块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，分别是表示流图的开始点的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ENTRY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结点和结束点的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EXIT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结点（所有离开该图的控制流都流向它）</a:t>
            </a:r>
            <a:endParaRPr lang="en-US" altLang="zh-CN" sz="2000" dirty="0">
              <a:solidFill>
                <a:schemeClr val="hlin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3556" name="组合 29"/>
          <p:cNvGrpSpPr>
            <a:grpSpLocks/>
          </p:cNvGrpSpPr>
          <p:nvPr/>
        </p:nvGrpSpPr>
        <p:grpSpPr bwMode="auto">
          <a:xfrm>
            <a:off x="428625" y="928688"/>
            <a:ext cx="3500438" cy="3786187"/>
            <a:chOff x="52811" y="1214428"/>
            <a:chExt cx="3499996" cy="3786229"/>
          </a:xfrm>
        </p:grpSpPr>
        <p:sp>
          <p:nvSpPr>
            <p:cNvPr id="23619" name="Line 29"/>
            <p:cNvSpPr>
              <a:spLocks noChangeShapeType="1"/>
            </p:cNvSpPr>
            <p:nvPr/>
          </p:nvSpPr>
          <p:spPr bwMode="auto">
            <a:xfrm>
              <a:off x="2267084" y="2500312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3620" name="Line 31"/>
            <p:cNvSpPr>
              <a:spLocks noChangeShapeType="1"/>
            </p:cNvSpPr>
            <p:nvPr/>
          </p:nvSpPr>
          <p:spPr bwMode="auto">
            <a:xfrm>
              <a:off x="2267084" y="3286133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6" name="Rectangle 23"/>
            <p:cNvSpPr>
              <a:spLocks noChangeArrowheads="1"/>
            </p:cNvSpPr>
            <p:nvPr/>
          </p:nvSpPr>
          <p:spPr bwMode="auto">
            <a:xfrm>
              <a:off x="1643285" y="1214428"/>
              <a:ext cx="1266665" cy="2857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ENTRY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47" name="Rectangle 24"/>
            <p:cNvSpPr>
              <a:spLocks noChangeArrowheads="1"/>
            </p:cNvSpPr>
            <p:nvPr/>
          </p:nvSpPr>
          <p:spPr bwMode="auto">
            <a:xfrm>
              <a:off x="1627412" y="1727196"/>
              <a:ext cx="1282538" cy="8445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1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m-1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2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n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3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u1</a:t>
              </a:r>
              <a:endParaRPr lang="en-US" altLang="zh-CN" sz="2000" i="1" baseline="-25000" dirty="0">
                <a:latin typeface="Times New Roman" charset="0"/>
              </a:endParaRPr>
            </a:p>
            <a:p>
              <a:pPr algn="just">
                <a:lnSpc>
                  <a:spcPts val="2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</p:txBody>
        </p:sp>
        <p:sp>
          <p:nvSpPr>
            <p:cNvPr id="23623" name="Rectangle 25"/>
            <p:cNvSpPr>
              <a:spLocks noChangeArrowheads="1"/>
            </p:cNvSpPr>
            <p:nvPr/>
          </p:nvSpPr>
          <p:spPr bwMode="auto">
            <a:xfrm>
              <a:off x="3016250" y="1708139"/>
              <a:ext cx="393700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3624" name="Rectangle 26"/>
            <p:cNvSpPr>
              <a:spLocks noChangeArrowheads="1"/>
            </p:cNvSpPr>
            <p:nvPr/>
          </p:nvSpPr>
          <p:spPr bwMode="auto">
            <a:xfrm>
              <a:off x="2927332" y="2746379"/>
              <a:ext cx="62547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27"/>
            <p:cNvSpPr>
              <a:spLocks noChangeArrowheads="1"/>
            </p:cNvSpPr>
            <p:nvPr/>
          </p:nvSpPr>
          <p:spPr bwMode="auto">
            <a:xfrm>
              <a:off x="1644873" y="2786070"/>
              <a:ext cx="1265077" cy="57150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4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i+1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5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j-1</a:t>
              </a:r>
            </a:p>
          </p:txBody>
        </p:sp>
        <p:sp>
          <p:nvSpPr>
            <p:cNvPr id="23626" name="Line 28"/>
            <p:cNvSpPr>
              <a:spLocks noChangeShapeType="1"/>
            </p:cNvSpPr>
            <p:nvPr/>
          </p:nvSpPr>
          <p:spPr bwMode="auto">
            <a:xfrm>
              <a:off x="2267084" y="1500180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2" name="Rectangle 30"/>
            <p:cNvSpPr>
              <a:spLocks noChangeArrowheads="1"/>
            </p:cNvSpPr>
            <p:nvPr/>
          </p:nvSpPr>
          <p:spPr bwMode="auto">
            <a:xfrm>
              <a:off x="409954" y="3643330"/>
              <a:ext cx="1214284" cy="2857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6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u2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23628" name="Rectangle 33"/>
            <p:cNvSpPr>
              <a:spLocks noChangeArrowheads="1"/>
            </p:cNvSpPr>
            <p:nvPr/>
          </p:nvSpPr>
          <p:spPr bwMode="auto">
            <a:xfrm>
              <a:off x="2925744" y="4071956"/>
              <a:ext cx="6270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3629" name="Rectangle 34"/>
            <p:cNvSpPr>
              <a:spLocks noChangeArrowheads="1"/>
            </p:cNvSpPr>
            <p:nvPr/>
          </p:nvSpPr>
          <p:spPr bwMode="auto">
            <a:xfrm>
              <a:off x="1638434" y="3571883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3630" name="Line 37"/>
            <p:cNvSpPr>
              <a:spLocks noChangeShapeType="1"/>
            </p:cNvSpPr>
            <p:nvPr/>
          </p:nvSpPr>
          <p:spPr bwMode="auto">
            <a:xfrm flipH="1">
              <a:off x="928661" y="3357568"/>
              <a:ext cx="941389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3631" name="Line 38"/>
            <p:cNvSpPr>
              <a:spLocks noChangeShapeType="1"/>
            </p:cNvSpPr>
            <p:nvPr/>
          </p:nvSpPr>
          <p:spPr bwMode="auto">
            <a:xfrm>
              <a:off x="1000100" y="3929072"/>
              <a:ext cx="928694" cy="214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3632" name="Freeform 42"/>
            <p:cNvSpPr>
              <a:spLocks/>
            </p:cNvSpPr>
            <p:nvPr/>
          </p:nvSpPr>
          <p:spPr bwMode="auto">
            <a:xfrm rot="-906172">
              <a:off x="52811" y="2748547"/>
              <a:ext cx="1807873" cy="197931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8" name="Rectangle 30"/>
            <p:cNvSpPr>
              <a:spLocks noChangeArrowheads="1"/>
            </p:cNvSpPr>
            <p:nvPr/>
          </p:nvSpPr>
          <p:spPr bwMode="auto">
            <a:xfrm>
              <a:off x="1643285" y="4143397"/>
              <a:ext cx="1266665" cy="3095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7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u3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59" name="Rectangle 23"/>
            <p:cNvSpPr>
              <a:spLocks noChangeArrowheads="1"/>
            </p:cNvSpPr>
            <p:nvPr/>
          </p:nvSpPr>
          <p:spPr bwMode="auto">
            <a:xfrm>
              <a:off x="1643285" y="4714904"/>
              <a:ext cx="1266665" cy="2857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EXIT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23635" name="Line 28"/>
            <p:cNvSpPr>
              <a:spLocks noChangeShapeType="1"/>
            </p:cNvSpPr>
            <p:nvPr/>
          </p:nvSpPr>
          <p:spPr bwMode="auto">
            <a:xfrm>
              <a:off x="2267084" y="447519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graphicFrame>
        <p:nvGraphicFramePr>
          <p:cNvPr id="61" name="Group 182"/>
          <p:cNvGraphicFramePr>
            <a:graphicFrameLocks noGrp="1"/>
          </p:cNvGraphicFramePr>
          <p:nvPr/>
        </p:nvGraphicFramePr>
        <p:xfrm>
          <a:off x="5003800" y="2347913"/>
          <a:ext cx="2232026" cy="2744784"/>
        </p:xfrm>
        <a:graphic>
          <a:graphicData uri="http://schemas.openxmlformats.org/drawingml/2006/table">
            <a:tbl>
              <a:tblPr/>
              <a:tblGrid>
                <a:gridCol w="717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7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" name="Line 31"/>
          <p:cNvSpPr>
            <a:spLocks noChangeShapeType="1"/>
          </p:cNvSpPr>
          <p:nvPr/>
        </p:nvSpPr>
        <p:spPr bwMode="auto">
          <a:xfrm>
            <a:off x="5003800" y="2333625"/>
            <a:ext cx="0" cy="2759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3" name="Line 31"/>
          <p:cNvSpPr>
            <a:spLocks noChangeShapeType="1"/>
          </p:cNvSpPr>
          <p:nvPr/>
        </p:nvSpPr>
        <p:spPr bwMode="auto">
          <a:xfrm>
            <a:off x="7235825" y="2360613"/>
            <a:ext cx="0" cy="274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5792788" y="2697163"/>
            <a:ext cx="31115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5740400" y="369093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5792788" y="4075113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67" name="矩形 66"/>
          <p:cNvSpPr>
            <a:spLocks noChangeArrowheads="1"/>
          </p:cNvSpPr>
          <p:nvPr/>
        </p:nvSpPr>
        <p:spPr bwMode="auto">
          <a:xfrm>
            <a:off x="5792788" y="4397375"/>
            <a:ext cx="311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6299200" y="2706688"/>
            <a:ext cx="417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>
            <a:spLocks noChangeArrowheads="1"/>
          </p:cNvSpPr>
          <p:nvPr/>
        </p:nvSpPr>
        <p:spPr bwMode="auto">
          <a:xfrm>
            <a:off x="6299200" y="3067050"/>
            <a:ext cx="417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>
            <a:spLocks noChangeArrowheads="1"/>
          </p:cNvSpPr>
          <p:nvPr/>
        </p:nvSpPr>
        <p:spPr bwMode="auto">
          <a:xfrm>
            <a:off x="6348413" y="3363913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1" name="矩形 70"/>
          <p:cNvSpPr>
            <a:spLocks noChangeArrowheads="1"/>
          </p:cNvSpPr>
          <p:nvPr/>
        </p:nvSpPr>
        <p:spPr bwMode="auto">
          <a:xfrm>
            <a:off x="6348413" y="3714750"/>
            <a:ext cx="368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2" name="矩形 71"/>
          <p:cNvSpPr>
            <a:spLocks noChangeArrowheads="1"/>
          </p:cNvSpPr>
          <p:nvPr/>
        </p:nvSpPr>
        <p:spPr bwMode="auto">
          <a:xfrm>
            <a:off x="6348413" y="443388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6315075" y="4722813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4" name="矩形 73"/>
          <p:cNvSpPr>
            <a:spLocks noChangeArrowheads="1"/>
          </p:cNvSpPr>
          <p:nvPr/>
        </p:nvSpPr>
        <p:spPr bwMode="auto">
          <a:xfrm>
            <a:off x="6804025" y="2716213"/>
            <a:ext cx="4175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×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6851650" y="33639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6865938" y="3724275"/>
            <a:ext cx="3698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6851650" y="44434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8" name="矩形 77"/>
          <p:cNvSpPr>
            <a:spLocks noChangeArrowheads="1"/>
          </p:cNvSpPr>
          <p:nvPr/>
        </p:nvSpPr>
        <p:spPr bwMode="auto">
          <a:xfrm>
            <a:off x="6818313" y="4732338"/>
            <a:ext cx="417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78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97" grpId="0" animBg="1"/>
      <p:bldP spid="62" grpId="0" animBg="1"/>
      <p:bldP spid="63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30213" y="846138"/>
            <a:ext cx="835660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循环不变计算的检测</a:t>
            </a: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如果循环中含有赋值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333333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b="1">
                <a:solidFill>
                  <a:srgbClr val="333333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z</a:t>
            </a:r>
            <a:r>
              <a:rPr lang="en-US" altLang="zh-CN" b="1">
                <a:solidFill>
                  <a:srgbClr val="333333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，而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所有</a:t>
            </a:r>
            <a:r>
              <a:rPr lang="zh-CN" altLang="en-US" b="1">
                <a:solidFill>
                  <a:srgbClr val="2D83F4"/>
                </a:solidFill>
                <a:cs typeface="Times New Roman" panose="02020603050405020304" pitchFamily="18" charset="0"/>
              </a:rPr>
              <a:t>可能的定值</a:t>
            </a: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都在</a:t>
            </a:r>
            <a:r>
              <a:rPr lang="zh-CN" altLang="en-US" b="1">
                <a:solidFill>
                  <a:srgbClr val="2D83F4"/>
                </a:solidFill>
                <a:cs typeface="Times New Roman" panose="02020603050405020304" pitchFamily="18" charset="0"/>
              </a:rPr>
              <a:t>循环外面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包括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或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是常数的特殊情况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，那么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b="1">
                <a:solidFill>
                  <a:srgbClr val="333333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b="1">
                <a:solidFill>
                  <a:srgbClr val="333333"/>
                </a:solidFill>
                <a:cs typeface="Times New Roman" panose="02020603050405020304" pitchFamily="18" charset="0"/>
              </a:rPr>
              <a:t>就是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循环不变计算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到达定值分析的主要用途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71779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30213" y="1285875"/>
            <a:ext cx="8142287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常量合并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如果对变量</a:t>
            </a:r>
            <a:r>
              <a:rPr lang="en-US" altLang="zh-CN" b="1" i="1">
                <a:solidFill>
                  <a:srgbClr val="2D83F4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的某次使用</a:t>
            </a:r>
            <a:r>
              <a:rPr lang="zh-CN" altLang="en-US" b="1">
                <a:solidFill>
                  <a:srgbClr val="2D83F4"/>
                </a:solidFill>
                <a:cs typeface="Times New Roman" panose="02020603050405020304" pitchFamily="18" charset="0"/>
              </a:rPr>
              <a:t>只有一个定值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可以到达，并且该定值把</a:t>
            </a:r>
            <a:r>
              <a:rPr lang="zh-CN" altLang="en-US" b="1">
                <a:solidFill>
                  <a:srgbClr val="2D83F4"/>
                </a:solidFill>
                <a:cs typeface="Times New Roman" panose="02020603050405020304" pitchFamily="18" charset="0"/>
              </a:rPr>
              <a:t>一个常量赋给</a:t>
            </a:r>
            <a:r>
              <a:rPr lang="en-US" altLang="zh-CN" b="1" i="1">
                <a:solidFill>
                  <a:srgbClr val="2D83F4"/>
                </a:solidFill>
                <a:cs typeface="Times New Roman" panose="02020603050405020304" pitchFamily="18" charset="0"/>
              </a:rPr>
              <a:t>x 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，那么可以简单地</a:t>
            </a:r>
            <a:r>
              <a:rPr lang="zh-CN" altLang="en-US" b="1">
                <a:solidFill>
                  <a:srgbClr val="2D83F4"/>
                </a:solidFill>
                <a:cs typeface="Times New Roman" panose="02020603050405020304" pitchFamily="18" charset="0"/>
              </a:rPr>
              <a:t>把</a:t>
            </a:r>
            <a:r>
              <a:rPr lang="en-US" altLang="zh-CN" b="1" i="1">
                <a:solidFill>
                  <a:srgbClr val="2D83F4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>
                <a:solidFill>
                  <a:srgbClr val="2D83F4"/>
                </a:solidFill>
                <a:cs typeface="Times New Roman" panose="02020603050405020304" pitchFamily="18" charset="0"/>
              </a:rPr>
              <a:t>替换为该常量</a:t>
            </a:r>
            <a:endParaRPr lang="en-US" altLang="zh-CN" b="1">
              <a:solidFill>
                <a:srgbClr val="2D83F4"/>
              </a:solidFill>
              <a:cs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到达定值分析的主要用途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27652" name="Rectangle 3"/>
          <p:cNvSpPr txBox="1">
            <a:spLocks noChangeArrowheads="1"/>
          </p:cNvSpPr>
          <p:nvPr/>
        </p:nvSpPr>
        <p:spPr bwMode="auto">
          <a:xfrm>
            <a:off x="430213" y="846138"/>
            <a:ext cx="81422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循环不变计算的检测</a:t>
            </a:r>
          </a:p>
        </p:txBody>
      </p:sp>
    </p:spTree>
    <p:extLst>
      <p:ext uri="{BB962C8B-B14F-4D97-AF65-F5344CB8AC3E}">
        <p14:creationId xmlns:p14="http://schemas.microsoft.com/office/powerpoint/2010/main" val="319262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30213" y="1785938"/>
            <a:ext cx="7142162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判定变量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点上是否</a:t>
            </a:r>
            <a:r>
              <a:rPr lang="zh-CN" altLang="en-US" sz="2500" b="1">
                <a:solidFill>
                  <a:srgbClr val="2D83F4"/>
                </a:solidFill>
                <a:cs typeface="Times New Roman" panose="02020603050405020304" pitchFamily="18" charset="0"/>
              </a:rPr>
              <a:t>未经定值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就</a:t>
            </a:r>
            <a:r>
              <a:rPr lang="zh-CN" altLang="en-US" sz="2500" b="1">
                <a:solidFill>
                  <a:srgbClr val="2D83F4"/>
                </a:solidFill>
                <a:cs typeface="Times New Roman" panose="02020603050405020304" pitchFamily="18" charset="0"/>
              </a:rPr>
              <a:t>被引用</a:t>
            </a:r>
            <a:endParaRPr lang="en-US" altLang="zh-CN" sz="2500" b="1">
              <a:solidFill>
                <a:srgbClr val="2D83F4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500" b="1">
              <a:solidFill>
                <a:schemeClr val="tx1"/>
              </a:solidFill>
              <a:latin typeface="楷体_GB2312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到达定值分析的主要用途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30213" y="1285875"/>
            <a:ext cx="8142287" cy="5000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71463" indent="-271463">
              <a:lnSpc>
                <a:spcPts val="3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常量合并</a:t>
            </a:r>
            <a:endParaRPr lang="en-US" altLang="zh-CN" sz="2500" dirty="0"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9701" name="Rectangle 3"/>
          <p:cNvSpPr txBox="1">
            <a:spLocks noChangeArrowheads="1"/>
          </p:cNvSpPr>
          <p:nvPr/>
        </p:nvSpPr>
        <p:spPr bwMode="auto">
          <a:xfrm>
            <a:off x="430213" y="846138"/>
            <a:ext cx="81422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循环不变计算的检测</a:t>
            </a:r>
          </a:p>
        </p:txBody>
      </p:sp>
    </p:spTree>
    <p:extLst>
      <p:ext uri="{BB962C8B-B14F-4D97-AF65-F5344CB8AC3E}">
        <p14:creationId xmlns:p14="http://schemas.microsoft.com/office/powerpoint/2010/main" val="81147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03250" y="1779588"/>
            <a:ext cx="8070850" cy="1714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: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u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+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w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该语句“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生成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”了一个对变量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的定值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，并“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杀死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”了程序中其它对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的定值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/>
            <a:endParaRPr lang="zh-CN" altLang="en-US" sz="2500" b="1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“生成”与“杀死”定值</a:t>
            </a:r>
            <a:endParaRPr lang="zh-CN" altLang="en-US" sz="3000" i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>
            <a:off x="3492500" y="882650"/>
            <a:ext cx="3143250" cy="785813"/>
          </a:xfrm>
          <a:prstGeom prst="borderCallout2">
            <a:avLst>
              <a:gd name="adj1" fmla="val 28302"/>
              <a:gd name="adj2" fmla="val -464"/>
              <a:gd name="adj3" fmla="val 29774"/>
              <a:gd name="adj4" fmla="val -8782"/>
              <a:gd name="adj5" fmla="val 127727"/>
              <a:gd name="adj6" fmla="val -23441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sz="2200" dirty="0">
                <a:latin typeface="楷体" pitchFamily="49" charset="-122"/>
                <a:ea typeface="楷体" pitchFamily="49" charset="-122"/>
              </a:rPr>
              <a:t>这里，</a:t>
            </a:r>
            <a:r>
              <a:rPr lang="en-US" altLang="zh-CN" sz="2200" dirty="0">
                <a:latin typeface="楷体" pitchFamily="49" charset="-122"/>
                <a:ea typeface="楷体" pitchFamily="49" charset="-122"/>
              </a:rPr>
              <a:t>“+” </a:t>
            </a:r>
            <a:r>
              <a:rPr lang="zh-CN" altLang="en-US" sz="2200" dirty="0">
                <a:latin typeface="楷体" pitchFamily="49" charset="-122"/>
                <a:ea typeface="楷体" pitchFamily="49" charset="-122"/>
              </a:rPr>
              <a:t>代表一个一般性的</a:t>
            </a:r>
            <a:r>
              <a:rPr lang="zh-CN" altLang="en-US" sz="22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二元运算符</a:t>
            </a:r>
            <a:endParaRPr lang="en-US" altLang="zh-CN" sz="2200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77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1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857250"/>
            <a:ext cx="8715375" cy="32258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5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：定值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: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u = v + w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的传递函数</a:t>
            </a:r>
            <a:endParaRPr lang="en-US" altLang="zh-CN" sz="25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∪(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x-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由语句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生成的定值的集合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200" b="1" i="1" baseline="-300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Times New Roman" panose="02020603050405020304" pitchFamily="18" charset="0"/>
              </a:rPr>
              <a:t>={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由语句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杀死的定值的集合（程序中所有其它对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的定值）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到达定值的传递函数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7620" name="AutoShape 4"/>
          <p:cNvSpPr>
            <a:spLocks/>
          </p:cNvSpPr>
          <p:nvPr/>
        </p:nvSpPr>
        <p:spPr bwMode="auto">
          <a:xfrm>
            <a:off x="4356100" y="1419225"/>
            <a:ext cx="2079625" cy="431800"/>
          </a:xfrm>
          <a:prstGeom prst="borderCallout2">
            <a:avLst>
              <a:gd name="adj1" fmla="val 42440"/>
              <a:gd name="adj2" fmla="val -914"/>
              <a:gd name="adj3" fmla="val 45121"/>
              <a:gd name="adj4" fmla="val -28618"/>
              <a:gd name="adj5" fmla="val 42185"/>
              <a:gd name="adj6" fmla="val -29334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sz="22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生成</a:t>
            </a:r>
            <a:r>
              <a:rPr lang="en-US" altLang="zh-CN" sz="22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-</a:t>
            </a:r>
            <a:r>
              <a:rPr lang="zh-CN" altLang="en-US" sz="22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杀死形式</a:t>
            </a:r>
            <a:endParaRPr lang="en-US" altLang="zh-CN" sz="2200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24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0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0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0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0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007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7620" grpId="0" animBg="1"/>
      <p:bldP spid="1007620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28625" y="1785938"/>
            <a:ext cx="814228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5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：基本块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的传递函数</a:t>
            </a:r>
            <a:endParaRPr lang="en-US" altLang="zh-CN" sz="2500" b="1" i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B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=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B 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∪(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x-kill</a:t>
            </a:r>
            <a:r>
              <a:rPr lang="en-US" altLang="zh-CN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B 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=kill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1 </a:t>
            </a:r>
            <a:r>
              <a:rPr lang="en-US" altLang="zh-CN" sz="2200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sz="2200" b="1">
                <a:solidFill>
                  <a:schemeClr val="tx1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… </a:t>
            </a:r>
            <a:r>
              <a:rPr lang="en-US" altLang="zh-CN" sz="2200" b="1">
                <a:solidFill>
                  <a:schemeClr val="tx1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kill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</a:p>
          <a:p>
            <a:pPr lvl="3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>
                <a:solidFill>
                  <a:schemeClr val="tx1"/>
                </a:solidFill>
                <a:cs typeface="Times New Roman" panose="02020603050405020304" pitchFamily="18" charset="0"/>
              </a:rPr>
              <a:t>被基本块</a:t>
            </a:r>
            <a:r>
              <a:rPr lang="en-US" altLang="zh-CN" sz="2200" b="1" i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>
                <a:solidFill>
                  <a:schemeClr val="tx1"/>
                </a:solidFill>
                <a:cs typeface="Times New Roman" panose="02020603050405020304" pitchFamily="18" charset="0"/>
              </a:rPr>
              <a:t>中各个语句杀死的定值的集合</a:t>
            </a:r>
            <a:endParaRPr lang="en-US" altLang="zh-CN" sz="2200" b="1" i="1" baseline="-3000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B </a:t>
            </a:r>
            <a:r>
              <a:rPr lang="en-US" altLang="zh-CN" sz="2200" b="1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n </a:t>
            </a:r>
            <a:r>
              <a:rPr lang="en-US" altLang="zh-CN" sz="2200" b="1">
                <a:solidFill>
                  <a:schemeClr val="tx1"/>
                </a:solidFill>
                <a:cs typeface="Times New Roman" panose="02020603050405020304" pitchFamily="18" charset="0"/>
              </a:rPr>
              <a:t>∪(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n-1 </a:t>
            </a:r>
            <a:r>
              <a:rPr lang="en-US" altLang="zh-CN" sz="2200" b="1">
                <a:solidFill>
                  <a:schemeClr val="tx1"/>
                </a:solidFill>
                <a:cs typeface="Times New Roman" panose="02020603050405020304" pitchFamily="18" charset="0"/>
              </a:rPr>
              <a:t>– 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n </a:t>
            </a:r>
            <a:r>
              <a:rPr lang="en-US" altLang="zh-CN" sz="2200" b="1">
                <a:solidFill>
                  <a:schemeClr val="tx1"/>
                </a:solidFill>
                <a:cs typeface="Times New Roman" panose="02020603050405020304" pitchFamily="18" charset="0"/>
              </a:rPr>
              <a:t>) ∪(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n-2 </a:t>
            </a:r>
            <a:r>
              <a:rPr lang="en-US" altLang="zh-CN" sz="2200" b="1">
                <a:solidFill>
                  <a:schemeClr val="tx1"/>
                </a:solidFill>
                <a:cs typeface="Times New Roman" panose="02020603050405020304" pitchFamily="18" charset="0"/>
              </a:rPr>
              <a:t>–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楷体_GB2312"/>
              </a:rPr>
              <a:t>kill</a:t>
            </a:r>
            <a:r>
              <a:rPr lang="en-US" altLang="zh-CN" sz="2200" b="1" i="1" baseline="-30000">
                <a:solidFill>
                  <a:schemeClr val="tx1"/>
                </a:solidFill>
              </a:rPr>
              <a:t>n-1 </a:t>
            </a:r>
            <a:r>
              <a:rPr lang="en-US" altLang="zh-CN" sz="2200" b="1">
                <a:solidFill>
                  <a:schemeClr val="tx1"/>
                </a:solidFill>
              </a:rPr>
              <a:t>– 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楷体_GB2312"/>
              </a:rPr>
              <a:t>kill</a:t>
            </a:r>
            <a:r>
              <a:rPr lang="en-US" altLang="zh-CN" sz="2200" b="1" i="1" baseline="-30000">
                <a:solidFill>
                  <a:schemeClr val="tx1"/>
                </a:solidFill>
              </a:rPr>
              <a:t>n </a:t>
            </a:r>
            <a:r>
              <a:rPr lang="en-US" altLang="zh-CN" sz="2200" b="1">
                <a:solidFill>
                  <a:schemeClr val="tx1"/>
                </a:solidFill>
              </a:rPr>
              <a:t>) ∪</a:t>
            </a:r>
            <a:r>
              <a:rPr lang="en-US" altLang="zh-CN" sz="2200" b="1" i="1" baseline="-30000">
                <a:solidFill>
                  <a:schemeClr val="tx1"/>
                </a:solidFill>
              </a:rPr>
              <a:t> 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楷体_GB2312"/>
              </a:rPr>
              <a:t>… </a:t>
            </a:r>
            <a:r>
              <a:rPr lang="en-US" altLang="zh-CN" sz="2200" b="1">
                <a:solidFill>
                  <a:schemeClr val="tx1"/>
                </a:solidFill>
              </a:rPr>
              <a:t>∪ (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楷体_GB2312"/>
              </a:rPr>
              <a:t>gen</a:t>
            </a:r>
            <a:r>
              <a:rPr lang="en-US" altLang="zh-CN" sz="2200" b="1" i="1" baseline="-30000">
                <a:solidFill>
                  <a:schemeClr val="tx1"/>
                </a:solidFill>
              </a:rPr>
              <a:t>1 </a:t>
            </a:r>
            <a:r>
              <a:rPr lang="en-US" altLang="zh-CN" sz="2200" b="1">
                <a:solidFill>
                  <a:schemeClr val="tx1"/>
                </a:solidFill>
              </a:rPr>
              <a:t>–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楷体_GB2312"/>
              </a:rPr>
              <a:t>kill</a:t>
            </a:r>
            <a:r>
              <a:rPr lang="en-US" altLang="zh-CN" sz="2200" b="1" i="1" baseline="-30000">
                <a:solidFill>
                  <a:schemeClr val="tx1"/>
                </a:solidFill>
              </a:rPr>
              <a:t>2 </a:t>
            </a:r>
            <a:r>
              <a:rPr lang="en-US" altLang="zh-CN" sz="2200" b="1">
                <a:solidFill>
                  <a:schemeClr val="tx1"/>
                </a:solidFill>
              </a:rPr>
              <a:t>–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楷体_GB2312"/>
              </a:rPr>
              <a:t>kill</a:t>
            </a:r>
            <a:r>
              <a:rPr lang="en-US" altLang="zh-CN" sz="2200" b="1" i="1" baseline="-30000">
                <a:solidFill>
                  <a:schemeClr val="tx1"/>
                </a:solidFill>
              </a:rPr>
              <a:t>3 </a:t>
            </a:r>
            <a:r>
              <a:rPr lang="en-US" altLang="zh-CN" sz="2200" b="1">
                <a:solidFill>
                  <a:schemeClr val="tx1"/>
                </a:solidFill>
              </a:rPr>
              <a:t>– 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楷体_GB2312"/>
              </a:rPr>
              <a:t>…</a:t>
            </a:r>
            <a:r>
              <a:rPr lang="en-US" altLang="zh-CN" sz="2200" b="1">
                <a:solidFill>
                  <a:schemeClr val="tx1"/>
                </a:solidFill>
              </a:rPr>
              <a:t> – </a:t>
            </a:r>
            <a:r>
              <a:rPr lang="en-US" altLang="zh-CN" sz="2200" b="1" i="1">
                <a:solidFill>
                  <a:schemeClr val="tx1"/>
                </a:solidFill>
                <a:ea typeface="楷体_GB2312"/>
                <a:cs typeface="楷体_GB2312"/>
              </a:rPr>
              <a:t>kill</a:t>
            </a:r>
            <a:r>
              <a:rPr lang="en-US" altLang="zh-CN" sz="2200" b="1" i="1" baseline="-30000">
                <a:solidFill>
                  <a:schemeClr val="tx1"/>
                </a:solidFill>
              </a:rPr>
              <a:t>n </a:t>
            </a:r>
            <a:r>
              <a:rPr lang="en-US" altLang="zh-CN" sz="2200" b="1">
                <a:solidFill>
                  <a:schemeClr val="tx1"/>
                </a:solidFill>
              </a:rPr>
              <a:t>) </a:t>
            </a:r>
          </a:p>
          <a:p>
            <a:pPr lvl="3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>
                <a:solidFill>
                  <a:schemeClr val="tx1"/>
                </a:solidFill>
              </a:rPr>
              <a:t>基本块中没有被块中各语句“杀死”的定值的集合</a:t>
            </a:r>
            <a:endParaRPr lang="zh-CN" altLang="en-US" sz="2200" b="1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35843" name="Rectangle 3"/>
          <p:cNvSpPr txBox="1">
            <a:spLocks noChangeArrowheads="1"/>
          </p:cNvSpPr>
          <p:nvPr/>
        </p:nvSpPr>
        <p:spPr bwMode="auto">
          <a:xfrm>
            <a:off x="428625" y="857250"/>
            <a:ext cx="5927725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500" i="1" baseline="-30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5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：定值</a:t>
            </a:r>
            <a:r>
              <a:rPr lang="en-US" altLang="zh-CN" sz="25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5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</a:t>
            </a:r>
            <a:r>
              <a:rPr lang="en-US" altLang="zh-CN" sz="25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u = v + w</a:t>
            </a:r>
            <a:r>
              <a:rPr lang="zh-CN" altLang="en-US" sz="25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的传递函数</a:t>
            </a:r>
            <a:endParaRPr lang="en-US" altLang="zh-CN" sz="25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2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200" i="1" baseline="-30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lang="en-US" altLang="zh-CN" sz="22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200">
                <a:latin typeface="Times New Roman" panose="02020603050405020304" pitchFamily="18" charset="0"/>
              </a:rPr>
              <a:t>) </a:t>
            </a:r>
            <a:r>
              <a:rPr lang="en-US" altLang="zh-CN" sz="2200">
                <a:latin typeface="Times New Roman" panose="02020603050405020304" pitchFamily="18" charset="0"/>
                <a:ea typeface="楷体_GB2312"/>
                <a:cs typeface="楷体_GB2312"/>
              </a:rPr>
              <a:t>= </a:t>
            </a:r>
            <a:r>
              <a:rPr lang="en-US" altLang="zh-CN" sz="2200" i="1">
                <a:latin typeface="Times New Roman" panose="02020603050405020304" pitchFamily="18" charset="0"/>
                <a:ea typeface="楷体_GB2312"/>
                <a:cs typeface="楷体_GB2312"/>
              </a:rPr>
              <a:t>gen</a:t>
            </a:r>
            <a:r>
              <a:rPr lang="en-US" altLang="zh-CN" sz="2200" i="1" baseline="-30000">
                <a:latin typeface="Times New Roman" panose="02020603050405020304" pitchFamily="18" charset="0"/>
                <a:ea typeface="华文楷体" panose="02010600040101010101" pitchFamily="2" charset="-122"/>
              </a:rPr>
              <a:t>d </a:t>
            </a:r>
            <a:r>
              <a:rPr lang="en-US" altLang="zh-CN" sz="2200">
                <a:latin typeface="Times New Roman" panose="02020603050405020304" pitchFamily="18" charset="0"/>
                <a:ea typeface="华文楷体" panose="02010600040101010101" pitchFamily="2" charset="-122"/>
              </a:rPr>
              <a:t>∪(</a:t>
            </a:r>
            <a:r>
              <a:rPr lang="en-US" altLang="zh-CN" sz="2200" i="1">
                <a:latin typeface="Times New Roman" panose="02020603050405020304" pitchFamily="18" charset="0"/>
                <a:ea typeface="楷体_GB2312"/>
                <a:cs typeface="楷体_GB2312"/>
              </a:rPr>
              <a:t>x-kill</a:t>
            </a:r>
            <a:r>
              <a:rPr lang="en-US" altLang="zh-CN" sz="2200" i="1" baseline="-30000">
                <a:latin typeface="Times New Roman" panose="02020603050405020304" pitchFamily="18" charset="0"/>
                <a:ea typeface="华文楷体" panose="02010600040101010101" pitchFamily="2" charset="-122"/>
              </a:rPr>
              <a:t>d </a:t>
            </a:r>
            <a:r>
              <a:rPr lang="en-US" altLang="zh-CN" sz="220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到达定值的传递函数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83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9" name="Rectangle 3"/>
          <p:cNvSpPr>
            <a:spLocks noGrp="1" noChangeArrowheads="1"/>
          </p:cNvSpPr>
          <p:nvPr>
            <p:ph idx="1"/>
          </p:nvPr>
        </p:nvSpPr>
        <p:spPr>
          <a:xfrm>
            <a:off x="4576763" y="808038"/>
            <a:ext cx="3716337" cy="4357687"/>
          </a:xfrm>
        </p:spPr>
        <p:txBody>
          <a:bodyPr/>
          <a:lstStyle/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0" indent="0" eaLnBrk="1" hangingPunct="1">
              <a:buFont typeface="Symbol" panose="05050102010706020507" pitchFamily="18" charset="2"/>
              <a:buNone/>
              <a:defRPr/>
            </a:pPr>
            <a:endParaRPr lang="en-US" altLang="zh-CN" sz="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0" indent="0" eaLnBrk="1" hangingPunct="1">
              <a:buFont typeface="Symbol" panose="05050102010706020507" pitchFamily="18" charset="2"/>
              <a:buNone/>
              <a:defRPr/>
            </a:pPr>
            <a:endParaRPr lang="en-US" altLang="zh-CN" sz="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0" indent="0" eaLnBrk="1" hangingPunct="1">
              <a:buFont typeface="Symbol" panose="05050102010706020507" pitchFamily="18" charset="2"/>
              <a:buNone/>
              <a:defRPr/>
            </a:pPr>
            <a:endParaRPr lang="en-US" altLang="zh-CN" sz="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例：各基本块</a:t>
            </a:r>
            <a:r>
              <a:rPr lang="en-US" altLang="zh-CN" sz="3000" i="1">
                <a:solidFill>
                  <a:schemeClr val="tx1"/>
                </a:solidFill>
              </a:rPr>
              <a:t>B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0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3000" i="1" baseline="-30000">
                <a:solidFill>
                  <a:schemeClr val="tx1"/>
                </a:solidFill>
              </a:rPr>
              <a:t>B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000" i="1">
                <a:solidFill>
                  <a:schemeClr val="tx1"/>
                </a:solidFill>
                <a:ea typeface="楷体_GB2312"/>
                <a:cs typeface="楷体_GB2312"/>
              </a:rPr>
              <a:t>kill</a:t>
            </a:r>
            <a:r>
              <a:rPr lang="en-US" altLang="zh-CN" sz="3000" i="1" baseline="-30000">
                <a:solidFill>
                  <a:schemeClr val="tx1"/>
                </a:solidFill>
              </a:rPr>
              <a:t>B </a:t>
            </a:r>
            <a:endParaRPr lang="zh-CN" altLang="en-US" sz="270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grpSp>
        <p:nvGrpSpPr>
          <p:cNvPr id="37892" name="组合 29"/>
          <p:cNvGrpSpPr>
            <a:grpSpLocks/>
          </p:cNvGrpSpPr>
          <p:nvPr/>
        </p:nvGrpSpPr>
        <p:grpSpPr bwMode="auto">
          <a:xfrm>
            <a:off x="1116013" y="915988"/>
            <a:ext cx="3500437" cy="3786187"/>
            <a:chOff x="52811" y="1214428"/>
            <a:chExt cx="3499996" cy="3786229"/>
          </a:xfrm>
        </p:grpSpPr>
        <p:sp>
          <p:nvSpPr>
            <p:cNvPr id="37893" name="Line 29"/>
            <p:cNvSpPr>
              <a:spLocks noChangeShapeType="1"/>
            </p:cNvSpPr>
            <p:nvPr/>
          </p:nvSpPr>
          <p:spPr bwMode="auto">
            <a:xfrm>
              <a:off x="2267084" y="2500312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894" name="Line 31"/>
            <p:cNvSpPr>
              <a:spLocks noChangeShapeType="1"/>
            </p:cNvSpPr>
            <p:nvPr/>
          </p:nvSpPr>
          <p:spPr bwMode="auto">
            <a:xfrm>
              <a:off x="2267084" y="3286133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1643286" y="1214428"/>
              <a:ext cx="1266665" cy="2857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ENTRY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1627413" y="1727196"/>
              <a:ext cx="1282538" cy="8445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1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m-1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2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n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3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u1</a:t>
              </a:r>
              <a:endParaRPr lang="en-US" altLang="zh-CN" sz="2000" i="1" baseline="-25000" dirty="0">
                <a:latin typeface="Times New Roman" charset="0"/>
              </a:endParaRPr>
            </a:p>
            <a:p>
              <a:pPr algn="just">
                <a:lnSpc>
                  <a:spcPts val="2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</p:txBody>
        </p:sp>
        <p:sp>
          <p:nvSpPr>
            <p:cNvPr id="37897" name="Rectangle 25"/>
            <p:cNvSpPr>
              <a:spLocks noChangeArrowheads="1"/>
            </p:cNvSpPr>
            <p:nvPr/>
          </p:nvSpPr>
          <p:spPr bwMode="auto">
            <a:xfrm>
              <a:off x="3016250" y="1708139"/>
              <a:ext cx="393700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7898" name="Rectangle 26"/>
            <p:cNvSpPr>
              <a:spLocks noChangeArrowheads="1"/>
            </p:cNvSpPr>
            <p:nvPr/>
          </p:nvSpPr>
          <p:spPr bwMode="auto">
            <a:xfrm>
              <a:off x="2927332" y="2746379"/>
              <a:ext cx="62547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1644872" y="2786070"/>
              <a:ext cx="1265079" cy="57150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4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i+1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5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j-1</a:t>
              </a:r>
            </a:p>
          </p:txBody>
        </p:sp>
        <p:sp>
          <p:nvSpPr>
            <p:cNvPr id="37900" name="Line 28"/>
            <p:cNvSpPr>
              <a:spLocks noChangeShapeType="1"/>
            </p:cNvSpPr>
            <p:nvPr/>
          </p:nvSpPr>
          <p:spPr bwMode="auto">
            <a:xfrm>
              <a:off x="2267084" y="1500180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409953" y="3643330"/>
              <a:ext cx="1214285" cy="2857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6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u2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37902" name="Rectangle 33"/>
            <p:cNvSpPr>
              <a:spLocks noChangeArrowheads="1"/>
            </p:cNvSpPr>
            <p:nvPr/>
          </p:nvSpPr>
          <p:spPr bwMode="auto">
            <a:xfrm>
              <a:off x="2925744" y="4071956"/>
              <a:ext cx="6270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7903" name="Rectangle 34"/>
            <p:cNvSpPr>
              <a:spLocks noChangeArrowheads="1"/>
            </p:cNvSpPr>
            <p:nvPr/>
          </p:nvSpPr>
          <p:spPr bwMode="auto">
            <a:xfrm>
              <a:off x="1638434" y="3571883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7904" name="Line 37"/>
            <p:cNvSpPr>
              <a:spLocks noChangeShapeType="1"/>
            </p:cNvSpPr>
            <p:nvPr/>
          </p:nvSpPr>
          <p:spPr bwMode="auto">
            <a:xfrm flipH="1">
              <a:off x="928661" y="3357568"/>
              <a:ext cx="941389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905" name="Line 38"/>
            <p:cNvSpPr>
              <a:spLocks noChangeShapeType="1"/>
            </p:cNvSpPr>
            <p:nvPr/>
          </p:nvSpPr>
          <p:spPr bwMode="auto">
            <a:xfrm>
              <a:off x="1000100" y="3929072"/>
              <a:ext cx="928694" cy="214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906" name="Freeform 42"/>
            <p:cNvSpPr>
              <a:spLocks/>
            </p:cNvSpPr>
            <p:nvPr/>
          </p:nvSpPr>
          <p:spPr bwMode="auto">
            <a:xfrm rot="-906172">
              <a:off x="52811" y="2748547"/>
              <a:ext cx="1807873" cy="197931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1643286" y="4143397"/>
              <a:ext cx="1266665" cy="3095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7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u3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38" name="Rectangle 23"/>
            <p:cNvSpPr>
              <a:spLocks noChangeArrowheads="1"/>
            </p:cNvSpPr>
            <p:nvPr/>
          </p:nvSpPr>
          <p:spPr bwMode="auto">
            <a:xfrm>
              <a:off x="1643286" y="4714904"/>
              <a:ext cx="1266665" cy="2857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EXIT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37909" name="Line 28"/>
            <p:cNvSpPr>
              <a:spLocks noChangeShapeType="1"/>
            </p:cNvSpPr>
            <p:nvPr/>
          </p:nvSpPr>
          <p:spPr bwMode="auto">
            <a:xfrm>
              <a:off x="2267084" y="447519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197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8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8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8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8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8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8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8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8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1650" y="774700"/>
            <a:ext cx="8185150" cy="3440113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：到达流图中基本块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的入口处的定值的集合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ts val="3000"/>
              </a:lnSpc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：到达流图中基本块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的出口处的定值的集合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方程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9400" lvl="2" indent="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ENRTY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]=</a:t>
            </a:r>
            <a:r>
              <a:rPr lang="el-GR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Φ</a:t>
            </a:r>
            <a:endParaRPr lang="en-US" altLang="zh-CN" sz="23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279400" lvl="2" indent="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]=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300" b="1" i="1" baseline="-300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300" b="1" i="1" baseline="-30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])</a:t>
            </a:r>
            <a:r>
              <a:rPr lang="en-US" altLang="zh-CN" sz="23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  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en-US" sz="2300" b="1" dirty="0">
                <a:solidFill>
                  <a:schemeClr val="tx1"/>
                </a:solidFill>
                <a:ea typeface="楷体_GB2312"/>
                <a:cs typeface="楷体_GB2312"/>
              </a:rPr>
              <a:t>≠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楷体_GB2312"/>
              </a:rPr>
              <a:t>ENTRY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楷体_GB2312"/>
              </a:rPr>
              <a:t> )</a:t>
            </a: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</a:t>
            </a:r>
            <a:r>
              <a:rPr lang="en-US" altLang="zh-CN" sz="2200" b="1" i="1" baseline="-30000" dirty="0" err="1">
                <a:solidFill>
                  <a:schemeClr val="tx1"/>
                </a:solidFill>
              </a:rPr>
              <a:t>B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) =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楷体_GB2312"/>
              </a:rPr>
              <a:t>gen</a:t>
            </a:r>
            <a:r>
              <a:rPr lang="en-US" altLang="zh-CN" sz="2200" b="1" i="1" baseline="-30000" dirty="0" err="1">
                <a:solidFill>
                  <a:schemeClr val="tx1"/>
                </a:solidFill>
              </a:rPr>
              <a:t>B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</a:rPr>
              <a:t>∪(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楷体_GB2312"/>
              </a:rPr>
              <a:t>x-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楷体_GB2312"/>
              </a:rPr>
              <a:t>kill</a:t>
            </a:r>
            <a:r>
              <a:rPr lang="en-US" altLang="zh-CN" sz="2200" b="1" i="1" baseline="-30000" dirty="0" err="1">
                <a:solidFill>
                  <a:schemeClr val="tx1"/>
                </a:solidFill>
              </a:rPr>
              <a:t>B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</a:p>
          <a:p>
            <a:pPr marL="279400" lvl="2" indent="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楷体_GB2312"/>
              </a:rPr>
              <a:t>IN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楷体_GB2312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楷体_GB2312"/>
              </a:rPr>
              <a:t>]= </a:t>
            </a:r>
            <a:r>
              <a:rPr lang="en-US" altLang="zh-CN" sz="2300" b="1" dirty="0">
                <a:solidFill>
                  <a:schemeClr val="tx1"/>
                </a:solidFill>
              </a:rPr>
              <a:t>∪</a:t>
            </a:r>
            <a:r>
              <a:rPr lang="en-US" altLang="zh-CN" b="1" i="1" baseline="-30000" dirty="0">
                <a:solidFill>
                  <a:schemeClr val="tx1"/>
                </a:solidFill>
              </a:rPr>
              <a:t>P</a:t>
            </a:r>
            <a:r>
              <a:rPr lang="zh-CN" altLang="en-US" b="1" baseline="-30000" dirty="0">
                <a:solidFill>
                  <a:schemeClr val="tx1"/>
                </a:solidFill>
              </a:rPr>
              <a:t>是</a:t>
            </a:r>
            <a:r>
              <a:rPr lang="en-US" altLang="zh-CN" b="1" i="1" baseline="-30000" dirty="0">
                <a:solidFill>
                  <a:schemeClr val="tx1"/>
                </a:solidFill>
              </a:rPr>
              <a:t>B</a:t>
            </a:r>
            <a:r>
              <a:rPr lang="zh-CN" altLang="en-US" b="1" baseline="-30000" dirty="0">
                <a:solidFill>
                  <a:schemeClr val="tx1"/>
                </a:solidFill>
              </a:rPr>
              <a:t>的一个前驱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楷体_GB2312"/>
              </a:rPr>
              <a:t>OUT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楷体_GB2312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楷体_GB2312"/>
              </a:rPr>
              <a:t>P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楷体_GB2312"/>
              </a:rPr>
              <a:t>]  ( 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en-US" sz="2300" b="1" dirty="0">
                <a:solidFill>
                  <a:schemeClr val="tx1"/>
                </a:solidFill>
                <a:ea typeface="楷体_GB2312"/>
                <a:cs typeface="楷体_GB2312"/>
              </a:rPr>
              <a:t>≠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楷体_GB2312"/>
              </a:rPr>
              <a:t>ENTRY</a:t>
            </a:r>
            <a:r>
              <a:rPr lang="en-US" altLang="zh-CN" sz="2300" b="1" dirty="0">
                <a:solidFill>
                  <a:schemeClr val="tx1"/>
                </a:solidFill>
                <a:ea typeface="楷体_GB2312"/>
                <a:cs typeface="楷体_GB2312"/>
              </a:rPr>
              <a:t> )</a:t>
            </a: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zh-CN" altLang="en-US" sz="1800" dirty="0">
                <a:ea typeface="楷体_GB2312"/>
                <a:cs typeface="楷体_GB2312"/>
              </a:rPr>
              <a:t>	</a:t>
            </a:r>
          </a:p>
          <a:p>
            <a:pPr eaLnBrk="1" hangingPunct="1">
              <a:lnSpc>
                <a:spcPct val="90000"/>
              </a:lnSpc>
              <a:buFont typeface="Symbol" panose="05050102010706020507" pitchFamily="18" charset="2"/>
              <a:buNone/>
              <a:defRPr/>
            </a:pPr>
            <a:r>
              <a:rPr lang="zh-CN" altLang="en-US" sz="1500" dirty="0">
                <a:ea typeface="楷体_GB2312"/>
                <a:cs typeface="楷体_GB2312"/>
              </a:rPr>
              <a:t>	</a:t>
            </a:r>
            <a:endParaRPr lang="en-US" altLang="zh-CN" sz="1500" dirty="0">
              <a:ea typeface="楷体_GB2312"/>
              <a:cs typeface="楷体_GB2312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到达定值的数据流方程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042988" y="4084638"/>
            <a:ext cx="5272087" cy="746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gen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kill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的值可以直接从流图计算出来，因此在方程中作为</a:t>
            </a:r>
            <a:r>
              <a:rPr lang="zh-CN" altLang="en-US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已知量</a:t>
            </a:r>
          </a:p>
        </p:txBody>
      </p:sp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5364163" y="2643188"/>
            <a:ext cx="3724275" cy="825500"/>
            <a:chOff x="5364063" y="2715642"/>
            <a:chExt cx="3724424" cy="824930"/>
          </a:xfrm>
        </p:grpSpPr>
        <p:sp>
          <p:nvSpPr>
            <p:cNvPr id="3" name="矩形 2"/>
            <p:cNvSpPr/>
            <p:nvPr/>
          </p:nvSpPr>
          <p:spPr>
            <a:xfrm>
              <a:off x="5579972" y="2891732"/>
              <a:ext cx="3508515" cy="399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OUT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] = </a:t>
              </a:r>
              <a:r>
                <a:rPr lang="en-US" altLang="zh-CN" sz="2000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gen</a:t>
              </a:r>
              <a:r>
                <a:rPr lang="en-US" altLang="zh-CN" sz="2000" i="1" baseline="-3000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∪(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IN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]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-</a:t>
              </a:r>
              <a:r>
                <a:rPr lang="en-US" altLang="zh-CN" sz="2000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kill</a:t>
              </a:r>
              <a:r>
                <a:rPr lang="en-US" altLang="zh-CN" sz="2000" i="1" baseline="-3000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)</a:t>
              </a:r>
              <a:endParaRPr lang="zh-CN" altLang="en-US" dirty="0"/>
            </a:p>
          </p:txBody>
        </p:sp>
        <p:sp>
          <p:nvSpPr>
            <p:cNvPr id="7" name="右大括号 6"/>
            <p:cNvSpPr/>
            <p:nvPr/>
          </p:nvSpPr>
          <p:spPr>
            <a:xfrm>
              <a:off x="5364063" y="2715642"/>
              <a:ext cx="144468" cy="824930"/>
            </a:xfrm>
            <a:prstGeom prst="rightBrac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659563" y="3719513"/>
            <a:ext cx="2016125" cy="1085850"/>
            <a:chOff x="6660233" y="3719116"/>
            <a:chExt cx="2016223" cy="1086980"/>
          </a:xfrm>
        </p:grpSpPr>
        <p:sp>
          <p:nvSpPr>
            <p:cNvPr id="39943" name="Line 37"/>
            <p:cNvSpPr>
              <a:spLocks noChangeShapeType="1"/>
            </p:cNvSpPr>
            <p:nvPr/>
          </p:nvSpPr>
          <p:spPr bwMode="auto">
            <a:xfrm flipH="1">
              <a:off x="7492184" y="4214813"/>
              <a:ext cx="0" cy="259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" name="Rectangle 30"/>
            <p:cNvSpPr>
              <a:spLocks noChangeArrowheads="1"/>
            </p:cNvSpPr>
            <p:nvPr/>
          </p:nvSpPr>
          <p:spPr bwMode="auto">
            <a:xfrm>
              <a:off x="6660233" y="3866907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P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45" name="矩形 1"/>
            <p:cNvSpPr>
              <a:spLocks noChangeArrowheads="1"/>
            </p:cNvSpPr>
            <p:nvPr/>
          </p:nvSpPr>
          <p:spPr bwMode="auto">
            <a:xfrm>
              <a:off x="7696214" y="371911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30"/>
            <p:cNvSpPr>
              <a:spLocks noChangeArrowheads="1"/>
            </p:cNvSpPr>
            <p:nvPr/>
          </p:nvSpPr>
          <p:spPr bwMode="auto">
            <a:xfrm>
              <a:off x="7236523" y="3868496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P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30"/>
            <p:cNvSpPr>
              <a:spLocks noChangeArrowheads="1"/>
            </p:cNvSpPr>
            <p:nvPr/>
          </p:nvSpPr>
          <p:spPr bwMode="auto">
            <a:xfrm>
              <a:off x="8171606" y="3868496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i="1" dirty="0" err="1">
                  <a:latin typeface="Times New Roman" panose="02020603050405020304" pitchFamily="18" charset="0"/>
                </a:rPr>
                <a:t>P</a:t>
              </a:r>
              <a:r>
                <a:rPr lang="en-US" altLang="zh-CN" sz="2000" i="1" baseline="-25000" dirty="0" err="1">
                  <a:latin typeface="Times New Roman" panose="02020603050405020304" pitchFamily="18" charset="0"/>
                </a:rPr>
                <a:t>n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30"/>
            <p:cNvSpPr>
              <a:spLocks noChangeArrowheads="1"/>
            </p:cNvSpPr>
            <p:nvPr/>
          </p:nvSpPr>
          <p:spPr bwMode="auto">
            <a:xfrm>
              <a:off x="7252399" y="4516870"/>
              <a:ext cx="506438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 B</a:t>
              </a:r>
            </a:p>
          </p:txBody>
        </p:sp>
        <p:sp>
          <p:nvSpPr>
            <p:cNvPr id="39949" name="Line 37"/>
            <p:cNvSpPr>
              <a:spLocks noChangeShapeType="1"/>
            </p:cNvSpPr>
            <p:nvPr/>
          </p:nvSpPr>
          <p:spPr bwMode="auto">
            <a:xfrm flipH="1">
              <a:off x="7678356" y="4200014"/>
              <a:ext cx="492780" cy="2447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9950" name="Line 37"/>
            <p:cNvSpPr>
              <a:spLocks noChangeShapeType="1"/>
            </p:cNvSpPr>
            <p:nvPr/>
          </p:nvSpPr>
          <p:spPr bwMode="auto">
            <a:xfrm>
              <a:off x="6948263" y="4214813"/>
              <a:ext cx="357749" cy="24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500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7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7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7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7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7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7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7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7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7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7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35150" y="2447925"/>
            <a:ext cx="5689600" cy="25717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71463" indent="-271463" eaLnBrk="1" hangingPunct="1">
              <a:spcBef>
                <a:spcPct val="20000"/>
              </a:spcBef>
              <a:buClr>
                <a:prstClr val="black"/>
              </a:buClr>
              <a:buSzPct val="10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之外的每个基本块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(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某个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值发生了改变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(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之外的每个基本块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∪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的一个前驱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∪(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zh-CN" altLang="en-US" dirty="0"/>
          </a:p>
        </p:txBody>
      </p:sp>
      <p:sp>
        <p:nvSpPr>
          <p:cNvPr id="81408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44500" y="712788"/>
            <a:ext cx="8375650" cy="2146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输入：</a:t>
            </a:r>
            <a:endParaRPr lang="en-US" altLang="zh-CN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流图</a:t>
            </a:r>
            <a:r>
              <a:rPr lang="en-US" altLang="zh-CN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，其中每个基本块</a:t>
            </a:r>
            <a:r>
              <a:rPr lang="en-US" altLang="zh-CN" b="1" i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b="1" i="1" baseline="-30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b="1" i="1" baseline="-30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都已计算出来</a:t>
            </a:r>
            <a:endParaRPr lang="en-US" altLang="zh-CN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输出：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chemeClr val="tx1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b="1" i="1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方法：</a:t>
            </a:r>
            <a:r>
              <a:rPr lang="en-US" altLang="zh-CN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zh-CN" altLang="en-US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>
                <a:srgbClr val="000000"/>
              </a:buClr>
              <a:buFont typeface="Symbol" panose="05050102010706020507" pitchFamily="18" charset="2"/>
              <a:buNone/>
            </a:pPr>
            <a:r>
              <a:rPr lang="zh-CN" altLang="en-US" b="1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endParaRPr lang="en-US" altLang="zh-CN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计算到达定值的迭代算法</a:t>
            </a:r>
            <a:endParaRPr lang="en-US" altLang="zh-CN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448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1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1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1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1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1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7178675" y="3132138"/>
          <a:ext cx="1819275" cy="1798637"/>
        </p:xfrm>
        <a:graphic>
          <a:graphicData uri="http://schemas.openxmlformats.org/drawingml/2006/table">
            <a:tbl>
              <a:tblPr/>
              <a:tblGrid>
                <a:gridCol w="811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289550" y="3133725"/>
          <a:ext cx="1871663" cy="1798638"/>
        </p:xfrm>
        <a:graphic>
          <a:graphicData uri="http://schemas.openxmlformats.org/drawingml/2006/table">
            <a:tbl>
              <a:tblPr/>
              <a:tblGrid>
                <a:gridCol w="86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443288" y="3133725"/>
          <a:ext cx="1828800" cy="1798638"/>
        </p:xfrm>
        <a:graphic>
          <a:graphicData uri="http://schemas.openxmlformats.org/drawingml/2006/table">
            <a:tbl>
              <a:tblPr/>
              <a:tblGrid>
                <a:gridCol w="892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" name="Group 182"/>
          <p:cNvGraphicFramePr>
            <a:graphicFrameLocks noGrp="1"/>
          </p:cNvGraphicFramePr>
          <p:nvPr/>
        </p:nvGraphicFramePr>
        <p:xfrm>
          <a:off x="1835150" y="3133725"/>
          <a:ext cx="1619250" cy="1798638"/>
        </p:xfrm>
        <a:graphic>
          <a:graphicData uri="http://schemas.openxmlformats.org/drawingml/2006/table">
            <a:tbl>
              <a:tblPr/>
              <a:tblGrid>
                <a:gridCol w="648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EXIT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6130" name="矩形 1"/>
          <p:cNvSpPr>
            <a:spLocks noChangeArrowheads="1"/>
          </p:cNvSpPr>
          <p:nvPr/>
        </p:nvSpPr>
        <p:spPr bwMode="auto">
          <a:xfrm>
            <a:off x="4329113" y="306388"/>
            <a:ext cx="4392612" cy="1962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ENTRY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= </a:t>
            </a:r>
            <a:r>
              <a:rPr lang="el-GR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 (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除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ENTRY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之外的每个基本块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= </a:t>
            </a:r>
            <a:r>
              <a:rPr lang="el-GR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while (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某个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值发生了改变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for (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除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ENTRY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之外的每个基本块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IN</a:t>
            </a:r>
            <a:r>
              <a:rPr lang="en-US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∪</a:t>
            </a:r>
            <a:r>
              <a:rPr lang="en-US" altLang="zh-CN" sz="1500" i="1" baseline="-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1500" baseline="-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1500" i="1" baseline="-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500" baseline="-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的一个前驱</a:t>
            </a:r>
            <a:r>
              <a:rPr lang="en-US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OUT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= </a:t>
            </a:r>
            <a:r>
              <a:rPr lang="en-US" altLang="zh-CN" sz="1500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1500" i="1" baseline="-30000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∪(</a:t>
            </a:r>
            <a:r>
              <a:rPr lang="en-US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</a:t>
            </a:r>
            <a:r>
              <a:rPr lang="en-US" altLang="zh-CN" sz="1500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1500" i="1" baseline="-30000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}</a:t>
            </a:r>
          </a:p>
        </p:txBody>
      </p:sp>
      <p:sp>
        <p:nvSpPr>
          <p:cNvPr id="3" name="矩形 2"/>
          <p:cNvSpPr/>
          <p:nvPr/>
        </p:nvSpPr>
        <p:spPr>
          <a:xfrm>
            <a:off x="2063750" y="293688"/>
            <a:ext cx="2181225" cy="2673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4822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70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grpSp>
        <p:nvGrpSpPr>
          <p:cNvPr id="48225" name="组合 1"/>
          <p:cNvGrpSpPr>
            <a:grpSpLocks/>
          </p:cNvGrpSpPr>
          <p:nvPr/>
        </p:nvGrpSpPr>
        <p:grpSpPr bwMode="auto">
          <a:xfrm>
            <a:off x="138113" y="854075"/>
            <a:ext cx="1625600" cy="3082925"/>
            <a:chOff x="890764" y="853544"/>
            <a:chExt cx="1626248" cy="3084076"/>
          </a:xfrm>
        </p:grpSpPr>
        <p:sp>
          <p:nvSpPr>
            <p:cNvPr id="7" name="Rectangle 23"/>
            <p:cNvSpPr>
              <a:spLocks noChangeArrowheads="1"/>
            </p:cNvSpPr>
            <p:nvPr/>
          </p:nvSpPr>
          <p:spPr bwMode="auto">
            <a:xfrm>
              <a:off x="1722946" y="853544"/>
              <a:ext cx="786125" cy="2858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latin typeface="Times New Roman" charset="0"/>
                </a:rPr>
                <a:t>ENTRY</a:t>
              </a:r>
              <a:endParaRPr lang="en-US" altLang="zh-CN" sz="1500" dirty="0">
                <a:latin typeface="Times New Roman" charset="0"/>
              </a:endParaRPr>
            </a:p>
          </p:txBody>
        </p:sp>
        <p:sp>
          <p:nvSpPr>
            <p:cNvPr id="8" name="Rectangle 24"/>
            <p:cNvSpPr>
              <a:spLocks noChangeArrowheads="1"/>
            </p:cNvSpPr>
            <p:nvPr/>
          </p:nvSpPr>
          <p:spPr bwMode="auto">
            <a:xfrm>
              <a:off x="1722946" y="1414141"/>
              <a:ext cx="786125" cy="3446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500" dirty="0"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27"/>
            <p:cNvSpPr>
              <a:spLocks noChangeArrowheads="1"/>
            </p:cNvSpPr>
            <p:nvPr/>
          </p:nvSpPr>
          <p:spPr bwMode="auto">
            <a:xfrm>
              <a:off x="1722946" y="2020793"/>
              <a:ext cx="786125" cy="3573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500" dirty="0">
                <a:latin typeface="Times New Roman" panose="02020603050405020304" pitchFamily="18" charset="0"/>
              </a:endParaRPr>
            </a:p>
          </p:txBody>
        </p:sp>
        <p:sp>
          <p:nvSpPr>
            <p:cNvPr id="48259" name="Line 28"/>
            <p:cNvSpPr>
              <a:spLocks noChangeShapeType="1"/>
            </p:cNvSpPr>
            <p:nvPr/>
          </p:nvSpPr>
          <p:spPr bwMode="auto">
            <a:xfrm>
              <a:off x="2147822" y="1163899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8260" name="Line 29"/>
            <p:cNvSpPr>
              <a:spLocks noChangeShapeType="1"/>
            </p:cNvSpPr>
            <p:nvPr/>
          </p:nvSpPr>
          <p:spPr bwMode="auto">
            <a:xfrm>
              <a:off x="2149034" y="1749688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" name="Rectangle 30"/>
            <p:cNvSpPr>
              <a:spLocks noChangeArrowheads="1"/>
            </p:cNvSpPr>
            <p:nvPr/>
          </p:nvSpPr>
          <p:spPr bwMode="auto">
            <a:xfrm>
              <a:off x="1081340" y="2543275"/>
              <a:ext cx="370034" cy="2382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defRPr/>
              </a:pPr>
              <a:r>
                <a:rPr lang="en-US" altLang="zh-CN" sz="15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500" dirty="0">
                <a:latin typeface="Times New Roman" panose="02020603050405020304" pitchFamily="18" charset="0"/>
              </a:endParaRPr>
            </a:p>
          </p:txBody>
        </p:sp>
        <p:sp>
          <p:nvSpPr>
            <p:cNvPr id="48262" name="Line 31"/>
            <p:cNvSpPr>
              <a:spLocks noChangeShapeType="1"/>
            </p:cNvSpPr>
            <p:nvPr/>
          </p:nvSpPr>
          <p:spPr bwMode="auto">
            <a:xfrm flipH="1">
              <a:off x="2123728" y="2388419"/>
              <a:ext cx="0" cy="6328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8263" name="Rectangle 34"/>
            <p:cNvSpPr>
              <a:spLocks noChangeArrowheads="1"/>
            </p:cNvSpPr>
            <p:nvPr/>
          </p:nvSpPr>
          <p:spPr bwMode="auto">
            <a:xfrm>
              <a:off x="1451746" y="2806961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en-US" altLang="zh-CN" sz="1500">
                <a:latin typeface="Times New Roman" panose="02020603050405020304" pitchFamily="18" charset="0"/>
              </a:endParaRPr>
            </a:p>
          </p:txBody>
        </p:sp>
        <p:sp>
          <p:nvSpPr>
            <p:cNvPr id="48264" name="Line 37"/>
            <p:cNvSpPr>
              <a:spLocks noChangeShapeType="1"/>
            </p:cNvSpPr>
            <p:nvPr/>
          </p:nvSpPr>
          <p:spPr bwMode="auto">
            <a:xfrm flipH="1">
              <a:off x="1451745" y="2378305"/>
              <a:ext cx="271739" cy="1444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8265" name="Line 38"/>
            <p:cNvSpPr>
              <a:spLocks noChangeShapeType="1"/>
            </p:cNvSpPr>
            <p:nvPr/>
          </p:nvSpPr>
          <p:spPr bwMode="auto">
            <a:xfrm>
              <a:off x="1503749" y="2776827"/>
              <a:ext cx="485255" cy="2444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8266" name="Freeform 42"/>
            <p:cNvSpPr>
              <a:spLocks/>
            </p:cNvSpPr>
            <p:nvPr/>
          </p:nvSpPr>
          <p:spPr bwMode="auto">
            <a:xfrm rot="-906172">
              <a:off x="890764" y="1883154"/>
              <a:ext cx="1003397" cy="1727132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1722946" y="3651763"/>
              <a:ext cx="786125" cy="2858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latin typeface="Times New Roman" charset="0"/>
                </a:rPr>
                <a:t>EXIT</a:t>
              </a:r>
              <a:endParaRPr lang="en-US" altLang="zh-CN" sz="1500" dirty="0">
                <a:latin typeface="Times New Roman" charset="0"/>
              </a:endParaRPr>
            </a:p>
          </p:txBody>
        </p:sp>
        <p:sp>
          <p:nvSpPr>
            <p:cNvPr id="48268" name="Line 28"/>
            <p:cNvSpPr>
              <a:spLocks noChangeShapeType="1"/>
            </p:cNvSpPr>
            <p:nvPr/>
          </p:nvSpPr>
          <p:spPr bwMode="auto">
            <a:xfrm>
              <a:off x="2123728" y="3418168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" name="Rectangle 27"/>
            <p:cNvSpPr>
              <a:spLocks noChangeArrowheads="1"/>
            </p:cNvSpPr>
            <p:nvPr/>
          </p:nvSpPr>
          <p:spPr bwMode="auto">
            <a:xfrm>
              <a:off x="1730886" y="3060993"/>
              <a:ext cx="786126" cy="3573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5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38137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335463" y="3435350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403600" y="3724275"/>
            <a:ext cx="9318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329113" y="3724275"/>
            <a:ext cx="9429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3400425" y="4048125"/>
            <a:ext cx="9429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338638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403600" y="4337050"/>
            <a:ext cx="9318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338638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3403600" y="4624388"/>
            <a:ext cx="9318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338638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521652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6189663" y="3435350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5181600" y="3724275"/>
            <a:ext cx="1060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6189663" y="3724275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52371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1896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52371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61896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6128" name="矩形 176127"/>
          <p:cNvSpPr>
            <a:spLocks noChangeArrowheads="1"/>
          </p:cNvSpPr>
          <p:nvPr/>
        </p:nvSpPr>
        <p:spPr bwMode="auto">
          <a:xfrm>
            <a:off x="52371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6129" name="矩形 176128"/>
          <p:cNvSpPr>
            <a:spLocks noChangeArrowheads="1"/>
          </p:cNvSpPr>
          <p:nvPr/>
        </p:nvSpPr>
        <p:spPr bwMode="auto">
          <a:xfrm>
            <a:off x="61896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710882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8062913" y="3435350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7073900" y="3724275"/>
            <a:ext cx="1060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8062913" y="3724275"/>
            <a:ext cx="931862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71294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>
            <a:spLocks noChangeArrowheads="1"/>
          </p:cNvSpPr>
          <p:nvPr/>
        </p:nvSpPr>
        <p:spPr bwMode="auto">
          <a:xfrm>
            <a:off x="8062913" y="4048125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>
            <a:spLocks noChangeArrowheads="1"/>
          </p:cNvSpPr>
          <p:nvPr/>
        </p:nvSpPr>
        <p:spPr bwMode="auto">
          <a:xfrm>
            <a:off x="71294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>
            <a:spLocks noChangeArrowheads="1"/>
          </p:cNvSpPr>
          <p:nvPr/>
        </p:nvSpPr>
        <p:spPr bwMode="auto">
          <a:xfrm>
            <a:off x="8062913" y="4337050"/>
            <a:ext cx="931862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>
            <a:spLocks noChangeArrowheads="1"/>
          </p:cNvSpPr>
          <p:nvPr/>
        </p:nvSpPr>
        <p:spPr bwMode="auto">
          <a:xfrm>
            <a:off x="71294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8062913" y="4624388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64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76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76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7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76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76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7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1" dur="500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 animBg="1"/>
      <p:bldP spid="176130" grpId="1" animBg="1"/>
      <p:bldP spid="6" grpId="0"/>
      <p:bldP spid="9" grpId="0"/>
      <p:bldP spid="10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176128" grpId="0"/>
      <p:bldP spid="176129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63750" y="293688"/>
            <a:ext cx="2181225" cy="2673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70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graphicFrame>
        <p:nvGraphicFramePr>
          <p:cNvPr id="23" name="Group 182"/>
          <p:cNvGraphicFramePr>
            <a:graphicFrameLocks noGrp="1"/>
          </p:cNvGraphicFramePr>
          <p:nvPr/>
        </p:nvGraphicFramePr>
        <p:xfrm>
          <a:off x="1835150" y="3133725"/>
          <a:ext cx="1619250" cy="1798638"/>
        </p:xfrm>
        <a:graphic>
          <a:graphicData uri="http://schemas.openxmlformats.org/drawingml/2006/table">
            <a:tbl>
              <a:tblPr/>
              <a:tblGrid>
                <a:gridCol w="648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EXIT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0203" name="组合 1"/>
          <p:cNvGrpSpPr>
            <a:grpSpLocks/>
          </p:cNvGrpSpPr>
          <p:nvPr/>
        </p:nvGrpSpPr>
        <p:grpSpPr bwMode="auto">
          <a:xfrm>
            <a:off x="138113" y="854075"/>
            <a:ext cx="1625600" cy="3082925"/>
            <a:chOff x="890764" y="853544"/>
            <a:chExt cx="1626248" cy="3084076"/>
          </a:xfrm>
        </p:grpSpPr>
        <p:sp>
          <p:nvSpPr>
            <p:cNvPr id="7" name="Rectangle 23"/>
            <p:cNvSpPr>
              <a:spLocks noChangeArrowheads="1"/>
            </p:cNvSpPr>
            <p:nvPr/>
          </p:nvSpPr>
          <p:spPr bwMode="auto">
            <a:xfrm>
              <a:off x="1722946" y="853544"/>
              <a:ext cx="786125" cy="2858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charset="0"/>
                </a:rPr>
                <a:t>ENTRY</a:t>
              </a:r>
              <a:endParaRPr lang="en-US" altLang="zh-CN" sz="15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" name="Rectangle 24"/>
            <p:cNvSpPr>
              <a:spLocks noChangeArrowheads="1"/>
            </p:cNvSpPr>
            <p:nvPr/>
          </p:nvSpPr>
          <p:spPr bwMode="auto">
            <a:xfrm>
              <a:off x="1722946" y="1414141"/>
              <a:ext cx="786125" cy="3446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27"/>
            <p:cNvSpPr>
              <a:spLocks noChangeArrowheads="1"/>
            </p:cNvSpPr>
            <p:nvPr/>
          </p:nvSpPr>
          <p:spPr bwMode="auto">
            <a:xfrm>
              <a:off x="1722946" y="2020793"/>
              <a:ext cx="786125" cy="3573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354" name="Line 28"/>
            <p:cNvSpPr>
              <a:spLocks noChangeShapeType="1"/>
            </p:cNvSpPr>
            <p:nvPr/>
          </p:nvSpPr>
          <p:spPr bwMode="auto">
            <a:xfrm>
              <a:off x="2147822" y="1163899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0355" name="Line 29"/>
            <p:cNvSpPr>
              <a:spLocks noChangeShapeType="1"/>
            </p:cNvSpPr>
            <p:nvPr/>
          </p:nvSpPr>
          <p:spPr bwMode="auto">
            <a:xfrm>
              <a:off x="2149034" y="1749688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" name="Rectangle 30"/>
            <p:cNvSpPr>
              <a:spLocks noChangeArrowheads="1"/>
            </p:cNvSpPr>
            <p:nvPr/>
          </p:nvSpPr>
          <p:spPr bwMode="auto">
            <a:xfrm>
              <a:off x="1081340" y="2543275"/>
              <a:ext cx="370034" cy="2382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357" name="Line 31"/>
            <p:cNvSpPr>
              <a:spLocks noChangeShapeType="1"/>
            </p:cNvSpPr>
            <p:nvPr/>
          </p:nvSpPr>
          <p:spPr bwMode="auto">
            <a:xfrm flipH="1">
              <a:off x="2123728" y="2388419"/>
              <a:ext cx="0" cy="6328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0358" name="Rectangle 34"/>
            <p:cNvSpPr>
              <a:spLocks noChangeArrowheads="1"/>
            </p:cNvSpPr>
            <p:nvPr/>
          </p:nvSpPr>
          <p:spPr bwMode="auto">
            <a:xfrm>
              <a:off x="1451746" y="2806961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359" name="Line 37"/>
            <p:cNvSpPr>
              <a:spLocks noChangeShapeType="1"/>
            </p:cNvSpPr>
            <p:nvPr/>
          </p:nvSpPr>
          <p:spPr bwMode="auto">
            <a:xfrm flipH="1">
              <a:off x="1451745" y="2378305"/>
              <a:ext cx="271739" cy="1444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0360" name="Line 38"/>
            <p:cNvSpPr>
              <a:spLocks noChangeShapeType="1"/>
            </p:cNvSpPr>
            <p:nvPr/>
          </p:nvSpPr>
          <p:spPr bwMode="auto">
            <a:xfrm>
              <a:off x="1503749" y="2776827"/>
              <a:ext cx="485255" cy="2444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0361" name="Freeform 42"/>
            <p:cNvSpPr>
              <a:spLocks/>
            </p:cNvSpPr>
            <p:nvPr/>
          </p:nvSpPr>
          <p:spPr bwMode="auto">
            <a:xfrm rot="-906172">
              <a:off x="890764" y="1883154"/>
              <a:ext cx="1003397" cy="1727132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1722946" y="3651763"/>
              <a:ext cx="786125" cy="2858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charset="0"/>
                </a:rPr>
                <a:t>EXIT</a:t>
              </a:r>
              <a:endParaRPr lang="en-US" altLang="zh-CN" sz="15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50363" name="Line 28"/>
            <p:cNvSpPr>
              <a:spLocks noChangeShapeType="1"/>
            </p:cNvSpPr>
            <p:nvPr/>
          </p:nvSpPr>
          <p:spPr bwMode="auto">
            <a:xfrm>
              <a:off x="2123728" y="3418168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" name="Rectangle 27"/>
            <p:cNvSpPr>
              <a:spLocks noChangeArrowheads="1"/>
            </p:cNvSpPr>
            <p:nvPr/>
          </p:nvSpPr>
          <p:spPr bwMode="auto">
            <a:xfrm>
              <a:off x="1730886" y="3060993"/>
              <a:ext cx="786126" cy="3573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289550" y="3133725"/>
          <a:ext cx="1871663" cy="1798638"/>
        </p:xfrm>
        <a:graphic>
          <a:graphicData uri="http://schemas.openxmlformats.org/drawingml/2006/table">
            <a:tbl>
              <a:tblPr/>
              <a:tblGrid>
                <a:gridCol w="86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443288" y="3133725"/>
          <a:ext cx="1828800" cy="1798638"/>
        </p:xfrm>
        <a:graphic>
          <a:graphicData uri="http://schemas.openxmlformats.org/drawingml/2006/table">
            <a:tbl>
              <a:tblPr/>
              <a:tblGrid>
                <a:gridCol w="892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50" name="矩形 5"/>
          <p:cNvSpPr>
            <a:spLocks noChangeArrowheads="1"/>
          </p:cNvSpPr>
          <p:nvPr/>
        </p:nvSpPr>
        <p:spPr bwMode="auto">
          <a:xfrm>
            <a:off x="338137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1" name="矩形 8"/>
          <p:cNvSpPr>
            <a:spLocks noChangeArrowheads="1"/>
          </p:cNvSpPr>
          <p:nvPr/>
        </p:nvSpPr>
        <p:spPr bwMode="auto">
          <a:xfrm>
            <a:off x="4335463" y="3435350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2" name="矩形 9"/>
          <p:cNvSpPr>
            <a:spLocks noChangeArrowheads="1"/>
          </p:cNvSpPr>
          <p:nvPr/>
        </p:nvSpPr>
        <p:spPr bwMode="auto">
          <a:xfrm>
            <a:off x="3403600" y="3724275"/>
            <a:ext cx="9318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3" name="矩形 11"/>
          <p:cNvSpPr>
            <a:spLocks noChangeArrowheads="1"/>
          </p:cNvSpPr>
          <p:nvPr/>
        </p:nvSpPr>
        <p:spPr bwMode="auto">
          <a:xfrm>
            <a:off x="4329113" y="3724275"/>
            <a:ext cx="9429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4" name="矩形 12"/>
          <p:cNvSpPr>
            <a:spLocks noChangeArrowheads="1"/>
          </p:cNvSpPr>
          <p:nvPr/>
        </p:nvSpPr>
        <p:spPr bwMode="auto">
          <a:xfrm>
            <a:off x="3400425" y="4048125"/>
            <a:ext cx="9429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5" name="矩形 14"/>
          <p:cNvSpPr>
            <a:spLocks noChangeArrowheads="1"/>
          </p:cNvSpPr>
          <p:nvPr/>
        </p:nvSpPr>
        <p:spPr bwMode="auto">
          <a:xfrm>
            <a:off x="4338638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6" name="矩形 15"/>
          <p:cNvSpPr>
            <a:spLocks noChangeArrowheads="1"/>
          </p:cNvSpPr>
          <p:nvPr/>
        </p:nvSpPr>
        <p:spPr bwMode="auto">
          <a:xfrm>
            <a:off x="3403600" y="4337050"/>
            <a:ext cx="9318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7" name="矩形 16"/>
          <p:cNvSpPr>
            <a:spLocks noChangeArrowheads="1"/>
          </p:cNvSpPr>
          <p:nvPr/>
        </p:nvSpPr>
        <p:spPr bwMode="auto">
          <a:xfrm>
            <a:off x="4338638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8" name="矩形 17"/>
          <p:cNvSpPr>
            <a:spLocks noChangeArrowheads="1"/>
          </p:cNvSpPr>
          <p:nvPr/>
        </p:nvSpPr>
        <p:spPr bwMode="auto">
          <a:xfrm>
            <a:off x="3403600" y="4624388"/>
            <a:ext cx="9318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59" name="矩形 18"/>
          <p:cNvSpPr>
            <a:spLocks noChangeArrowheads="1"/>
          </p:cNvSpPr>
          <p:nvPr/>
        </p:nvSpPr>
        <p:spPr bwMode="auto">
          <a:xfrm>
            <a:off x="4338638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0" name="矩形 19"/>
          <p:cNvSpPr>
            <a:spLocks noChangeArrowheads="1"/>
          </p:cNvSpPr>
          <p:nvPr/>
        </p:nvSpPr>
        <p:spPr bwMode="auto">
          <a:xfrm>
            <a:off x="521652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1" name="矩形 24"/>
          <p:cNvSpPr>
            <a:spLocks noChangeArrowheads="1"/>
          </p:cNvSpPr>
          <p:nvPr/>
        </p:nvSpPr>
        <p:spPr bwMode="auto">
          <a:xfrm>
            <a:off x="6189663" y="3435350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2" name="矩形 25"/>
          <p:cNvSpPr>
            <a:spLocks noChangeArrowheads="1"/>
          </p:cNvSpPr>
          <p:nvPr/>
        </p:nvSpPr>
        <p:spPr bwMode="auto">
          <a:xfrm>
            <a:off x="5181600" y="3724275"/>
            <a:ext cx="1060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3" name="矩形 26"/>
          <p:cNvSpPr>
            <a:spLocks noChangeArrowheads="1"/>
          </p:cNvSpPr>
          <p:nvPr/>
        </p:nvSpPr>
        <p:spPr bwMode="auto">
          <a:xfrm>
            <a:off x="6189663" y="3724275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4" name="矩形 27"/>
          <p:cNvSpPr>
            <a:spLocks noChangeArrowheads="1"/>
          </p:cNvSpPr>
          <p:nvPr/>
        </p:nvSpPr>
        <p:spPr bwMode="auto">
          <a:xfrm>
            <a:off x="52371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5" name="矩形 28"/>
          <p:cNvSpPr>
            <a:spLocks noChangeArrowheads="1"/>
          </p:cNvSpPr>
          <p:nvPr/>
        </p:nvSpPr>
        <p:spPr bwMode="auto">
          <a:xfrm>
            <a:off x="61896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6" name="矩形 29"/>
          <p:cNvSpPr>
            <a:spLocks noChangeArrowheads="1"/>
          </p:cNvSpPr>
          <p:nvPr/>
        </p:nvSpPr>
        <p:spPr bwMode="auto">
          <a:xfrm>
            <a:off x="52371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7" name="矩形 30"/>
          <p:cNvSpPr>
            <a:spLocks noChangeArrowheads="1"/>
          </p:cNvSpPr>
          <p:nvPr/>
        </p:nvSpPr>
        <p:spPr bwMode="auto">
          <a:xfrm>
            <a:off x="61896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8" name="矩形 176127"/>
          <p:cNvSpPr>
            <a:spLocks noChangeArrowheads="1"/>
          </p:cNvSpPr>
          <p:nvPr/>
        </p:nvSpPr>
        <p:spPr bwMode="auto">
          <a:xfrm>
            <a:off x="52371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69" name="矩形 176128"/>
          <p:cNvSpPr>
            <a:spLocks noChangeArrowheads="1"/>
          </p:cNvSpPr>
          <p:nvPr/>
        </p:nvSpPr>
        <p:spPr bwMode="auto">
          <a:xfrm>
            <a:off x="61896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7178675" y="3132138"/>
          <a:ext cx="1819275" cy="1798637"/>
        </p:xfrm>
        <a:graphic>
          <a:graphicData uri="http://schemas.openxmlformats.org/drawingml/2006/table">
            <a:tbl>
              <a:tblPr/>
              <a:tblGrid>
                <a:gridCol w="811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93" name="矩形 50"/>
          <p:cNvSpPr>
            <a:spLocks noChangeArrowheads="1"/>
          </p:cNvSpPr>
          <p:nvPr/>
        </p:nvSpPr>
        <p:spPr bwMode="auto">
          <a:xfrm>
            <a:off x="710882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94" name="矩形 51"/>
          <p:cNvSpPr>
            <a:spLocks noChangeArrowheads="1"/>
          </p:cNvSpPr>
          <p:nvPr/>
        </p:nvSpPr>
        <p:spPr bwMode="auto">
          <a:xfrm>
            <a:off x="8062913" y="3435350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95" name="矩形 52"/>
          <p:cNvSpPr>
            <a:spLocks noChangeArrowheads="1"/>
          </p:cNvSpPr>
          <p:nvPr/>
        </p:nvSpPr>
        <p:spPr bwMode="auto">
          <a:xfrm>
            <a:off x="7073900" y="3724275"/>
            <a:ext cx="1060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111  0111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96" name="矩形 53"/>
          <p:cNvSpPr>
            <a:spLocks noChangeArrowheads="1"/>
          </p:cNvSpPr>
          <p:nvPr/>
        </p:nvSpPr>
        <p:spPr bwMode="auto">
          <a:xfrm>
            <a:off x="8062913" y="3724275"/>
            <a:ext cx="931862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97" name="矩形 54"/>
          <p:cNvSpPr>
            <a:spLocks noChangeArrowheads="1"/>
          </p:cNvSpPr>
          <p:nvPr/>
        </p:nvSpPr>
        <p:spPr bwMode="auto">
          <a:xfrm>
            <a:off x="71294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98" name="矩形 55"/>
          <p:cNvSpPr>
            <a:spLocks noChangeArrowheads="1"/>
          </p:cNvSpPr>
          <p:nvPr/>
        </p:nvSpPr>
        <p:spPr bwMode="auto">
          <a:xfrm>
            <a:off x="8062913" y="4048125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299" name="矩形 56"/>
          <p:cNvSpPr>
            <a:spLocks noChangeArrowheads="1"/>
          </p:cNvSpPr>
          <p:nvPr/>
        </p:nvSpPr>
        <p:spPr bwMode="auto">
          <a:xfrm>
            <a:off x="71294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300" name="矩形 57"/>
          <p:cNvSpPr>
            <a:spLocks noChangeArrowheads="1"/>
          </p:cNvSpPr>
          <p:nvPr/>
        </p:nvSpPr>
        <p:spPr bwMode="auto">
          <a:xfrm>
            <a:off x="8062913" y="4337050"/>
            <a:ext cx="931862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301" name="矩形 58"/>
          <p:cNvSpPr>
            <a:spLocks noChangeArrowheads="1"/>
          </p:cNvSpPr>
          <p:nvPr/>
        </p:nvSpPr>
        <p:spPr bwMode="auto">
          <a:xfrm>
            <a:off x="71294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0302" name="矩形 59"/>
          <p:cNvSpPr>
            <a:spLocks noChangeArrowheads="1"/>
          </p:cNvSpPr>
          <p:nvPr/>
        </p:nvSpPr>
        <p:spPr bwMode="auto">
          <a:xfrm>
            <a:off x="8062913" y="4624388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61" name="Group 182"/>
          <p:cNvGraphicFramePr>
            <a:graphicFrameLocks noGrp="1"/>
          </p:cNvGraphicFramePr>
          <p:nvPr/>
        </p:nvGraphicFramePr>
        <p:xfrm>
          <a:off x="4995863" y="179388"/>
          <a:ext cx="2152650" cy="2744787"/>
        </p:xfrm>
        <a:graphic>
          <a:graphicData uri="http://schemas.openxmlformats.org/drawingml/2006/table">
            <a:tbl>
              <a:tblPr/>
              <a:tblGrid>
                <a:gridCol w="71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7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" name="矩形 61"/>
          <p:cNvSpPr/>
          <p:nvPr/>
        </p:nvSpPr>
        <p:spPr bwMode="auto">
          <a:xfrm>
            <a:off x="7175274" y="3767593"/>
            <a:ext cx="814932" cy="85725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68580" tIns="34290" rIns="68580" bIns="34290"/>
          <a:lstStyle/>
          <a:p>
            <a:pPr algn="ctr" eaLnBrk="1" hangingPunct="1">
              <a:defRPr/>
            </a:pPr>
            <a:endParaRPr lang="zh-CN" altLang="en-US" b="0" dirty="0">
              <a:latin typeface="Arial" charset="0"/>
            </a:endParaRPr>
          </a:p>
        </p:txBody>
      </p:sp>
      <p:sp>
        <p:nvSpPr>
          <p:cNvPr id="55" name="Line 31"/>
          <p:cNvSpPr>
            <a:spLocks noChangeShapeType="1"/>
          </p:cNvSpPr>
          <p:nvPr/>
        </p:nvSpPr>
        <p:spPr bwMode="auto">
          <a:xfrm>
            <a:off x="5003800" y="176213"/>
            <a:ext cx="0" cy="2759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6" name="Line 31"/>
          <p:cNvSpPr>
            <a:spLocks noChangeShapeType="1"/>
          </p:cNvSpPr>
          <p:nvPr/>
        </p:nvSpPr>
        <p:spPr bwMode="auto">
          <a:xfrm>
            <a:off x="7143750" y="185738"/>
            <a:ext cx="0" cy="274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5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77850" y="3940175"/>
            <a:ext cx="8286750" cy="3582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定值链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Use-Definition Chains</a:t>
            </a:r>
            <a:r>
              <a:rPr lang="en-US" altLang="zh-CN" sz="25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</a:t>
            </a:r>
            <a:endParaRPr lang="zh-CN" altLang="en-US" sz="250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63" y="1684338"/>
            <a:ext cx="6296025" cy="31543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4675" lvl="1" indent="-271463"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如果块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中变量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引用之前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400" i="1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的定值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那么只有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最后一次定值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会在该引用的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ud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链中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lvl="1" indent="-271463"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如果块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中变量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引用之前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没有</a:t>
            </a:r>
            <a:r>
              <a:rPr lang="en-US" altLang="zh-CN" sz="2400" i="1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的定值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sz="2400" i="1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的这次引用的</a:t>
            </a:r>
            <a:r>
              <a:rPr lang="en-US" altLang="zh-CN" sz="2400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ud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链就是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 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定值的集合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6767513" y="3332163"/>
            <a:ext cx="1876425" cy="10080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··· = ···a···</a:t>
            </a: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8" name="Rectangle 22"/>
          <p:cNvSpPr>
            <a:spLocks noChangeArrowheads="1"/>
          </p:cNvSpPr>
          <p:nvPr/>
        </p:nvSpPr>
        <p:spPr bwMode="auto">
          <a:xfrm>
            <a:off x="6799263" y="1635125"/>
            <a:ext cx="1876425" cy="15859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d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: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a =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srgbClr val="FF0000"/>
              </a:solidFill>
              <a:latin typeface="Times New Roman" charset="0"/>
            </a:endParaRP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··· = ···a···</a:t>
            </a: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68313" y="836613"/>
            <a:ext cx="8351837" cy="1096962"/>
          </a:xfrm>
          <a:prstGeom prst="rect">
            <a:avLst/>
          </a:prstGeom>
          <a:noFill/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500" dirty="0">
                <a:solidFill>
                  <a:srgbClr val="FF0000"/>
                </a:solidFill>
                <a:cs typeface="Times New Roman" panose="02020603050405020304" pitchFamily="18" charset="0"/>
              </a:rPr>
              <a:t>引用</a:t>
            </a:r>
            <a:r>
              <a:rPr lang="en-US" altLang="zh-CN" sz="2500" dirty="0">
                <a:solidFill>
                  <a:srgbClr val="FF0000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sz="2500" dirty="0">
                <a:solidFill>
                  <a:srgbClr val="FF0000"/>
                </a:solidFill>
                <a:cs typeface="Times New Roman" panose="02020603050405020304" pitchFamily="18" charset="0"/>
              </a:rPr>
              <a:t>定值链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简称</a:t>
            </a:r>
            <a:r>
              <a:rPr lang="en-US" altLang="zh-CN" sz="2000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ud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链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是一个列表，对于变量的每一 次引用，到达该引用的所有定值都在该列表中</a:t>
            </a:r>
            <a:endParaRPr lang="zh-CN" altLang="en-US" sz="2500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81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8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 descr="G:\QQ截图201607142012副本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8962" name="Rectangle 2"/>
          <p:cNvSpPr txBox="1">
            <a:spLocks noChangeArrowheads="1"/>
          </p:cNvSpPr>
          <p:nvPr/>
        </p:nvSpPr>
        <p:spPr bwMode="auto">
          <a:xfrm>
            <a:off x="4067175" y="1738313"/>
            <a:ext cx="4537075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eaLnBrk="1" hangingPunct="1">
              <a:defRPr/>
            </a:pPr>
            <a:r>
              <a:rPr lang="zh-CN" altLang="en-US" sz="3200" b="0" spc="3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到达定值方程的计算</a:t>
            </a:r>
          </a:p>
        </p:txBody>
      </p:sp>
      <p:sp>
        <p:nvSpPr>
          <p:cNvPr id="54276" name="Rectangle 2"/>
          <p:cNvSpPr txBox="1">
            <a:spLocks noChangeArrowheads="1"/>
          </p:cNvSpPr>
          <p:nvPr/>
        </p:nvSpPr>
        <p:spPr bwMode="auto">
          <a:xfrm>
            <a:off x="5072063" y="1344613"/>
            <a:ext cx="31432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第八章 代码优化</a:t>
            </a:r>
          </a:p>
          <a:p>
            <a:pPr eaLnBrk="1" hangingPunct="1"/>
            <a:endParaRPr lang="zh-CN" altLang="en-US" sz="8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277" name="Rectangle 2"/>
          <p:cNvSpPr txBox="1">
            <a:spLocks noChangeArrowheads="1"/>
          </p:cNvSpPr>
          <p:nvPr/>
        </p:nvSpPr>
        <p:spPr bwMode="auto">
          <a:xfrm>
            <a:off x="4714875" y="2428875"/>
            <a:ext cx="3443288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50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哈尔滨工业大学  陈鄞</a:t>
            </a:r>
            <a:endParaRPr lang="zh-CN" altLang="en-US" sz="20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4954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4581</TotalTime>
  <Words>8228</Words>
  <Application>Microsoft Office PowerPoint</Application>
  <PresentationFormat>全屏显示(16:9)</PresentationFormat>
  <Paragraphs>1504</Paragraphs>
  <Slides>68</Slides>
  <Notes>68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2" baseType="lpstr"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波形</vt:lpstr>
      <vt:lpstr>1_波形</vt:lpstr>
      <vt:lpstr>PowerPoint 演示文稿</vt:lpstr>
      <vt:lpstr>主要内容</vt:lpstr>
      <vt:lpstr>PowerPoint 演示文稿</vt:lpstr>
      <vt:lpstr>8.1 流图 </vt:lpstr>
      <vt:lpstr>基本块划分算法</vt:lpstr>
      <vt:lpstr>例</vt:lpstr>
      <vt:lpstr>流图(Flow Graphs)</vt:lpstr>
      <vt:lpstr>流图(Flow Graphs)</vt:lpstr>
      <vt:lpstr>例</vt:lpstr>
      <vt:lpstr>PowerPoint 演示文稿</vt:lpstr>
      <vt:lpstr>8.2 优化的分类</vt:lpstr>
      <vt:lpstr>常用的优化方法</vt:lpstr>
      <vt:lpstr>① 删除公共子表达式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② 删除无用代码</vt:lpstr>
      <vt:lpstr>② 删除无用代码</vt:lpstr>
      <vt:lpstr>② 删除无用代码</vt:lpstr>
      <vt:lpstr>例</vt:lpstr>
      <vt:lpstr>例</vt:lpstr>
      <vt:lpstr>③ 常量合并(Constant Folding)</vt:lpstr>
      <vt:lpstr>④ 代码移动(Code Motion)</vt:lpstr>
      <vt:lpstr>例</vt:lpstr>
      <vt:lpstr>循环不变计算的相对性</vt:lpstr>
      <vt:lpstr>⑤ 强度削弱(Strength Reduction)</vt:lpstr>
      <vt:lpstr>循环中的强度削弱</vt:lpstr>
      <vt:lpstr>例</vt:lpstr>
      <vt:lpstr>例</vt:lpstr>
      <vt:lpstr>⑥ 删除归纳变量</vt:lpstr>
      <vt:lpstr>⑥ 删除归纳变量</vt:lpstr>
      <vt:lpstr>8.3 基本块的优化</vt:lpstr>
      <vt:lpstr>基本块的 DAG 表示</vt:lpstr>
      <vt:lpstr>基于基本块的 DAG 删除无用代码</vt:lpstr>
      <vt:lpstr>数组元素赋值指令的表示</vt:lpstr>
      <vt:lpstr>根据基本块的DAG可以获得一些非常有用的信息</vt:lpstr>
      <vt:lpstr>从 DAG 到基本块的重组</vt:lpstr>
      <vt:lpstr>例</vt:lpstr>
      <vt:lpstr>例</vt:lpstr>
      <vt:lpstr>从 DAG 到基本块的重组</vt:lpstr>
      <vt:lpstr>8.4 数据流分析(data-flow analysis)</vt:lpstr>
      <vt:lpstr>数据流分析模式</vt:lpstr>
      <vt:lpstr>数据流分析模式</vt:lpstr>
      <vt:lpstr>基本块上的数据流模式</vt:lpstr>
      <vt:lpstr>8.5 到达定值分析</vt:lpstr>
      <vt:lpstr>例：可以到达各基本块的入口处的定值</vt:lpstr>
      <vt:lpstr>到达定值分析的主要用途</vt:lpstr>
      <vt:lpstr>到达定值分析的主要用途</vt:lpstr>
      <vt:lpstr>到达定值分析的主要用途</vt:lpstr>
      <vt:lpstr>“生成”与“杀死”定值</vt:lpstr>
      <vt:lpstr>到达定值的传递函数</vt:lpstr>
      <vt:lpstr>到达定值的传递函数</vt:lpstr>
      <vt:lpstr>例：各基本块B的genB 和killB </vt:lpstr>
      <vt:lpstr>到达定值的数据流方程</vt:lpstr>
      <vt:lpstr>8.6 计算到达定值的迭代算法</vt:lpstr>
      <vt:lpstr>例</vt:lpstr>
      <vt:lpstr>例</vt:lpstr>
      <vt:lpstr>引用-定值链 (Use-Definition Chains)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凌 妙根</cp:lastModifiedBy>
  <cp:revision>418</cp:revision>
  <cp:lastPrinted>2017-07-27T06:12:10Z</cp:lastPrinted>
  <dcterms:created xsi:type="dcterms:W3CDTF">2016-10-28T05:40:46Z</dcterms:created>
  <dcterms:modified xsi:type="dcterms:W3CDTF">2024-12-15T16:12:52Z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