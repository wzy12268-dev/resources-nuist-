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81" r:id="rId1"/>
    <p:sldMasterId id="2147484905" r:id="rId2"/>
  </p:sldMasterIdLst>
  <p:notesMasterIdLst>
    <p:notesMasterId r:id="rId35"/>
  </p:notesMasterIdLst>
  <p:handoutMasterIdLst>
    <p:handoutMasterId r:id="rId36"/>
  </p:handoutMasterIdLst>
  <p:sldIdLst>
    <p:sldId id="819" r:id="rId3"/>
    <p:sldId id="807" r:id="rId4"/>
    <p:sldId id="626" r:id="rId5"/>
    <p:sldId id="713" r:id="rId6"/>
    <p:sldId id="715" r:id="rId7"/>
    <p:sldId id="780" r:id="rId8"/>
    <p:sldId id="830" r:id="rId9"/>
    <p:sldId id="831" r:id="rId10"/>
    <p:sldId id="629" r:id="rId11"/>
    <p:sldId id="738" r:id="rId12"/>
    <p:sldId id="655" r:id="rId13"/>
    <p:sldId id="709" r:id="rId14"/>
    <p:sldId id="669" r:id="rId15"/>
    <p:sldId id="710" r:id="rId16"/>
    <p:sldId id="741" r:id="rId17"/>
    <p:sldId id="687" r:id="rId18"/>
    <p:sldId id="705" r:id="rId19"/>
    <p:sldId id="638" r:id="rId20"/>
    <p:sldId id="693" r:id="rId21"/>
    <p:sldId id="720" r:id="rId22"/>
    <p:sldId id="721" r:id="rId23"/>
    <p:sldId id="722" r:id="rId24"/>
    <p:sldId id="802" r:id="rId25"/>
    <p:sldId id="803" r:id="rId26"/>
    <p:sldId id="724" r:id="rId27"/>
    <p:sldId id="730" r:id="rId28"/>
    <p:sldId id="725" r:id="rId29"/>
    <p:sldId id="743" r:id="rId30"/>
    <p:sldId id="744" r:id="rId31"/>
    <p:sldId id="728" r:id="rId32"/>
    <p:sldId id="740" r:id="rId33"/>
    <p:sldId id="810" r:id="rId34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楷体_GB2312"/>
        <a:cs typeface="楷体_GB2312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楷体_GB2312"/>
        <a:cs typeface="楷体_GB2312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楷体_GB2312"/>
        <a:cs typeface="楷体_GB2312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楷体_GB2312"/>
        <a:cs typeface="楷体_GB2312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楷体_GB2312"/>
        <a:cs typeface="楷体_GB2312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楷体_GB2312"/>
        <a:cs typeface="楷体_GB2312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楷体_GB2312"/>
        <a:cs typeface="楷体_GB2312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楷体_GB2312"/>
        <a:cs typeface="楷体_GB2312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楷体_GB2312"/>
        <a:cs typeface="楷体_GB2312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8615952081735" initials="8" lastIdx="1" clrIdx="0">
    <p:extLst>
      <p:ext uri="{19B8F6BF-5375-455C-9EA6-DF929625EA0E}">
        <p15:presenceInfo xmlns:p15="http://schemas.microsoft.com/office/powerpoint/2012/main" userId="8615952081735" providerId="None"/>
      </p:ext>
    </p:extLst>
  </p:cmAuthor>
  <p:cmAuthor id="2" name="8615952081735" initials="8 [2]" lastIdx="1" clrIdx="1">
    <p:extLst>
      <p:ext uri="{19B8F6BF-5375-455C-9EA6-DF929625EA0E}">
        <p15:presenceInfo xmlns:p15="http://schemas.microsoft.com/office/powerpoint/2012/main" userId="a51b56bae7ade12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0000"/>
    <a:srgbClr val="FF00FF"/>
    <a:srgbClr val="FFFF99"/>
    <a:srgbClr val="FFCCCC"/>
    <a:srgbClr val="3333FF"/>
    <a:srgbClr val="000099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0" autoAdjust="0"/>
    <p:restoredTop sz="83420" autoAdjust="0"/>
  </p:normalViewPr>
  <p:slideViewPr>
    <p:cSldViewPr>
      <p:cViewPr varScale="1">
        <p:scale>
          <a:sx n="131" d="100"/>
          <a:sy n="131" d="100"/>
        </p:scale>
        <p:origin x="2334" y="13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92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444"/>
    </p:cViewPr>
  </p:sorterViewPr>
  <p:notesViewPr>
    <p:cSldViewPr>
      <p:cViewPr varScale="1">
        <p:scale>
          <a:sx n="77" d="100"/>
          <a:sy n="77" d="100"/>
        </p:scale>
        <p:origin x="2916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4-09-08T15:13:34.553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09T22:23:50.803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t" anchorCtr="0" compatLnSpc="1">
            <a:prstTxWarp prst="textNoShape">
              <a:avLst/>
            </a:prstTxWarp>
          </a:bodyPr>
          <a:lstStyle>
            <a:lvl1pPr defTabSz="950913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t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94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b" anchorCtr="0" compatLnSpc="1">
            <a:prstTxWarp prst="textNoShape">
              <a:avLst/>
            </a:prstTxWarp>
          </a:bodyPr>
          <a:lstStyle>
            <a:lvl1pPr defTabSz="950913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94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b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53E91D9-AA6C-4385-8157-306CF74945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3336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t" anchorCtr="0" compatLnSpc="1">
            <a:prstTxWarp prst="textNoShape">
              <a:avLst/>
            </a:prstTxWarp>
          </a:bodyPr>
          <a:lstStyle>
            <a:lvl1pPr defTabSz="950913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t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6525" y="766763"/>
            <a:ext cx="6826250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22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69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22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b" anchorCtr="0" compatLnSpc="1">
            <a:prstTxWarp prst="textNoShape">
              <a:avLst/>
            </a:prstTxWarp>
          </a:bodyPr>
          <a:lstStyle>
            <a:lvl1pPr defTabSz="950913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2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b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55981A6-AA2F-4D16-9934-F73E594B34B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66749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05B2ED-851D-418B-8FDE-29E1E5C36A6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053233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9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F4BFCB-17AC-4014-8281-10052BB5D1D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890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7992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EDEFC7-A438-4A3A-BBC5-3B39BBBC3BA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94666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F7C7F2-19D7-437C-893B-794A7286F0D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5326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C65587-B9D6-4148-9F3A-DC4ABC6A9B9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7693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08A4DF-8E39-4656-95B2-CD1570011EE8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7629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C9FF5-FD46-404B-B1A8-570A563DE1CB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501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CE102D-0896-4E03-80A5-B1751A05BC1E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897279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4ED15C-C900-4A89-9513-A86FBD1BB4F5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127419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024A7E-0662-413C-AF5F-EC4767FDB275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697618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2EF440-3AB2-4333-A197-3267385F09EA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041824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97A0AE-2244-4414-ADBD-285729B47F5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0844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608213-757F-49B4-81B4-8E8A3436F00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03839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49C93F-9D0E-452B-B3D0-6C97AF939C8F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48960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01CFA7-CDD0-4B4D-8836-9A9257900D1E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5977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68E39F-66A6-4798-99C5-713FD327CEE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7303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33D9CA3D-98F5-4D7F-93ED-878F1F80D2A7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17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03787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F1B81E11-42C0-425E-BCD6-5BCC7911C42B}" type="slidenum">
              <a:rPr lang="zh-CN" altLang="en-US" smtClean="0">
                <a:latin typeface="Arial" panose="020B0604020202020204" pitchFamily="34" charset="0"/>
              </a:rPr>
              <a:pPr/>
              <a:t>18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0008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84E6F1B4-7512-47CE-8000-352621ECDD09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76092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algn="just" eaLnBrk="1" hangingPunct="1"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3B810DCE-1352-4785-95CF-7C0DCADE4BD7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60084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CBE99CA2-4553-48E6-8DB6-657B2AEFFE92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02070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95F35442-B465-45F3-941A-5FEC0100DB65}" type="slidenum">
              <a:rPr lang="zh-CN" altLang="en-US" smtClean="0">
                <a:latin typeface="Arial" panose="020B0604020202020204" pitchFamily="34" charset="0"/>
              </a:rPr>
              <a:pPr/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1257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F561D4DD-FCD1-42A4-A888-FF3C7BBB8A73}" type="slidenum">
              <a:rPr lang="zh-CN" altLang="en-US" smtClean="0">
                <a:latin typeface="Arial" panose="020B0604020202020204" pitchFamily="34" charset="0"/>
              </a:rPr>
              <a:pPr/>
              <a:t>23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8126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4800849F-1D45-4031-8E47-33507425F5AA}" type="slidenum">
              <a:rPr lang="zh-CN" altLang="en-US" smtClean="0">
                <a:latin typeface="Arial" panose="020B0604020202020204" pitchFamily="34" charset="0"/>
              </a:rPr>
              <a:pPr/>
              <a:t>24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9563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2DC80EE0-EAA4-407D-9BF9-7497D65298DB}" type="slidenum">
              <a:rPr lang="zh-CN" altLang="en-US" smtClean="0">
                <a:latin typeface="Arial" panose="020B0604020202020204" pitchFamily="34" charset="0"/>
              </a:rPr>
              <a:pPr/>
              <a:t>25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3856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1B419161-24A5-4B28-A403-DC335D1083C7}" type="slidenum">
              <a:rPr lang="zh-CN" altLang="en-US" smtClean="0">
                <a:latin typeface="Arial" panose="020B0604020202020204" pitchFamily="34" charset="0"/>
              </a:rPr>
              <a:pPr/>
              <a:t>26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8068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C430FDBF-AAF5-477B-AED0-41B76CA60718}" type="slidenum">
              <a:rPr lang="zh-CN" altLang="en-US" smtClean="0">
                <a:latin typeface="Arial" panose="020B0604020202020204" pitchFamily="34" charset="0"/>
              </a:rPr>
              <a:pPr/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1365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6540A8D9-5763-469C-A7F8-EBEB4C537CA7}" type="slidenum">
              <a:rPr lang="zh-CN" altLang="en-US" smtClean="0">
                <a:latin typeface="Arial" panose="020B0604020202020204" pitchFamily="34" charset="0"/>
              </a:rPr>
              <a:pPr/>
              <a:t>28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0206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3D694D79-D679-4343-8498-6224377906BF}" type="slidenum">
              <a:rPr lang="zh-CN" altLang="en-US" smtClean="0">
                <a:latin typeface="Arial" panose="020B0604020202020204" pitchFamily="34" charset="0"/>
                <a:ea typeface="宋体" panose="02010600030101010101" pitchFamily="2" charset="-122"/>
              </a:rPr>
              <a:pPr/>
              <a:t>29</a:t>
            </a:fld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77592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A182F6F2-D4C9-4EA1-AD87-4531BBEE9219}" type="slidenum">
              <a:rPr lang="zh-CN" altLang="en-US" smtClean="0">
                <a:latin typeface="Arial" panose="020B0604020202020204" pitchFamily="34" charset="0"/>
              </a:rPr>
              <a:pPr/>
              <a:t>30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93184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F4A2C5DC-05F6-49C2-8A32-6059C7F08792}" type="slidenum">
              <a:rPr lang="zh-CN" altLang="en-US" smtClean="0">
                <a:latin typeface="Arial" panose="020B0604020202020204" pitchFamily="34" charset="0"/>
              </a:rPr>
              <a:pPr/>
              <a:t>31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4299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5981A6-AA2F-4D16-9934-F73E594B34B2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8771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6375"/>
            <a:ext cx="8723312" cy="996950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499087"/>
              <a:ext cx="4295219" cy="1018467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94"/>
              <a:ext cx="8280254" cy="1208301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373"/>
              <a:ext cx="8164231" cy="10998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81"/>
              <a:ext cx="4939265" cy="928071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0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77175" y="323053"/>
            <a:ext cx="1162050" cy="27305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ACDD623A-1F46-4698-9B6F-90E852E15C2B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61458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78DCBB-9710-4F34-A660-9D49C0FF40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0290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fld id="{26E0D89A-3119-4939-8CFF-5910486A910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1819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344" y="268052"/>
            <a:ext cx="1162050" cy="273050"/>
          </a:xfrm>
        </p:spPr>
        <p:txBody>
          <a:bodyPr/>
          <a:lstStyle>
            <a:lvl1pPr>
              <a:defRPr sz="1400">
                <a:ea typeface="楷体_GB2312"/>
              </a:defRPr>
            </a:lvl1pPr>
          </a:lstStyle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031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3922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1027" name="Group 15"/>
          <p:cNvGrpSpPr>
            <a:grpSpLocks noChangeAspect="1"/>
          </p:cNvGrpSpPr>
          <p:nvPr/>
        </p:nvGrpSpPr>
        <p:grpSpPr bwMode="auto">
          <a:xfrm>
            <a:off x="211138" y="987425"/>
            <a:ext cx="8723312" cy="647700"/>
            <a:chOff x="-3905251" y="4294188"/>
            <a:chExt cx="13027839" cy="1892300"/>
          </a:xfrm>
        </p:grpSpPr>
        <p:sp>
          <p:nvSpPr>
            <p:cNvPr id="1033" name="Freeform 14"/>
            <p:cNvSpPr>
              <a:spLocks/>
            </p:cNvSpPr>
            <p:nvPr/>
          </p:nvSpPr>
          <p:spPr bwMode="hidden">
            <a:xfrm>
              <a:off x="4810006" y="4498260"/>
              <a:ext cx="4295986" cy="1020358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Freeform 18"/>
            <p:cNvSpPr>
              <a:spLocks/>
            </p:cNvSpPr>
            <p:nvPr/>
          </p:nvSpPr>
          <p:spPr bwMode="hidden">
            <a:xfrm>
              <a:off x="-308667" y="4317379"/>
              <a:ext cx="8279020" cy="1210514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Freeform 22"/>
            <p:cNvSpPr>
              <a:spLocks/>
            </p:cNvSpPr>
            <p:nvPr/>
          </p:nvSpPr>
          <p:spPr bwMode="hidden">
            <a:xfrm>
              <a:off x="4286" y="4335931"/>
              <a:ext cx="8165219" cy="1099202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" name="Freeform 26"/>
            <p:cNvSpPr>
              <a:spLocks/>
            </p:cNvSpPr>
            <p:nvPr/>
          </p:nvSpPr>
          <p:spPr bwMode="hidden">
            <a:xfrm>
              <a:off x="4155651" y="4317379"/>
              <a:ext cx="4940859" cy="927598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37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54000"/>
            <a:ext cx="82296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>
                <a:solidFill>
                  <a:schemeClr val="tx2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>
                <a:solidFill>
                  <a:schemeClr val="tx2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89B9C80-838D-4169-9EB9-233F61721F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0825" y="1347788"/>
            <a:ext cx="5976938" cy="324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31" r:id="rId1"/>
    <p:sldLayoutId id="2147485130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8C33DD6-913D-4EDD-AE9F-AC93814777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32" r:id="rId1"/>
    <p:sldLayoutId id="214748513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20" y="0"/>
            <a:ext cx="8407844" cy="5159692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300192" y="1744734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652120" y="2038579"/>
            <a:ext cx="3590446" cy="1611648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25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南信大计软院</a:t>
            </a:r>
            <a:endParaRPr lang="en-US" altLang="zh-CN" sz="28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zh-CN" altLang="en-US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凌妙根</a:t>
            </a:r>
            <a:endParaRPr lang="en-US" altLang="zh-CN" sz="24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2025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年秋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055721" y="843558"/>
            <a:ext cx="511175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第二章 语言及其文法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C32FFA-EA69-47F7-AFFE-12C640E3505D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1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445506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字母表和串的介绍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文法和语言的定义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文法的分类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</a:p>
        </p:txBody>
      </p:sp>
      <p:grpSp>
        <p:nvGrpSpPr>
          <p:cNvPr id="10244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45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B4C6A2-7E85-428E-BF6D-B25E919AF6D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42016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423863" y="1060450"/>
            <a:ext cx="6719887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</a:rPr>
              <a:t>字母表</a:t>
            </a:r>
            <a:r>
              <a:rPr lang="zh-CN" altLang="en-US" sz="3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3000" b="1" dirty="0">
                <a:solidFill>
                  <a:schemeClr val="tx1"/>
                </a:solidFill>
              </a:rPr>
              <a:t>是一个</a:t>
            </a:r>
            <a:r>
              <a:rPr lang="zh-CN" altLang="en-US" sz="3000" b="1" dirty="0">
                <a:solidFill>
                  <a:srgbClr val="FF0000"/>
                </a:solidFill>
              </a:rPr>
              <a:t>有穷符号集合</a:t>
            </a:r>
            <a:endParaRPr lang="en-US" altLang="zh-CN" sz="3000" b="1" dirty="0"/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600" b="1" dirty="0">
                <a:solidFill>
                  <a:schemeClr val="tx1"/>
                </a:solidFill>
              </a:rPr>
              <a:t>符号：字母、数字、标点符号、</a:t>
            </a:r>
            <a:r>
              <a:rPr lang="en-US" altLang="zh-CN" sz="2600" b="1" dirty="0">
                <a:solidFill>
                  <a:schemeClr val="tx1"/>
                </a:solidFill>
              </a:rPr>
              <a:t>…</a:t>
            </a:r>
          </a:p>
          <a:p>
            <a:pPr lvl="1" eaLnBrk="1" hangingPunct="1">
              <a:buFont typeface="Symbol" panose="05050102010706020507" pitchFamily="18" charset="2"/>
              <a:buNone/>
              <a:defRPr/>
            </a:pPr>
            <a:endParaRPr lang="en-US" altLang="zh-CN" b="1" dirty="0"/>
          </a:p>
          <a:p>
            <a:pPr marL="303213" lvl="1" indent="0" eaLnBrk="1" hangingPunct="1">
              <a:buFont typeface="Symbol" panose="05050102010706020507" pitchFamily="18" charset="2"/>
              <a:buNone/>
              <a:defRPr/>
            </a:pPr>
            <a:r>
              <a:rPr lang="zh-CN" altLang="en-US" b="1" dirty="0"/>
              <a:t>    </a:t>
            </a:r>
          </a:p>
        </p:txBody>
      </p:sp>
      <p:sp>
        <p:nvSpPr>
          <p:cNvPr id="19459" name="标题 1"/>
          <p:cNvSpPr>
            <a:spLocks noGrp="1"/>
          </p:cNvSpPr>
          <p:nvPr>
            <p:ph type="title"/>
          </p:nvPr>
        </p:nvSpPr>
        <p:spPr>
          <a:xfrm>
            <a:off x="755650" y="646113"/>
            <a:ext cx="7931150" cy="3587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000" kern="1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字母表</a:t>
            </a:r>
            <a:r>
              <a:rPr lang="zh-CN" altLang="en-US" kern="1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400" kern="100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400" i="1" kern="100" dirty="0">
                <a:solidFill>
                  <a:schemeClr val="tx1"/>
                </a:solidFill>
                <a:cs typeface="Times New Roman" pitchFamily="18" charset="0"/>
              </a:rPr>
              <a:t>Alphabet</a:t>
            </a:r>
            <a:r>
              <a:rPr lang="en-US" altLang="zh-CN" sz="2400" kern="100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sz="2400" dirty="0">
              <a:solidFill>
                <a:schemeClr val="tx1"/>
              </a:solidFill>
              <a:latin typeface="Time New Roman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0125" y="2427288"/>
            <a:ext cx="4143375" cy="2216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例：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二进制字母表：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{ 0,1 }</a:t>
            </a: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ASCII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字符集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Unicode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字符集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12293" name="组合 5"/>
          <p:cNvGrpSpPr>
            <a:grpSpLocks/>
          </p:cNvGrpSpPr>
          <p:nvPr/>
        </p:nvGrpSpPr>
        <p:grpSpPr bwMode="auto">
          <a:xfrm>
            <a:off x="0" y="6270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79388" y="166688"/>
            <a:ext cx="79311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2.1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基本概念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69228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44525" y="642938"/>
            <a:ext cx="5927725" cy="3225800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Symbol" panose="05050102010706020507" pitchFamily="18" charset="2"/>
              <a:buNone/>
              <a:defRPr/>
            </a:pPr>
            <a:endParaRPr lang="en-US" altLang="zh-CN" sz="30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={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ab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cs typeface="Times New Roman" panose="02020603050405020304" pitchFamily="18" charset="0"/>
              </a:rPr>
              <a:t>∈ 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25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dirty="0">
                <a:solidFill>
                  <a:schemeClr val="tx1"/>
                </a:solidFill>
                <a:cs typeface="Times New Roman" panose="02020603050405020304" pitchFamily="18" charset="0"/>
              </a:rPr>
              <a:t> ∈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en-US" altLang="zh-CN" b="1" dirty="0">
              <a:ea typeface="楷体_GB2312"/>
              <a:cs typeface="Times New Roman" pitchFamily="18" charset="0"/>
            </a:endParaRP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zh-CN" altLang="en-US" dirty="0">
              <a:cs typeface="Times New Roman" pitchFamily="18" charset="0"/>
            </a:endParaRPr>
          </a:p>
        </p:txBody>
      </p:sp>
      <p:sp>
        <p:nvSpPr>
          <p:cNvPr id="12291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字母表上的运算</a:t>
            </a:r>
          </a:p>
        </p:txBody>
      </p:sp>
      <p:sp>
        <p:nvSpPr>
          <p:cNvPr id="4" name="矩形 3"/>
          <p:cNvSpPr/>
          <p:nvPr/>
        </p:nvSpPr>
        <p:spPr>
          <a:xfrm>
            <a:off x="1182688" y="2000250"/>
            <a:ext cx="5603875" cy="5540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{0, 1} {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 ={0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0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1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1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14341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4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294" name="内容占位符 1"/>
          <p:cNvSpPr txBox="1">
            <a:spLocks/>
          </p:cNvSpPr>
          <p:nvPr/>
        </p:nvSpPr>
        <p:spPr bwMode="auto">
          <a:xfrm>
            <a:off x="642938" y="785813"/>
            <a:ext cx="7343775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字母表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kumimoji="0" lang="en-US" altLang="zh-CN" sz="2500" b="1" i="0" u="none" strike="noStrike" kern="1200" cap="none" spc="0" normalizeH="0" baseline="-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kumimoji="0" lang="en-US" altLang="zh-CN" sz="2500" b="1" i="0" u="none" strike="noStrike" kern="1200" cap="none" spc="0" normalizeH="0" baseline="-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乘积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product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149146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216025" y="1714500"/>
            <a:ext cx="5927725" cy="2143125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Symbol" panose="05050102010706020507" pitchFamily="18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500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500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-1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n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≥ 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1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0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={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ε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marL="274320" indent="-274320" eaLnBrk="1" fontAlgn="auto" hangingPunct="1">
              <a:spcAft>
                <a:spcPts val="0"/>
              </a:spcAft>
              <a:buFont typeface="Symbol" panose="05050102010706020507" pitchFamily="18" charset="2"/>
              <a:buNone/>
              <a:defRPr/>
            </a:pPr>
            <a:endParaRPr lang="en-US" altLang="zh-CN" b="1" dirty="0">
              <a:ea typeface="楷体_GB2312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143000" y="2786063"/>
            <a:ext cx="6357938" cy="101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例：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 {0, 1}</a:t>
            </a:r>
            <a:r>
              <a:rPr kumimoji="0" lang="en-US" altLang="zh-CN" sz="3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 ={0, 1} {0, 1} {0, 1}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={000, 001, 010, 011, 100, 101, 110, 111}</a:t>
            </a:r>
          </a:p>
        </p:txBody>
      </p:sp>
      <p:sp>
        <p:nvSpPr>
          <p:cNvPr id="3" name="左大括号 2"/>
          <p:cNvSpPr/>
          <p:nvPr/>
        </p:nvSpPr>
        <p:spPr>
          <a:xfrm>
            <a:off x="1071563" y="1857375"/>
            <a:ext cx="142875" cy="642938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000" y="4024313"/>
            <a:ext cx="6604000" cy="8617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字母表的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次幂：长度为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的所有符号串构成的集合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字母表上的运算</a:t>
            </a:r>
          </a:p>
        </p:txBody>
      </p:sp>
      <p:grpSp>
        <p:nvGrpSpPr>
          <p:cNvPr id="16391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4" name="五边形 1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94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344" name="内容占位符 1"/>
          <p:cNvSpPr txBox="1">
            <a:spLocks/>
          </p:cNvSpPr>
          <p:nvPr/>
        </p:nvSpPr>
        <p:spPr bwMode="auto">
          <a:xfrm>
            <a:off x="642938" y="785813"/>
            <a:ext cx="7343775" cy="92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字母表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乘积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product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字母表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次幂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power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4433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3" grpId="0" animBg="1"/>
      <p:bldP spid="3" grpId="1" animBg="1"/>
      <p:bldP spid="6" grpId="0" animBg="1"/>
      <p:bldP spid="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44525" y="1693863"/>
            <a:ext cx="8070850" cy="32258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字母表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>
                <a:solidFill>
                  <a:srgbClr val="FF0000"/>
                </a:solidFill>
                <a:cs typeface="Times New Roman" panose="02020603050405020304" pitchFamily="18" charset="0"/>
              </a:rPr>
              <a:t>正闭包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positive closure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en-US" altLang="zh-CN" sz="25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+ 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 ∪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2 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3 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∪ …</a:t>
            </a:r>
          </a:p>
          <a:p>
            <a:pPr eaLnBrk="1" hangingPunct="1"/>
            <a:endParaRPr lang="en-US" altLang="zh-CN" b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3557" name="矩形 3"/>
          <p:cNvSpPr>
            <a:spLocks noChangeArrowheads="1"/>
          </p:cNvSpPr>
          <p:nvPr/>
        </p:nvSpPr>
        <p:spPr bwMode="auto">
          <a:xfrm>
            <a:off x="1214438" y="2757488"/>
            <a:ext cx="5572125" cy="13858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例：</a:t>
            </a: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{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a, b, c, d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}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+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= {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a, b, c, d,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ac, ad,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ba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bb,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bc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bd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…,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aaa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aab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aac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aad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aba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abb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abc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…}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字母表上的运算</a:t>
            </a:r>
          </a:p>
        </p:txBody>
      </p:sp>
      <p:grpSp>
        <p:nvGrpSpPr>
          <p:cNvPr id="18437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1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438" name="内容占位符 1"/>
          <p:cNvSpPr txBox="1">
            <a:spLocks/>
          </p:cNvSpPr>
          <p:nvPr/>
        </p:nvSpPr>
        <p:spPr bwMode="auto">
          <a:xfrm>
            <a:off x="642938" y="785813"/>
            <a:ext cx="7343775" cy="92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字母表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kumimoji="0" lang="en-US" altLang="zh-CN" sz="2500" b="1" i="0" u="none" strike="noStrike" kern="1200" cap="none" spc="0" normalizeH="0" baseline="-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kumimoji="0" lang="en-US" altLang="zh-CN" sz="2500" b="1" i="0" u="none" strike="noStrike" kern="1200" cap="none" spc="0" normalizeH="0" baseline="-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乘积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product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字母表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次幂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power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5813" y="4310063"/>
            <a:ext cx="6953250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字母表的正闭包：长度正数的符号串构成的集合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 (正文)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651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  <p:bldP spid="23557" grpId="1" animBg="1"/>
      <p:bldP spid="14" grpId="0" animBg="1"/>
      <p:bldP spid="1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42938" y="785813"/>
            <a:ext cx="7343775" cy="3225800"/>
          </a:xfrm>
        </p:spPr>
        <p:txBody>
          <a:bodyPr/>
          <a:lstStyle/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字母表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>
                <a:solidFill>
                  <a:srgbClr val="FF0000"/>
                </a:solidFill>
                <a:cs typeface="Times New Roman" panose="02020603050405020304" pitchFamily="18" charset="0"/>
              </a:rPr>
              <a:t>乘积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product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en-US" altLang="zh-CN" sz="25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字母表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sz="2500" b="1" i="1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2500" b="1">
                <a:solidFill>
                  <a:srgbClr val="FF0000"/>
                </a:solidFill>
                <a:cs typeface="Times New Roman" panose="02020603050405020304" pitchFamily="18" charset="0"/>
              </a:rPr>
              <a:t>次幂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power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en-US" altLang="zh-CN" sz="25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字母表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>
                <a:solidFill>
                  <a:srgbClr val="FF0000"/>
                </a:solidFill>
                <a:cs typeface="Times New Roman" panose="02020603050405020304" pitchFamily="18" charset="0"/>
              </a:rPr>
              <a:t>正闭包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positive closure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en-US" altLang="zh-CN" sz="25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字母表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>
                <a:solidFill>
                  <a:srgbClr val="FF0000"/>
                </a:solidFill>
                <a:cs typeface="Times New Roman" panose="02020603050405020304" pitchFamily="18" charset="0"/>
              </a:rPr>
              <a:t>克林闭包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Kleene closure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en-US" altLang="zh-CN" sz="25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2500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500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0 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+ 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0 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 ∪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2 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2500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3 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∪ …</a:t>
            </a:r>
          </a:p>
          <a:p>
            <a:pPr eaLnBrk="1" hangingPunct="1">
              <a:lnSpc>
                <a:spcPts val="3500"/>
              </a:lnSpc>
            </a:pPr>
            <a:endParaRPr lang="en-US" altLang="zh-CN" b="1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</a:pPr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4581" name="矩形 3"/>
          <p:cNvSpPr>
            <a:spLocks noChangeArrowheads="1"/>
          </p:cNvSpPr>
          <p:nvPr/>
        </p:nvSpPr>
        <p:spPr bwMode="auto">
          <a:xfrm>
            <a:off x="1214438" y="3143250"/>
            <a:ext cx="5000625" cy="12461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例：</a:t>
            </a:r>
            <a:r>
              <a:rPr kumimoji="0" lang="el-GR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{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a, b, c, d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}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= {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ε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a, b, c, d,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ac, ad,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ba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bb,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bc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bd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…,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aaa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aab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aac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aad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aba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abb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abc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…}</a:t>
            </a:r>
          </a:p>
        </p:txBody>
      </p:sp>
      <p:sp>
        <p:nvSpPr>
          <p:cNvPr id="5" name="矩形 4"/>
          <p:cNvSpPr/>
          <p:nvPr/>
        </p:nvSpPr>
        <p:spPr>
          <a:xfrm>
            <a:off x="279400" y="4529138"/>
            <a:ext cx="8578850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 (正文)"/>
                <a:ea typeface="楷体" pitchFamily="49" charset="-122"/>
                <a:cs typeface="Times New Roman" pitchFamily="18" charset="0"/>
              </a:rPr>
              <a:t>字母表的克林闭包：任意符号串（长度可以为零）构成的集合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 (正文)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字母表上的运算</a:t>
            </a:r>
          </a:p>
        </p:txBody>
      </p:sp>
      <p:grpSp>
        <p:nvGrpSpPr>
          <p:cNvPr id="2048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88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animBg="1"/>
      <p:bldP spid="24581" grpId="1" animBg="1"/>
      <p:bldP spid="5" grpId="0" animBg="1"/>
      <p:bldP spid="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428625" y="785813"/>
            <a:ext cx="8286750" cy="4786312"/>
          </a:xfrm>
        </p:spPr>
        <p:txBody>
          <a:bodyPr rtlCol="0">
            <a:noAutofit/>
          </a:bodyPr>
          <a:lstStyle/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设∑是一个字母表，</a:t>
            </a:r>
            <a:r>
              <a:rPr lang="en-US" altLang="zh-CN" sz="2700" b="1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sz="2700" b="1" i="1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∈</a:t>
            </a: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2700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7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称为是∑上的一个</a:t>
            </a:r>
            <a:r>
              <a:rPr lang="zh-CN" altLang="en-US" sz="2700" b="1" dirty="0">
                <a:solidFill>
                  <a:srgbClr val="FF0000"/>
                </a:solidFill>
                <a:cs typeface="Times New Roman" panose="02020603050405020304" pitchFamily="18" charset="0"/>
              </a:rPr>
              <a:t>串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串是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字母表中</a:t>
            </a:r>
            <a:r>
              <a:rPr lang="zh-CN" altLang="en-US" sz="2500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anose="02020603050405020304" pitchFamily="18" charset="0"/>
              </a:rPr>
              <a:t>符号的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一个</a:t>
            </a:r>
            <a:r>
              <a:rPr lang="zh-CN" altLang="en-US" sz="2500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anose="02020603050405020304" pitchFamily="18" charset="0"/>
              </a:rPr>
              <a:t>有穷序列</a:t>
            </a:r>
            <a:endParaRPr lang="en-US" altLang="zh-CN" sz="27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串</a:t>
            </a:r>
            <a:r>
              <a:rPr lang="en-US" altLang="zh-CN" sz="27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700" b="1" dirty="0">
                <a:solidFill>
                  <a:srgbClr val="FF0000"/>
                </a:solidFill>
                <a:cs typeface="Times New Roman" panose="02020603050405020304" pitchFamily="18" charset="0"/>
              </a:rPr>
              <a:t>长度</a:t>
            </a: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，通常记作</a:t>
            </a:r>
            <a:r>
              <a:rPr lang="en-US" altLang="zh-CN" sz="27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7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|</a:t>
            </a: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，是指</a:t>
            </a:r>
            <a:r>
              <a:rPr lang="en-US" altLang="zh-CN" sz="27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</a:t>
            </a:r>
            <a:r>
              <a:rPr lang="zh-CN" altLang="en-US" sz="27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符号的个数</a:t>
            </a:r>
            <a:endParaRPr lang="en-US" altLang="zh-CN" sz="27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 lvl="1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  <a:r>
              <a:rPr lang="en-US" altLang="zh-CN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|</a:t>
            </a:r>
            <a:r>
              <a:rPr lang="en-US" altLang="zh-CN" sz="27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aab</a:t>
            </a:r>
            <a:r>
              <a:rPr lang="en-US" altLang="zh-CN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|=3</a:t>
            </a:r>
          </a:p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700" b="1" dirty="0">
                <a:solidFill>
                  <a:srgbClr val="FF0000"/>
                </a:solidFill>
                <a:cs typeface="Times New Roman" panose="02020603050405020304" pitchFamily="18" charset="0"/>
              </a:rPr>
              <a:t>空串</a:t>
            </a: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lang="zh-CN" altLang="en-US" sz="27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长度为</a:t>
            </a:r>
            <a:r>
              <a:rPr lang="en-US" altLang="zh-CN" sz="27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0</a:t>
            </a:r>
            <a:r>
              <a:rPr lang="zh-CN" altLang="en-US" sz="27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的串</a:t>
            </a: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，用 </a:t>
            </a:r>
            <a:r>
              <a:rPr lang="en-US" altLang="zh-CN" sz="27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ε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epsilon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表示</a:t>
            </a:r>
            <a:endParaRPr lang="en-US" altLang="zh-CN" sz="27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 |</a:t>
            </a:r>
            <a:r>
              <a:rPr lang="en-US" altLang="zh-CN" sz="27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ε</a:t>
            </a:r>
            <a:r>
              <a:rPr lang="en-US" altLang="zh-CN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|= 0</a:t>
            </a:r>
            <a:endParaRPr lang="zh-CN" altLang="en-US" sz="27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标题 2"/>
          <p:cNvSpPr txBox="1">
            <a:spLocks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串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String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253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34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475" y="989013"/>
            <a:ext cx="8593138" cy="3225800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如果 </a:t>
            </a:r>
            <a:r>
              <a:rPr lang="en-US" altLang="zh-CN" sz="3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和</a:t>
            </a:r>
            <a:r>
              <a:rPr lang="en-US" altLang="zh-CN" sz="3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是串，那么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和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的</a:t>
            </a:r>
            <a:r>
              <a:rPr lang="zh-CN" altLang="en-US" sz="3000" b="1" dirty="0">
                <a:solidFill>
                  <a:srgbClr val="FF0000"/>
                </a:solidFill>
                <a:latin typeface="+mn-ea"/>
              </a:rPr>
              <a:t>连接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concatenation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  <a:p>
            <a:pPr eaLnBrk="1" hangingPunct="1">
              <a:buClrTx/>
              <a:buFont typeface="Symbol" panose="05050102010706020507" pitchFamily="18" charset="2"/>
              <a:buNone/>
              <a:defRPr/>
            </a:pPr>
            <a:r>
              <a:rPr lang="en-US" altLang="zh-CN" sz="3000" b="1" dirty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是把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附加到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后面而形成的串，记作</a:t>
            </a:r>
            <a:r>
              <a:rPr lang="en-US" altLang="zh-CN" sz="3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xy</a:t>
            </a:r>
            <a:endParaRPr lang="en-US" altLang="zh-CN" sz="30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 例如，如果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dog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且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house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，那么</a:t>
            </a:r>
            <a:r>
              <a:rPr lang="en-US" altLang="zh-CN" sz="2800" b="1" i="1" dirty="0" err="1">
                <a:solidFill>
                  <a:schemeClr val="tx1"/>
                </a:solidFill>
                <a:cs typeface="Times New Roman" pitchFamily="18" charset="0"/>
              </a:rPr>
              <a:t>xy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doghouse </a:t>
            </a: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空串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是连接运算的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单位元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identity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，即，对于任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buClrTx/>
              <a:buFont typeface="Symbol" panose="05050102010706020507" pitchFamily="18" charset="2"/>
              <a:buNone/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何串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都有，</a:t>
            </a:r>
            <a:r>
              <a:rPr lang="en-US" altLang="zh-CN" sz="28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εs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= </a:t>
            </a:r>
            <a:r>
              <a:rPr lang="en-US" altLang="zh-CN" sz="28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sε</a:t>
            </a:r>
            <a:r>
              <a:rPr lang="en-US" altLang="zh-CN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=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s</a:t>
            </a:r>
            <a:endParaRPr lang="en-US" altLang="zh-CN" sz="28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43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串上的运算</a:t>
            </a:r>
            <a:r>
              <a:rPr lang="en-US" altLang="zh-CN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连接</a:t>
            </a:r>
          </a:p>
        </p:txBody>
      </p:sp>
      <p:grpSp>
        <p:nvGrpSpPr>
          <p:cNvPr id="24580" name="组合 3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83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857375" y="3752850"/>
            <a:ext cx="5113338" cy="923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设</a:t>
            </a:r>
            <a:r>
              <a:rPr kumimoji="0" lang="en-US" altLang="zh-CN" sz="27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x,y,z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是三个字符串，如果 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x=</a:t>
            </a:r>
            <a:r>
              <a:rPr kumimoji="0" lang="en-US" altLang="zh-CN" sz="27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yz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，则称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y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前缀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z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后缀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09785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2913" y="846138"/>
            <a:ext cx="8772525" cy="3225800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串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的</a:t>
            </a:r>
            <a:r>
              <a:rPr lang="zh-CN" altLang="en-US" sz="3000" b="1" dirty="0">
                <a:solidFill>
                  <a:srgbClr val="FF0000"/>
                </a:solidFill>
                <a:latin typeface="+mn-ea"/>
              </a:rPr>
              <a:t>幂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运算</a:t>
            </a:r>
            <a:endParaRPr lang="en-US" altLang="zh-CN" sz="3000" b="1" dirty="0">
              <a:solidFill>
                <a:schemeClr val="tx1"/>
              </a:solidFill>
              <a:latin typeface="+mn-ea"/>
            </a:endParaRPr>
          </a:p>
          <a:p>
            <a:pPr marL="0" indent="0" eaLnBrk="1" hangingPunct="1">
              <a:buNone/>
              <a:defRPr/>
            </a:pPr>
            <a:r>
              <a:rPr lang="zh-CN" altLang="en-US" sz="3000" b="1" i="1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zh-CN" sz="3000" b="1" i="1" dirty="0" err="1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3000" b="1" i="1" baseline="30000" dirty="0" err="1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3000" b="1" i="1" baseline="30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= s</a:t>
            </a:r>
            <a:r>
              <a:rPr lang="en-US" altLang="zh-CN" sz="3000" b="1" i="1" baseline="30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3000" b="1" baseline="30000" dirty="0">
                <a:solidFill>
                  <a:schemeClr val="tx1"/>
                </a:solidFill>
                <a:cs typeface="Times New Roman" pitchFamily="18" charset="0"/>
              </a:rPr>
              <a:t>-1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en-US" sz="3000" b="1" i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n ≥</a:t>
            </a:r>
            <a:r>
              <a:rPr lang="en-US" altLang="zh-CN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1</a:t>
            </a:r>
            <a:endParaRPr lang="en-US" altLang="zh-CN" sz="3000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lvl="1" indent="0" eaLnBrk="1" hangingPunct="1">
              <a:buNone/>
              <a:defRPr/>
            </a:pP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        s</a:t>
            </a:r>
            <a:r>
              <a:rPr lang="en-US" altLang="zh-CN" sz="3000" b="1" baseline="30000" dirty="0">
                <a:solidFill>
                  <a:schemeClr val="tx1"/>
                </a:solidFill>
                <a:cs typeface="Times New Roman" pitchFamily="18" charset="0"/>
              </a:rPr>
              <a:t>0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= ε</a:t>
            </a:r>
            <a:endParaRPr lang="zh-CN" altLang="en-US" sz="30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3000" b="1" baseline="30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 = </a:t>
            </a:r>
            <a:r>
              <a:rPr kumimoji="1"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kumimoji="1" lang="en-US" altLang="zh-CN" sz="3000" b="1" baseline="30000" dirty="0">
                <a:solidFill>
                  <a:schemeClr val="tx1"/>
                </a:solidFill>
                <a:cs typeface="Times New Roman" pitchFamily="18" charset="0"/>
              </a:rPr>
              <a:t>0</a:t>
            </a:r>
            <a:r>
              <a:rPr kumimoji="1" lang="en-US" altLang="zh-CN" sz="3000" b="1" i="1" baseline="30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kumimoji="1" lang="en-US" altLang="zh-CN" sz="3000" b="1" i="1" baseline="30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l-GR" altLang="zh-CN" sz="3000" b="1" i="1" dirty="0">
                <a:solidFill>
                  <a:schemeClr val="tx1"/>
                </a:solidFill>
                <a:cs typeface="Times New Roman" pitchFamily="18" charset="0"/>
              </a:rPr>
              <a:t> ε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 = s</a:t>
            </a:r>
            <a:r>
              <a:rPr lang="zh-CN" altLang="en-US" sz="3000" b="1" i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3000" b="1" baseline="30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 = ss</a:t>
            </a:r>
            <a:r>
              <a:rPr lang="zh-CN" altLang="en-US" sz="3000" b="1" i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3000" b="1" baseline="30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 = </a:t>
            </a:r>
            <a:r>
              <a:rPr lang="en-US" altLang="zh-CN" sz="3000" b="1" i="1" dirty="0" err="1">
                <a:solidFill>
                  <a:schemeClr val="tx1"/>
                </a:solidFill>
                <a:cs typeface="Times New Roman" pitchFamily="18" charset="0"/>
              </a:rPr>
              <a:t>sss</a:t>
            </a:r>
            <a:r>
              <a:rPr lang="zh-CN" altLang="en-US" sz="3000" b="1" i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…</a:t>
            </a: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例：如果 </a:t>
            </a:r>
            <a:r>
              <a:rPr kumimoji="1"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 </a:t>
            </a:r>
            <a:r>
              <a:rPr kumimoji="1"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kumimoji="1" lang="en-US" altLang="zh-CN" sz="3000" b="1" i="1" dirty="0" err="1">
                <a:solidFill>
                  <a:schemeClr val="tx1"/>
                </a:solidFill>
                <a:cs typeface="Times New Roman" pitchFamily="18" charset="0"/>
              </a:rPr>
              <a:t>ba</a:t>
            </a:r>
            <a:r>
              <a:rPr kumimoji="1" lang="zh-CN" altLang="en-US" sz="30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kumimoji="1" lang="zh-CN" altLang="en-US" sz="3000" b="1" dirty="0">
                <a:solidFill>
                  <a:schemeClr val="tx1"/>
                </a:solidFill>
                <a:latin typeface="+mn-ea"/>
                <a:cs typeface="楷体_GB2312"/>
              </a:rPr>
              <a:t>那么</a:t>
            </a:r>
            <a:r>
              <a:rPr kumimoji="1"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kumimoji="1" lang="en-US" altLang="zh-CN" sz="3000" b="1" baseline="30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kumimoji="1"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= </a:t>
            </a:r>
            <a:r>
              <a:rPr kumimoji="1" lang="en-US" altLang="zh-CN" sz="3000" b="1" i="1" dirty="0" err="1">
                <a:solidFill>
                  <a:schemeClr val="tx1"/>
                </a:solidFill>
                <a:cs typeface="Times New Roman" pitchFamily="18" charset="0"/>
              </a:rPr>
              <a:t>ba</a:t>
            </a:r>
            <a:r>
              <a:rPr kumimoji="1" lang="zh-CN" altLang="en-US" sz="3000" b="1" dirty="0">
                <a:solidFill>
                  <a:schemeClr val="tx1"/>
                </a:solidFill>
                <a:latin typeface="+mn-ea"/>
                <a:cs typeface="楷体_GB2312"/>
              </a:rPr>
              <a:t>，</a:t>
            </a:r>
            <a:r>
              <a:rPr kumimoji="1"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kumimoji="1" lang="en-US" altLang="zh-CN" sz="3000" b="1" baseline="30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kumimoji="1"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kumimoji="1" lang="en-US" altLang="zh-CN" sz="3000" b="1" i="1" dirty="0" err="1">
                <a:solidFill>
                  <a:schemeClr val="tx1"/>
                </a:solidFill>
                <a:cs typeface="Times New Roman" pitchFamily="18" charset="0"/>
              </a:rPr>
              <a:t>baba</a:t>
            </a:r>
            <a:r>
              <a:rPr kumimoji="1" lang="zh-CN" altLang="en-US" sz="30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kumimoji="1" lang="zh-CN" altLang="en-US" sz="3000" b="1" dirty="0">
                <a:solidFill>
                  <a:schemeClr val="tx1"/>
                </a:solidFill>
                <a:latin typeface="+mn-ea"/>
                <a:cs typeface="楷体_GB2312"/>
              </a:rPr>
              <a:t>          </a:t>
            </a:r>
            <a:r>
              <a:rPr kumimoji="1"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kumimoji="1" lang="en-US" altLang="zh-CN" sz="3000" b="1" baseline="30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kumimoji="1"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kumimoji="1" lang="en-US" altLang="zh-CN" sz="3000" b="1" i="1" dirty="0" err="1">
                <a:solidFill>
                  <a:schemeClr val="tx1"/>
                </a:solidFill>
                <a:cs typeface="Times New Roman" pitchFamily="18" charset="0"/>
              </a:rPr>
              <a:t>bababa</a:t>
            </a:r>
            <a:r>
              <a:rPr kumimoji="1" lang="zh-CN" altLang="en-US" sz="30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kumimoji="1" lang="en-US" altLang="zh-CN" sz="3000" b="1" dirty="0">
                <a:solidFill>
                  <a:schemeClr val="tx1"/>
                </a:solidFill>
                <a:latin typeface="+mn-ea"/>
                <a:cs typeface="楷体_GB2312"/>
              </a:rPr>
              <a:t>…</a:t>
            </a:r>
          </a:p>
          <a:p>
            <a:pPr lvl="1" eaLnBrk="1" hangingPunct="1">
              <a:defRPr/>
            </a:pPr>
            <a:endParaRPr lang="zh-CN" altLang="en-US" sz="1800" dirty="0"/>
          </a:p>
        </p:txBody>
      </p:sp>
      <p:sp>
        <p:nvSpPr>
          <p:cNvPr id="153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串上的运算</a:t>
            </a:r>
            <a:r>
              <a:rPr lang="en-US" altLang="zh-CN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幂</a:t>
            </a:r>
          </a:p>
        </p:txBody>
      </p:sp>
      <p:sp>
        <p:nvSpPr>
          <p:cNvPr id="4" name="左大括号 3"/>
          <p:cNvSpPr/>
          <p:nvPr/>
        </p:nvSpPr>
        <p:spPr>
          <a:xfrm>
            <a:off x="1071563" y="1709738"/>
            <a:ext cx="142875" cy="576262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14425" y="4238625"/>
            <a:ext cx="4321175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串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次幂：将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连接起来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6630" name="组合 6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32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43930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714375" y="785813"/>
            <a:ext cx="8343900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句子  名词短语 动词短语</a:t>
            </a:r>
            <a:endParaRPr kumimoji="1"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名词短语  形容词 名词短语                  </a:t>
            </a:r>
            <a:endParaRPr kumimoji="1"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名词短语  名词                  </a:t>
            </a:r>
            <a:endParaRPr kumimoji="1"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动词短语  动词 名词短语</a:t>
            </a:r>
            <a:endParaRPr kumimoji="1"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</a:t>
            </a:r>
            <a:r>
              <a:rPr kumimoji="1"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形容词  </a:t>
            </a:r>
            <a:r>
              <a:rPr kumimoji="1" lang="en-US" altLang="zh-CN" sz="25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little</a:t>
            </a:r>
          </a:p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名词  </a:t>
            </a:r>
            <a:r>
              <a:rPr kumimoji="1" lang="en-US" altLang="zh-CN" sz="25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boy   </a:t>
            </a:r>
          </a:p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</a:t>
            </a:r>
            <a:r>
              <a:rPr kumimoji="1"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名词  </a:t>
            </a:r>
            <a:r>
              <a:rPr kumimoji="1" lang="en-US" altLang="zh-CN" sz="25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apple</a:t>
            </a:r>
            <a:r>
              <a:rPr kumimoji="1" lang="zh-CN" altLang="en-US" sz="25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endParaRPr kumimoji="1" lang="en-US" altLang="zh-CN" sz="2500" b="1" i="1" dirty="0">
              <a:solidFill>
                <a:schemeClr val="tx1"/>
              </a:solidFill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动词  </a:t>
            </a:r>
            <a:r>
              <a:rPr kumimoji="1" lang="en-US" altLang="zh-CN" sz="25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eat</a:t>
            </a:r>
          </a:p>
        </p:txBody>
      </p:sp>
      <p:sp>
        <p:nvSpPr>
          <p:cNvPr id="20483" name="标题 1"/>
          <p:cNvSpPr>
            <a:spLocks noGrp="1"/>
          </p:cNvSpPr>
          <p:nvPr>
            <p:ph type="title"/>
          </p:nvPr>
        </p:nvSpPr>
        <p:spPr>
          <a:xfrm>
            <a:off x="755650" y="4841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自然语言的例子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句子的构成规则</a:t>
            </a:r>
          </a:p>
        </p:txBody>
      </p:sp>
      <p:sp>
        <p:nvSpPr>
          <p:cNvPr id="3" name="线形标注 2 2"/>
          <p:cNvSpPr/>
          <p:nvPr/>
        </p:nvSpPr>
        <p:spPr>
          <a:xfrm>
            <a:off x="4057650" y="3444875"/>
            <a:ext cx="4156075" cy="8413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1012"/>
              <a:gd name="adj6" fmla="val -22264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未用尖括号括起来部分表示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语言的基本符号</a:t>
            </a:r>
          </a:p>
        </p:txBody>
      </p:sp>
      <p:sp>
        <p:nvSpPr>
          <p:cNvPr id="8" name="线形标注 2 7"/>
          <p:cNvSpPr/>
          <p:nvPr/>
        </p:nvSpPr>
        <p:spPr>
          <a:xfrm>
            <a:off x="3541713" y="4500563"/>
            <a:ext cx="4659312" cy="500062"/>
          </a:xfrm>
          <a:prstGeom prst="borderCallout2">
            <a:avLst>
              <a:gd name="adj1" fmla="val 100022"/>
              <a:gd name="adj2" fmla="val -2609"/>
              <a:gd name="adj3" fmla="val 100022"/>
              <a:gd name="adj4" fmla="val -36837"/>
              <a:gd name="adj5" fmla="val 69407"/>
              <a:gd name="adj6" fmla="val -4092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尖括号括起来部分称为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语法成分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28678" name="组合 6"/>
          <p:cNvGrpSpPr>
            <a:grpSpLocks/>
          </p:cNvGrpSpPr>
          <p:nvPr/>
        </p:nvGrpSpPr>
        <p:grpSpPr bwMode="auto">
          <a:xfrm>
            <a:off x="11113" y="484188"/>
            <a:ext cx="703262" cy="301625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81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79388" y="50800"/>
            <a:ext cx="79311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2.2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文法的定义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6019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573088" y="1643063"/>
            <a:ext cx="7815262" cy="3225800"/>
          </a:xfrm>
        </p:spPr>
        <p:txBody>
          <a:bodyPr rtlCol="0">
            <a:normAutofit/>
          </a:bodyPr>
          <a:lstStyle/>
          <a:p>
            <a:pPr marL="457200" lvl="1" indent="0" algn="just" eaLnBrk="1" fontAlgn="auto" hangingPunct="1">
              <a:lnSpc>
                <a:spcPct val="120000"/>
              </a:lnSpc>
              <a:spcAft>
                <a:spcPts val="0"/>
              </a:spcAft>
              <a:buClr>
                <a:srgbClr val="31B6FD"/>
              </a:buClr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rgbClr val="FF0000"/>
                </a:solidFill>
                <a:latin typeface="+mn-ea"/>
              </a:rPr>
              <a:t>终结符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terminal symbol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）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是文法所定义的语言的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基本符号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，有时也称为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token</a:t>
            </a:r>
          </a:p>
          <a:p>
            <a:pPr lvl="1" indent="-274320" algn="just" eaLnBrk="1" fontAlgn="auto" hangingPunct="1">
              <a:lnSpc>
                <a:spcPct val="120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</a:rPr>
              <a:t>: 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kumimoji="1" lang="en-US" altLang="zh-CN" sz="2400" b="1" i="1" baseline="-25000" dirty="0">
                <a:solidFill>
                  <a:schemeClr val="tx1"/>
                </a:solidFill>
                <a:cs typeface="Times New Roman" pitchFamily="18" charset="0"/>
              </a:rPr>
              <a:t>T 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= </a:t>
            </a:r>
            <a:r>
              <a:rPr kumimoji="1" lang="en-US" altLang="zh-CN" sz="2400" b="1" dirty="0">
                <a:solidFill>
                  <a:schemeClr val="tx1"/>
                </a:solidFill>
                <a:cs typeface="Times New Roman" pitchFamily="18" charset="0"/>
              </a:rPr>
              <a:t>{ 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apple, boy, eat, 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little</a:t>
            </a:r>
            <a:r>
              <a:rPr kumimoji="1" lang="en-US" altLang="zh-CN" sz="24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}</a:t>
            </a:r>
          </a:p>
          <a:p>
            <a:pPr lvl="1" indent="-274320" algn="just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zh-CN" altLang="en-US" sz="2500" dirty="0">
              <a:latin typeface="+mn-ea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(Grammer)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的形式化定义</a:t>
            </a:r>
          </a:p>
        </p:txBody>
      </p:sp>
      <p:grpSp>
        <p:nvGrpSpPr>
          <p:cNvPr id="30724" name="组合 6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27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12763" y="727075"/>
            <a:ext cx="7986712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	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=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终结符集合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54424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2071688"/>
            <a:ext cx="7643813" cy="3225800"/>
          </a:xfrm>
        </p:spPr>
        <p:txBody>
          <a:bodyPr rtlCol="0">
            <a:normAutofit/>
          </a:bodyPr>
          <a:lstStyle/>
          <a:p>
            <a:pPr marL="457200" lvl="1" indent="0" eaLnBrk="1" fontAlgn="auto" hangingPunct="1">
              <a:lnSpc>
                <a:spcPct val="12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kumimoji="1" lang="zh-CN" altLang="en-US" sz="2500" b="1" dirty="0">
                <a:solidFill>
                  <a:srgbClr val="FF0000"/>
                </a:solidFill>
                <a:latin typeface="楷体" pitchFamily="49" charset="-122"/>
              </a:rPr>
              <a:t>非终结符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</a:rPr>
              <a:t>nontermina</a:t>
            </a:r>
            <a:r>
              <a:rPr lang="en-US" altLang="zh-CN" sz="2000" b="1" i="1" spc="300" dirty="0" err="1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en-US" altLang="zh-CN" sz="2000" b="1" spc="300" dirty="0">
                <a:solidFill>
                  <a:schemeClr val="tx1"/>
                </a:solidFill>
              </a:rPr>
              <a:t>)</a:t>
            </a:r>
            <a:r>
              <a:rPr lang="zh-CN" altLang="en-US" sz="2500" b="1" spc="300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</a:rPr>
              <a:t>是用来表示语法成分的符号</a:t>
            </a:r>
            <a:r>
              <a:rPr kumimoji="1" lang="zh-CN" altLang="en-US" sz="2400" b="1" dirty="0">
                <a:solidFill>
                  <a:schemeClr val="tx1"/>
                </a:solidFill>
                <a:latin typeface="楷体" pitchFamily="49" charset="-122"/>
              </a:rPr>
              <a:t>例</a:t>
            </a:r>
            <a:r>
              <a:rPr kumimoji="1" lang="en-US" altLang="zh-CN" sz="2400" b="1" dirty="0">
                <a:solidFill>
                  <a:schemeClr val="tx1"/>
                </a:solidFill>
                <a:latin typeface="楷体" pitchFamily="49" charset="-122"/>
              </a:rPr>
              <a:t>: </a:t>
            </a:r>
            <a:r>
              <a:rPr kumimoji="1" lang="en-US" altLang="zh-CN" sz="2400" b="1" i="1" dirty="0">
                <a:solidFill>
                  <a:schemeClr val="tx1"/>
                </a:solidFill>
                <a:ea typeface="楷体_GB2312" pitchFamily="49" charset="-122"/>
              </a:rPr>
              <a:t>V</a:t>
            </a:r>
            <a:r>
              <a:rPr kumimoji="1" lang="en-US" altLang="zh-CN" sz="2400" b="1" i="1" baseline="-25000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kumimoji="1" lang="en-US" altLang="zh-CN" sz="2400" b="1" baseline="-25000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= { </a:t>
            </a:r>
            <a:r>
              <a:rPr kumimoji="1" lang="zh-CN" altLang="en-US" sz="24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</a:t>
            </a:r>
            <a:r>
              <a:rPr kumimoji="1" lang="zh-CN" altLang="en-US" sz="2400" b="1" dirty="0">
                <a:solidFill>
                  <a:schemeClr val="tx1"/>
                </a:solidFill>
                <a:sym typeface="Symbol" pitchFamily="18" charset="2"/>
              </a:rPr>
              <a:t>句子</a:t>
            </a:r>
            <a:r>
              <a:rPr kumimoji="1" lang="zh-CN" altLang="en-US" sz="24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</a:t>
            </a:r>
            <a:r>
              <a:rPr kumimoji="1" lang="en-US" altLang="zh-CN" sz="24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, </a:t>
            </a:r>
            <a:r>
              <a:rPr kumimoji="1" lang="zh-CN" altLang="en-US" sz="24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 </a:t>
            </a:r>
            <a:r>
              <a:rPr kumimoji="1" lang="zh-CN" altLang="en-US" sz="2400" b="1" dirty="0">
                <a:solidFill>
                  <a:schemeClr val="tx1"/>
                </a:solidFill>
                <a:sym typeface="Symbol" pitchFamily="18" charset="2"/>
              </a:rPr>
              <a:t>名词短语</a:t>
            </a:r>
            <a:r>
              <a:rPr kumimoji="1" lang="zh-CN" altLang="en-US" sz="24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</a:t>
            </a:r>
            <a:r>
              <a:rPr kumimoji="1" lang="en-US" altLang="zh-CN" sz="24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zh-CN" altLang="en-US" sz="24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  </a:t>
            </a:r>
            <a:r>
              <a:rPr kumimoji="1" lang="zh-CN" altLang="en-US" sz="2400" b="1" dirty="0">
                <a:solidFill>
                  <a:schemeClr val="tx1"/>
                </a:solidFill>
                <a:sym typeface="Symbol" pitchFamily="18" charset="2"/>
              </a:rPr>
              <a:t>动词短语</a:t>
            </a:r>
            <a:r>
              <a:rPr kumimoji="1" lang="zh-CN" altLang="en-US" sz="24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</a:t>
            </a:r>
            <a:r>
              <a:rPr kumimoji="1" lang="en-US" altLang="zh-CN" sz="24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zh-CN" altLang="en-US" sz="24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  </a:t>
            </a:r>
            <a:r>
              <a:rPr kumimoji="1" lang="zh-CN" altLang="en-US" sz="2400" b="1" dirty="0">
                <a:solidFill>
                  <a:schemeClr val="tx1"/>
                </a:solidFill>
                <a:sym typeface="Symbol" pitchFamily="18" charset="2"/>
              </a:rPr>
              <a:t>名词</a:t>
            </a:r>
            <a:r>
              <a:rPr kumimoji="1" lang="zh-CN" altLang="en-US" sz="24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</a:t>
            </a:r>
            <a:r>
              <a:rPr kumimoji="1" lang="en-US" altLang="zh-CN" sz="24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, … </a:t>
            </a:r>
            <a:r>
              <a:rPr kumimoji="1" lang="zh-CN" altLang="en-US" sz="24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}</a:t>
            </a:r>
          </a:p>
          <a:p>
            <a:pPr marL="274320" indent="-274320" algn="just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800" dirty="0">
              <a:ea typeface="楷体_GB2312" pitchFamily="49" charset="-122"/>
            </a:endParaRPr>
          </a:p>
          <a:p>
            <a:pPr lvl="1" indent="-274320" algn="just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zh-CN" altLang="en-US" sz="1600" dirty="0">
              <a:ea typeface="楷体_GB2312" pitchFamily="49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14350" y="725488"/>
            <a:ext cx="7986713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	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=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终结符集合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非终结符集合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文法的形式化定义</a:t>
            </a:r>
          </a:p>
        </p:txBody>
      </p:sp>
      <p:grpSp>
        <p:nvGrpSpPr>
          <p:cNvPr id="32773" name="组合 6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75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7446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3786188"/>
            <a:ext cx="8535988" cy="1450975"/>
          </a:xfrm>
        </p:spPr>
        <p:txBody>
          <a:bodyPr/>
          <a:lstStyle/>
          <a:p>
            <a:pPr lvl="2" algn="just" eaLnBrk="1" hangingPunct="1">
              <a:lnSpc>
                <a:spcPct val="120000"/>
              </a:lnSpc>
              <a:buClrTx/>
              <a:buFont typeface="Wingdings" pitchFamily="2" charset="2"/>
              <a:buChar char="Ø"/>
              <a:defRPr/>
            </a:pPr>
            <a:r>
              <a:rPr lang="el-GR" altLang="zh-CN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el-GR" altLang="zh-CN" b="1" dirty="0">
                <a:solidFill>
                  <a:schemeClr val="tx1"/>
                </a:solidFill>
                <a:cs typeface="Times New Roman" pitchFamily="18" charset="0"/>
              </a:rPr>
              <a:t>∈(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itchFamily="18" charset="0"/>
              </a:rPr>
              <a:t>+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，且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中至少包含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中的一个元素：称为产生式的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头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itchFamily="18" charset="0"/>
              </a:rPr>
              <a:t>hea</a:t>
            </a:r>
            <a:r>
              <a:rPr lang="en-US" altLang="zh-CN" sz="1600" b="1" i="1" spc="300" dirty="0">
                <a:solidFill>
                  <a:schemeClr val="tx1"/>
                </a:solidFill>
                <a:cs typeface="Times New Roman" pitchFamily="18" charset="0"/>
              </a:rPr>
              <a:t>d</a:t>
            </a:r>
            <a:r>
              <a:rPr lang="en-US" altLang="zh-CN" sz="1600" b="1" spc="300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左部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itchFamily="18" charset="0"/>
              </a:rPr>
              <a:t>left side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sz="16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2" algn="just" eaLnBrk="1" hangingPunct="1">
              <a:lnSpc>
                <a:spcPct val="120000"/>
              </a:lnSpc>
              <a:buClrTx/>
              <a:buFont typeface="Wingdings" pitchFamily="2" charset="2"/>
              <a:buChar char="Ø"/>
              <a:defRPr/>
            </a:pPr>
            <a:r>
              <a:rPr lang="el-GR" altLang="zh-CN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el-GR" altLang="zh-CN" b="1" dirty="0">
                <a:solidFill>
                  <a:schemeClr val="tx1"/>
                </a:solidFill>
                <a:cs typeface="Times New Roman" pitchFamily="18" charset="0"/>
              </a:rPr>
              <a:t>∈(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itchFamily="18" charset="0"/>
              </a:rPr>
              <a:t>*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：称为产生式的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体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itchFamily="18" charset="0"/>
              </a:rPr>
              <a:t>body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右部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itchFamily="18" charset="0"/>
              </a:rPr>
              <a:t>right side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sz="16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28625" y="2500313"/>
            <a:ext cx="8429625" cy="179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 fontScale="70000" lnSpcReduction="20000"/>
          </a:bodyPr>
          <a:lstStyle/>
          <a:p>
            <a:pPr marL="274320" marR="0" lvl="0" indent="-274320" algn="just" defTabSz="914400" rtl="0" eaLnBrk="1" fontAlgn="auto" latinLnBrk="0" hangingPunct="1">
              <a:lnSpc>
                <a:spcPts val="25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3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</a:t>
            </a:r>
            <a:r>
              <a:rPr kumimoji="1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产生式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( </a:t>
            </a:r>
            <a:r>
              <a:rPr kumimoji="0" lang="en-US" altLang="zh-CN" sz="3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production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)</a:t>
            </a: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就是文法规则</a:t>
            </a:r>
            <a:endParaRPr kumimoji="1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4320" marR="0" lvl="0" indent="-274320" algn="just" defTabSz="914400" rtl="0" eaLnBrk="1" fontAlgn="auto" latinLnBrk="0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 </a:t>
            </a:r>
            <a:r>
              <a:rPr kumimoji="1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产生式的一般形式：</a:t>
            </a:r>
            <a:endParaRPr kumimoji="1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4320" marR="0" lvl="0" indent="-274320" algn="just" defTabSz="914400" rtl="0" eaLnBrk="1" fontAlgn="auto" latinLnBrk="0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				α→β</a:t>
            </a:r>
            <a:endParaRPr kumimoji="1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4320" marR="0" lvl="0" indent="-274320" algn="just" defTabSz="914400" rtl="0" eaLnBrk="1" fontAlgn="auto" latinLnBrk="0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 </a:t>
            </a:r>
            <a:r>
              <a:rPr kumimoji="1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读作：</a:t>
            </a:r>
            <a:r>
              <a:rPr kumimoji="1" lang="en-US" altLang="zh-CN" sz="3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α</a:t>
            </a:r>
            <a:r>
              <a:rPr kumimoji="1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定义为</a:t>
            </a:r>
            <a:r>
              <a:rPr kumimoji="1" lang="en-US" altLang="zh-CN" sz="3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β</a:t>
            </a:r>
            <a:endParaRPr kumimoji="0" lang="en-US" altLang="zh-CN" sz="3100" b="1" i="1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14350" y="725488"/>
            <a:ext cx="7986713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	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=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终结符集合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非终结符集合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产生式集合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9" name="矩形 9"/>
          <p:cNvSpPr>
            <a:spLocks noChangeArrowheads="1"/>
          </p:cNvSpPr>
          <p:nvPr/>
        </p:nvSpPr>
        <p:spPr bwMode="auto">
          <a:xfrm>
            <a:off x="3563938" y="1231900"/>
            <a:ext cx="1787525" cy="514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∩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N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=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Φ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文法的形式化定义</a:t>
            </a:r>
          </a:p>
        </p:txBody>
      </p:sp>
      <p:grpSp>
        <p:nvGrpSpPr>
          <p:cNvPr id="34823" name="组合 6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826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562350" y="1852613"/>
            <a:ext cx="3170238" cy="5540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∪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N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：文法符号集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67413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3" grpId="0" animBg="1"/>
      <p:bldP spid="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2500313"/>
            <a:ext cx="8429625" cy="3225800"/>
          </a:xfrm>
        </p:spPr>
        <p:txBody>
          <a:bodyPr rtlCol="0">
            <a:normAutofit/>
          </a:bodyPr>
          <a:lstStyle/>
          <a:p>
            <a:pPr marL="274320" indent="-274320" algn="just" eaLnBrk="1" fontAlgn="auto" hangingPunct="1">
              <a:lnSpc>
                <a:spcPts val="2500"/>
              </a:lnSpc>
              <a:spcAft>
                <a:spcPts val="0"/>
              </a:spcAft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	</a:t>
            </a:r>
            <a:r>
              <a:rPr kumimoji="1" lang="zh-CN" altLang="en-US" sz="22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产生式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</a:rPr>
              <a:t>( 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itchFamily="18" charset="0"/>
              </a:rPr>
              <a:t>production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1" lang="zh-CN" altLang="en-US" sz="2200" b="1" dirty="0">
                <a:solidFill>
                  <a:schemeClr val="tx1"/>
                </a:solidFill>
                <a:latin typeface="+mn-ea"/>
              </a:rPr>
              <a:t>就是文法规则</a:t>
            </a:r>
            <a:endParaRPr kumimoji="1" lang="en-US" altLang="zh-CN" sz="2200" b="1" dirty="0">
              <a:solidFill>
                <a:schemeClr val="tx1"/>
              </a:solidFill>
              <a:latin typeface="+mn-ea"/>
            </a:endParaRPr>
          </a:p>
          <a:p>
            <a:pPr marL="274320" indent="-274320" algn="just" eaLnBrk="1" fontAlgn="auto" hangingPunct="1">
              <a:lnSpc>
                <a:spcPts val="2000"/>
              </a:lnSpc>
              <a:spcAft>
                <a:spcPts val="0"/>
              </a:spcAft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kumimoji="1" lang="en-US" altLang="zh-CN" sz="2200" b="1" dirty="0">
                <a:solidFill>
                  <a:schemeClr val="tx1"/>
                </a:solidFill>
                <a:latin typeface="+mn-ea"/>
              </a:rPr>
              <a:t>    </a:t>
            </a:r>
            <a:r>
              <a:rPr kumimoji="1" lang="zh-CN" altLang="en-US" sz="2200" b="1" dirty="0">
                <a:solidFill>
                  <a:schemeClr val="tx1"/>
                </a:solidFill>
                <a:latin typeface="+mn-ea"/>
              </a:rPr>
              <a:t>产生式的一般形式：</a:t>
            </a:r>
            <a:endParaRPr kumimoji="1" lang="en-US" altLang="zh-CN" sz="2200" b="1" dirty="0">
              <a:solidFill>
                <a:schemeClr val="tx1"/>
              </a:solidFill>
              <a:latin typeface="+mn-ea"/>
            </a:endParaRPr>
          </a:p>
          <a:p>
            <a:pPr marL="274320" indent="-274320" algn="just" eaLnBrk="1" fontAlgn="auto" hangingPunct="1">
              <a:lnSpc>
                <a:spcPts val="2000"/>
              </a:lnSpc>
              <a:spcAft>
                <a:spcPts val="0"/>
              </a:spcAft>
              <a:buClr>
                <a:srgbClr val="3333CC"/>
              </a:buClr>
              <a:buFont typeface="Symbol" panose="05050102010706020507" pitchFamily="18" charset="2"/>
              <a:buNone/>
              <a:defRPr/>
            </a:pPr>
            <a:r>
              <a:rPr lang="en-US" altLang="zh-CN" sz="2500" b="1" i="1" dirty="0">
                <a:solidFill>
                  <a:prstClr val="black"/>
                </a:solidFill>
                <a:cs typeface="Times New Roman" pitchFamily="18" charset="0"/>
              </a:rPr>
              <a:t>				α→β</a:t>
            </a:r>
            <a:endParaRPr kumimoji="1" lang="en-US" altLang="zh-CN" sz="2200" b="1" dirty="0">
              <a:solidFill>
                <a:prstClr val="black"/>
              </a:solidFill>
              <a:latin typeface="华文楷体" panose="02010600040101010101" pitchFamily="2" charset="-122"/>
            </a:endParaRP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kumimoji="1" lang="zh-CN" altLang="en-US" b="1" dirty="0">
                <a:solidFill>
                  <a:schemeClr val="tx1"/>
                </a:solidFill>
                <a:latin typeface="+mn-ea"/>
              </a:rPr>
              <a:t>例：</a:t>
            </a:r>
            <a:r>
              <a:rPr kumimoji="1" lang="en-US" altLang="zh-CN" b="1" dirty="0">
                <a:solidFill>
                  <a:schemeClr val="tx1"/>
                </a:solidFill>
                <a:latin typeface="+mn-ea"/>
                <a:cs typeface="楷体_GB2312"/>
              </a:rPr>
              <a:t>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 = </a:t>
            </a:r>
            <a:r>
              <a:rPr kumimoji="1" lang="en-US" altLang="zh-CN" b="1" dirty="0">
                <a:solidFill>
                  <a:schemeClr val="tx1"/>
                </a:solidFill>
                <a:latin typeface="+mn-ea"/>
                <a:cs typeface="楷体_GB2312"/>
              </a:rPr>
              <a:t>   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cs typeface="楷体_GB2312"/>
                <a:sym typeface="Symbol" panose="05050102010706020507" pitchFamily="18" charset="2"/>
              </a:rPr>
              <a:t>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句子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cs typeface="楷体_GB2312"/>
                <a:sym typeface="Symbol" panose="05050102010706020507" pitchFamily="18" charset="2"/>
              </a:rPr>
              <a:t>  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名词短语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cs typeface="楷体_GB2312"/>
                <a:sym typeface="Symbol" panose="05050102010706020507" pitchFamily="18" charset="2"/>
              </a:rPr>
              <a:t> 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动词短</a:t>
            </a:r>
            <a:r>
              <a:rPr kumimoji="1" lang="en-US" altLang="zh-CN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,                                      </a:t>
            </a: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                      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名词短语 形容词 名词短语，</a:t>
            </a:r>
            <a:endParaRPr kumimoji="1" lang="en-US" altLang="zh-CN" b="1" dirty="0">
              <a:solidFill>
                <a:schemeClr val="tx1"/>
              </a:solidFill>
              <a:latin typeface="+mn-ea"/>
              <a:sym typeface="Symbol" panose="05050102010706020507" pitchFamily="18" charset="2"/>
            </a:endParaRP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                                   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…                                         </a:t>
            </a:r>
            <a:endParaRPr kumimoji="1" lang="en-US" altLang="zh-CN" b="1" dirty="0">
              <a:solidFill>
                <a:schemeClr val="tx1"/>
              </a:solidFill>
              <a:latin typeface="+mn-ea"/>
            </a:endParaRPr>
          </a:p>
          <a:p>
            <a:pPr marL="457200" lvl="1" indent="0" algn="just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zh-CN" altLang="en-US" sz="25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14350" y="725488"/>
            <a:ext cx="7986713" cy="184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	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=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终结符集合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非终结符集合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产生式集合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文法的形式化定义</a:t>
            </a:r>
          </a:p>
        </p:txBody>
      </p:sp>
      <p:grpSp>
        <p:nvGrpSpPr>
          <p:cNvPr id="36869" name="组合 6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0" name="五边形 9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72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双大括号 1"/>
          <p:cNvSpPr/>
          <p:nvPr/>
        </p:nvSpPr>
        <p:spPr>
          <a:xfrm>
            <a:off x="2339975" y="3724275"/>
            <a:ext cx="4895850" cy="1008063"/>
          </a:xfrm>
          <a:prstGeom prst="bracePair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324381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3000375"/>
            <a:ext cx="8358188" cy="3225800"/>
          </a:xfrm>
        </p:spPr>
        <p:txBody>
          <a:bodyPr/>
          <a:lstStyle/>
          <a:p>
            <a:pPr marL="457200" lvl="1" indent="0" algn="just" eaLnBrk="1" hangingPunct="1">
              <a:lnSpc>
                <a:spcPct val="1200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∈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kumimoji="1"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。</a:t>
            </a:r>
            <a:r>
              <a:rPr kumimoji="1" lang="zh-CN" altLang="en-US" sz="2500" b="1" dirty="0">
                <a:solidFill>
                  <a:srgbClr val="FF0000"/>
                </a:solidFill>
                <a:latin typeface="+mn-ea"/>
              </a:rPr>
              <a:t>开始符号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start symbo</a:t>
            </a:r>
            <a:r>
              <a:rPr lang="en-US" altLang="zh-CN" sz="2000" b="1" i="1" spc="300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sz="2000" b="1" spc="300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1" lang="zh-CN" altLang="en-US" sz="2500" b="1" dirty="0">
                <a:solidFill>
                  <a:schemeClr val="tx1"/>
                </a:solidFill>
                <a:latin typeface="+mn-ea"/>
              </a:rPr>
              <a:t>表示的是该文法中最大的语法成分</a:t>
            </a:r>
            <a:endParaRPr lang="en-US" altLang="zh-CN" sz="2500" b="1" i="1" dirty="0">
              <a:solidFill>
                <a:schemeClr val="tx1"/>
              </a:solidFill>
              <a:latin typeface="+mn-ea"/>
              <a:cs typeface="楷体_GB2312"/>
            </a:endParaRPr>
          </a:p>
          <a:p>
            <a:pPr marL="457200" lvl="1" indent="0" algn="just" eaLnBrk="1" hangingPunct="1">
              <a:lnSpc>
                <a:spcPct val="120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例：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S =</a:t>
            </a:r>
            <a:r>
              <a:rPr kumimoji="1" lang="zh-CN" altLang="en-US" sz="25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 句子 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marL="457200" lvl="1" indent="0" algn="just" eaLnBrk="1" hangingPunct="1">
              <a:lnSpc>
                <a:spcPct val="120000"/>
              </a:lnSpc>
              <a:defRPr/>
            </a:pPr>
            <a:endParaRPr lang="zh-CN" altLang="en-US" sz="1600" dirty="0">
              <a:ea typeface="楷体_GB2312"/>
              <a:cs typeface="楷体_GB231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514350" y="725488"/>
            <a:ext cx="7986713" cy="263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	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=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终结符集合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非终结符集合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产生式集合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开始符号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576263" marR="0" lvl="1" indent="-2730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itchFamily="18" charset="2"/>
              <a:buNone/>
              <a:tabLst/>
              <a:defRPr/>
            </a:pPr>
            <a:endParaRPr kumimoji="0" lang="zh-CN" altLang="en-US" sz="25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文法的形式化定义</a:t>
            </a:r>
          </a:p>
        </p:txBody>
      </p:sp>
      <p:grpSp>
        <p:nvGrpSpPr>
          <p:cNvPr id="38917" name="组合 6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19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46743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396875" y="755650"/>
            <a:ext cx="7986713" cy="4632325"/>
          </a:xfrm>
        </p:spPr>
        <p:txBody>
          <a:bodyPr/>
          <a:lstStyle/>
          <a:p>
            <a:pPr algn="just" eaLnBrk="1" hangingPunct="1">
              <a:lnSpc>
                <a:spcPts val="30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zh-CN" altLang="en-US" dirty="0">
                <a:solidFill>
                  <a:srgbClr val="000000"/>
                </a:solidFill>
                <a:ea typeface="楷体_GB2312"/>
                <a:cs typeface="Times New Roman" pitchFamily="18" charset="0"/>
              </a:rPr>
              <a:t>	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 =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,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,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S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Times New Roman" pitchFamily="18" charset="0"/>
              </a:rPr>
              <a:t>T 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：</a:t>
            </a:r>
            <a:r>
              <a:rPr kumimoji="1"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终结符集合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：</a:t>
            </a:r>
            <a:r>
              <a:rPr kumimoji="1"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非终结符集合</a:t>
            </a:r>
            <a:endParaRPr kumimoji="1"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algn="just"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  ：</a:t>
            </a:r>
            <a:r>
              <a:rPr kumimoji="1"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产生式集合</a:t>
            </a:r>
            <a:endParaRPr kumimoji="1"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algn="just"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itchFamily="18" charset="0"/>
              </a:rPr>
              <a:t>  </a:t>
            </a:r>
            <a:r>
              <a:rPr kumimoji="1"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：</a:t>
            </a:r>
            <a:r>
              <a:rPr kumimoji="1"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开始符号</a:t>
            </a:r>
            <a:endParaRPr kumimoji="1"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Symbol" panose="05050102010706020507" pitchFamily="18" charset="2"/>
              <a:buNone/>
              <a:defRPr/>
            </a:pPr>
            <a:endParaRPr lang="zh-CN" altLang="en-US" sz="2500" dirty="0">
              <a:latin typeface="+mn-ea"/>
              <a:cs typeface="Times New Roman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82563" y="3071813"/>
            <a:ext cx="4889500" cy="19288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500" b="1" dirty="0">
                <a:latin typeface="+mn-ea"/>
                <a:ea typeface="+mn-ea"/>
                <a:cs typeface="Times New Roman" pitchFamily="18" charset="0"/>
              </a:rPr>
              <a:t>例：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G 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=( { id, +, *, (, ) }, {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}, 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P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)</a:t>
            </a:r>
          </a:p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P =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{ 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→ E + E ,     </a:t>
            </a:r>
          </a:p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	    E → E * E ,     </a:t>
            </a:r>
          </a:p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     E → 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,</a:t>
            </a:r>
          </a:p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     E → 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id</a:t>
            </a:r>
            <a:r>
              <a:rPr lang="en-US" altLang="zh-CN" sz="2500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786563" y="3071813"/>
            <a:ext cx="2143125" cy="19288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           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→ (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)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→ id</a:t>
            </a: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5035550" y="2747963"/>
            <a:ext cx="1751013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约定：</a:t>
            </a:r>
            <a:endParaRPr lang="en-US" altLang="zh-CN" sz="2000" b="1" dirty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不引起歧义的前提下，可以只写产生式</a:t>
            </a:r>
            <a:endParaRPr lang="en-US" altLang="zh-CN" sz="2000" b="1" dirty="0"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5224463" y="4000500"/>
            <a:ext cx="1490662" cy="42545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b="1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文法的形式化定义</a:t>
            </a:r>
          </a:p>
        </p:txBody>
      </p:sp>
      <p:grpSp>
        <p:nvGrpSpPr>
          <p:cNvPr id="40968" name="组合 6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0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17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xfrm>
            <a:off x="430213" y="714375"/>
            <a:ext cx="8070850" cy="3225800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对一组有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相同左部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产生式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2500"/>
              </a:lnSpc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5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,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5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, … ,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500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endParaRPr lang="en-US" altLang="zh-CN" sz="2500" b="1" i="1" baseline="-3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2500"/>
              </a:lnSpc>
              <a:buFont typeface="Wingdings" pitchFamily="2" charset="2"/>
              <a:buNone/>
              <a:defRPr/>
            </a:pPr>
            <a:r>
              <a:rPr lang="zh-CN" altLang="en-US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可以简记为：</a:t>
            </a:r>
            <a:endParaRPr lang="zh-CN" altLang="en-US" sz="25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2500"/>
              </a:lnSpc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5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5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| … |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500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endParaRPr lang="en-US" altLang="zh-CN" sz="2500" b="1" i="1" baseline="-3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4000"/>
              </a:lnSpc>
              <a:buFont typeface="Wingdings" pitchFamily="2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读作：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定义为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5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，或者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5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…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，或者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5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。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4000"/>
              </a:lnSpc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β</a:t>
            </a:r>
            <a:r>
              <a:rPr lang="en-US" altLang="zh-CN" sz="25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5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…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5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称为</a:t>
            </a:r>
            <a:r>
              <a:rPr lang="el-GR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候选式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Candidate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en-US" altLang="zh-CN" sz="20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</a:p>
          <a:p>
            <a:pPr eaLnBrk="1" hangingPunct="1">
              <a:buFont typeface="Symbol" panose="05050102010706020507" pitchFamily="18" charset="2"/>
              <a:buNone/>
              <a:defRPr/>
            </a:pPr>
            <a:endParaRPr lang="zh-CN" altLang="en-US" sz="2500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2765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产生式的简写</a:t>
            </a:r>
          </a:p>
        </p:txBody>
      </p:sp>
      <p:sp>
        <p:nvSpPr>
          <p:cNvPr id="8" name="右箭头 7"/>
          <p:cNvSpPr/>
          <p:nvPr/>
        </p:nvSpPr>
        <p:spPr>
          <a:xfrm>
            <a:off x="3429000" y="4164013"/>
            <a:ext cx="588963" cy="28575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b="1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990" name="Rectangle 3"/>
          <p:cNvSpPr txBox="1">
            <a:spLocks noChangeArrowheads="1"/>
          </p:cNvSpPr>
          <p:nvPr/>
        </p:nvSpPr>
        <p:spPr bwMode="auto">
          <a:xfrm>
            <a:off x="1544638" y="3470275"/>
            <a:ext cx="1741487" cy="1571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           </a:t>
            </a:r>
          </a:p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→ (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)</a:t>
            </a:r>
          </a:p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→ id</a:t>
            </a:r>
          </a:p>
        </p:txBody>
      </p:sp>
      <p:sp>
        <p:nvSpPr>
          <p:cNvPr id="41991" name="Rectangle 3"/>
          <p:cNvSpPr txBox="1">
            <a:spLocks noChangeArrowheads="1"/>
          </p:cNvSpPr>
          <p:nvPr/>
        </p:nvSpPr>
        <p:spPr bwMode="auto">
          <a:xfrm>
            <a:off x="4143375" y="4073525"/>
            <a:ext cx="3935413" cy="447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) | id</a:t>
            </a:r>
          </a:p>
        </p:txBody>
      </p:sp>
      <p:grpSp>
        <p:nvGrpSpPr>
          <p:cNvPr id="43015" name="组合 6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17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18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1990" grpId="0" animBg="1"/>
      <p:bldP spid="4199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5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785813"/>
            <a:ext cx="7843838" cy="3225800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下述符号是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终结符</a:t>
            </a:r>
            <a:endParaRPr lang="en-US" altLang="zh-CN" sz="2800" b="1" dirty="0">
              <a:solidFill>
                <a:srgbClr val="FF0000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spc="300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spc="300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spc="300" dirty="0">
                <a:solidFill>
                  <a:schemeClr val="tx1"/>
                </a:solidFill>
                <a:cs typeface="Times New Roman" pitchFamily="18" charset="0"/>
              </a:rPr>
              <a:t>)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字母表中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排在前面的小写字母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，如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itchFamily="18" charset="0"/>
              </a:rPr>
              <a:t>、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itchFamily="18" charset="0"/>
              </a:rPr>
              <a:t>、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c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有特定含义的字符串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else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、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if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等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itchFamily="18" charset="0"/>
              </a:rPr>
              <a:t>。</a:t>
            </a:r>
            <a:endParaRPr lang="en-US" altLang="zh-CN" sz="2500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spc="300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spc="300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r>
              <a:rPr lang="en-US" altLang="zh-CN" sz="2500" b="1" spc="300" dirty="0">
                <a:solidFill>
                  <a:schemeClr val="tx1"/>
                </a:solidFill>
                <a:cs typeface="Times New Roman" pitchFamily="18" charset="0"/>
              </a:rPr>
              <a:t>) 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运算符、标点符号、数字这些无法继续推导的符号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，如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+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、（、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0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等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符号约定</a:t>
            </a:r>
          </a:p>
        </p:txBody>
      </p:sp>
      <p:grpSp>
        <p:nvGrpSpPr>
          <p:cNvPr id="45060" name="组合 3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62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19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5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214438"/>
            <a:ext cx="8072438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下述符号是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非终结符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spc="3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500" b="1" i="1" spc="300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spc="300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字母表中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排在前面的大写字母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，如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C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；</a:t>
            </a:r>
            <a:endParaRPr lang="en-US" altLang="zh-CN" sz="25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03213" lvl="1" indent="0" eaLnBrk="1" hangingPunct="1">
              <a:lnSpc>
                <a:spcPts val="4000"/>
              </a:lnSpc>
              <a:buClrTx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+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一些特定的大写字母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。如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表达式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项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因子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（开始符号）。</a:t>
            </a:r>
            <a:endParaRPr lang="en-US" altLang="zh-CN" sz="2500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28625" y="785813"/>
            <a:ext cx="7843838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800" b="1" dirty="0">
                <a:latin typeface="+mn-ea"/>
                <a:ea typeface="+mn-ea"/>
                <a:cs typeface="Times New Roman" pitchFamily="18" charset="0"/>
              </a:rPr>
              <a:t>下述符号是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终结符</a:t>
            </a:r>
            <a:endParaRPr lang="en-US" altLang="zh-CN" sz="2800" b="1" dirty="0">
              <a:solidFill>
                <a:srgbClr val="FF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符号约定</a:t>
            </a:r>
          </a:p>
        </p:txBody>
      </p:sp>
      <p:grpSp>
        <p:nvGrpSpPr>
          <p:cNvPr id="47109" name="组合 6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11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20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5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774825"/>
            <a:ext cx="9429750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字母表中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排在后面的大写字母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（如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Z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）                          表示</a:t>
            </a:r>
            <a:r>
              <a:rPr lang="zh-CN" altLang="en-US" sz="2600" b="1" dirty="0">
                <a:solidFill>
                  <a:srgbClr val="FF0000"/>
                </a:solidFill>
                <a:cs typeface="Times New Roman" panose="02020603050405020304" pitchFamily="18" charset="0"/>
              </a:rPr>
              <a:t>文法符号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（即终结符或非终结符）</a:t>
            </a:r>
            <a:endParaRPr lang="en-US" altLang="zh-CN" sz="2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字母表中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排在后面的小写字母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（主要是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v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. . . 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z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）                 表示</a:t>
            </a:r>
            <a:r>
              <a:rPr lang="zh-CN" altLang="en-US" sz="2600" b="1" dirty="0">
                <a:solidFill>
                  <a:srgbClr val="FF0000"/>
                </a:solidFill>
                <a:cs typeface="Times New Roman" panose="02020603050405020304" pitchFamily="18" charset="0"/>
              </a:rPr>
              <a:t>终结符号串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（包括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空串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）</a:t>
            </a:r>
            <a:endParaRPr lang="en-US" altLang="zh-CN" sz="26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小写希腊字母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，如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γ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，表示</a:t>
            </a:r>
            <a:r>
              <a:rPr lang="zh-CN" altLang="en-US" sz="2600" b="1" dirty="0">
                <a:solidFill>
                  <a:srgbClr val="FF0000"/>
                </a:solidFill>
                <a:cs typeface="Times New Roman" panose="02020603050405020304" pitchFamily="18" charset="0"/>
              </a:rPr>
              <a:t>文法符号串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（包括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空串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）</a:t>
            </a:r>
            <a:endParaRPr lang="en-US" altLang="zh-CN" sz="26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除非特别说明，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第一个产生式的左部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就是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开始符号</a:t>
            </a:r>
            <a:endParaRPr lang="en-US" altLang="zh-CN" sz="26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defRPr/>
            </a:pPr>
            <a:endParaRPr lang="en-US" altLang="zh-CN" sz="2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995936" y="465137"/>
            <a:ext cx="4964112" cy="101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b="1" kern="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终结符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  <a:cs typeface="+mn-cs"/>
              </a:rPr>
              <a:t>	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a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+mn-cs"/>
              </a:rPr>
              <a:t>      </a:t>
            </a:r>
            <a:r>
              <a:rPr lang="zh-CN" altLang="en-US" sz="2000" b="1" kern="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终结符号串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u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. . . ,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z </a:t>
            </a:r>
          </a:p>
          <a:p>
            <a:pPr eaLnBrk="1" hangingPunct="1">
              <a:defRPr/>
            </a:pPr>
            <a:r>
              <a:rPr lang="zh-CN" altLang="en-US" sz="2000" b="1" kern="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非终结符  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C    </a:t>
            </a:r>
            <a:r>
              <a:rPr lang="zh-CN" altLang="en-US" sz="2000" b="1" kern="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文法符号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X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Z </a:t>
            </a:r>
            <a:endParaRPr lang="en-US" altLang="zh-CN" sz="2000" b="1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algn="ctr" eaLnBrk="1" hangingPunct="1">
              <a:defRPr/>
            </a:pPr>
            <a:r>
              <a:rPr lang="zh-CN" altLang="en-US" sz="2000" b="1" kern="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文法符号串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α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β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γ</a:t>
            </a:r>
            <a:r>
              <a:rPr lang="en-US" altLang="zh-CN" sz="20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28625" y="1214438"/>
            <a:ext cx="3711326" cy="72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下述符号是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itchFamily="18" charset="0"/>
              </a:rPr>
              <a:t>非终结符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28625" y="785813"/>
            <a:ext cx="342329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800" b="1" dirty="0">
                <a:latin typeface="+mn-ea"/>
                <a:ea typeface="+mn-ea"/>
                <a:cs typeface="Times New Roman" pitchFamily="18" charset="0"/>
              </a:rPr>
              <a:t>下述符号是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终结符</a:t>
            </a:r>
            <a:endParaRPr lang="en-US" altLang="zh-CN" sz="2800" b="1" dirty="0">
              <a:solidFill>
                <a:srgbClr val="FF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符号约定</a:t>
            </a:r>
          </a:p>
        </p:txBody>
      </p:sp>
      <p:grpSp>
        <p:nvGrpSpPr>
          <p:cNvPr id="49159" name="组合 10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1" name="五边形 12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21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755650" y="498475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自然语言的例子</a:t>
            </a: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785813" y="966788"/>
            <a:ext cx="5072062" cy="35544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eaLnBrk="1" hangingPunct="1">
              <a:lnSpc>
                <a:spcPts val="3000"/>
              </a:lnSpc>
              <a:defRPr/>
            </a:pPr>
            <a:r>
              <a:rPr kumimoji="1" lang="zh-CN" altLang="en-US" sz="22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文法：</a:t>
            </a:r>
            <a:endParaRPr kumimoji="1" lang="en-US" altLang="zh-CN" sz="2200" b="1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  <a:sym typeface="Symbol" pitchFamily="18" charset="2"/>
            </a:endParaRPr>
          </a:p>
          <a:p>
            <a:pPr marL="342900" lvl="1" indent="-342900" eaLnBrk="1" hangingPunct="1">
              <a:lnSpc>
                <a:spcPts val="3000"/>
              </a:lnSpc>
              <a:buFont typeface="+mj-ea"/>
              <a:buAutoNum type="circleNumDbPlain"/>
              <a:defRPr/>
            </a:pPr>
            <a:r>
              <a:rPr kumimoji="1" lang="zh-CN" altLang="en-US" sz="22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句子  名词短语 动词短语</a:t>
            </a:r>
            <a:endParaRPr kumimoji="1" lang="en-US" altLang="zh-CN" sz="2200" b="1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  <a:sym typeface="Symbol" pitchFamily="18" charset="2"/>
            </a:endParaRPr>
          </a:p>
          <a:p>
            <a:pPr marL="342900" lvl="1" indent="-342900" eaLnBrk="1" hangingPunct="1">
              <a:lnSpc>
                <a:spcPts val="3000"/>
              </a:lnSpc>
              <a:buFont typeface="+mj-ea"/>
              <a:buAutoNum type="circleNumDbPlain"/>
              <a:defRPr/>
            </a:pPr>
            <a:r>
              <a:rPr kumimoji="1" lang="zh-CN" altLang="en-US" sz="22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名词短语  形容词 名词短语</a:t>
            </a:r>
            <a:endParaRPr kumimoji="1" lang="en-US" altLang="zh-CN" sz="2200" b="1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  <a:sym typeface="Symbol" pitchFamily="18" charset="2"/>
            </a:endParaRPr>
          </a:p>
          <a:p>
            <a:pPr marL="342900" lvl="1" indent="-342900" eaLnBrk="1" hangingPunct="1">
              <a:lnSpc>
                <a:spcPts val="3000"/>
              </a:lnSpc>
              <a:buFont typeface="+mj-ea"/>
              <a:buAutoNum type="circleNumDbPlain"/>
              <a:defRPr/>
            </a:pPr>
            <a:r>
              <a:rPr kumimoji="1" lang="zh-CN" altLang="en-US" sz="22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名词短语  名词                  </a:t>
            </a:r>
            <a:endParaRPr kumimoji="1" lang="en-US" altLang="zh-CN" sz="2200" b="1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  <a:sym typeface="Symbol" pitchFamily="18" charset="2"/>
            </a:endParaRPr>
          </a:p>
          <a:p>
            <a:pPr marL="342900" lvl="1" indent="-342900" eaLnBrk="1" hangingPunct="1">
              <a:lnSpc>
                <a:spcPts val="3000"/>
              </a:lnSpc>
              <a:buFont typeface="+mj-ea"/>
              <a:buAutoNum type="circleNumDbPlain"/>
              <a:defRPr/>
            </a:pPr>
            <a:r>
              <a:rPr kumimoji="1" lang="zh-CN" altLang="en-US" sz="22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动词短语  动词 名词短语</a:t>
            </a:r>
            <a:endParaRPr kumimoji="1" lang="en-US" altLang="zh-CN" sz="2200" b="1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  <a:sym typeface="Symbol" pitchFamily="18" charset="2"/>
            </a:endParaRPr>
          </a:p>
          <a:p>
            <a:pPr marL="342900" lvl="1" indent="-342900" eaLnBrk="1" hangingPunct="1">
              <a:lnSpc>
                <a:spcPts val="3000"/>
              </a:lnSpc>
              <a:buFont typeface="+mj-ea"/>
              <a:buAutoNum type="circleNumDbPlain"/>
              <a:defRPr/>
            </a:pPr>
            <a:r>
              <a:rPr kumimoji="1" lang="en-US" altLang="zh-CN" sz="22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</a:t>
            </a:r>
            <a:r>
              <a:rPr kumimoji="1" lang="zh-CN" altLang="en-US" sz="22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形容词  </a:t>
            </a:r>
            <a:r>
              <a:rPr kumimoji="1" lang="en-US" altLang="zh-CN" sz="2200" b="1" i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little</a:t>
            </a:r>
          </a:p>
          <a:p>
            <a:pPr marL="342900" lvl="1" indent="-342900" eaLnBrk="1" hangingPunct="1">
              <a:lnSpc>
                <a:spcPts val="3000"/>
              </a:lnSpc>
              <a:buFont typeface="+mj-ea"/>
              <a:buAutoNum type="circleNumDbPlain"/>
              <a:defRPr/>
            </a:pPr>
            <a:r>
              <a:rPr kumimoji="1" lang="zh-CN" altLang="en-US" sz="22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名词  </a:t>
            </a:r>
            <a:r>
              <a:rPr kumimoji="1" lang="en-US" altLang="zh-CN" sz="2200" b="1" i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boy</a:t>
            </a:r>
            <a:r>
              <a:rPr kumimoji="1" lang="en-US" altLang="zh-CN" sz="22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   </a:t>
            </a:r>
          </a:p>
          <a:p>
            <a:pPr marL="342900" lvl="1" indent="-342900" eaLnBrk="1" hangingPunct="1">
              <a:lnSpc>
                <a:spcPts val="3000"/>
              </a:lnSpc>
              <a:buFont typeface="+mj-ea"/>
              <a:buAutoNum type="circleNumDbPlain"/>
              <a:defRPr/>
            </a:pPr>
            <a:r>
              <a:rPr kumimoji="1" lang="en-US" altLang="zh-CN" sz="22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</a:t>
            </a:r>
            <a:r>
              <a:rPr kumimoji="1" lang="zh-CN" altLang="en-US" sz="22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名词  </a:t>
            </a:r>
            <a:r>
              <a:rPr kumimoji="1" lang="en-US" altLang="zh-CN" sz="2200" b="1" i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apple</a:t>
            </a:r>
            <a:r>
              <a:rPr kumimoji="1" lang="zh-CN" altLang="en-US" sz="2200" b="1" i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endParaRPr kumimoji="1" lang="en-US" altLang="zh-CN" sz="2200" b="1" i="1" dirty="0">
              <a:solidFill>
                <a:srgbClr val="000000"/>
              </a:solidFill>
              <a:latin typeface="Times New Roman" pitchFamily="18" charset="0"/>
              <a:ea typeface="+mn-ea"/>
              <a:cs typeface="Times New Roman" pitchFamily="18" charset="0"/>
              <a:sym typeface="Symbol" pitchFamily="18" charset="2"/>
            </a:endParaRPr>
          </a:p>
          <a:p>
            <a:pPr marL="342900" lvl="1" indent="-342900" eaLnBrk="1" hangingPunct="1">
              <a:lnSpc>
                <a:spcPts val="3000"/>
              </a:lnSpc>
              <a:buFont typeface="+mj-ea"/>
              <a:buAutoNum type="circleNumDbPlain"/>
              <a:defRPr/>
            </a:pPr>
            <a:r>
              <a:rPr kumimoji="1" lang="zh-CN" altLang="en-US" sz="22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动词  </a:t>
            </a:r>
            <a:r>
              <a:rPr kumimoji="1" lang="en-US" altLang="zh-CN" sz="2200" b="1" i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eat</a:t>
            </a:r>
          </a:p>
        </p:txBody>
      </p:sp>
      <p:sp>
        <p:nvSpPr>
          <p:cNvPr id="43013" name="矩形 3"/>
          <p:cNvSpPr>
            <a:spLocks noChangeArrowheads="1"/>
          </p:cNvSpPr>
          <p:nvPr/>
        </p:nvSpPr>
        <p:spPr bwMode="auto">
          <a:xfrm>
            <a:off x="814388" y="4662488"/>
            <a:ext cx="3543300" cy="4302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200" b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sym typeface="Symbol" pitchFamily="18" charset="2"/>
              </a:rPr>
              <a:t>单词串：</a:t>
            </a:r>
            <a:r>
              <a:rPr kumimoji="1" lang="en-US" altLang="zh-CN" sz="2200" b="1" i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  <a:sym typeface="Symbol" pitchFamily="18" charset="2"/>
              </a:rPr>
              <a:t>little</a:t>
            </a:r>
            <a:r>
              <a:rPr kumimoji="1" lang="zh-CN" altLang="en-US" sz="2200" b="1" i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2200" b="1" i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  <a:sym typeface="Symbol" pitchFamily="18" charset="2"/>
              </a:rPr>
              <a:t>boy eats apple</a:t>
            </a:r>
            <a:r>
              <a:rPr kumimoji="1" lang="zh-CN" altLang="en-US" sz="2200" b="1" i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  <a:sym typeface="Symbol" pitchFamily="18" charset="2"/>
              </a:rPr>
              <a:t> </a:t>
            </a:r>
            <a:endParaRPr lang="zh-CN" altLang="en-US" sz="2200" b="1" i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1205" name="组合 5"/>
          <p:cNvGrpSpPr>
            <a:grpSpLocks/>
          </p:cNvGrpSpPr>
          <p:nvPr/>
        </p:nvGrpSpPr>
        <p:grpSpPr bwMode="auto">
          <a:xfrm>
            <a:off x="0" y="425450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09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云形标注 1"/>
          <p:cNvSpPr/>
          <p:nvPr/>
        </p:nvSpPr>
        <p:spPr>
          <a:xfrm>
            <a:off x="5572125" y="1343025"/>
            <a:ext cx="3571875" cy="2014538"/>
          </a:xfrm>
          <a:prstGeom prst="cloudCallout">
            <a:avLst>
              <a:gd name="adj1" fmla="val -40481"/>
              <a:gd name="adj2" fmla="val 77286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有了文法（语言规则），如何判定一个单词串是否是满足文法的句子？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0" y="50800"/>
            <a:ext cx="79311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2.3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语言的定义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22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 animBg="1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475" y="1000125"/>
            <a:ext cx="8448675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给定文法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G=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2800" b="1" i="1" baseline="-25000" dirty="0">
                <a:solidFill>
                  <a:schemeClr val="tx1"/>
                </a:solidFill>
                <a:cs typeface="Times New Roman" pitchFamily="18" charset="0"/>
              </a:rPr>
              <a:t>T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, V</a:t>
            </a:r>
            <a:r>
              <a:rPr lang="en-US" altLang="zh-CN" sz="2800" b="1" i="1" baseline="-25000" dirty="0">
                <a:solidFill>
                  <a:schemeClr val="tx1"/>
                </a:solidFill>
                <a:cs typeface="Times New Roman" pitchFamily="18" charset="0"/>
              </a:rPr>
              <a:t>N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, P , S 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，如果</a:t>
            </a:r>
            <a:r>
              <a:rPr lang="en-US" altLang="zh-CN" sz="2800" b="1" i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α→β 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∈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 P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，那么可以将符号串</a:t>
            </a:r>
            <a:r>
              <a:rPr lang="el-GR" altLang="zh-CN" sz="2800" b="1" i="1" dirty="0">
                <a:solidFill>
                  <a:schemeClr val="tx1"/>
                </a:solidFill>
                <a:cs typeface="Times New Roman" pitchFamily="18" charset="0"/>
              </a:rPr>
              <a:t>γ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el-GR" altLang="zh-CN" sz="2800" b="1" i="1" dirty="0">
                <a:solidFill>
                  <a:schemeClr val="tx1"/>
                </a:solidFill>
                <a:cs typeface="Times New Roman" pitchFamily="18" charset="0"/>
              </a:rPr>
              <a:t>δ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中的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替换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为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，记作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el-GR" altLang="zh-CN" sz="2800" b="1" i="1" dirty="0">
                <a:solidFill>
                  <a:schemeClr val="tx1"/>
                </a:solidFill>
                <a:cs typeface="Times New Roman" pitchFamily="18" charset="0"/>
              </a:rPr>
              <a:t>γ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el-GR" altLang="zh-CN" sz="2800" b="1" i="1" dirty="0">
                <a:solidFill>
                  <a:schemeClr val="tx1"/>
                </a:solidFill>
                <a:cs typeface="Times New Roman" pitchFamily="18" charset="0"/>
              </a:rPr>
              <a:t>δ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</a:t>
            </a:r>
            <a:r>
              <a:rPr lang="el-GR" altLang="zh-CN" sz="2800" b="1" i="1" dirty="0">
                <a:solidFill>
                  <a:schemeClr val="tx1"/>
                </a:solidFill>
                <a:cs typeface="Times New Roman" pitchFamily="18" charset="0"/>
              </a:rPr>
              <a:t> γ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el-GR" altLang="zh-CN" sz="2800" b="1" i="1" dirty="0">
                <a:solidFill>
                  <a:schemeClr val="tx1"/>
                </a:solidFill>
                <a:cs typeface="Times New Roman" pitchFamily="18" charset="0"/>
              </a:rPr>
              <a:t>δ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。此时，称文法中的符号串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el-GR" altLang="zh-CN" sz="2800" b="1" i="1" dirty="0">
                <a:solidFill>
                  <a:schemeClr val="tx1"/>
                </a:solidFill>
                <a:cs typeface="Times New Roman" pitchFamily="18" charset="0"/>
              </a:rPr>
              <a:t>γ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el-GR" altLang="zh-CN" sz="2800" b="1" i="1" dirty="0">
                <a:solidFill>
                  <a:schemeClr val="tx1"/>
                </a:solidFill>
                <a:cs typeface="Times New Roman" pitchFamily="18" charset="0"/>
              </a:rPr>
              <a:t>δ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推导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directly derive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出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l-GR" altLang="zh-CN" sz="2800" b="1" i="1" dirty="0">
                <a:solidFill>
                  <a:schemeClr val="tx1"/>
                </a:solidFill>
                <a:cs typeface="Times New Roman" pitchFamily="18" charset="0"/>
              </a:rPr>
              <a:t>γ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el-GR" altLang="zh-CN" sz="2800" b="1" i="1" dirty="0">
                <a:solidFill>
                  <a:schemeClr val="tx1"/>
                </a:solidFill>
                <a:cs typeface="Times New Roman" pitchFamily="18" charset="0"/>
              </a:rPr>
              <a:t>δ</a:t>
            </a:r>
            <a:endParaRPr lang="en-US" altLang="zh-CN" sz="28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简而言之，就是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用产生式的左部替换为产生式的右部</a:t>
            </a: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3584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推导</a:t>
            </a:r>
            <a:r>
              <a:rPr lang="zh-CN" altLang="en-US" sz="30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Derivations</a:t>
            </a:r>
            <a:r>
              <a:rPr lang="en-US" altLang="zh-CN" sz="24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和归约</a:t>
            </a:r>
            <a:r>
              <a:rPr lang="en-US" altLang="zh-CN" sz="24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Reductions</a:t>
            </a:r>
            <a:r>
              <a:rPr lang="en-US" altLang="zh-CN" sz="24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lang="en-US" altLang="zh-CN" sz="30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53252" name="组合 3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54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23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2913" y="989013"/>
            <a:ext cx="7874000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如果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…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，则可以记作</a:t>
            </a:r>
            <a:r>
              <a:rPr lang="en-US" altLang="zh-CN" sz="2800" b="1" i="1" dirty="0">
                <a:solidFill>
                  <a:schemeClr val="tx1"/>
                </a:solidFill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solidFill>
                  <a:schemeClr val="tx1"/>
                </a:solidFill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800" b="1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solidFill>
                  <a:schemeClr val="tx1"/>
                </a:solidFill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solidFill>
                  <a:schemeClr val="tx1"/>
                </a:solidFill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</a:rPr>
              <a:t>3</a:t>
            </a:r>
            <a:r>
              <a:rPr lang="en-US" altLang="zh-CN" sz="2800" b="1" dirty="0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solidFill>
                  <a:schemeClr val="tx1"/>
                </a:solidFill>
              </a:rPr>
              <a:t>…</a:t>
            </a:r>
            <a:r>
              <a:rPr lang="en-US" altLang="zh-CN" sz="2800" b="1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</a:rPr>
              <a:t>n-1</a:t>
            </a:r>
            <a:r>
              <a:rPr lang="en-US" altLang="zh-CN" sz="2800" b="1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solidFill>
                  <a:schemeClr val="tx1"/>
                </a:solidFill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，称符号串 </a:t>
            </a:r>
            <a:r>
              <a:rPr lang="en-US" altLang="zh-CN" sz="2800" b="1" i="1" dirty="0">
                <a:solidFill>
                  <a:schemeClr val="tx1"/>
                </a:solidFill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</a:rPr>
              <a:t>经过</a:t>
            </a:r>
            <a:r>
              <a:rPr lang="en-US" altLang="zh-CN" sz="2800" b="1" i="1" dirty="0">
                <a:solidFill>
                  <a:srgbClr val="FF0000"/>
                </a:solidFill>
              </a:rPr>
              <a:t>n</a:t>
            </a:r>
            <a:r>
              <a:rPr lang="zh-CN" altLang="en-US" sz="2800" b="1" dirty="0">
                <a:solidFill>
                  <a:srgbClr val="FF0000"/>
                </a:solidFill>
              </a:rPr>
              <a:t>步推导</a:t>
            </a:r>
            <a:r>
              <a:rPr lang="zh-CN" altLang="en-US" sz="2800" b="1" dirty="0">
                <a:solidFill>
                  <a:schemeClr val="tx1"/>
                </a:solidFill>
              </a:rPr>
              <a:t>出</a:t>
            </a:r>
            <a:r>
              <a:rPr lang="en-US" altLang="zh-CN" sz="2800" b="1" i="1" dirty="0">
                <a:solidFill>
                  <a:schemeClr val="tx1"/>
                </a:solidFill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，可简记为</a:t>
            </a:r>
            <a:r>
              <a:rPr lang="en-US" altLang="zh-CN" sz="2800" b="1" i="1" dirty="0">
                <a:solidFill>
                  <a:schemeClr val="tx1"/>
                </a:solidFill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</a:rPr>
              <a:t>0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b="1" i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n </a:t>
            </a:r>
            <a:r>
              <a:rPr lang="en-US" altLang="zh-CN" sz="2800" b="1" i="1" dirty="0">
                <a:solidFill>
                  <a:schemeClr val="tx1"/>
                </a:solidFill>
              </a:rPr>
              <a:t>α</a:t>
            </a:r>
            <a:r>
              <a:rPr lang="en-US" altLang="zh-CN" sz="2800" b="1" i="1" baseline="-25000" dirty="0">
                <a:solidFill>
                  <a:schemeClr val="tx1"/>
                </a:solidFill>
              </a:rPr>
              <a:t>n</a:t>
            </a:r>
            <a:endParaRPr lang="en-US" altLang="zh-CN" sz="2800" b="1" i="1" dirty="0">
              <a:solidFill>
                <a:schemeClr val="tx1"/>
              </a:solidFill>
            </a:endParaRPr>
          </a:p>
          <a:p>
            <a:pPr marL="552450"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</a:rPr>
              <a:t> α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0</a:t>
            </a:r>
            <a:r>
              <a:rPr lang="en-US" altLang="zh-CN" sz="2800" b="1" i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</a:rPr>
              <a:t>α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552450"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b="1" i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+</a:t>
            </a:r>
            <a:r>
              <a:rPr lang="zh-CN" altLang="en-US" sz="2800" b="1" dirty="0">
                <a:solidFill>
                  <a:schemeClr val="tx1"/>
                </a:solidFill>
              </a:rPr>
              <a:t>表示“经过正数步推导”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552450"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zh-CN" altLang="en-US" sz="2800" b="1" i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r>
              <a:rPr lang="zh-CN" altLang="en-US" sz="2800" b="1" dirty="0">
                <a:solidFill>
                  <a:schemeClr val="tx1"/>
                </a:solidFill>
              </a:rPr>
              <a:t>表示“经过若干（可以是</a:t>
            </a:r>
            <a:r>
              <a:rPr lang="en-US" altLang="zh-CN" sz="2800" b="1" dirty="0">
                <a:solidFill>
                  <a:schemeClr val="tx1"/>
                </a:solidFill>
              </a:rPr>
              <a:t>0</a:t>
            </a:r>
            <a:r>
              <a:rPr lang="zh-CN" altLang="en-US" sz="2800" b="1" dirty="0">
                <a:solidFill>
                  <a:schemeClr val="tx1"/>
                </a:solidFill>
              </a:rPr>
              <a:t>）步推导”</a:t>
            </a:r>
            <a:endParaRPr lang="en-US" altLang="zh-CN" sz="2500" b="1" i="1" dirty="0">
              <a:solidFill>
                <a:schemeClr val="tx1"/>
              </a:solidFill>
            </a:endParaRPr>
          </a:p>
          <a:p>
            <a:pPr eaLnBrk="1" hangingPunct="1">
              <a:buFont typeface="Symbol" panose="05050102010706020507" pitchFamily="18" charset="2"/>
              <a:buNone/>
            </a:pPr>
            <a:endParaRPr lang="zh-CN" altLang="en-US" sz="2500" dirty="0">
              <a:solidFill>
                <a:schemeClr val="tx1"/>
              </a:solidFill>
            </a:endParaRPr>
          </a:p>
        </p:txBody>
      </p:sp>
      <p:grpSp>
        <p:nvGrpSpPr>
          <p:cNvPr id="55299" name="组合 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302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推导</a:t>
            </a:r>
            <a:r>
              <a:rPr lang="zh-CN" altLang="en-US" sz="30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400" i="1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Derivations</a:t>
            </a:r>
            <a:r>
              <a:rPr lang="en-US" altLang="zh-CN" sz="2400" spc="3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和归约</a:t>
            </a:r>
            <a:r>
              <a:rPr lang="en-US" altLang="zh-CN" sz="24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400" i="1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Reductions</a:t>
            </a:r>
            <a:r>
              <a:rPr lang="en-US" altLang="zh-CN" sz="24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lang="en-US" altLang="zh-CN" sz="30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24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4286250" y="1274763"/>
            <a:ext cx="4806950" cy="3225800"/>
          </a:xfrm>
        </p:spPr>
        <p:txBody>
          <a:bodyPr/>
          <a:lstStyle/>
          <a:p>
            <a:pPr marL="0" indent="0" eaLnBrk="1" hangingPunct="1">
              <a:lnSpc>
                <a:spcPts val="25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	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 名词短语 动词短语</a:t>
            </a:r>
            <a:endParaRPr kumimoji="1" lang="en-US" altLang="zh-CN" sz="1600" b="1" dirty="0">
              <a:solidFill>
                <a:schemeClr val="tx1"/>
              </a:solidFill>
              <a:latin typeface="+mn-ea"/>
              <a:cs typeface="Times New Roman" pitchFamily="18" charset="0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	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 形容词 名词短语 </a:t>
            </a:r>
            <a:r>
              <a:rPr kumimoji="1" lang="en-US" altLang="zh-CN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&lt;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动词短语</a:t>
            </a:r>
            <a:endParaRPr kumimoji="1" lang="en-US" altLang="zh-CN" sz="1600" b="1" dirty="0">
              <a:solidFill>
                <a:schemeClr val="tx1"/>
              </a:solidFill>
              <a:latin typeface="+mn-ea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little 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名词短语 </a:t>
            </a:r>
            <a:r>
              <a:rPr kumimoji="1" lang="en-US" altLang="zh-CN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&lt;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动词短语</a:t>
            </a:r>
            <a:endParaRPr kumimoji="1" lang="en-US" altLang="zh-CN" sz="1600" b="1" dirty="0">
              <a:solidFill>
                <a:schemeClr val="tx1"/>
              </a:solidFill>
              <a:latin typeface="+mn-ea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 </a:t>
            </a:r>
            <a:r>
              <a:rPr kumimoji="1" lang="en-US" altLang="zh-CN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little</a:t>
            </a:r>
            <a:r>
              <a:rPr kumimoji="1" lang="zh-CN" altLang="en-US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名词 </a:t>
            </a:r>
            <a:r>
              <a:rPr kumimoji="1" lang="en-US" altLang="zh-CN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&lt;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动词短语</a:t>
            </a:r>
            <a:endParaRPr kumimoji="1" lang="en-US" altLang="zh-CN" sz="1600" b="1" dirty="0">
              <a:solidFill>
                <a:schemeClr val="tx1"/>
              </a:solidFill>
              <a:latin typeface="+mn-ea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 </a:t>
            </a:r>
            <a:r>
              <a:rPr kumimoji="1" lang="en-US" altLang="zh-CN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little boy </a:t>
            </a:r>
            <a:r>
              <a:rPr kumimoji="1" lang="en-US" altLang="zh-CN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&lt;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动词短语</a:t>
            </a:r>
            <a:endParaRPr kumimoji="1" lang="en-US" altLang="zh-CN" sz="1600" b="1" dirty="0">
              <a:solidFill>
                <a:schemeClr val="tx1"/>
              </a:solidFill>
              <a:latin typeface="+mn-ea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 </a:t>
            </a:r>
            <a:r>
              <a:rPr kumimoji="1" lang="en-US" altLang="zh-CN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little boy 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动词名词短语 </a:t>
            </a:r>
            <a:endParaRPr kumimoji="1" lang="en-US" altLang="zh-CN" sz="1600" b="1" dirty="0">
              <a:solidFill>
                <a:schemeClr val="tx1"/>
              </a:solidFill>
              <a:latin typeface="+mn-ea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 </a:t>
            </a:r>
            <a:r>
              <a:rPr kumimoji="1" lang="en-US" altLang="zh-CN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little boy eats 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名词短语 </a:t>
            </a:r>
            <a:endParaRPr kumimoji="1" lang="en-US" altLang="zh-CN" sz="1600" b="1" dirty="0">
              <a:solidFill>
                <a:schemeClr val="tx1"/>
              </a:solidFill>
              <a:latin typeface="+mn-ea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 </a:t>
            </a:r>
            <a:r>
              <a:rPr kumimoji="1" lang="en-US" altLang="zh-CN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little</a:t>
            </a:r>
            <a:r>
              <a:rPr kumimoji="1" lang="zh-CN" altLang="en-US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boy eats 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名词  </a:t>
            </a:r>
            <a:endParaRPr kumimoji="1" lang="en-US" altLang="zh-CN" sz="1600" b="1" dirty="0">
              <a:solidFill>
                <a:schemeClr val="tx1"/>
              </a:solidFill>
              <a:latin typeface="+mn-ea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 </a:t>
            </a:r>
            <a:r>
              <a:rPr kumimoji="1" lang="en-US" altLang="zh-CN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little</a:t>
            </a:r>
            <a:r>
              <a:rPr kumimoji="1" lang="zh-CN" altLang="en-US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boy eats apple</a:t>
            </a:r>
            <a:r>
              <a:rPr kumimoji="1" lang="zh-CN" altLang="en-US" sz="16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endParaRPr kumimoji="1" lang="en-US" altLang="zh-CN" sz="1600" b="1" i="1" dirty="0">
              <a:solidFill>
                <a:schemeClr val="tx1"/>
              </a:solidFill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45067" name="Rectangle 7"/>
          <p:cNvSpPr>
            <a:spLocks noChangeArrowheads="1"/>
          </p:cNvSpPr>
          <p:nvPr/>
        </p:nvSpPr>
        <p:spPr bwMode="auto">
          <a:xfrm>
            <a:off x="4252913" y="2655888"/>
            <a:ext cx="9366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推导</a:t>
            </a:r>
          </a:p>
        </p:txBody>
      </p:sp>
      <p:sp>
        <p:nvSpPr>
          <p:cNvPr id="57348" name="Rectangle 10"/>
          <p:cNvSpPr>
            <a:spLocks noChangeArrowheads="1"/>
          </p:cNvSpPr>
          <p:nvPr/>
        </p:nvSpPr>
        <p:spPr bwMode="auto">
          <a:xfrm>
            <a:off x="9201150" y="3148013"/>
            <a:ext cx="18716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/>
            <a:endParaRPr lang="en-US" altLang="zh-CN">
              <a:solidFill>
                <a:srgbClr val="33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endParaRPr lang="zh-CN" altLang="en-US" b="1">
              <a:solidFill>
                <a:schemeClr val="folHlink"/>
              </a:solidFill>
              <a:latin typeface="楷体_GB2312"/>
            </a:endParaRPr>
          </a:p>
        </p:txBody>
      </p:sp>
      <p:sp>
        <p:nvSpPr>
          <p:cNvPr id="56326" name="矩形 1"/>
          <p:cNvSpPr>
            <a:spLocks noChangeArrowheads="1"/>
          </p:cNvSpPr>
          <p:nvPr/>
        </p:nvSpPr>
        <p:spPr bwMode="auto">
          <a:xfrm>
            <a:off x="7956550" y="2659063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归约</a:t>
            </a:r>
            <a:endParaRPr lang="en-US" altLang="zh-CN" sz="24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7350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358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" name="矩形 2"/>
          <p:cNvSpPr>
            <a:spLocks noChangeArrowheads="1"/>
          </p:cNvSpPr>
          <p:nvPr/>
        </p:nvSpPr>
        <p:spPr bwMode="auto">
          <a:xfrm>
            <a:off x="142875" y="1347788"/>
            <a:ext cx="3843338" cy="32956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eaLnBrk="1" hangingPunct="1">
              <a:lnSpc>
                <a:spcPts val="2800"/>
              </a:lnSpc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文法：</a:t>
            </a:r>
            <a:endParaRPr kumimoji="1" lang="en-US" altLang="zh-CN" sz="1600" b="1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  <a:sym typeface="Symbol" pitchFamily="18" charset="2"/>
            </a:endParaRPr>
          </a:p>
          <a:p>
            <a:pPr marL="342900" lvl="1" indent="-342900" eaLnBrk="1" hangingPunct="1">
              <a:lnSpc>
                <a:spcPts val="2800"/>
              </a:lnSpc>
              <a:buFont typeface="+mj-ea"/>
              <a:buAutoNum type="circleNumDbPlain"/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句子  名词短语 动词短语</a:t>
            </a:r>
            <a:endParaRPr kumimoji="1" lang="en-US" altLang="zh-CN" sz="1600" b="1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  <a:sym typeface="Symbol" pitchFamily="18" charset="2"/>
            </a:endParaRPr>
          </a:p>
          <a:p>
            <a:pPr marL="342900" lvl="1" indent="-342900" eaLnBrk="1" hangingPunct="1">
              <a:lnSpc>
                <a:spcPts val="2800"/>
              </a:lnSpc>
              <a:buFont typeface="+mj-ea"/>
              <a:buAutoNum type="circleNumDbPlain"/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名词短语  形容词 名词短语</a:t>
            </a:r>
            <a:endParaRPr kumimoji="1" lang="en-US" altLang="zh-CN" sz="1600" b="1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  <a:sym typeface="Symbol" pitchFamily="18" charset="2"/>
            </a:endParaRPr>
          </a:p>
          <a:p>
            <a:pPr marL="342900" lvl="1" indent="-342900" eaLnBrk="1" hangingPunct="1">
              <a:lnSpc>
                <a:spcPts val="2800"/>
              </a:lnSpc>
              <a:buFont typeface="+mj-ea"/>
              <a:buAutoNum type="circleNumDbPlain"/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名词短语  名词                  </a:t>
            </a:r>
            <a:endParaRPr kumimoji="1" lang="en-US" altLang="zh-CN" sz="1600" b="1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  <a:sym typeface="Symbol" pitchFamily="18" charset="2"/>
            </a:endParaRPr>
          </a:p>
          <a:p>
            <a:pPr marL="342900" lvl="1" indent="-342900" eaLnBrk="1" hangingPunct="1">
              <a:lnSpc>
                <a:spcPts val="2800"/>
              </a:lnSpc>
              <a:buFont typeface="+mj-ea"/>
              <a:buAutoNum type="circleNumDbPlain"/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动词短语  动词 名词短语</a:t>
            </a:r>
            <a:endParaRPr kumimoji="1" lang="en-US" altLang="zh-CN" sz="1600" b="1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  <a:sym typeface="Symbol" pitchFamily="18" charset="2"/>
            </a:endParaRPr>
          </a:p>
          <a:p>
            <a:pPr marL="342900" lvl="1" indent="-342900" eaLnBrk="1" hangingPunct="1">
              <a:lnSpc>
                <a:spcPts val="2800"/>
              </a:lnSpc>
              <a:buFont typeface="+mj-ea"/>
              <a:buAutoNum type="circleNumDbPlain"/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形容词  </a:t>
            </a:r>
            <a:r>
              <a:rPr kumimoji="1" lang="en-US" altLang="zh-CN" sz="1600" b="1" i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little</a:t>
            </a:r>
          </a:p>
          <a:p>
            <a:pPr marL="342900" lvl="1" indent="-342900" eaLnBrk="1" hangingPunct="1">
              <a:lnSpc>
                <a:spcPts val="2800"/>
              </a:lnSpc>
              <a:buFont typeface="+mj-ea"/>
              <a:buAutoNum type="circleNumDbPlain"/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名词  </a:t>
            </a:r>
            <a:r>
              <a:rPr kumimoji="1" lang="en-US" altLang="zh-CN" sz="1600" b="1" i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boy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   </a:t>
            </a:r>
          </a:p>
          <a:p>
            <a:pPr marL="342900" lvl="1" indent="-342900" eaLnBrk="1" hangingPunct="1">
              <a:lnSpc>
                <a:spcPts val="2800"/>
              </a:lnSpc>
              <a:buFont typeface="+mj-ea"/>
              <a:buAutoNum type="circleNumDbPlain"/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名词  </a:t>
            </a:r>
            <a:r>
              <a:rPr kumimoji="1" lang="en-US" altLang="zh-CN" sz="1600" b="1" i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apple</a:t>
            </a:r>
            <a:r>
              <a:rPr kumimoji="1" lang="zh-CN" altLang="en-US" sz="1600" b="1" i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endParaRPr kumimoji="1" lang="en-US" altLang="zh-CN" sz="1600" b="1" i="1" dirty="0">
              <a:solidFill>
                <a:srgbClr val="000000"/>
              </a:solidFill>
              <a:latin typeface="Times New Roman" pitchFamily="18" charset="0"/>
              <a:ea typeface="+mn-ea"/>
              <a:cs typeface="Times New Roman" pitchFamily="18" charset="0"/>
              <a:sym typeface="Symbol" pitchFamily="18" charset="2"/>
            </a:endParaRPr>
          </a:p>
          <a:p>
            <a:pPr marL="342900" lvl="1" indent="-342900" eaLnBrk="1" hangingPunct="1">
              <a:lnSpc>
                <a:spcPts val="2800"/>
              </a:lnSpc>
              <a:buFont typeface="+mj-ea"/>
              <a:buAutoNum type="circleNumDbPlain"/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动词  </a:t>
            </a:r>
            <a:r>
              <a:rPr kumimoji="1" lang="en-US" altLang="zh-CN" sz="1600" b="1" i="1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eat</a:t>
            </a:r>
          </a:p>
        </p:txBody>
      </p:sp>
      <p:sp>
        <p:nvSpPr>
          <p:cNvPr id="15" name="标题 1"/>
          <p:cNvSpPr txBox="1">
            <a:spLocks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3000" b="1" spc="300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推导</a:t>
            </a:r>
            <a:r>
              <a:rPr lang="zh-CN" altLang="en-US" sz="3000" b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Derivations</a:t>
            </a:r>
            <a:r>
              <a:rPr lang="en-US" altLang="zh-CN" sz="2400" b="1" spc="300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3000" b="1" spc="3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和归约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Reductions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)</a:t>
            </a:r>
            <a:endParaRPr lang="en-US" altLang="zh-CN" sz="3000" b="1" dirty="0">
              <a:latin typeface="Times New Roman" panose="02020603050405020304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7353" name="Rectangle 7"/>
          <p:cNvSpPr>
            <a:spLocks noChangeArrowheads="1"/>
          </p:cNvSpPr>
          <p:nvPr/>
        </p:nvSpPr>
        <p:spPr bwMode="auto">
          <a:xfrm>
            <a:off x="-6350" y="857250"/>
            <a:ext cx="935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/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4286250" y="1347788"/>
            <a:ext cx="161925" cy="3295650"/>
          </a:xfrm>
          <a:prstGeom prst="downArrow">
            <a:avLst>
              <a:gd name="adj1" fmla="val 50000"/>
              <a:gd name="adj2" fmla="val 240466"/>
            </a:avLst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 rot="10800000">
            <a:off x="8618538" y="1319213"/>
            <a:ext cx="161925" cy="3324225"/>
          </a:xfrm>
          <a:prstGeom prst="downArrow">
            <a:avLst>
              <a:gd name="adj1" fmla="val 50000"/>
              <a:gd name="adj2" fmla="val 239605"/>
            </a:avLst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471988" y="1296988"/>
            <a:ext cx="11080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r>
              <a:rPr kumimoji="1" lang="zh-CN" altLang="en-US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句子</a:t>
            </a:r>
            <a:r>
              <a:rPr kumimoji="1"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endParaRPr lang="zh-CN" altLang="en-US"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25</a:t>
            </a:fld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8E499C-B136-0747-2FD1-662E32EE3C6C}"/>
              </a:ext>
            </a:extLst>
          </p:cNvPr>
          <p:cNvSpPr txBox="1"/>
          <p:nvPr/>
        </p:nvSpPr>
        <p:spPr>
          <a:xfrm>
            <a:off x="115743" y="4672013"/>
            <a:ext cx="4320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句子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 </a:t>
            </a:r>
            <a:r>
              <a:rPr kumimoji="1" lang="en-US" altLang="zh-CN" b="1" i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little boy eats apple</a:t>
            </a:r>
            <a:endParaRPr kumimoji="1" lang="zh-CN" altLang="en-US" b="1" i="1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7" grpId="0"/>
      <p:bldP spid="56326" grpId="0"/>
      <p:bldP spid="14" grpId="0" animBg="1"/>
      <p:bldP spid="16" grpId="0" animBg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内容占位符 2"/>
          <p:cNvSpPr>
            <a:spLocks noGrp="1"/>
          </p:cNvSpPr>
          <p:nvPr>
            <p:ph idx="1"/>
          </p:nvPr>
        </p:nvSpPr>
        <p:spPr>
          <a:xfrm>
            <a:off x="371475" y="917575"/>
            <a:ext cx="8201025" cy="32258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有了文法（语言规则），如何判定某一词串是否是该文法的句子？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kumimoji="1" lang="zh-CN" altLang="zh-CN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句子的</a:t>
            </a:r>
            <a:r>
              <a:rPr kumimoji="1" lang="zh-CN" altLang="zh-CN" sz="2500" b="1" dirty="0">
                <a:solidFill>
                  <a:srgbClr val="FF0000"/>
                </a:solidFill>
                <a:latin typeface="楷体" panose="02010609060101010101" pitchFamily="49" charset="-122"/>
              </a:rPr>
              <a:t>推导</a:t>
            </a:r>
            <a:r>
              <a:rPr kumimoji="1" lang="en-US" altLang="zh-CN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	-</a:t>
            </a:r>
            <a:r>
              <a:rPr kumimoji="1"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从</a:t>
            </a:r>
            <a:r>
              <a:rPr kumimoji="1" lang="zh-CN" altLang="en-US" sz="2500" b="1" dirty="0">
                <a:solidFill>
                  <a:srgbClr val="FF0000"/>
                </a:solidFill>
                <a:latin typeface="楷体" panose="02010609060101010101" pitchFamily="49" charset="-122"/>
              </a:rPr>
              <a:t>生成</a:t>
            </a:r>
            <a:r>
              <a:rPr kumimoji="1"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语言的角度</a:t>
            </a:r>
            <a:endParaRPr kumimoji="1" lang="en-US" altLang="zh-CN" sz="2500" b="1" dirty="0">
              <a:solidFill>
                <a:schemeClr val="tx1"/>
              </a:solidFill>
              <a:latin typeface="楷体" panose="02010609060101010101" pitchFamily="49" charset="-122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kumimoji="1"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句子的</a:t>
            </a:r>
            <a:r>
              <a:rPr kumimoji="1" lang="zh-CN" altLang="en-US" sz="2500" b="1" dirty="0">
                <a:solidFill>
                  <a:srgbClr val="FF0000"/>
                </a:solidFill>
                <a:latin typeface="楷体" panose="02010609060101010101" pitchFamily="49" charset="-122"/>
              </a:rPr>
              <a:t>归约</a:t>
            </a:r>
            <a:r>
              <a:rPr kumimoji="1" lang="zh-CN" altLang="en-US" sz="800" b="1" dirty="0">
                <a:solidFill>
                  <a:schemeClr val="tx1"/>
                </a:solidFill>
                <a:latin typeface="楷体" panose="02010609060101010101" pitchFamily="49" charset="-122"/>
              </a:rPr>
              <a:t>  </a:t>
            </a:r>
            <a:r>
              <a:rPr kumimoji="1" lang="en-US" altLang="zh-CN" sz="800" b="1" dirty="0">
                <a:solidFill>
                  <a:schemeClr val="tx1"/>
                </a:solidFill>
                <a:latin typeface="楷体" panose="02010609060101010101" pitchFamily="49" charset="-122"/>
              </a:rPr>
              <a:t>   </a:t>
            </a:r>
            <a:r>
              <a:rPr kumimoji="1" lang="zh-CN" altLang="en-US" sz="800" b="1" dirty="0">
                <a:solidFill>
                  <a:schemeClr val="tx1"/>
                </a:solidFill>
                <a:latin typeface="楷体" panose="02010609060101010101" pitchFamily="49" charset="-122"/>
              </a:rPr>
              <a:t>　　　</a:t>
            </a:r>
            <a:r>
              <a:rPr kumimoji="1" lang="en-US" altLang="zh-CN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-</a:t>
            </a:r>
            <a:r>
              <a:rPr kumimoji="1"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从</a:t>
            </a:r>
            <a:r>
              <a:rPr kumimoji="1" lang="zh-CN" altLang="en-US" sz="2500" b="1" dirty="0">
                <a:solidFill>
                  <a:srgbClr val="FF0000"/>
                </a:solidFill>
                <a:latin typeface="楷体" panose="02010609060101010101" pitchFamily="49" charset="-122"/>
              </a:rPr>
              <a:t>识别</a:t>
            </a:r>
            <a:r>
              <a:rPr kumimoji="1"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语言的角度</a:t>
            </a:r>
            <a:endParaRPr lang="zh-CN" altLang="en-US" sz="2500" b="1" dirty="0">
              <a:solidFill>
                <a:schemeClr val="tx1"/>
              </a:solidFill>
              <a:latin typeface="楷体" panose="02010609060101010101" pitchFamily="49" charset="-122"/>
            </a:endParaRPr>
          </a:p>
          <a:p>
            <a:pPr lvl="1" eaLnBrk="1" hangingPunct="1"/>
            <a:endParaRPr lang="en-US" altLang="zh-CN" sz="2600" dirty="0">
              <a:solidFill>
                <a:schemeClr val="tx1"/>
              </a:solidFill>
            </a:endParaRPr>
          </a:p>
        </p:txBody>
      </p:sp>
      <p:sp>
        <p:nvSpPr>
          <p:cNvPr id="3891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回答前面的问题</a:t>
            </a:r>
          </a:p>
        </p:txBody>
      </p:sp>
      <p:grpSp>
        <p:nvGrpSpPr>
          <p:cNvPr id="2" name="组合 5"/>
          <p:cNvGrpSpPr>
            <a:grpSpLocks/>
          </p:cNvGrpSpPr>
          <p:nvPr/>
        </p:nvGrpSpPr>
        <p:grpSpPr bwMode="auto">
          <a:xfrm>
            <a:off x="6715125" y="2071688"/>
            <a:ext cx="2214563" cy="558800"/>
            <a:chOff x="8582009" y="3141400"/>
            <a:chExt cx="2291893" cy="743946"/>
          </a:xfrm>
        </p:grpSpPr>
        <p:sp>
          <p:nvSpPr>
            <p:cNvPr id="3" name="Rectangle 1028"/>
            <p:cNvSpPr>
              <a:spLocks noChangeArrowheads="1"/>
            </p:cNvSpPr>
            <p:nvPr/>
          </p:nvSpPr>
          <p:spPr bwMode="auto">
            <a:xfrm>
              <a:off x="8889238" y="3173102"/>
              <a:ext cx="1984664" cy="6340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kumimoji="1" lang="zh-CN" altLang="en-US" sz="25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楷体" pitchFamily="49" charset="-122"/>
                  <a:ea typeface="楷体" pitchFamily="49" charset="-122"/>
                </a:rPr>
                <a:t>均</a:t>
              </a:r>
              <a:r>
                <a:rPr kumimoji="1" lang="zh-CN" altLang="zh-CN" sz="25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楷体" pitchFamily="49" charset="-122"/>
                  <a:ea typeface="楷体" pitchFamily="49" charset="-122"/>
                </a:rPr>
                <a:t>根据规则</a:t>
              </a:r>
              <a:endParaRPr kumimoji="1"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9" name="右大括号 8"/>
            <p:cNvSpPr/>
            <p:nvPr/>
          </p:nvSpPr>
          <p:spPr>
            <a:xfrm>
              <a:off x="8582009" y="3141400"/>
              <a:ext cx="287514" cy="743946"/>
            </a:xfrm>
            <a:prstGeom prst="rightBrac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59397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39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26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285750" y="917575"/>
            <a:ext cx="8558213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如果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</a:t>
            </a:r>
            <a:r>
              <a:rPr lang="en-US" altLang="zh-CN" sz="2800" b="1" i="1" baseline="30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*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l-GR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l-GR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∈(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800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，则称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的一个</a:t>
            </a:r>
            <a:r>
              <a:rPr lang="zh-CN" altLang="en-US" sz="2800" b="1" dirty="0">
                <a:solidFill>
                  <a:srgbClr val="FF0000"/>
                </a:solidFill>
                <a:cs typeface="Times New Roman" pitchFamily="18" charset="0"/>
              </a:rPr>
              <a:t>句型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sentential form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)</a:t>
            </a: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一个句型中既可以包含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cs typeface="Times New Roman" pitchFamily="18" charset="0"/>
              </a:rPr>
              <a:t>终结符</a:t>
            </a:r>
            <a:r>
              <a:rPr lang="zh-CN" altLang="en-US" sz="28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，又可以包含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cs typeface="Times New Roman" pitchFamily="18" charset="0"/>
              </a:rPr>
              <a:t>非终结符</a:t>
            </a:r>
            <a:r>
              <a:rPr lang="zh-CN" altLang="en-US" sz="28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，也可能是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cs typeface="Times New Roman" pitchFamily="18" charset="0"/>
              </a:rPr>
              <a:t>空串</a:t>
            </a:r>
            <a:endParaRPr lang="en-US" altLang="zh-CN" sz="2800" b="1" dirty="0">
              <a:solidFill>
                <a:schemeClr val="tx2">
                  <a:lumMod val="60000"/>
                  <a:lumOff val="40000"/>
                </a:schemeClr>
              </a:solidFill>
              <a:ea typeface="楷体_GB2312"/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如果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sz="2800" b="1" i="1" baseline="30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*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w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w </a:t>
            </a:r>
            <a:r>
              <a:rPr lang="el-GR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∈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T</a:t>
            </a:r>
            <a:r>
              <a:rPr lang="zh-CN" altLang="en-US" sz="2800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，则称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w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的一个</a:t>
            </a:r>
            <a:r>
              <a:rPr lang="zh-CN" altLang="en-US" sz="2800" b="1" dirty="0">
                <a:solidFill>
                  <a:srgbClr val="FF0000"/>
                </a:solidFill>
                <a:cs typeface="Times New Roman" pitchFamily="18" charset="0"/>
              </a:rPr>
              <a:t>句子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sentence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)</a:t>
            </a: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句子是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cs typeface="Times New Roman" pitchFamily="18" charset="0"/>
              </a:rPr>
              <a:t>什么？</a:t>
            </a:r>
            <a:endParaRPr lang="zh-CN" altLang="en-US" sz="2800" dirty="0">
              <a:solidFill>
                <a:schemeClr val="tx1"/>
              </a:solidFill>
              <a:ea typeface="楷体_GB2312"/>
              <a:cs typeface="Times New Roman" pitchFamily="18" charset="0"/>
            </a:endParaRP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句型和句子</a:t>
            </a:r>
          </a:p>
        </p:txBody>
      </p:sp>
      <p:grpSp>
        <p:nvGrpSpPr>
          <p:cNvPr id="6144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46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27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内容占位符 1"/>
          <p:cNvSpPr>
            <a:spLocks noGrp="1"/>
          </p:cNvSpPr>
          <p:nvPr>
            <p:ph idx="1"/>
          </p:nvPr>
        </p:nvSpPr>
        <p:spPr>
          <a:xfrm>
            <a:off x="571500" y="714375"/>
            <a:ext cx="7961313" cy="4429125"/>
          </a:xfrm>
        </p:spPr>
        <p:txBody>
          <a:bodyPr/>
          <a:lstStyle/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anose="05050102010706020507" pitchFamily="18" charset="2"/>
              <a:buNone/>
            </a:pP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句子</a:t>
            </a:r>
            <a:r>
              <a:rPr lang="en-US" altLang="zh-CN" sz="2700" b="1" dirty="0">
                <a:solidFill>
                  <a:schemeClr val="tx1"/>
                </a:solidFill>
                <a:latin typeface="楷体_GB2312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名词短语 动词短语</a:t>
            </a:r>
            <a:endParaRPr kumimoji="1" lang="en-US" altLang="zh-CN" sz="2700" b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anose="05050102010706020507" pitchFamily="18" charset="2"/>
              <a:buNone/>
            </a:pPr>
            <a:r>
              <a:rPr lang="en-US" altLang="zh-CN" sz="2700" b="1" dirty="0">
                <a:solidFill>
                  <a:schemeClr val="tx1"/>
                </a:solidFill>
                <a:latin typeface="楷体_GB2312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		  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形容词 名词短语 </a:t>
            </a:r>
            <a:r>
              <a:rPr kumimoji="1" lang="en-US" altLang="zh-CN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动词短语</a:t>
            </a:r>
            <a:endParaRPr kumimoji="1" lang="en-US" altLang="zh-CN" sz="2700" b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anose="05050102010706020507" pitchFamily="18" charset="2"/>
              <a:buNone/>
            </a:pPr>
            <a:r>
              <a:rPr lang="en-US" altLang="zh-CN" sz="2700" b="1" dirty="0">
                <a:solidFill>
                  <a:schemeClr val="tx1"/>
                </a:solidFill>
                <a:latin typeface="楷体_GB2312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		  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7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little</a:t>
            </a:r>
            <a:r>
              <a:rPr kumimoji="1" lang="en-US" altLang="zh-CN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名词短语 </a:t>
            </a:r>
            <a:r>
              <a:rPr kumimoji="1" lang="en-US" altLang="zh-CN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动词短语</a:t>
            </a:r>
            <a:endParaRPr kumimoji="1" lang="en-US" altLang="zh-CN" sz="2700" b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anose="05050102010706020507" pitchFamily="18" charset="2"/>
              <a:buNone/>
            </a:pPr>
            <a:r>
              <a:rPr lang="en-US" altLang="zh-CN" sz="2700" b="1" dirty="0">
                <a:solidFill>
                  <a:schemeClr val="tx1"/>
                </a:solidFill>
                <a:latin typeface="楷体_GB2312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		  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7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little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名词 </a:t>
            </a:r>
            <a:r>
              <a:rPr kumimoji="1" lang="en-US" altLang="zh-CN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动词短语</a:t>
            </a:r>
            <a:endParaRPr kumimoji="1" lang="en-US" altLang="zh-CN" sz="2700" b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anose="05050102010706020507" pitchFamily="18" charset="2"/>
              <a:buNone/>
            </a:pPr>
            <a:r>
              <a:rPr lang="en-US" altLang="zh-CN" sz="2700" b="1" dirty="0">
                <a:solidFill>
                  <a:schemeClr val="tx1"/>
                </a:solidFill>
                <a:latin typeface="楷体_GB2312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		  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7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little boy </a:t>
            </a:r>
            <a:r>
              <a:rPr kumimoji="1" lang="en-US" altLang="zh-CN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动词短语</a:t>
            </a:r>
            <a:endParaRPr kumimoji="1" lang="en-US" altLang="zh-CN" sz="2700" b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anose="05050102010706020507" pitchFamily="18" charset="2"/>
              <a:buNone/>
            </a:pPr>
            <a:r>
              <a:rPr lang="en-US" altLang="zh-CN" sz="2700" b="1" dirty="0">
                <a:solidFill>
                  <a:schemeClr val="tx1"/>
                </a:solidFill>
                <a:latin typeface="楷体_GB2312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		  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7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little boy 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动词名词短语 </a:t>
            </a:r>
            <a:endParaRPr kumimoji="1" lang="en-US" altLang="zh-CN" sz="2700" b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anose="05050102010706020507" pitchFamily="18" charset="2"/>
              <a:buNone/>
            </a:pPr>
            <a:r>
              <a:rPr lang="en-US" altLang="zh-CN" sz="2700" b="1" dirty="0">
                <a:solidFill>
                  <a:schemeClr val="tx1"/>
                </a:solidFill>
                <a:latin typeface="楷体_GB2312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		  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7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little boy eats 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名词短语 </a:t>
            </a:r>
            <a:endParaRPr kumimoji="1" lang="en-US" altLang="zh-CN" sz="2700" b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anose="05050102010706020507" pitchFamily="18" charset="2"/>
              <a:buNone/>
            </a:pPr>
            <a:r>
              <a:rPr lang="en-US" altLang="zh-CN" sz="2700" b="1" dirty="0">
                <a:solidFill>
                  <a:schemeClr val="tx1"/>
                </a:solidFill>
                <a:latin typeface="楷体_GB2312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		  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7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little</a:t>
            </a:r>
            <a:r>
              <a:rPr kumimoji="1" lang="zh-CN" altLang="en-US" sz="27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7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boy eats 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名词  </a:t>
            </a:r>
            <a:endParaRPr kumimoji="1" lang="en-US" altLang="zh-CN" sz="2700" b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anose="05050102010706020507" pitchFamily="18" charset="2"/>
              <a:buNone/>
            </a:pPr>
            <a:r>
              <a:rPr lang="en-US" altLang="zh-CN" sz="2700" b="1" dirty="0">
                <a:solidFill>
                  <a:schemeClr val="tx1"/>
                </a:solidFill>
                <a:latin typeface="楷体_GB2312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		  </a:t>
            </a:r>
            <a:r>
              <a:rPr kumimoji="1" lang="zh-CN" altLang="en-US" sz="27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7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little</a:t>
            </a:r>
            <a:r>
              <a:rPr kumimoji="1" lang="zh-CN" altLang="en-US" sz="27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7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boy eats apple</a:t>
            </a:r>
            <a:r>
              <a:rPr kumimoji="1" lang="zh-CN" altLang="en-US" sz="27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1" lang="en-US" altLang="zh-CN" sz="2700" b="1" i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</a:pPr>
            <a:endParaRPr lang="zh-CN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7429500" y="976313"/>
            <a:ext cx="214313" cy="3738562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500938" y="2643188"/>
            <a:ext cx="1220787" cy="4286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3000" b="1" dirty="0">
                <a:solidFill>
                  <a:srgbClr val="FF0000"/>
                </a:solidFill>
              </a:rPr>
              <a:t>句型</a:t>
            </a:r>
          </a:p>
        </p:txBody>
      </p:sp>
      <p:sp>
        <p:nvSpPr>
          <p:cNvPr id="9" name="右箭头 8"/>
          <p:cNvSpPr/>
          <p:nvPr/>
        </p:nvSpPr>
        <p:spPr>
          <a:xfrm>
            <a:off x="1211263" y="4572000"/>
            <a:ext cx="431800" cy="14446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4370388"/>
            <a:ext cx="1392238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3000" b="1" dirty="0">
                <a:solidFill>
                  <a:srgbClr val="FF0000"/>
                </a:solidFill>
              </a:rPr>
              <a:t>句子</a:t>
            </a:r>
          </a:p>
        </p:txBody>
      </p:sp>
      <p:grpSp>
        <p:nvGrpSpPr>
          <p:cNvPr id="63495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498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28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15963" y="1131888"/>
            <a:ext cx="7927975" cy="3225800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由文法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的开始符号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推导出的所有句子构成的集合称为</a:t>
            </a:r>
            <a:r>
              <a:rPr lang="zh-CN" altLang="en-US" sz="30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文法</a:t>
            </a:r>
            <a:r>
              <a:rPr lang="en-US" altLang="zh-CN" sz="3000" b="1" i="1" dirty="0">
                <a:solidFill>
                  <a:srgbClr val="FF0000"/>
                </a:solidFill>
                <a:cs typeface="Times New Roman" pitchFamily="18" charset="0"/>
              </a:rPr>
              <a:t>G</a:t>
            </a:r>
            <a:r>
              <a:rPr lang="zh-CN" altLang="en-US" sz="30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生成的语言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，记为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G </a:t>
            </a:r>
            <a:r>
              <a:rPr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。即</a:t>
            </a:r>
            <a:endParaRPr lang="en-US" altLang="zh-CN" sz="30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marL="0" indent="0" algn="ctr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G </a:t>
            </a:r>
            <a:r>
              <a:rPr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 {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w | S </a:t>
            </a:r>
            <a:r>
              <a:rPr lang="en-US" altLang="zh-CN" sz="3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sz="3000" b="1" baseline="30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* 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w,</a:t>
            </a:r>
            <a:r>
              <a:rPr lang="en-US" altLang="zh-CN" sz="3000" b="1" i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w</a:t>
            </a:r>
            <a:r>
              <a:rPr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∈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itchFamily="18" charset="0"/>
              </a:rPr>
              <a:t> V</a:t>
            </a:r>
            <a:r>
              <a:rPr lang="en-US" altLang="zh-CN" sz="3000" b="1" i="1" baseline="-25000" dirty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altLang="zh-CN" sz="3000" b="1" i="1" baseline="30000" dirty="0">
                <a:solidFill>
                  <a:schemeClr val="tx1"/>
                </a:solidFill>
                <a:cs typeface="Times New Roman" pitchFamily="18" charset="0"/>
              </a:rPr>
              <a:t>* </a:t>
            </a:r>
            <a:r>
              <a:rPr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}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zh-CN" altLang="en-US" i="1" dirty="0">
              <a:cs typeface="Times New Roman" pitchFamily="18" charset="0"/>
            </a:endParaRPr>
          </a:p>
        </p:txBody>
      </p:sp>
      <p:sp>
        <p:nvSpPr>
          <p:cNvPr id="4198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语言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的形式化定义</a:t>
            </a:r>
          </a:p>
        </p:txBody>
      </p:sp>
      <p:sp>
        <p:nvSpPr>
          <p:cNvPr id="4" name="云形标注 3"/>
          <p:cNvSpPr/>
          <p:nvPr/>
        </p:nvSpPr>
        <p:spPr>
          <a:xfrm>
            <a:off x="1071563" y="3429000"/>
            <a:ext cx="6740525" cy="1500188"/>
          </a:xfrm>
          <a:prstGeom prst="cloudCallout">
            <a:avLst>
              <a:gd name="adj1" fmla="val -37785"/>
              <a:gd name="adj2" fmla="val -83719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 → E+E | E</a:t>
            </a: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 | </a:t>
            </a: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500" b="1" i="1" spc="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500" b="1" spc="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| </a:t>
            </a:r>
            <a:r>
              <a:rPr lang="en-US" altLang="zh-CN" sz="2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id </a:t>
            </a:r>
            <a:r>
              <a:rPr lang="zh-CN" altLang="en-US" sz="2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生成的语言中</a:t>
            </a:r>
            <a:r>
              <a:rPr lang="zh-CN" altLang="en-US" sz="25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包含多少个句子？</a:t>
            </a:r>
          </a:p>
        </p:txBody>
      </p:sp>
      <p:grpSp>
        <p:nvGrpSpPr>
          <p:cNvPr id="65541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543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29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430213" y="785813"/>
            <a:ext cx="5927725" cy="2230437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</a:p>
          <a:p>
            <a:pPr marL="303213" lvl="1" indent="0" eaLnBrk="1" hangingPunct="1">
              <a:buClrTx/>
              <a:buFont typeface="Symbol" panose="05050102010706020507" pitchFamily="18" charset="2"/>
              <a:buNone/>
            </a:pPr>
            <a:r>
              <a:rPr kumimoji="1"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 → L | LT</a:t>
            </a:r>
          </a:p>
          <a:p>
            <a:pPr marL="303213" lvl="1" indent="0" eaLnBrk="1" hangingPunct="1">
              <a:buClrTx/>
              <a:buFont typeface="Symbol" panose="05050102010706020507" pitchFamily="18" charset="2"/>
              <a:buNone/>
            </a:pPr>
            <a:r>
              <a:rPr kumimoji="1"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 → L | D | TL | TD </a:t>
            </a:r>
          </a:p>
          <a:p>
            <a:pPr marL="303213" lvl="1" indent="0" eaLnBrk="1" hangingPunct="1">
              <a:buClrTx/>
              <a:buFont typeface="Symbol" panose="05050102010706020507" pitchFamily="18" charset="2"/>
              <a:buNone/>
            </a:pPr>
            <a:r>
              <a:rPr kumimoji="1"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L →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|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|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| … |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z</a:t>
            </a:r>
          </a:p>
          <a:p>
            <a:pPr marL="303213" lvl="1" indent="0" eaLnBrk="1" hangingPunct="1">
              <a:buClrTx/>
              <a:buFont typeface="Symbol" panose="05050102010706020507" pitchFamily="18" charset="2"/>
              <a:buNone/>
            </a:pPr>
            <a:r>
              <a:rPr kumimoji="1"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 →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 | 1 | 2 | 3 |…| 9</a:t>
            </a:r>
          </a:p>
          <a:p>
            <a:pPr lvl="2" eaLnBrk="1" hangingPunct="1"/>
            <a:endParaRPr kumimoji="1" lang="en-US" altLang="zh-CN" dirty="0"/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627063" y="3786188"/>
            <a:ext cx="4606925" cy="1143000"/>
          </a:xfrm>
          <a:prstGeom prst="cloudCallout">
            <a:avLst>
              <a:gd name="adj1" fmla="val -41931"/>
              <a:gd name="adj2" fmla="val -62460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500" b="1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请写出无符号整数和浮点数的文法</a:t>
            </a:r>
          </a:p>
        </p:txBody>
      </p:sp>
      <p:grpSp>
        <p:nvGrpSpPr>
          <p:cNvPr id="67589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59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867400" y="857250"/>
            <a:ext cx="2371725" cy="277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TDL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TDDL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TLDDL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…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TD…LDDL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DD…LDDL</a:t>
            </a:r>
          </a:p>
        </p:txBody>
      </p:sp>
      <p:sp>
        <p:nvSpPr>
          <p:cNvPr id="14" name="爆炸形 1 13"/>
          <p:cNvSpPr/>
          <p:nvPr/>
        </p:nvSpPr>
        <p:spPr>
          <a:xfrm>
            <a:off x="5435600" y="3749675"/>
            <a:ext cx="3351213" cy="1208088"/>
          </a:xfrm>
          <a:prstGeom prst="irregularSeal1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</a:rPr>
              <a:t>：字母数字串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27088" y="3071813"/>
            <a:ext cx="4801314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shade val="50000"/>
                <a:shade val="75000"/>
                <a:lumMod val="80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该文法生成的语言是：部分标识符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30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语言上的运算</a:t>
            </a:r>
          </a:p>
        </p:txBody>
      </p:sp>
      <p:grpSp>
        <p:nvGrpSpPr>
          <p:cNvPr id="69635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3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69636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815975"/>
            <a:ext cx="7689850" cy="304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85813" y="4000500"/>
            <a:ext cx="7715250" cy="862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例：令</a:t>
            </a:r>
            <a:r>
              <a:rPr lang="en-US" altLang="zh-CN" sz="2500" b="1" i="1" dirty="0"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r>
              <a:rPr lang="en-US" altLang="zh-CN" sz="2500" b="1" dirty="0">
                <a:latin typeface="+mn-ea"/>
                <a:ea typeface="+mn-ea"/>
                <a:cs typeface="Times New Roman" panose="02020603050405020304" pitchFamily="18" charset="0"/>
              </a:rPr>
              <a:t>={_, </a:t>
            </a:r>
            <a:r>
              <a:rPr lang="en-US" altLang="zh-CN" sz="2500" b="1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500" b="1" i="1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500" b="1" dirty="0"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500" b="1" i="1" dirty="0">
                <a:latin typeface="Times New Roman" pitchFamily="18" charset="0"/>
                <a:ea typeface="+mn-ea"/>
                <a:cs typeface="Times New Roman" pitchFamily="18" charset="0"/>
              </a:rPr>
              <a:t>Z</a:t>
            </a: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500" b="1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500" b="1" i="1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500" b="1" dirty="0"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500" b="1" i="1" dirty="0">
                <a:latin typeface="Times New Roman" pitchFamily="18" charset="0"/>
                <a:ea typeface="+mn-ea"/>
                <a:cs typeface="Times New Roman" pitchFamily="18" charset="0"/>
              </a:rPr>
              <a:t>z</a:t>
            </a:r>
            <a:r>
              <a:rPr lang="en-US" altLang="zh-CN" sz="2500" b="1" dirty="0"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500" b="1" i="1" dirty="0"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500" b="1" dirty="0">
                <a:latin typeface="+mn-ea"/>
                <a:ea typeface="+mn-ea"/>
                <a:cs typeface="Times New Roman" panose="02020603050405020304" pitchFamily="18" charset="0"/>
              </a:rPr>
              <a:t>={0</a:t>
            </a: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500" b="1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500" b="1" dirty="0"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500" b="1" dirty="0">
                <a:latin typeface="+mn-ea"/>
                <a:ea typeface="+mn-ea"/>
                <a:cs typeface="Times New Roman" panose="02020603050405020304" pitchFamily="18" charset="0"/>
              </a:rPr>
              <a:t>9}</a:t>
            </a: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。则</a:t>
            </a:r>
            <a:r>
              <a:rPr lang="en-US" altLang="zh-CN" sz="2500" b="1" i="1" dirty="0"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r>
              <a:rPr lang="en-US" altLang="zh-CN" sz="2500" b="1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2500" b="1" i="1" dirty="0"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r>
              <a:rPr lang="en-US" altLang="zh-CN" sz="2500" b="1" dirty="0">
                <a:latin typeface="Times New Roman" pitchFamily="18" charset="0"/>
                <a:ea typeface="+mn-ea"/>
                <a:cs typeface="Times New Roman" pitchFamily="18" charset="0"/>
              </a:rPr>
              <a:t>∪</a:t>
            </a:r>
            <a:r>
              <a:rPr lang="en-US" altLang="zh-CN" sz="2500" b="1" i="1" dirty="0"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500" b="1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en-US" altLang="zh-CN" sz="2500" b="1" baseline="30000" dirty="0">
                <a:latin typeface="+mn-ea"/>
                <a:ea typeface="+mn-ea"/>
                <a:cs typeface="Times New Roman" panose="02020603050405020304" pitchFamily="18" charset="0"/>
              </a:rPr>
              <a:t>*</a:t>
            </a:r>
            <a:r>
              <a:rPr lang="zh-CN" altLang="en-US" sz="2500" b="1" dirty="0">
                <a:latin typeface="+mn-ea"/>
                <a:ea typeface="+mn-ea"/>
                <a:cs typeface="Times New Roman" panose="02020603050405020304" pitchFamily="18" charset="0"/>
              </a:rPr>
              <a:t>表示的语言是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31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内容占位符 1"/>
          <p:cNvSpPr>
            <a:spLocks noGrp="1"/>
          </p:cNvSpPr>
          <p:nvPr>
            <p:ph idx="1"/>
          </p:nvPr>
        </p:nvSpPr>
        <p:spPr>
          <a:xfrm>
            <a:off x="2916238" y="1779588"/>
            <a:ext cx="2879725" cy="1223962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en-US" altLang="zh-CN" sz="4800"/>
              <a:t>The End</a:t>
            </a:r>
            <a:endParaRPr lang="zh-CN" altLang="en-US" sz="4800"/>
          </a:p>
        </p:txBody>
      </p:sp>
      <p:sp>
        <p:nvSpPr>
          <p:cNvPr id="110595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059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19EA8AD6-43E4-4EF7-8007-C91CD55344AB}" type="slidenum">
              <a:rPr lang="zh-CN" altLang="en-US" smtClean="0">
                <a:solidFill>
                  <a:srgbClr val="073E87"/>
                </a:solidFill>
              </a:rPr>
              <a:pPr/>
              <a:t>32</a:t>
            </a:fld>
            <a:endParaRPr lang="en-US" altLang="zh-CN">
              <a:solidFill>
                <a:srgbClr val="073E87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22520</TotalTime>
  <Words>2647</Words>
  <Application>Microsoft Office PowerPoint</Application>
  <PresentationFormat>全屏显示(16:9)</PresentationFormat>
  <Paragraphs>330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8" baseType="lpstr">
      <vt:lpstr>Time New Roman</vt:lpstr>
      <vt:lpstr>华文楷体</vt:lpstr>
      <vt:lpstr>华文楷体 (正文)</vt:lpstr>
      <vt:lpstr>楷体</vt:lpstr>
      <vt:lpstr>楷体_GB2312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波形</vt:lpstr>
      <vt:lpstr>1_波形</vt:lpstr>
      <vt:lpstr>PowerPoint 演示文稿</vt:lpstr>
      <vt:lpstr>主要内容</vt:lpstr>
      <vt:lpstr>字母表 (Alphabet)</vt:lpstr>
      <vt:lpstr>字母表上的运算</vt:lpstr>
      <vt:lpstr>字母表上的运算</vt:lpstr>
      <vt:lpstr>字母表上的运算</vt:lpstr>
      <vt:lpstr>字母表上的运算</vt:lpstr>
      <vt:lpstr>PowerPoint 演示文稿</vt:lpstr>
      <vt:lpstr>串上的运算——连接</vt:lpstr>
      <vt:lpstr>串上的运算——幂</vt:lpstr>
      <vt:lpstr>自然语言的例子——句子的构成规则</vt:lpstr>
      <vt:lpstr>文法(Grammer)的形式化定义</vt:lpstr>
      <vt:lpstr>文法的形式化定义</vt:lpstr>
      <vt:lpstr>文法的形式化定义</vt:lpstr>
      <vt:lpstr>文法的形式化定义</vt:lpstr>
      <vt:lpstr>文法的形式化定义</vt:lpstr>
      <vt:lpstr>文法的形式化定义</vt:lpstr>
      <vt:lpstr>产生式的简写</vt:lpstr>
      <vt:lpstr>符号约定</vt:lpstr>
      <vt:lpstr>符号约定</vt:lpstr>
      <vt:lpstr>符号约定</vt:lpstr>
      <vt:lpstr>自然语言的例子</vt:lpstr>
      <vt:lpstr>推导 (Derivations)和归约(Reductions)</vt:lpstr>
      <vt:lpstr>推导 (Derivations)和归约(Reductions)</vt:lpstr>
      <vt:lpstr>PowerPoint 演示文稿</vt:lpstr>
      <vt:lpstr>回答前面的问题</vt:lpstr>
      <vt:lpstr>句型和句子</vt:lpstr>
      <vt:lpstr>例</vt:lpstr>
      <vt:lpstr>语言的形式化定义</vt:lpstr>
      <vt:lpstr>例</vt:lpstr>
      <vt:lpstr>语言上的运算</vt:lpstr>
      <vt:lpstr>PowerPoint 演示文稿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8615952081735</cp:lastModifiedBy>
  <cp:revision>1472</cp:revision>
  <cp:lastPrinted>2015-09-16T04:39:46Z</cp:lastPrinted>
  <dcterms:created xsi:type="dcterms:W3CDTF">2003-07-09T14:46:46Z</dcterms:created>
  <dcterms:modified xsi:type="dcterms:W3CDTF">2025-09-08T09:13:19Z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