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62" r:id="rId1"/>
    <p:sldMasterId id="2147484781" r:id="rId2"/>
  </p:sldMasterIdLst>
  <p:notesMasterIdLst>
    <p:notesMasterId r:id="rId50"/>
  </p:notesMasterIdLst>
  <p:handoutMasterIdLst>
    <p:handoutMasterId r:id="rId51"/>
  </p:handoutMasterIdLst>
  <p:sldIdLst>
    <p:sldId id="736" r:id="rId3"/>
    <p:sldId id="748" r:id="rId4"/>
    <p:sldId id="712" r:id="rId5"/>
    <p:sldId id="713" r:id="rId6"/>
    <p:sldId id="714" r:id="rId7"/>
    <p:sldId id="828" r:id="rId8"/>
    <p:sldId id="829" r:id="rId9"/>
    <p:sldId id="256" r:id="rId10"/>
    <p:sldId id="715" r:id="rId11"/>
    <p:sldId id="830" r:id="rId12"/>
    <p:sldId id="737" r:id="rId13"/>
    <p:sldId id="774" r:id="rId14"/>
    <p:sldId id="790" r:id="rId15"/>
    <p:sldId id="739" r:id="rId16"/>
    <p:sldId id="740" r:id="rId17"/>
    <p:sldId id="794" r:id="rId18"/>
    <p:sldId id="742" r:id="rId19"/>
    <p:sldId id="743" r:id="rId20"/>
    <p:sldId id="781" r:id="rId21"/>
    <p:sldId id="782" r:id="rId22"/>
    <p:sldId id="783" r:id="rId23"/>
    <p:sldId id="735" r:id="rId24"/>
    <p:sldId id="749" r:id="rId25"/>
    <p:sldId id="750" r:id="rId26"/>
    <p:sldId id="751" r:id="rId27"/>
    <p:sldId id="752" r:id="rId28"/>
    <p:sldId id="753" r:id="rId29"/>
    <p:sldId id="754" r:id="rId30"/>
    <p:sldId id="756" r:id="rId31"/>
    <p:sldId id="757" r:id="rId32"/>
    <p:sldId id="780" r:id="rId33"/>
    <p:sldId id="759" r:id="rId34"/>
    <p:sldId id="760" r:id="rId35"/>
    <p:sldId id="777" r:id="rId36"/>
    <p:sldId id="778" r:id="rId37"/>
    <p:sldId id="779" r:id="rId38"/>
    <p:sldId id="775" r:id="rId39"/>
    <p:sldId id="764" r:id="rId40"/>
    <p:sldId id="769" r:id="rId41"/>
    <p:sldId id="784" r:id="rId42"/>
    <p:sldId id="770" r:id="rId43"/>
    <p:sldId id="771" r:id="rId44"/>
    <p:sldId id="785" r:id="rId45"/>
    <p:sldId id="786" r:id="rId46"/>
    <p:sldId id="787" r:id="rId47"/>
    <p:sldId id="788" r:id="rId48"/>
    <p:sldId id="772" r:id="rId49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3399"/>
    <a:srgbClr val="008000"/>
    <a:srgbClr val="006600"/>
    <a:srgbClr val="FF33CC"/>
    <a:srgbClr val="00C08E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8892" autoAdjust="0"/>
  </p:normalViewPr>
  <p:slideViewPr>
    <p:cSldViewPr>
      <p:cViewPr varScale="1">
        <p:scale>
          <a:sx n="84" d="100"/>
          <a:sy n="84" d="100"/>
        </p:scale>
        <p:origin x="102" y="7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851A5DD-1A6E-4AB7-BB62-E2D46F9F1B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92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6763"/>
            <a:ext cx="682466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D74DA35-8635-4BDF-AA8C-65560060F5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0068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F4BFCB-17AC-4014-8281-10052BB5D1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+mn-cs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+mn-cs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0088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F4BFCB-17AC-4014-8281-10052BB5D1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+mn-cs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+mn-cs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8589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533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4669E-1EC8-4FF9-B7DF-AEA93399343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40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2C4569-80C5-4CC9-A24D-FFF3F469C2A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744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4669E-1EC8-4FF9-B7DF-AEA93399343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8867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886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0079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09B1F6B-77A2-4689-A04C-16AD9699CA4D}" type="slidenum">
              <a:rPr lang="zh-CN" altLang="en-US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85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6416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09B1F6B-77A2-4689-A04C-16AD9699CA4D}" type="slidenum">
              <a:rPr lang="zh-CN" altLang="en-US" smtClean="0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857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5216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AC119F-C965-4607-AE9B-1048D84D090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5216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893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7152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4049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01596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268" tIns="47635" rIns="95268" bIns="47635" anchor="b"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74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C96FBA-ACA2-41A9-95C5-8927D82AEA27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74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3524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136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F95984D-5E01-482E-A789-40BD7E0E213C}" type="slidenum">
              <a:rPr lang="zh-CN" altLang="en-US" smtClean="0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0257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0958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177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F3C4714-3BF6-4604-84F4-660B4708CF0F}" type="slidenum">
              <a:rPr lang="zh-CN" altLang="en-US" smtClean="0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0114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A77CE76-21F4-4825-9374-D236DB921557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556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218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88AE43-E9D1-4534-8239-D899C8A48027}" type="slidenum">
              <a:rPr lang="zh-CN" altLang="en-US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11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22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0595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9618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172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6435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673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265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48C8CD-51C4-4FA0-9F6B-F8331E451C9A}" type="slidenum">
              <a:rPr lang="en-US" altLang="zh-CN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endParaRPr lang="zh-CN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447661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00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0779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31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431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32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509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33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6579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34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2762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35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2043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06648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37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4812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60996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7095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71049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0039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42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8089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43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3822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44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220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45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111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46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3082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5981A6-AA2F-4D16-9934-F73E594B34B2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24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15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8275" y="267494"/>
            <a:ext cx="1162050" cy="2730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21F1F6-B610-4C16-B03C-1F2229AE00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010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184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1F1F6-B610-4C16-B03C-1F2229AE00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0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79" r:id="rId1"/>
    <p:sldLayoutId id="214748478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4390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  <p:sldLayoutId id="214748478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wp1603710463/article/details/50365495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unoob.com/regexp/regexp-syntax.htm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chaifang0620/article/details/103124090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gnuwin32.sourceforge.net/packages/flex.htm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gnuwin32.sourceforge.net/packages/bison.htm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584967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正则表达式到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NFA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NFA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到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DFA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：子集构造法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最小化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DFA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4C6A2-7E85-428E-BF6D-B25E919AF6D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1639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757130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识别单词的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DFA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词法分析器的实现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词法分析器自动生成工具：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lex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	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4C6A2-7E85-428E-BF6D-B25E919AF6D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47903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1336675"/>
            <a:ext cx="1485900" cy="917575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3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3.6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</a:p>
        </p:txBody>
      </p:sp>
      <p:sp>
        <p:nvSpPr>
          <p:cNvPr id="92164" name="Rectangle 48"/>
          <p:cNvSpPr>
            <a:spLocks noChangeArrowheads="1"/>
          </p:cNvSpPr>
          <p:nvPr/>
        </p:nvSpPr>
        <p:spPr bwMode="auto">
          <a:xfrm>
            <a:off x="1897063" y="1406525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6193654" y="2213298"/>
            <a:ext cx="504825" cy="500062"/>
            <a:chOff x="4107105" y="3856684"/>
            <a:chExt cx="504760" cy="500915"/>
          </a:xfrm>
        </p:grpSpPr>
        <p:sp>
          <p:nvSpPr>
            <p:cNvPr id="92254" name="Freeform 19"/>
            <p:cNvSpPr>
              <a:spLocks/>
            </p:cNvSpPr>
            <p:nvPr/>
          </p:nvSpPr>
          <p:spPr bwMode="auto">
            <a:xfrm>
              <a:off x="4168999" y="4132397"/>
              <a:ext cx="382539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5" name="Rectangle 20"/>
            <p:cNvSpPr>
              <a:spLocks noChangeArrowheads="1"/>
            </p:cNvSpPr>
            <p:nvPr/>
          </p:nvSpPr>
          <p:spPr bwMode="auto">
            <a:xfrm>
              <a:off x="4107105" y="3856684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</p:grpSp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7336654" y="2211710"/>
            <a:ext cx="504825" cy="512763"/>
            <a:chOff x="5261066" y="3856540"/>
            <a:chExt cx="504760" cy="512424"/>
          </a:xfrm>
        </p:grpSpPr>
        <p:sp>
          <p:nvSpPr>
            <p:cNvPr id="92252" name="Freeform 30"/>
            <p:cNvSpPr>
              <a:spLocks/>
            </p:cNvSpPr>
            <p:nvPr/>
          </p:nvSpPr>
          <p:spPr bwMode="auto">
            <a:xfrm>
              <a:off x="5311865" y="4143762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3" name="Rectangle 31"/>
            <p:cNvSpPr>
              <a:spLocks noChangeArrowheads="1"/>
            </p:cNvSpPr>
            <p:nvPr/>
          </p:nvSpPr>
          <p:spPr bwMode="auto">
            <a:xfrm>
              <a:off x="5261066" y="3856540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336279" y="2656210"/>
            <a:ext cx="1273175" cy="592138"/>
            <a:chOff x="2207112" y="4300037"/>
            <a:chExt cx="1272994" cy="593390"/>
          </a:xfrm>
        </p:grpSpPr>
        <p:sp>
          <p:nvSpPr>
            <p:cNvPr id="92249" name="Line 13"/>
            <p:cNvSpPr>
              <a:spLocks noChangeShapeType="1"/>
            </p:cNvSpPr>
            <p:nvPr/>
          </p:nvSpPr>
          <p:spPr bwMode="auto">
            <a:xfrm>
              <a:off x="2207112" y="4624137"/>
              <a:ext cx="649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0" name="Rectangle 14"/>
            <p:cNvSpPr>
              <a:spLocks noChangeArrowheads="1"/>
            </p:cNvSpPr>
            <p:nvPr/>
          </p:nvSpPr>
          <p:spPr bwMode="auto">
            <a:xfrm>
              <a:off x="2235683" y="430003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2873767" y="4357308"/>
              <a:ext cx="606339" cy="5361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A,B</a:t>
              </a:r>
            </a:p>
          </p:txBody>
        </p:sp>
      </p:grpSp>
      <p:grpSp>
        <p:nvGrpSpPr>
          <p:cNvPr id="5" name="组合 5"/>
          <p:cNvGrpSpPr>
            <a:grpSpLocks/>
          </p:cNvGrpSpPr>
          <p:nvPr/>
        </p:nvGrpSpPr>
        <p:grpSpPr bwMode="auto">
          <a:xfrm>
            <a:off x="5622154" y="2641923"/>
            <a:ext cx="1092200" cy="606425"/>
            <a:chOff x="3530916" y="4286990"/>
            <a:chExt cx="1092050" cy="606437"/>
          </a:xfrm>
        </p:grpSpPr>
        <p:sp>
          <p:nvSpPr>
            <p:cNvPr id="92246" name="Line 16"/>
            <p:cNvSpPr>
              <a:spLocks noChangeShapeType="1"/>
            </p:cNvSpPr>
            <p:nvPr/>
          </p:nvSpPr>
          <p:spPr bwMode="auto">
            <a:xfrm>
              <a:off x="3530916" y="4624137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7" name="Rectangle 17"/>
            <p:cNvSpPr>
              <a:spLocks noChangeArrowheads="1"/>
            </p:cNvSpPr>
            <p:nvPr/>
          </p:nvSpPr>
          <p:spPr bwMode="auto">
            <a:xfrm>
              <a:off x="3530916" y="4286990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035672" y="4358428"/>
              <a:ext cx="587294" cy="5349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</p:grpSp>
      <p:grpSp>
        <p:nvGrpSpPr>
          <p:cNvPr id="6" name="组合 7"/>
          <p:cNvGrpSpPr>
            <a:grpSpLocks/>
          </p:cNvGrpSpPr>
          <p:nvPr/>
        </p:nvGrpSpPr>
        <p:grpSpPr bwMode="auto">
          <a:xfrm>
            <a:off x="6714354" y="2641923"/>
            <a:ext cx="1154112" cy="714375"/>
            <a:chOff x="4683290" y="4287071"/>
            <a:chExt cx="1153963" cy="713504"/>
          </a:xfrm>
        </p:grpSpPr>
        <p:sp>
          <p:nvSpPr>
            <p:cNvPr id="92242" name="Line 21"/>
            <p:cNvSpPr>
              <a:spLocks noChangeShapeType="1"/>
            </p:cNvSpPr>
            <p:nvPr/>
          </p:nvSpPr>
          <p:spPr bwMode="auto">
            <a:xfrm>
              <a:off x="4692816" y="4636053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3" name="Rectangle 22"/>
            <p:cNvSpPr>
              <a:spLocks noChangeArrowheads="1"/>
            </p:cNvSpPr>
            <p:nvPr/>
          </p:nvSpPr>
          <p:spPr bwMode="auto">
            <a:xfrm>
              <a:off x="4683290" y="4287071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2236" name="Oval 10"/>
            <p:cNvSpPr>
              <a:spLocks noChangeArrowheads="1"/>
            </p:cNvSpPr>
            <p:nvPr/>
          </p:nvSpPr>
          <p:spPr bwMode="auto">
            <a:xfrm>
              <a:off x="5259478" y="4429772"/>
              <a:ext cx="506348" cy="499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C,D</a:t>
              </a:r>
            </a:p>
          </p:txBody>
        </p:sp>
        <p:sp>
          <p:nvSpPr>
            <p:cNvPr id="92245" name="Oval 45"/>
            <p:cNvSpPr>
              <a:spLocks noChangeArrowheads="1"/>
            </p:cNvSpPr>
            <p:nvPr/>
          </p:nvSpPr>
          <p:spPr bwMode="auto">
            <a:xfrm>
              <a:off x="5188050" y="4358423"/>
              <a:ext cx="649203" cy="64215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>
            <a:grpSpLocks/>
          </p:cNvGrpSpPr>
          <p:nvPr/>
        </p:nvGrpSpPr>
        <p:grpSpPr bwMode="auto">
          <a:xfrm>
            <a:off x="5050654" y="2213298"/>
            <a:ext cx="504825" cy="503237"/>
            <a:chOff x="2883300" y="3904377"/>
            <a:chExt cx="504760" cy="504090"/>
          </a:xfrm>
        </p:grpSpPr>
        <p:sp>
          <p:nvSpPr>
            <p:cNvPr id="92240" name="Freeform 19"/>
            <p:cNvSpPr>
              <a:spLocks/>
            </p:cNvSpPr>
            <p:nvPr/>
          </p:nvSpPr>
          <p:spPr bwMode="auto">
            <a:xfrm>
              <a:off x="2945205" y="4183265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1" name="Rectangle 20"/>
            <p:cNvSpPr>
              <a:spLocks noChangeArrowheads="1"/>
            </p:cNvSpPr>
            <p:nvPr/>
          </p:nvSpPr>
          <p:spPr bwMode="auto">
            <a:xfrm>
              <a:off x="2883300" y="390437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8" name="组合 1"/>
          <p:cNvGrpSpPr>
            <a:grpSpLocks/>
          </p:cNvGrpSpPr>
          <p:nvPr/>
        </p:nvGrpSpPr>
        <p:grpSpPr bwMode="auto">
          <a:xfrm>
            <a:off x="1907404" y="2713360"/>
            <a:ext cx="2428875" cy="509588"/>
            <a:chOff x="-306523" y="4358493"/>
            <a:chExt cx="2429448" cy="508720"/>
          </a:xfrm>
        </p:grpSpPr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557642" y="4358493"/>
              <a:ext cx="565283" cy="50872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2237" name="Rectangle 49"/>
            <p:cNvSpPr>
              <a:spLocks noChangeArrowheads="1"/>
            </p:cNvSpPr>
            <p:nvPr/>
          </p:nvSpPr>
          <p:spPr bwMode="auto">
            <a:xfrm>
              <a:off x="-306523" y="4389589"/>
              <a:ext cx="647615" cy="37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kumimoji="0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2238" name="Line 21"/>
            <p:cNvSpPr>
              <a:spLocks noChangeShapeType="1"/>
            </p:cNvSpPr>
            <p:nvPr/>
          </p:nvSpPr>
          <p:spPr bwMode="auto">
            <a:xfrm flipV="1">
              <a:off x="1276087" y="4629330"/>
              <a:ext cx="252431" cy="6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39" name="Rectangle 22"/>
            <p:cNvSpPr>
              <a:spLocks noChangeArrowheads="1"/>
            </p:cNvSpPr>
            <p:nvPr/>
          </p:nvSpPr>
          <p:spPr bwMode="auto">
            <a:xfrm>
              <a:off x="693838" y="4498273"/>
              <a:ext cx="504861" cy="215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</p:grpSp>
      <p:grpSp>
        <p:nvGrpSpPr>
          <p:cNvPr id="92172" name="组合 56"/>
          <p:cNvGrpSpPr>
            <a:grpSpLocks/>
          </p:cNvGrpSpPr>
          <p:nvPr/>
        </p:nvGrpSpPr>
        <p:grpSpPr bwMode="auto">
          <a:xfrm>
            <a:off x="2754313" y="642938"/>
            <a:ext cx="5175250" cy="1285875"/>
            <a:chOff x="2338388" y="1193800"/>
            <a:chExt cx="3889375" cy="755650"/>
          </a:xfrm>
        </p:grpSpPr>
        <p:grpSp>
          <p:nvGrpSpPr>
            <p:cNvPr id="92216" name="Group 4"/>
            <p:cNvGrpSpPr>
              <a:grpSpLocks/>
            </p:cNvGrpSpPr>
            <p:nvPr/>
          </p:nvGrpSpPr>
          <p:grpSpPr bwMode="auto">
            <a:xfrm>
              <a:off x="3060700" y="1193800"/>
              <a:ext cx="3167063" cy="755650"/>
              <a:chOff x="1247" y="2478"/>
              <a:chExt cx="1995" cy="634"/>
            </a:xfrm>
          </p:grpSpPr>
          <p:sp>
            <p:nvSpPr>
              <p:cNvPr id="14" name="Oval 10"/>
              <p:cNvSpPr>
                <a:spLocks noChangeArrowheads="1"/>
              </p:cNvSpPr>
              <p:nvPr/>
            </p:nvSpPr>
            <p:spPr bwMode="auto">
              <a:xfrm>
                <a:off x="1293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0" name="Freeform 11"/>
              <p:cNvSpPr>
                <a:spLocks/>
              </p:cNvSpPr>
              <p:nvPr/>
            </p:nvSpPr>
            <p:spPr bwMode="auto">
              <a:xfrm>
                <a:off x="1310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1" name="Rectangle 12"/>
              <p:cNvSpPr>
                <a:spLocks noChangeArrowheads="1"/>
              </p:cNvSpPr>
              <p:nvPr/>
            </p:nvSpPr>
            <p:spPr bwMode="auto">
              <a:xfrm>
                <a:off x="1247" y="2479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2" name="Line 13"/>
              <p:cNvSpPr>
                <a:spLocks noChangeShapeType="1"/>
              </p:cNvSpPr>
              <p:nvPr/>
            </p:nvSpPr>
            <p:spPr bwMode="auto">
              <a:xfrm>
                <a:off x="1519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3" name="Rectangle 14"/>
              <p:cNvSpPr>
                <a:spLocks noChangeArrowheads="1"/>
              </p:cNvSpPr>
              <p:nvPr/>
            </p:nvSpPr>
            <p:spPr bwMode="auto">
              <a:xfrm>
                <a:off x="1519" y="2755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837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25" name="Line 16"/>
              <p:cNvSpPr>
                <a:spLocks noChangeShapeType="1"/>
              </p:cNvSpPr>
              <p:nvPr/>
            </p:nvSpPr>
            <p:spPr bwMode="auto">
              <a:xfrm>
                <a:off x="2063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6" name="Rectangle 17"/>
              <p:cNvSpPr>
                <a:spLocks noChangeArrowheads="1"/>
              </p:cNvSpPr>
              <p:nvPr/>
            </p:nvSpPr>
            <p:spPr bwMode="auto">
              <a:xfrm>
                <a:off x="2063" y="2751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19" name="Oval 18"/>
              <p:cNvSpPr>
                <a:spLocks noChangeArrowheads="1"/>
              </p:cNvSpPr>
              <p:nvPr/>
            </p:nvSpPr>
            <p:spPr bwMode="auto">
              <a:xfrm>
                <a:off x="2381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8" name="Freeform 19"/>
              <p:cNvSpPr>
                <a:spLocks/>
              </p:cNvSpPr>
              <p:nvPr/>
            </p:nvSpPr>
            <p:spPr bwMode="auto">
              <a:xfrm>
                <a:off x="1851" y="2657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9" name="Rectangle 20"/>
              <p:cNvSpPr>
                <a:spLocks noChangeArrowheads="1"/>
              </p:cNvSpPr>
              <p:nvPr/>
            </p:nvSpPr>
            <p:spPr bwMode="auto">
              <a:xfrm>
                <a:off x="1791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30" name="Line 21"/>
              <p:cNvSpPr>
                <a:spLocks noChangeShapeType="1"/>
              </p:cNvSpPr>
              <p:nvPr/>
            </p:nvSpPr>
            <p:spPr bwMode="auto">
              <a:xfrm>
                <a:off x="2608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31" name="Rectangle 22"/>
              <p:cNvSpPr>
                <a:spLocks noChangeArrowheads="1"/>
              </p:cNvSpPr>
              <p:nvPr/>
            </p:nvSpPr>
            <p:spPr bwMode="auto">
              <a:xfrm>
                <a:off x="2608" y="2750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4" name="Oval 23"/>
              <p:cNvSpPr>
                <a:spLocks noChangeArrowheads="1"/>
              </p:cNvSpPr>
              <p:nvPr/>
            </p:nvSpPr>
            <p:spPr bwMode="auto">
              <a:xfrm>
                <a:off x="2971" y="2840"/>
                <a:ext cx="227" cy="22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</a:p>
            </p:txBody>
          </p:sp>
          <p:sp>
            <p:nvSpPr>
              <p:cNvPr id="92233" name="Freeform 30"/>
              <p:cNvSpPr>
                <a:spLocks/>
              </p:cNvSpPr>
              <p:nvPr/>
            </p:nvSpPr>
            <p:spPr bwMode="auto">
              <a:xfrm>
                <a:off x="2392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34" name="Rectangle 31"/>
              <p:cNvSpPr>
                <a:spLocks noChangeArrowheads="1"/>
              </p:cNvSpPr>
              <p:nvPr/>
            </p:nvSpPr>
            <p:spPr bwMode="auto">
              <a:xfrm>
                <a:off x="2336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35" name="Oval 39"/>
              <p:cNvSpPr>
                <a:spLocks noChangeArrowheads="1"/>
              </p:cNvSpPr>
              <p:nvPr/>
            </p:nvSpPr>
            <p:spPr bwMode="auto">
              <a:xfrm>
                <a:off x="2925" y="2795"/>
                <a:ext cx="317" cy="31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2217" name="Rectangle 22"/>
            <p:cNvSpPr>
              <a:spLocks noChangeArrowheads="1"/>
            </p:cNvSpPr>
            <p:nvPr/>
          </p:nvSpPr>
          <p:spPr bwMode="auto">
            <a:xfrm>
              <a:off x="2338388" y="1658938"/>
              <a:ext cx="504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2218" name="Line 21"/>
            <p:cNvSpPr>
              <a:spLocks noChangeShapeType="1"/>
            </p:cNvSpPr>
            <p:nvPr/>
          </p:nvSpPr>
          <p:spPr bwMode="auto">
            <a:xfrm flipV="1">
              <a:off x="2843213" y="1765300"/>
              <a:ext cx="254000" cy="7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7387460" y="3527816"/>
            <a:ext cx="14890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5" name="Group 18">
            <a:extLst>
              <a:ext uri="{FF2B5EF4-FFF2-40B4-BE49-F238E27FC236}">
                <a16:creationId xmlns:a16="http://schemas.microsoft.com/office/drawing/2014/main" id="{AB00628B-C4B8-451E-AA15-90B063BDE3CC}"/>
              </a:ext>
            </a:extLst>
          </p:cNvPr>
          <p:cNvGraphicFramePr>
            <a:graphicFrameLocks noGrp="1"/>
          </p:cNvGraphicFramePr>
          <p:nvPr/>
        </p:nvGraphicFramePr>
        <p:xfrm>
          <a:off x="3370816" y="3506787"/>
          <a:ext cx="3659187" cy="1563690"/>
        </p:xfrm>
        <a:graphic>
          <a:graphicData uri="http://schemas.openxmlformats.org/drawingml/2006/table">
            <a:tbl>
              <a:tblPr/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6" name="组合 11">
            <a:extLst>
              <a:ext uri="{FF2B5EF4-FFF2-40B4-BE49-F238E27FC236}">
                <a16:creationId xmlns:a16="http://schemas.microsoft.com/office/drawing/2014/main" id="{B63220E2-990A-4C78-AECE-3A02880097BD}"/>
              </a:ext>
            </a:extLst>
          </p:cNvPr>
          <p:cNvGrpSpPr>
            <a:grpSpLocks/>
          </p:cNvGrpSpPr>
          <p:nvPr/>
        </p:nvGrpSpPr>
        <p:grpSpPr bwMode="auto">
          <a:xfrm>
            <a:off x="1303862" y="3455512"/>
            <a:ext cx="3114965" cy="1624011"/>
            <a:chOff x="1350673" y="2171726"/>
            <a:chExt cx="3114965" cy="1624160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36B67414-89A7-477B-BCCE-CB3442C874B2}"/>
                </a:ext>
              </a:extLst>
            </p:cNvPr>
            <p:cNvSpPr/>
            <p:nvPr/>
          </p:nvSpPr>
          <p:spPr>
            <a:xfrm>
              <a:off x="1350673" y="2221781"/>
              <a:ext cx="1655763" cy="4858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68" name="矩形 1">
              <a:extLst>
                <a:ext uri="{FF2B5EF4-FFF2-40B4-BE49-F238E27FC236}">
                  <a16:creationId xmlns:a16="http://schemas.microsoft.com/office/drawing/2014/main" id="{4396AF78-6830-4E7E-A968-C24125DF9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325" y="2244421"/>
              <a:ext cx="5984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状态</a:t>
              </a:r>
            </a:p>
          </p:txBody>
        </p:sp>
        <p:sp>
          <p:nvSpPr>
            <p:cNvPr id="69" name="矩形 36">
              <a:extLst>
                <a:ext uri="{FF2B5EF4-FFF2-40B4-BE49-F238E27FC236}">
                  <a16:creationId xmlns:a16="http://schemas.microsoft.com/office/drawing/2014/main" id="{502AA435-20FB-4E16-988B-EB9572DA7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150" y="2171726"/>
              <a:ext cx="5984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输入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CB8B1EA8-2901-4A7C-83B3-88480C86CC07}"/>
                </a:ext>
              </a:extLst>
            </p:cNvPr>
            <p:cNvCxnSpPr/>
            <p:nvPr/>
          </p:nvCxnSpPr>
          <p:spPr bwMode="auto">
            <a:xfrm>
              <a:off x="3431157" y="2248517"/>
              <a:ext cx="930275" cy="2603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矩形 34">
              <a:extLst>
                <a:ext uri="{FF2B5EF4-FFF2-40B4-BE49-F238E27FC236}">
                  <a16:creationId xmlns:a16="http://schemas.microsoft.com/office/drawing/2014/main" id="{02951A9E-FEF6-480A-8C80-47BCBDD5C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126" y="3565698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从带有</a:t>
            </a:r>
            <a:r>
              <a:rPr lang="en-US" altLang="zh-CN" sz="3200" i="1" dirty="0">
                <a:solidFill>
                  <a:srgbClr val="000000"/>
                </a:solidFill>
                <a:ea typeface="楷体_GB2312"/>
                <a:cs typeface="楷体_GB2312"/>
              </a:rPr>
              <a:t>ε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边的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187" name="Oval 10"/>
          <p:cNvSpPr>
            <a:spLocks noChangeArrowheads="1"/>
          </p:cNvSpPr>
          <p:nvPr/>
        </p:nvSpPr>
        <p:spPr bwMode="auto">
          <a:xfrm>
            <a:off x="2552700" y="1606550"/>
            <a:ext cx="37623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</a:p>
        </p:txBody>
      </p:sp>
      <p:sp>
        <p:nvSpPr>
          <p:cNvPr id="94212" name="Freeform 11"/>
          <p:cNvSpPr>
            <a:spLocks/>
          </p:cNvSpPr>
          <p:nvPr/>
        </p:nvSpPr>
        <p:spPr bwMode="auto">
          <a:xfrm>
            <a:off x="2541588" y="1381125"/>
            <a:ext cx="382587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3" name="Rectangle 12"/>
          <p:cNvSpPr>
            <a:spLocks noChangeArrowheads="1"/>
          </p:cNvSpPr>
          <p:nvPr/>
        </p:nvSpPr>
        <p:spPr bwMode="auto">
          <a:xfrm>
            <a:off x="247967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</a:p>
        </p:txBody>
      </p:sp>
      <p:sp>
        <p:nvSpPr>
          <p:cNvPr id="94214" name="Line 13"/>
          <p:cNvSpPr>
            <a:spLocks noChangeShapeType="1"/>
          </p:cNvSpPr>
          <p:nvPr/>
        </p:nvSpPr>
        <p:spPr bwMode="auto">
          <a:xfrm>
            <a:off x="291147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5" name="Rectangle 14"/>
          <p:cNvSpPr>
            <a:spLocks noChangeArrowheads="1"/>
          </p:cNvSpPr>
          <p:nvPr/>
        </p:nvSpPr>
        <p:spPr bwMode="auto">
          <a:xfrm>
            <a:off x="2911475" y="1444625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</a:p>
        </p:txBody>
      </p:sp>
      <p:sp>
        <p:nvSpPr>
          <p:cNvPr id="93192" name="Oval 15"/>
          <p:cNvSpPr>
            <a:spLocks noChangeArrowheads="1"/>
          </p:cNvSpPr>
          <p:nvPr/>
        </p:nvSpPr>
        <p:spPr bwMode="auto">
          <a:xfrm>
            <a:off x="3416300" y="1606550"/>
            <a:ext cx="36988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</p:txBody>
      </p:sp>
      <p:sp>
        <p:nvSpPr>
          <p:cNvPr id="94217" name="Line 16"/>
          <p:cNvSpPr>
            <a:spLocks noChangeShapeType="1"/>
          </p:cNvSpPr>
          <p:nvPr/>
        </p:nvSpPr>
        <p:spPr bwMode="auto">
          <a:xfrm>
            <a:off x="377507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8" name="Rectangle 17"/>
          <p:cNvSpPr>
            <a:spLocks noChangeArrowheads="1"/>
          </p:cNvSpPr>
          <p:nvPr/>
        </p:nvSpPr>
        <p:spPr bwMode="auto">
          <a:xfrm>
            <a:off x="3775075" y="149860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</a:p>
        </p:txBody>
      </p:sp>
      <p:sp>
        <p:nvSpPr>
          <p:cNvPr id="93195" name="Oval 18"/>
          <p:cNvSpPr>
            <a:spLocks noChangeArrowheads="1"/>
          </p:cNvSpPr>
          <p:nvPr/>
        </p:nvSpPr>
        <p:spPr bwMode="auto">
          <a:xfrm>
            <a:off x="4352925" y="1606550"/>
            <a:ext cx="361950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C</a:t>
            </a:r>
          </a:p>
        </p:txBody>
      </p:sp>
      <p:sp>
        <p:nvSpPr>
          <p:cNvPr id="94220" name="Freeform 19"/>
          <p:cNvSpPr>
            <a:spLocks/>
          </p:cNvSpPr>
          <p:nvPr/>
        </p:nvSpPr>
        <p:spPr bwMode="auto">
          <a:xfrm>
            <a:off x="3405188" y="1381125"/>
            <a:ext cx="382587" cy="223838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21" name="Rectangle 20"/>
          <p:cNvSpPr>
            <a:spLocks noChangeArrowheads="1"/>
          </p:cNvSpPr>
          <p:nvPr/>
        </p:nvSpPr>
        <p:spPr bwMode="auto">
          <a:xfrm>
            <a:off x="334327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</a:p>
        </p:txBody>
      </p:sp>
      <p:sp>
        <p:nvSpPr>
          <p:cNvPr id="94222" name="Line 21"/>
          <p:cNvSpPr>
            <a:spLocks noChangeShapeType="1"/>
          </p:cNvSpPr>
          <p:nvPr/>
        </p:nvSpPr>
        <p:spPr bwMode="auto">
          <a:xfrm>
            <a:off x="2036763" y="175895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23" name="Rectangle 22"/>
          <p:cNvSpPr>
            <a:spLocks noChangeArrowheads="1"/>
          </p:cNvSpPr>
          <p:nvPr/>
        </p:nvSpPr>
        <p:spPr bwMode="auto">
          <a:xfrm>
            <a:off x="1479550" y="1627188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sp>
        <p:nvSpPr>
          <p:cNvPr id="94224" name="Freeform 30"/>
          <p:cNvSpPr>
            <a:spLocks/>
          </p:cNvSpPr>
          <p:nvPr/>
        </p:nvSpPr>
        <p:spPr bwMode="auto">
          <a:xfrm>
            <a:off x="4343400" y="1346200"/>
            <a:ext cx="382588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25" name="Rectangle 31"/>
          <p:cNvSpPr>
            <a:spLocks noChangeArrowheads="1"/>
          </p:cNvSpPr>
          <p:nvPr/>
        </p:nvSpPr>
        <p:spPr bwMode="auto">
          <a:xfrm>
            <a:off x="4281488" y="1071563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</a:p>
        </p:txBody>
      </p:sp>
      <p:sp>
        <p:nvSpPr>
          <p:cNvPr id="94226" name="Oval 39"/>
          <p:cNvSpPr>
            <a:spLocks noChangeArrowheads="1"/>
          </p:cNvSpPr>
          <p:nvPr/>
        </p:nvSpPr>
        <p:spPr bwMode="auto">
          <a:xfrm>
            <a:off x="4279900" y="1552575"/>
            <a:ext cx="506413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227" name="Rectangle 48"/>
          <p:cNvSpPr>
            <a:spLocks noChangeArrowheads="1"/>
          </p:cNvSpPr>
          <p:nvPr/>
        </p:nvSpPr>
        <p:spPr bwMode="auto">
          <a:xfrm>
            <a:off x="611188" y="1549400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94228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54" name="Group 18"/>
          <p:cNvGraphicFramePr>
            <a:graphicFrameLocks noGrp="1"/>
          </p:cNvGraphicFramePr>
          <p:nvPr/>
        </p:nvGraphicFramePr>
        <p:xfrm>
          <a:off x="5005388" y="1187450"/>
          <a:ext cx="3711575" cy="1584342"/>
        </p:xfrm>
        <a:graphic>
          <a:graphicData uri="http://schemas.openxmlformats.org/drawingml/2006/table">
            <a:tbl>
              <a:tblPr/>
              <a:tblGrid>
                <a:gridCol w="102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A,B,C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4932363" y="771525"/>
            <a:ext cx="2855912" cy="1944688"/>
            <a:chOff x="4932363" y="771525"/>
            <a:chExt cx="2855912" cy="1943896"/>
          </a:xfrm>
        </p:grpSpPr>
        <p:sp>
          <p:nvSpPr>
            <p:cNvPr id="53" name="矩形 52"/>
            <p:cNvSpPr/>
            <p:nvPr/>
          </p:nvSpPr>
          <p:spPr>
            <a:xfrm>
              <a:off x="6132513" y="771525"/>
              <a:ext cx="1655762" cy="4855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94287" name="矩形 1"/>
            <p:cNvSpPr>
              <a:spLocks noChangeArrowheads="1"/>
            </p:cNvSpPr>
            <p:nvPr/>
          </p:nvSpPr>
          <p:spPr bwMode="auto">
            <a:xfrm>
              <a:off x="4932363" y="1266825"/>
              <a:ext cx="5984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状态</a:t>
              </a:r>
            </a:p>
          </p:txBody>
        </p:sp>
        <p:sp>
          <p:nvSpPr>
            <p:cNvPr id="94288" name="矩形 36"/>
            <p:cNvSpPr>
              <a:spLocks noChangeArrowheads="1"/>
            </p:cNvSpPr>
            <p:nvPr/>
          </p:nvSpPr>
          <p:spPr bwMode="auto">
            <a:xfrm>
              <a:off x="5437188" y="1123950"/>
              <a:ext cx="5984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输入</a:t>
              </a:r>
            </a:p>
          </p:txBody>
        </p:sp>
        <p:cxnSp>
          <p:nvCxnSpPr>
            <p:cNvPr id="58" name="直接连接符 57"/>
            <p:cNvCxnSpPr/>
            <p:nvPr/>
          </p:nvCxnSpPr>
          <p:spPr bwMode="auto">
            <a:xfrm>
              <a:off x="5026025" y="1201563"/>
              <a:ext cx="982663" cy="366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290" name="矩形 34"/>
            <p:cNvSpPr>
              <a:spLocks noChangeArrowheads="1"/>
            </p:cNvSpPr>
            <p:nvPr/>
          </p:nvSpPr>
          <p:spPr bwMode="auto">
            <a:xfrm>
              <a:off x="5586412" y="2485233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●</a:t>
              </a:r>
            </a:p>
          </p:txBody>
        </p:sp>
      </p:grpSp>
      <p:grpSp>
        <p:nvGrpSpPr>
          <p:cNvPr id="4" name="组合 6"/>
          <p:cNvGrpSpPr>
            <a:grpSpLocks/>
          </p:cNvGrpSpPr>
          <p:nvPr/>
        </p:nvGrpSpPr>
        <p:grpSpPr bwMode="auto">
          <a:xfrm>
            <a:off x="3960813" y="2662238"/>
            <a:ext cx="504825" cy="571500"/>
            <a:chOff x="3779226" y="2644461"/>
            <a:chExt cx="504895" cy="569978"/>
          </a:xfrm>
        </p:grpSpPr>
        <p:sp>
          <p:nvSpPr>
            <p:cNvPr id="94284" name="Freeform 19"/>
            <p:cNvSpPr>
              <a:spLocks/>
            </p:cNvSpPr>
            <p:nvPr/>
          </p:nvSpPr>
          <p:spPr bwMode="auto">
            <a:xfrm>
              <a:off x="3791918" y="2888287"/>
              <a:ext cx="450907" cy="32615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85" name="Rectangle 20"/>
            <p:cNvSpPr>
              <a:spLocks noChangeArrowheads="1"/>
            </p:cNvSpPr>
            <p:nvPr/>
          </p:nvSpPr>
          <p:spPr bwMode="auto">
            <a:xfrm>
              <a:off x="3779226" y="2644461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grpSp>
        <p:nvGrpSpPr>
          <p:cNvPr id="5" name="组合 8"/>
          <p:cNvGrpSpPr>
            <a:grpSpLocks/>
          </p:cNvGrpSpPr>
          <p:nvPr/>
        </p:nvGrpSpPr>
        <p:grpSpPr bwMode="auto">
          <a:xfrm>
            <a:off x="4152900" y="3868738"/>
            <a:ext cx="504825" cy="431800"/>
            <a:chOff x="3971340" y="3849824"/>
            <a:chExt cx="504895" cy="432007"/>
          </a:xfrm>
        </p:grpSpPr>
        <p:sp>
          <p:nvSpPr>
            <p:cNvPr id="94282" name="Line 21"/>
            <p:cNvSpPr>
              <a:spLocks noChangeShapeType="1"/>
            </p:cNvSpPr>
            <p:nvPr/>
          </p:nvSpPr>
          <p:spPr bwMode="auto">
            <a:xfrm>
              <a:off x="4006267" y="3849824"/>
              <a:ext cx="795" cy="4320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83" name="Rectangle 22"/>
            <p:cNvSpPr>
              <a:spLocks noChangeArrowheads="1"/>
            </p:cNvSpPr>
            <p:nvPr/>
          </p:nvSpPr>
          <p:spPr bwMode="auto">
            <a:xfrm>
              <a:off x="3971340" y="3915906"/>
              <a:ext cx="504895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grpSp>
        <p:nvGrpSpPr>
          <p:cNvPr id="6" name="组合 4"/>
          <p:cNvGrpSpPr>
            <a:grpSpLocks/>
          </p:cNvGrpSpPr>
          <p:nvPr/>
        </p:nvGrpSpPr>
        <p:grpSpPr bwMode="auto">
          <a:xfrm>
            <a:off x="2705100" y="2876550"/>
            <a:ext cx="625475" cy="646113"/>
            <a:chOff x="2555093" y="3201582"/>
            <a:chExt cx="504895" cy="432234"/>
          </a:xfrm>
        </p:grpSpPr>
        <p:sp>
          <p:nvSpPr>
            <p:cNvPr id="94280" name="Freeform 19"/>
            <p:cNvSpPr>
              <a:spLocks/>
            </p:cNvSpPr>
            <p:nvPr/>
          </p:nvSpPr>
          <p:spPr bwMode="auto">
            <a:xfrm>
              <a:off x="2617015" y="3408769"/>
              <a:ext cx="382641" cy="22504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81" name="Rectangle 20"/>
            <p:cNvSpPr>
              <a:spLocks noChangeArrowheads="1"/>
            </p:cNvSpPr>
            <p:nvPr/>
          </p:nvSpPr>
          <p:spPr bwMode="auto">
            <a:xfrm>
              <a:off x="2555093" y="3201582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</p:grpSp>
      <p:grpSp>
        <p:nvGrpSpPr>
          <p:cNvPr id="7" name="组合 7"/>
          <p:cNvGrpSpPr>
            <a:grpSpLocks/>
          </p:cNvGrpSpPr>
          <p:nvPr/>
        </p:nvGrpSpPr>
        <p:grpSpPr bwMode="auto">
          <a:xfrm>
            <a:off x="3255963" y="4160838"/>
            <a:ext cx="1431925" cy="858837"/>
            <a:chOff x="3074028" y="4142627"/>
            <a:chExt cx="1432843" cy="858892"/>
          </a:xfrm>
        </p:grpSpPr>
        <p:sp>
          <p:nvSpPr>
            <p:cNvPr id="94276" name="Line 13"/>
            <p:cNvSpPr>
              <a:spLocks noChangeShapeType="1"/>
            </p:cNvSpPr>
            <p:nvPr/>
          </p:nvSpPr>
          <p:spPr bwMode="auto">
            <a:xfrm>
              <a:off x="3074028" y="4184781"/>
              <a:ext cx="646660" cy="3880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77" name="Rectangle 14"/>
            <p:cNvSpPr>
              <a:spLocks noChangeArrowheads="1"/>
            </p:cNvSpPr>
            <p:nvPr/>
          </p:nvSpPr>
          <p:spPr bwMode="auto">
            <a:xfrm>
              <a:off x="3203355" y="4142627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3769799" y="4347427"/>
              <a:ext cx="654469" cy="59376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4279" name="Oval 45"/>
            <p:cNvSpPr>
              <a:spLocks noChangeArrowheads="1"/>
            </p:cNvSpPr>
            <p:nvPr/>
          </p:nvSpPr>
          <p:spPr bwMode="auto">
            <a:xfrm>
              <a:off x="3708249" y="4281832"/>
              <a:ext cx="798622" cy="7196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50"/>
          <p:cNvGrpSpPr>
            <a:grpSpLocks/>
          </p:cNvGrpSpPr>
          <p:nvPr/>
        </p:nvGrpSpPr>
        <p:grpSpPr bwMode="auto">
          <a:xfrm>
            <a:off x="3330575" y="3233738"/>
            <a:ext cx="1214438" cy="635000"/>
            <a:chOff x="3148893" y="3214350"/>
            <a:chExt cx="1214502" cy="635476"/>
          </a:xfrm>
        </p:grpSpPr>
        <p:sp>
          <p:nvSpPr>
            <p:cNvPr id="94272" name="Line 16"/>
            <p:cNvSpPr>
              <a:spLocks noChangeShapeType="1"/>
            </p:cNvSpPr>
            <p:nvPr/>
          </p:nvSpPr>
          <p:spPr bwMode="auto">
            <a:xfrm flipV="1">
              <a:off x="3211936" y="3571810"/>
              <a:ext cx="428651" cy="2163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73" name="Rectangle 17"/>
            <p:cNvSpPr>
              <a:spLocks noChangeArrowheads="1"/>
            </p:cNvSpPr>
            <p:nvPr/>
          </p:nvSpPr>
          <p:spPr bwMode="auto">
            <a:xfrm>
              <a:off x="3148893" y="3428827"/>
              <a:ext cx="504896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3707722" y="3274720"/>
              <a:ext cx="584231" cy="50838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  <p:sp>
          <p:nvSpPr>
            <p:cNvPr id="94275" name="Oval 45"/>
            <p:cNvSpPr>
              <a:spLocks noChangeArrowheads="1"/>
            </p:cNvSpPr>
            <p:nvPr/>
          </p:nvSpPr>
          <p:spPr bwMode="auto">
            <a:xfrm>
              <a:off x="3636217" y="3214350"/>
              <a:ext cx="727178" cy="6354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3"/>
          <p:cNvGrpSpPr>
            <a:grpSpLocks/>
          </p:cNvGrpSpPr>
          <p:nvPr/>
        </p:nvGrpSpPr>
        <p:grpSpPr bwMode="auto">
          <a:xfrm>
            <a:off x="611188" y="3519488"/>
            <a:ext cx="2790825" cy="795337"/>
            <a:chOff x="429513" y="3500297"/>
            <a:chExt cx="2791268" cy="795949"/>
          </a:xfrm>
        </p:grpSpPr>
        <p:sp>
          <p:nvSpPr>
            <p:cNvPr id="66" name="Oval 10"/>
            <p:cNvSpPr>
              <a:spLocks noChangeArrowheads="1"/>
            </p:cNvSpPr>
            <p:nvPr/>
          </p:nvSpPr>
          <p:spPr bwMode="auto">
            <a:xfrm>
              <a:off x="2412615" y="3565434"/>
              <a:ext cx="736717" cy="6704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A,B,C</a:t>
              </a:r>
            </a:p>
          </p:txBody>
        </p:sp>
        <p:sp>
          <p:nvSpPr>
            <p:cNvPr id="94268" name="Rectangle 49"/>
            <p:cNvSpPr>
              <a:spLocks noChangeArrowheads="1"/>
            </p:cNvSpPr>
            <p:nvPr/>
          </p:nvSpPr>
          <p:spPr bwMode="auto">
            <a:xfrm>
              <a:off x="429513" y="3687770"/>
              <a:ext cx="647790" cy="378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kumimoji="0" lang="zh-CN" altLang="en-US" sz="2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4269" name="Line 21"/>
            <p:cNvSpPr>
              <a:spLocks noChangeShapeType="1"/>
            </p:cNvSpPr>
            <p:nvPr/>
          </p:nvSpPr>
          <p:spPr bwMode="auto">
            <a:xfrm>
              <a:off x="1863245" y="3929249"/>
              <a:ext cx="4747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70" name="Rectangle 22"/>
            <p:cNvSpPr>
              <a:spLocks noChangeArrowheads="1"/>
            </p:cNvSpPr>
            <p:nvPr/>
          </p:nvSpPr>
          <p:spPr bwMode="auto">
            <a:xfrm>
              <a:off x="1286798" y="3786267"/>
              <a:ext cx="504997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4271" name="Oval 45"/>
            <p:cNvSpPr>
              <a:spLocks noChangeArrowheads="1"/>
            </p:cNvSpPr>
            <p:nvPr/>
          </p:nvSpPr>
          <p:spPr bwMode="auto">
            <a:xfrm>
              <a:off x="2339866" y="3500297"/>
              <a:ext cx="880915" cy="79594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673600" y="4371975"/>
            <a:ext cx="728663" cy="334963"/>
            <a:chOff x="4491980" y="4353718"/>
            <a:chExt cx="728663" cy="334963"/>
          </a:xfrm>
        </p:grpSpPr>
        <p:sp>
          <p:nvSpPr>
            <p:cNvPr id="72" name="任意多边形 71"/>
            <p:cNvSpPr/>
            <p:nvPr/>
          </p:nvSpPr>
          <p:spPr bwMode="auto">
            <a:xfrm>
              <a:off x="4491980" y="4353718"/>
              <a:ext cx="377825" cy="334963"/>
            </a:xfrm>
            <a:custGeom>
              <a:avLst/>
              <a:gdLst>
                <a:gd name="connsiteX0" fmla="*/ 0 w 377422"/>
                <a:gd name="connsiteY0" fmla="*/ 194866 h 446352"/>
                <a:gd name="connsiteX1" fmla="*/ 232229 w 377422"/>
                <a:gd name="connsiteY1" fmla="*/ 6180 h 446352"/>
                <a:gd name="connsiteX2" fmla="*/ 377372 w 377422"/>
                <a:gd name="connsiteY2" fmla="*/ 398066 h 446352"/>
                <a:gd name="connsiteX3" fmla="*/ 217715 w 377422"/>
                <a:gd name="connsiteY3" fmla="*/ 441609 h 446352"/>
                <a:gd name="connsiteX4" fmla="*/ 29029 w 377422"/>
                <a:gd name="connsiteY4" fmla="*/ 412580 h 44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422" h="446352">
                  <a:moveTo>
                    <a:pt x="0" y="194866"/>
                  </a:moveTo>
                  <a:cubicBezTo>
                    <a:pt x="84667" y="83589"/>
                    <a:pt x="169334" y="-27687"/>
                    <a:pt x="232229" y="6180"/>
                  </a:cubicBezTo>
                  <a:cubicBezTo>
                    <a:pt x="295124" y="40047"/>
                    <a:pt x="379791" y="325495"/>
                    <a:pt x="377372" y="398066"/>
                  </a:cubicBezTo>
                  <a:cubicBezTo>
                    <a:pt x="374953" y="470637"/>
                    <a:pt x="275772" y="439190"/>
                    <a:pt x="217715" y="441609"/>
                  </a:cubicBezTo>
                  <a:cubicBezTo>
                    <a:pt x="159658" y="444028"/>
                    <a:pt x="94343" y="428304"/>
                    <a:pt x="29029" y="412580"/>
                  </a:cubicBezTo>
                </a:path>
              </a:pathLst>
            </a:cu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94266" name="Rectangle 31"/>
            <p:cNvSpPr>
              <a:spLocks noChangeArrowheads="1"/>
            </p:cNvSpPr>
            <p:nvPr/>
          </p:nvSpPr>
          <p:spPr bwMode="auto">
            <a:xfrm>
              <a:off x="4715738" y="4390344"/>
              <a:ext cx="504905" cy="215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sp>
        <p:nvSpPr>
          <p:cNvPr id="74" name="矩形 73"/>
          <p:cNvSpPr/>
          <p:nvPr/>
        </p:nvSpPr>
        <p:spPr>
          <a:xfrm>
            <a:off x="1306513" y="2527300"/>
            <a:ext cx="982662" cy="36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18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1"/>
          <p:cNvSpPr>
            <a:spLocks noGrp="1"/>
          </p:cNvSpPr>
          <p:nvPr>
            <p:ph idx="1"/>
          </p:nvPr>
        </p:nvSpPr>
        <p:spPr>
          <a:xfrm>
            <a:off x="501650" y="731838"/>
            <a:ext cx="8142288" cy="4071937"/>
          </a:xfrm>
        </p:spPr>
        <p:txBody>
          <a:bodyPr/>
          <a:lstStyle/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输入：</a:t>
            </a:r>
            <a:r>
              <a:rPr lang="en-US" altLang="zh-CN" sz="2000" b="1" i="1" dirty="0">
                <a:solidFill>
                  <a:schemeClr val="tx1"/>
                </a:solidFill>
              </a:rPr>
              <a:t>NFA </a:t>
            </a:r>
            <a:r>
              <a:rPr lang="en-US" altLang="zh-CN" sz="2000" b="1" i="1" dirty="0">
                <a:solidFill>
                  <a:srgbClr val="FF0000"/>
                </a:solidFill>
              </a:rPr>
              <a:t>N</a:t>
            </a:r>
          </a:p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输出：接收同样语言的</a:t>
            </a:r>
            <a:r>
              <a:rPr lang="en-US" altLang="zh-CN" sz="2000" b="1" i="1" dirty="0">
                <a:solidFill>
                  <a:schemeClr val="tx1"/>
                </a:solidFill>
              </a:rPr>
              <a:t>DFA </a:t>
            </a:r>
            <a:r>
              <a:rPr lang="en-US" altLang="zh-CN" sz="2000" b="1" i="1" dirty="0">
                <a:solidFill>
                  <a:srgbClr val="FF0000"/>
                </a:solidFill>
              </a:rPr>
              <a:t>D</a:t>
            </a:r>
          </a:p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方法：</a:t>
            </a:r>
            <a:r>
              <a:rPr lang="zh-CN" altLang="en-US" sz="1600" b="1" dirty="0">
                <a:solidFill>
                  <a:schemeClr val="tx1"/>
                </a:solidFill>
              </a:rPr>
              <a:t>一开始，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600" b="1" dirty="0">
                <a:solidFill>
                  <a:schemeClr val="tx1"/>
                </a:solidFill>
              </a:rPr>
              <a:t>-</a:t>
            </a:r>
            <a:r>
              <a:rPr lang="en-US" altLang="zh-CN" sz="1600" b="1" i="1" dirty="0">
                <a:solidFill>
                  <a:schemeClr val="tx1"/>
                </a:solidFill>
              </a:rPr>
              <a:t>closur</a:t>
            </a:r>
            <a:r>
              <a:rPr lang="en-US" altLang="zh-CN" sz="16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楷体_GB2312"/>
              </a:rPr>
              <a:t> s</a:t>
            </a:r>
            <a:r>
              <a:rPr lang="en-US" altLang="zh-CN" sz="1600" b="1" i="1" baseline="-30000" dirty="0">
                <a:solidFill>
                  <a:schemeClr val="tx1"/>
                </a:solidFill>
                <a:ea typeface="楷体_GB2312"/>
                <a:cs typeface="楷体_GB2312"/>
              </a:rPr>
              <a:t>0 </a:t>
            </a:r>
            <a:r>
              <a:rPr lang="zh-CN" altLang="en-US" sz="16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600" b="1" dirty="0">
                <a:solidFill>
                  <a:schemeClr val="tx1"/>
                </a:solidFill>
              </a:rPr>
              <a:t>是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en-US" altLang="zh-CN" sz="1600" b="1" i="1" dirty="0">
                <a:solidFill>
                  <a:schemeClr val="tx1"/>
                </a:solidFill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</a:rPr>
              <a:t>中的唯一状态，且它未加标记；        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while</a:t>
            </a:r>
            <a:r>
              <a:rPr lang="zh-CN" altLang="en-US" sz="1600" b="1" dirty="0">
                <a:solidFill>
                  <a:schemeClr val="tx1"/>
                </a:solidFill>
              </a:rPr>
              <a:t>（在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</a:rPr>
              <a:t>中有一个未标记状态</a:t>
            </a:r>
            <a:r>
              <a:rPr lang="en-US" altLang="zh-CN" sz="1600" b="1" i="1" dirty="0">
                <a:solidFill>
                  <a:schemeClr val="tx1"/>
                </a:solidFill>
              </a:rPr>
              <a:t>T </a:t>
            </a:r>
            <a:r>
              <a:rPr lang="zh-CN" altLang="en-US" sz="1600" b="1" spc="-1500" dirty="0">
                <a:solidFill>
                  <a:schemeClr val="tx1"/>
                </a:solidFill>
              </a:rPr>
              <a:t>）  ｛</a:t>
            </a:r>
            <a:endParaRPr lang="en-US" altLang="zh-CN" sz="1600" b="1" spc="-1500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</a:rPr>
              <a:t>                                   给</a:t>
            </a:r>
            <a:r>
              <a:rPr lang="en-US" altLang="zh-CN" sz="1600" b="1" i="1" dirty="0">
                <a:solidFill>
                  <a:schemeClr val="tx1"/>
                </a:solidFill>
              </a:rPr>
              <a:t>T</a:t>
            </a:r>
            <a:r>
              <a:rPr lang="zh-CN" altLang="en-US" sz="1600" b="1" dirty="0">
                <a:solidFill>
                  <a:schemeClr val="tx1"/>
                </a:solidFill>
              </a:rPr>
              <a:t>加上标记；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for</a:t>
            </a:r>
            <a:r>
              <a:rPr lang="zh-CN" altLang="en-US" sz="1600" b="1" dirty="0">
                <a:solidFill>
                  <a:schemeClr val="tx1"/>
                </a:solidFill>
              </a:rPr>
              <a:t>（每个输入符号</a:t>
            </a:r>
            <a:r>
              <a:rPr lang="en-US" altLang="zh-CN" sz="1600" b="1" i="1" dirty="0">
                <a:solidFill>
                  <a:schemeClr val="tx1"/>
                </a:solidFill>
              </a:rPr>
              <a:t>a</a:t>
            </a:r>
            <a:r>
              <a:rPr lang="zh-CN" altLang="en-US" sz="1600" b="1" spc="-1500" dirty="0">
                <a:solidFill>
                  <a:schemeClr val="tx1"/>
                </a:solidFill>
              </a:rPr>
              <a:t> ）  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</a:rPr>
              <a:t>                                              </a:t>
            </a:r>
            <a:r>
              <a:rPr lang="en-US" altLang="zh-CN" sz="1600" b="1" i="1" dirty="0">
                <a:solidFill>
                  <a:schemeClr val="tx1"/>
                </a:solidFill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</a:rPr>
              <a:t>=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ε-closure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move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));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if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不在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中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)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             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将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加入到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中，且不加标记；</a:t>
            </a:r>
            <a:endParaRPr lang="en-US" altLang="zh-CN" sz="16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Dtran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[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]=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;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}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}</a:t>
            </a:r>
            <a:endParaRPr lang="en-US" altLang="zh-CN" sz="1800" b="1" dirty="0">
              <a:solidFill>
                <a:schemeClr val="tx1"/>
              </a:solidFill>
              <a:ea typeface="楷体" pitchFamily="49" charset="-122"/>
            </a:endParaRPr>
          </a:p>
        </p:txBody>
      </p:sp>
      <p:sp>
        <p:nvSpPr>
          <p:cNvPr id="4608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子集构造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法</a:t>
            </a:r>
            <a:r>
              <a:rPr lang="zh-CN" altLang="en-US" sz="2500" spc="-3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（</a:t>
            </a:r>
            <a:r>
              <a:rPr lang="en-US" altLang="zh-CN" sz="2500" spc="-300" dirty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lang="en-US" altLang="zh-CN" sz="2500" i="1" dirty="0">
                <a:solidFill>
                  <a:schemeClr val="tx1"/>
                </a:solidFill>
                <a:cs typeface="Times New Roman" pitchFamily="18" charset="0"/>
              </a:rPr>
              <a:t>subset construction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96260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7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1" name="Group 18"/>
          <p:cNvGraphicFramePr>
            <a:graphicFrameLocks noGrp="1"/>
          </p:cNvGraphicFramePr>
          <p:nvPr/>
        </p:nvGraphicFramePr>
        <p:xfrm>
          <a:off x="468313" y="3784600"/>
          <a:ext cx="8424862" cy="1250952"/>
        </p:xfrm>
        <a:graphic>
          <a:graphicData uri="http://schemas.openxmlformats.org/drawingml/2006/table">
            <a:tbl>
              <a:tblPr/>
              <a:tblGrid>
                <a:gridCol w="133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描述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的状态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r>
                        <a:rPr kumimoji="0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kumimoji="0" lang="en-US" altLang="zh-CN" sz="1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s∈T</a:t>
                      </a:r>
                      <a:r>
                        <a:rPr kumimoji="0" lang="en-US" altLang="zh-CN" sz="14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, a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出发通过标号为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631AF8F-1B68-EF57-9B8E-08B78C90E58C}"/>
              </a:ext>
            </a:extLst>
          </p:cNvPr>
          <p:cNvSpPr txBox="1"/>
          <p:nvPr/>
        </p:nvSpPr>
        <p:spPr>
          <a:xfrm>
            <a:off x="6660231" y="285750"/>
            <a:ext cx="2232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书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P94-96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3.21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为正则表达式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r=(</a:t>
            </a:r>
            <a:r>
              <a:rPr lang="en-US" altLang="zh-CN" sz="3000" spc="3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a|b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)*</a:t>
            </a:r>
            <a:r>
              <a:rPr lang="en-US" altLang="zh-CN" sz="3000" spc="3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abb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构造一个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，并转换为最小化的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4228" name="组合 44"/>
          <p:cNvGrpSpPr>
            <a:grpSpLocks/>
          </p:cNvGrpSpPr>
          <p:nvPr/>
        </p:nvGrpSpPr>
        <p:grpSpPr bwMode="auto">
          <a:xfrm>
            <a:off x="29754" y="15875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11560" y="1347614"/>
            <a:ext cx="7200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书上给了一个比较复杂的画图和构造方案：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P100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两个正则表达式的并，串联，闭包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P94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子集构造法构造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DFA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P96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最小化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DFA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我们课堂上给出最简化的方案：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685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9D89AE-2A13-81B6-D19F-F9A35C83CF44}"/>
              </a:ext>
            </a:extLst>
          </p:cNvPr>
          <p:cNvSpPr txBox="1"/>
          <p:nvPr/>
        </p:nvSpPr>
        <p:spPr>
          <a:xfrm>
            <a:off x="4355976" y="34107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Dtran</a:t>
            </a: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2400" b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T,a</a:t>
            </a: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ε-closure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, a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endParaRPr kumimoji="0" lang="zh-CN" altLang="en-US" sz="2400" b="1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3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31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l-GR" altLang="zh-CN" sz="3000" i="1" dirty="0">
                <a:solidFill>
                  <a:schemeClr val="tx1"/>
                </a:solidFill>
              </a:rPr>
              <a:t>ε-</a:t>
            </a:r>
            <a:r>
              <a:rPr lang="en-US" altLang="zh-CN" sz="3000" i="1" dirty="0">
                <a:solidFill>
                  <a:schemeClr val="tx1"/>
                </a:solidFill>
              </a:rPr>
              <a:t>closure </a:t>
            </a:r>
            <a:r>
              <a:rPr lang="en-US" altLang="zh-CN" sz="3000" dirty="0">
                <a:solidFill>
                  <a:schemeClr val="tx1"/>
                </a:solidFill>
              </a:rPr>
              <a:t>(</a:t>
            </a:r>
            <a:r>
              <a:rPr lang="en-US" altLang="zh-CN" sz="3000" i="1" spc="-150" dirty="0">
                <a:solidFill>
                  <a:schemeClr val="tx1"/>
                </a:solidFill>
              </a:rPr>
              <a:t>T </a:t>
            </a:r>
            <a:r>
              <a:rPr lang="en-US" altLang="zh-CN" sz="3000" spc="-150" dirty="0">
                <a:solidFill>
                  <a:schemeClr val="tx1"/>
                </a:solidFill>
              </a:rPr>
              <a:t>)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983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4071937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的所有状态压入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900" b="1" dirty="0">
                <a:solidFill>
                  <a:schemeClr val="tx1"/>
                </a:solidFill>
              </a:rPr>
              <a:t>初始化为 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</a:rPr>
              <a:t>while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非空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spc="-1000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             将栈顶元素 </a:t>
            </a:r>
            <a:r>
              <a:rPr lang="en-US" altLang="zh-CN" sz="1900" b="1" i="1" dirty="0">
                <a:solidFill>
                  <a:schemeClr val="tx1"/>
                </a:solidFill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给弹出栈中；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             </a:t>
            </a:r>
            <a:r>
              <a:rPr lang="en-US" altLang="zh-CN" sz="1900" b="1" dirty="0">
                <a:solidFill>
                  <a:schemeClr val="tx1"/>
                </a:solidFill>
              </a:rPr>
              <a:t>for</a:t>
            </a:r>
            <a:r>
              <a:rPr lang="zh-CN" altLang="en-US" sz="1900" b="1" dirty="0">
                <a:solidFill>
                  <a:schemeClr val="tx1"/>
                </a:solidFill>
              </a:rPr>
              <a:t>（每个满足如下条件的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 ：从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出发有一个标号为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zh-CN" altLang="en-US" sz="1900" b="1" dirty="0">
                <a:solidFill>
                  <a:schemeClr val="tx1"/>
                </a:solidFill>
              </a:rPr>
              <a:t>的转换到达状态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en-US" altLang="zh-CN" sz="1900" b="1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                        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if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( 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不在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中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                                     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加入到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中；</a:t>
            </a:r>
            <a:endParaRPr lang="en-US" altLang="zh-CN" sz="19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                                     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压入栈中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;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                         }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}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</a:rPr>
              <a:t>                 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63" y="30923"/>
            <a:ext cx="5487851" cy="24896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1635646"/>
            <a:ext cx="4620170" cy="333901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 flipH="1">
            <a:off x="5076056" y="4636106"/>
            <a:ext cx="14401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3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5631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先复习书本：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983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1026889"/>
          </a:xfrm>
        </p:spPr>
        <p:txBody>
          <a:bodyPr/>
          <a:lstStyle/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P99-101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3.25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3.26 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/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电子书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P100-102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3.23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3.24</a:t>
            </a: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P94-96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的算法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3.20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3.21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3.24 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/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电子书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P97-98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3.20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3.21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3.24 </a:t>
            </a: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  <p:grpSp>
        <p:nvGrpSpPr>
          <p:cNvPr id="7" name="组合 44"/>
          <p:cNvGrpSpPr>
            <a:grpSpLocks/>
          </p:cNvGrpSpPr>
          <p:nvPr/>
        </p:nvGrpSpPr>
        <p:grpSpPr bwMode="auto">
          <a:xfrm>
            <a:off x="21010" y="2499990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1" name="标题 1"/>
          <p:cNvSpPr txBox="1">
            <a:spLocks/>
          </p:cNvSpPr>
          <p:nvPr/>
        </p:nvSpPr>
        <p:spPr bwMode="auto">
          <a:xfrm>
            <a:off x="776660" y="2552452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然后完成作业：</a:t>
            </a:r>
          </a:p>
        </p:txBody>
      </p:sp>
      <p:sp>
        <p:nvSpPr>
          <p:cNvPr id="12" name="内容占位符 1"/>
          <p:cNvSpPr txBox="1">
            <a:spLocks/>
          </p:cNvSpPr>
          <p:nvPr/>
        </p:nvSpPr>
        <p:spPr bwMode="auto">
          <a:xfrm>
            <a:off x="327100" y="3161184"/>
            <a:ext cx="8499475" cy="142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P103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练习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3.6.1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的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1)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3 )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并且最小化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DFA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，</a:t>
            </a:r>
            <a:endParaRPr lang="en-US" altLang="zh-CN" sz="2800" b="1" dirty="0">
              <a:solidFill>
                <a:srgbClr val="0000FF"/>
              </a:solidFill>
              <a:ea typeface="楷体" pitchFamily="49" charset="-12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+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练习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3.6.3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的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2)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3)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并且最小化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DFA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。</a:t>
            </a: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      电子书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P105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练习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3.7.1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的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1)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3 ) +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练习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3.7.3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的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2 )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3)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并且最下化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DFA                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58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23529" y="714362"/>
            <a:ext cx="8391876" cy="3226273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sz="2000" b="1" dirty="0">
                <a:solidFill>
                  <a:schemeClr val="tx1"/>
                </a:solidFill>
              </a:rPr>
              <a:t>从左向右逐行扫描源程序的字符，识别出各个单词，确定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单词的类型</a:t>
            </a:r>
            <a:r>
              <a:rPr lang="zh-CN" altLang="en-US" sz="2000" b="1" dirty="0">
                <a:solidFill>
                  <a:schemeClr val="tx1"/>
                </a:solidFill>
              </a:rPr>
              <a:t>。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sz="2000" b="1" dirty="0">
                <a:solidFill>
                  <a:schemeClr val="tx1"/>
                </a:solidFill>
              </a:rPr>
              <a:t>将识别出的单词转换成统一的</a:t>
            </a:r>
            <a:r>
              <a:rPr lang="zh-CN" altLang="en-US" sz="2000" b="1" dirty="0">
                <a:solidFill>
                  <a:srgbClr val="FF0000"/>
                </a:solidFill>
              </a:rPr>
              <a:t>机内表示</a:t>
            </a:r>
            <a:r>
              <a:rPr lang="en-US" altLang="zh-CN" sz="2000" b="1" dirty="0">
                <a:solidFill>
                  <a:schemeClr val="tx1"/>
                </a:solidFill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</a:rPr>
              <a:t>词法单元</a:t>
            </a:r>
            <a:r>
              <a:rPr lang="en-US" altLang="zh-CN" sz="1600" b="1" dirty="0">
                <a:solidFill>
                  <a:schemeClr val="tx1"/>
                </a:solidFill>
              </a:rPr>
              <a:t>(token)</a:t>
            </a:r>
            <a:r>
              <a:rPr lang="zh-CN" altLang="en-US" sz="2000" b="1" dirty="0">
                <a:solidFill>
                  <a:schemeClr val="tx1"/>
                </a:solidFill>
              </a:rPr>
              <a:t>形式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token</a:t>
            </a:r>
            <a:r>
              <a:rPr lang="zh-CN" altLang="en-US" sz="1800" b="1" dirty="0">
                <a:solidFill>
                  <a:schemeClr val="tx1"/>
                </a:solidFill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</a:rPr>
              <a:t>&lt; </a:t>
            </a:r>
            <a:r>
              <a:rPr lang="zh-CN" altLang="en-US" sz="1800" b="1" dirty="0">
                <a:solidFill>
                  <a:schemeClr val="tx1"/>
                </a:solidFill>
              </a:rPr>
              <a:t>种别码，属性值 </a:t>
            </a:r>
            <a:r>
              <a:rPr lang="en-US" altLang="zh-CN" sz="1800" b="1" dirty="0">
                <a:solidFill>
                  <a:schemeClr val="tx1"/>
                </a:solidFill>
              </a:rPr>
              <a:t>&gt;</a:t>
            </a:r>
          </a:p>
          <a:p>
            <a:pPr lvl="1"/>
            <a:endParaRPr lang="en-US" altLang="zh-CN" sz="1800" b="1" dirty="0"/>
          </a:p>
          <a:p>
            <a:pPr lvl="1">
              <a:buClr>
                <a:srgbClr val="3333CC"/>
              </a:buClr>
              <a:buNone/>
            </a:pP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" name="Group 18"/>
          <p:cNvGraphicFramePr>
            <a:graphicFrameLocks noGrp="1"/>
          </p:cNvGraphicFramePr>
          <p:nvPr/>
        </p:nvGraphicFramePr>
        <p:xfrm>
          <a:off x="714348" y="2214560"/>
          <a:ext cx="7715306" cy="2889624"/>
        </p:xfrm>
        <a:graphic>
          <a:graphicData uri="http://schemas.openxmlformats.org/drawingml/2006/table">
            <a:tbl>
              <a:tblPr/>
              <a:tblGrid>
                <a:gridCol w="30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3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单词类型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种别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种别码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关键字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program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if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else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then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标识符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变量名、数组名、记录名、过程名、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多词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常量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整型、浮点型、字符型、布尔型、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型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6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运算符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算术（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+  -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*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/  ++  --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关系（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&gt;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&lt;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==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!=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&gt;=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&lt;=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逻辑（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&amp;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|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~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  <a:endParaRPr lang="en-US" altLang="zh-CN" sz="18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或</a:t>
                      </a:r>
                      <a:endParaRPr lang="en-US" altLang="zh-CN" sz="18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型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界限符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;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)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}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五边形 19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14348" y="2215354"/>
            <a:ext cx="7716099" cy="2928941"/>
            <a:chOff x="857224" y="2215354"/>
            <a:chExt cx="7716099" cy="2928941"/>
          </a:xfrm>
        </p:grpSpPr>
        <p:sp>
          <p:nvSpPr>
            <p:cNvPr id="13" name="矩形 12"/>
            <p:cNvSpPr/>
            <p:nvPr/>
          </p:nvSpPr>
          <p:spPr>
            <a:xfrm>
              <a:off x="7284090" y="2571750"/>
              <a:ext cx="18473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284090" y="2959936"/>
              <a:ext cx="18473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284090" y="3357568"/>
              <a:ext cx="18473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rot="5400000">
              <a:off x="-606452" y="3679031"/>
              <a:ext cx="2928148" cy="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5400000">
              <a:off x="7108058" y="3679031"/>
              <a:ext cx="2928941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0" y="5114924"/>
            <a:ext cx="9144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7DB5C4-EDEC-409D-BB92-E8AE453AA2A4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标题 4"/>
          <p:cNvSpPr txBox="1">
            <a:spLocks/>
          </p:cNvSpPr>
          <p:nvPr/>
        </p:nvSpPr>
        <p:spPr bwMode="auto">
          <a:xfrm>
            <a:off x="714348" y="247797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3.7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识别单词的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DFA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30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 noChangeArrowheads="1"/>
          </p:cNvSpPr>
          <p:nvPr>
            <p:ph idx="1"/>
          </p:nvPr>
        </p:nvSpPr>
        <p:spPr>
          <a:xfrm>
            <a:off x="761777" y="1059582"/>
            <a:ext cx="5927725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标识符的正则定义</a:t>
            </a:r>
            <a:r>
              <a:rPr lang="en-US" altLang="zh-CN" sz="3000" b="1" dirty="0">
                <a:solidFill>
                  <a:schemeClr val="tx1"/>
                </a:solidFill>
              </a:rPr>
              <a:t> 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_ →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Z|a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z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|_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id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letter_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_|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8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</a:p>
          <a:p>
            <a:pPr eaLnBrk="1" hangingPunct="1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标题 4"/>
          <p:cNvSpPr txBox="1">
            <a:spLocks/>
          </p:cNvSpPr>
          <p:nvPr/>
        </p:nvSpPr>
        <p:spPr bwMode="auto">
          <a:xfrm>
            <a:off x="69325" y="70620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spc="300" dirty="0">
                <a:latin typeface="微软雅黑" pitchFamily="34" charset="-122"/>
                <a:ea typeface="微软雅黑" pitchFamily="34" charset="-122"/>
                <a:cs typeface="+mj-cs"/>
              </a:rPr>
              <a:t>3.7 </a:t>
            </a: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  <a:cs typeface="+mj-cs"/>
              </a:rPr>
              <a:t>识别单词的</a:t>
            </a:r>
            <a:r>
              <a:rPr lang="en-US" altLang="zh-CN" sz="30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DFA</a:t>
            </a:r>
            <a:r>
              <a:rPr lang="en-US" altLang="zh-CN" sz="3000" b="1" spc="300" dirty="0"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endParaRPr lang="zh-CN" altLang="en-US" sz="3000" b="1" spc="3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104452" name="组合 44"/>
          <p:cNvGrpSpPr>
            <a:grpSpLocks/>
          </p:cNvGrpSpPr>
          <p:nvPr/>
        </p:nvGrpSpPr>
        <p:grpSpPr bwMode="auto">
          <a:xfrm>
            <a:off x="69325" y="594916"/>
            <a:ext cx="755650" cy="431800"/>
            <a:chOff x="-786" y="195486"/>
            <a:chExt cx="756363" cy="432048"/>
          </a:xfrm>
        </p:grpSpPr>
        <p:sp>
          <p:nvSpPr>
            <p:cNvPr id="18" name="五边形 1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4468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26"/>
          <p:cNvGrpSpPr>
            <a:grpSpLocks/>
          </p:cNvGrpSpPr>
          <p:nvPr/>
        </p:nvGrpSpPr>
        <p:grpSpPr bwMode="auto">
          <a:xfrm>
            <a:off x="982662" y="3076476"/>
            <a:ext cx="5464175" cy="2087562"/>
            <a:chOff x="1214458" y="2694790"/>
            <a:chExt cx="5464158" cy="2087210"/>
          </a:xfrm>
        </p:grpSpPr>
        <p:grpSp>
          <p:nvGrpSpPr>
            <p:cNvPr id="104454" name="Group 4"/>
            <p:cNvGrpSpPr>
              <a:grpSpLocks/>
            </p:cNvGrpSpPr>
            <p:nvPr/>
          </p:nvGrpSpPr>
          <p:grpSpPr bwMode="auto">
            <a:xfrm>
              <a:off x="1214458" y="2694790"/>
              <a:ext cx="4471998" cy="1328736"/>
              <a:chOff x="815" y="1729"/>
              <a:chExt cx="2817" cy="1116"/>
            </a:xfrm>
          </p:grpSpPr>
          <p:sp>
            <p:nvSpPr>
              <p:cNvPr id="104462" name="Line 8"/>
              <p:cNvSpPr>
                <a:spLocks noChangeShapeType="1"/>
              </p:cNvSpPr>
              <p:nvPr/>
            </p:nvSpPr>
            <p:spPr bwMode="auto">
              <a:xfrm>
                <a:off x="2130" y="2656"/>
                <a:ext cx="8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63" name="Text Box 10"/>
              <p:cNvSpPr txBox="1">
                <a:spLocks noChangeArrowheads="1"/>
              </p:cNvSpPr>
              <p:nvPr/>
            </p:nvSpPr>
            <p:spPr bwMode="auto">
              <a:xfrm>
                <a:off x="2120" y="2106"/>
                <a:ext cx="705" cy="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 i="1">
                    <a:latin typeface="Times New Roman" panose="02020603050405020304" pitchFamily="18" charset="0"/>
                  </a:rPr>
                  <a:t>letter_</a:t>
                </a:r>
              </a:p>
            </p:txBody>
          </p:sp>
          <p:sp>
            <p:nvSpPr>
              <p:cNvPr id="104464" name="Text Box 11"/>
              <p:cNvSpPr txBox="1">
                <a:spLocks noChangeArrowheads="1"/>
              </p:cNvSpPr>
              <p:nvPr/>
            </p:nvSpPr>
            <p:spPr bwMode="auto">
              <a:xfrm>
                <a:off x="2825" y="1729"/>
                <a:ext cx="807" cy="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 i="1" dirty="0">
                    <a:latin typeface="Times New Roman" panose="02020603050405020304" pitchFamily="18" charset="0"/>
                  </a:rPr>
                  <a:t>letter_</a:t>
                </a:r>
              </a:p>
            </p:txBody>
          </p:sp>
          <p:sp>
            <p:nvSpPr>
              <p:cNvPr id="104465" name="Text Box 14"/>
              <p:cNvSpPr txBox="1">
                <a:spLocks noChangeArrowheads="1"/>
              </p:cNvSpPr>
              <p:nvPr/>
            </p:nvSpPr>
            <p:spPr bwMode="auto">
              <a:xfrm>
                <a:off x="815" y="2406"/>
                <a:ext cx="528" cy="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8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kumimoji="1" lang="zh-CN" altLang="en-US" sz="2800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04466" name="Line 16"/>
              <p:cNvSpPr>
                <a:spLocks noChangeShapeType="1"/>
              </p:cNvSpPr>
              <p:nvPr/>
            </p:nvSpPr>
            <p:spPr bwMode="auto">
              <a:xfrm>
                <a:off x="1364" y="2651"/>
                <a:ext cx="4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sp>
          <p:nvSpPr>
            <p:cNvPr id="2" name="任意多边形 1"/>
            <p:cNvSpPr/>
            <p:nvPr/>
          </p:nvSpPr>
          <p:spPr>
            <a:xfrm>
              <a:off x="4506923" y="3196355"/>
              <a:ext cx="636585" cy="349191"/>
            </a:xfrm>
            <a:custGeom>
              <a:avLst/>
              <a:gdLst>
                <a:gd name="connsiteX0" fmla="*/ 249565 w 812040"/>
                <a:gd name="connsiteY0" fmla="*/ 464649 h 464649"/>
                <a:gd name="connsiteX1" fmla="*/ 2822 w 812040"/>
                <a:gd name="connsiteY1" fmla="*/ 159849 h 464649"/>
                <a:gd name="connsiteX2" fmla="*/ 394708 w 812040"/>
                <a:gd name="connsiteY2" fmla="*/ 192 h 464649"/>
                <a:gd name="connsiteX3" fmla="*/ 801108 w 812040"/>
                <a:gd name="connsiteY3" fmla="*/ 188878 h 464649"/>
                <a:gd name="connsiteX4" fmla="*/ 655965 w 812040"/>
                <a:gd name="connsiteY4" fmla="*/ 464649 h 464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2040" h="464649">
                  <a:moveTo>
                    <a:pt x="249565" y="464649"/>
                  </a:moveTo>
                  <a:cubicBezTo>
                    <a:pt x="114098" y="350954"/>
                    <a:pt x="-21369" y="237259"/>
                    <a:pt x="2822" y="159849"/>
                  </a:cubicBezTo>
                  <a:cubicBezTo>
                    <a:pt x="27013" y="82439"/>
                    <a:pt x="261660" y="-4646"/>
                    <a:pt x="394708" y="192"/>
                  </a:cubicBezTo>
                  <a:cubicBezTo>
                    <a:pt x="527756" y="5030"/>
                    <a:pt x="757565" y="111468"/>
                    <a:pt x="801108" y="188878"/>
                  </a:cubicBezTo>
                  <a:cubicBezTo>
                    <a:pt x="844651" y="266288"/>
                    <a:pt x="750308" y="365468"/>
                    <a:pt x="655965" y="464649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4459298" y="4009018"/>
              <a:ext cx="811209" cy="326970"/>
            </a:xfrm>
            <a:custGeom>
              <a:avLst/>
              <a:gdLst>
                <a:gd name="connsiteX0" fmla="*/ 223309 w 810400"/>
                <a:gd name="connsiteY0" fmla="*/ 0 h 437007"/>
                <a:gd name="connsiteX1" fmla="*/ 5595 w 810400"/>
                <a:gd name="connsiteY1" fmla="*/ 159658 h 437007"/>
                <a:gd name="connsiteX2" fmla="*/ 426509 w 810400"/>
                <a:gd name="connsiteY2" fmla="*/ 435429 h 437007"/>
                <a:gd name="connsiteX3" fmla="*/ 803880 w 810400"/>
                <a:gd name="connsiteY3" fmla="*/ 261258 h 437007"/>
                <a:gd name="connsiteX4" fmla="*/ 629709 w 810400"/>
                <a:gd name="connsiteY4" fmla="*/ 29029 h 4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400" h="437007">
                  <a:moveTo>
                    <a:pt x="223309" y="0"/>
                  </a:moveTo>
                  <a:cubicBezTo>
                    <a:pt x="97518" y="43543"/>
                    <a:pt x="-28272" y="87087"/>
                    <a:pt x="5595" y="159658"/>
                  </a:cubicBezTo>
                  <a:cubicBezTo>
                    <a:pt x="39462" y="232229"/>
                    <a:pt x="293462" y="418496"/>
                    <a:pt x="426509" y="435429"/>
                  </a:cubicBezTo>
                  <a:cubicBezTo>
                    <a:pt x="559556" y="452362"/>
                    <a:pt x="770013" y="328991"/>
                    <a:pt x="803880" y="261258"/>
                  </a:cubicBezTo>
                  <a:cubicBezTo>
                    <a:pt x="837747" y="193525"/>
                    <a:pt x="733728" y="111277"/>
                    <a:pt x="629709" y="29029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04457" name="Text Box 11"/>
            <p:cNvSpPr txBox="1">
              <a:spLocks noChangeArrowheads="1"/>
            </p:cNvSpPr>
            <p:nvPr/>
          </p:nvSpPr>
          <p:spPr bwMode="auto">
            <a:xfrm>
              <a:off x="4459291" y="4258780"/>
              <a:ext cx="221932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digit</a:t>
              </a:r>
            </a:p>
          </p:txBody>
        </p:sp>
        <p:grpSp>
          <p:nvGrpSpPr>
            <p:cNvPr id="104458" name="组合 20"/>
            <p:cNvGrpSpPr>
              <a:grpSpLocks/>
            </p:cNvGrpSpPr>
            <p:nvPr/>
          </p:nvGrpSpPr>
          <p:grpSpPr bwMode="auto">
            <a:xfrm>
              <a:off x="4572000" y="3508394"/>
              <a:ext cx="642942" cy="563554"/>
              <a:chOff x="3636217" y="3214350"/>
              <a:chExt cx="727178" cy="635476"/>
            </a:xfrm>
          </p:grpSpPr>
          <p:sp>
            <p:nvSpPr>
              <p:cNvPr id="99340" name="Oval 10"/>
              <p:cNvSpPr>
                <a:spLocks noChangeArrowheads="1"/>
              </p:cNvSpPr>
              <p:nvPr/>
            </p:nvSpPr>
            <p:spPr bwMode="auto">
              <a:xfrm>
                <a:off x="3708048" y="3275931"/>
                <a:ext cx="583533" cy="50830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8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104461" name="Oval 45"/>
              <p:cNvSpPr>
                <a:spLocks noChangeArrowheads="1"/>
              </p:cNvSpPr>
              <p:nvPr/>
            </p:nvSpPr>
            <p:spPr bwMode="auto">
              <a:xfrm>
                <a:off x="3636217" y="3214350"/>
                <a:ext cx="727178" cy="63547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9339" name="Oval 15"/>
            <p:cNvSpPr>
              <a:spLocks noChangeArrowheads="1"/>
            </p:cNvSpPr>
            <p:nvPr/>
          </p:nvSpPr>
          <p:spPr bwMode="auto">
            <a:xfrm>
              <a:off x="2786078" y="3539198"/>
              <a:ext cx="512760" cy="5015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sp>
        <p:nvSpPr>
          <p:cNvPr id="21" name="标题 4"/>
          <p:cNvSpPr txBox="1">
            <a:spLocks/>
          </p:cNvSpPr>
          <p:nvPr/>
        </p:nvSpPr>
        <p:spPr bwMode="auto">
          <a:xfrm>
            <a:off x="848539" y="627200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800" b="1" spc="300" dirty="0">
                <a:latin typeface="微软雅黑" pitchFamily="34" charset="-122"/>
                <a:ea typeface="微软雅黑" pitchFamily="34" charset="-122"/>
                <a:cs typeface="+mj-cs"/>
              </a:rPr>
              <a:t>识别标识符的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DFA</a:t>
            </a:r>
            <a:r>
              <a:rPr lang="en-US" altLang="zh-CN" sz="2800" b="1" spc="300" dirty="0"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endParaRPr lang="zh-CN" altLang="en-US" sz="2800" b="1" spc="3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1651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917575"/>
            <a:ext cx="7583487" cy="236855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5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digit digit</a:t>
            </a:r>
            <a:r>
              <a:rPr lang="en-US" altLang="zh-CN" sz="2500" b="1" i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5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→ .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5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25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→ (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(+|-|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)|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number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endParaRPr lang="en-US" altLang="zh-CN" sz="25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56323" name="标题 5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识别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无符号数的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2"/>
          <p:cNvGrpSpPr>
            <a:grpSpLocks/>
          </p:cNvGrpSpPr>
          <p:nvPr/>
        </p:nvGrpSpPr>
        <p:grpSpPr bwMode="auto">
          <a:xfrm>
            <a:off x="2624138" y="3354388"/>
            <a:ext cx="1355725" cy="731837"/>
            <a:chOff x="245793" y="5141767"/>
            <a:chExt cx="1356754" cy="976968"/>
          </a:xfrm>
        </p:grpSpPr>
        <p:sp>
          <p:nvSpPr>
            <p:cNvPr id="101417" name="Oval 7"/>
            <p:cNvSpPr>
              <a:spLocks noChangeArrowheads="1"/>
            </p:cNvSpPr>
            <p:nvPr/>
          </p:nvSpPr>
          <p:spPr bwMode="auto">
            <a:xfrm>
              <a:off x="245793" y="5733034"/>
              <a:ext cx="360636" cy="36027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6538" name="Rectangle 31"/>
            <p:cNvSpPr>
              <a:spLocks noChangeArrowheads="1"/>
            </p:cNvSpPr>
            <p:nvPr/>
          </p:nvSpPr>
          <p:spPr bwMode="auto">
            <a:xfrm>
              <a:off x="668771" y="5589586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1419" name="Oval 29"/>
            <p:cNvSpPr>
              <a:spLocks noChangeArrowheads="1"/>
            </p:cNvSpPr>
            <p:nvPr/>
          </p:nvSpPr>
          <p:spPr bwMode="auto">
            <a:xfrm>
              <a:off x="1009960" y="5756346"/>
              <a:ext cx="360637" cy="36238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6540" name="Line 27"/>
            <p:cNvSpPr>
              <a:spLocks noChangeShapeType="1"/>
            </p:cNvSpPr>
            <p:nvPr/>
          </p:nvSpPr>
          <p:spPr bwMode="auto">
            <a:xfrm>
              <a:off x="606155" y="5915987"/>
              <a:ext cx="404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41" name="Freeform 19"/>
            <p:cNvSpPr>
              <a:spLocks/>
            </p:cNvSpPr>
            <p:nvPr/>
          </p:nvSpPr>
          <p:spPr bwMode="auto">
            <a:xfrm>
              <a:off x="1042779" y="5456748"/>
              <a:ext cx="382588" cy="300036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42" name="Rectangle 20"/>
            <p:cNvSpPr>
              <a:spLocks noChangeArrowheads="1"/>
            </p:cNvSpPr>
            <p:nvPr/>
          </p:nvSpPr>
          <p:spPr bwMode="auto">
            <a:xfrm>
              <a:off x="1097721" y="5141767"/>
              <a:ext cx="504826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60" name="Rectangle 20"/>
          <p:cNvSpPr>
            <a:spLocks noChangeArrowheads="1"/>
          </p:cNvSpPr>
          <p:nvPr/>
        </p:nvSpPr>
        <p:spPr bwMode="auto">
          <a:xfrm>
            <a:off x="5053013" y="338137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</a:p>
        </p:txBody>
      </p:sp>
      <p:grpSp>
        <p:nvGrpSpPr>
          <p:cNvPr id="3" name="组合 21510"/>
          <p:cNvGrpSpPr>
            <a:grpSpLocks/>
          </p:cNvGrpSpPr>
          <p:nvPr/>
        </p:nvGrpSpPr>
        <p:grpSpPr bwMode="auto">
          <a:xfrm>
            <a:off x="3554413" y="3616325"/>
            <a:ext cx="1854200" cy="952500"/>
            <a:chOff x="1175657" y="5157316"/>
            <a:chExt cx="1854869" cy="1270543"/>
          </a:xfrm>
        </p:grpSpPr>
        <p:sp>
          <p:nvSpPr>
            <p:cNvPr id="106528" name="Rectangle 9"/>
            <p:cNvSpPr>
              <a:spLocks noChangeArrowheads="1"/>
            </p:cNvSpPr>
            <p:nvPr/>
          </p:nvSpPr>
          <p:spPr bwMode="auto">
            <a:xfrm>
              <a:off x="1677767" y="6140522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ε</a:t>
              </a:r>
            </a:p>
          </p:txBody>
        </p:sp>
        <p:sp>
          <p:nvSpPr>
            <p:cNvPr id="101409" name="Oval 10"/>
            <p:cNvSpPr>
              <a:spLocks noChangeArrowheads="1"/>
            </p:cNvSpPr>
            <p:nvPr/>
          </p:nvSpPr>
          <p:spPr bwMode="auto">
            <a:xfrm>
              <a:off x="2617627" y="5434719"/>
              <a:ext cx="358904" cy="36210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6530" name="Rectangle 14"/>
            <p:cNvSpPr>
              <a:spLocks noChangeArrowheads="1"/>
            </p:cNvSpPr>
            <p:nvPr/>
          </p:nvSpPr>
          <p:spPr bwMode="auto">
            <a:xfrm>
              <a:off x="1506652" y="530406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/>
                  <a:ea typeface="楷体_GB2312"/>
                  <a:cs typeface="楷体_GB2312"/>
                </a:rPr>
                <a:t>.</a:t>
              </a:r>
            </a:p>
          </p:txBody>
        </p:sp>
        <p:sp>
          <p:nvSpPr>
            <p:cNvPr id="106531" name="Line 13"/>
            <p:cNvSpPr>
              <a:spLocks noChangeShapeType="1"/>
            </p:cNvSpPr>
            <p:nvPr/>
          </p:nvSpPr>
          <p:spPr bwMode="auto">
            <a:xfrm>
              <a:off x="2188692" y="5622742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412" name="Oval 15"/>
            <p:cNvSpPr>
              <a:spLocks noChangeArrowheads="1"/>
            </p:cNvSpPr>
            <p:nvPr/>
          </p:nvSpPr>
          <p:spPr bwMode="auto">
            <a:xfrm>
              <a:off x="1814062" y="5428365"/>
              <a:ext cx="360492" cy="35998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6533" name="Line 13"/>
            <p:cNvSpPr>
              <a:spLocks noChangeShapeType="1"/>
            </p:cNvSpPr>
            <p:nvPr/>
          </p:nvSpPr>
          <p:spPr bwMode="auto">
            <a:xfrm>
              <a:off x="1372239" y="5613671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34" name="Freeform 19"/>
            <p:cNvSpPr>
              <a:spLocks/>
            </p:cNvSpPr>
            <p:nvPr/>
          </p:nvSpPr>
          <p:spPr bwMode="auto">
            <a:xfrm>
              <a:off x="2647938" y="5157316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35" name="Rectangle 31"/>
            <p:cNvSpPr>
              <a:spLocks noChangeArrowheads="1"/>
            </p:cNvSpPr>
            <p:nvPr/>
          </p:nvSpPr>
          <p:spPr bwMode="auto">
            <a:xfrm>
              <a:off x="2239588" y="5283791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1175657" y="5807411"/>
              <a:ext cx="1626187" cy="332458"/>
            </a:xfrm>
            <a:custGeom>
              <a:avLst/>
              <a:gdLst>
                <a:gd name="connsiteX0" fmla="*/ 0 w 1625600"/>
                <a:gd name="connsiteY0" fmla="*/ 0 h 334293"/>
                <a:gd name="connsiteX1" fmla="*/ 885372 w 1625600"/>
                <a:gd name="connsiteY1" fmla="*/ 333828 h 334293"/>
                <a:gd name="connsiteX2" fmla="*/ 1625600 w 1625600"/>
                <a:gd name="connsiteY2" fmla="*/ 58057 h 3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5600" h="334293">
                  <a:moveTo>
                    <a:pt x="0" y="0"/>
                  </a:moveTo>
                  <a:cubicBezTo>
                    <a:pt x="307219" y="162076"/>
                    <a:pt x="614439" y="324152"/>
                    <a:pt x="885372" y="333828"/>
                  </a:cubicBezTo>
                  <a:cubicBezTo>
                    <a:pt x="1156305" y="343504"/>
                    <a:pt x="1390952" y="200780"/>
                    <a:pt x="1625600" y="58057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5" name="组合 21511"/>
          <p:cNvGrpSpPr>
            <a:grpSpLocks/>
          </p:cNvGrpSpPr>
          <p:nvPr/>
        </p:nvGrpSpPr>
        <p:grpSpPr bwMode="auto">
          <a:xfrm>
            <a:off x="5194300" y="3308350"/>
            <a:ext cx="2714625" cy="1190625"/>
            <a:chOff x="3055077" y="4746748"/>
            <a:chExt cx="2712592" cy="1588857"/>
          </a:xfrm>
        </p:grpSpPr>
        <p:sp>
          <p:nvSpPr>
            <p:cNvPr id="106510" name="Line 27"/>
            <p:cNvSpPr>
              <a:spLocks noChangeShapeType="1"/>
            </p:cNvSpPr>
            <p:nvPr/>
          </p:nvSpPr>
          <p:spPr bwMode="auto">
            <a:xfrm>
              <a:off x="3223055" y="5640724"/>
              <a:ext cx="3879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11" name="Rectangle 44"/>
            <p:cNvSpPr>
              <a:spLocks noChangeArrowheads="1"/>
            </p:cNvSpPr>
            <p:nvPr/>
          </p:nvSpPr>
          <p:spPr bwMode="auto">
            <a:xfrm>
              <a:off x="3903754" y="4865383"/>
              <a:ext cx="793156" cy="290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01392" name="Oval 15"/>
            <p:cNvSpPr>
              <a:spLocks noChangeArrowheads="1"/>
            </p:cNvSpPr>
            <p:nvPr/>
          </p:nvSpPr>
          <p:spPr bwMode="auto">
            <a:xfrm>
              <a:off x="3580146" y="5460675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6513" name="Line 16"/>
            <p:cNvSpPr>
              <a:spLocks noChangeShapeType="1"/>
            </p:cNvSpPr>
            <p:nvPr/>
          </p:nvSpPr>
          <p:spPr bwMode="auto">
            <a:xfrm flipV="1">
              <a:off x="3954016" y="5641065"/>
              <a:ext cx="433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14" name="Oval 39"/>
            <p:cNvSpPr>
              <a:spLocks noChangeArrowheads="1"/>
            </p:cNvSpPr>
            <p:nvPr/>
          </p:nvSpPr>
          <p:spPr bwMode="auto">
            <a:xfrm>
              <a:off x="5142175" y="5356126"/>
              <a:ext cx="503238" cy="5032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15" name="Rectangle 20"/>
            <p:cNvSpPr>
              <a:spLocks noChangeArrowheads="1"/>
            </p:cNvSpPr>
            <p:nvPr/>
          </p:nvSpPr>
          <p:spPr bwMode="auto">
            <a:xfrm>
              <a:off x="3252677" y="5289235"/>
              <a:ext cx="398463" cy="26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1504" name="任意多边形 21503"/>
            <p:cNvSpPr/>
            <p:nvPr/>
          </p:nvSpPr>
          <p:spPr>
            <a:xfrm>
              <a:off x="3759399" y="5166206"/>
              <a:ext cx="842332" cy="275402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1505" name="任意多边形 21504"/>
            <p:cNvSpPr/>
            <p:nvPr/>
          </p:nvSpPr>
          <p:spPr>
            <a:xfrm>
              <a:off x="3762572" y="5837764"/>
              <a:ext cx="856608" cy="16524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6518" name="Rectangle 9"/>
            <p:cNvSpPr>
              <a:spLocks noChangeArrowheads="1"/>
            </p:cNvSpPr>
            <p:nvPr/>
          </p:nvSpPr>
          <p:spPr bwMode="auto">
            <a:xfrm>
              <a:off x="4002599" y="5666198"/>
              <a:ext cx="421252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ε</a:t>
              </a:r>
            </a:p>
          </p:txBody>
        </p:sp>
        <p:sp>
          <p:nvSpPr>
            <p:cNvPr id="106519" name="Rectangle 9"/>
            <p:cNvSpPr>
              <a:spLocks noChangeArrowheads="1"/>
            </p:cNvSpPr>
            <p:nvPr/>
          </p:nvSpPr>
          <p:spPr bwMode="auto">
            <a:xfrm>
              <a:off x="3958646" y="5285245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</a:t>
              </a:r>
            </a:p>
          </p:txBody>
        </p:sp>
        <p:sp>
          <p:nvSpPr>
            <p:cNvPr id="101400" name="Oval 7"/>
            <p:cNvSpPr>
              <a:spLocks noChangeArrowheads="1"/>
            </p:cNvSpPr>
            <p:nvPr/>
          </p:nvSpPr>
          <p:spPr bwMode="auto">
            <a:xfrm>
              <a:off x="4424064" y="5439490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06521" name="Rectangle 31"/>
            <p:cNvSpPr>
              <a:spLocks noChangeArrowheads="1"/>
            </p:cNvSpPr>
            <p:nvPr/>
          </p:nvSpPr>
          <p:spPr bwMode="auto">
            <a:xfrm>
              <a:off x="4767947" y="5288860"/>
              <a:ext cx="504825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1402" name="Oval 29"/>
            <p:cNvSpPr>
              <a:spLocks noChangeArrowheads="1"/>
            </p:cNvSpPr>
            <p:nvPr/>
          </p:nvSpPr>
          <p:spPr bwMode="auto">
            <a:xfrm>
              <a:off x="5214047" y="5435253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6523" name="Line 27"/>
            <p:cNvSpPr>
              <a:spLocks noChangeShapeType="1"/>
            </p:cNvSpPr>
            <p:nvPr/>
          </p:nvSpPr>
          <p:spPr bwMode="auto">
            <a:xfrm flipV="1">
              <a:off x="4806054" y="5607130"/>
              <a:ext cx="336122" cy="16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24" name="Freeform 19"/>
            <p:cNvSpPr>
              <a:spLocks/>
            </p:cNvSpPr>
            <p:nvPr/>
          </p:nvSpPr>
          <p:spPr bwMode="auto">
            <a:xfrm>
              <a:off x="5224816" y="5057140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25" name="Rectangle 20"/>
            <p:cNvSpPr>
              <a:spLocks noChangeArrowheads="1"/>
            </p:cNvSpPr>
            <p:nvPr/>
          </p:nvSpPr>
          <p:spPr bwMode="auto">
            <a:xfrm>
              <a:off x="5262844" y="4746748"/>
              <a:ext cx="504825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1509" name="任意多边形 21508"/>
            <p:cNvSpPr/>
            <p:nvPr/>
          </p:nvSpPr>
          <p:spPr>
            <a:xfrm>
              <a:off x="3055077" y="5854712"/>
              <a:ext cx="2355672" cy="480893"/>
            </a:xfrm>
            <a:custGeom>
              <a:avLst/>
              <a:gdLst>
                <a:gd name="connsiteX0" fmla="*/ 0 w 2743200"/>
                <a:gd name="connsiteY0" fmla="*/ 0 h 756045"/>
                <a:gd name="connsiteX1" fmla="*/ 1538515 w 2743200"/>
                <a:gd name="connsiteY1" fmla="*/ 754743 h 756045"/>
                <a:gd name="connsiteX2" fmla="*/ 2743200 w 2743200"/>
                <a:gd name="connsiteY2" fmla="*/ 145143 h 75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3200" h="756045">
                  <a:moveTo>
                    <a:pt x="0" y="0"/>
                  </a:moveTo>
                  <a:cubicBezTo>
                    <a:pt x="540657" y="365276"/>
                    <a:pt x="1081315" y="730553"/>
                    <a:pt x="1538515" y="754743"/>
                  </a:cubicBezTo>
                  <a:cubicBezTo>
                    <a:pt x="1995715" y="778933"/>
                    <a:pt x="2369457" y="462038"/>
                    <a:pt x="2743200" y="145143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6527" name="Rectangle 9"/>
            <p:cNvSpPr>
              <a:spLocks noChangeArrowheads="1"/>
            </p:cNvSpPr>
            <p:nvPr/>
          </p:nvSpPr>
          <p:spPr bwMode="auto">
            <a:xfrm>
              <a:off x="4590766" y="5965909"/>
              <a:ext cx="421252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ε</a:t>
              </a:r>
            </a:p>
          </p:txBody>
        </p:sp>
      </p:grpSp>
      <p:sp>
        <p:nvSpPr>
          <p:cNvPr id="42" name="矩形 41"/>
          <p:cNvSpPr/>
          <p:nvPr/>
        </p:nvSpPr>
        <p:spPr>
          <a:xfrm>
            <a:off x="850900" y="3727450"/>
            <a:ext cx="935038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NFA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44" name="Rectangle 22"/>
          <p:cNvSpPr>
            <a:spLocks noChangeArrowheads="1"/>
          </p:cNvSpPr>
          <p:nvPr/>
        </p:nvSpPr>
        <p:spPr bwMode="auto">
          <a:xfrm>
            <a:off x="1760538" y="378142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2286000" y="3933825"/>
            <a:ext cx="3317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65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7" name="五边形 4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50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13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42" grpId="0"/>
      <p:bldP spid="44" grpId="0"/>
      <p:bldP spid="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21509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600"/>
              <a:t>…</a:t>
            </a:r>
            <a:endParaRPr lang="zh-CN" altLang="en-US" sz="3600"/>
          </a:p>
        </p:txBody>
      </p:sp>
      <p:grpSp>
        <p:nvGrpSpPr>
          <p:cNvPr id="2" name="组合 4"/>
          <p:cNvGrpSpPr>
            <a:grpSpLocks/>
          </p:cNvGrpSpPr>
          <p:nvPr/>
        </p:nvGrpSpPr>
        <p:grpSpPr bwMode="auto">
          <a:xfrm>
            <a:off x="3502025" y="1803400"/>
            <a:ext cx="504825" cy="457200"/>
            <a:chOff x="1877756" y="2136724"/>
            <a:chExt cx="504714" cy="457651"/>
          </a:xfrm>
        </p:grpSpPr>
        <p:sp>
          <p:nvSpPr>
            <p:cNvPr id="108637" name="Freeform 19"/>
            <p:cNvSpPr>
              <a:spLocks/>
            </p:cNvSpPr>
            <p:nvPr/>
          </p:nvSpPr>
          <p:spPr bwMode="auto">
            <a:xfrm>
              <a:off x="1878313" y="2369640"/>
              <a:ext cx="382503" cy="224735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638" name="Rectangle 20"/>
            <p:cNvSpPr>
              <a:spLocks noChangeArrowheads="1"/>
            </p:cNvSpPr>
            <p:nvPr/>
          </p:nvSpPr>
          <p:spPr bwMode="auto">
            <a:xfrm>
              <a:off x="1877756" y="2136724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3" name="组合 9"/>
          <p:cNvGrpSpPr>
            <a:grpSpLocks/>
          </p:cNvGrpSpPr>
          <p:nvPr/>
        </p:nvGrpSpPr>
        <p:grpSpPr bwMode="auto">
          <a:xfrm>
            <a:off x="5216525" y="1855788"/>
            <a:ext cx="503238" cy="457200"/>
            <a:chOff x="3591579" y="2188879"/>
            <a:chExt cx="504714" cy="457651"/>
          </a:xfrm>
        </p:grpSpPr>
        <p:sp>
          <p:nvSpPr>
            <p:cNvPr id="108635" name="Rectangle 20"/>
            <p:cNvSpPr>
              <a:spLocks noChangeArrowheads="1"/>
            </p:cNvSpPr>
            <p:nvPr/>
          </p:nvSpPr>
          <p:spPr bwMode="auto">
            <a:xfrm>
              <a:off x="3591579" y="2188879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8636" name="Freeform 19"/>
            <p:cNvSpPr>
              <a:spLocks/>
            </p:cNvSpPr>
            <p:nvPr/>
          </p:nvSpPr>
          <p:spPr bwMode="auto">
            <a:xfrm>
              <a:off x="3592002" y="2421795"/>
              <a:ext cx="382503" cy="224735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11"/>
          <p:cNvGrpSpPr>
            <a:grpSpLocks/>
          </p:cNvGrpSpPr>
          <p:nvPr/>
        </p:nvGrpSpPr>
        <p:grpSpPr bwMode="auto">
          <a:xfrm>
            <a:off x="6602413" y="1928813"/>
            <a:ext cx="938212" cy="704850"/>
            <a:chOff x="4978871" y="2261685"/>
            <a:chExt cx="937895" cy="704774"/>
          </a:xfrm>
        </p:grpSpPr>
        <p:sp>
          <p:nvSpPr>
            <p:cNvPr id="108630" name="Rectangle 44"/>
            <p:cNvSpPr>
              <a:spLocks noChangeArrowheads="1"/>
            </p:cNvSpPr>
            <p:nvPr/>
          </p:nvSpPr>
          <p:spPr bwMode="auto">
            <a:xfrm>
              <a:off x="5124778" y="2261685"/>
              <a:ext cx="791988" cy="216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108631" name="Line 16"/>
            <p:cNvSpPr>
              <a:spLocks noChangeShapeType="1"/>
            </p:cNvSpPr>
            <p:nvPr/>
          </p:nvSpPr>
          <p:spPr bwMode="auto">
            <a:xfrm flipV="1">
              <a:off x="5065194" y="2842104"/>
              <a:ext cx="433293" cy="2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任意多边形 67"/>
            <p:cNvSpPr/>
            <p:nvPr/>
          </p:nvSpPr>
          <p:spPr bwMode="auto">
            <a:xfrm>
              <a:off x="4978871" y="2487086"/>
              <a:ext cx="744285" cy="241274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8633" name="Rectangle 9"/>
            <p:cNvSpPr>
              <a:spLocks noChangeArrowheads="1"/>
            </p:cNvSpPr>
            <p:nvPr/>
          </p:nvSpPr>
          <p:spPr bwMode="auto">
            <a:xfrm>
              <a:off x="5160917" y="2571751"/>
              <a:ext cx="504713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</a:t>
              </a:r>
            </a:p>
          </p:txBody>
        </p:sp>
        <p:sp>
          <p:nvSpPr>
            <p:cNvPr id="103510" name="Oval 7"/>
            <p:cNvSpPr>
              <a:spLocks noChangeArrowheads="1"/>
            </p:cNvSpPr>
            <p:nvPr/>
          </p:nvSpPr>
          <p:spPr bwMode="auto">
            <a:xfrm>
              <a:off x="5507329" y="2696613"/>
              <a:ext cx="360241" cy="2698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5" name="组合 12"/>
          <p:cNvGrpSpPr>
            <a:grpSpLocks/>
          </p:cNvGrpSpPr>
          <p:nvPr/>
        </p:nvGrpSpPr>
        <p:grpSpPr bwMode="auto">
          <a:xfrm>
            <a:off x="6551613" y="2320925"/>
            <a:ext cx="1878012" cy="630238"/>
            <a:chOff x="4926982" y="2654838"/>
            <a:chExt cx="1878091" cy="629840"/>
          </a:xfrm>
        </p:grpSpPr>
        <p:sp>
          <p:nvSpPr>
            <p:cNvPr id="108626" name="Oval 39"/>
            <p:cNvSpPr>
              <a:spLocks noChangeArrowheads="1"/>
            </p:cNvSpPr>
            <p:nvPr/>
          </p:nvSpPr>
          <p:spPr bwMode="auto">
            <a:xfrm>
              <a:off x="6301946" y="2654838"/>
              <a:ext cx="503127" cy="3769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任意多边形 68"/>
            <p:cNvSpPr/>
            <p:nvPr/>
          </p:nvSpPr>
          <p:spPr bwMode="auto">
            <a:xfrm>
              <a:off x="4926982" y="2983243"/>
              <a:ext cx="1439923" cy="8091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8628" name="Rectangle 9"/>
            <p:cNvSpPr>
              <a:spLocks noChangeArrowheads="1"/>
            </p:cNvSpPr>
            <p:nvPr/>
          </p:nvSpPr>
          <p:spPr bwMode="auto">
            <a:xfrm>
              <a:off x="5455499" y="3069456"/>
              <a:ext cx="421159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03505" name="Oval 29"/>
            <p:cNvSpPr>
              <a:spLocks noChangeArrowheads="1"/>
            </p:cNvSpPr>
            <p:nvPr/>
          </p:nvSpPr>
          <p:spPr bwMode="auto">
            <a:xfrm>
              <a:off x="6373255" y="2713539"/>
              <a:ext cx="360378" cy="27129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6" name="组合 14"/>
          <p:cNvGrpSpPr>
            <a:grpSpLocks/>
          </p:cNvGrpSpPr>
          <p:nvPr/>
        </p:nvGrpSpPr>
        <p:grpSpPr bwMode="auto">
          <a:xfrm>
            <a:off x="8001000" y="1870075"/>
            <a:ext cx="625475" cy="455613"/>
            <a:chOff x="6377115" y="2203660"/>
            <a:chExt cx="624528" cy="455442"/>
          </a:xfrm>
        </p:grpSpPr>
        <p:sp>
          <p:nvSpPr>
            <p:cNvPr id="108624" name="Freeform 19"/>
            <p:cNvSpPr>
              <a:spLocks/>
            </p:cNvSpPr>
            <p:nvPr/>
          </p:nvSpPr>
          <p:spPr bwMode="auto">
            <a:xfrm>
              <a:off x="6377115" y="2434367"/>
              <a:ext cx="382503" cy="224735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625" name="Rectangle 20"/>
            <p:cNvSpPr>
              <a:spLocks noChangeArrowheads="1"/>
            </p:cNvSpPr>
            <p:nvPr/>
          </p:nvSpPr>
          <p:spPr bwMode="auto">
            <a:xfrm>
              <a:off x="6496929" y="2203660"/>
              <a:ext cx="504714" cy="215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7" name="组合 7"/>
          <p:cNvGrpSpPr>
            <a:grpSpLocks/>
          </p:cNvGrpSpPr>
          <p:nvPr/>
        </p:nvGrpSpPr>
        <p:grpSpPr bwMode="auto">
          <a:xfrm>
            <a:off x="4648200" y="2214563"/>
            <a:ext cx="1066800" cy="469900"/>
            <a:chOff x="3024766" y="2548586"/>
            <a:chExt cx="1066163" cy="469256"/>
          </a:xfrm>
        </p:grpSpPr>
        <p:sp>
          <p:nvSpPr>
            <p:cNvPr id="103496" name="Oval 10"/>
            <p:cNvSpPr>
              <a:spLocks noChangeArrowheads="1"/>
            </p:cNvSpPr>
            <p:nvPr/>
          </p:nvSpPr>
          <p:spPr bwMode="auto">
            <a:xfrm>
              <a:off x="3572127" y="2676997"/>
              <a:ext cx="441061" cy="27109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   </a:t>
              </a:r>
              <a:r>
                <a:rPr kumimoji="0" lang="zh-CN" altLang="en-US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8621" name="Line 13"/>
            <p:cNvSpPr>
              <a:spLocks noChangeShapeType="1"/>
            </p:cNvSpPr>
            <p:nvPr/>
          </p:nvSpPr>
          <p:spPr bwMode="auto">
            <a:xfrm>
              <a:off x="3024766" y="2822489"/>
              <a:ext cx="431705" cy="2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622" name="Rectangle 31"/>
            <p:cNvSpPr>
              <a:spLocks noChangeArrowheads="1"/>
            </p:cNvSpPr>
            <p:nvPr/>
          </p:nvSpPr>
          <p:spPr bwMode="auto">
            <a:xfrm>
              <a:off x="3059183" y="2548586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9" name="椭圆 78"/>
            <p:cNvSpPr/>
            <p:nvPr/>
          </p:nvSpPr>
          <p:spPr bwMode="auto">
            <a:xfrm>
              <a:off x="3494385" y="2627852"/>
              <a:ext cx="596544" cy="3899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8" name="组合 8"/>
          <p:cNvGrpSpPr>
            <a:grpSpLocks/>
          </p:cNvGrpSpPr>
          <p:nvPr/>
        </p:nvGrpSpPr>
        <p:grpSpPr bwMode="auto">
          <a:xfrm>
            <a:off x="3963988" y="1428750"/>
            <a:ext cx="2698750" cy="1204913"/>
            <a:chOff x="2339975" y="1762125"/>
            <a:chExt cx="2699073" cy="1204305"/>
          </a:xfrm>
        </p:grpSpPr>
        <p:sp>
          <p:nvSpPr>
            <p:cNvPr id="103493" name="Oval 15"/>
            <p:cNvSpPr>
              <a:spLocks noChangeArrowheads="1"/>
            </p:cNvSpPr>
            <p:nvPr/>
          </p:nvSpPr>
          <p:spPr bwMode="auto">
            <a:xfrm>
              <a:off x="4521461" y="2696691"/>
              <a:ext cx="517587" cy="26973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   </a:t>
              </a:r>
              <a:r>
                <a:rPr kumimoji="0" lang="zh-CN" altLang="en-US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0" name="任意多边形 79"/>
            <p:cNvSpPr/>
            <p:nvPr/>
          </p:nvSpPr>
          <p:spPr bwMode="auto">
            <a:xfrm>
              <a:off x="2339975" y="2101679"/>
              <a:ext cx="2322790" cy="564865"/>
            </a:xfrm>
            <a:custGeom>
              <a:avLst/>
              <a:gdLst>
                <a:gd name="connsiteX0" fmla="*/ 0 w 2801257"/>
                <a:gd name="connsiteY0" fmla="*/ 740937 h 857051"/>
                <a:gd name="connsiteX1" fmla="*/ 1320800 w 2801257"/>
                <a:gd name="connsiteY1" fmla="*/ 709 h 857051"/>
                <a:gd name="connsiteX2" fmla="*/ 2801257 w 2801257"/>
                <a:gd name="connsiteY2" fmla="*/ 857051 h 85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01257" h="857051">
                  <a:moveTo>
                    <a:pt x="0" y="740937"/>
                  </a:moveTo>
                  <a:cubicBezTo>
                    <a:pt x="426962" y="361147"/>
                    <a:pt x="853924" y="-18643"/>
                    <a:pt x="1320800" y="709"/>
                  </a:cubicBezTo>
                  <a:cubicBezTo>
                    <a:pt x="1787676" y="20061"/>
                    <a:pt x="2294466" y="438556"/>
                    <a:pt x="2801257" y="85705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8619" name="Rectangle 20"/>
            <p:cNvSpPr>
              <a:spLocks noChangeArrowheads="1"/>
            </p:cNvSpPr>
            <p:nvPr/>
          </p:nvSpPr>
          <p:spPr bwMode="auto">
            <a:xfrm>
              <a:off x="3184239" y="1762125"/>
              <a:ext cx="398376" cy="195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9" name="组合 2"/>
          <p:cNvGrpSpPr>
            <a:grpSpLocks/>
          </p:cNvGrpSpPr>
          <p:nvPr/>
        </p:nvGrpSpPr>
        <p:grpSpPr bwMode="auto">
          <a:xfrm>
            <a:off x="2915816" y="2223778"/>
            <a:ext cx="1133305" cy="454025"/>
            <a:chOff x="1278089" y="2548336"/>
            <a:chExt cx="1133324" cy="455214"/>
          </a:xfrm>
        </p:grpSpPr>
        <p:sp>
          <p:nvSpPr>
            <p:cNvPr id="108610" name="Rectangle 31"/>
            <p:cNvSpPr>
              <a:spLocks noChangeArrowheads="1"/>
            </p:cNvSpPr>
            <p:nvPr/>
          </p:nvSpPr>
          <p:spPr bwMode="auto">
            <a:xfrm>
              <a:off x="1278089" y="2548336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3487" name="Oval 29"/>
            <p:cNvSpPr>
              <a:spLocks noChangeArrowheads="1"/>
            </p:cNvSpPr>
            <p:nvPr/>
          </p:nvSpPr>
          <p:spPr bwMode="auto">
            <a:xfrm>
              <a:off x="1714489" y="2672485"/>
              <a:ext cx="625486" cy="2721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  </a:t>
              </a:r>
              <a:r>
                <a:rPr kumimoji="0" lang="zh-CN" altLang="en-US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8" name="椭圆 77"/>
            <p:cNvSpPr/>
            <p:nvPr/>
          </p:nvSpPr>
          <p:spPr bwMode="auto">
            <a:xfrm>
              <a:off x="1614474" y="2612002"/>
              <a:ext cx="796939" cy="3915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cxnSp>
          <p:nvCxnSpPr>
            <p:cNvPr id="91" name="直接箭头连接符 90"/>
            <p:cNvCxnSpPr/>
            <p:nvPr/>
          </p:nvCxnSpPr>
          <p:spPr bwMode="auto">
            <a:xfrm>
              <a:off x="1331895" y="2812551"/>
              <a:ext cx="2873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6"/>
          <p:cNvGrpSpPr>
            <a:grpSpLocks/>
          </p:cNvGrpSpPr>
          <p:nvPr/>
        </p:nvGrpSpPr>
        <p:grpSpPr bwMode="auto">
          <a:xfrm>
            <a:off x="4035425" y="2166938"/>
            <a:ext cx="649288" cy="447675"/>
            <a:chOff x="2411209" y="2499742"/>
            <a:chExt cx="648708" cy="447061"/>
          </a:xfrm>
        </p:grpSpPr>
        <p:sp>
          <p:nvSpPr>
            <p:cNvPr id="108606" name="Rectangle 14"/>
            <p:cNvSpPr>
              <a:spLocks noChangeArrowheads="1"/>
            </p:cNvSpPr>
            <p:nvPr/>
          </p:nvSpPr>
          <p:spPr bwMode="auto">
            <a:xfrm>
              <a:off x="2411209" y="2499742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/>
                  <a:ea typeface="楷体_GB2312"/>
                  <a:cs typeface="楷体_GB2312"/>
                </a:rPr>
                <a:t>.</a:t>
              </a:r>
            </a:p>
          </p:txBody>
        </p:sp>
        <p:sp>
          <p:nvSpPr>
            <p:cNvPr id="103483" name="Oval 15"/>
            <p:cNvSpPr>
              <a:spLocks noChangeArrowheads="1"/>
            </p:cNvSpPr>
            <p:nvPr/>
          </p:nvSpPr>
          <p:spPr bwMode="auto">
            <a:xfrm>
              <a:off x="2699876" y="2677298"/>
              <a:ext cx="360041" cy="26950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92" name="直接箭头连接符 91"/>
            <p:cNvCxnSpPr/>
            <p:nvPr/>
          </p:nvCxnSpPr>
          <p:spPr bwMode="auto">
            <a:xfrm>
              <a:off x="2411209" y="2805709"/>
              <a:ext cx="2886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5735638" y="2243138"/>
            <a:ext cx="430212" cy="254000"/>
            <a:chOff x="4110760" y="2576913"/>
            <a:chExt cx="431703" cy="253411"/>
          </a:xfrm>
        </p:grpSpPr>
        <p:sp>
          <p:nvSpPr>
            <p:cNvPr id="108604" name="Rectangle 20"/>
            <p:cNvSpPr>
              <a:spLocks noChangeArrowheads="1"/>
            </p:cNvSpPr>
            <p:nvPr/>
          </p:nvSpPr>
          <p:spPr bwMode="auto">
            <a:xfrm>
              <a:off x="4135943" y="2576913"/>
              <a:ext cx="398376" cy="195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08605" name="Line 13"/>
            <p:cNvSpPr>
              <a:spLocks noChangeShapeType="1"/>
            </p:cNvSpPr>
            <p:nvPr/>
          </p:nvSpPr>
          <p:spPr bwMode="auto">
            <a:xfrm>
              <a:off x="4110760" y="2827946"/>
              <a:ext cx="431703" cy="2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组合 13"/>
          <p:cNvGrpSpPr>
            <a:grpSpLocks/>
          </p:cNvGrpSpPr>
          <p:nvPr/>
        </p:nvGrpSpPr>
        <p:grpSpPr bwMode="auto">
          <a:xfrm>
            <a:off x="7512050" y="2255838"/>
            <a:ext cx="542925" cy="261937"/>
            <a:chOff x="5886884" y="2588928"/>
            <a:chExt cx="544535" cy="262593"/>
          </a:xfrm>
        </p:grpSpPr>
        <p:sp>
          <p:nvSpPr>
            <p:cNvPr id="108602" name="Rectangle 31"/>
            <p:cNvSpPr>
              <a:spLocks noChangeArrowheads="1"/>
            </p:cNvSpPr>
            <p:nvPr/>
          </p:nvSpPr>
          <p:spPr bwMode="auto">
            <a:xfrm>
              <a:off x="5926705" y="2588928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8603" name="Line 13"/>
            <p:cNvSpPr>
              <a:spLocks noChangeShapeType="1"/>
            </p:cNvSpPr>
            <p:nvPr/>
          </p:nvSpPr>
          <p:spPr bwMode="auto">
            <a:xfrm>
              <a:off x="5886884" y="2849143"/>
              <a:ext cx="431705" cy="2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8558" name="组合 2"/>
          <p:cNvGrpSpPr>
            <a:grpSpLocks/>
          </p:cNvGrpSpPr>
          <p:nvPr/>
        </p:nvGrpSpPr>
        <p:grpSpPr bwMode="auto">
          <a:xfrm>
            <a:off x="2624138" y="3354388"/>
            <a:ext cx="1355725" cy="731837"/>
            <a:chOff x="245793" y="5141767"/>
            <a:chExt cx="1356754" cy="976968"/>
          </a:xfrm>
        </p:grpSpPr>
        <p:sp>
          <p:nvSpPr>
            <p:cNvPr id="103472" name="Oval 7"/>
            <p:cNvSpPr>
              <a:spLocks noChangeArrowheads="1"/>
            </p:cNvSpPr>
            <p:nvPr/>
          </p:nvSpPr>
          <p:spPr bwMode="auto">
            <a:xfrm>
              <a:off x="245793" y="5733034"/>
              <a:ext cx="360636" cy="36027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8597" name="Rectangle 31"/>
            <p:cNvSpPr>
              <a:spLocks noChangeArrowheads="1"/>
            </p:cNvSpPr>
            <p:nvPr/>
          </p:nvSpPr>
          <p:spPr bwMode="auto">
            <a:xfrm>
              <a:off x="668771" y="5589586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3474" name="Oval 29"/>
            <p:cNvSpPr>
              <a:spLocks noChangeArrowheads="1"/>
            </p:cNvSpPr>
            <p:nvPr/>
          </p:nvSpPr>
          <p:spPr bwMode="auto">
            <a:xfrm>
              <a:off x="1009960" y="5756346"/>
              <a:ext cx="360637" cy="36238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8599" name="Line 27"/>
            <p:cNvSpPr>
              <a:spLocks noChangeShapeType="1"/>
            </p:cNvSpPr>
            <p:nvPr/>
          </p:nvSpPr>
          <p:spPr bwMode="auto">
            <a:xfrm>
              <a:off x="606155" y="5915987"/>
              <a:ext cx="404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600" name="Freeform 19"/>
            <p:cNvSpPr>
              <a:spLocks/>
            </p:cNvSpPr>
            <p:nvPr/>
          </p:nvSpPr>
          <p:spPr bwMode="auto">
            <a:xfrm>
              <a:off x="1042779" y="5456748"/>
              <a:ext cx="382588" cy="300036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601" name="Rectangle 20"/>
            <p:cNvSpPr>
              <a:spLocks noChangeArrowheads="1"/>
            </p:cNvSpPr>
            <p:nvPr/>
          </p:nvSpPr>
          <p:spPr bwMode="auto">
            <a:xfrm>
              <a:off x="1097721" y="5141767"/>
              <a:ext cx="504826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108559" name="Rectangle 20"/>
          <p:cNvSpPr>
            <a:spLocks noChangeArrowheads="1"/>
          </p:cNvSpPr>
          <p:nvPr/>
        </p:nvSpPr>
        <p:spPr bwMode="auto">
          <a:xfrm>
            <a:off x="5053013" y="338137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</a:p>
        </p:txBody>
      </p:sp>
      <p:grpSp>
        <p:nvGrpSpPr>
          <p:cNvPr id="108560" name="组合 21510"/>
          <p:cNvGrpSpPr>
            <a:grpSpLocks/>
          </p:cNvGrpSpPr>
          <p:nvPr/>
        </p:nvGrpSpPr>
        <p:grpSpPr bwMode="auto">
          <a:xfrm>
            <a:off x="3554413" y="3616325"/>
            <a:ext cx="1854200" cy="952500"/>
            <a:chOff x="1175657" y="5157316"/>
            <a:chExt cx="1854869" cy="1270543"/>
          </a:xfrm>
        </p:grpSpPr>
        <p:sp>
          <p:nvSpPr>
            <p:cNvPr id="108587" name="Rectangle 9"/>
            <p:cNvSpPr>
              <a:spLocks noChangeArrowheads="1"/>
            </p:cNvSpPr>
            <p:nvPr/>
          </p:nvSpPr>
          <p:spPr bwMode="auto">
            <a:xfrm>
              <a:off x="1677767" y="6140522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ε</a:t>
              </a:r>
            </a:p>
          </p:txBody>
        </p:sp>
        <p:sp>
          <p:nvSpPr>
            <p:cNvPr id="103464" name="Oval 10"/>
            <p:cNvSpPr>
              <a:spLocks noChangeArrowheads="1"/>
            </p:cNvSpPr>
            <p:nvPr/>
          </p:nvSpPr>
          <p:spPr bwMode="auto">
            <a:xfrm>
              <a:off x="2617627" y="5434719"/>
              <a:ext cx="358904" cy="36210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8589" name="Rectangle 14"/>
            <p:cNvSpPr>
              <a:spLocks noChangeArrowheads="1"/>
            </p:cNvSpPr>
            <p:nvPr/>
          </p:nvSpPr>
          <p:spPr bwMode="auto">
            <a:xfrm>
              <a:off x="1506652" y="530406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/>
                  <a:ea typeface="楷体_GB2312"/>
                  <a:cs typeface="楷体_GB2312"/>
                </a:rPr>
                <a:t>.</a:t>
              </a:r>
            </a:p>
          </p:txBody>
        </p:sp>
        <p:sp>
          <p:nvSpPr>
            <p:cNvPr id="108590" name="Line 13"/>
            <p:cNvSpPr>
              <a:spLocks noChangeShapeType="1"/>
            </p:cNvSpPr>
            <p:nvPr/>
          </p:nvSpPr>
          <p:spPr bwMode="auto">
            <a:xfrm>
              <a:off x="2188692" y="5622742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67" name="Oval 15"/>
            <p:cNvSpPr>
              <a:spLocks noChangeArrowheads="1"/>
            </p:cNvSpPr>
            <p:nvPr/>
          </p:nvSpPr>
          <p:spPr bwMode="auto">
            <a:xfrm>
              <a:off x="1814062" y="5428365"/>
              <a:ext cx="360492" cy="35998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8592" name="Line 13"/>
            <p:cNvSpPr>
              <a:spLocks noChangeShapeType="1"/>
            </p:cNvSpPr>
            <p:nvPr/>
          </p:nvSpPr>
          <p:spPr bwMode="auto">
            <a:xfrm>
              <a:off x="1372239" y="5613671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593" name="Freeform 19"/>
            <p:cNvSpPr>
              <a:spLocks/>
            </p:cNvSpPr>
            <p:nvPr/>
          </p:nvSpPr>
          <p:spPr bwMode="auto">
            <a:xfrm>
              <a:off x="2647938" y="5157316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594" name="Rectangle 31"/>
            <p:cNvSpPr>
              <a:spLocks noChangeArrowheads="1"/>
            </p:cNvSpPr>
            <p:nvPr/>
          </p:nvSpPr>
          <p:spPr bwMode="auto">
            <a:xfrm>
              <a:off x="2239588" y="5283790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1175657" y="5807411"/>
              <a:ext cx="1626187" cy="332458"/>
            </a:xfrm>
            <a:custGeom>
              <a:avLst/>
              <a:gdLst>
                <a:gd name="connsiteX0" fmla="*/ 0 w 1625600"/>
                <a:gd name="connsiteY0" fmla="*/ 0 h 334293"/>
                <a:gd name="connsiteX1" fmla="*/ 885372 w 1625600"/>
                <a:gd name="connsiteY1" fmla="*/ 333828 h 334293"/>
                <a:gd name="connsiteX2" fmla="*/ 1625600 w 1625600"/>
                <a:gd name="connsiteY2" fmla="*/ 58057 h 3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5600" h="334293">
                  <a:moveTo>
                    <a:pt x="0" y="0"/>
                  </a:moveTo>
                  <a:cubicBezTo>
                    <a:pt x="307219" y="162076"/>
                    <a:pt x="614439" y="324152"/>
                    <a:pt x="885372" y="333828"/>
                  </a:cubicBezTo>
                  <a:cubicBezTo>
                    <a:pt x="1156305" y="343504"/>
                    <a:pt x="1390952" y="200780"/>
                    <a:pt x="1625600" y="58057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108561" name="组合 21511"/>
          <p:cNvGrpSpPr>
            <a:grpSpLocks/>
          </p:cNvGrpSpPr>
          <p:nvPr/>
        </p:nvGrpSpPr>
        <p:grpSpPr bwMode="auto">
          <a:xfrm>
            <a:off x="5194300" y="3308350"/>
            <a:ext cx="2714625" cy="1190625"/>
            <a:chOff x="3055077" y="4746748"/>
            <a:chExt cx="2712592" cy="1588857"/>
          </a:xfrm>
        </p:grpSpPr>
        <p:sp>
          <p:nvSpPr>
            <p:cNvPr id="108569" name="Line 27"/>
            <p:cNvSpPr>
              <a:spLocks noChangeShapeType="1"/>
            </p:cNvSpPr>
            <p:nvPr/>
          </p:nvSpPr>
          <p:spPr bwMode="auto">
            <a:xfrm>
              <a:off x="3223055" y="5640724"/>
              <a:ext cx="3879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570" name="Rectangle 44"/>
            <p:cNvSpPr>
              <a:spLocks noChangeArrowheads="1"/>
            </p:cNvSpPr>
            <p:nvPr/>
          </p:nvSpPr>
          <p:spPr bwMode="auto">
            <a:xfrm>
              <a:off x="3903754" y="4865383"/>
              <a:ext cx="793156" cy="290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03447" name="Oval 15"/>
            <p:cNvSpPr>
              <a:spLocks noChangeArrowheads="1"/>
            </p:cNvSpPr>
            <p:nvPr/>
          </p:nvSpPr>
          <p:spPr bwMode="auto">
            <a:xfrm>
              <a:off x="3580146" y="5460675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8572" name="Line 16"/>
            <p:cNvSpPr>
              <a:spLocks noChangeShapeType="1"/>
            </p:cNvSpPr>
            <p:nvPr/>
          </p:nvSpPr>
          <p:spPr bwMode="auto">
            <a:xfrm flipV="1">
              <a:off x="3954016" y="5641065"/>
              <a:ext cx="433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573" name="Oval 39"/>
            <p:cNvSpPr>
              <a:spLocks noChangeArrowheads="1"/>
            </p:cNvSpPr>
            <p:nvPr/>
          </p:nvSpPr>
          <p:spPr bwMode="auto">
            <a:xfrm>
              <a:off x="5142175" y="5356126"/>
              <a:ext cx="503238" cy="5032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574" name="Rectangle 20"/>
            <p:cNvSpPr>
              <a:spLocks noChangeArrowheads="1"/>
            </p:cNvSpPr>
            <p:nvPr/>
          </p:nvSpPr>
          <p:spPr bwMode="auto">
            <a:xfrm>
              <a:off x="3252677" y="5289235"/>
              <a:ext cx="398463" cy="26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3759399" y="5166206"/>
              <a:ext cx="842332" cy="275402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3762572" y="5837764"/>
              <a:ext cx="856608" cy="16524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8577" name="Rectangle 9"/>
            <p:cNvSpPr>
              <a:spLocks noChangeArrowheads="1"/>
            </p:cNvSpPr>
            <p:nvPr/>
          </p:nvSpPr>
          <p:spPr bwMode="auto">
            <a:xfrm>
              <a:off x="4002599" y="5666198"/>
              <a:ext cx="421252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ε</a:t>
              </a:r>
            </a:p>
          </p:txBody>
        </p:sp>
        <p:sp>
          <p:nvSpPr>
            <p:cNvPr id="108578" name="Rectangle 9"/>
            <p:cNvSpPr>
              <a:spLocks noChangeArrowheads="1"/>
            </p:cNvSpPr>
            <p:nvPr/>
          </p:nvSpPr>
          <p:spPr bwMode="auto">
            <a:xfrm>
              <a:off x="3958646" y="5285245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</a:t>
              </a:r>
            </a:p>
          </p:txBody>
        </p:sp>
        <p:sp>
          <p:nvSpPr>
            <p:cNvPr id="103455" name="Oval 7"/>
            <p:cNvSpPr>
              <a:spLocks noChangeArrowheads="1"/>
            </p:cNvSpPr>
            <p:nvPr/>
          </p:nvSpPr>
          <p:spPr bwMode="auto">
            <a:xfrm>
              <a:off x="4424064" y="5439490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08580" name="Rectangle 31"/>
            <p:cNvSpPr>
              <a:spLocks noChangeArrowheads="1"/>
            </p:cNvSpPr>
            <p:nvPr/>
          </p:nvSpPr>
          <p:spPr bwMode="auto">
            <a:xfrm>
              <a:off x="4767947" y="5288860"/>
              <a:ext cx="504825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3457" name="Oval 29"/>
            <p:cNvSpPr>
              <a:spLocks noChangeArrowheads="1"/>
            </p:cNvSpPr>
            <p:nvPr/>
          </p:nvSpPr>
          <p:spPr bwMode="auto">
            <a:xfrm>
              <a:off x="5214047" y="5435253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8582" name="Line 27"/>
            <p:cNvSpPr>
              <a:spLocks noChangeShapeType="1"/>
            </p:cNvSpPr>
            <p:nvPr/>
          </p:nvSpPr>
          <p:spPr bwMode="auto">
            <a:xfrm flipV="1">
              <a:off x="4806054" y="5607130"/>
              <a:ext cx="336122" cy="16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583" name="Freeform 19"/>
            <p:cNvSpPr>
              <a:spLocks/>
            </p:cNvSpPr>
            <p:nvPr/>
          </p:nvSpPr>
          <p:spPr bwMode="auto">
            <a:xfrm>
              <a:off x="5224816" y="5057140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584" name="Rectangle 20"/>
            <p:cNvSpPr>
              <a:spLocks noChangeArrowheads="1"/>
            </p:cNvSpPr>
            <p:nvPr/>
          </p:nvSpPr>
          <p:spPr bwMode="auto">
            <a:xfrm>
              <a:off x="5262844" y="4746748"/>
              <a:ext cx="504825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8" name="任意多边形 167"/>
            <p:cNvSpPr/>
            <p:nvPr/>
          </p:nvSpPr>
          <p:spPr>
            <a:xfrm>
              <a:off x="3055077" y="5854712"/>
              <a:ext cx="2355672" cy="480893"/>
            </a:xfrm>
            <a:custGeom>
              <a:avLst/>
              <a:gdLst>
                <a:gd name="connsiteX0" fmla="*/ 0 w 2743200"/>
                <a:gd name="connsiteY0" fmla="*/ 0 h 756045"/>
                <a:gd name="connsiteX1" fmla="*/ 1538515 w 2743200"/>
                <a:gd name="connsiteY1" fmla="*/ 754743 h 756045"/>
                <a:gd name="connsiteX2" fmla="*/ 2743200 w 2743200"/>
                <a:gd name="connsiteY2" fmla="*/ 145143 h 75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3200" h="756045">
                  <a:moveTo>
                    <a:pt x="0" y="0"/>
                  </a:moveTo>
                  <a:cubicBezTo>
                    <a:pt x="540657" y="365276"/>
                    <a:pt x="1081315" y="730553"/>
                    <a:pt x="1538515" y="754743"/>
                  </a:cubicBezTo>
                  <a:cubicBezTo>
                    <a:pt x="1995715" y="778933"/>
                    <a:pt x="2369457" y="462038"/>
                    <a:pt x="2743200" y="145143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8586" name="Rectangle 9"/>
            <p:cNvSpPr>
              <a:spLocks noChangeArrowheads="1"/>
            </p:cNvSpPr>
            <p:nvPr/>
          </p:nvSpPr>
          <p:spPr bwMode="auto">
            <a:xfrm>
              <a:off x="4590766" y="5965909"/>
              <a:ext cx="421252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ε</a:t>
              </a:r>
            </a:p>
          </p:txBody>
        </p:sp>
      </p:grpSp>
      <p:sp>
        <p:nvSpPr>
          <p:cNvPr id="170" name="矩形 169"/>
          <p:cNvSpPr/>
          <p:nvPr/>
        </p:nvSpPr>
        <p:spPr>
          <a:xfrm>
            <a:off x="850900" y="3727450"/>
            <a:ext cx="935038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NFA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108563" name="Rectangle 22"/>
          <p:cNvSpPr>
            <a:spLocks noChangeArrowheads="1"/>
          </p:cNvSpPr>
          <p:nvPr/>
        </p:nvSpPr>
        <p:spPr bwMode="auto">
          <a:xfrm>
            <a:off x="1760538" y="378142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sp>
        <p:nvSpPr>
          <p:cNvPr id="108564" name="Line 27"/>
          <p:cNvSpPr>
            <a:spLocks noChangeShapeType="1"/>
          </p:cNvSpPr>
          <p:nvPr/>
        </p:nvSpPr>
        <p:spPr bwMode="auto">
          <a:xfrm>
            <a:off x="2286000" y="3933825"/>
            <a:ext cx="3317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" name="标题 5"/>
          <p:cNvSpPr txBox="1">
            <a:spLocks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识别无符号数的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108566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5" name="五边形 9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568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6" name="Oval 7">
            <a:extLst>
              <a:ext uri="{FF2B5EF4-FFF2-40B4-BE49-F238E27FC236}">
                <a16:creationId xmlns:a16="http://schemas.microsoft.com/office/drawing/2014/main" id="{BEDB6C75-34B5-4646-95DA-F916AE557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708" y="2343943"/>
            <a:ext cx="360362" cy="2698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3D72DD6-68DA-4025-BEDE-5A4E0AD06875}"/>
              </a:ext>
            </a:extLst>
          </p:cNvPr>
          <p:cNvSpPr/>
          <p:nvPr/>
        </p:nvSpPr>
        <p:spPr bwMode="auto">
          <a:xfrm>
            <a:off x="892934" y="2238912"/>
            <a:ext cx="935038" cy="360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+mn-cs"/>
              </a:rPr>
              <a:t>DFA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+mn-cs"/>
              </a:rPr>
              <a:t>：</a:t>
            </a:r>
          </a:p>
        </p:txBody>
      </p:sp>
      <p:sp>
        <p:nvSpPr>
          <p:cNvPr id="98" name="Line 21">
            <a:extLst>
              <a:ext uri="{FF2B5EF4-FFF2-40B4-BE49-F238E27FC236}">
                <a16:creationId xmlns:a16="http://schemas.microsoft.com/office/drawing/2014/main" id="{7BBE3C1D-6B78-42E8-A379-BD6CF1AAE2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7262" y="2469142"/>
            <a:ext cx="27888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" name="Rectangle 22">
            <a:extLst>
              <a:ext uri="{FF2B5EF4-FFF2-40B4-BE49-F238E27FC236}">
                <a16:creationId xmlns:a16="http://schemas.microsoft.com/office/drawing/2014/main" id="{F2A2700F-39DE-499F-81A2-FE684FADF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210" y="2335104"/>
            <a:ext cx="648767" cy="214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276683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/>
      <p:bldP spid="98" grpId="0" animBg="1"/>
      <p:bldP spid="9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识别各进制无符号整数的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10595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4" name="五边形 4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8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28575" y="865188"/>
            <a:ext cx="4183063" cy="1274762"/>
            <a:chOff x="28575" y="865188"/>
            <a:chExt cx="4183386" cy="1274514"/>
          </a:xfrm>
        </p:grpSpPr>
        <p:sp>
          <p:nvSpPr>
            <p:cNvPr id="110618" name="Oval 32"/>
            <p:cNvSpPr>
              <a:spLocks noChangeArrowheads="1"/>
            </p:cNvSpPr>
            <p:nvPr/>
          </p:nvSpPr>
          <p:spPr bwMode="auto">
            <a:xfrm>
              <a:off x="944634" y="1446100"/>
              <a:ext cx="381029" cy="28569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0666" name="AutoShape 33"/>
            <p:cNvCxnSpPr>
              <a:cxnSpLocks noChangeShapeType="1"/>
              <a:stCxn id="110618" idx="6"/>
            </p:cNvCxnSpPr>
            <p:nvPr/>
          </p:nvCxnSpPr>
          <p:spPr bwMode="auto">
            <a:xfrm>
              <a:off x="1325055" y="1588971"/>
              <a:ext cx="114283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667" name="Text Box 35"/>
            <p:cNvSpPr txBox="1">
              <a:spLocks noChangeArrowheads="1"/>
            </p:cNvSpPr>
            <p:nvPr/>
          </p:nvSpPr>
          <p:spPr bwMode="auto">
            <a:xfrm>
              <a:off x="1668872" y="1275496"/>
              <a:ext cx="526974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1-9</a:t>
              </a:r>
            </a:p>
          </p:txBody>
        </p:sp>
        <p:sp>
          <p:nvSpPr>
            <p:cNvPr id="110668" name="Text Box 36"/>
            <p:cNvSpPr txBox="1">
              <a:spLocks noChangeArrowheads="1"/>
            </p:cNvSpPr>
            <p:nvPr/>
          </p:nvSpPr>
          <p:spPr bwMode="auto">
            <a:xfrm>
              <a:off x="3331026" y="1397599"/>
              <a:ext cx="880935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0-9</a:t>
              </a:r>
            </a:p>
          </p:txBody>
        </p:sp>
        <p:sp>
          <p:nvSpPr>
            <p:cNvPr id="110669" name="Line 39"/>
            <p:cNvSpPr>
              <a:spLocks noChangeShapeType="1"/>
            </p:cNvSpPr>
            <p:nvPr/>
          </p:nvSpPr>
          <p:spPr bwMode="auto">
            <a:xfrm>
              <a:off x="1259877" y="1689899"/>
              <a:ext cx="353862" cy="1615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70" name="Text Box 41"/>
            <p:cNvSpPr txBox="1">
              <a:spLocks noChangeArrowheads="1"/>
            </p:cNvSpPr>
            <p:nvPr/>
          </p:nvSpPr>
          <p:spPr bwMode="auto">
            <a:xfrm>
              <a:off x="1163177" y="1635441"/>
              <a:ext cx="312693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10671" name="矩形 3"/>
            <p:cNvSpPr>
              <a:spLocks noChangeArrowheads="1"/>
            </p:cNvSpPr>
            <p:nvPr/>
          </p:nvSpPr>
          <p:spPr bwMode="auto">
            <a:xfrm>
              <a:off x="28575" y="865188"/>
              <a:ext cx="184745" cy="400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72" name="Line 21"/>
            <p:cNvSpPr>
              <a:spLocks noChangeShapeType="1"/>
            </p:cNvSpPr>
            <p:nvPr/>
          </p:nvSpPr>
          <p:spPr bwMode="auto">
            <a:xfrm flipV="1">
              <a:off x="645302" y="1565171"/>
              <a:ext cx="2788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73" name="Rectangle 22"/>
            <p:cNvSpPr>
              <a:spLocks noChangeArrowheads="1"/>
            </p:cNvSpPr>
            <p:nvPr/>
          </p:nvSpPr>
          <p:spPr bwMode="auto">
            <a:xfrm>
              <a:off x="35917" y="1459474"/>
              <a:ext cx="648674" cy="214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25" name="弧形 24"/>
            <p:cNvSpPr/>
            <p:nvPr/>
          </p:nvSpPr>
          <p:spPr bwMode="auto">
            <a:xfrm>
              <a:off x="2921223" y="1363566"/>
              <a:ext cx="423896" cy="493616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0675" name="Oval 39"/>
            <p:cNvSpPr>
              <a:spLocks noChangeArrowheads="1"/>
            </p:cNvSpPr>
            <p:nvPr/>
          </p:nvSpPr>
          <p:spPr bwMode="auto">
            <a:xfrm>
              <a:off x="2483768" y="1419622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Oval 29"/>
            <p:cNvSpPr>
              <a:spLocks noChangeArrowheads="1"/>
            </p:cNvSpPr>
            <p:nvPr/>
          </p:nvSpPr>
          <p:spPr bwMode="auto">
            <a:xfrm>
              <a:off x="2556070" y="1479430"/>
              <a:ext cx="360391" cy="26982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0677" name="Oval 39"/>
            <p:cNvSpPr>
              <a:spLocks noChangeArrowheads="1"/>
            </p:cNvSpPr>
            <p:nvPr/>
          </p:nvSpPr>
          <p:spPr bwMode="auto">
            <a:xfrm>
              <a:off x="1619672" y="1762597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Oval 29"/>
            <p:cNvSpPr>
              <a:spLocks noChangeArrowheads="1"/>
            </p:cNvSpPr>
            <p:nvPr/>
          </p:nvSpPr>
          <p:spPr bwMode="auto">
            <a:xfrm>
              <a:off x="1690816" y="1822264"/>
              <a:ext cx="360390" cy="26982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4" name="组合 2"/>
          <p:cNvGrpSpPr>
            <a:grpSpLocks/>
          </p:cNvGrpSpPr>
          <p:nvPr/>
        </p:nvGrpSpPr>
        <p:grpSpPr bwMode="auto">
          <a:xfrm>
            <a:off x="17773" y="2161561"/>
            <a:ext cx="4770864" cy="1405552"/>
            <a:chOff x="17775" y="2161561"/>
            <a:chExt cx="4770249" cy="1405552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928569" y="3125788"/>
              <a:ext cx="380951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0653" name="AutoShape 6"/>
            <p:cNvCxnSpPr>
              <a:cxnSpLocks noChangeShapeType="1"/>
            </p:cNvCxnSpPr>
            <p:nvPr/>
          </p:nvCxnSpPr>
          <p:spPr bwMode="auto">
            <a:xfrm>
              <a:off x="2310250" y="3268415"/>
              <a:ext cx="1142833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654" name="AutoShape 8"/>
            <p:cNvCxnSpPr>
              <a:cxnSpLocks noChangeShapeType="1"/>
            </p:cNvCxnSpPr>
            <p:nvPr/>
          </p:nvCxnSpPr>
          <p:spPr bwMode="auto">
            <a:xfrm flipV="1">
              <a:off x="1299159" y="3268415"/>
              <a:ext cx="630146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599" name="Oval 9"/>
            <p:cNvSpPr>
              <a:spLocks noChangeArrowheads="1"/>
            </p:cNvSpPr>
            <p:nvPr/>
          </p:nvSpPr>
          <p:spPr bwMode="auto">
            <a:xfrm>
              <a:off x="917461" y="3125788"/>
              <a:ext cx="380951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656" name="Text Box 10"/>
            <p:cNvSpPr txBox="1">
              <a:spLocks noChangeArrowheads="1"/>
            </p:cNvSpPr>
            <p:nvPr/>
          </p:nvSpPr>
          <p:spPr bwMode="auto">
            <a:xfrm>
              <a:off x="1384872" y="2932014"/>
              <a:ext cx="312692" cy="40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10657" name="Text Box 11"/>
            <p:cNvSpPr txBox="1">
              <a:spLocks noChangeArrowheads="1"/>
            </p:cNvSpPr>
            <p:nvPr/>
          </p:nvSpPr>
          <p:spPr bwMode="auto">
            <a:xfrm>
              <a:off x="2502308" y="2900017"/>
              <a:ext cx="52603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1-7</a:t>
              </a:r>
            </a:p>
          </p:txBody>
        </p:sp>
        <p:sp>
          <p:nvSpPr>
            <p:cNvPr id="110658" name="Text Box 12"/>
            <p:cNvSpPr txBox="1">
              <a:spLocks noChangeArrowheads="1"/>
            </p:cNvSpPr>
            <p:nvPr/>
          </p:nvSpPr>
          <p:spPr bwMode="auto">
            <a:xfrm>
              <a:off x="4262638" y="3119636"/>
              <a:ext cx="525386" cy="40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0-7</a:t>
              </a:r>
            </a:p>
          </p:txBody>
        </p:sp>
        <p:sp>
          <p:nvSpPr>
            <p:cNvPr id="110659" name="矩形 1"/>
            <p:cNvSpPr>
              <a:spLocks noChangeArrowheads="1"/>
            </p:cNvSpPr>
            <p:nvPr/>
          </p:nvSpPr>
          <p:spPr bwMode="auto">
            <a:xfrm>
              <a:off x="17775" y="2161561"/>
              <a:ext cx="18470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660" name="Line 21"/>
            <p:cNvSpPr>
              <a:spLocks noChangeShapeType="1"/>
            </p:cNvSpPr>
            <p:nvPr/>
          </p:nvSpPr>
          <p:spPr bwMode="auto">
            <a:xfrm flipV="1">
              <a:off x="611600" y="3222905"/>
              <a:ext cx="2788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61" name="Rectangle 22"/>
            <p:cNvSpPr>
              <a:spLocks noChangeArrowheads="1"/>
            </p:cNvSpPr>
            <p:nvPr/>
          </p:nvSpPr>
          <p:spPr bwMode="auto">
            <a:xfrm>
              <a:off x="34925" y="3117184"/>
              <a:ext cx="648672" cy="21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74" name="弧形 73"/>
            <p:cNvSpPr/>
            <p:nvPr/>
          </p:nvSpPr>
          <p:spPr bwMode="auto">
            <a:xfrm>
              <a:off x="3857132" y="3073400"/>
              <a:ext cx="423808" cy="493713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0663" name="Oval 39"/>
            <p:cNvSpPr>
              <a:spLocks noChangeArrowheads="1"/>
            </p:cNvSpPr>
            <p:nvPr/>
          </p:nvSpPr>
          <p:spPr bwMode="auto">
            <a:xfrm>
              <a:off x="3419872" y="3130749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Oval 29"/>
            <p:cNvSpPr>
              <a:spLocks noChangeArrowheads="1"/>
            </p:cNvSpPr>
            <p:nvPr/>
          </p:nvSpPr>
          <p:spPr bwMode="auto">
            <a:xfrm>
              <a:off x="3492054" y="3189288"/>
              <a:ext cx="360317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5" name="组合 3"/>
          <p:cNvGrpSpPr>
            <a:grpSpLocks/>
          </p:cNvGrpSpPr>
          <p:nvPr/>
        </p:nvGrpSpPr>
        <p:grpSpPr bwMode="auto">
          <a:xfrm>
            <a:off x="34925" y="3747766"/>
            <a:ext cx="6192838" cy="1284609"/>
            <a:chOff x="34925" y="3747766"/>
            <a:chExt cx="6193259" cy="1284609"/>
          </a:xfrm>
        </p:grpSpPr>
        <p:sp>
          <p:nvSpPr>
            <p:cNvPr id="7" name="Oval 17"/>
            <p:cNvSpPr>
              <a:spLocks noChangeArrowheads="1"/>
            </p:cNvSpPr>
            <p:nvPr/>
          </p:nvSpPr>
          <p:spPr bwMode="auto">
            <a:xfrm>
              <a:off x="2340132" y="466566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10" name="Oval 18"/>
            <p:cNvSpPr>
              <a:spLocks noChangeArrowheads="1"/>
            </p:cNvSpPr>
            <p:nvPr/>
          </p:nvSpPr>
          <p:spPr bwMode="auto">
            <a:xfrm>
              <a:off x="900172" y="465931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38" name="Text Box 19"/>
            <p:cNvSpPr txBox="1">
              <a:spLocks noChangeArrowheads="1"/>
            </p:cNvSpPr>
            <p:nvPr/>
          </p:nvSpPr>
          <p:spPr bwMode="auto">
            <a:xfrm>
              <a:off x="1299886" y="4398647"/>
              <a:ext cx="312767" cy="399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10609" name="Oval 21"/>
            <p:cNvSpPr>
              <a:spLocks noChangeArrowheads="1"/>
            </p:cNvSpPr>
            <p:nvPr/>
          </p:nvSpPr>
          <p:spPr bwMode="auto">
            <a:xfrm>
              <a:off x="1619358" y="465931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110640" name="Text Box 23"/>
            <p:cNvSpPr txBox="1">
              <a:spLocks noChangeArrowheads="1"/>
            </p:cNvSpPr>
            <p:nvPr/>
          </p:nvSpPr>
          <p:spPr bwMode="auto">
            <a:xfrm>
              <a:off x="2027327" y="4411339"/>
              <a:ext cx="312768" cy="399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41" name="Text Box 24"/>
            <p:cNvSpPr txBox="1">
              <a:spLocks noChangeArrowheads="1"/>
            </p:cNvSpPr>
            <p:nvPr/>
          </p:nvSpPr>
          <p:spPr bwMode="auto">
            <a:xfrm>
              <a:off x="2905051" y="4429138"/>
              <a:ext cx="9750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1-9,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10642" name="Text Box 26"/>
            <p:cNvSpPr txBox="1">
              <a:spLocks noChangeArrowheads="1"/>
            </p:cNvSpPr>
            <p:nvPr/>
          </p:nvSpPr>
          <p:spPr bwMode="auto">
            <a:xfrm>
              <a:off x="4896144" y="4624662"/>
              <a:ext cx="1332040" cy="399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0-9,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10643" name="Line 27"/>
            <p:cNvSpPr>
              <a:spLocks noChangeShapeType="1"/>
            </p:cNvSpPr>
            <p:nvPr/>
          </p:nvSpPr>
          <p:spPr bwMode="auto">
            <a:xfrm>
              <a:off x="2720883" y="4819047"/>
              <a:ext cx="12955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44" name="矩形 5"/>
            <p:cNvSpPr>
              <a:spLocks noChangeArrowheads="1"/>
            </p:cNvSpPr>
            <p:nvPr/>
          </p:nvSpPr>
          <p:spPr bwMode="auto">
            <a:xfrm>
              <a:off x="76146" y="3747766"/>
              <a:ext cx="18474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弧形 74"/>
            <p:cNvSpPr/>
            <p:nvPr/>
          </p:nvSpPr>
          <p:spPr bwMode="auto">
            <a:xfrm>
              <a:off x="4429424" y="4538663"/>
              <a:ext cx="423892" cy="493712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0646" name="Line 21"/>
            <p:cNvSpPr>
              <a:spLocks noChangeShapeType="1"/>
            </p:cNvSpPr>
            <p:nvPr/>
          </p:nvSpPr>
          <p:spPr bwMode="auto">
            <a:xfrm flipV="1">
              <a:off x="611739" y="4766565"/>
              <a:ext cx="278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47" name="Rectangle 22"/>
            <p:cNvSpPr>
              <a:spLocks noChangeArrowheads="1"/>
            </p:cNvSpPr>
            <p:nvPr/>
          </p:nvSpPr>
          <p:spPr bwMode="auto">
            <a:xfrm>
              <a:off x="34925" y="4660912"/>
              <a:ext cx="648829" cy="21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cxnSp>
          <p:nvCxnSpPr>
            <p:cNvPr id="31" name="直接箭头连接符 30"/>
            <p:cNvCxnSpPr/>
            <p:nvPr/>
          </p:nvCxnSpPr>
          <p:spPr bwMode="auto">
            <a:xfrm flipV="1">
              <a:off x="1281198" y="4799013"/>
              <a:ext cx="320697" cy="3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/>
            <p:nvPr/>
          </p:nvCxnSpPr>
          <p:spPr bwMode="auto">
            <a:xfrm flipV="1">
              <a:off x="2019435" y="4803775"/>
              <a:ext cx="320697" cy="3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650" name="Oval 39"/>
            <p:cNvSpPr>
              <a:spLocks noChangeArrowheads="1"/>
            </p:cNvSpPr>
            <p:nvPr/>
          </p:nvSpPr>
          <p:spPr bwMode="auto">
            <a:xfrm>
              <a:off x="4012998" y="4616809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Oval 29"/>
            <p:cNvSpPr>
              <a:spLocks noChangeArrowheads="1"/>
            </p:cNvSpPr>
            <p:nvPr/>
          </p:nvSpPr>
          <p:spPr bwMode="auto">
            <a:xfrm>
              <a:off x="4084913" y="4676775"/>
              <a:ext cx="360386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3851275" y="700088"/>
            <a:ext cx="4176713" cy="1223962"/>
            <a:chOff x="3851275" y="700088"/>
            <a:chExt cx="4176150" cy="1223962"/>
          </a:xfrm>
        </p:grpSpPr>
        <p:sp>
          <p:nvSpPr>
            <p:cNvPr id="87" name="Oval 32"/>
            <p:cNvSpPr>
              <a:spLocks noChangeArrowheads="1"/>
            </p:cNvSpPr>
            <p:nvPr/>
          </p:nvSpPr>
          <p:spPr bwMode="auto">
            <a:xfrm>
              <a:off x="4752853" y="1638300"/>
              <a:ext cx="380949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0627" name="AutoShape 33"/>
            <p:cNvCxnSpPr>
              <a:cxnSpLocks noChangeShapeType="1"/>
              <a:stCxn id="87" idx="0"/>
            </p:cNvCxnSpPr>
            <p:nvPr/>
          </p:nvCxnSpPr>
          <p:spPr bwMode="auto">
            <a:xfrm flipV="1">
              <a:off x="4942911" y="1424424"/>
              <a:ext cx="587838" cy="21409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628" name="Text Box 35"/>
            <p:cNvSpPr txBox="1">
              <a:spLocks noChangeArrowheads="1"/>
            </p:cNvSpPr>
            <p:nvPr/>
          </p:nvSpPr>
          <p:spPr bwMode="auto">
            <a:xfrm>
              <a:off x="4715524" y="1135239"/>
              <a:ext cx="527143" cy="400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1-9</a:t>
              </a:r>
            </a:p>
          </p:txBody>
        </p:sp>
        <p:sp>
          <p:nvSpPr>
            <p:cNvPr id="110629" name="Text Box 36"/>
            <p:cNvSpPr txBox="1">
              <a:spLocks noChangeArrowheads="1"/>
            </p:cNvSpPr>
            <p:nvPr/>
          </p:nvSpPr>
          <p:spPr bwMode="auto">
            <a:xfrm>
              <a:off x="5473581" y="700088"/>
              <a:ext cx="881217" cy="400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0-9</a:t>
              </a:r>
            </a:p>
          </p:txBody>
        </p:sp>
        <p:sp>
          <p:nvSpPr>
            <p:cNvPr id="110630" name="Line 21"/>
            <p:cNvSpPr>
              <a:spLocks noChangeShapeType="1"/>
            </p:cNvSpPr>
            <p:nvPr/>
          </p:nvSpPr>
          <p:spPr bwMode="auto">
            <a:xfrm flipV="1">
              <a:off x="4453475" y="1757588"/>
              <a:ext cx="2789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31" name="Rectangle 22"/>
            <p:cNvSpPr>
              <a:spLocks noChangeArrowheads="1"/>
            </p:cNvSpPr>
            <p:nvPr/>
          </p:nvSpPr>
          <p:spPr bwMode="auto">
            <a:xfrm>
              <a:off x="3851275" y="1651859"/>
              <a:ext cx="648881" cy="21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6" name="弧形 95"/>
            <p:cNvSpPr/>
            <p:nvPr/>
          </p:nvSpPr>
          <p:spPr bwMode="auto">
            <a:xfrm rot="16200000">
              <a:off x="5615528" y="915226"/>
              <a:ext cx="234950" cy="493646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0633" name="Text Box 34"/>
            <p:cNvSpPr txBox="1">
              <a:spLocks noChangeArrowheads="1"/>
            </p:cNvSpPr>
            <p:nvPr/>
          </p:nvSpPr>
          <p:spPr bwMode="auto">
            <a:xfrm>
              <a:off x="5990635" y="1176426"/>
              <a:ext cx="2036790" cy="46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DEC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,</a:t>
              </a: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value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)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34" name="Oval 39"/>
            <p:cNvSpPr>
              <a:spLocks noChangeArrowheads="1"/>
            </p:cNvSpPr>
            <p:nvPr/>
          </p:nvSpPr>
          <p:spPr bwMode="auto">
            <a:xfrm>
              <a:off x="5507551" y="1258645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Oval 29"/>
            <p:cNvSpPr>
              <a:spLocks noChangeArrowheads="1"/>
            </p:cNvSpPr>
            <p:nvPr/>
          </p:nvSpPr>
          <p:spPr bwMode="auto">
            <a:xfrm>
              <a:off x="5579830" y="1317625"/>
              <a:ext cx="360313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169025" y="1571625"/>
            <a:ext cx="3082925" cy="1004888"/>
            <a:chOff x="6169429" y="1571618"/>
            <a:chExt cx="3082521" cy="1004176"/>
          </a:xfrm>
        </p:grpSpPr>
        <p:cxnSp>
          <p:nvCxnSpPr>
            <p:cNvPr id="110619" name="AutoShape 6"/>
            <p:cNvCxnSpPr>
              <a:cxnSpLocks noChangeShapeType="1"/>
            </p:cNvCxnSpPr>
            <p:nvPr/>
          </p:nvCxnSpPr>
          <p:spPr bwMode="auto">
            <a:xfrm>
              <a:off x="6169429" y="2327302"/>
              <a:ext cx="66511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620" name="Text Box 11"/>
            <p:cNvSpPr txBox="1">
              <a:spLocks noChangeArrowheads="1"/>
            </p:cNvSpPr>
            <p:nvPr/>
          </p:nvSpPr>
          <p:spPr bwMode="auto">
            <a:xfrm>
              <a:off x="6192536" y="1928808"/>
              <a:ext cx="526037" cy="399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1-7</a:t>
              </a:r>
            </a:p>
          </p:txBody>
        </p:sp>
        <p:sp>
          <p:nvSpPr>
            <p:cNvPr id="110621" name="Text Box 12"/>
            <p:cNvSpPr txBox="1">
              <a:spLocks noChangeArrowheads="1"/>
            </p:cNvSpPr>
            <p:nvPr/>
          </p:nvSpPr>
          <p:spPr bwMode="auto">
            <a:xfrm>
              <a:off x="6802839" y="1571618"/>
              <a:ext cx="525481" cy="40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0-7</a:t>
              </a:r>
            </a:p>
          </p:txBody>
        </p:sp>
        <p:sp>
          <p:nvSpPr>
            <p:cNvPr id="113" name="弧形 112"/>
            <p:cNvSpPr/>
            <p:nvPr/>
          </p:nvSpPr>
          <p:spPr bwMode="auto">
            <a:xfrm rot="16200000">
              <a:off x="6934572" y="1809433"/>
              <a:ext cx="236369" cy="493647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0623" name="Text Box 3"/>
            <p:cNvSpPr txBox="1">
              <a:spLocks noChangeArrowheads="1"/>
            </p:cNvSpPr>
            <p:nvPr/>
          </p:nvSpPr>
          <p:spPr bwMode="auto">
            <a:xfrm>
              <a:off x="7291361" y="2113746"/>
              <a:ext cx="1960589" cy="46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OCT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,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value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24" name="Oval 39"/>
            <p:cNvSpPr>
              <a:spLocks noChangeArrowheads="1"/>
            </p:cNvSpPr>
            <p:nvPr/>
          </p:nvSpPr>
          <p:spPr bwMode="auto">
            <a:xfrm>
              <a:off x="6817269" y="2156108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Oval 29"/>
            <p:cNvSpPr>
              <a:spLocks noChangeArrowheads="1"/>
            </p:cNvSpPr>
            <p:nvPr/>
          </p:nvSpPr>
          <p:spPr bwMode="auto">
            <a:xfrm>
              <a:off x="6890060" y="2215686"/>
              <a:ext cx="360316" cy="2696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5410200" y="2514600"/>
            <a:ext cx="3771900" cy="993775"/>
            <a:chOff x="5410222" y="2514215"/>
            <a:chExt cx="3771952" cy="994160"/>
          </a:xfrm>
        </p:grpSpPr>
        <p:sp>
          <p:nvSpPr>
            <p:cNvPr id="126" name="Oval 17"/>
            <p:cNvSpPr>
              <a:spLocks noChangeArrowheads="1"/>
            </p:cNvSpPr>
            <p:nvPr/>
          </p:nvSpPr>
          <p:spPr bwMode="auto">
            <a:xfrm>
              <a:off x="5486423" y="3178047"/>
              <a:ext cx="381005" cy="28586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110610" name="Text Box 23"/>
            <p:cNvSpPr txBox="1">
              <a:spLocks noChangeArrowheads="1"/>
            </p:cNvSpPr>
            <p:nvPr/>
          </p:nvSpPr>
          <p:spPr bwMode="auto">
            <a:xfrm>
              <a:off x="5410222" y="2618190"/>
              <a:ext cx="312758" cy="399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11" name="Text Box 24"/>
            <p:cNvSpPr txBox="1">
              <a:spLocks noChangeArrowheads="1"/>
            </p:cNvSpPr>
            <p:nvPr/>
          </p:nvSpPr>
          <p:spPr bwMode="auto">
            <a:xfrm>
              <a:off x="5786446" y="2928940"/>
              <a:ext cx="974960" cy="400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1-9,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10612" name="Text Box 26"/>
            <p:cNvSpPr txBox="1">
              <a:spLocks noChangeArrowheads="1"/>
            </p:cNvSpPr>
            <p:nvPr/>
          </p:nvSpPr>
          <p:spPr bwMode="auto">
            <a:xfrm>
              <a:off x="6489668" y="2514215"/>
              <a:ext cx="1332000" cy="399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0-9,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10613" name="Line 27"/>
            <p:cNvSpPr>
              <a:spLocks noChangeShapeType="1"/>
            </p:cNvSpPr>
            <p:nvPr/>
          </p:nvSpPr>
          <p:spPr bwMode="auto">
            <a:xfrm>
              <a:off x="5867006" y="3304338"/>
              <a:ext cx="8527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32" name="直接箭头连接符 131"/>
            <p:cNvCxnSpPr/>
            <p:nvPr/>
          </p:nvCxnSpPr>
          <p:spPr bwMode="auto">
            <a:xfrm flipH="1">
              <a:off x="5676926" y="2514215"/>
              <a:ext cx="11113" cy="6638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弧形 132"/>
            <p:cNvSpPr/>
            <p:nvPr/>
          </p:nvSpPr>
          <p:spPr bwMode="auto">
            <a:xfrm rot="16200000">
              <a:off x="6848474" y="2779522"/>
              <a:ext cx="233452" cy="493720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0616" name="Text Box 2"/>
            <p:cNvSpPr txBox="1">
              <a:spLocks noChangeArrowheads="1"/>
            </p:cNvSpPr>
            <p:nvPr/>
          </p:nvSpPr>
          <p:spPr bwMode="auto">
            <a:xfrm>
              <a:off x="7153321" y="3019133"/>
              <a:ext cx="2028853" cy="46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HEX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,</a:t>
              </a: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value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17" name="Oval 39"/>
            <p:cNvSpPr>
              <a:spLocks noChangeArrowheads="1"/>
            </p:cNvSpPr>
            <p:nvPr/>
          </p:nvSpPr>
          <p:spPr bwMode="auto">
            <a:xfrm>
              <a:off x="6707109" y="3131200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Oval 29"/>
            <p:cNvSpPr>
              <a:spLocks noChangeArrowheads="1"/>
            </p:cNvSpPr>
            <p:nvPr/>
          </p:nvSpPr>
          <p:spPr bwMode="auto">
            <a:xfrm>
              <a:off x="6778666" y="3190752"/>
              <a:ext cx="360368" cy="26998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4833938" y="1643063"/>
            <a:ext cx="2176462" cy="884237"/>
            <a:chOff x="4833952" y="1643056"/>
            <a:chExt cx="2176492" cy="884272"/>
          </a:xfrm>
        </p:grpSpPr>
        <p:sp>
          <p:nvSpPr>
            <p:cNvPr id="110603" name="Text Box 34"/>
            <p:cNvSpPr txBox="1">
              <a:spLocks noChangeArrowheads="1"/>
            </p:cNvSpPr>
            <p:nvPr/>
          </p:nvSpPr>
          <p:spPr bwMode="auto">
            <a:xfrm>
              <a:off x="5138756" y="1643056"/>
              <a:ext cx="1871688" cy="462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DEC,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0 )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04" name="Line 39"/>
            <p:cNvSpPr>
              <a:spLocks noChangeShapeType="1"/>
            </p:cNvSpPr>
            <p:nvPr/>
          </p:nvSpPr>
          <p:spPr bwMode="auto">
            <a:xfrm>
              <a:off x="4929960" y="1924277"/>
              <a:ext cx="432741" cy="4404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05" name="Text Box 41"/>
            <p:cNvSpPr txBox="1">
              <a:spLocks noChangeArrowheads="1"/>
            </p:cNvSpPr>
            <p:nvPr/>
          </p:nvSpPr>
          <p:spPr bwMode="auto">
            <a:xfrm>
              <a:off x="4833952" y="1924277"/>
              <a:ext cx="312730" cy="400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grpSp>
          <p:nvGrpSpPr>
            <p:cNvPr id="110606" name="组合 110"/>
            <p:cNvGrpSpPr>
              <a:grpSpLocks/>
            </p:cNvGrpSpPr>
            <p:nvPr/>
          </p:nvGrpSpPr>
          <p:grpSpPr bwMode="auto">
            <a:xfrm>
              <a:off x="5354642" y="2150153"/>
              <a:ext cx="822475" cy="377175"/>
              <a:chOff x="7282962" y="3764993"/>
              <a:chExt cx="503615" cy="377105"/>
            </a:xfrm>
          </p:grpSpPr>
          <p:sp>
            <p:nvSpPr>
              <p:cNvPr id="110607" name="Oval 39"/>
              <p:cNvSpPr>
                <a:spLocks noChangeArrowheads="1"/>
              </p:cNvSpPr>
              <p:nvPr/>
            </p:nvSpPr>
            <p:spPr bwMode="auto">
              <a:xfrm>
                <a:off x="7282962" y="3764993"/>
                <a:ext cx="503615" cy="37710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4" name="Oval 29"/>
              <p:cNvSpPr>
                <a:spLocks noChangeArrowheads="1"/>
              </p:cNvSpPr>
              <p:nvPr/>
            </p:nvSpPr>
            <p:spPr bwMode="auto">
              <a:xfrm>
                <a:off x="7354905" y="3823058"/>
                <a:ext cx="360636" cy="27142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2,3,5</a:t>
                </a:r>
              </a:p>
            </p:txBody>
          </p:sp>
        </p:grpSp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9AD08F2D-E227-47A9-BE22-51117A8179AD}"/>
              </a:ext>
            </a:extLst>
          </p:cNvPr>
          <p:cNvSpPr txBox="1"/>
          <p:nvPr/>
        </p:nvSpPr>
        <p:spPr>
          <a:xfrm>
            <a:off x="17766" y="803672"/>
            <a:ext cx="47487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(1|...|9)(0|...|9)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*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|0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4F736BC-FBD6-47FF-87F0-1AA376644042}"/>
              </a:ext>
            </a:extLst>
          </p:cNvPr>
          <p:cNvSpPr txBox="1"/>
          <p:nvPr/>
        </p:nvSpPr>
        <p:spPr>
          <a:xfrm>
            <a:off x="32221" y="2331315"/>
            <a:ext cx="4756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OCT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0(1|2|3|4|5|6|7)(0|1|2|3|4|5|6|7)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21650DA-C1D4-4B9E-B27B-E17C7C5D1472}"/>
              </a:ext>
            </a:extLst>
          </p:cNvPr>
          <p:cNvSpPr txBox="1"/>
          <p:nvPr/>
        </p:nvSpPr>
        <p:spPr>
          <a:xfrm>
            <a:off x="98448" y="3660259"/>
            <a:ext cx="4668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HEX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(1|...|9|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|...|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|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|…|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)(0|...|9|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|...|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|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|…|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24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识别注释的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" name="组合 52"/>
          <p:cNvGrpSpPr>
            <a:grpSpLocks/>
          </p:cNvGrpSpPr>
          <p:nvPr/>
        </p:nvGrpSpPr>
        <p:grpSpPr bwMode="auto">
          <a:xfrm>
            <a:off x="1638300" y="1428750"/>
            <a:ext cx="5291138" cy="1501775"/>
            <a:chOff x="1638283" y="3214692"/>
            <a:chExt cx="5291166" cy="1501784"/>
          </a:xfrm>
        </p:grpSpPr>
        <p:grpSp>
          <p:nvGrpSpPr>
            <p:cNvPr id="112647" name="组合 2"/>
            <p:cNvGrpSpPr>
              <a:grpSpLocks/>
            </p:cNvGrpSpPr>
            <p:nvPr/>
          </p:nvGrpSpPr>
          <p:grpSpPr bwMode="auto">
            <a:xfrm>
              <a:off x="2624138" y="3643322"/>
              <a:ext cx="1447796" cy="542615"/>
              <a:chOff x="245793" y="5527478"/>
              <a:chExt cx="1448894" cy="724365"/>
            </a:xfrm>
          </p:grpSpPr>
          <p:sp>
            <p:nvSpPr>
              <p:cNvPr id="108572" name="Oval 7"/>
              <p:cNvSpPr>
                <a:spLocks noChangeArrowheads="1"/>
              </p:cNvSpPr>
              <p:nvPr/>
            </p:nvSpPr>
            <p:spPr bwMode="auto">
              <a:xfrm>
                <a:off x="245781" y="5595291"/>
                <a:ext cx="519509" cy="65272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12669" name="Rectangle 31"/>
              <p:cNvSpPr>
                <a:spLocks noChangeArrowheads="1"/>
              </p:cNvSpPr>
              <p:nvPr/>
            </p:nvSpPr>
            <p:spPr bwMode="auto">
              <a:xfrm>
                <a:off x="832402" y="5527478"/>
                <a:ext cx="504825" cy="28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/</a:t>
                </a:r>
              </a:p>
            </p:txBody>
          </p:sp>
          <p:sp>
            <p:nvSpPr>
              <p:cNvPr id="108574" name="Oval 29"/>
              <p:cNvSpPr>
                <a:spLocks noChangeArrowheads="1"/>
              </p:cNvSpPr>
              <p:nvPr/>
            </p:nvSpPr>
            <p:spPr bwMode="auto">
              <a:xfrm>
                <a:off x="1194242" y="5622842"/>
                <a:ext cx="500445" cy="6294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2671" name="Line 27"/>
              <p:cNvSpPr>
                <a:spLocks noChangeShapeType="1"/>
              </p:cNvSpPr>
              <p:nvPr/>
            </p:nvSpPr>
            <p:spPr bwMode="auto">
              <a:xfrm>
                <a:off x="765289" y="5915989"/>
                <a:ext cx="4041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Rectangle 20"/>
            <p:cNvSpPr>
              <a:spLocks noChangeArrowheads="1"/>
            </p:cNvSpPr>
            <p:nvPr/>
          </p:nvSpPr>
          <p:spPr bwMode="auto">
            <a:xfrm>
              <a:off x="4357685" y="3214692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zh-CN" altLang="en-US" sz="2500" b="1" dirty="0">
                  <a:latin typeface="+mn-ea"/>
                  <a:ea typeface="+mn-ea"/>
                  <a:cs typeface="Times New Roman" pitchFamily="18" charset="0"/>
                </a:rPr>
                <a:t>其它</a:t>
              </a:r>
              <a:endParaRPr lang="en-US" altLang="zh-CN" sz="25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grpSp>
          <p:nvGrpSpPr>
            <p:cNvPr id="112649" name="组合 21510"/>
            <p:cNvGrpSpPr>
              <a:grpSpLocks/>
            </p:cNvGrpSpPr>
            <p:nvPr/>
          </p:nvGrpSpPr>
          <p:grpSpPr bwMode="auto">
            <a:xfrm>
              <a:off x="4071934" y="3500446"/>
              <a:ext cx="1861438" cy="714377"/>
              <a:chOff x="1014919" y="5002748"/>
              <a:chExt cx="1862111" cy="952911"/>
            </a:xfrm>
          </p:grpSpPr>
          <p:sp>
            <p:nvSpPr>
              <p:cNvPr id="108567" name="Oval 10"/>
              <p:cNvSpPr>
                <a:spLocks noChangeArrowheads="1"/>
              </p:cNvSpPr>
              <p:nvPr/>
            </p:nvSpPr>
            <p:spPr bwMode="auto">
              <a:xfrm>
                <a:off x="2372729" y="5339442"/>
                <a:ext cx="505010" cy="61621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12664" name="Line 13"/>
              <p:cNvSpPr>
                <a:spLocks noChangeShapeType="1"/>
              </p:cNvSpPr>
              <p:nvPr/>
            </p:nvSpPr>
            <p:spPr bwMode="auto">
              <a:xfrm>
                <a:off x="1943949" y="5622750"/>
                <a:ext cx="4318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69" name="Oval 15"/>
              <p:cNvSpPr>
                <a:spLocks noChangeArrowheads="1"/>
              </p:cNvSpPr>
              <p:nvPr/>
            </p:nvSpPr>
            <p:spPr bwMode="auto">
              <a:xfrm>
                <a:off x="1443701" y="5288620"/>
                <a:ext cx="522479" cy="62257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2666" name="Line 13"/>
              <p:cNvSpPr>
                <a:spLocks noChangeShapeType="1"/>
              </p:cNvSpPr>
              <p:nvPr/>
            </p:nvSpPr>
            <p:spPr bwMode="auto">
              <a:xfrm>
                <a:off x="1014919" y="5613671"/>
                <a:ext cx="4318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67" name="Freeform 19"/>
              <p:cNvSpPr>
                <a:spLocks/>
              </p:cNvSpPr>
              <p:nvPr/>
            </p:nvSpPr>
            <p:spPr bwMode="auto">
              <a:xfrm>
                <a:off x="1515166" y="5002748"/>
                <a:ext cx="382588" cy="300038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650" name="组合 21511"/>
            <p:cNvGrpSpPr>
              <a:grpSpLocks/>
            </p:cNvGrpSpPr>
            <p:nvPr/>
          </p:nvGrpSpPr>
          <p:grpSpPr bwMode="auto">
            <a:xfrm>
              <a:off x="4786314" y="3529463"/>
              <a:ext cx="2143135" cy="870771"/>
              <a:chOff x="1933551" y="5041809"/>
              <a:chExt cx="2141532" cy="1162019"/>
            </a:xfrm>
          </p:grpSpPr>
          <p:sp>
            <p:nvSpPr>
              <p:cNvPr id="112657" name="Line 27"/>
              <p:cNvSpPr>
                <a:spLocks noChangeShapeType="1"/>
              </p:cNvSpPr>
              <p:nvPr/>
            </p:nvSpPr>
            <p:spPr bwMode="auto">
              <a:xfrm>
                <a:off x="3075701" y="5640720"/>
                <a:ext cx="3879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58" name="Oval 39"/>
              <p:cNvSpPr>
                <a:spLocks noChangeArrowheads="1"/>
              </p:cNvSpPr>
              <p:nvPr/>
            </p:nvSpPr>
            <p:spPr bwMode="auto">
              <a:xfrm>
                <a:off x="3432623" y="5260793"/>
                <a:ext cx="642460" cy="79095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659" name="Rectangle 20"/>
              <p:cNvSpPr>
                <a:spLocks noChangeArrowheads="1"/>
              </p:cNvSpPr>
              <p:nvPr/>
            </p:nvSpPr>
            <p:spPr bwMode="auto">
              <a:xfrm>
                <a:off x="3105545" y="5289088"/>
                <a:ext cx="398463" cy="260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/</a:t>
                </a:r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21363809" flipH="1">
                <a:off x="1933550" y="5918269"/>
                <a:ext cx="785228" cy="285996"/>
              </a:xfrm>
              <a:custGeom>
                <a:avLst/>
                <a:gdLst>
                  <a:gd name="connsiteX0" fmla="*/ 0 w 856343"/>
                  <a:gd name="connsiteY0" fmla="*/ 29029 h 333939"/>
                  <a:gd name="connsiteX1" fmla="*/ 420915 w 856343"/>
                  <a:gd name="connsiteY1" fmla="*/ 333829 h 333939"/>
                  <a:gd name="connsiteX2" fmla="*/ 856343 w 856343"/>
                  <a:gd name="connsiteY2" fmla="*/ 0 h 33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56343" h="333939">
                    <a:moveTo>
                      <a:pt x="0" y="29029"/>
                    </a:moveTo>
                    <a:cubicBezTo>
                      <a:pt x="139095" y="183848"/>
                      <a:pt x="278191" y="338667"/>
                      <a:pt x="420915" y="333829"/>
                    </a:cubicBezTo>
                    <a:cubicBezTo>
                      <a:pt x="563639" y="328991"/>
                      <a:pt x="709991" y="164495"/>
                      <a:pt x="856343" y="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08565" name="Oval 29"/>
              <p:cNvSpPr>
                <a:spLocks noChangeArrowheads="1"/>
              </p:cNvSpPr>
              <p:nvPr/>
            </p:nvSpPr>
            <p:spPr bwMode="auto">
              <a:xfrm>
                <a:off x="3504008" y="5337804"/>
                <a:ext cx="499691" cy="61859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12662" name="Freeform 19"/>
              <p:cNvSpPr>
                <a:spLocks/>
              </p:cNvSpPr>
              <p:nvPr/>
            </p:nvSpPr>
            <p:spPr bwMode="auto">
              <a:xfrm>
                <a:off x="2647394" y="5041809"/>
                <a:ext cx="382588" cy="30003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651" name="Rectangle 22"/>
            <p:cNvSpPr>
              <a:spLocks noChangeArrowheads="1"/>
            </p:cNvSpPr>
            <p:nvPr/>
          </p:nvSpPr>
          <p:spPr bwMode="auto">
            <a:xfrm>
              <a:off x="1638283" y="3781425"/>
              <a:ext cx="504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112652" name="Line 27"/>
            <p:cNvSpPr>
              <a:spLocks noChangeShapeType="1"/>
            </p:cNvSpPr>
            <p:nvPr/>
          </p:nvSpPr>
          <p:spPr bwMode="auto">
            <a:xfrm>
              <a:off x="2286000" y="3933825"/>
              <a:ext cx="331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31"/>
            <p:cNvSpPr>
              <a:spLocks noChangeArrowheads="1"/>
            </p:cNvSpPr>
            <p:nvPr/>
          </p:nvSpPr>
          <p:spPr bwMode="auto">
            <a:xfrm>
              <a:off x="4000496" y="3713170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zh-CN" altLang="en-US" sz="2500" b="1" dirty="0">
                  <a:latin typeface="+mn-ea"/>
                  <a:ea typeface="+mn-ea"/>
                  <a:cs typeface="Times New Roman" pitchFamily="18" charset="0"/>
                </a:rPr>
                <a:t>＊</a:t>
              </a:r>
              <a:endParaRPr lang="en-US" altLang="zh-CN" sz="25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50" name="Rectangle 31"/>
            <p:cNvSpPr>
              <a:spLocks noChangeArrowheads="1"/>
            </p:cNvSpPr>
            <p:nvPr/>
          </p:nvSpPr>
          <p:spPr bwMode="auto">
            <a:xfrm>
              <a:off x="4929188" y="3714758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zh-CN" altLang="en-US" sz="2500" b="1" dirty="0">
                  <a:latin typeface="+mn-ea"/>
                  <a:ea typeface="+mn-ea"/>
                  <a:cs typeface="Times New Roman" pitchFamily="18" charset="0"/>
                </a:rPr>
                <a:t>＊</a:t>
              </a:r>
              <a:endParaRPr lang="en-US" altLang="zh-CN" sz="25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51" name="Rectangle 31"/>
            <p:cNvSpPr>
              <a:spLocks noChangeArrowheads="1"/>
            </p:cNvSpPr>
            <p:nvPr/>
          </p:nvSpPr>
          <p:spPr bwMode="auto">
            <a:xfrm>
              <a:off x="5424491" y="3357568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zh-CN" altLang="en-US" sz="2500" b="1" dirty="0">
                  <a:latin typeface="+mn-ea"/>
                  <a:ea typeface="+mn-ea"/>
                  <a:cs typeface="Times New Roman" pitchFamily="18" charset="0"/>
                </a:rPr>
                <a:t>＊</a:t>
              </a:r>
              <a:endParaRPr lang="en-US" altLang="zh-CN" sz="25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  <p:sp>
          <p:nvSpPr>
            <p:cNvPr id="52" name="Rectangle 20"/>
            <p:cNvSpPr>
              <a:spLocks noChangeArrowheads="1"/>
            </p:cNvSpPr>
            <p:nvPr/>
          </p:nvSpPr>
          <p:spPr bwMode="auto">
            <a:xfrm>
              <a:off x="4781550" y="4500575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zh-CN" altLang="en-US" sz="2500" b="1" dirty="0">
                  <a:latin typeface="+mn-ea"/>
                  <a:ea typeface="+mn-ea"/>
                  <a:cs typeface="Times New Roman" pitchFamily="18" charset="0"/>
                </a:rPr>
                <a:t>其它</a:t>
              </a:r>
              <a:endParaRPr lang="en-US" altLang="zh-CN" sz="2500" b="1" dirty="0"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112644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5" name="五边形 5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264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271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Oval 3"/>
          <p:cNvSpPr>
            <a:spLocks noChangeArrowheads="1"/>
          </p:cNvSpPr>
          <p:nvPr/>
        </p:nvSpPr>
        <p:spPr bwMode="auto">
          <a:xfrm>
            <a:off x="1776413" y="1482725"/>
            <a:ext cx="3810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691" name="Text Box 15"/>
          <p:cNvSpPr txBox="1">
            <a:spLocks noChangeArrowheads="1"/>
          </p:cNvSpPr>
          <p:nvPr/>
        </p:nvSpPr>
        <p:spPr bwMode="auto">
          <a:xfrm>
            <a:off x="3286125" y="725488"/>
            <a:ext cx="16144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letter</a:t>
            </a:r>
            <a:r>
              <a:rPr kumimoji="1" lang="en-US" altLang="zh-C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25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digit</a:t>
            </a:r>
          </a:p>
        </p:txBody>
      </p:sp>
      <p:sp>
        <p:nvSpPr>
          <p:cNvPr id="114692" name="Text Box 16"/>
          <p:cNvSpPr txBox="1">
            <a:spLocks noChangeArrowheads="1"/>
          </p:cNvSpPr>
          <p:nvPr/>
        </p:nvSpPr>
        <p:spPr bwMode="auto">
          <a:xfrm>
            <a:off x="2389188" y="1201738"/>
            <a:ext cx="1023937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letter_</a:t>
            </a:r>
          </a:p>
        </p:txBody>
      </p:sp>
      <p:sp>
        <p:nvSpPr>
          <p:cNvPr id="114693" name="Text Box 17"/>
          <p:cNvSpPr txBox="1">
            <a:spLocks noChangeArrowheads="1"/>
          </p:cNvSpPr>
          <p:nvPr/>
        </p:nvSpPr>
        <p:spPr bwMode="auto">
          <a:xfrm>
            <a:off x="4592638" y="1143000"/>
            <a:ext cx="2765425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5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IDN</a:t>
            </a:r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25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25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694" name="Line 29"/>
          <p:cNvSpPr>
            <a:spLocks noChangeShapeType="1"/>
          </p:cNvSpPr>
          <p:nvPr/>
        </p:nvSpPr>
        <p:spPr bwMode="auto">
          <a:xfrm>
            <a:off x="2124075" y="1670050"/>
            <a:ext cx="1674813" cy="14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14695" name="Line 31"/>
          <p:cNvSpPr>
            <a:spLocks noChangeShapeType="1"/>
          </p:cNvSpPr>
          <p:nvPr/>
        </p:nvSpPr>
        <p:spPr bwMode="auto">
          <a:xfrm>
            <a:off x="1214438" y="1630363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14696" name="Text Box 32"/>
          <p:cNvSpPr txBox="1">
            <a:spLocks noChangeArrowheads="1"/>
          </p:cNvSpPr>
          <p:nvPr/>
        </p:nvSpPr>
        <p:spPr bwMode="auto">
          <a:xfrm>
            <a:off x="1000125" y="1130300"/>
            <a:ext cx="9906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/>
              <a:buNone/>
            </a:pPr>
            <a:r>
              <a:rPr kumimoji="1" lang="en-US" altLang="zh-CN" sz="25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grpSp>
        <p:nvGrpSpPr>
          <p:cNvPr id="114697" name="Group 61"/>
          <p:cNvGrpSpPr>
            <a:grpSpLocks/>
          </p:cNvGrpSpPr>
          <p:nvPr/>
        </p:nvGrpSpPr>
        <p:grpSpPr bwMode="auto">
          <a:xfrm>
            <a:off x="2035175" y="1844675"/>
            <a:ext cx="4918075" cy="1190625"/>
            <a:chOff x="1247" y="1671"/>
            <a:chExt cx="3098" cy="999"/>
          </a:xfrm>
        </p:grpSpPr>
        <p:sp>
          <p:nvSpPr>
            <p:cNvPr id="114735" name="Text Box 18"/>
            <p:cNvSpPr txBox="1">
              <a:spLocks noChangeArrowheads="1"/>
            </p:cNvSpPr>
            <p:nvPr/>
          </p:nvSpPr>
          <p:spPr bwMode="auto">
            <a:xfrm>
              <a:off x="1547" y="1810"/>
              <a:ext cx="488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5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</a:t>
              </a:r>
            </a:p>
          </p:txBody>
        </p:sp>
        <p:sp>
          <p:nvSpPr>
            <p:cNvPr id="114736" name="Text Box 22"/>
            <p:cNvSpPr txBox="1">
              <a:spLocks noChangeArrowheads="1"/>
            </p:cNvSpPr>
            <p:nvPr/>
          </p:nvSpPr>
          <p:spPr bwMode="auto">
            <a:xfrm>
              <a:off x="2664" y="2270"/>
              <a:ext cx="1681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5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kumimoji="1" lang="en-US" altLang="zh-CN" sz="25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zh-CN" altLang="en-US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737" name="Freeform 30"/>
            <p:cNvSpPr>
              <a:spLocks/>
            </p:cNvSpPr>
            <p:nvPr/>
          </p:nvSpPr>
          <p:spPr bwMode="auto">
            <a:xfrm>
              <a:off x="1247" y="1676"/>
              <a:ext cx="1159" cy="884"/>
            </a:xfrm>
            <a:custGeom>
              <a:avLst/>
              <a:gdLst>
                <a:gd name="T0" fmla="*/ 0 w 1728"/>
                <a:gd name="T1" fmla="*/ 0 h 976"/>
                <a:gd name="T2" fmla="*/ 1 w 1728"/>
                <a:gd name="T3" fmla="*/ 23 h 976"/>
                <a:gd name="T4" fmla="*/ 1 w 1728"/>
                <a:gd name="T5" fmla="*/ 28 h 976"/>
                <a:gd name="T6" fmla="*/ 0 60000 65536"/>
                <a:gd name="T7" fmla="*/ 0 60000 65536"/>
                <a:gd name="T8" fmla="*/ 0 60000 65536"/>
                <a:gd name="T9" fmla="*/ 0 w 1728"/>
                <a:gd name="T10" fmla="*/ 0 h 976"/>
                <a:gd name="T11" fmla="*/ 1728 w 1728"/>
                <a:gd name="T12" fmla="*/ 976 h 9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" h="976">
                  <a:moveTo>
                    <a:pt x="0" y="0"/>
                  </a:moveTo>
                  <a:cubicBezTo>
                    <a:pt x="288" y="328"/>
                    <a:pt x="576" y="656"/>
                    <a:pt x="864" y="816"/>
                  </a:cubicBezTo>
                  <a:cubicBezTo>
                    <a:pt x="1152" y="976"/>
                    <a:pt x="1544" y="904"/>
                    <a:pt x="1728" y="96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cxnSp>
          <p:nvCxnSpPr>
            <p:cNvPr id="114738" name="AutoShape 12"/>
            <p:cNvCxnSpPr>
              <a:cxnSpLocks noChangeShapeType="1"/>
            </p:cNvCxnSpPr>
            <p:nvPr/>
          </p:nvCxnSpPr>
          <p:spPr bwMode="auto">
            <a:xfrm rot="10800000" flipH="1" flipV="1">
              <a:off x="2406" y="2450"/>
              <a:ext cx="258" cy="1"/>
            </a:xfrm>
            <a:prstGeom prst="curvedConnector5">
              <a:avLst>
                <a:gd name="adj1" fmla="val -52324"/>
                <a:gd name="adj2" fmla="val -38005551"/>
                <a:gd name="adj3" fmla="val 106074"/>
              </a:avLst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4739" name="Text Box 19"/>
            <p:cNvSpPr txBox="1">
              <a:spLocks noChangeArrowheads="1"/>
            </p:cNvSpPr>
            <p:nvPr/>
          </p:nvSpPr>
          <p:spPr bwMode="auto">
            <a:xfrm>
              <a:off x="2312" y="1671"/>
              <a:ext cx="488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5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</a:t>
              </a:r>
            </a:p>
          </p:txBody>
        </p:sp>
      </p:grpSp>
      <p:grpSp>
        <p:nvGrpSpPr>
          <p:cNvPr id="114698" name="Group 60"/>
          <p:cNvGrpSpPr>
            <a:grpSpLocks/>
          </p:cNvGrpSpPr>
          <p:nvPr/>
        </p:nvGrpSpPr>
        <p:grpSpPr bwMode="auto">
          <a:xfrm>
            <a:off x="2035175" y="1924050"/>
            <a:ext cx="5365750" cy="1849438"/>
            <a:chOff x="1247" y="1737"/>
            <a:chExt cx="3380" cy="1553"/>
          </a:xfrm>
        </p:grpSpPr>
        <p:sp>
          <p:nvSpPr>
            <p:cNvPr id="109602" name="Oval 6"/>
            <p:cNvSpPr>
              <a:spLocks noChangeArrowheads="1"/>
            </p:cNvSpPr>
            <p:nvPr/>
          </p:nvSpPr>
          <p:spPr bwMode="auto">
            <a:xfrm>
              <a:off x="1810" y="3050"/>
              <a:ext cx="240" cy="2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4730" name="AutoShape 13"/>
            <p:cNvCxnSpPr>
              <a:cxnSpLocks noChangeShapeType="1"/>
            </p:cNvCxnSpPr>
            <p:nvPr/>
          </p:nvCxnSpPr>
          <p:spPr bwMode="auto">
            <a:xfrm flipV="1">
              <a:off x="2035" y="3075"/>
              <a:ext cx="850" cy="155"/>
            </a:xfrm>
            <a:prstGeom prst="curvedConnector2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4731" name="Text Box 23"/>
            <p:cNvSpPr txBox="1">
              <a:spLocks noChangeArrowheads="1"/>
            </p:cNvSpPr>
            <p:nvPr/>
          </p:nvSpPr>
          <p:spPr bwMode="auto">
            <a:xfrm>
              <a:off x="3223" y="2769"/>
              <a:ext cx="1404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5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ASG</a:t>
              </a:r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</a:p>
          </p:txBody>
        </p:sp>
        <p:sp>
          <p:nvSpPr>
            <p:cNvPr id="114732" name="Text Box 24"/>
            <p:cNvSpPr txBox="1">
              <a:spLocks noChangeArrowheads="1"/>
            </p:cNvSpPr>
            <p:nvPr/>
          </p:nvSpPr>
          <p:spPr bwMode="auto">
            <a:xfrm>
              <a:off x="2252" y="2825"/>
              <a:ext cx="225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114733" name="Text Box 25"/>
            <p:cNvSpPr txBox="1">
              <a:spLocks noChangeArrowheads="1"/>
            </p:cNvSpPr>
            <p:nvPr/>
          </p:nvSpPr>
          <p:spPr bwMode="auto">
            <a:xfrm>
              <a:off x="1617" y="2304"/>
              <a:ext cx="310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114734" name="Line 34"/>
            <p:cNvSpPr>
              <a:spLocks noChangeShapeType="1"/>
            </p:cNvSpPr>
            <p:nvPr/>
          </p:nvSpPr>
          <p:spPr bwMode="auto">
            <a:xfrm>
              <a:off x="1247" y="1737"/>
              <a:ext cx="583" cy="13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114699" name="Group 1061"/>
          <p:cNvGrpSpPr>
            <a:grpSpLocks/>
          </p:cNvGrpSpPr>
          <p:nvPr/>
        </p:nvGrpSpPr>
        <p:grpSpPr bwMode="auto">
          <a:xfrm>
            <a:off x="928688" y="1778000"/>
            <a:ext cx="1042987" cy="3097213"/>
            <a:chOff x="352" y="1615"/>
            <a:chExt cx="657" cy="2600"/>
          </a:xfrm>
        </p:grpSpPr>
        <p:cxnSp>
          <p:nvCxnSpPr>
            <p:cNvPr id="114727" name="AutoShape 14"/>
            <p:cNvCxnSpPr>
              <a:cxnSpLocks noChangeShapeType="1"/>
            </p:cNvCxnSpPr>
            <p:nvPr/>
          </p:nvCxnSpPr>
          <p:spPr bwMode="auto">
            <a:xfrm rot="16200000" flipH="1">
              <a:off x="-294" y="2912"/>
              <a:ext cx="2600" cy="6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4728" name="Text Box 40"/>
            <p:cNvSpPr txBox="1">
              <a:spLocks noChangeArrowheads="1"/>
            </p:cNvSpPr>
            <p:nvPr/>
          </p:nvSpPr>
          <p:spPr bwMode="auto">
            <a:xfrm>
              <a:off x="352" y="2387"/>
              <a:ext cx="657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others</a:t>
              </a:r>
            </a:p>
          </p:txBody>
        </p:sp>
      </p:grpSp>
      <p:grpSp>
        <p:nvGrpSpPr>
          <p:cNvPr id="114700" name="Group 59"/>
          <p:cNvGrpSpPr>
            <a:grpSpLocks/>
          </p:cNvGrpSpPr>
          <p:nvPr/>
        </p:nvGrpSpPr>
        <p:grpSpPr bwMode="auto">
          <a:xfrm>
            <a:off x="2000250" y="1851025"/>
            <a:ext cx="5400675" cy="2792413"/>
            <a:chOff x="1225" y="1676"/>
            <a:chExt cx="3402" cy="2346"/>
          </a:xfrm>
        </p:grpSpPr>
        <p:sp>
          <p:nvSpPr>
            <p:cNvPr id="114721" name="Text Box 26"/>
            <p:cNvSpPr txBox="1">
              <a:spLocks noChangeArrowheads="1"/>
            </p:cNvSpPr>
            <p:nvPr/>
          </p:nvSpPr>
          <p:spPr bwMode="auto">
            <a:xfrm>
              <a:off x="1303" y="2751"/>
              <a:ext cx="231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5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14722" name="Line 35"/>
            <p:cNvSpPr>
              <a:spLocks noChangeShapeType="1"/>
            </p:cNvSpPr>
            <p:nvPr/>
          </p:nvSpPr>
          <p:spPr bwMode="auto">
            <a:xfrm>
              <a:off x="1225" y="1676"/>
              <a:ext cx="385" cy="17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4723" name="Text Box 27"/>
            <p:cNvSpPr txBox="1">
              <a:spLocks noChangeArrowheads="1"/>
            </p:cNvSpPr>
            <p:nvPr/>
          </p:nvSpPr>
          <p:spPr bwMode="auto">
            <a:xfrm>
              <a:off x="1315" y="3621"/>
              <a:ext cx="1368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5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</a:t>
              </a:r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</a:p>
          </p:txBody>
        </p:sp>
        <p:sp>
          <p:nvSpPr>
            <p:cNvPr id="114724" name="Line 37"/>
            <p:cNvSpPr>
              <a:spLocks noChangeShapeType="1"/>
            </p:cNvSpPr>
            <p:nvPr/>
          </p:nvSpPr>
          <p:spPr bwMode="auto">
            <a:xfrm>
              <a:off x="1882" y="3566"/>
              <a:ext cx="1021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4725" name="Text Box 38"/>
            <p:cNvSpPr txBox="1">
              <a:spLocks noChangeArrowheads="1"/>
            </p:cNvSpPr>
            <p:nvPr/>
          </p:nvSpPr>
          <p:spPr bwMode="auto">
            <a:xfrm>
              <a:off x="2404" y="3383"/>
              <a:ext cx="225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14726" name="Text Box 39"/>
            <p:cNvSpPr txBox="1">
              <a:spLocks noChangeArrowheads="1"/>
            </p:cNvSpPr>
            <p:nvPr/>
          </p:nvSpPr>
          <p:spPr bwMode="auto">
            <a:xfrm>
              <a:off x="3226" y="3531"/>
              <a:ext cx="1401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5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INC</a:t>
              </a:r>
              <a:r>
                <a:rPr kumimoji="1" lang="en-US" altLang="zh-CN" sz="25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</a:p>
          </p:txBody>
        </p:sp>
      </p:grpSp>
      <p:sp>
        <p:nvSpPr>
          <p:cNvPr id="61459" name="标题 4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识别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Token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114702" name="AutoShape 12"/>
          <p:cNvCxnSpPr>
            <a:cxnSpLocks noChangeShapeType="1"/>
          </p:cNvCxnSpPr>
          <p:nvPr/>
        </p:nvCxnSpPr>
        <p:spPr bwMode="auto">
          <a:xfrm rot="10800000" flipH="1" flipV="1">
            <a:off x="3871913" y="1635125"/>
            <a:ext cx="409575" cy="1588"/>
          </a:xfrm>
          <a:prstGeom prst="curvedConnector5">
            <a:avLst>
              <a:gd name="adj1" fmla="val -52324"/>
              <a:gd name="adj2" fmla="val -26400009"/>
              <a:gd name="adj3" fmla="val 152324"/>
            </a:avLst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4703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472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14704" name="组合 5"/>
          <p:cNvGrpSpPr>
            <a:grpSpLocks/>
          </p:cNvGrpSpPr>
          <p:nvPr/>
        </p:nvGrpSpPr>
        <p:grpSpPr bwMode="auto">
          <a:xfrm>
            <a:off x="2552700" y="3817938"/>
            <a:ext cx="503238" cy="377825"/>
            <a:chOff x="7282962" y="3764993"/>
            <a:chExt cx="503615" cy="377105"/>
          </a:xfrm>
        </p:grpSpPr>
        <p:sp>
          <p:nvSpPr>
            <p:cNvPr id="114717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" name="Oval 29"/>
            <p:cNvSpPr>
              <a:spLocks noChangeArrowheads="1"/>
            </p:cNvSpPr>
            <p:nvPr/>
          </p:nvSpPr>
          <p:spPr bwMode="auto">
            <a:xfrm>
              <a:off x="7354454" y="3823618"/>
              <a:ext cx="360632" cy="2709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705" name="组合 62"/>
          <p:cNvGrpSpPr>
            <a:grpSpLocks/>
          </p:cNvGrpSpPr>
          <p:nvPr/>
        </p:nvGrpSpPr>
        <p:grpSpPr bwMode="auto">
          <a:xfrm>
            <a:off x="3851275" y="1546225"/>
            <a:ext cx="504825" cy="377825"/>
            <a:chOff x="7282962" y="3764993"/>
            <a:chExt cx="503615" cy="377105"/>
          </a:xfrm>
        </p:grpSpPr>
        <p:sp>
          <p:nvSpPr>
            <p:cNvPr id="114715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" name="Oval 29"/>
            <p:cNvSpPr>
              <a:spLocks noChangeArrowheads="1"/>
            </p:cNvSpPr>
            <p:nvPr/>
          </p:nvSpPr>
          <p:spPr bwMode="auto">
            <a:xfrm>
              <a:off x="7354229" y="3823619"/>
              <a:ext cx="361082" cy="27094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706" name="组合 65"/>
          <p:cNvGrpSpPr>
            <a:grpSpLocks/>
          </p:cNvGrpSpPr>
          <p:nvPr/>
        </p:nvGrpSpPr>
        <p:grpSpPr bwMode="auto">
          <a:xfrm>
            <a:off x="3851275" y="2716213"/>
            <a:ext cx="504825" cy="376237"/>
            <a:chOff x="7282962" y="3764993"/>
            <a:chExt cx="503615" cy="377105"/>
          </a:xfrm>
        </p:grpSpPr>
        <p:sp>
          <p:nvSpPr>
            <p:cNvPr id="114713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auto">
            <a:xfrm>
              <a:off x="7354229" y="3823866"/>
              <a:ext cx="361082" cy="2704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707" name="组合 71"/>
          <p:cNvGrpSpPr>
            <a:grpSpLocks/>
          </p:cNvGrpSpPr>
          <p:nvPr/>
        </p:nvGrpSpPr>
        <p:grpSpPr bwMode="auto">
          <a:xfrm>
            <a:off x="4645025" y="3346450"/>
            <a:ext cx="503238" cy="377825"/>
            <a:chOff x="7282962" y="3764993"/>
            <a:chExt cx="503615" cy="377105"/>
          </a:xfrm>
        </p:grpSpPr>
        <p:sp>
          <p:nvSpPr>
            <p:cNvPr id="114711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4" name="Oval 29"/>
            <p:cNvSpPr>
              <a:spLocks noChangeArrowheads="1"/>
            </p:cNvSpPr>
            <p:nvPr/>
          </p:nvSpPr>
          <p:spPr bwMode="auto">
            <a:xfrm>
              <a:off x="7354454" y="3823619"/>
              <a:ext cx="360632" cy="27094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708" name="组合 74"/>
          <p:cNvGrpSpPr>
            <a:grpSpLocks/>
          </p:cNvGrpSpPr>
          <p:nvPr/>
        </p:nvGrpSpPr>
        <p:grpSpPr bwMode="auto">
          <a:xfrm>
            <a:off x="4643438" y="4211638"/>
            <a:ext cx="504825" cy="376237"/>
            <a:chOff x="7282962" y="3764993"/>
            <a:chExt cx="503615" cy="377105"/>
          </a:xfrm>
        </p:grpSpPr>
        <p:sp>
          <p:nvSpPr>
            <p:cNvPr id="114709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" name="Oval 29"/>
            <p:cNvSpPr>
              <a:spLocks noChangeArrowheads="1"/>
            </p:cNvSpPr>
            <p:nvPr/>
          </p:nvSpPr>
          <p:spPr bwMode="auto">
            <a:xfrm>
              <a:off x="7354228" y="3823866"/>
              <a:ext cx="361082" cy="2704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656136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词法分析阶段的错误处理</a:t>
            </a:r>
          </a:p>
        </p:txBody>
      </p:sp>
      <p:grpSp>
        <p:nvGrpSpPr>
          <p:cNvPr id="116739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674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755650" y="987425"/>
            <a:ext cx="7931150" cy="322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5663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2088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92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64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36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908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词法分析阶段可检测错误的类型</a:t>
            </a:r>
            <a:endParaRPr lang="en-US" altLang="zh-CN" sz="30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单词拼写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25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0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float j 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=1.05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  <a:p>
            <a:pPr lvl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非法字符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~ @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词法分析（实现最长子串匹配和错误处理）</a:t>
            </a:r>
            <a:endParaRPr lang="en-US" altLang="zh-CN" sz="30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如果当前状态与当前输入符号在转换表对应项中的信息为空，则报错，调用错误分析程序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3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28625" y="928688"/>
            <a:ext cx="8439150" cy="280828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查找已扫描字符串中最后一个对应于某终态的字符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</a:t>
            </a:r>
            <a:r>
              <a:rPr lang="zh-CN" altLang="en-US" sz="2500" b="1" dirty="0">
                <a:solidFill>
                  <a:srgbClr val="0000FF"/>
                </a:solidFill>
                <a:latin typeface="+mn-ea"/>
              </a:rPr>
              <a:t>找到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了，将该字符与其前面的字符识别成一个单词。然后将输入指针退回到该字符，扫描器重新回到初始状态，继续识别下一个单词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</a:t>
            </a:r>
            <a:r>
              <a:rPr lang="zh-CN" altLang="en-US" sz="2500" b="1" dirty="0">
                <a:solidFill>
                  <a:srgbClr val="0000FF"/>
                </a:solidFill>
                <a:latin typeface="+mn-ea"/>
              </a:rPr>
              <a:t>没找到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，则确定出错，采用错误恢复策略</a:t>
            </a: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错误分析</a:t>
            </a:r>
          </a:p>
        </p:txBody>
      </p:sp>
      <p:grpSp>
        <p:nvGrpSpPr>
          <p:cNvPr id="118788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879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94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501062" cy="280828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最简单的错误恢复策略</a:t>
            </a:r>
            <a:r>
              <a:rPr lang="zh-CN" altLang="en-US" sz="2700" b="1" spc="-2000" dirty="0">
                <a:solidFill>
                  <a:schemeClr val="tx1"/>
                </a:solidFill>
                <a:latin typeface="+mn-ea"/>
              </a:rPr>
              <a:t>：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2700" b="1" dirty="0">
                <a:solidFill>
                  <a:srgbClr val="FF0000"/>
                </a:solidFill>
                <a:latin typeface="+mn-ea"/>
              </a:rPr>
              <a:t>恐慌模式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panic mode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”恢复</a:t>
            </a: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从剩余的输入中不断删除字符，直到词法分析器能够在剩余输入的开头发现一个正确的字符为止</a:t>
            </a: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错误恢复策略</a:t>
            </a:r>
          </a:p>
        </p:txBody>
      </p:sp>
      <p:grpSp>
        <p:nvGrpSpPr>
          <p:cNvPr id="120836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0838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916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0" y="0"/>
            <a:ext cx="8407844" cy="5159692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192" y="1744734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652120" y="2038579"/>
            <a:ext cx="3590446" cy="161164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南信大计软院</a:t>
            </a:r>
            <a:endParaRPr lang="en-US" altLang="zh-CN" sz="28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4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2024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55576" y="682538"/>
            <a:ext cx="6984776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讲 </a:t>
            </a:r>
            <a:endParaRPr lang="en-US" altLang="zh-CN" sz="36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词法分析器和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FLEX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工具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59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449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3.8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实验一：词法分析器的实现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51470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198612" y="699542"/>
            <a:ext cx="8496944" cy="426139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定义种别码：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第一类：关键字</a:t>
            </a:r>
            <a:r>
              <a:rPr lang="en-US" altLang="zh-CN" dirty="0">
                <a:solidFill>
                  <a:schemeClr val="tx1"/>
                </a:solidFill>
              </a:rPr>
              <a:t>(32)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sz="2200" dirty="0">
                <a:solidFill>
                  <a:schemeClr val="tx1"/>
                </a:solidFill>
              </a:rPr>
              <a:t>auto       break    case     char        </a:t>
            </a:r>
            <a:r>
              <a:rPr lang="en-US" altLang="zh-CN" sz="2200" dirty="0" err="1">
                <a:solidFill>
                  <a:schemeClr val="tx1"/>
                </a:solidFill>
              </a:rPr>
              <a:t>const</a:t>
            </a:r>
            <a:r>
              <a:rPr lang="en-US" altLang="zh-CN" sz="2200" dirty="0">
                <a:solidFill>
                  <a:schemeClr val="tx1"/>
                </a:solidFill>
              </a:rPr>
              <a:t>      continue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	default    do       double   else        </a:t>
            </a:r>
            <a:r>
              <a:rPr lang="en-US" altLang="zh-CN" sz="2200" dirty="0" err="1">
                <a:solidFill>
                  <a:schemeClr val="tx1"/>
                </a:solidFill>
              </a:rPr>
              <a:t>enum</a:t>
            </a:r>
            <a:r>
              <a:rPr lang="en-US" altLang="zh-CN" sz="2200" dirty="0">
                <a:solidFill>
                  <a:schemeClr val="tx1"/>
                </a:solidFill>
              </a:rPr>
              <a:t>       extern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	float      for      </a:t>
            </a:r>
            <a:r>
              <a:rPr lang="en-US" altLang="zh-CN" sz="2200" dirty="0" err="1">
                <a:solidFill>
                  <a:schemeClr val="tx1"/>
                </a:solidFill>
              </a:rPr>
              <a:t>goto</a:t>
            </a:r>
            <a:r>
              <a:rPr lang="en-US" altLang="zh-CN" sz="2200" dirty="0">
                <a:solidFill>
                  <a:schemeClr val="tx1"/>
                </a:solidFill>
              </a:rPr>
              <a:t>     if          </a:t>
            </a:r>
            <a:r>
              <a:rPr lang="en-US" altLang="zh-CN" sz="2200" dirty="0" err="1">
                <a:solidFill>
                  <a:schemeClr val="tx1"/>
                </a:solidFill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</a:rPr>
              <a:t>        long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	register   return   short    signed      </a:t>
            </a:r>
            <a:r>
              <a:rPr lang="en-US" altLang="zh-CN" sz="2200" dirty="0" err="1">
                <a:solidFill>
                  <a:schemeClr val="tx1"/>
                </a:solidFill>
              </a:rPr>
              <a:t>sizeof</a:t>
            </a:r>
            <a:r>
              <a:rPr lang="en-US" altLang="zh-CN" sz="2200" dirty="0">
                <a:solidFill>
                  <a:schemeClr val="tx1"/>
                </a:solidFill>
              </a:rPr>
              <a:t>     static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	</a:t>
            </a:r>
            <a:r>
              <a:rPr lang="en-US" altLang="zh-CN" sz="2200" dirty="0" err="1">
                <a:solidFill>
                  <a:schemeClr val="tx1"/>
                </a:solidFill>
              </a:rPr>
              <a:t>struct</a:t>
            </a:r>
            <a:r>
              <a:rPr lang="en-US" altLang="zh-CN" sz="2200" dirty="0">
                <a:solidFill>
                  <a:schemeClr val="tx1"/>
                </a:solidFill>
              </a:rPr>
              <a:t>     switch   </a:t>
            </a:r>
            <a:r>
              <a:rPr lang="en-US" altLang="zh-CN" sz="2200" dirty="0" err="1">
                <a:solidFill>
                  <a:schemeClr val="tx1"/>
                </a:solidFill>
              </a:rPr>
              <a:t>typedef</a:t>
            </a:r>
            <a:r>
              <a:rPr lang="en-US" altLang="zh-CN" sz="2200" dirty="0">
                <a:solidFill>
                  <a:schemeClr val="tx1"/>
                </a:solidFill>
              </a:rPr>
              <a:t>  union       unsigned   void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	volatile    while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第二类：界符  ‘</a:t>
            </a:r>
            <a:r>
              <a:rPr lang="en-US" altLang="zh-CN" dirty="0">
                <a:solidFill>
                  <a:schemeClr val="tx1"/>
                </a:solidFill>
              </a:rPr>
              <a:t>/*’</a:t>
            </a:r>
            <a:r>
              <a:rPr lang="zh-CN" altLang="en-US" dirty="0">
                <a:solidFill>
                  <a:schemeClr val="tx1"/>
                </a:solidFill>
              </a:rPr>
              <a:t>、‘</a:t>
            </a:r>
            <a:r>
              <a:rPr lang="en-US" altLang="zh-CN" dirty="0">
                <a:solidFill>
                  <a:schemeClr val="tx1"/>
                </a:solidFill>
              </a:rPr>
              <a:t>//’</a:t>
            </a:r>
            <a:r>
              <a:rPr lang="zh-CN" altLang="en-US" dirty="0">
                <a:solidFill>
                  <a:schemeClr val="tx1"/>
                </a:solidFill>
              </a:rPr>
              <a:t>、 </a:t>
            </a:r>
            <a:r>
              <a:rPr lang="en-US" altLang="zh-CN" dirty="0">
                <a:solidFill>
                  <a:schemeClr val="tx1"/>
                </a:solidFill>
              </a:rPr>
              <a:t>() { } [ ] " "  ‘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第三类：运算符 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&lt;=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&gt;=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、*、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^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21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449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3.8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词法分析器的实现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51470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189856" y="555526"/>
            <a:ext cx="7838528" cy="458797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第四类：常数    </a:t>
            </a:r>
            <a:r>
              <a:rPr lang="en-US" altLang="zh-CN" dirty="0">
                <a:solidFill>
                  <a:schemeClr val="tx1"/>
                </a:solidFill>
              </a:rPr>
              <a:t>(digit)+  </a:t>
            </a:r>
            <a:r>
              <a:rPr lang="zh-CN" altLang="en-US" dirty="0">
                <a:solidFill>
                  <a:schemeClr val="tx1"/>
                </a:solidFill>
              </a:rPr>
              <a:t>无穷集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第五类：标识符   </a:t>
            </a:r>
            <a:r>
              <a:rPr lang="en-US" altLang="zh-CN" dirty="0">
                <a:solidFill>
                  <a:schemeClr val="tx1"/>
                </a:solidFill>
              </a:rPr>
              <a:t>letter(letter | digit)*  </a:t>
            </a:r>
            <a:r>
              <a:rPr lang="zh-CN" altLang="en-US" dirty="0">
                <a:solidFill>
                  <a:schemeClr val="tx1"/>
                </a:solidFill>
              </a:rPr>
              <a:t>无穷集</a:t>
            </a:r>
          </a:p>
          <a:p>
            <a:r>
              <a:rPr lang="en-US" altLang="zh-CN" sz="2200" dirty="0">
                <a:solidFill>
                  <a:schemeClr val="tx1"/>
                </a:solidFill>
              </a:rPr>
              <a:t>2. </a:t>
            </a:r>
            <a:r>
              <a:rPr lang="zh-CN" altLang="en-US" sz="2200" dirty="0">
                <a:solidFill>
                  <a:schemeClr val="tx1"/>
                </a:solidFill>
              </a:rPr>
              <a:t>对所有单词进行编码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&lt;$,0&gt;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&lt;auto,1&gt;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...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&lt;while,32&gt;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&lt;+,33&gt;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&lt;-,34&gt;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&lt;*,35&gt;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&lt;/,36&gt;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...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93654" y="1779662"/>
            <a:ext cx="403244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&lt;\,64&gt;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&lt;.,65&gt;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&lt;?,66&gt;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&lt;:,67&gt;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&lt;!,68&gt;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…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&lt;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</a:rPr>
              <a:t>常数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99  ,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</a:rPr>
              <a:t>数值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&lt;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</a:rPr>
              <a:t>标识符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</a:rPr>
              <a:t>100 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</a:rPr>
              <a:t>，标识符指针</a:t>
            </a:r>
            <a:r>
              <a:rPr lang="en-US" altLang="zh-CN" dirty="0"/>
              <a:t>&gt;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807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449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3.8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词法分析器的实现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51470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251520" y="627534"/>
            <a:ext cx="7838528" cy="4587974"/>
          </a:xfrm>
        </p:spPr>
        <p:txBody>
          <a:bodyPr/>
          <a:lstStyle/>
          <a:p>
            <a:r>
              <a:rPr lang="zh-CN" altLang="en-US" dirty="0"/>
              <a:t>例如：</a:t>
            </a:r>
            <a:r>
              <a:rPr lang="en-US" altLang="zh-CN" dirty="0"/>
              <a:t>//</a:t>
            </a:r>
            <a:r>
              <a:rPr lang="zh-CN" altLang="en-US" dirty="0"/>
              <a:t>全局变量，关键字表</a:t>
            </a:r>
          </a:p>
          <a:p>
            <a:r>
              <a:rPr lang="en-US" altLang="zh-CN" sz="2000" dirty="0"/>
              <a:t>static char </a:t>
            </a:r>
            <a:r>
              <a:rPr lang="en-US" altLang="zh-CN" sz="2000" dirty="0" err="1"/>
              <a:t>reserveWord</a:t>
            </a:r>
            <a:r>
              <a:rPr lang="en-US" altLang="zh-CN" sz="2000" dirty="0"/>
              <a:t>[32][20] = {</a:t>
            </a:r>
          </a:p>
          <a:p>
            <a:r>
              <a:rPr lang="en-US" altLang="zh-CN" sz="2000" dirty="0"/>
              <a:t>    "auto", "break", "case", "char", "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", "continue",</a:t>
            </a:r>
          </a:p>
          <a:p>
            <a:r>
              <a:rPr lang="en-US" altLang="zh-CN" sz="2000" dirty="0"/>
              <a:t>    "default", "do", "double", "else", "</a:t>
            </a:r>
            <a:r>
              <a:rPr lang="en-US" altLang="zh-CN" sz="2000" dirty="0" err="1"/>
              <a:t>enum</a:t>
            </a:r>
            <a:r>
              <a:rPr lang="en-US" altLang="zh-CN" sz="2000" dirty="0"/>
              <a:t>", "extern",</a:t>
            </a:r>
          </a:p>
          <a:p>
            <a:r>
              <a:rPr lang="en-US" altLang="zh-CN" sz="2000" dirty="0"/>
              <a:t>    "float", "for", "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", "if", "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", "long",</a:t>
            </a:r>
          </a:p>
          <a:p>
            <a:r>
              <a:rPr lang="en-US" altLang="zh-CN" sz="2000" dirty="0"/>
              <a:t>    "register", "return", "short", "signed", "</a:t>
            </a:r>
            <a:r>
              <a:rPr lang="en-US" altLang="zh-CN" sz="2000" dirty="0" err="1"/>
              <a:t>sizeof</a:t>
            </a:r>
            <a:r>
              <a:rPr lang="en-US" altLang="zh-CN" sz="2000" dirty="0"/>
              <a:t>", "static",</a:t>
            </a:r>
          </a:p>
          <a:p>
            <a:r>
              <a:rPr lang="en-US" altLang="zh-CN" sz="2000" dirty="0"/>
              <a:t>    "</a:t>
            </a:r>
            <a:r>
              <a:rPr lang="en-US" altLang="zh-CN" sz="2000" dirty="0" err="1"/>
              <a:t>struct</a:t>
            </a:r>
            <a:r>
              <a:rPr lang="en-US" altLang="zh-CN" sz="2000" dirty="0"/>
              <a:t>", "switch", "</a:t>
            </a:r>
            <a:r>
              <a:rPr lang="en-US" altLang="zh-CN" sz="2000" dirty="0" err="1"/>
              <a:t>typedef</a:t>
            </a:r>
            <a:r>
              <a:rPr lang="en-US" altLang="zh-CN" sz="2000" dirty="0"/>
              <a:t>", "union", "unsigned", "void",</a:t>
            </a:r>
          </a:p>
          <a:p>
            <a:r>
              <a:rPr lang="en-US" altLang="zh-CN" sz="2000" dirty="0"/>
              <a:t>    "volatile", "while"</a:t>
            </a:r>
          </a:p>
          <a:p>
            <a:r>
              <a:rPr lang="en-US" altLang="zh-CN" sz="2000" dirty="0"/>
              <a:t>};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520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251520" y="195486"/>
            <a:ext cx="7838528" cy="4587974"/>
          </a:xfrm>
        </p:spPr>
        <p:txBody>
          <a:bodyPr/>
          <a:lstStyle/>
          <a:p>
            <a:r>
              <a:rPr lang="en-US" altLang="zh-CN" sz="2800" dirty="0"/>
              <a:t>3. </a:t>
            </a:r>
            <a:r>
              <a:rPr lang="zh-CN" altLang="en-US" sz="2800" dirty="0"/>
              <a:t>实现词法分析：</a:t>
            </a:r>
            <a:endParaRPr lang="en-US" altLang="zh-CN" sz="2800" dirty="0"/>
          </a:p>
          <a:p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）编译预处理，取出无用的字符（如</a:t>
            </a:r>
            <a:r>
              <a:rPr lang="en-US" altLang="zh-CN" dirty="0">
                <a:solidFill>
                  <a:schemeClr val="tx1"/>
                </a:solidFill>
              </a:rPr>
              <a:t>’\n’</a:t>
            </a:r>
            <a:r>
              <a:rPr lang="zh-CN" altLang="en-US" dirty="0">
                <a:solidFill>
                  <a:schemeClr val="tx1"/>
                </a:solidFill>
              </a:rPr>
              <a:t>或</a:t>
            </a:r>
            <a:r>
              <a:rPr lang="en-US" altLang="zh-CN" dirty="0">
                <a:solidFill>
                  <a:schemeClr val="tx1"/>
                </a:solidFill>
              </a:rPr>
              <a:t>’\t’</a:t>
            </a:r>
            <a:r>
              <a:rPr lang="zh-CN" altLang="en-US" dirty="0">
                <a:solidFill>
                  <a:schemeClr val="tx1"/>
                </a:solidFill>
              </a:rPr>
              <a:t>）和</a:t>
            </a:r>
            <a:r>
              <a:rPr lang="zh-CN" altLang="en-US" dirty="0">
                <a:solidFill>
                  <a:srgbClr val="FF0000"/>
                </a:solidFill>
              </a:rPr>
              <a:t>注释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2)  </a:t>
            </a:r>
            <a:r>
              <a:rPr lang="zh-CN" altLang="en-US" dirty="0">
                <a:solidFill>
                  <a:schemeClr val="tx1"/>
                </a:solidFill>
              </a:rPr>
              <a:t>自左至右扫描，跳过所有空格。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首先判断开头是否为</a:t>
            </a:r>
            <a:r>
              <a:rPr lang="zh-CN" altLang="en-US" dirty="0">
                <a:solidFill>
                  <a:srgbClr val="FF0000"/>
                </a:solidFill>
              </a:rPr>
              <a:t>字母或数字</a:t>
            </a:r>
            <a:r>
              <a:rPr lang="zh-CN" altLang="en-US" dirty="0">
                <a:solidFill>
                  <a:schemeClr val="tx1"/>
                </a:solidFill>
              </a:rPr>
              <a:t>，则继续读取下一个字符直至跳出字母或数字，将字母和数字保存为词法单元，标识符则添加到符号表中。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若开头为</a:t>
            </a:r>
            <a:r>
              <a:rPr lang="zh-CN" altLang="en-US" dirty="0">
                <a:solidFill>
                  <a:srgbClr val="FF0000"/>
                </a:solidFill>
              </a:rPr>
              <a:t>运算符或界符</a:t>
            </a:r>
            <a:r>
              <a:rPr lang="zh-CN" altLang="en-US" dirty="0">
                <a:solidFill>
                  <a:schemeClr val="tx1"/>
                </a:solidFill>
              </a:rPr>
              <a:t>，查运算符、界符表得到相应的种别码。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解决相同前缀问题：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&lt;&lt;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&lt;=</a:t>
            </a:r>
            <a:r>
              <a:rPr lang="zh-CN" altLang="en-US" dirty="0">
                <a:solidFill>
                  <a:schemeClr val="tx1"/>
                </a:solidFill>
              </a:rPr>
              <a:t>的区分。识别出词法单元后，重复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）识别下一个符号。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3</a:t>
            </a:r>
            <a:r>
              <a:rPr lang="zh-CN" altLang="en-US" sz="2200" dirty="0">
                <a:solidFill>
                  <a:schemeClr val="tx1"/>
                </a:solidFill>
              </a:rPr>
              <a:t>）遇到</a:t>
            </a:r>
            <a:r>
              <a:rPr lang="zh-CN" altLang="en-US" sz="2200" dirty="0">
                <a:solidFill>
                  <a:srgbClr val="FF0000"/>
                </a:solidFill>
              </a:rPr>
              <a:t>结束符</a:t>
            </a:r>
            <a:r>
              <a:rPr lang="en-US" altLang="zh-CN" sz="2200" dirty="0">
                <a:solidFill>
                  <a:srgbClr val="FF0000"/>
                </a:solidFill>
              </a:rPr>
              <a:t>$</a:t>
            </a:r>
            <a:r>
              <a:rPr lang="zh-CN" altLang="en-US" sz="2200" dirty="0">
                <a:solidFill>
                  <a:schemeClr val="tx1"/>
                </a:solidFill>
              </a:rPr>
              <a:t>，停止程序。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3368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3.9 </a:t>
            </a:r>
            <a:r>
              <a:rPr lang="en-US" altLang="zh-CN" sz="3000" spc="3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词法分析器自动生成工具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467544" y="1059582"/>
            <a:ext cx="8352928" cy="3225800"/>
          </a:xfrm>
        </p:spPr>
        <p:txBody>
          <a:bodyPr/>
          <a:lstStyle/>
          <a:p>
            <a:r>
              <a:rPr lang="zh-CN" altLang="en-US" dirty="0"/>
              <a:t>美国</a:t>
            </a:r>
            <a:r>
              <a:rPr lang="en-US" altLang="zh-CN" dirty="0"/>
              <a:t>Bell</a:t>
            </a:r>
            <a:r>
              <a:rPr lang="zh-CN" altLang="en-US" dirty="0"/>
              <a:t>实验室</a:t>
            </a:r>
            <a:r>
              <a:rPr lang="en-US" altLang="zh-CN" dirty="0" err="1"/>
              <a:t>M.Lesk</a:t>
            </a:r>
            <a:r>
              <a:rPr lang="zh-CN" altLang="en-US" dirty="0"/>
              <a:t>等人用</a:t>
            </a:r>
            <a:r>
              <a:rPr lang="en-US" altLang="zh-CN" dirty="0"/>
              <a:t>C</a:t>
            </a:r>
            <a:r>
              <a:rPr lang="zh-CN" altLang="en-US" dirty="0"/>
              <a:t>语言开发的一种词法分析器自动生成工具</a:t>
            </a:r>
            <a:endParaRPr lang="en-US" altLang="zh-CN" dirty="0"/>
          </a:p>
          <a:p>
            <a:r>
              <a:rPr lang="en-US" altLang="zh-CN" dirty="0" err="1"/>
              <a:t>lex</a:t>
            </a:r>
            <a:r>
              <a:rPr lang="zh-CN" altLang="en-US" dirty="0"/>
              <a:t>是</a:t>
            </a:r>
            <a:r>
              <a:rPr lang="en-US" altLang="zh-CN" dirty="0" err="1"/>
              <a:t>linux</a:t>
            </a:r>
            <a:r>
              <a:rPr lang="zh-CN" altLang="en-US" dirty="0"/>
              <a:t>下的工具，</a:t>
            </a:r>
            <a:r>
              <a:rPr lang="en-US" altLang="zh-CN" dirty="0"/>
              <a:t>win</a:t>
            </a:r>
            <a:r>
              <a:rPr lang="zh-CN" altLang="en-US" dirty="0"/>
              <a:t>下是</a:t>
            </a:r>
            <a:r>
              <a:rPr lang="en-US" altLang="zh-CN" dirty="0"/>
              <a:t>flex</a:t>
            </a:r>
            <a:r>
              <a:rPr lang="zh-CN" altLang="en-US" dirty="0"/>
              <a:t>，此外，</a:t>
            </a:r>
            <a:r>
              <a:rPr lang="en-US" altLang="zh-CN" dirty="0" err="1"/>
              <a:t>yacc</a:t>
            </a:r>
            <a:r>
              <a:rPr lang="zh-CN" altLang="en-US" dirty="0"/>
              <a:t>是语法分析器</a:t>
            </a:r>
            <a:endParaRPr lang="en-US" altLang="zh-CN" dirty="0"/>
          </a:p>
          <a:p>
            <a:r>
              <a:rPr lang="en-US" altLang="zh-CN" dirty="0" err="1"/>
              <a:t>lex</a:t>
            </a:r>
            <a:r>
              <a:rPr lang="zh-CN" altLang="en-US" dirty="0"/>
              <a:t>的基本工作原理为：由正则式生成</a:t>
            </a:r>
            <a:r>
              <a:rPr lang="en-US" altLang="zh-CN" dirty="0"/>
              <a:t>NFA</a:t>
            </a:r>
            <a:r>
              <a:rPr lang="zh-CN" altLang="en-US" dirty="0"/>
              <a:t>，将</a:t>
            </a:r>
            <a:r>
              <a:rPr lang="en-US" altLang="zh-CN" dirty="0"/>
              <a:t>NFA</a:t>
            </a:r>
            <a:r>
              <a:rPr lang="zh-CN" altLang="en-US" dirty="0"/>
              <a:t>变换成</a:t>
            </a:r>
            <a:r>
              <a:rPr lang="en-US" altLang="zh-CN" dirty="0"/>
              <a:t>DFA</a:t>
            </a:r>
            <a:r>
              <a:rPr lang="zh-CN" altLang="en-US" dirty="0"/>
              <a:t>，</a:t>
            </a:r>
            <a:r>
              <a:rPr lang="en-US" altLang="zh-CN" dirty="0"/>
              <a:t>DFA</a:t>
            </a:r>
            <a:r>
              <a:rPr lang="zh-CN" altLang="en-US" dirty="0"/>
              <a:t>经化简后，根据状态转换实现词法分析器。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 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4054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词法分析器的自动产生</a:t>
            </a:r>
            <a:r>
              <a:rPr lang="en-US" altLang="zh-CN" dirty="0"/>
              <a:t>--LEX</a:t>
            </a:r>
            <a:endParaRPr lang="en-US" altLang="zh-CN" sz="1800" dirty="0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3396850" y="1349464"/>
            <a:ext cx="2357438" cy="805294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7500" tIns="35100" rIns="67500" bIns="35100" anchor="ctr" anchorCtr="1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</a:rPr>
              <a:t>LEX</a:t>
            </a:r>
            <a:r>
              <a:rPr kumimoji="1"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</a:rPr>
              <a:t>编译器</a:t>
            </a:r>
            <a:endParaRPr kumimoji="1" lang="en-US" altLang="zh-CN" sz="2400" dirty="0">
              <a:solidFill>
                <a:prstClr val="white"/>
              </a:solidFill>
              <a:latin typeface="微软雅黑" panose="020B0503020204020204" pitchFamily="34" charset="-122"/>
            </a:endParaRPr>
          </a:p>
          <a:p>
            <a:pPr algn="ctr" defTabSz="3429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1500" dirty="0">
                <a:solidFill>
                  <a:prstClr val="white"/>
                </a:solidFill>
                <a:latin typeface="微软雅黑" panose="020B0503020204020204" pitchFamily="34" charset="-122"/>
              </a:rPr>
              <a:t>（</a:t>
            </a:r>
            <a:r>
              <a:rPr kumimoji="1" lang="en-US" altLang="zh-CN" sz="1500" dirty="0">
                <a:solidFill>
                  <a:prstClr val="white"/>
                </a:solidFill>
                <a:latin typeface="微软雅黑" panose="020B0503020204020204" pitchFamily="34" charset="-122"/>
              </a:rPr>
              <a:t>FLEX</a:t>
            </a:r>
            <a:r>
              <a:rPr kumimoji="1" lang="zh-CN" altLang="en-US" sz="1500" dirty="0">
                <a:solidFill>
                  <a:prstClr val="white"/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5517353" y="1342569"/>
            <a:ext cx="2343150" cy="79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Aft>
                <a:spcPts val="0"/>
              </a:spcAft>
              <a:buClrTx/>
              <a:buSzTx/>
              <a:buNone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</a:rPr>
              <a:t>词法分析程序</a:t>
            </a:r>
          </a:p>
          <a:p>
            <a:pPr algn="ctr" defTabSz="342900" eaLnBrk="1" fontAlgn="auto" hangingPunct="1">
              <a:spcAft>
                <a:spcPts val="0"/>
              </a:spcAft>
              <a:buClrTx/>
              <a:buSzTx/>
              <a:buNone/>
            </a:pPr>
            <a:r>
              <a:rPr kumimoji="1" lang="en-US" altLang="zh-CN" sz="2100" dirty="0" err="1">
                <a:solidFill>
                  <a:prstClr val="black"/>
                </a:solidFill>
                <a:latin typeface="微软雅黑" panose="020B0503020204020204" pitchFamily="34" charset="-122"/>
              </a:rPr>
              <a:t>lex.yy.c</a:t>
            </a:r>
            <a:endParaRPr kumimoji="1" lang="en-US" altLang="zh-CN" sz="21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Rectangle 7"/>
          <p:cNvSpPr>
            <a:spLocks noChangeArrowheads="1"/>
          </p:cNvSpPr>
          <p:nvPr/>
        </p:nvSpPr>
        <p:spPr bwMode="auto">
          <a:xfrm>
            <a:off x="1516853" y="1355038"/>
            <a:ext cx="1885950" cy="79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Aft>
                <a:spcPts val="0"/>
              </a:spcAft>
              <a:buClrTx/>
              <a:buSzTx/>
              <a:buNone/>
            </a:pPr>
            <a:r>
              <a:rPr kumimoji="1" lang="en-US" altLang="zh-CN" sz="2100" dirty="0">
                <a:solidFill>
                  <a:prstClr val="black"/>
                </a:solidFill>
                <a:latin typeface="微软雅黑" panose="020B0503020204020204" pitchFamily="34" charset="-122"/>
              </a:rPr>
              <a:t>LEX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</a:rPr>
              <a:t>源程序</a:t>
            </a:r>
          </a:p>
          <a:p>
            <a:pPr algn="ctr" defTabSz="342900" eaLnBrk="1" fontAlgn="auto" hangingPunct="1">
              <a:spcAft>
                <a:spcPts val="0"/>
              </a:spcAft>
              <a:buClrTx/>
              <a:buSzTx/>
              <a:buNone/>
            </a:pPr>
            <a:r>
              <a:rPr lang="en-US" altLang="zh-CN" sz="2100" dirty="0" err="1">
                <a:solidFill>
                  <a:prstClr val="black"/>
                </a:solidFill>
                <a:latin typeface="微软雅黑" panose="020B0503020204020204" pitchFamily="34" charset="-122"/>
              </a:rPr>
              <a:t>lex.l</a:t>
            </a:r>
            <a:endParaRPr lang="en-US" altLang="zh-CN" sz="21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>
            <a:off x="1611671" y="1737427"/>
            <a:ext cx="1755000" cy="1190"/>
          </a:xfrm>
          <a:prstGeom prst="line">
            <a:avLst/>
          </a:prstGeom>
          <a:ln>
            <a:headEnd/>
            <a:tailEnd type="stealth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lIns="67500" tIns="35100" rIns="67500" bIns="35100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" name="Line 9"/>
          <p:cNvSpPr>
            <a:spLocks noChangeShapeType="1"/>
          </p:cNvSpPr>
          <p:nvPr/>
        </p:nvSpPr>
        <p:spPr bwMode="auto">
          <a:xfrm>
            <a:off x="5734809" y="1737427"/>
            <a:ext cx="1755000" cy="1190"/>
          </a:xfrm>
          <a:prstGeom prst="line">
            <a:avLst/>
          </a:prstGeom>
          <a:ln>
            <a:headEnd/>
            <a:tailEnd type="stealth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lIns="67500" tIns="35100" rIns="67500" bIns="35100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" name="Rectangle 10"/>
          <p:cNvSpPr>
            <a:spLocks noChangeArrowheads="1"/>
          </p:cNvSpPr>
          <p:nvPr/>
        </p:nvSpPr>
        <p:spPr bwMode="auto">
          <a:xfrm>
            <a:off x="3406959" y="3677728"/>
            <a:ext cx="2343150" cy="1270286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7500" tIns="35100" rIns="67500" bIns="3510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</a:rPr>
              <a:t> </a:t>
            </a:r>
            <a:endParaRPr kumimoji="1" lang="zh-CN" altLang="en-US" sz="2400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5734809" y="3770734"/>
            <a:ext cx="1885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</a:rPr>
              <a:t>词法单元序列</a:t>
            </a:r>
          </a:p>
        </p:txBody>
      </p:sp>
      <p:sp>
        <p:nvSpPr>
          <p:cNvPr id="44" name="Rectangle 12"/>
          <p:cNvSpPr>
            <a:spLocks noChangeArrowheads="1"/>
          </p:cNvSpPr>
          <p:nvPr/>
        </p:nvSpPr>
        <p:spPr bwMode="auto">
          <a:xfrm>
            <a:off x="1478688" y="3716957"/>
            <a:ext cx="1885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</a:rPr>
              <a:t>输入串</a:t>
            </a:r>
          </a:p>
        </p:txBody>
      </p:sp>
      <p:sp>
        <p:nvSpPr>
          <p:cNvPr id="45" name="Line 13"/>
          <p:cNvSpPr>
            <a:spLocks noChangeShapeType="1"/>
          </p:cNvSpPr>
          <p:nvPr/>
        </p:nvSpPr>
        <p:spPr bwMode="auto">
          <a:xfrm>
            <a:off x="1625959" y="4141297"/>
            <a:ext cx="1755000" cy="1191"/>
          </a:xfrm>
          <a:prstGeom prst="line">
            <a:avLst/>
          </a:prstGeom>
          <a:ln>
            <a:headEnd/>
            <a:tailEnd type="stealth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lIns="67500" tIns="35100" rIns="67500" bIns="35100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6" name="Line 14"/>
          <p:cNvSpPr>
            <a:spLocks noChangeShapeType="1"/>
          </p:cNvSpPr>
          <p:nvPr/>
        </p:nvSpPr>
        <p:spPr bwMode="auto">
          <a:xfrm>
            <a:off x="5734809" y="4198447"/>
            <a:ext cx="1755000" cy="1191"/>
          </a:xfrm>
          <a:prstGeom prst="line">
            <a:avLst/>
          </a:prstGeom>
          <a:ln>
            <a:headEnd/>
            <a:tailEnd type="stealth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lIns="67500" tIns="35100" rIns="67500" bIns="35100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7" name="Rectangle 15"/>
          <p:cNvSpPr>
            <a:spLocks noChangeArrowheads="1"/>
          </p:cNvSpPr>
          <p:nvPr/>
        </p:nvSpPr>
        <p:spPr bwMode="auto">
          <a:xfrm>
            <a:off x="3541982" y="4405001"/>
            <a:ext cx="2114550" cy="400050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67500" tIns="35100" rIns="67500" bIns="351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2200" dirty="0">
                <a:solidFill>
                  <a:prstClr val="white"/>
                </a:solidFill>
                <a:latin typeface="微软雅黑" panose="020B0503020204020204" pitchFamily="34" charset="-122"/>
              </a:rPr>
              <a:t>状态转换矩阵</a:t>
            </a:r>
          </a:p>
        </p:txBody>
      </p:sp>
      <p:sp>
        <p:nvSpPr>
          <p:cNvPr id="48" name="Rectangle 16"/>
          <p:cNvSpPr>
            <a:spLocks noChangeArrowheads="1"/>
          </p:cNvSpPr>
          <p:nvPr/>
        </p:nvSpPr>
        <p:spPr bwMode="auto">
          <a:xfrm>
            <a:off x="3528230" y="3909232"/>
            <a:ext cx="2114550" cy="400050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67500" tIns="35100" rIns="67500" bIns="351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2200" dirty="0">
                <a:solidFill>
                  <a:prstClr val="white"/>
                </a:solidFill>
                <a:latin typeface="微软雅黑" panose="020B0503020204020204" pitchFamily="34" charset="-122"/>
              </a:rPr>
              <a:t>词法分析程序</a:t>
            </a:r>
          </a:p>
        </p:txBody>
      </p:sp>
      <p:sp>
        <p:nvSpPr>
          <p:cNvPr id="49" name="Rectangle 17"/>
          <p:cNvSpPr>
            <a:spLocks noChangeArrowheads="1"/>
          </p:cNvSpPr>
          <p:nvPr/>
        </p:nvSpPr>
        <p:spPr bwMode="auto">
          <a:xfrm>
            <a:off x="3396850" y="2403924"/>
            <a:ext cx="2357438" cy="805294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7500" tIns="35100" rIns="67500" bIns="35100" anchor="ctr" anchorCtr="1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400">
                <a:solidFill>
                  <a:prstClr val="white"/>
                </a:solidFill>
                <a:latin typeface="微软雅黑" panose="020B0503020204020204" pitchFamily="34" charset="-122"/>
              </a:rPr>
              <a:t>C</a:t>
            </a:r>
            <a:r>
              <a:rPr kumimoji="1" lang="zh-CN" altLang="en-US" sz="2400">
                <a:solidFill>
                  <a:prstClr val="white"/>
                </a:solidFill>
                <a:latin typeface="微软雅黑" panose="020B0503020204020204" pitchFamily="34" charset="-122"/>
              </a:rPr>
              <a:t>编译器</a:t>
            </a:r>
          </a:p>
        </p:txBody>
      </p:sp>
      <p:sp>
        <p:nvSpPr>
          <p:cNvPr id="50" name="Rectangle 18"/>
          <p:cNvSpPr>
            <a:spLocks noChangeArrowheads="1"/>
          </p:cNvSpPr>
          <p:nvPr/>
        </p:nvSpPr>
        <p:spPr bwMode="auto">
          <a:xfrm>
            <a:off x="5554000" y="2442078"/>
            <a:ext cx="2343150" cy="74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Aft>
                <a:spcPts val="0"/>
              </a:spcAft>
              <a:buClrTx/>
              <a:buSzTx/>
              <a:buNone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</a:rPr>
              <a:t>词法分析程序</a:t>
            </a:r>
          </a:p>
          <a:p>
            <a:pPr algn="ctr" defTabSz="342900" eaLnBrk="1" fontAlgn="auto" hangingPunct="1">
              <a:spcAft>
                <a:spcPts val="0"/>
              </a:spcAft>
              <a:buClrTx/>
              <a:buSzTx/>
              <a:buNone/>
            </a:pPr>
            <a:r>
              <a:rPr kumimoji="1" lang="en-US" altLang="zh-CN" sz="1800" dirty="0" err="1">
                <a:solidFill>
                  <a:prstClr val="black"/>
                </a:solidFill>
                <a:latin typeface="微软雅黑" panose="020B0503020204020204" pitchFamily="34" charset="-122"/>
              </a:rPr>
              <a:t>lex.out</a:t>
            </a:r>
            <a:r>
              <a:rPr kumimoji="1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</a:rPr>
              <a:t>/lex.exe</a:t>
            </a:r>
          </a:p>
        </p:txBody>
      </p:sp>
      <p:sp>
        <p:nvSpPr>
          <p:cNvPr id="51" name="Rectangle 19"/>
          <p:cNvSpPr>
            <a:spLocks noChangeArrowheads="1"/>
          </p:cNvSpPr>
          <p:nvPr/>
        </p:nvSpPr>
        <p:spPr bwMode="auto">
          <a:xfrm>
            <a:off x="1441779" y="2442079"/>
            <a:ext cx="1994297" cy="79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342900" eaLnBrk="1" fontAlgn="auto" hangingPunct="1">
              <a:spcAft>
                <a:spcPts val="0"/>
              </a:spcAft>
              <a:buClrTx/>
              <a:buSzTx/>
              <a:buNone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</a:rPr>
              <a:t>词法分析程序</a:t>
            </a:r>
          </a:p>
          <a:p>
            <a:pPr algn="ctr" defTabSz="342900" eaLnBrk="1" fontAlgn="auto" hangingPunct="1">
              <a:spcAft>
                <a:spcPts val="0"/>
              </a:spcAft>
              <a:buClrTx/>
              <a:buSzTx/>
              <a:buNone/>
            </a:pPr>
            <a:r>
              <a:rPr kumimoji="1" lang="en-US" altLang="zh-CN" sz="2100" dirty="0" err="1">
                <a:solidFill>
                  <a:prstClr val="black"/>
                </a:solidFill>
                <a:latin typeface="微软雅黑" panose="020B0503020204020204" pitchFamily="34" charset="-122"/>
              </a:rPr>
              <a:t>lex.yy.c</a:t>
            </a:r>
            <a:endParaRPr kumimoji="1" lang="en-US" altLang="zh-CN" sz="21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Line 20"/>
          <p:cNvSpPr>
            <a:spLocks noChangeShapeType="1"/>
          </p:cNvSpPr>
          <p:nvPr/>
        </p:nvSpPr>
        <p:spPr bwMode="auto">
          <a:xfrm>
            <a:off x="1620006" y="2824466"/>
            <a:ext cx="1755000" cy="1191"/>
          </a:xfrm>
          <a:prstGeom prst="line">
            <a:avLst/>
          </a:prstGeom>
          <a:ln>
            <a:headEnd/>
            <a:tailEnd type="stealth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lIns="67500" tIns="35100" rIns="67500" bIns="35100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3" name="Line 21"/>
          <p:cNvSpPr>
            <a:spLocks noChangeShapeType="1"/>
          </p:cNvSpPr>
          <p:nvPr/>
        </p:nvSpPr>
        <p:spPr bwMode="auto">
          <a:xfrm>
            <a:off x="5734809" y="2824466"/>
            <a:ext cx="1755000" cy="1191"/>
          </a:xfrm>
          <a:prstGeom prst="line">
            <a:avLst/>
          </a:prstGeom>
          <a:ln>
            <a:headEnd/>
            <a:tailEnd type="stealth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lIns="67500" tIns="35100" rIns="67500" bIns="35100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28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51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 autoUpdateAnimBg="0"/>
      <p:bldP spid="38" grpId="0" autoUpdateAnimBg="0"/>
      <p:bldP spid="39" grpId="0" autoUpdateAnimBg="0"/>
      <p:bldP spid="40" grpId="0" animBg="1"/>
      <p:bldP spid="41" grpId="0" animBg="1"/>
      <p:bldP spid="42" grpId="0" animBg="1" autoUpdateAnimBg="0"/>
      <p:bldP spid="43" grpId="0" autoUpdateAnimBg="0"/>
      <p:bldP spid="44" grpId="0" autoUpdateAnimBg="0"/>
      <p:bldP spid="45" grpId="0" animBg="1"/>
      <p:bldP spid="46" grpId="0" animBg="1"/>
      <p:bldP spid="47" grpId="0" animBg="1" autoUpdateAnimBg="0"/>
      <p:bldP spid="48" grpId="0" animBg="1" autoUpdateAnimBg="0"/>
      <p:bldP spid="49" grpId="0" animBg="1" autoUpdateAnimBg="0"/>
      <p:bldP spid="50" grpId="0" autoUpdateAnimBg="0"/>
      <p:bldP spid="51" grpId="0" autoUpdateAnimBg="0"/>
      <p:bldP spid="52" grpId="0" animBg="1"/>
      <p:bldP spid="5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源程序的写法   </a:t>
            </a:r>
            <a:r>
              <a:rPr lang="zh-CN" altLang="en-US" sz="3000" b="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书</a:t>
            </a:r>
            <a:r>
              <a:rPr lang="en-US" altLang="zh-CN" sz="3000" b="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P88 </a:t>
            </a:r>
            <a:r>
              <a:rPr lang="zh-CN" altLang="en-US" sz="3000" b="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见图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77825" y="843558"/>
            <a:ext cx="7992888" cy="39604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 err="1"/>
              <a:t>lex</a:t>
            </a:r>
            <a:r>
              <a:rPr lang="zh-CN" altLang="en-US" dirty="0"/>
              <a:t>源程序必须按照</a:t>
            </a:r>
            <a:r>
              <a:rPr lang="en-US" altLang="zh-CN" dirty="0" err="1"/>
              <a:t>lex</a:t>
            </a:r>
            <a:r>
              <a:rPr lang="zh-CN" altLang="en-US" dirty="0"/>
              <a:t>语言的规范来写，其核心是一组词法规则（正则表达式）。一般而言，一个</a:t>
            </a:r>
            <a:r>
              <a:rPr lang="en-US" altLang="zh-CN" dirty="0"/>
              <a:t>Lex</a:t>
            </a:r>
            <a:r>
              <a:rPr lang="zh-CN" altLang="en-US" dirty="0"/>
              <a:t>源程序分为三部分，三部分之间以符号</a:t>
            </a:r>
            <a:r>
              <a:rPr lang="en-US" altLang="zh-CN" dirty="0"/>
              <a:t>%%</a:t>
            </a:r>
            <a:r>
              <a:rPr lang="zh-CN" altLang="en-US" dirty="0"/>
              <a:t>分隔。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18704"/>
            <a:ext cx="2808312" cy="278529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9111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源程序的写法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77825" y="843558"/>
            <a:ext cx="7992888" cy="3960440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b="1" dirty="0"/>
              <a:t>第一部分定义段的写法：</a:t>
            </a:r>
            <a:endParaRPr lang="en-US" altLang="zh-CN" b="1" dirty="0"/>
          </a:p>
          <a:p>
            <a:r>
              <a:rPr lang="en-US" altLang="zh-CN" b="1" dirty="0"/>
              <a:t>   </a:t>
            </a:r>
            <a:r>
              <a:rPr lang="zh-CN" altLang="en-US" dirty="0"/>
              <a:t>定义段可以分为两部分：</a:t>
            </a:r>
          </a:p>
          <a:p>
            <a:r>
              <a:rPr lang="zh-CN" altLang="en-US" dirty="0"/>
              <a:t>   第一部分以符号</a:t>
            </a:r>
            <a:r>
              <a:rPr lang="en-US" altLang="zh-CN" dirty="0"/>
              <a:t>%{</a:t>
            </a:r>
            <a:r>
              <a:rPr lang="zh-CN" altLang="en-US" dirty="0"/>
              <a:t>和</a:t>
            </a:r>
            <a:r>
              <a:rPr lang="en-US" altLang="zh-CN" dirty="0"/>
              <a:t>%}</a:t>
            </a:r>
            <a:r>
              <a:rPr lang="zh-CN" altLang="en-US" dirty="0"/>
              <a:t>包裹，里面为以</a:t>
            </a:r>
            <a:r>
              <a:rPr lang="en-US" altLang="zh-CN" dirty="0"/>
              <a:t>C</a:t>
            </a:r>
            <a:r>
              <a:rPr lang="zh-CN" altLang="en-US" dirty="0"/>
              <a:t>语法写的一些定义和声明：例如，文件包含，宏定义，常数定义，全局变量及外部变量定义，函数声明等。这一部分被</a:t>
            </a:r>
            <a:r>
              <a:rPr lang="en-US" altLang="zh-CN" dirty="0"/>
              <a:t>Lex</a:t>
            </a:r>
            <a:r>
              <a:rPr lang="zh-CN" altLang="en-US" dirty="0"/>
              <a:t>编译器处理后会全部拷贝到文件</a:t>
            </a:r>
            <a:r>
              <a:rPr lang="en-US" altLang="zh-CN" dirty="0" err="1"/>
              <a:t>lex.yy.c</a:t>
            </a:r>
            <a:r>
              <a:rPr lang="zh-CN" altLang="en-US" dirty="0"/>
              <a:t>中。注意，特殊括号</a:t>
            </a:r>
            <a:r>
              <a:rPr lang="en-US" altLang="zh-CN" dirty="0"/>
              <a:t>%{</a:t>
            </a:r>
            <a:r>
              <a:rPr lang="zh-CN" altLang="en-US" dirty="0"/>
              <a:t>和</a:t>
            </a:r>
            <a:r>
              <a:rPr lang="en-US" altLang="zh-CN" dirty="0"/>
              <a:t>%}</a:t>
            </a:r>
            <a:r>
              <a:rPr lang="zh-CN" altLang="en-US" dirty="0"/>
              <a:t>都必须顶着行首写。例如：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     %{ </a:t>
            </a:r>
          </a:p>
          <a:p>
            <a:pPr marL="0" indent="0">
              <a:buNone/>
            </a:pPr>
            <a:r>
              <a:rPr lang="en-US" altLang="zh-CN" sz="2000" dirty="0"/>
              <a:t>     #define LT 1</a:t>
            </a:r>
          </a:p>
          <a:p>
            <a:pPr marL="0" indent="0"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yylval</a:t>
            </a:r>
            <a:r>
              <a:rPr lang="en-US" altLang="zh-CN" sz="2000" dirty="0"/>
              <a:t>; </a:t>
            </a:r>
          </a:p>
          <a:p>
            <a:pPr marL="0" indent="0">
              <a:buNone/>
            </a:pPr>
            <a:r>
              <a:rPr lang="en-US" altLang="zh-CN" sz="2000" dirty="0"/>
              <a:t>     %}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6455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源程序的写法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179512" y="913366"/>
            <a:ext cx="7992888" cy="3960440"/>
          </a:xfrm>
        </p:spPr>
        <p:txBody>
          <a:bodyPr/>
          <a:lstStyle/>
          <a:p>
            <a:r>
              <a:rPr lang="en-US" altLang="zh-CN" b="1" dirty="0"/>
              <a:t> </a:t>
            </a:r>
            <a:r>
              <a:rPr lang="zh-CN" altLang="en-US" dirty="0"/>
              <a:t>定义段的第二部分是一组正则定义。正则定义是为了简化后面的词法规则而给部分正则式定义了名字。每条正则定义也都要</a:t>
            </a:r>
            <a:r>
              <a:rPr lang="zh-CN" altLang="en-US" dirty="0">
                <a:solidFill>
                  <a:srgbClr val="FF0000"/>
                </a:solidFill>
              </a:rPr>
              <a:t>顶着行首写</a:t>
            </a:r>
            <a:r>
              <a:rPr lang="zh-CN" altLang="en-US" dirty="0"/>
              <a:t>。例如下面这组正则定义分别定义了</a:t>
            </a:r>
            <a:r>
              <a:rPr lang="en-US" altLang="zh-CN" dirty="0"/>
              <a:t>letter</a:t>
            </a:r>
            <a:r>
              <a:rPr lang="zh-CN" altLang="en-US" dirty="0"/>
              <a:t>，</a:t>
            </a:r>
            <a:r>
              <a:rPr lang="en-US" altLang="zh-CN" dirty="0"/>
              <a:t>digit</a:t>
            </a:r>
            <a:r>
              <a:rPr lang="zh-CN" altLang="en-US" dirty="0"/>
              <a:t>和</a:t>
            </a:r>
            <a:r>
              <a:rPr lang="en-US" altLang="zh-CN" dirty="0"/>
              <a:t>id</a:t>
            </a:r>
            <a:r>
              <a:rPr lang="zh-CN" altLang="en-US" dirty="0"/>
              <a:t>所表示的正则式：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     letter 		[A-</a:t>
            </a:r>
            <a:r>
              <a:rPr lang="en-US" altLang="zh-CN" sz="2000" dirty="0" err="1"/>
              <a:t>Za</a:t>
            </a:r>
            <a:r>
              <a:rPr lang="en-US" altLang="zh-CN" sz="2000" dirty="0"/>
              <a:t>-z] </a:t>
            </a:r>
          </a:p>
          <a:p>
            <a:pPr marL="0" indent="0">
              <a:buNone/>
            </a:pPr>
            <a:r>
              <a:rPr lang="en-US" altLang="zh-CN" sz="2000" dirty="0"/>
              <a:t>     digit 		[0-9]</a:t>
            </a:r>
          </a:p>
          <a:p>
            <a:pPr marL="0" indent="0">
              <a:buNone/>
            </a:pPr>
            <a:r>
              <a:rPr lang="en-US" altLang="zh-CN" sz="2000" dirty="0"/>
              <a:t>     id 		{letter}({letter}|{digit})*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2985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源程序的写法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77824" y="843558"/>
            <a:ext cx="8226623" cy="39604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第二部分  词法规则段的写法：</a:t>
            </a:r>
          </a:p>
          <a:p>
            <a:r>
              <a:rPr lang="zh-CN" altLang="en-US" dirty="0"/>
              <a:t>词法规则段列出的是词法分析器需要匹配的正则式，以及匹配该正则式后需要进行的相关动作。其例子如下：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    while 	{return (WHILE);}</a:t>
            </a:r>
          </a:p>
          <a:p>
            <a:pPr marL="0" indent="0">
              <a:buNone/>
            </a:pPr>
            <a:r>
              <a:rPr lang="en-US" altLang="zh-CN" sz="2000" dirty="0"/>
              <a:t>    do 	{return (DO);} </a:t>
            </a:r>
          </a:p>
          <a:p>
            <a:pPr marL="0" indent="0">
              <a:buNone/>
            </a:pPr>
            <a:r>
              <a:rPr lang="en-US" altLang="zh-CN" sz="2000" dirty="0"/>
              <a:t>    {id} 	{</a:t>
            </a:r>
            <a:r>
              <a:rPr lang="en-US" altLang="zh-CN" sz="2000" dirty="0" err="1"/>
              <a:t>yylval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installID</a:t>
            </a:r>
            <a:r>
              <a:rPr lang="en-US" altLang="zh-CN" sz="2000" dirty="0"/>
              <a:t> (); return (ID);}</a:t>
            </a:r>
          </a:p>
          <a:p>
            <a:pPr marL="0" indent="0">
              <a:buNone/>
            </a:pPr>
            <a:r>
              <a:rPr lang="zh-CN" altLang="en-US" dirty="0"/>
              <a:t> 每行都是一条规则，该规则的前一部分是正则式，需要顶行首写，后一部分是匹配该正则式后需要进行的动作，这个动作是用</a:t>
            </a:r>
            <a:r>
              <a:rPr lang="en-US" altLang="zh-CN" dirty="0"/>
              <a:t>C</a:t>
            </a:r>
            <a:r>
              <a:rPr lang="zh-CN" altLang="en-US" dirty="0"/>
              <a:t>语言来写的，被包裹在</a:t>
            </a:r>
            <a:r>
              <a:rPr lang="en-US" altLang="zh-CN" dirty="0"/>
              <a:t>{}</a:t>
            </a:r>
            <a:r>
              <a:rPr lang="zh-CN" altLang="en-US" dirty="0"/>
              <a:t>之内，被</a:t>
            </a:r>
            <a:r>
              <a:rPr lang="en-US" altLang="zh-CN" dirty="0"/>
              <a:t>Lex</a:t>
            </a:r>
            <a:r>
              <a:rPr lang="zh-CN" altLang="en-US" dirty="0"/>
              <a:t>编译器处理后会被直接拷贝进</a:t>
            </a:r>
            <a:r>
              <a:rPr lang="en-US" altLang="zh-CN" dirty="0" err="1"/>
              <a:t>lex.yy.c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3834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源程序的写法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77824" y="843558"/>
            <a:ext cx="8226623" cy="3960440"/>
          </a:xfrm>
        </p:spPr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第三部分辅助函数段的写法：</a:t>
            </a:r>
          </a:p>
          <a:p>
            <a:r>
              <a:rPr lang="zh-CN" altLang="en-US" dirty="0"/>
              <a:t>   辅助函数段用</a:t>
            </a:r>
            <a:r>
              <a:rPr lang="en-US" altLang="zh-CN" dirty="0"/>
              <a:t>C</a:t>
            </a:r>
            <a:r>
              <a:rPr lang="zh-CN" altLang="en-US" dirty="0"/>
              <a:t>语言语法来写，辅助函数一般是在词法规则段中用到的函数。这一部分一般会被直接拷贝到</a:t>
            </a:r>
            <a:r>
              <a:rPr lang="en-US" altLang="zh-CN" dirty="0" err="1"/>
              <a:t>lex.yy.c</a:t>
            </a:r>
            <a:r>
              <a:rPr lang="zh-CN" altLang="en-US" dirty="0"/>
              <a:t>中。</a:t>
            </a:r>
            <a:endParaRPr lang="zh-CN" altLang="en-US" dirty="0">
              <a:effectLst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702742" y="2715766"/>
            <a:ext cx="7920879" cy="512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000" dirty="0"/>
              <a:t>例子：</a:t>
            </a:r>
            <a:r>
              <a:rPr lang="zh-CN" altLang="en-US" sz="2000" dirty="0">
                <a:solidFill>
                  <a:srgbClr val="0000FF"/>
                </a:solidFill>
              </a:rPr>
              <a:t>蓝书</a:t>
            </a:r>
            <a:r>
              <a:rPr lang="en-US" altLang="zh-CN" sz="2000" dirty="0">
                <a:solidFill>
                  <a:srgbClr val="0000FF"/>
                </a:solidFill>
              </a:rPr>
              <a:t>P87-88 </a:t>
            </a:r>
            <a:r>
              <a:rPr lang="zh-CN" altLang="en-US" sz="2000" dirty="0">
                <a:solidFill>
                  <a:srgbClr val="0000FF"/>
                </a:solidFill>
              </a:rPr>
              <a:t>例</a:t>
            </a:r>
            <a:r>
              <a:rPr lang="en-US" altLang="zh-CN" sz="2000" dirty="0">
                <a:solidFill>
                  <a:srgbClr val="0000FF"/>
                </a:solidFill>
              </a:rPr>
              <a:t>3.11</a:t>
            </a:r>
            <a:r>
              <a:rPr lang="zh-CN" altLang="en-US" sz="2000" dirty="0">
                <a:solidFill>
                  <a:srgbClr val="0000FF"/>
                </a:solidFill>
              </a:rPr>
              <a:t>的图</a:t>
            </a:r>
            <a:r>
              <a:rPr lang="en-US" altLang="zh-CN" sz="2000" dirty="0">
                <a:solidFill>
                  <a:srgbClr val="0000FF"/>
                </a:solidFill>
              </a:rPr>
              <a:t>3-20</a:t>
            </a:r>
            <a:r>
              <a:rPr lang="en-US" altLang="zh-CN" sz="2000" dirty="0"/>
              <a:t>/ </a:t>
            </a:r>
            <a:r>
              <a:rPr lang="zh-CN" altLang="en-US" sz="2000" dirty="0"/>
              <a:t>电子书</a:t>
            </a:r>
            <a:r>
              <a:rPr lang="en-US" altLang="zh-CN" sz="2000" dirty="0"/>
              <a:t>P89-91</a:t>
            </a:r>
            <a:r>
              <a:rPr lang="zh-CN" altLang="en-US" sz="2000" dirty="0"/>
              <a:t>例</a:t>
            </a:r>
            <a:r>
              <a:rPr lang="en-US" altLang="zh-CN" sz="2000" dirty="0"/>
              <a:t>3.11</a:t>
            </a:r>
            <a:r>
              <a:rPr lang="zh-CN" altLang="en-US" sz="2000" dirty="0"/>
              <a:t>的图</a:t>
            </a:r>
            <a:r>
              <a:rPr lang="en-US" altLang="zh-CN" sz="2000" dirty="0"/>
              <a:t>3-23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57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95486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源程序中对于正则式的规定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77824" y="699542"/>
            <a:ext cx="8586664" cy="4443958"/>
          </a:xfrm>
        </p:spPr>
        <p:txBody>
          <a:bodyPr/>
          <a:lstStyle/>
          <a:p>
            <a:r>
              <a:rPr lang="zh-CN" altLang="en-US" dirty="0"/>
              <a:t>元字符：元字符是</a:t>
            </a:r>
            <a:r>
              <a:rPr lang="en-US" altLang="zh-CN" dirty="0" err="1"/>
              <a:t>lex</a:t>
            </a:r>
            <a:r>
              <a:rPr lang="zh-CN" altLang="en-US" dirty="0"/>
              <a:t>语言中作特殊用途的一些字符，包括：* </a:t>
            </a:r>
            <a:r>
              <a:rPr lang="en-US" altLang="zh-CN" dirty="0"/>
              <a:t>+ ? | { } [ ] ( ). ^ $ “ \ - / &lt; &gt;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正文字符：除元字符以外的其他字符，这些字符在正则式中可以被匹配。如果元字符想要被匹配，则需要通过“转义”的方式，即用” ”包括住元字符，或在元字符前加</a:t>
            </a:r>
            <a:r>
              <a:rPr lang="en-US" altLang="zh-CN" dirty="0"/>
              <a:t>\</a:t>
            </a:r>
            <a:r>
              <a:rPr lang="zh-CN" altLang="en-US" dirty="0"/>
              <a:t>。例如</a:t>
            </a:r>
            <a:r>
              <a:rPr lang="en-US" altLang="zh-CN" dirty="0"/>
              <a:t>”+”</a:t>
            </a:r>
            <a:r>
              <a:rPr lang="zh-CN" altLang="en-US" dirty="0"/>
              <a:t>和</a:t>
            </a:r>
            <a:r>
              <a:rPr lang="en-US" altLang="zh-CN" dirty="0"/>
              <a:t>\+</a:t>
            </a:r>
            <a:r>
              <a:rPr lang="zh-CN" altLang="en-US" dirty="0"/>
              <a:t>都表示加号。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部分元字符在</a:t>
            </a:r>
            <a:r>
              <a:rPr lang="en-US" altLang="zh-CN" dirty="0" err="1"/>
              <a:t>lex</a:t>
            </a:r>
            <a:r>
              <a:rPr lang="zh-CN" altLang="en-US" dirty="0"/>
              <a:t>语言中的特殊含义：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B7AEDB-E6CF-43CB-B5CE-BB76A0F276AA}"/>
              </a:ext>
            </a:extLst>
          </p:cNvPr>
          <p:cNvSpPr txBox="1"/>
          <p:nvPr/>
        </p:nvSpPr>
        <p:spPr>
          <a:xfrm>
            <a:off x="377824" y="3572452"/>
            <a:ext cx="7866584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[ABC]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表示匹配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[]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中的任一字符     例如：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[A-Za-z] 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[A-Z]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连字符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表示一个区间，匹配任意一个大写字母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875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源程序的写法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77824" y="771550"/>
            <a:ext cx="8586664" cy="3960440"/>
          </a:xfrm>
        </p:spPr>
        <p:txBody>
          <a:bodyPr/>
          <a:lstStyle/>
          <a:p>
            <a:r>
              <a:rPr lang="en-US" altLang="zh-CN" dirty="0"/>
              <a:t>[^…]</a:t>
            </a:r>
            <a:r>
              <a:rPr lang="zh-CN" altLang="en-US" dirty="0"/>
              <a:t>表示补集，即匹配除</a:t>
            </a:r>
            <a:r>
              <a:rPr lang="en-US" altLang="zh-CN" dirty="0"/>
              <a:t>^</a:t>
            </a:r>
            <a:r>
              <a:rPr lang="zh-CN" altLang="en-US" dirty="0"/>
              <a:t>之后所列字符以外的任何字符。如</a:t>
            </a:r>
            <a:r>
              <a:rPr lang="en-US" altLang="zh-CN" dirty="0"/>
              <a:t>[^0-9]</a:t>
            </a:r>
            <a:r>
              <a:rPr lang="zh-CN" altLang="en-US" dirty="0"/>
              <a:t> 。</a:t>
            </a:r>
          </a:p>
          <a:p>
            <a:r>
              <a:rPr lang="zh-CN" altLang="en-US" dirty="0"/>
              <a:t>*表示匹配前面的子表达式零次或多次 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zh-CN" altLang="en-US" dirty="0"/>
              <a:t>    例如，</a:t>
            </a:r>
            <a:r>
              <a:rPr lang="en-US" altLang="zh-CN" dirty="0" err="1"/>
              <a:t>zo</a:t>
            </a:r>
            <a:r>
              <a:rPr lang="en-US" altLang="zh-CN" dirty="0"/>
              <a:t>* </a:t>
            </a:r>
            <a:r>
              <a:rPr lang="zh-CN" altLang="en-US" dirty="0"/>
              <a:t>能匹配 </a:t>
            </a:r>
            <a:r>
              <a:rPr lang="en-US" altLang="zh-CN" dirty="0"/>
              <a:t>"z" </a:t>
            </a:r>
            <a:r>
              <a:rPr lang="zh-CN" altLang="en-US" dirty="0"/>
              <a:t>以及 </a:t>
            </a:r>
            <a:r>
              <a:rPr lang="en-US" altLang="zh-CN" dirty="0"/>
              <a:t>"zoo"</a:t>
            </a:r>
          </a:p>
          <a:p>
            <a:r>
              <a:rPr lang="en-US" altLang="zh-CN" dirty="0"/>
              <a:t>+</a:t>
            </a:r>
            <a:r>
              <a:rPr lang="zh-CN" altLang="en-US" dirty="0"/>
              <a:t>表示匹配前面的子表达式一次或多次；</a:t>
            </a:r>
            <a:endParaRPr lang="en-US" altLang="zh-CN" dirty="0"/>
          </a:p>
          <a:p>
            <a:r>
              <a:rPr lang="en-US" altLang="zh-CN" dirty="0"/>
              <a:t>()</a:t>
            </a:r>
            <a:r>
              <a:rPr lang="zh-CN" altLang="en-US" dirty="0"/>
              <a:t>标记一个子表达式的开始和结束位置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？表示匹配前面的子表达式零次或一次；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例如，</a:t>
            </a:r>
            <a:r>
              <a:rPr lang="en-US" altLang="zh-CN" dirty="0"/>
              <a:t>"do(</a:t>
            </a:r>
            <a:r>
              <a:rPr lang="en-US" altLang="zh-CN" dirty="0" err="1"/>
              <a:t>es</a:t>
            </a:r>
            <a:r>
              <a:rPr lang="en-US" altLang="zh-CN" dirty="0"/>
              <a:t>)?" </a:t>
            </a:r>
            <a:r>
              <a:rPr lang="zh-CN" altLang="en-US" dirty="0"/>
              <a:t>可以匹配 </a:t>
            </a:r>
            <a:r>
              <a:rPr lang="en-US" altLang="zh-CN" dirty="0"/>
              <a:t>"do" </a:t>
            </a:r>
            <a:r>
              <a:rPr lang="zh-CN" altLang="en-US" dirty="0"/>
              <a:t>、 </a:t>
            </a:r>
            <a:r>
              <a:rPr lang="en-US" altLang="zh-CN" dirty="0"/>
              <a:t>"does"  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</a:p>
          <a:p>
            <a:endParaRPr lang="zh-CN" altLang="en-US" dirty="0">
              <a:effectLst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625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3478"/>
            <a:ext cx="8159824" cy="2592288"/>
          </a:xfrm>
        </p:spPr>
        <p:txBody>
          <a:bodyPr/>
          <a:lstStyle/>
          <a:p>
            <a:r>
              <a:rPr lang="en-US" altLang="zh-CN" sz="2800" dirty="0"/>
              <a:t>[] </a:t>
            </a:r>
            <a:r>
              <a:rPr lang="zh-CN" altLang="en-US" sz="2800" dirty="0"/>
              <a:t>与 </a:t>
            </a:r>
            <a:r>
              <a:rPr lang="en-US" altLang="zh-CN" sz="2800" dirty="0"/>
              <a:t>()</a:t>
            </a:r>
            <a:r>
              <a:rPr lang="zh-CN" altLang="en-US" sz="2800" dirty="0"/>
              <a:t>的区别？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dirty="0"/>
              <a:t>    [A-Z]</a:t>
            </a:r>
            <a:r>
              <a:rPr lang="zh-CN" altLang="en-US" dirty="0"/>
              <a:t>是匹配其中一个字符，</a:t>
            </a:r>
            <a:r>
              <a:rPr lang="en-US" altLang="zh-CN" dirty="0"/>
              <a:t>()</a:t>
            </a:r>
            <a:r>
              <a:rPr lang="zh-CN" altLang="en-US" dirty="0"/>
              <a:t>是表示整个表达式，就是要     </a:t>
            </a:r>
            <a:r>
              <a:rPr lang="en-US" altLang="zh-CN" dirty="0"/>
              <a:t>  </a:t>
            </a:r>
            <a:r>
              <a:rPr lang="zh-CN" altLang="en-US" dirty="0"/>
              <a:t>匹配全部字符。</a:t>
            </a:r>
            <a:endParaRPr lang="en-US" altLang="zh-CN" dirty="0"/>
          </a:p>
          <a:p>
            <a:r>
              <a:rPr lang="en-US" altLang="zh-CN" dirty="0"/>
              <a:t>R1/R2</a:t>
            </a:r>
            <a:r>
              <a:rPr lang="zh-CN" altLang="en-US" dirty="0"/>
              <a:t>（</a:t>
            </a:r>
            <a:r>
              <a:rPr lang="en-US" altLang="zh-CN" dirty="0"/>
              <a:t>R1</a:t>
            </a:r>
            <a:r>
              <a:rPr lang="zh-CN" altLang="en-US" dirty="0"/>
              <a:t>和</a:t>
            </a:r>
            <a:r>
              <a:rPr lang="en-US" altLang="zh-CN" dirty="0"/>
              <a:t>R2</a:t>
            </a:r>
            <a:r>
              <a:rPr lang="zh-CN" altLang="en-US" dirty="0"/>
              <a:t>是正则式）表示超前搜索：若要匹配</a:t>
            </a:r>
            <a:r>
              <a:rPr lang="en-US" altLang="zh-CN" dirty="0"/>
              <a:t>R1</a:t>
            </a:r>
            <a:r>
              <a:rPr lang="zh-CN" altLang="en-US" dirty="0"/>
              <a:t>，则必须先看紧跟其后的超前搜索部分是否与</a:t>
            </a:r>
            <a:r>
              <a:rPr lang="en-US" altLang="zh-CN" dirty="0"/>
              <a:t>R2</a:t>
            </a:r>
            <a:r>
              <a:rPr lang="zh-CN" altLang="en-US" dirty="0"/>
              <a:t>匹配。</a:t>
            </a:r>
            <a:endParaRPr lang="en-US" altLang="zh-CN" dirty="0"/>
          </a:p>
          <a:p>
            <a:r>
              <a:rPr lang="en-US" altLang="zh-CN" dirty="0"/>
              <a:t>[0-9]{1,2}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467544" y="4659982"/>
            <a:ext cx="648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例：</a:t>
            </a:r>
            <a:r>
              <a:rPr lang="en-US" altLang="zh-CN" dirty="0" err="1"/>
              <a:t>fo</a:t>
            </a:r>
            <a:r>
              <a:rPr lang="en-US" altLang="zh-CN" dirty="0"/>
              <a:t>{1,3}d </a:t>
            </a:r>
            <a:r>
              <a:rPr lang="zh-CN" altLang="en-US" dirty="0"/>
              <a:t>表示可以匹配？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C80222-9DCD-F398-27BC-7379F616C6AA}"/>
              </a:ext>
            </a:extLst>
          </p:cNvPr>
          <p:cNvSpPr txBox="1"/>
          <p:nvPr/>
        </p:nvSpPr>
        <p:spPr>
          <a:xfrm>
            <a:off x="2051720" y="2319722"/>
            <a:ext cx="5292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至少指定一位但至多两位数字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D024A9-444B-F636-DA79-08C00FFEE94B}"/>
              </a:ext>
            </a:extLst>
          </p:cNvPr>
          <p:cNvSpPr txBox="1"/>
          <p:nvPr/>
        </p:nvSpPr>
        <p:spPr>
          <a:xfrm>
            <a:off x="2051720" y="2715766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匹配 </a:t>
            </a:r>
            <a:r>
              <a:rPr lang="en-US" altLang="zh-CN" dirty="0"/>
              <a:t>1~99 </a:t>
            </a:r>
            <a:r>
              <a:rPr lang="zh-CN" altLang="en-US" dirty="0"/>
              <a:t>的正整数表达式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E9E598-9923-4329-0673-E42AACB77976}"/>
              </a:ext>
            </a:extLst>
          </p:cNvPr>
          <p:cNvSpPr txBox="1"/>
          <p:nvPr/>
        </p:nvSpPr>
        <p:spPr>
          <a:xfrm>
            <a:off x="467544" y="3195938"/>
            <a:ext cx="7607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  <a:t>匹配时，冲突解决规则： </a:t>
            </a:r>
            <a:b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</a:b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  <a:t>） 总是选择最长的前缀 </a:t>
            </a:r>
            <a:b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</a:b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  <a:t>） 如果最长的可能前缀与多个模式匹配，总是选择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  <a:t>Lex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  <a:t>中先被列出的模式。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92261F-8695-535F-6F3D-CD41143637C1}"/>
              </a:ext>
            </a:extLst>
          </p:cNvPr>
          <p:cNvSpPr txBox="1"/>
          <p:nvPr/>
        </p:nvSpPr>
        <p:spPr>
          <a:xfrm>
            <a:off x="432048" y="27157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</a:rPr>
              <a:t>[1-9][0-9]?     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382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8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idx="1"/>
          </p:nvPr>
        </p:nvSpPr>
        <p:spPr>
          <a:xfrm>
            <a:off x="303766" y="671372"/>
            <a:ext cx="4123592" cy="390482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LEX</a:t>
            </a:r>
            <a:r>
              <a:rPr lang="zh-CN" altLang="en-US" sz="2800" dirty="0"/>
              <a:t>的工作过程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sz="2200" dirty="0"/>
              <a:t>对每条识别规则</a:t>
            </a:r>
            <a:r>
              <a:rPr lang="en-US" altLang="zh-CN" sz="2200" dirty="0"/>
              <a:t>P</a:t>
            </a:r>
            <a:r>
              <a:rPr lang="en-US" altLang="zh-CN" sz="2200" baseline="-25000" dirty="0"/>
              <a:t>i</a:t>
            </a:r>
            <a:r>
              <a:rPr lang="zh-CN" altLang="en-US" sz="2200" dirty="0"/>
              <a:t>构造一个相应的非确定有穷自动机</a:t>
            </a:r>
            <a:r>
              <a:rPr lang="en-US" altLang="zh-CN" sz="2200" dirty="0" err="1"/>
              <a:t>M</a:t>
            </a:r>
            <a:r>
              <a:rPr lang="en-US" altLang="zh-CN" sz="2200" baseline="-25000" dirty="0" err="1"/>
              <a:t>i</a:t>
            </a:r>
            <a:r>
              <a:rPr lang="zh-CN" altLang="en-US" sz="2200" dirty="0"/>
              <a:t>；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sz="2200" dirty="0"/>
              <a:t>引进一个新初态</a:t>
            </a:r>
            <a:r>
              <a:rPr lang="en-US" altLang="zh-CN" sz="2200" dirty="0"/>
              <a:t>X</a:t>
            </a:r>
            <a:r>
              <a:rPr lang="zh-CN" altLang="en-US" sz="2200" dirty="0"/>
              <a:t>，通过</a:t>
            </a:r>
            <a:r>
              <a:rPr lang="zh-CN" altLang="en-US" sz="2200" dirty="0">
                <a:sym typeface="Symbol" panose="05050102010706020507" pitchFamily="18" charset="2"/>
              </a:rPr>
              <a:t></a:t>
            </a:r>
            <a:r>
              <a:rPr lang="zh-CN" altLang="en-US" sz="2200" dirty="0"/>
              <a:t>弧，将这些自动机连接成一个新的</a:t>
            </a:r>
            <a:r>
              <a:rPr lang="en-US" altLang="zh-CN" sz="2200" dirty="0"/>
              <a:t>NFA M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 lvl="1">
              <a:spcBef>
                <a:spcPct val="40000"/>
              </a:spcBef>
            </a:pPr>
            <a:r>
              <a:rPr lang="zh-CN" altLang="en-US" sz="2200" dirty="0"/>
              <a:t>把</a:t>
            </a:r>
            <a:r>
              <a:rPr lang="en-US" altLang="zh-CN" sz="2200" dirty="0"/>
              <a:t>M</a:t>
            </a:r>
            <a:r>
              <a:rPr lang="zh-CN" altLang="en-US" sz="2200" dirty="0"/>
              <a:t>确定化、最小化，生成该</a:t>
            </a:r>
            <a:r>
              <a:rPr lang="en-US" altLang="zh-CN" sz="2200" dirty="0"/>
              <a:t>DFA</a:t>
            </a:r>
            <a:r>
              <a:rPr lang="zh-CN" altLang="en-US" sz="2200" dirty="0"/>
              <a:t>的状态转换表和控制执行程序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932040" y="1497430"/>
            <a:ext cx="783551" cy="1070582"/>
            <a:chOff x="7098401" y="600183"/>
            <a:chExt cx="1392978" cy="1903256"/>
          </a:xfrm>
        </p:grpSpPr>
        <p:sp>
          <p:nvSpPr>
            <p:cNvPr id="20" name="Oval 4"/>
            <p:cNvSpPr>
              <a:spLocks noChangeArrowheads="1"/>
            </p:cNvSpPr>
            <p:nvPr/>
          </p:nvSpPr>
          <p:spPr bwMode="auto">
            <a:xfrm>
              <a:off x="7098401" y="1238632"/>
              <a:ext cx="463117" cy="40628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 dirty="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7620767" y="1122551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 flipV="1">
              <a:off x="7504686" y="600183"/>
              <a:ext cx="986693" cy="696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7562726" y="1470796"/>
              <a:ext cx="8706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7498641" y="1601388"/>
              <a:ext cx="958882" cy="9020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33" name="Rectangle 22"/>
            <p:cNvSpPr>
              <a:spLocks noChangeArrowheads="1"/>
            </p:cNvSpPr>
            <p:nvPr/>
          </p:nvSpPr>
          <p:spPr bwMode="auto">
            <a:xfrm>
              <a:off x="7620767" y="600183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 dirty="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4" name="Rectangle 23"/>
            <p:cNvSpPr>
              <a:spLocks noChangeArrowheads="1"/>
            </p:cNvSpPr>
            <p:nvPr/>
          </p:nvSpPr>
          <p:spPr bwMode="auto">
            <a:xfrm>
              <a:off x="7420043" y="1787602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82943" y="1791262"/>
            <a:ext cx="1958196" cy="326480"/>
            <a:chOff x="8433339" y="1122551"/>
            <a:chExt cx="3481237" cy="580408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8433339" y="1238632"/>
              <a:ext cx="463117" cy="40628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endParaRPr kumimoji="1" lang="en-GB" altLang="zh-CN" sz="135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25" name="Oval 12"/>
            <p:cNvSpPr>
              <a:spLocks noChangeArrowheads="1"/>
            </p:cNvSpPr>
            <p:nvPr/>
          </p:nvSpPr>
          <p:spPr bwMode="auto">
            <a:xfrm>
              <a:off x="11451459" y="1238632"/>
              <a:ext cx="463117" cy="406286"/>
            </a:xfrm>
            <a:prstGeom prst="ellipse">
              <a:avLst/>
            </a:prstGeom>
            <a:noFill/>
            <a:ln w="5715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 dirty="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P</a:t>
              </a:r>
              <a:r>
                <a:rPr kumimoji="1" lang="en-US" altLang="zh-CN" sz="1350" baseline="-25000" dirty="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2</a:t>
              </a:r>
              <a:endParaRPr kumimoji="1" lang="en-US" altLang="zh-CN" sz="135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>
              <a:off x="8897664" y="1470796"/>
              <a:ext cx="8125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10522806" y="1470796"/>
              <a:ext cx="9286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38" name="Rectangle 29"/>
            <p:cNvSpPr>
              <a:spLocks noChangeArrowheads="1"/>
            </p:cNvSpPr>
            <p:nvPr/>
          </p:nvSpPr>
          <p:spPr bwMode="auto">
            <a:xfrm>
              <a:off x="9710235" y="1122551"/>
              <a:ext cx="812571" cy="5804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0625" tIns="26325" rIns="50625" bIns="26325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M</a:t>
              </a:r>
              <a:r>
                <a:rPr kumimoji="1" lang="en-US" altLang="zh-CN" sz="1350" baseline="-2500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2</a:t>
              </a:r>
              <a:endParaRPr kumimoji="1" lang="en-US" altLang="zh-CN" sz="135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82943" y="1203598"/>
            <a:ext cx="1958196" cy="326480"/>
            <a:chOff x="8433339" y="77816"/>
            <a:chExt cx="3481237" cy="580408"/>
          </a:xfrm>
        </p:grpSpPr>
        <p:sp>
          <p:nvSpPr>
            <p:cNvPr id="24" name="Oval 10"/>
            <p:cNvSpPr>
              <a:spLocks noChangeArrowheads="1"/>
            </p:cNvSpPr>
            <p:nvPr/>
          </p:nvSpPr>
          <p:spPr bwMode="auto">
            <a:xfrm>
              <a:off x="8433339" y="251938"/>
              <a:ext cx="463117" cy="40628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endParaRPr kumimoji="1" lang="en-GB" altLang="zh-CN" sz="135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8897664" y="426061"/>
              <a:ext cx="8125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9710235" y="77816"/>
              <a:ext cx="812571" cy="5804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0625" tIns="26325" rIns="50625" bIns="26325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M</a:t>
              </a:r>
              <a:r>
                <a:rPr kumimoji="1" lang="en-US" altLang="zh-CN" sz="1350" baseline="-2500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1</a:t>
              </a:r>
              <a:endParaRPr kumimoji="1" lang="en-US" altLang="zh-CN" sz="135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39" name="Oval 32"/>
            <p:cNvSpPr>
              <a:spLocks noChangeArrowheads="1"/>
            </p:cNvSpPr>
            <p:nvPr/>
          </p:nvSpPr>
          <p:spPr bwMode="auto">
            <a:xfrm>
              <a:off x="11451459" y="193898"/>
              <a:ext cx="463117" cy="406286"/>
            </a:xfrm>
            <a:prstGeom prst="ellipse">
              <a:avLst/>
            </a:prstGeom>
            <a:noFill/>
            <a:ln w="5715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P</a:t>
              </a:r>
              <a:r>
                <a:rPr kumimoji="1" lang="en-US" altLang="zh-CN" sz="1350" baseline="-2500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1</a:t>
              </a:r>
              <a:endParaRPr kumimoji="1" lang="en-US" altLang="zh-CN" sz="135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40" name="Line 33"/>
            <p:cNvSpPr>
              <a:spLocks noChangeShapeType="1"/>
            </p:cNvSpPr>
            <p:nvPr/>
          </p:nvSpPr>
          <p:spPr bwMode="auto">
            <a:xfrm>
              <a:off x="10522806" y="426061"/>
              <a:ext cx="9286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682943" y="2476869"/>
            <a:ext cx="1972479" cy="326480"/>
            <a:chOff x="8433339" y="2341408"/>
            <a:chExt cx="3506629" cy="580408"/>
          </a:xfrm>
        </p:grpSpPr>
        <p:sp>
          <p:nvSpPr>
            <p:cNvPr id="23" name="Oval 9"/>
            <p:cNvSpPr>
              <a:spLocks noChangeArrowheads="1"/>
            </p:cNvSpPr>
            <p:nvPr/>
          </p:nvSpPr>
          <p:spPr bwMode="auto">
            <a:xfrm>
              <a:off x="8433339" y="2399449"/>
              <a:ext cx="463117" cy="40628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endParaRPr kumimoji="1" lang="en-GB" altLang="zh-CN" sz="135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8897664" y="2631612"/>
              <a:ext cx="817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37" name="Rectangle 28"/>
            <p:cNvSpPr>
              <a:spLocks noChangeArrowheads="1"/>
            </p:cNvSpPr>
            <p:nvPr/>
          </p:nvSpPr>
          <p:spPr bwMode="auto">
            <a:xfrm>
              <a:off x="9710235" y="2341408"/>
              <a:ext cx="812571" cy="5804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0625" tIns="26325" rIns="50625" bIns="26325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M</a:t>
              </a:r>
              <a:r>
                <a:rPr kumimoji="1" lang="en-US" altLang="zh-CN" sz="1350" baseline="-2500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m</a:t>
              </a:r>
              <a:endParaRPr kumimoji="1" lang="en-US" altLang="zh-CN" sz="135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41" name="Oval 34"/>
            <p:cNvSpPr>
              <a:spLocks noChangeArrowheads="1"/>
            </p:cNvSpPr>
            <p:nvPr/>
          </p:nvSpPr>
          <p:spPr bwMode="auto">
            <a:xfrm>
              <a:off x="11476851" y="2399449"/>
              <a:ext cx="463117" cy="406286"/>
            </a:xfrm>
            <a:prstGeom prst="ellipse">
              <a:avLst/>
            </a:prstGeom>
            <a:noFill/>
            <a:ln w="5715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 dirty="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P</a:t>
              </a:r>
              <a:r>
                <a:rPr kumimoji="1" lang="en-US" altLang="zh-CN" sz="1350" baseline="-25000" dirty="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</a:rPr>
                <a:t>m</a:t>
              </a:r>
              <a:endParaRPr kumimoji="1" lang="en-US" altLang="zh-CN" sz="1350" dirty="0">
                <a:solidFill>
                  <a:prstClr val="black"/>
                </a:solidFill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42" name="Line 35"/>
            <p:cNvSpPr>
              <a:spLocks noChangeShapeType="1"/>
            </p:cNvSpPr>
            <p:nvPr/>
          </p:nvSpPr>
          <p:spPr bwMode="auto">
            <a:xfrm>
              <a:off x="10548199" y="2631612"/>
              <a:ext cx="9286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617647" y="2150390"/>
            <a:ext cx="2056820" cy="261184"/>
            <a:chOff x="8317256" y="1761000"/>
            <a:chExt cx="3656569" cy="464326"/>
          </a:xfrm>
        </p:grpSpPr>
        <p:sp>
          <p:nvSpPr>
            <p:cNvPr id="35" name="Rectangle 24"/>
            <p:cNvSpPr>
              <a:spLocks noChangeArrowheads="1"/>
            </p:cNvSpPr>
            <p:nvPr/>
          </p:nvSpPr>
          <p:spPr bwMode="auto">
            <a:xfrm>
              <a:off x="8317256" y="1819040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 dirty="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43" name="Rectangle 36"/>
            <p:cNvSpPr>
              <a:spLocks noChangeArrowheads="1"/>
            </p:cNvSpPr>
            <p:nvPr/>
          </p:nvSpPr>
          <p:spPr bwMode="auto">
            <a:xfrm>
              <a:off x="11335377" y="1761000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 dirty="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44" name="Rectangle 37"/>
            <p:cNvSpPr>
              <a:spLocks noChangeArrowheads="1"/>
            </p:cNvSpPr>
            <p:nvPr/>
          </p:nvSpPr>
          <p:spPr bwMode="auto">
            <a:xfrm>
              <a:off x="9884357" y="1819040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defTabSz="3429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1350">
                  <a:solidFill>
                    <a:prstClr val="black"/>
                  </a:solidFill>
                  <a:latin typeface="Arial" panose="020B0604020202020204"/>
                  <a:ea typeface="宋体" panose="02010600030101010101" pitchFamily="2" charset="-122"/>
                  <a:sym typeface="Symbol" panose="05050102010706020507" pitchFamily="18" charset="2"/>
                </a:rPr>
                <a:t>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37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65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uild="p" bldLvl="2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95486"/>
            <a:ext cx="8748464" cy="45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600" dirty="0"/>
              <a:t>由</a:t>
            </a:r>
            <a:r>
              <a:rPr lang="en-US" altLang="zh-CN" sz="2600" dirty="0" err="1"/>
              <a:t>lex</a:t>
            </a:r>
            <a:r>
              <a:rPr lang="zh-CN" altLang="en-US" sz="2600" dirty="0"/>
              <a:t>创建的词法分析器按如下方式工作：</a:t>
            </a:r>
            <a:endParaRPr lang="en-US" altLang="zh-CN" sz="2600" dirty="0"/>
          </a:p>
          <a:p>
            <a:pPr>
              <a:lnSpc>
                <a:spcPct val="160000"/>
              </a:lnSpc>
            </a:pPr>
            <a:r>
              <a:rPr lang="zh-CN" altLang="en-US" dirty="0"/>
              <a:t>词法分析器自左至右读入字符串，直至发现一个最长的与某个</a:t>
            </a:r>
            <a:r>
              <a:rPr lang="zh-CN" altLang="en-US" dirty="0">
                <a:solidFill>
                  <a:srgbClr val="FF0000"/>
                </a:solidFill>
              </a:rPr>
              <a:t>模式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匹配的前缀，则执行相关的动作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</a:rPr>
              <a:t>i</a:t>
            </a:r>
            <a:r>
              <a:rPr lang="zh-CN" altLang="en-US" dirty="0"/>
              <a:t>，通常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zh-CN" altLang="en-US" dirty="0"/>
              <a:t>会将控制返回给语法分析器（除空白或注释外）。同时，词法分析器返回一个值，即种别码，但在需要时可以利用</a:t>
            </a:r>
            <a:r>
              <a:rPr lang="zh-CN" altLang="en-US" dirty="0">
                <a:solidFill>
                  <a:srgbClr val="FF0000"/>
                </a:solidFill>
              </a:rPr>
              <a:t>整型</a:t>
            </a:r>
            <a:r>
              <a:rPr lang="en-US" altLang="zh-CN" dirty="0" err="1">
                <a:solidFill>
                  <a:srgbClr val="FF0000"/>
                </a:solidFill>
              </a:rPr>
              <a:t>yylval</a:t>
            </a:r>
            <a:r>
              <a:rPr lang="zh-CN" altLang="en-US" dirty="0"/>
              <a:t>传递这个</a:t>
            </a:r>
            <a:r>
              <a:rPr lang="zh-CN" altLang="en-US" dirty="0">
                <a:solidFill>
                  <a:srgbClr val="FF0000"/>
                </a:solidFill>
              </a:rPr>
              <a:t>词素</a:t>
            </a:r>
            <a:r>
              <a:rPr lang="zh-CN" altLang="en-US" dirty="0"/>
              <a:t>的附加信息。</a:t>
            </a:r>
            <a:endParaRPr lang="en-US" altLang="zh-CN" dirty="0"/>
          </a:p>
          <a:p>
            <a:pPr>
              <a:lnSpc>
                <a:spcPct val="16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蓝书</a:t>
            </a:r>
            <a:r>
              <a:rPr lang="en-US" altLang="zh-CN" dirty="0">
                <a:solidFill>
                  <a:srgbClr val="0000FF"/>
                </a:solidFill>
              </a:rPr>
              <a:t>P87-88 </a:t>
            </a: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3.11</a:t>
            </a:r>
            <a:r>
              <a:rPr lang="zh-CN" altLang="en-US" dirty="0">
                <a:solidFill>
                  <a:srgbClr val="0000FF"/>
                </a:solidFill>
              </a:rPr>
              <a:t>的图</a:t>
            </a:r>
            <a:r>
              <a:rPr lang="en-US" altLang="zh-CN" dirty="0">
                <a:solidFill>
                  <a:srgbClr val="0000FF"/>
                </a:solidFill>
              </a:rPr>
              <a:t>3-20</a:t>
            </a:r>
            <a:r>
              <a:rPr lang="en-US" altLang="zh-CN" dirty="0"/>
              <a:t>/ </a:t>
            </a:r>
            <a:r>
              <a:rPr lang="zh-CN" altLang="en-US" dirty="0"/>
              <a:t>电子书</a:t>
            </a:r>
            <a:r>
              <a:rPr lang="en-US" altLang="zh-CN" dirty="0"/>
              <a:t>P89-91</a:t>
            </a:r>
            <a:r>
              <a:rPr lang="zh-CN" altLang="en-US" dirty="0"/>
              <a:t>例</a:t>
            </a:r>
            <a:r>
              <a:rPr lang="en-US" altLang="zh-CN" dirty="0"/>
              <a:t>3.11</a:t>
            </a:r>
            <a:r>
              <a:rPr lang="zh-CN" altLang="en-US" dirty="0"/>
              <a:t>的图</a:t>
            </a:r>
            <a:r>
              <a:rPr lang="en-US" altLang="zh-CN" dirty="0"/>
              <a:t>3-23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38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57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源程序的写法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23528" y="987574"/>
            <a:ext cx="8226623" cy="3312368"/>
          </a:xfrm>
        </p:spPr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 err="1"/>
              <a:t>lex</a:t>
            </a:r>
            <a:r>
              <a:rPr lang="zh-CN" altLang="en-US" dirty="0"/>
              <a:t>更进一步的知识及例子：</a:t>
            </a:r>
            <a:r>
              <a:rPr lang="en-US" altLang="zh-CN" dirty="0">
                <a:hlinkClick r:id="rId3"/>
              </a:rPr>
              <a:t>https://blog.csdn.net/wp1603710463/article/details/50365495</a:t>
            </a:r>
            <a:endParaRPr lang="en-US" altLang="zh-CN" dirty="0"/>
          </a:p>
          <a:p>
            <a:r>
              <a:rPr lang="zh-CN" altLang="en-US" dirty="0"/>
              <a:t>关于正则式的书写：</a:t>
            </a:r>
            <a:r>
              <a:rPr lang="en-US" altLang="zh-CN" dirty="0"/>
              <a:t> </a:t>
            </a:r>
            <a:r>
              <a:rPr lang="en-US" altLang="zh-CN" dirty="0">
                <a:hlinkClick r:id="rId4"/>
              </a:rPr>
              <a:t>https://www.runoob.com/regexp/regexp-syntax.html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>
              <a:effectLst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06487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560" y="987574"/>
            <a:ext cx="8064896" cy="3225800"/>
          </a:xfrm>
        </p:spPr>
        <p:txBody>
          <a:bodyPr/>
          <a:lstStyle/>
          <a:p>
            <a:pPr latinLnBrk="1">
              <a:buFont typeface="Wingdings" panose="05000000000000000000" pitchFamily="2" charset="2"/>
              <a:buChar char="Ø"/>
            </a:pPr>
            <a:r>
              <a:rPr lang="en-US" altLang="zh-CN" b="1" dirty="0"/>
              <a:t>【</a:t>
            </a:r>
            <a:r>
              <a:rPr lang="zh-CN" altLang="en-US" b="1" dirty="0"/>
              <a:t>编译原理</a:t>
            </a:r>
            <a:r>
              <a:rPr lang="en-US" altLang="zh-CN" b="1" dirty="0"/>
              <a:t>】</a:t>
            </a:r>
            <a:r>
              <a:rPr lang="zh-CN" altLang="en-US" b="1" dirty="0"/>
              <a:t>下载安装</a:t>
            </a:r>
            <a:r>
              <a:rPr lang="en-US" altLang="zh-CN" b="1" dirty="0" err="1"/>
              <a:t>win_flex</a:t>
            </a:r>
            <a:r>
              <a:rPr lang="zh-CN" altLang="en-US" b="1" dirty="0"/>
              <a:t>，实现词法分析器</a:t>
            </a:r>
            <a:endParaRPr lang="en-US" altLang="zh-CN" b="1" dirty="0"/>
          </a:p>
          <a:p>
            <a:pPr latinLnBrk="1"/>
            <a:endParaRPr lang="en-US" altLang="zh-CN" b="1" dirty="0"/>
          </a:p>
          <a:p>
            <a:pPr latinLnBrk="1"/>
            <a:endParaRPr lang="en-US" altLang="zh-C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用</a:t>
            </a:r>
            <a:r>
              <a:rPr lang="en-US" altLang="zh-CN" dirty="0" err="1"/>
              <a:t>gcc</a:t>
            </a:r>
            <a:r>
              <a:rPr lang="zh-CN" altLang="en-US" dirty="0"/>
              <a:t>编译器编译</a:t>
            </a:r>
            <a:r>
              <a:rPr lang="en-US" altLang="zh-CN" dirty="0" err="1"/>
              <a:t>lex</a:t>
            </a:r>
            <a:r>
              <a:rPr lang="zh-CN" altLang="en-US" dirty="0"/>
              <a:t>编译器生成的</a:t>
            </a:r>
            <a:r>
              <a:rPr lang="en-US" altLang="zh-CN" dirty="0"/>
              <a:t>c</a:t>
            </a:r>
            <a:r>
              <a:rPr lang="zh-CN" altLang="en-US" dirty="0"/>
              <a:t>源程序</a:t>
            </a:r>
            <a:endParaRPr lang="en-US" altLang="zh-CN" dirty="0"/>
          </a:p>
          <a:p>
            <a:pPr marL="0" indent="0">
              <a:buNone/>
            </a:pPr>
            <a:r>
              <a:rPr lang="pt-BR" altLang="zh-CN" dirty="0"/>
              <a:t>    gcc [-o outfile] lex.yy.c –lfl</a:t>
            </a:r>
          </a:p>
          <a:p>
            <a:pPr marL="0" indent="0">
              <a:buNone/>
            </a:pPr>
            <a:r>
              <a:rPr lang="pt-BR" altLang="zh-CN" dirty="0"/>
              <a:t>    </a:t>
            </a:r>
            <a:r>
              <a:rPr lang="zh-CN" altLang="en-US" dirty="0"/>
              <a:t>其中，</a:t>
            </a:r>
            <a:r>
              <a:rPr lang="en-US" altLang="zh-CN" dirty="0"/>
              <a:t>-</a:t>
            </a:r>
            <a:r>
              <a:rPr lang="en-US" altLang="zh-CN" dirty="0" err="1"/>
              <a:t>lfl</a:t>
            </a:r>
            <a:r>
              <a:rPr lang="zh-CN" altLang="en-US" dirty="0"/>
              <a:t>是链接</a:t>
            </a:r>
            <a:r>
              <a:rPr lang="en-US" altLang="zh-CN" dirty="0"/>
              <a:t>flex</a:t>
            </a:r>
            <a:r>
              <a:rPr lang="zh-CN" altLang="en-US" dirty="0"/>
              <a:t>的库函数的。</a:t>
            </a:r>
            <a:r>
              <a:rPr lang="en-US" altLang="zh-CN" dirty="0"/>
              <a:t>-o </a:t>
            </a:r>
            <a:r>
              <a:rPr lang="en-US" altLang="zh-CN" dirty="0" err="1"/>
              <a:t>outfile</a:t>
            </a:r>
            <a:r>
              <a:rPr lang="zh-CN" altLang="en-US" dirty="0"/>
              <a:t>是可选编译选项，默认生成</a:t>
            </a:r>
            <a:r>
              <a:rPr lang="en-US" altLang="zh-CN" dirty="0"/>
              <a:t>a.exe.</a:t>
            </a:r>
          </a:p>
          <a:p>
            <a:pPr marL="0" indent="0">
              <a:buNone/>
            </a:pPr>
            <a:r>
              <a:rPr lang="zh-CN" altLang="en-US" dirty="0"/>
              <a:t>前提：安装好</a:t>
            </a:r>
            <a:r>
              <a:rPr lang="en-US" altLang="zh-CN" dirty="0" err="1"/>
              <a:t>gcc</a:t>
            </a:r>
            <a:r>
              <a:rPr lang="en-US" altLang="zh-CN" dirty="0"/>
              <a:t>, https://www.cnblogs.com/raina/p/10656106.html</a:t>
            </a:r>
          </a:p>
          <a:p>
            <a:pPr marL="0" indent="0" latinLnBrk="1">
              <a:buNone/>
            </a:pP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043608" y="1563638"/>
            <a:ext cx="7776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https://blog.csdn.net/chaifang0620/article/details/103124090</a:t>
            </a:r>
            <a:endParaRPr lang="zh-CN" alt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67494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3.10 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词法分析器自动生成工具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3528" y="62626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方法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5592200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9401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3.10 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词法分析器自动生成工具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82997" y="1428453"/>
            <a:ext cx="8676456" cy="3225800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、首先先下载</a:t>
            </a:r>
            <a:r>
              <a:rPr lang="en-US" altLang="zh-CN" dirty="0"/>
              <a:t>flex/bison for windows</a:t>
            </a:r>
          </a:p>
          <a:p>
            <a:pPr marL="0" indent="0">
              <a:buNone/>
            </a:pPr>
            <a:r>
              <a:rPr lang="en-US" altLang="zh-CN" dirty="0"/>
              <a:t>	flex</a:t>
            </a:r>
            <a:r>
              <a:rPr lang="zh-CN" altLang="en-US" dirty="0"/>
              <a:t>：</a:t>
            </a:r>
            <a:r>
              <a:rPr lang="en-US" altLang="zh-CN" dirty="0">
                <a:hlinkClick r:id="rId3"/>
              </a:rPr>
              <a:t>http://gnuwin32.sourceforge.net/packages/flex.htm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bison</a:t>
            </a:r>
            <a:r>
              <a:rPr lang="zh-CN" altLang="en-US" dirty="0"/>
              <a:t>：</a:t>
            </a:r>
            <a:r>
              <a:rPr lang="en-US" altLang="zh-CN" dirty="0">
                <a:hlinkClick r:id="rId4"/>
              </a:rPr>
              <a:t>http://gnuwin32.sourceforge.net/packages/bison.htm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选择</a:t>
            </a:r>
            <a:r>
              <a:rPr lang="en-US" altLang="zh-CN" dirty="0"/>
              <a:t>complete package setup</a:t>
            </a:r>
            <a:r>
              <a:rPr lang="zh-CN" altLang="en-US" dirty="0"/>
              <a:t>版本。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、安装后为</a:t>
            </a:r>
            <a:r>
              <a:rPr lang="en-US" altLang="zh-CN" dirty="0"/>
              <a:t>bin</a:t>
            </a:r>
            <a:r>
              <a:rPr lang="zh-CN" altLang="en-US" dirty="0"/>
              <a:t>目录配置环境变量。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、在命令行中输入</a:t>
            </a:r>
            <a:r>
              <a:rPr lang="en-US" altLang="zh-CN" dirty="0"/>
              <a:t>flex --version</a:t>
            </a:r>
          </a:p>
          <a:p>
            <a:pPr marL="0" indent="0">
              <a:buNone/>
            </a:pPr>
            <a:r>
              <a:rPr lang="zh-CN" altLang="en-US" dirty="0"/>
              <a:t>    可得到版本号：</a:t>
            </a:r>
            <a:r>
              <a:rPr lang="en-US" altLang="zh-CN" dirty="0"/>
              <a:t>flex version 2.5.4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62206" y="819831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方法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669178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3.10 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词法分析器自动生成工具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82997" y="915566"/>
            <a:ext cx="8676456" cy="3225800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、编译源程序：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flex </a:t>
            </a:r>
            <a:r>
              <a:rPr lang="en-US" altLang="zh-CN" dirty="0" err="1"/>
              <a:t>filename.l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5</a:t>
            </a:r>
            <a:r>
              <a:rPr lang="zh-CN" altLang="en-US" dirty="0"/>
              <a:t>、用</a:t>
            </a:r>
            <a:r>
              <a:rPr lang="en-US" altLang="zh-CN" dirty="0" err="1"/>
              <a:t>gcc</a:t>
            </a:r>
            <a:r>
              <a:rPr lang="zh-CN" altLang="en-US" dirty="0"/>
              <a:t>编译器编译</a:t>
            </a:r>
            <a:r>
              <a:rPr lang="en-US" altLang="zh-CN" dirty="0" err="1"/>
              <a:t>lex</a:t>
            </a:r>
            <a:r>
              <a:rPr lang="zh-CN" altLang="en-US" dirty="0"/>
              <a:t>编译器生成的</a:t>
            </a:r>
            <a:r>
              <a:rPr lang="en-US" altLang="zh-CN" dirty="0"/>
              <a:t>c</a:t>
            </a:r>
            <a:r>
              <a:rPr lang="zh-CN" altLang="en-US" dirty="0"/>
              <a:t>源程序</a:t>
            </a:r>
            <a:endParaRPr lang="en-US" altLang="zh-CN" dirty="0"/>
          </a:p>
          <a:p>
            <a:pPr marL="0" indent="0">
              <a:buNone/>
            </a:pPr>
            <a:r>
              <a:rPr lang="pt-BR" altLang="zh-CN" dirty="0"/>
              <a:t>    gcc [-o outfile] lex.yy.c –lfl</a:t>
            </a:r>
          </a:p>
          <a:p>
            <a:pPr marL="0" indent="0">
              <a:buNone/>
            </a:pPr>
            <a:r>
              <a:rPr lang="pt-BR" altLang="zh-CN" dirty="0"/>
              <a:t>    </a:t>
            </a:r>
            <a:r>
              <a:rPr lang="zh-CN" altLang="en-US" dirty="0"/>
              <a:t>其中，</a:t>
            </a:r>
            <a:r>
              <a:rPr lang="en-US" altLang="zh-CN" dirty="0"/>
              <a:t>-</a:t>
            </a:r>
            <a:r>
              <a:rPr lang="en-US" altLang="zh-CN" dirty="0" err="1"/>
              <a:t>lfl</a:t>
            </a:r>
            <a:r>
              <a:rPr lang="zh-CN" altLang="en-US" dirty="0"/>
              <a:t>是链接</a:t>
            </a:r>
            <a:r>
              <a:rPr lang="en-US" altLang="zh-CN" dirty="0"/>
              <a:t>flex</a:t>
            </a:r>
            <a:r>
              <a:rPr lang="zh-CN" altLang="en-US" dirty="0"/>
              <a:t>的库函数的。</a:t>
            </a:r>
            <a:r>
              <a:rPr lang="en-US" altLang="zh-CN" dirty="0"/>
              <a:t>-o </a:t>
            </a:r>
            <a:r>
              <a:rPr lang="en-US" altLang="zh-CN" dirty="0" err="1"/>
              <a:t>outfile</a:t>
            </a:r>
            <a:r>
              <a:rPr lang="zh-CN" altLang="en-US" dirty="0"/>
              <a:t>是可选编译选项，默认生成</a:t>
            </a:r>
            <a:r>
              <a:rPr lang="en-US" altLang="zh-CN" dirty="0"/>
              <a:t>a.exe.</a:t>
            </a:r>
          </a:p>
          <a:p>
            <a:pPr marL="0" indent="0">
              <a:buNone/>
            </a:pPr>
            <a:r>
              <a:rPr lang="zh-CN" altLang="en-US" dirty="0"/>
              <a:t>前提：安装好</a:t>
            </a:r>
            <a:r>
              <a:rPr lang="en-US" altLang="zh-CN" dirty="0" err="1"/>
              <a:t>gcc</a:t>
            </a:r>
            <a:r>
              <a:rPr lang="en-US" altLang="zh-CN" dirty="0"/>
              <a:t>, https://www.cnblogs.com/raina/p/10656106.html</a:t>
            </a:r>
          </a:p>
          <a:p>
            <a:pPr marL="0" indent="0">
              <a:buNone/>
            </a:pPr>
            <a:r>
              <a:rPr lang="en-US" altLang="zh-CN" dirty="0"/>
              <a:t>     6</a:t>
            </a:r>
            <a:r>
              <a:rPr lang="zh-CN" altLang="en-US" dirty="0"/>
              <a:t>、运行</a:t>
            </a:r>
            <a:r>
              <a:rPr lang="en-US" altLang="zh-CN" dirty="0"/>
              <a:t>a.exe</a:t>
            </a:r>
          </a:p>
          <a:p>
            <a:pPr marL="0" indent="0">
              <a:buNone/>
            </a:pPr>
            <a:r>
              <a:rPr lang="en-US" altLang="zh-CN" dirty="0"/>
              <a:t>     ./a.exe</a:t>
            </a:r>
            <a:r>
              <a:rPr lang="zh-CN" altLang="en-US" dirty="0"/>
              <a:t>   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288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179512" y="51470"/>
            <a:ext cx="7992888" cy="3960440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：编写一个</a:t>
            </a:r>
            <a:r>
              <a:rPr lang="en-US" altLang="zh-CN" dirty="0" err="1"/>
              <a:t>lex</a:t>
            </a:r>
            <a:r>
              <a:rPr lang="zh-CN" altLang="en-US" dirty="0"/>
              <a:t>程序，该程序拷贝一个文件，并将文件中的每个非空的空白符序列替换为单个空格。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920181"/>
            <a:ext cx="6552728" cy="4223319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39483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00119" y="1687116"/>
            <a:ext cx="8280920" cy="345638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[ \t]+  </a:t>
            </a:r>
            <a:r>
              <a:rPr lang="en-US" altLang="zh-CN" dirty="0">
                <a:solidFill>
                  <a:schemeClr val="tx1"/>
                </a:solidFill>
              </a:rPr>
              <a:t>{</a:t>
            </a:r>
            <a:r>
              <a:rPr lang="en-US" altLang="zh-CN" dirty="0" err="1">
                <a:solidFill>
                  <a:schemeClr val="tx1"/>
                </a:solidFill>
              </a:rPr>
              <a:t>printf</a:t>
            </a:r>
            <a:r>
              <a:rPr lang="en-US" altLang="zh-CN" dirty="0">
                <a:solidFill>
                  <a:schemeClr val="tx1"/>
                </a:solidFill>
              </a:rPr>
              <a:t>(“ ”);}</a:t>
            </a:r>
          </a:p>
          <a:p>
            <a:pPr marL="0" indent="0">
              <a:buClrTx/>
              <a:buNone/>
            </a:pPr>
            <a:r>
              <a:rPr lang="zh-CN" altLang="en-US" dirty="0">
                <a:solidFill>
                  <a:schemeClr val="tx1"/>
                </a:solidFill>
              </a:rPr>
              <a:t>表示遇到连续多个空格符（或制表符），则替换为一个空格符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\n|.    </a:t>
            </a:r>
            <a:r>
              <a:rPr lang="en-US" altLang="zh-CN" dirty="0">
                <a:solidFill>
                  <a:schemeClr val="tx1"/>
                </a:solidFill>
              </a:rPr>
              <a:t>{</a:t>
            </a:r>
            <a:r>
              <a:rPr lang="en-US" altLang="zh-CN" dirty="0" err="1">
                <a:solidFill>
                  <a:schemeClr val="tx1"/>
                </a:solidFill>
              </a:rPr>
              <a:t>printf</a:t>
            </a:r>
            <a:r>
              <a:rPr lang="en-US" altLang="zh-CN" dirty="0">
                <a:solidFill>
                  <a:schemeClr val="tx1"/>
                </a:solidFill>
              </a:rPr>
              <a:t>(“%s”,</a:t>
            </a:r>
            <a:r>
              <a:rPr lang="en-US" altLang="zh-CN" dirty="0" err="1">
                <a:solidFill>
                  <a:schemeClr val="tx1"/>
                </a:solidFill>
              </a:rPr>
              <a:t>yytext</a:t>
            </a:r>
            <a:r>
              <a:rPr lang="en-US" altLang="zh-CN" dirty="0">
                <a:solidFill>
                  <a:schemeClr val="tx1"/>
                </a:solidFill>
              </a:rPr>
              <a:t>);}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.</a:t>
            </a:r>
            <a:r>
              <a:rPr lang="zh-CN" altLang="en-US" dirty="0">
                <a:solidFill>
                  <a:schemeClr val="tx1"/>
                </a:solidFill>
              </a:rPr>
              <a:t>表示匹配除</a:t>
            </a:r>
            <a:r>
              <a:rPr lang="en-US" altLang="zh-CN" dirty="0">
                <a:solidFill>
                  <a:schemeClr val="tx1"/>
                </a:solidFill>
              </a:rPr>
              <a:t>\n</a:t>
            </a:r>
            <a:r>
              <a:rPr lang="zh-CN" altLang="en-US" dirty="0">
                <a:solidFill>
                  <a:schemeClr val="tx1"/>
                </a:solidFill>
              </a:rPr>
              <a:t>以外的所有字符（通常作为最后一个规则）， </a:t>
            </a:r>
            <a:r>
              <a:rPr lang="en-US" altLang="zh-CN" dirty="0" err="1">
                <a:solidFill>
                  <a:schemeClr val="tx1"/>
                </a:solidFill>
              </a:rPr>
              <a:t>yytext</a:t>
            </a:r>
            <a:r>
              <a:rPr lang="zh-CN" altLang="en-US" dirty="0">
                <a:solidFill>
                  <a:schemeClr val="tx1"/>
                </a:solidFill>
              </a:rPr>
              <a:t>总是指向当前获得匹配的字符串，这个规则表示其余的语句均照常打印出来。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27" y="411510"/>
            <a:ext cx="4383321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61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226228" y="2643758"/>
            <a:ext cx="8280920" cy="21602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accent3"/>
                </a:solidFill>
              </a:rPr>
              <a:t>//program section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#pragma</a:t>
            </a:r>
            <a:r>
              <a:rPr lang="zh-CN" altLang="en-US" dirty="0">
                <a:solidFill>
                  <a:schemeClr val="tx1"/>
                </a:solidFill>
              </a:rPr>
              <a:t> 包含特定的库文件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altLang="zh-CN" dirty="0" err="1">
                <a:solidFill>
                  <a:schemeClr val="tx1"/>
                </a:solidFill>
              </a:rPr>
              <a:t>stdin</a:t>
            </a:r>
            <a:r>
              <a:rPr lang="zh-CN" altLang="en-US" dirty="0">
                <a:solidFill>
                  <a:schemeClr val="tx1"/>
                </a:solidFill>
              </a:rPr>
              <a:t>为标准输入，</a:t>
            </a:r>
            <a:r>
              <a:rPr lang="en-US" altLang="zh-CN" dirty="0" err="1">
                <a:solidFill>
                  <a:schemeClr val="tx1"/>
                </a:solidFill>
              </a:rPr>
              <a:t>yyin</a:t>
            </a:r>
            <a:r>
              <a:rPr lang="zh-CN" altLang="en-US" dirty="0">
                <a:solidFill>
                  <a:schemeClr val="tx1"/>
                </a:solidFill>
              </a:rPr>
              <a:t>用于读取输入流，</a:t>
            </a:r>
            <a:r>
              <a:rPr lang="en-US" altLang="zh-CN" dirty="0" err="1">
                <a:solidFill>
                  <a:schemeClr val="tx1"/>
                </a:solidFill>
              </a:rPr>
              <a:t>yylex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函数表示开始对</a:t>
            </a:r>
            <a:r>
              <a:rPr lang="en-US" altLang="zh-CN" dirty="0" err="1">
                <a:solidFill>
                  <a:schemeClr val="tx1"/>
                </a:solidFill>
              </a:rPr>
              <a:t>yyin</a:t>
            </a:r>
            <a:r>
              <a:rPr lang="zh-CN" altLang="en-US" dirty="0">
                <a:solidFill>
                  <a:schemeClr val="tx1"/>
                </a:solidFill>
              </a:rPr>
              <a:t>中的符号进行词法分析。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02844"/>
            <a:ext cx="5040560" cy="202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878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23528" y="699542"/>
            <a:ext cx="7992888" cy="129614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读入文件：</a:t>
            </a: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89" y="332958"/>
            <a:ext cx="5968932" cy="1656184"/>
          </a:xfrm>
          <a:prstGeom prst="rect">
            <a:avLst/>
          </a:prstGeom>
        </p:spPr>
      </p:pic>
      <p:sp>
        <p:nvSpPr>
          <p:cNvPr id="5" name="内容占位符 15"/>
          <p:cNvSpPr txBox="1">
            <a:spLocks/>
          </p:cNvSpPr>
          <p:nvPr/>
        </p:nvSpPr>
        <p:spPr bwMode="auto">
          <a:xfrm>
            <a:off x="349028" y="2755849"/>
            <a:ext cx="7992888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chemeClr val="tx1"/>
                </a:solidFill>
              </a:rPr>
              <a:t>替换后结果：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28" y="3291830"/>
            <a:ext cx="8796986" cy="35187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49028" y="2258589"/>
            <a:ext cx="3773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</a:rPr>
              <a:t>编译后，运行 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</a:rPr>
              <a:t>./a.exe &lt; a.txt</a:t>
            </a:r>
          </a:p>
        </p:txBody>
      </p:sp>
    </p:spTree>
    <p:extLst>
      <p:ext uri="{BB962C8B-B14F-4D97-AF65-F5344CB8AC3E}">
        <p14:creationId xmlns:p14="http://schemas.microsoft.com/office/powerpoint/2010/main" val="36972137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11059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19EA8AD6-43E4-4EF7-8007-C91CD55344AB}" type="slidenum">
              <a:rPr lang="zh-CN" altLang="en-US" smtClean="0">
                <a:solidFill>
                  <a:srgbClr val="073E87"/>
                </a:solidFill>
              </a:rPr>
              <a:pPr/>
              <a:t>47</a:t>
            </a:fld>
            <a:endParaRPr lang="en-US" altLang="zh-CN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863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22386</TotalTime>
  <Words>3620</Words>
  <Application>Microsoft Office PowerPoint</Application>
  <PresentationFormat>全屏显示(16:9)</PresentationFormat>
  <Paragraphs>624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1" baseType="lpstr">
      <vt:lpstr>Monotype Sorts</vt:lpstr>
      <vt:lpstr>华文楷体</vt:lpstr>
      <vt:lpstr>楷体</vt:lpstr>
      <vt:lpstr>楷体_GB2312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波形</vt:lpstr>
      <vt:lpstr>1_波形</vt:lpstr>
      <vt:lpstr>内容回顾</vt:lpstr>
      <vt:lpstr>主要内容</vt:lpstr>
      <vt:lpstr>3.6 从NFA到DFA的转换</vt:lpstr>
      <vt:lpstr>例2：从带有ε-边的NFA到DFA的转换</vt:lpstr>
      <vt:lpstr>子集构造法（  subset construction）</vt:lpstr>
      <vt:lpstr> 例3.21：为正则表达式r=(a|b)*abb构造一个NFA，并转换为最小化的DFA</vt:lpstr>
      <vt:lpstr>PowerPoint 演示文稿</vt:lpstr>
      <vt:lpstr>PowerPoint 演示文稿</vt:lpstr>
      <vt:lpstr>计算 ε-closure (T )</vt:lpstr>
      <vt:lpstr>PowerPoint 演示文稿</vt:lpstr>
      <vt:lpstr>先复习书本：</vt:lpstr>
      <vt:lpstr>PowerPoint 演示文稿</vt:lpstr>
      <vt:lpstr>PowerPoint 演示文稿</vt:lpstr>
      <vt:lpstr>识别无符号数的DFA</vt:lpstr>
      <vt:lpstr>…</vt:lpstr>
      <vt:lpstr>识别各进制无符号整数的DFA</vt:lpstr>
      <vt:lpstr>识别注释的DFA</vt:lpstr>
      <vt:lpstr>识别Token的DFA</vt:lpstr>
      <vt:lpstr>词法分析阶段的错误处理</vt:lpstr>
      <vt:lpstr>错误分析</vt:lpstr>
      <vt:lpstr>错误恢复策略</vt:lpstr>
      <vt:lpstr>PowerPoint 演示文稿</vt:lpstr>
      <vt:lpstr>3.8 实验一：词法分析器的实现</vt:lpstr>
      <vt:lpstr>3.8 词法分析器的实现</vt:lpstr>
      <vt:lpstr>3.8 词法分析器的实现</vt:lpstr>
      <vt:lpstr>PowerPoint 演示文稿</vt:lpstr>
      <vt:lpstr>3.9 lex词法分析器自动生成工具</vt:lpstr>
      <vt:lpstr>词法分析器的自动产生--LEX</vt:lpstr>
      <vt:lpstr>lex源程序的写法   书P88 见图</vt:lpstr>
      <vt:lpstr>lex源程序的写法</vt:lpstr>
      <vt:lpstr>lex源程序的写法</vt:lpstr>
      <vt:lpstr>lex源程序的写法</vt:lpstr>
      <vt:lpstr>lex源程序的写法</vt:lpstr>
      <vt:lpstr>lex源程序中对于正则式的规定</vt:lpstr>
      <vt:lpstr>lex源程序的写法</vt:lpstr>
      <vt:lpstr>PowerPoint 演示文稿</vt:lpstr>
      <vt:lpstr>PowerPoint 演示文稿</vt:lpstr>
      <vt:lpstr>PowerPoint 演示文稿</vt:lpstr>
      <vt:lpstr>Lex源程序的写法</vt:lpstr>
      <vt:lpstr>3.10 Lex词法分析器自动生成工具</vt:lpstr>
      <vt:lpstr>3.10 Lex词法分析器自动生成工具</vt:lpstr>
      <vt:lpstr>3.10 Lex词法分析器自动生成工具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凌 妙根</cp:lastModifiedBy>
  <cp:revision>1440</cp:revision>
  <cp:lastPrinted>2017-09-13T06:25:29Z</cp:lastPrinted>
  <dcterms:created xsi:type="dcterms:W3CDTF">2003-07-09T14:46:46Z</dcterms:created>
  <dcterms:modified xsi:type="dcterms:W3CDTF">2025-09-21T16:34:33Z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