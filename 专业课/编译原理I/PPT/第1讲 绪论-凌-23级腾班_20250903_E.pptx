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6" r:id="rId3"/>
    <p:sldMasterId id="2147483670" r:id="rId4"/>
    <p:sldMasterId id="2147483673" r:id="rId5"/>
  </p:sldMasterIdLst>
  <p:notesMasterIdLst>
    <p:notesMasterId r:id="rId71"/>
  </p:notesMasterIdLst>
  <p:sldIdLst>
    <p:sldId id="1281" r:id="rId6"/>
    <p:sldId id="696" r:id="rId7"/>
    <p:sldId id="1282" r:id="rId8"/>
    <p:sldId id="699" r:id="rId9"/>
    <p:sldId id="655" r:id="rId10"/>
    <p:sldId id="657" r:id="rId11"/>
    <p:sldId id="597" r:id="rId12"/>
    <p:sldId id="1283" r:id="rId13"/>
    <p:sldId id="1284" r:id="rId14"/>
    <p:sldId id="659" r:id="rId15"/>
    <p:sldId id="1287" r:id="rId16"/>
    <p:sldId id="1290" r:id="rId17"/>
    <p:sldId id="1288" r:id="rId18"/>
    <p:sldId id="1285" r:id="rId19"/>
    <p:sldId id="1289" r:id="rId20"/>
    <p:sldId id="450" r:id="rId21"/>
    <p:sldId id="406" r:id="rId22"/>
    <p:sldId id="602" r:id="rId23"/>
    <p:sldId id="701" r:id="rId24"/>
    <p:sldId id="542" r:id="rId25"/>
    <p:sldId id="622" r:id="rId26"/>
    <p:sldId id="507" r:id="rId27"/>
    <p:sldId id="1291" r:id="rId28"/>
    <p:sldId id="511" r:id="rId29"/>
    <p:sldId id="679" r:id="rId30"/>
    <p:sldId id="688" r:id="rId31"/>
    <p:sldId id="513" r:id="rId32"/>
    <p:sldId id="566" r:id="rId33"/>
    <p:sldId id="681" r:id="rId34"/>
    <p:sldId id="572" r:id="rId35"/>
    <p:sldId id="625" r:id="rId36"/>
    <p:sldId id="691" r:id="rId37"/>
    <p:sldId id="627" r:id="rId38"/>
    <p:sldId id="687" r:id="rId39"/>
    <p:sldId id="692" r:id="rId40"/>
    <p:sldId id="683" r:id="rId41"/>
    <p:sldId id="579" r:id="rId42"/>
    <p:sldId id="580" r:id="rId43"/>
    <p:sldId id="581" r:id="rId44"/>
    <p:sldId id="582" r:id="rId45"/>
    <p:sldId id="690" r:id="rId46"/>
    <p:sldId id="612" r:id="rId47"/>
    <p:sldId id="611" r:id="rId48"/>
    <p:sldId id="693" r:id="rId49"/>
    <p:sldId id="698" r:id="rId50"/>
    <p:sldId id="819" r:id="rId51"/>
    <p:sldId id="807" r:id="rId52"/>
    <p:sldId id="626" r:id="rId53"/>
    <p:sldId id="713" r:id="rId54"/>
    <p:sldId id="715" r:id="rId55"/>
    <p:sldId id="780" r:id="rId56"/>
    <p:sldId id="781" r:id="rId57"/>
    <p:sldId id="737" r:id="rId58"/>
    <p:sldId id="629" r:id="rId59"/>
    <p:sldId id="738" r:id="rId60"/>
    <p:sldId id="820" r:id="rId61"/>
    <p:sldId id="709" r:id="rId62"/>
    <p:sldId id="669" r:id="rId63"/>
    <p:sldId id="710" r:id="rId64"/>
    <p:sldId id="741" r:id="rId65"/>
    <p:sldId id="821" r:id="rId66"/>
    <p:sldId id="705" r:id="rId67"/>
    <p:sldId id="638" r:id="rId68"/>
    <p:sldId id="822" r:id="rId69"/>
    <p:sldId id="720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0" autoAdjust="0"/>
    <p:restoredTop sz="60586" autoAdjust="0"/>
  </p:normalViewPr>
  <p:slideViewPr>
    <p:cSldViewPr snapToGrid="0">
      <p:cViewPr varScale="1">
        <p:scale>
          <a:sx n="60" d="100"/>
          <a:sy n="60" d="100"/>
        </p:scale>
        <p:origin x="72" y="19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BF5B8-1603-4254-8589-8E905813A105}" type="datetimeFigureOut">
              <a:rPr lang="zh-CN" altLang="en-US" smtClean="0"/>
              <a:t>2025-9-3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A42F45-1099-4A3D-9AC9-19C3477ABF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95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05B2ED-851D-418B-8FDE-29E1E5C36A6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331795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3F133A-7E3A-413E-964C-873A5BA34320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zh-CN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605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3F133A-7E3A-413E-964C-873A5BA34320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298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3F133A-7E3A-413E-964C-873A5BA34320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48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8585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3F133A-7E3A-413E-964C-873A5BA34320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30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3F133A-7E3A-413E-964C-873A5BA34320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267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2666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8028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598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2366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534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668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l">
              <a:buFont typeface="+mj-lt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5887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4887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5638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CEA3B-7E9D-4E82-A5EB-4D757B4EEAE9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4887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0547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23693-4CDF-48A0-BC30-60941A2A3AE6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823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0AE390-45C7-4B8F-A2C5-5E70510F9A67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8487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0AE390-45C7-4B8F-A2C5-5E70510F9A67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4887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869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855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154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5216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AC119F-C965-4607-AE9B-1048D84D090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5216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941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5216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AC119F-C965-4607-AE9B-1048D84D090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5216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709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2B01EE-BE0F-41AE-B034-DC3D56A24BF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0707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5354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060FE8-6131-4518-866E-DDCFB10BC222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3827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831DBE-FB91-469E-A4CB-4095D082C06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574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0557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7566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6099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6923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1529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2088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873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9750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15397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9005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248093-BC3A-480A-B4FF-423A595742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8854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05B2ED-851D-418B-8FDE-29E1E5C36A6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532331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4BFCB-17AC-4014-8281-10052BB5D1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+mn-cs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+mn-cs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4785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EDEFC7-A438-4A3A-BBC5-3B39BBBC3BA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7257021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F7C7F2-19D7-437C-893B-794A7286F0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33399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C65587-B9D6-4148-9F3A-DC4ABC6A9B9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6144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08A4DF-8E39-4656-95B2-CD1570011EE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42225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C9FF5-FD46-404B-B1A8-570A563DE1C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5013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CE102D-0896-4E03-80A5-B1751A05BC1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972794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4ED15C-C900-4A89-9513-A86FBD1BB4F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656262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024A7E-0662-413C-AF5F-EC4767FDB275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1007702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2EF440-3AB2-4333-A197-3267385F09E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8893883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97A0AE-2244-4414-ADBD-285729B47F5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52244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08213-757F-49B4-81B4-8E8A3436F00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99700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9C93F-9D0E-452B-B3D0-6C97AF939C8F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537017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01CFA7-CDD0-4B4D-8836-9A9257900D1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313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8E39F-66A6-4798-99C5-713FD327CEE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0286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D9CA3D-98F5-4D7F-93ED-878F1F80D2A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37879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B81E11-42C0-425E-BCD6-5BCC7911C42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640008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6F1B4-7512-47CE-8000-352621ECDD0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93760927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algn="just"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810DCE-1352-4785-95CF-7C0DCADE4BD7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3600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08D21B2-D0D6-4845-A1A0-BA3DC66252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72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6" y="356660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333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2491" y="174627"/>
            <a:ext cx="1549400" cy="364067"/>
          </a:xfrm>
        </p:spPr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8E372627-68BC-4EB1-8726-F8154202DB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783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81ABC3-7603-4C78-B3C4-AD83C1CB889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22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DB5C4-EDEC-409D-BB92-E8AE453AA2A4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0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937FFA1-77DC-4D74-B26F-01D26D607F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8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990FFD0-0BED-44F0-9B76-6C37317283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53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ED155-BEFC-4BE3-A05E-CDF72256ED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32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81517" y="5355167"/>
            <a:ext cx="11631083" cy="1329267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02900" y="430737"/>
            <a:ext cx="1549400" cy="364067"/>
          </a:xfrm>
        </p:spPr>
        <p:txBody>
          <a:bodyPr/>
          <a:lstStyle>
            <a:lvl1pPr>
              <a:defRPr sz="1867"/>
            </a:lvl1pPr>
          </a:lstStyle>
          <a:p>
            <a:pPr>
              <a:defRPr/>
            </a:pPr>
            <a:fld id="{ACDD623A-1F46-4698-9B6F-90E852E15C2B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685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8DCBB-9710-4F34-A660-9D49C0FF4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65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304801" y="228601"/>
            <a:ext cx="11595100" cy="6034617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81517" y="5353051"/>
            <a:ext cx="11631083" cy="1333500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3"/>
            <a:ext cx="10363200" cy="1780108"/>
          </a:xfrm>
        </p:spPr>
        <p:txBody>
          <a:bodyPr anchor="b">
            <a:norm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fld id="{26E0D89A-3119-4939-8CFF-5910486A91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319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24459" y="357403"/>
            <a:ext cx="1549400" cy="364067"/>
          </a:xfrm>
        </p:spPr>
        <p:txBody>
          <a:bodyPr/>
          <a:lstStyle>
            <a:lvl1pPr>
              <a:defRPr sz="1867">
                <a:ea typeface="楷体_GB2312"/>
              </a:defRPr>
            </a:lvl1pPr>
          </a:lstStyle>
          <a:p>
            <a:pPr>
              <a:defRPr/>
            </a:pPr>
            <a:fld id="{38A00C03-5752-4D33-BF8A-7610D6B58497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845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D22BD2A-7653-4CF3-8394-F62DAF445B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853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1942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6214" indent="-36194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38738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1846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7285" indent="-30267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22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21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418" indent="-304784" algn="l" defTabSz="121914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1"/>
            <a:ext cx="11594592" cy="187260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412778"/>
            <a:ext cx="11766441" cy="76808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9456" y="356659"/>
            <a:ext cx="10382944" cy="4800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4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92" y="6250164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4926" y="424986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EE61635-C8B6-452C-BD01-B454964319DE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7" y="1824470"/>
            <a:ext cx="7903428" cy="4301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06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5333" kern="1200" baseline="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51" indent="-365751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5751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4pPr>
      <a:lvl5pPr marL="1950671" indent="-304792" algn="l" defTabSz="121917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3AADCEED-38B0-40AC-BFF1-FA0B90C3E4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1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7154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1" y="228600"/>
            <a:ext cx="11595100" cy="1856317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/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81517" y="1316567"/>
            <a:ext cx="11631083" cy="863600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006" y="4498260"/>
              <a:ext cx="4295986" cy="1020358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08667" y="4317379"/>
              <a:ext cx="8279020" cy="1210514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4286" y="4335931"/>
              <a:ext cx="8165219" cy="1099202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5651" y="4317379"/>
              <a:ext cx="4940859" cy="927598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38667"/>
            <a:ext cx="10972800" cy="1253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333">
                <a:solidFill>
                  <a:schemeClr val="tx2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333">
                <a:solidFill>
                  <a:schemeClr val="tx2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89B9C80-838D-4169-9EB9-233F61721F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33" y="1797051"/>
            <a:ext cx="7969251" cy="432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906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1" y="228600"/>
            <a:ext cx="11595100" cy="18732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81518" y="1411817"/>
            <a:ext cx="11766549" cy="768349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2" y="357718"/>
            <a:ext cx="10382249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5518" y="6250517"/>
            <a:ext cx="5048249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233" y="6250517"/>
            <a:ext cx="5048251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300" y="6250517"/>
            <a:ext cx="1549400" cy="36406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333">
                <a:solidFill>
                  <a:srgbClr val="073E87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8C33DD6-913D-4EDD-AE9F-AC93814777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01" y="1824567"/>
            <a:ext cx="7903633" cy="430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069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333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333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4058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68331" indent="-36405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933" kern="1200">
          <a:solidFill>
            <a:schemeClr val="tx2"/>
          </a:solidFill>
          <a:latin typeface="+mn-lt"/>
          <a:ea typeface="+mn-ea"/>
          <a:cs typeface="+mn-cs"/>
        </a:defRPr>
      </a:lvl2pPr>
      <a:lvl3pPr marL="1140855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3pPr>
      <a:lvl4pPr marL="152396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667" kern="1200">
          <a:solidFill>
            <a:schemeClr val="tx2"/>
          </a:solidFill>
          <a:latin typeface="+mn-lt"/>
          <a:ea typeface="+mn-ea"/>
          <a:cs typeface="+mn-cs"/>
        </a:defRPr>
      </a:lvl4pPr>
      <a:lvl5pPr marL="1949402" indent="-304792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133" kern="1200">
          <a:solidFill>
            <a:schemeClr val="tx2"/>
          </a:solidFill>
          <a:latin typeface="+mn-lt"/>
          <a:ea typeface="+mn-ea"/>
          <a:cs typeface="+mn-cs"/>
        </a:defRPr>
      </a:lvl5pPr>
      <a:lvl6pPr marL="2377381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6pPr>
      <a:lvl7pPr marL="2804090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7pPr>
      <a:lvl8pPr marL="323079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8pPr>
      <a:lvl9pPr marL="3657509" indent="-304792" algn="l" defTabSz="1219170" rtl="0" eaLnBrk="1" latinLnBrk="0" hangingPunct="1">
        <a:spcBef>
          <a:spcPts val="512"/>
        </a:spcBef>
        <a:buClr>
          <a:schemeClr val="accent1"/>
        </a:buClr>
        <a:buFont typeface="Symbol" pitchFamily="18" charset="2"/>
        <a:buChar char="*"/>
        <a:defRPr sz="1867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9" y="-10795"/>
            <a:ext cx="11210459" cy="6879589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400257" y="2326312"/>
            <a:ext cx="5928783" cy="1253067"/>
          </a:xfrm>
          <a:prstGeom prst="rect">
            <a:avLst/>
          </a:prstGeom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endParaRPr lang="zh-CN" altLang="en-US" sz="4800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960097" y="4197085"/>
            <a:ext cx="5376889" cy="1253067"/>
          </a:xfrm>
          <a:prstGeom prst="rect">
            <a:avLst/>
          </a:prstGeom>
        </p:spPr>
        <p:txBody>
          <a:bodyPr anchor="ctr"/>
          <a:lstStyle/>
          <a:p>
            <a:pPr algn="ctr" defTabSz="121917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37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计算机学院</a:t>
            </a:r>
            <a:endParaRPr lang="en-US" altLang="zh-CN" sz="3733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defTabSz="1219170">
              <a:spcBef>
                <a:spcPct val="0"/>
              </a:spcBef>
              <a:defRPr/>
            </a:pPr>
            <a:r>
              <a:rPr lang="en-US" altLang="zh-CN" sz="37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32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32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defTabSz="1219170">
              <a:spcBef>
                <a:spcPct val="0"/>
              </a:spcBef>
              <a:defRPr/>
            </a:pPr>
            <a:r>
              <a:rPr lang="en-US" altLang="zh-CN" sz="3200" b="1" spc="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2025</a:t>
            </a:r>
            <a:r>
              <a:rPr lang="zh-CN" altLang="en-US" sz="3200" b="1" spc="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秋</a:t>
            </a:r>
            <a:endParaRPr lang="zh-CN" altLang="en-US" sz="3200" b="1" spc="8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576053" y="2220713"/>
            <a:ext cx="6815667" cy="1543049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4800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第一章   绪论</a:t>
            </a:r>
          </a:p>
          <a:p>
            <a:pPr defTabSz="1219170">
              <a:spcBef>
                <a:spcPct val="0"/>
              </a:spcBef>
              <a:defRPr/>
            </a:pPr>
            <a:endParaRPr lang="zh-CN" altLang="en-US" sz="4800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990575" indent="-38099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33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523962" indent="-304792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67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2133547" indent="-304792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67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743131" indent="-304792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3352716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3962301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4571886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5181470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E5C32FFA-EA69-47F7-AFFE-12C640E3505D}" type="slidenum">
              <a:rPr lang="zh-CN" altLang="en-US" sz="1333">
                <a:solidFill>
                  <a:srgbClr val="073E87"/>
                </a:solidFill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lang="en-US" altLang="zh-CN" sz="1333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1531" y="1028733"/>
            <a:ext cx="4224469" cy="99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spcBef>
                <a:spcPct val="0"/>
              </a:spcBef>
              <a:defRPr/>
            </a:pPr>
            <a:r>
              <a:rPr lang="en-US" altLang="zh-CN" sz="5333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5867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编译原</a:t>
            </a:r>
            <a:r>
              <a:rPr lang="zh-CN" altLang="en-US" sz="5333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理</a:t>
            </a:r>
            <a:r>
              <a:rPr lang="en-US" altLang="zh-CN" sz="5333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25657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74607" y="1316765"/>
            <a:ext cx="10802957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1981" indent="-761981" defTabSz="121917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什么是编译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61981" indent="-761981" defTabSz="121917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编译系统的结构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61981" indent="-761981" defTabSz="121917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4800" dirty="0">
                <a:solidFill>
                  <a:srgbClr val="31B6F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词法分析、语法分析、语义分析</a:t>
            </a: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概述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61981" indent="-761981" defTabSz="121917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中间代码生成概述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endParaRPr lang="zh-CN" altLang="en-US" sz="37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85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020228" y="930570"/>
            <a:ext cx="9671237" cy="4687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585" indent="-609585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教材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–《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编译原理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（本科教学第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版）</a:t>
            </a:r>
            <a:endParaRPr lang="en-US" altLang="zh-CN" sz="3733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机械工业出版社，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美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 </a:t>
            </a:r>
            <a:r>
              <a:rPr lang="zh-CN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阿霍等著，赵建华等译</a:t>
            </a:r>
            <a:endParaRPr lang="en-US" altLang="zh-CN" sz="3733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09585" indent="-609585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安排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学时：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48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学时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理论课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次，实验课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时段：周一（双周）、周三</a:t>
            </a:r>
            <a:endParaRPr lang="en-US" altLang="zh-CN" sz="3733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成绩：平时成绩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20%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（作业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实验）</a:t>
            </a:r>
            <a:endParaRPr lang="en-US" altLang="zh-CN" sz="3733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+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期中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20%+</a:t>
            </a:r>
            <a:r>
              <a:rPr lang="zh-CN" altLang="en-US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期末</a:t>
            </a:r>
            <a:r>
              <a:rPr lang="en-US" altLang="zh-CN" sz="3733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60%</a:t>
            </a:r>
            <a:endParaRPr lang="zh-CN" altLang="en-US" sz="3733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课程概要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8496267" y="1508787"/>
            <a:ext cx="1622560" cy="6667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733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紫龙书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宋体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0690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391478" y="1700808"/>
            <a:ext cx="6528725" cy="3375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2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sz="42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作用</a:t>
            </a:r>
            <a:endParaRPr lang="en-US" altLang="zh-CN" sz="42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42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2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sz="42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难度</a:t>
            </a:r>
            <a:endParaRPr lang="en-US" altLang="zh-CN" sz="42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42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2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sz="42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建议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关于这门课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7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37"/>
          <p:cNvSpPr>
            <a:spLocks/>
          </p:cNvSpPr>
          <p:nvPr/>
        </p:nvSpPr>
        <p:spPr bwMode="auto">
          <a:xfrm>
            <a:off x="1523968" y="2851805"/>
            <a:ext cx="2110091" cy="461281"/>
          </a:xfrm>
          <a:prstGeom prst="borderCallout2">
            <a:avLst>
              <a:gd name="adj1" fmla="val 18750"/>
              <a:gd name="adj2" fmla="val 103926"/>
              <a:gd name="adj3" fmla="val 18750"/>
              <a:gd name="adj4" fmla="val 110394"/>
              <a:gd name="adj5" fmla="val 138453"/>
              <a:gd name="adj6" fmla="val 12096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引入助记符</a:t>
            </a:r>
          </a:p>
        </p:txBody>
      </p:sp>
      <p:sp>
        <p:nvSpPr>
          <p:cNvPr id="29" name="AutoShape 37"/>
          <p:cNvSpPr>
            <a:spLocks/>
          </p:cNvSpPr>
          <p:nvPr/>
        </p:nvSpPr>
        <p:spPr bwMode="auto">
          <a:xfrm>
            <a:off x="666712" y="4607053"/>
            <a:ext cx="3044867" cy="441208"/>
          </a:xfrm>
          <a:prstGeom prst="borderCallout2">
            <a:avLst>
              <a:gd name="adj1" fmla="val 18750"/>
              <a:gd name="adj2" fmla="val 103926"/>
              <a:gd name="adj3" fmla="val 18750"/>
              <a:gd name="adj4" fmla="val 110394"/>
              <a:gd name="adj5" fmla="val 195105"/>
              <a:gd name="adj6" fmla="val 12105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可以被计算机直接理解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9350" y="222628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计算机程序设计语言及什么是编译</a:t>
            </a:r>
          </a:p>
        </p:txBody>
      </p:sp>
      <p:grpSp>
        <p:nvGrpSpPr>
          <p:cNvPr id="360486" name="Group 38"/>
          <p:cNvGrpSpPr>
            <a:grpSpLocks/>
          </p:cNvGrpSpPr>
          <p:nvPr/>
        </p:nvGrpSpPr>
        <p:grpSpPr bwMode="auto">
          <a:xfrm>
            <a:off x="3139404" y="1735845"/>
            <a:ext cx="2574681" cy="4264796"/>
            <a:chOff x="945" y="1304"/>
            <a:chExt cx="1134" cy="2533"/>
          </a:xfrm>
        </p:grpSpPr>
        <p:sp>
          <p:nvSpPr>
            <p:cNvPr id="7188" name="Rectangle 4"/>
            <p:cNvSpPr>
              <a:spLocks noChangeArrowheads="1"/>
            </p:cNvSpPr>
            <p:nvPr/>
          </p:nvSpPr>
          <p:spPr bwMode="auto">
            <a:xfrm>
              <a:off x="945" y="3348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机器语言</a:t>
              </a:r>
              <a:endParaRPr lang="zh-CN" altLang="en-US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(Machine Language 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7189" name="Rectangle 8"/>
            <p:cNvSpPr>
              <a:spLocks noChangeArrowheads="1"/>
            </p:cNvSpPr>
            <p:nvPr/>
          </p:nvSpPr>
          <p:spPr bwMode="auto">
            <a:xfrm>
              <a:off x="945" y="2273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(Assembly Language 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7190" name="Rectangle 12"/>
            <p:cNvSpPr>
              <a:spLocks noChangeArrowheads="1"/>
            </p:cNvSpPr>
            <p:nvPr/>
          </p:nvSpPr>
          <p:spPr bwMode="auto">
            <a:xfrm>
              <a:off x="945" y="1304"/>
              <a:ext cx="1118" cy="4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高级语言</a:t>
              </a:r>
              <a:endPara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 High Level Language 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60462" name="Group 14"/>
          <p:cNvGrpSpPr>
            <a:grpSpLocks/>
          </p:cNvGrpSpPr>
          <p:nvPr/>
        </p:nvGrpSpPr>
        <p:grpSpPr bwMode="auto">
          <a:xfrm>
            <a:off x="6404034" y="4463303"/>
            <a:ext cx="1632673" cy="1025764"/>
            <a:chOff x="3802" y="3069"/>
            <a:chExt cx="900" cy="646"/>
          </a:xfrm>
        </p:grpSpPr>
        <p:sp>
          <p:nvSpPr>
            <p:cNvPr id="7186" name="Line 16"/>
            <p:cNvSpPr>
              <a:spLocks noChangeShapeType="1"/>
            </p:cNvSpPr>
            <p:nvPr/>
          </p:nvSpPr>
          <p:spPr bwMode="auto">
            <a:xfrm rot="10800000" flipV="1">
              <a:off x="4241" y="3518"/>
              <a:ext cx="0" cy="1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185" name="Rectangle 15"/>
            <p:cNvSpPr>
              <a:spLocks noChangeArrowheads="1"/>
            </p:cNvSpPr>
            <p:nvPr/>
          </p:nvSpPr>
          <p:spPr bwMode="auto">
            <a:xfrm>
              <a:off x="3802" y="3069"/>
              <a:ext cx="900" cy="46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(Assembling)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60470" name="Group 22"/>
          <p:cNvGrpSpPr>
            <a:grpSpLocks/>
          </p:cNvGrpSpPr>
          <p:nvPr/>
        </p:nvGrpSpPr>
        <p:grpSpPr bwMode="auto">
          <a:xfrm>
            <a:off x="6286502" y="2662803"/>
            <a:ext cx="1905013" cy="1044819"/>
            <a:chOff x="3696" y="2886"/>
            <a:chExt cx="1143" cy="658"/>
          </a:xfrm>
        </p:grpSpPr>
        <p:sp>
          <p:nvSpPr>
            <p:cNvPr id="7183" name="Line 24"/>
            <p:cNvSpPr>
              <a:spLocks noChangeShapeType="1"/>
            </p:cNvSpPr>
            <p:nvPr/>
          </p:nvSpPr>
          <p:spPr bwMode="auto">
            <a:xfrm rot="10200000" flipV="1">
              <a:off x="4241" y="3315"/>
              <a:ext cx="3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182" name="Rectangle 23"/>
            <p:cNvSpPr>
              <a:spLocks noChangeArrowheads="1"/>
            </p:cNvSpPr>
            <p:nvPr/>
          </p:nvSpPr>
          <p:spPr bwMode="auto">
            <a:xfrm>
              <a:off x="3696" y="2886"/>
              <a:ext cx="1143" cy="461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(Compiling)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360474" name="Oval 26"/>
          <p:cNvSpPr>
            <a:spLocks noChangeArrowheads="1"/>
          </p:cNvSpPr>
          <p:nvPr/>
        </p:nvSpPr>
        <p:spPr bwMode="auto">
          <a:xfrm>
            <a:off x="5814231" y="5480925"/>
            <a:ext cx="2948788" cy="45594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C706 0000 0002</a:t>
            </a:r>
            <a:endParaRPr lang="zh-CN" altLang="en-US" sz="2667" b="1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60475" name="Oval 27"/>
          <p:cNvSpPr>
            <a:spLocks noChangeArrowheads="1"/>
          </p:cNvSpPr>
          <p:nvPr/>
        </p:nvSpPr>
        <p:spPr bwMode="auto">
          <a:xfrm>
            <a:off x="5826932" y="3708673"/>
            <a:ext cx="2880763" cy="45527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MOV X, 2</a:t>
            </a:r>
          </a:p>
        </p:txBody>
      </p:sp>
      <p:sp>
        <p:nvSpPr>
          <p:cNvPr id="360476" name="Oval 28"/>
          <p:cNvSpPr>
            <a:spLocks noChangeArrowheads="1"/>
          </p:cNvSpPr>
          <p:nvPr/>
        </p:nvSpPr>
        <p:spPr bwMode="auto">
          <a:xfrm>
            <a:off x="5826932" y="1868297"/>
            <a:ext cx="2880763" cy="48588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 = 2</a:t>
            </a:r>
          </a:p>
        </p:txBody>
      </p:sp>
      <p:sp>
        <p:nvSpPr>
          <p:cNvPr id="25" name="矩形 24"/>
          <p:cNvSpPr/>
          <p:nvPr/>
        </p:nvSpPr>
        <p:spPr>
          <a:xfrm>
            <a:off x="761963" y="1731252"/>
            <a:ext cx="2447595" cy="1413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接近自然语言表达习惯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不依赖于特定机器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编写效率高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AutoShape 37"/>
          <p:cNvSpPr>
            <a:spLocks/>
          </p:cNvSpPr>
          <p:nvPr/>
        </p:nvSpPr>
        <p:spPr bwMode="auto">
          <a:xfrm>
            <a:off x="905243" y="929547"/>
            <a:ext cx="2708315" cy="764277"/>
          </a:xfrm>
          <a:prstGeom prst="borderCallout2">
            <a:avLst>
              <a:gd name="adj1" fmla="val 18750"/>
              <a:gd name="adj2" fmla="val 103926"/>
              <a:gd name="adj3" fmla="val 18750"/>
              <a:gd name="adj4" fmla="val 110394"/>
              <a:gd name="adj5" fmla="val 94686"/>
              <a:gd name="adj6" fmla="val 12591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类似于数学定义或</a:t>
            </a:r>
            <a:endParaRPr lang="en-US" altLang="zh-CN" sz="2133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自然语言的简洁形式</a:t>
            </a: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rot="10800000" flipV="1">
            <a:off x="7188716" y="4163945"/>
            <a:ext cx="0" cy="31281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667" b="1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6" name="Line 16"/>
          <p:cNvSpPr>
            <a:spLocks noChangeShapeType="1"/>
          </p:cNvSpPr>
          <p:nvPr/>
        </p:nvSpPr>
        <p:spPr bwMode="auto">
          <a:xfrm rot="10800000" flipV="1">
            <a:off x="7191303" y="2354184"/>
            <a:ext cx="0" cy="31281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667" b="1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61963" y="5040091"/>
            <a:ext cx="2208245" cy="178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与人类表达习惯相去甚远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难记忆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难编写、难阅读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易写错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61963" y="3288275"/>
            <a:ext cx="2502315" cy="1327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依赖于特定机器，非计算机专业人员使用受限制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594" indent="-228594" defTabSz="1219170" fontAlgn="base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867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编写效率依然很低</a:t>
            </a:r>
            <a:endParaRPr lang="en-US" altLang="zh-CN" sz="1867" b="1" dirty="0">
              <a:solidFill>
                <a:srgbClr val="073E87">
                  <a:lumMod val="60000"/>
                  <a:lumOff val="4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0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0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0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60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60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36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29" grpId="0" animBg="1"/>
      <p:bldP spid="29" grpId="1" animBg="1"/>
      <p:bldP spid="360474" grpId="0" animBg="1"/>
      <p:bldP spid="360475" grpId="0" animBg="1"/>
      <p:bldP spid="360476" grpId="0" animBg="1"/>
      <p:bldP spid="25" grpId="0" uiExpand="1" build="allAtOnce"/>
      <p:bldP spid="27" grpId="0" animBg="1"/>
      <p:bldP spid="27" grpId="1" animBg="1"/>
      <p:bldP spid="35" grpId="0" animBg="1"/>
      <p:bldP spid="36" grpId="0" animBg="1"/>
      <p:bldP spid="36" grpId="1" animBg="1"/>
      <p:bldP spid="30" grpId="0" build="allAtOnce"/>
      <p:bldP spid="31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428717" y="6038792"/>
            <a:ext cx="6359433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编译：将高级语言翻译成汇编语言的过程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2927648" y="6477021"/>
            <a:ext cx="124813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3023659" y="6406619"/>
            <a:ext cx="1007007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/>
                <a:cs typeface="Times New Roman" pitchFamily="18" charset="0"/>
              </a:rPr>
              <a:t>源语言</a:t>
            </a:r>
            <a:endParaRPr lang="zh-CN" altLang="en-US" sz="1867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9" name="直接连接符 38"/>
          <p:cNvCxnSpPr>
            <a:cxnSpLocks/>
          </p:cNvCxnSpPr>
          <p:nvPr/>
        </p:nvCxnSpPr>
        <p:spPr>
          <a:xfrm>
            <a:off x="5327915" y="6477021"/>
            <a:ext cx="121379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327915" y="6433198"/>
            <a:ext cx="1213794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/>
                <a:cs typeface="Times New Roman" pitchFamily="18" charset="0"/>
              </a:rPr>
              <a:t>目标</a:t>
            </a:r>
            <a:r>
              <a:rPr lang="zh-CN" altLang="en-US" sz="1867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/>
                <a:cs typeface="Times New Roman" pitchFamily="18" charset="0"/>
              </a:rPr>
              <a:t>语言</a:t>
            </a:r>
            <a:endParaRPr lang="zh-CN" altLang="en-US" sz="1867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计算机程序设计语言及编译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41" name="Group 38"/>
          <p:cNvGrpSpPr>
            <a:grpSpLocks/>
          </p:cNvGrpSpPr>
          <p:nvPr/>
        </p:nvGrpSpPr>
        <p:grpSpPr bwMode="auto">
          <a:xfrm>
            <a:off x="3139404" y="1735845"/>
            <a:ext cx="2574681" cy="4264796"/>
            <a:chOff x="945" y="1304"/>
            <a:chExt cx="1134" cy="2533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 bwMode="auto">
            <a:xfrm>
              <a:off x="945" y="3348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机器语言</a:t>
              </a:r>
              <a:endParaRPr lang="zh-CN" altLang="en-US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(Machine Language 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945" y="2273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(Assembly Language 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945" y="1304"/>
              <a:ext cx="1118" cy="4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高级语言</a:t>
              </a:r>
              <a:endPara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 High Level Language 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45" name="Group 14"/>
          <p:cNvGrpSpPr>
            <a:grpSpLocks/>
          </p:cNvGrpSpPr>
          <p:nvPr/>
        </p:nvGrpSpPr>
        <p:grpSpPr bwMode="auto">
          <a:xfrm>
            <a:off x="6404034" y="4463303"/>
            <a:ext cx="1632673" cy="1025764"/>
            <a:chOff x="3802" y="3069"/>
            <a:chExt cx="900" cy="646"/>
          </a:xfrm>
        </p:grpSpPr>
        <p:sp>
          <p:nvSpPr>
            <p:cNvPr id="46" name="Line 16"/>
            <p:cNvSpPr>
              <a:spLocks noChangeShapeType="1"/>
            </p:cNvSpPr>
            <p:nvPr/>
          </p:nvSpPr>
          <p:spPr bwMode="auto">
            <a:xfrm rot="10800000" flipV="1">
              <a:off x="4241" y="3518"/>
              <a:ext cx="0" cy="1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3802" y="3069"/>
              <a:ext cx="900" cy="46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(Assembling)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48" name="Group 22"/>
          <p:cNvGrpSpPr>
            <a:grpSpLocks/>
          </p:cNvGrpSpPr>
          <p:nvPr/>
        </p:nvGrpSpPr>
        <p:grpSpPr bwMode="auto">
          <a:xfrm>
            <a:off x="6286502" y="2662803"/>
            <a:ext cx="1905013" cy="1044819"/>
            <a:chOff x="3696" y="2886"/>
            <a:chExt cx="1143" cy="658"/>
          </a:xfrm>
        </p:grpSpPr>
        <p:sp>
          <p:nvSpPr>
            <p:cNvPr id="49" name="Line 24"/>
            <p:cNvSpPr>
              <a:spLocks noChangeShapeType="1"/>
            </p:cNvSpPr>
            <p:nvPr/>
          </p:nvSpPr>
          <p:spPr bwMode="auto">
            <a:xfrm rot="10200000" flipV="1">
              <a:off x="4241" y="3315"/>
              <a:ext cx="3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0" name="Rectangle 23"/>
            <p:cNvSpPr>
              <a:spLocks noChangeArrowheads="1"/>
            </p:cNvSpPr>
            <p:nvPr/>
          </p:nvSpPr>
          <p:spPr bwMode="auto">
            <a:xfrm>
              <a:off x="3696" y="2886"/>
              <a:ext cx="1143" cy="461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67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(Compiling)</a:t>
              </a:r>
              <a:endParaRPr lang="zh-CN" altLang="en-US" sz="18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51" name="Oval 26"/>
          <p:cNvSpPr>
            <a:spLocks noChangeArrowheads="1"/>
          </p:cNvSpPr>
          <p:nvPr/>
        </p:nvSpPr>
        <p:spPr bwMode="auto">
          <a:xfrm>
            <a:off x="5814231" y="5480925"/>
            <a:ext cx="2948788" cy="45594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C706 0000 0002</a:t>
            </a:r>
            <a:endParaRPr lang="zh-CN" altLang="en-US" sz="2667" b="1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52" name="Oval 27"/>
          <p:cNvSpPr>
            <a:spLocks noChangeArrowheads="1"/>
          </p:cNvSpPr>
          <p:nvPr/>
        </p:nvSpPr>
        <p:spPr bwMode="auto">
          <a:xfrm>
            <a:off x="5826932" y="3708673"/>
            <a:ext cx="2880763" cy="45527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MOV X, 2</a:t>
            </a:r>
          </a:p>
        </p:txBody>
      </p:sp>
      <p:sp>
        <p:nvSpPr>
          <p:cNvPr id="53" name="Oval 28"/>
          <p:cNvSpPr>
            <a:spLocks noChangeArrowheads="1"/>
          </p:cNvSpPr>
          <p:nvPr/>
        </p:nvSpPr>
        <p:spPr bwMode="auto">
          <a:xfrm>
            <a:off x="5826932" y="1868297"/>
            <a:ext cx="2880763" cy="48588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67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 = 2</a:t>
            </a:r>
          </a:p>
        </p:txBody>
      </p:sp>
      <p:sp>
        <p:nvSpPr>
          <p:cNvPr id="54" name="Line 16"/>
          <p:cNvSpPr>
            <a:spLocks noChangeShapeType="1"/>
          </p:cNvSpPr>
          <p:nvPr/>
        </p:nvSpPr>
        <p:spPr bwMode="auto">
          <a:xfrm rot="10800000" flipV="1">
            <a:off x="7188716" y="4163945"/>
            <a:ext cx="0" cy="31281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667" b="1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5" name="Line 16"/>
          <p:cNvSpPr>
            <a:spLocks noChangeShapeType="1"/>
          </p:cNvSpPr>
          <p:nvPr/>
        </p:nvSpPr>
        <p:spPr bwMode="auto">
          <a:xfrm rot="10800000" flipV="1">
            <a:off x="7191303" y="2354184"/>
            <a:ext cx="0" cy="31281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667" b="1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71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8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62366" y="1238235"/>
            <a:ext cx="4461452" cy="5226856"/>
            <a:chOff x="1832663" y="915566"/>
            <a:chExt cx="2673605" cy="3920142"/>
          </a:xfrm>
        </p:grpSpPr>
        <p:sp>
          <p:nvSpPr>
            <p:cNvPr id="11267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21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</a:t>
              </a:r>
              <a:r>
                <a:rPr lang="en-US" altLang="zh-CN" sz="2133" b="1" dirty="0" err="1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Preproces</a:t>
              </a:r>
              <a:r>
                <a:rPr lang="en-US" altLang="zh-CN" sz="21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)</a:t>
              </a:r>
            </a:p>
          </p:txBody>
        </p:sp>
        <p:sp>
          <p:nvSpPr>
            <p:cNvPr id="11268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69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11270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71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2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11273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5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6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11277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8" name="Rectangle 15"/>
            <p:cNvSpPr>
              <a:spLocks noChangeArrowheads="1"/>
            </p:cNvSpPr>
            <p:nvPr/>
          </p:nvSpPr>
          <p:spPr bwMode="auto">
            <a:xfrm>
              <a:off x="2559040" y="4089882"/>
              <a:ext cx="1380864" cy="32781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静态链接</a:t>
              </a:r>
              <a:r>
                <a:rPr lang="en-US" altLang="zh-CN" sz="21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1279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80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11281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82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11283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285710" y="2522832"/>
            <a:ext cx="3619525" cy="1763425"/>
          </a:xfrm>
          <a:prstGeom prst="wedgeRoundRectCallout">
            <a:avLst>
              <a:gd name="adj1" fmla="val 47138"/>
              <a:gd name="adj2" fmla="val -69550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80990" indent="-380990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把存储在不同文件中的源程序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</a:rPr>
              <a:t>聚合</a:t>
            </a:r>
            <a:r>
              <a:rPr lang="zh-CN" altLang="en-US" sz="24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在一起</a:t>
            </a:r>
            <a:endParaRPr lang="en-US" altLang="zh-CN" sz="24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380990" indent="-380990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把被称为</a:t>
            </a:r>
            <a:r>
              <a:rPr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宏</a:t>
            </a:r>
            <a:r>
              <a:rPr lang="zh-CN" altLang="en-US" sz="24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的缩写语句转换为原始语句</a:t>
            </a: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4361283" y="4208486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453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62367" y="1238235"/>
            <a:ext cx="4461453" cy="5226856"/>
            <a:chOff x="1832663" y="915566"/>
            <a:chExt cx="2673605" cy="3920142"/>
          </a:xfrm>
        </p:grpSpPr>
        <p:sp>
          <p:nvSpPr>
            <p:cNvPr id="11267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(Preprocess)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68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69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11270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71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2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11273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5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6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11277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8" name="Rectangle 15"/>
            <p:cNvSpPr>
              <a:spLocks noChangeArrowheads="1"/>
            </p:cNvSpPr>
            <p:nvPr/>
          </p:nvSpPr>
          <p:spPr bwMode="auto">
            <a:xfrm>
              <a:off x="2524803" y="4089882"/>
              <a:ext cx="1495935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静态链接 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79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80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11281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82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11283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8141450" y="2239931"/>
            <a:ext cx="3619887" cy="2212664"/>
          </a:xfrm>
          <a:prstGeom prst="wedgeRoundRectCallout">
            <a:avLst>
              <a:gd name="adj1" fmla="val -80987"/>
              <a:gd name="adj2" fmla="val -2996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189" indent="-457189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词法分析</a:t>
            </a:r>
            <a:endParaRPr lang="en-US" altLang="zh-CN" sz="32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457189" indent="-457189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语法分析</a:t>
            </a:r>
            <a:endParaRPr lang="en-US" altLang="zh-CN" sz="32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457189" indent="-457189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语义分析</a:t>
            </a:r>
            <a:endParaRPr lang="en-US" altLang="zh-CN" sz="32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457189" indent="-457189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中间代码生成</a:t>
            </a:r>
            <a:endParaRPr lang="en-US" altLang="zh-CN" sz="32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457189" indent="-457189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代码优化</a:t>
            </a: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4361283" y="4208486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 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354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62366" y="1238235"/>
            <a:ext cx="4461453" cy="5226856"/>
            <a:chOff x="1832663" y="915566"/>
            <a:chExt cx="2673605" cy="3920142"/>
          </a:xfrm>
        </p:grpSpPr>
        <p:sp>
          <p:nvSpPr>
            <p:cNvPr id="11267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(Preprocess)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68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69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11270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71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2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11273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5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6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11277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78" name="Rectangle 15"/>
            <p:cNvSpPr>
              <a:spLocks noChangeArrowheads="1"/>
            </p:cNvSpPr>
            <p:nvPr/>
          </p:nvSpPr>
          <p:spPr bwMode="auto">
            <a:xfrm>
              <a:off x="2698326" y="4054901"/>
              <a:ext cx="1102292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静态链接 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79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80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11281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1282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11283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8496267" y="4674940"/>
            <a:ext cx="2980567" cy="674275"/>
          </a:xfrm>
          <a:prstGeom prst="wedgeRoundRectCallout">
            <a:avLst>
              <a:gd name="adj1" fmla="val -80987"/>
              <a:gd name="adj2" fmla="val -2996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.o</a:t>
            </a: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或</a:t>
            </a:r>
            <a:r>
              <a:rPr lang="en-US" altLang="zh-CN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.obj</a:t>
            </a:r>
            <a:r>
              <a:rPr lang="zh-CN" altLang="en-US" sz="3200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文件）</a:t>
            </a:r>
            <a:endParaRPr lang="en-US" altLang="zh-CN" sz="32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380990" indent="-380990" defTabSz="1219170" fontAlgn="base">
              <a:lnSpc>
                <a:spcPts val="2933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zh-CN" altLang="en-US" sz="3200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4361283" y="4208486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 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AutoShape 23">
            <a:extLst>
              <a:ext uri="{FF2B5EF4-FFF2-40B4-BE49-F238E27FC236}">
                <a16:creationId xmlns:a16="http://schemas.microsoft.com/office/drawing/2014/main" id="{B9959E33-4398-186A-0768-27147658E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3236979"/>
            <a:ext cx="3238523" cy="1428760"/>
          </a:xfrm>
          <a:prstGeom prst="wedgeRoundRectCallout">
            <a:avLst>
              <a:gd name="adj1" fmla="val 57122"/>
              <a:gd name="adj2" fmla="val 75139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可重定位</a:t>
            </a:r>
            <a:r>
              <a: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2133" b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Relocatable</a:t>
            </a:r>
            <a:r>
              <a: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在机器代码中存储的是相对地址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48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4" grpId="0" animBg="1"/>
      <p:bldP spid="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71763" y="930569"/>
            <a:ext cx="3897892" cy="4155408"/>
          </a:xfrm>
          <a:prstGeom prst="wedgeRoundRectCallout">
            <a:avLst>
              <a:gd name="adj1" fmla="val 76005"/>
              <a:gd name="adj2" fmla="val 66287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静态链接：</a:t>
            </a:r>
            <a:endParaRPr lang="en-US" altLang="zh-CN" sz="2667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创建静态库：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将多个目标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.obj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文件打包成一个静态库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.lib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文件，这个过程包括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符号解析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重定位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2" name="五边形 3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3" name="五边形 3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639244" y="1274485"/>
            <a:ext cx="4833422" cy="5226856"/>
            <a:chOff x="1832663" y="915566"/>
            <a:chExt cx="2896514" cy="392014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(Preprocess)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0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48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2662989" y="4060142"/>
              <a:ext cx="1081718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静态链接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2266454" y="4620205"/>
              <a:ext cx="2462723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可执行文件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.exe)</a:t>
              </a:r>
              <a:endPara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4361283" y="4208486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 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36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898FF7-3CA9-27AB-5E41-F27BEA9CDF56}"/>
              </a:ext>
            </a:extLst>
          </p:cNvPr>
          <p:cNvSpPr txBox="1"/>
          <p:nvPr/>
        </p:nvSpPr>
        <p:spPr>
          <a:xfrm>
            <a:off x="719403" y="356659"/>
            <a:ext cx="10177131" cy="419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67" dirty="0">
                <a:solidFill>
                  <a:srgbClr val="444444"/>
                </a:solidFill>
                <a:latin typeface="PingFang SC"/>
                <a:ea typeface="宋体" pitchFamily="2" charset="-122"/>
              </a:rPr>
              <a:t>符号解析：</a:t>
            </a:r>
            <a:endParaRPr lang="en-US" altLang="zh-CN" sz="4267" dirty="0">
              <a:solidFill>
                <a:srgbClr val="444444"/>
              </a:solidFill>
              <a:latin typeface="PingFang SC"/>
              <a:ea typeface="宋体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800" b="1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内部解析</a:t>
            </a: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：</a:t>
            </a:r>
            <a:r>
              <a:rPr lang="zh-CN" altLang="en-US" sz="2800" dirty="0">
                <a:solidFill>
                  <a:srgbClr val="444444"/>
                </a:solidFill>
                <a:latin typeface="PingFang SC"/>
                <a:ea typeface="宋体" pitchFamily="2" charset="-122"/>
              </a:rPr>
              <a:t>符号解析需要利用在编译时生成的符号表，</a:t>
            </a: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链接器首先在每个目标文件内部进行解析，找到所有定义和引用的符号，并尝试匹配这些符号。</a:t>
            </a:r>
            <a:endParaRPr lang="en-US" altLang="zh-CN" sz="28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800" b="1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全局解析</a:t>
            </a: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：如果一个目标文件引用了一个外部符号（即在其他目标文件中定义的符号），链接器会查找其他目标文件的符号表，找到这个符号的定义。</a:t>
            </a:r>
            <a:endParaRPr lang="en-US" altLang="zh-CN" sz="28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800" b="1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符号冲突处理</a:t>
            </a: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：如果一个符号在多个目标文件中定义（比如一个函数在多个文件中有定义），链接器必须决定使用哪个定义。</a:t>
            </a:r>
            <a:endParaRPr lang="en-US" altLang="zh-CN" sz="2800" dirty="0">
              <a:solidFill>
                <a:srgbClr val="444444"/>
              </a:solidFill>
              <a:latin typeface="PingFang SC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049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6881CE-CC34-F5CC-DCAE-CD71F7CD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68" y="68627"/>
            <a:ext cx="5141973" cy="67207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9A5A678-F547-1B81-BAB0-D17C9F958E6A}"/>
              </a:ext>
            </a:extLst>
          </p:cNvPr>
          <p:cNvSpPr txBox="1"/>
          <p:nvPr/>
        </p:nvSpPr>
        <p:spPr>
          <a:xfrm>
            <a:off x="239349" y="356659"/>
            <a:ext cx="5568619" cy="247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67" dirty="0">
                <a:solidFill>
                  <a:srgbClr val="444444"/>
                </a:solidFill>
                <a:latin typeface="PingFang SC"/>
                <a:ea typeface="宋体" pitchFamily="2" charset="-122"/>
              </a:rPr>
              <a:t>重定位：</a:t>
            </a:r>
            <a:endParaRPr lang="en-US" altLang="zh-CN" sz="4267" dirty="0">
              <a:solidFill>
                <a:srgbClr val="444444"/>
              </a:solidFill>
              <a:latin typeface="PingFang SC"/>
              <a:ea typeface="宋体" pitchFamily="2" charset="-122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根据符号解析的结果，链接器将符号引用的相对地址调整为实际的内存地址（相对地址</a:t>
            </a:r>
            <a:r>
              <a:rPr lang="en-US" altLang="zh-CN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+</a:t>
            </a: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偏移地址</a:t>
            </a:r>
            <a:r>
              <a:rPr lang="en-US" altLang="zh-CN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=</a:t>
            </a:r>
            <a:r>
              <a:rPr lang="zh-CN" altLang="en-US" sz="28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最终内存地址）</a:t>
            </a: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。</a:t>
            </a:r>
            <a:endParaRPr lang="en-US" altLang="zh-CN" sz="2400" dirty="0">
              <a:solidFill>
                <a:srgbClr val="444444"/>
              </a:solidFill>
              <a:latin typeface="PingFang SC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276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71763" y="930570"/>
            <a:ext cx="3897892" cy="4688352"/>
          </a:xfrm>
          <a:prstGeom prst="wedgeRoundRectCallout">
            <a:avLst>
              <a:gd name="adj1" fmla="val 75446"/>
              <a:gd name="adj2" fmla="val 56203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静态链接：</a:t>
            </a:r>
            <a:endParaRPr lang="en-US" altLang="zh-CN" sz="2667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创建静态库：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将多个目标文件（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.o 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或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.obj 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文件）打包成一个静态库文件（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.a 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或 </a:t>
            </a:r>
            <a:r>
              <a:rPr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.lib 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文件）），包括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符号解析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重定位</a:t>
            </a: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链接器将程序的其他目标文件和静态库文件链接在一起，生成一个独立的可执行文件</a:t>
            </a:r>
            <a:endParaRPr lang="zh-CN" altLang="en-US" sz="24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2" name="五边形 3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3" name="五边形 3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639246" y="1274485"/>
            <a:ext cx="4461453" cy="5226856"/>
            <a:chOff x="1832663" y="915566"/>
            <a:chExt cx="2673605" cy="392014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(Preprocess)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0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48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4361283" y="4208486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 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latin typeface="Tahoma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zh-CN">
              <a:latin typeface="Tahoma" pitchFamily="34" charset="0"/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31044783-47AE-8383-6434-F8DDE71D3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812" y="5467253"/>
            <a:ext cx="1805067" cy="491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静态链接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45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8286545" y="4472326"/>
            <a:ext cx="3905455" cy="1664726"/>
          </a:xfrm>
          <a:prstGeom prst="wedgeRoundRectCallout">
            <a:avLst>
              <a:gd name="adj1" fmla="val -110531"/>
              <a:gd name="adj2" fmla="val 38950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加载器：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将可执行文件的代码段、数据段加载到内存中的适当位置。</a:t>
            </a: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zh-CN" altLang="en-US" sz="24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2" name="五边形 3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3" name="五边形 3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-262892" y="1197533"/>
            <a:ext cx="4461453" cy="5226856"/>
            <a:chOff x="1832663" y="915566"/>
            <a:chExt cx="2673605" cy="392014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(Preprocess)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0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48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2619136" y="4045571"/>
              <a:ext cx="1150721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静态链接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611055" y="4187061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 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FF417A06-9A59-8972-3A1F-DC0D469FA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034" y="6062177"/>
            <a:ext cx="3936439" cy="437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加载 </a:t>
            </a:r>
            <a:r>
              <a:rPr lang="en-US" altLang="zh-CN" sz="3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(Load)/</a:t>
            </a:r>
            <a:r>
              <a:rPr lang="zh-CN" altLang="en-US" sz="3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动态链接</a:t>
            </a:r>
            <a:endParaRPr lang="zh-CN" altLang="en-US" sz="32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0C58280-020E-4E06-0979-B775EDDEA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672" y="5764110"/>
            <a:ext cx="1056115" cy="48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运行时</a:t>
            </a:r>
          </a:p>
        </p:txBody>
      </p:sp>
      <p:sp>
        <p:nvSpPr>
          <p:cNvPr id="6" name="Line 12">
            <a:extLst>
              <a:ext uri="{FF2B5EF4-FFF2-40B4-BE49-F238E27FC236}">
                <a16:creationId xmlns:a16="http://schemas.microsoft.com/office/drawing/2014/main" id="{95B14EC4-784C-E2A7-1C5F-BBE30A9A7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140" y="6280720"/>
            <a:ext cx="9450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667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459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8393410" y="3655696"/>
            <a:ext cx="3655253" cy="2547925"/>
          </a:xfrm>
          <a:prstGeom prst="wedgeRoundRectCallout">
            <a:avLst>
              <a:gd name="adj1" fmla="val -73738"/>
              <a:gd name="adj2" fmla="val 39140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动态链接：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同样包括符号解析和重定位，生成</a:t>
            </a:r>
            <a:r>
              <a:rPr lang="en-US" altLang="zh-CN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.</a:t>
            </a:r>
            <a:r>
              <a:rPr lang="en-US" altLang="zh-CN" sz="2400" dirty="0" err="1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dll</a:t>
            </a: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文件</a:t>
            </a:r>
            <a:endParaRPr lang="en-US" altLang="zh-CN" sz="24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  <a:p>
            <a:pPr marL="380990" indent="-380990" defTabSz="121917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方便多个程序共享动态库</a:t>
            </a:r>
            <a:r>
              <a:rPr lang="en-US" altLang="zh-CN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.</a:t>
            </a:r>
            <a:r>
              <a:rPr lang="en-US" altLang="zh-CN" sz="2400" dirty="0" err="1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dll</a:t>
            </a:r>
            <a:r>
              <a:rPr lang="zh-CN" altLang="en-US" sz="2400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文件，减少静态链接的负担</a:t>
            </a:r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编译在语言处理系统中的位置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32" name="五边形 3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3" name="五边形 3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-262892" y="1197533"/>
            <a:ext cx="4461453" cy="5226856"/>
            <a:chOff x="1832663" y="915566"/>
            <a:chExt cx="2673605" cy="392014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 </a:t>
              </a:r>
              <a:r>
                <a:rPr lang="en-US" altLang="zh-CN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(Preprocess)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0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endPara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汇编代码</a:t>
              </a:r>
            </a:p>
          </p:txBody>
        </p:sp>
        <p:sp>
          <p:nvSpPr>
            <p:cNvPr id="48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2619136" y="4045571"/>
              <a:ext cx="1150721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静态链接</a:t>
              </a:r>
              <a:endParaRPr lang="en-US" altLang="zh-CN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933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6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611055" y="4187061"/>
            <a:ext cx="2980576" cy="447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 </a:t>
            </a:r>
            <a:r>
              <a:rPr lang="en-US" altLang="zh-CN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(Assemble)</a:t>
            </a:r>
            <a:endParaRPr lang="en-US" altLang="zh-CN" sz="21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FF417A06-9A59-8972-3A1F-DC0D469FA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034" y="6062177"/>
            <a:ext cx="3936439" cy="4370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加载 </a:t>
            </a:r>
            <a:r>
              <a:rPr lang="en-US" altLang="zh-CN" sz="3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(Load)/</a:t>
            </a:r>
            <a:r>
              <a:rPr lang="zh-CN" altLang="en-US" sz="3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动态链接</a:t>
            </a:r>
            <a:endParaRPr lang="zh-CN" altLang="en-US" sz="3200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0C58280-020E-4E06-0979-B775EDDEA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672" y="5764110"/>
            <a:ext cx="1056115" cy="48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运行时</a:t>
            </a:r>
          </a:p>
        </p:txBody>
      </p:sp>
      <p:sp>
        <p:nvSpPr>
          <p:cNvPr id="6" name="Line 12">
            <a:extLst>
              <a:ext uri="{FF2B5EF4-FFF2-40B4-BE49-F238E27FC236}">
                <a16:creationId xmlns:a16="http://schemas.microsoft.com/office/drawing/2014/main" id="{95B14EC4-784C-E2A7-1C5F-BBE30A9A7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140" y="6280720"/>
            <a:ext cx="9450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667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62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921067" y="1946671"/>
            <a:ext cx="6727328" cy="4114800"/>
          </a:xfrm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1568" y="260648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4267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2.</a:t>
            </a:r>
            <a:r>
              <a:rPr lang="zh-CN" altLang="en-US" sz="4267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编译系统的结构</a:t>
            </a:r>
          </a:p>
        </p:txBody>
      </p:sp>
      <p:sp>
        <p:nvSpPr>
          <p:cNvPr id="13320" name="Rectangle 10"/>
          <p:cNvSpPr>
            <a:spLocks noChangeArrowheads="1"/>
          </p:cNvSpPr>
          <p:nvPr/>
        </p:nvSpPr>
        <p:spPr bwMode="auto">
          <a:xfrm>
            <a:off x="6768075" y="6094813"/>
            <a:ext cx="2555725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1332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3" y="954021"/>
            <a:ext cx="5189136" cy="510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 descr="E:\工大编译\ppt\图片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24760" y="233763"/>
            <a:ext cx="2762269" cy="5723759"/>
          </a:xfrm>
          <a:prstGeom prst="rect">
            <a:avLst/>
          </a:prstGeom>
          <a:noFill/>
        </p:spPr>
      </p:pic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1204280" y="6023371"/>
            <a:ext cx="2430688" cy="0"/>
          </a:xfrm>
          <a:prstGeom prst="lin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047715" y="6191270"/>
            <a:ext cx="2606564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高级语言程序</a:t>
            </a:r>
            <a:endParaRPr lang="en-US" altLang="zh-CN" sz="2667" b="1" dirty="0">
              <a:solidFill>
                <a:srgbClr val="073E87">
                  <a:lumMod val="60000"/>
                  <a:lumOff val="40000"/>
                </a:srgb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6000750" y="6000768"/>
            <a:ext cx="4191029" cy="0"/>
          </a:xfrm>
          <a:prstGeom prst="lin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5552944" y="6138885"/>
            <a:ext cx="5210339" cy="719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汇编代码</a:t>
            </a:r>
            <a:r>
              <a:rPr lang="en-US" altLang="zh-CN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2667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机器语言程序</a:t>
            </a:r>
            <a:endParaRPr lang="en-US" altLang="zh-CN" sz="2667" b="1" dirty="0">
              <a:solidFill>
                <a:srgbClr val="073E87">
                  <a:lumMod val="60000"/>
                  <a:lumOff val="40000"/>
                </a:srgb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altLang="zh-CN" sz="2667" dirty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3" name="AutoShape 11"/>
          <p:cNvSpPr>
            <a:spLocks noChangeArrowheads="1"/>
          </p:cNvSpPr>
          <p:nvPr/>
        </p:nvSpPr>
        <p:spPr bwMode="auto">
          <a:xfrm>
            <a:off x="3786720" y="5159774"/>
            <a:ext cx="2118779" cy="1366839"/>
          </a:xfrm>
          <a:prstGeom prst="cube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编译器</a:t>
            </a:r>
          </a:p>
        </p:txBody>
      </p:sp>
      <p:sp>
        <p:nvSpPr>
          <p:cNvPr id="455684" name="AutoShape 4"/>
          <p:cNvSpPr>
            <a:spLocks noChangeArrowheads="1"/>
          </p:cNvSpPr>
          <p:nvPr/>
        </p:nvSpPr>
        <p:spPr bwMode="auto">
          <a:xfrm>
            <a:off x="2857477" y="2762245"/>
            <a:ext cx="5715040" cy="1714512"/>
          </a:xfrm>
          <a:prstGeom prst="cloudCallout">
            <a:avLst>
              <a:gd name="adj1" fmla="val -12997"/>
              <a:gd name="adj2" fmla="val 86436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 defTabSz="1219170" fontAlgn="base">
              <a:spcBef>
                <a:spcPct val="30000"/>
              </a:spcBef>
              <a:spcAft>
                <a:spcPct val="0"/>
              </a:spcAft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机器是怎么翻译的？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1352589" y="1238997"/>
            <a:ext cx="10363200" cy="16185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67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  <a:cs typeface="Times New Roman" pitchFamily="18" charset="0"/>
              </a:rPr>
              <a:t>In  the  room  , he  broke  a  window  with  a  hammer 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16415" name="Picture 3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382589" y="1787731"/>
            <a:ext cx="864099" cy="134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人脑英汉翻译的例子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81099" y="2095491"/>
            <a:ext cx="2017184" cy="217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FF0000"/>
                </a:solidFill>
                <a:latin typeface="Candara"/>
                <a:ea typeface="华文楷体" panose="02010600040101010101" pitchFamily="2" charset="-122"/>
              </a:rPr>
              <a:t>~~~~~~~~~~~</a:t>
            </a:r>
            <a:endParaRPr lang="zh-CN" altLang="en-US" sz="2400" dirty="0">
              <a:solidFill>
                <a:srgbClr val="FF0000"/>
              </a:solidFill>
              <a:latin typeface="Candara"/>
              <a:ea typeface="华文楷体" panose="02010600040101010101" pitchFamily="2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000486" y="2263065"/>
            <a:ext cx="433917" cy="0"/>
          </a:xfrm>
          <a:prstGeom prst="line">
            <a:avLst/>
          </a:prstGeom>
          <a:ln w="7620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4730746" y="2234332"/>
            <a:ext cx="698500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261579" y="1815059"/>
            <a:ext cx="4699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[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479978" y="1815059"/>
            <a:ext cx="469900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]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322522" y="1911070"/>
            <a:ext cx="467783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&lt;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216195" y="1911070"/>
            <a:ext cx="467784" cy="314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&gt;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pic>
        <p:nvPicPr>
          <p:cNvPr id="29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150" y="4286256"/>
            <a:ext cx="5091133" cy="257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413" name="Picture 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541" y="4022810"/>
            <a:ext cx="579212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753812" y="1142985"/>
            <a:ext cx="5580976" cy="5027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zh-CN" altLang="en-US" sz="2667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在房间里，他用锤子砸了一扇窗户。</a:t>
            </a:r>
          </a:p>
        </p:txBody>
      </p:sp>
      <p:pic>
        <p:nvPicPr>
          <p:cNvPr id="16414" name="Picture 3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14" y="2476494"/>
            <a:ext cx="1176917" cy="56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0739" name="AutoShape 51"/>
          <p:cNvSpPr>
            <a:spLocks/>
          </p:cNvSpPr>
          <p:nvPr/>
        </p:nvSpPr>
        <p:spPr bwMode="auto">
          <a:xfrm>
            <a:off x="2476475" y="5327837"/>
            <a:ext cx="2706936" cy="863432"/>
          </a:xfrm>
          <a:prstGeom prst="borderCallout2">
            <a:avLst>
              <a:gd name="adj1" fmla="val 19412"/>
              <a:gd name="adj2" fmla="val 100884"/>
              <a:gd name="adj3" fmla="val 3306"/>
              <a:gd name="adj4" fmla="val 107361"/>
              <a:gd name="adj5" fmla="val 1458"/>
              <a:gd name="adj6" fmla="val 125454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中间表示，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独立于具体的语言</a:t>
            </a:r>
            <a:endParaRPr lang="en-US" altLang="zh-CN" sz="24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8434655" y="2294617"/>
            <a:ext cx="891820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补语</a:t>
            </a: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2096106" y="2294616"/>
            <a:ext cx="732893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状语</a:t>
            </a: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791745" y="2285992"/>
            <a:ext cx="732893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主语</a:t>
            </a: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4688394" y="2285992"/>
            <a:ext cx="732893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谓语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5921093" y="2294617"/>
            <a:ext cx="878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 </a:t>
            </a:r>
            <a:r>
              <a:rPr lang="en-US" altLang="zh-CN" sz="2133" dirty="0">
                <a:solidFill>
                  <a:srgbClr val="00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133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宾语</a:t>
            </a:r>
            <a:endParaRPr lang="zh-CN" altLang="en-US" sz="2133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571461" y="3063198"/>
            <a:ext cx="10287072" cy="1079500"/>
            <a:chOff x="-338076" y="2499742"/>
            <a:chExt cx="7715304" cy="809625"/>
          </a:xfrm>
        </p:grpSpPr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971601" y="2499742"/>
              <a:ext cx="1367308" cy="8096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第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1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步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分析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源语言</a:t>
              </a:r>
            </a:p>
          </p:txBody>
        </p:sp>
        <p:sp>
          <p:nvSpPr>
            <p:cNvPr id="43" name="Line 33"/>
            <p:cNvSpPr>
              <a:spLocks noChangeShapeType="1"/>
            </p:cNvSpPr>
            <p:nvPr/>
          </p:nvSpPr>
          <p:spPr bwMode="auto">
            <a:xfrm flipV="1">
              <a:off x="-338076" y="2913508"/>
              <a:ext cx="13092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-338076" y="2536081"/>
              <a:ext cx="1215782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源语言句子</a:t>
              </a:r>
            </a:p>
          </p:txBody>
        </p:sp>
        <p:sp>
          <p:nvSpPr>
            <p:cNvPr id="45" name="Oval 36"/>
            <p:cNvSpPr>
              <a:spLocks noChangeArrowheads="1"/>
            </p:cNvSpPr>
            <p:nvPr/>
          </p:nvSpPr>
          <p:spPr bwMode="auto">
            <a:xfrm>
              <a:off x="2627783" y="2680915"/>
              <a:ext cx="1510479" cy="4668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00"/>
                  </a:solidFill>
                  <a:latin typeface="楷体" pitchFamily="49" charset="-122"/>
                  <a:ea typeface="楷体" pitchFamily="49" charset="-122"/>
                </a:rPr>
                <a:t>句子的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" pitchFamily="49" charset="-122"/>
                  <a:ea typeface="楷体" pitchFamily="49" charset="-122"/>
                </a:rPr>
                <a:t>语义</a:t>
              </a:r>
              <a:endParaRPr lang="en-US" altLang="zh-CN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auto">
            <a:xfrm>
              <a:off x="4139108" y="2931790"/>
              <a:ext cx="287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7" name="Rectangle 38"/>
            <p:cNvSpPr>
              <a:spLocks noChangeArrowheads="1"/>
            </p:cNvSpPr>
            <p:nvPr/>
          </p:nvSpPr>
          <p:spPr bwMode="auto">
            <a:xfrm>
              <a:off x="4427139" y="2499742"/>
              <a:ext cx="1546623" cy="7929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第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2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步</a:t>
              </a:r>
            </a:p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生成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目标语言</a:t>
              </a:r>
              <a:endPara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auto">
            <a:xfrm>
              <a:off x="6013005" y="2913508"/>
              <a:ext cx="1364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" name="Rectangle 40"/>
            <p:cNvSpPr>
              <a:spLocks noChangeArrowheads="1"/>
            </p:cNvSpPr>
            <p:nvPr/>
          </p:nvSpPr>
          <p:spPr bwMode="auto">
            <a:xfrm>
              <a:off x="5867300" y="2536081"/>
              <a:ext cx="1296988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00"/>
                  </a:solidFill>
                  <a:latin typeface="楷体" pitchFamily="49" charset="-122"/>
                  <a:ea typeface="楷体" pitchFamily="49" charset="-122"/>
                </a:rPr>
                <a:t>目标语言句子</a:t>
              </a:r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auto">
            <a:xfrm>
              <a:off x="2340446" y="2931790"/>
              <a:ext cx="287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67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51" name="Rectangle 44"/>
          <p:cNvSpPr>
            <a:spLocks noChangeArrowheads="1"/>
          </p:cNvSpPr>
          <p:nvPr/>
        </p:nvSpPr>
        <p:spPr bwMode="auto">
          <a:xfrm>
            <a:off x="1453599" y="4446673"/>
            <a:ext cx="3729812" cy="360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sz="21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语义分析</a:t>
            </a:r>
            <a:r>
              <a:rPr lang="zh-CN" altLang="en-US" sz="2133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133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Semantic Analysis</a:t>
            </a:r>
            <a:r>
              <a:rPr lang="zh-CN" altLang="en-US" sz="2133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</a:t>
            </a:r>
          </a:p>
        </p:txBody>
      </p:sp>
      <p:sp>
        <p:nvSpPr>
          <p:cNvPr id="52" name="Line 53"/>
          <p:cNvSpPr>
            <a:spLocks noChangeShapeType="1"/>
          </p:cNvSpPr>
          <p:nvPr/>
        </p:nvSpPr>
        <p:spPr bwMode="auto">
          <a:xfrm flipV="1">
            <a:off x="3277803" y="4159333"/>
            <a:ext cx="0" cy="287339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54" name="五边形 53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5" name="五边形 54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70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1" grpId="0"/>
      <p:bldP spid="32" grpId="0"/>
      <p:bldP spid="33" grpId="0"/>
      <p:bldP spid="34" grpId="0"/>
      <p:bldP spid="2" grpId="0" animBg="1"/>
      <p:bldP spid="2" grpId="1" animBg="1"/>
      <p:bldP spid="370739" grpId="0" animBg="1"/>
      <p:bldP spid="370739" grpId="1" animBg="1"/>
      <p:bldP spid="36" grpId="0"/>
      <p:bldP spid="37" grpId="0"/>
      <p:bldP spid="39" grpId="0"/>
      <p:bldP spid="40" grpId="0"/>
      <p:bldP spid="51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4"/>
          <p:cNvPicPr>
            <a:picLocks noChangeAspect="1" noChangeArrowheads="1"/>
          </p:cNvPicPr>
          <p:nvPr/>
        </p:nvPicPr>
        <p:blipFill>
          <a:blip r:embed="rId3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272" y="2190742"/>
            <a:ext cx="7463768" cy="2476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3"/>
          <p:cNvPicPr>
            <a:picLocks noChangeAspect="1" noChangeArrowheads="1"/>
          </p:cNvPicPr>
          <p:nvPr/>
        </p:nvPicPr>
        <p:blipFill>
          <a:blip r:embed="rId4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40" y="5715017"/>
            <a:ext cx="7008779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3"/>
          <p:cNvPicPr>
            <a:picLocks noChangeAspect="1" noChangeArrowheads="1"/>
          </p:cNvPicPr>
          <p:nvPr/>
        </p:nvPicPr>
        <p:blipFill>
          <a:blip r:embed="rId5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38" y="4740466"/>
            <a:ext cx="7434381" cy="87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7416757" y="5619765"/>
            <a:ext cx="527104" cy="1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52" y="4286256"/>
            <a:ext cx="4123336" cy="242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3"/>
          <p:cNvSpPr>
            <a:spLocks noGrp="1" noChangeArrowheads="1"/>
          </p:cNvSpPr>
          <p:nvPr>
            <p:ph idx="1"/>
          </p:nvPr>
        </p:nvSpPr>
        <p:spPr>
          <a:xfrm>
            <a:off x="1425997" y="937304"/>
            <a:ext cx="10363200" cy="5349213"/>
          </a:xfrm>
        </p:spPr>
        <p:txBody>
          <a:bodyPr>
            <a:normAutofit/>
          </a:bodyPr>
          <a:lstStyle/>
          <a:p>
            <a:pPr algn="ctr" eaLnBrk="1" hangingPunct="1">
              <a:buFont typeface="Wingdings" pitchFamily="2" charset="2"/>
              <a:buNone/>
            </a:pPr>
            <a:endParaRPr lang="en-US" altLang="zh-CN" sz="2400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 eaLnBrk="1" hangingPunct="1"/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lvl="0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词法分析</a:t>
            </a:r>
            <a:endParaRPr lang="en-US" altLang="zh-CN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0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语法分析</a:t>
            </a:r>
            <a:endParaRPr lang="en-US" altLang="zh-CN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语义分析</a:t>
            </a:r>
          </a:p>
          <a:p>
            <a:pPr lvl="0">
              <a:buClr>
                <a:srgbClr val="31B6FD"/>
              </a:buClr>
            </a:pPr>
            <a:endParaRPr lang="zh-CN" altLang="en-US" sz="3733" b="1" dirty="0">
              <a:solidFill>
                <a:srgbClr val="073E87"/>
              </a:solidFill>
              <a:latin typeface="楷体" pitchFamily="49" charset="-122"/>
              <a:cs typeface="Times New Roman" pitchFamily="18" charset="0"/>
            </a:endParaRPr>
          </a:p>
          <a:p>
            <a:pPr eaLnBrk="1" hangingPunct="1"/>
            <a:endParaRPr lang="zh-CN" altLang="en-US" sz="2667" dirty="0"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lang="zh-CN" altLang="en-US" sz="2400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352589" y="1238997"/>
            <a:ext cx="10363200" cy="16185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algn="ctr" defTabSz="1219170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667">
                <a:solidFill>
                  <a:srgbClr val="4584D3">
                    <a:lumMod val="75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200">
                <a:solidFill>
                  <a:srgbClr val="4584D3">
                    <a:lumMod val="75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  the  room  , he  broke  a  window  with  a  hammer </a:t>
            </a:r>
            <a:endParaRPr lang="zh-CN" altLang="en-US" sz="3200" dirty="0">
              <a:solidFill>
                <a:srgbClr val="4584D3">
                  <a:lumMod val="75000"/>
                </a:srgbClr>
              </a:solidFill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人脑英汉翻译的例子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0" name="五边形 19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398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E4B60B-669C-45B4-48E9-C46AEA81F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1" y="260649"/>
            <a:ext cx="11351117" cy="58634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题外话：</a:t>
            </a:r>
            <a:r>
              <a:rPr lang="zh-CN" altLang="en-US" dirty="0"/>
              <a:t>现在最新的技术是如何实现自然语言的理解和翻译的呢？</a:t>
            </a:r>
            <a:endParaRPr lang="en-US" altLang="zh-CN" dirty="0"/>
          </a:p>
          <a:p>
            <a:r>
              <a:rPr lang="zh-CN" altLang="en-US" dirty="0"/>
              <a:t>在机器学习领域，有一个研究方向，自然语言处理（</a:t>
            </a:r>
            <a:r>
              <a:rPr lang="en-US" altLang="zh-CN" dirty="0"/>
              <a:t>NLP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2017</a:t>
            </a:r>
            <a:r>
              <a:rPr lang="zh-CN" altLang="en-US" dirty="0"/>
              <a:t>年，</a:t>
            </a:r>
            <a:r>
              <a:rPr lang="en-US" altLang="zh-CN" dirty="0"/>
              <a:t>google </a:t>
            </a:r>
            <a:r>
              <a:rPr lang="zh-CN" altLang="en-US" dirty="0"/>
              <a:t>在论文 </a:t>
            </a:r>
            <a:r>
              <a:rPr lang="en-US" altLang="zh-CN" dirty="0"/>
              <a:t>Attention is all you need</a:t>
            </a:r>
            <a:r>
              <a:rPr lang="zh-CN" altLang="en-US" dirty="0"/>
              <a:t>提出了</a:t>
            </a:r>
            <a:r>
              <a:rPr lang="en-US" altLang="zh-CN" dirty="0"/>
              <a:t>Attention</a:t>
            </a:r>
            <a:r>
              <a:rPr lang="zh-CN" altLang="en-US" dirty="0"/>
              <a:t>机制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2018</a:t>
            </a:r>
            <a:r>
              <a:rPr lang="zh-CN" altLang="en-US" dirty="0"/>
              <a:t>年，</a:t>
            </a:r>
            <a:r>
              <a:rPr lang="en-US" altLang="zh-CN" dirty="0"/>
              <a:t>google</a:t>
            </a:r>
            <a:r>
              <a:rPr lang="zh-CN" altLang="en-US" dirty="0"/>
              <a:t>提出</a:t>
            </a:r>
            <a:r>
              <a:rPr lang="en-US" altLang="zh-CN" dirty="0"/>
              <a:t>BERT</a:t>
            </a:r>
            <a:r>
              <a:rPr lang="zh-CN" altLang="en-US" dirty="0"/>
              <a:t>模型，在</a:t>
            </a:r>
            <a:r>
              <a:rPr lang="en-US" altLang="zh-CN" dirty="0"/>
              <a:t>NLP</a:t>
            </a:r>
            <a:r>
              <a:rPr lang="zh-CN" altLang="en-US" dirty="0"/>
              <a:t>领域的</a:t>
            </a:r>
            <a:r>
              <a:rPr lang="en-US" altLang="zh-CN" dirty="0"/>
              <a:t>11</a:t>
            </a:r>
            <a:r>
              <a:rPr lang="zh-CN" altLang="en-US" dirty="0"/>
              <a:t>项任务上刷新了精度</a:t>
            </a:r>
            <a:endParaRPr lang="en-US" altLang="zh-CN" dirty="0"/>
          </a:p>
          <a:p>
            <a:r>
              <a:rPr lang="zh-CN" altLang="en-US" dirty="0"/>
              <a:t>谷歌翻译软件的精度普遍高于百度或者有道</a:t>
            </a:r>
            <a:endParaRPr lang="en-US" altLang="zh-CN" dirty="0"/>
          </a:p>
          <a:p>
            <a:r>
              <a:rPr lang="zh-CN" altLang="en-US" dirty="0"/>
              <a:t>最新的大模型</a:t>
            </a:r>
            <a:r>
              <a:rPr lang="en-US" altLang="zh-CN" dirty="0"/>
              <a:t>CLIP</a:t>
            </a:r>
            <a:r>
              <a:rPr lang="zh-CN" altLang="en-US" dirty="0"/>
              <a:t>、</a:t>
            </a:r>
            <a:r>
              <a:rPr lang="en-US" altLang="zh-CN" dirty="0"/>
              <a:t>CHATGPT</a:t>
            </a:r>
            <a:r>
              <a:rPr lang="zh-CN" altLang="en-US" dirty="0"/>
              <a:t>、</a:t>
            </a:r>
            <a:r>
              <a:rPr lang="en-US" altLang="zh-CN" dirty="0"/>
              <a:t>SAM</a:t>
            </a:r>
            <a:r>
              <a:rPr lang="zh-CN" altLang="en-US" dirty="0"/>
              <a:t>大部分都是由美国的</a:t>
            </a:r>
            <a:r>
              <a:rPr lang="en-US" altLang="zh-CN" dirty="0"/>
              <a:t>OpenAI</a:t>
            </a:r>
            <a:r>
              <a:rPr lang="zh-CN" altLang="en-US" dirty="0"/>
              <a:t>、</a:t>
            </a:r>
            <a:r>
              <a:rPr lang="en-US" altLang="zh-CN" dirty="0" err="1"/>
              <a:t>facebook</a:t>
            </a:r>
            <a:r>
              <a:rPr lang="zh-CN" altLang="en-US" dirty="0"/>
              <a:t>提出，除了让国人非常骄傲的</a:t>
            </a:r>
            <a:r>
              <a:rPr lang="en-US" altLang="zh-CN" dirty="0" err="1"/>
              <a:t>DeepSeek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但是，我们和美国在最新的人工智能技术上仍然存在着很大的差距，显卡上面也是处处受限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未来</a:t>
            </a:r>
            <a:r>
              <a:rPr lang="zh-CN" altLang="en-US" dirty="0"/>
              <a:t>差距越拉越大？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24FD01-6477-1F44-AA6C-53E4919D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1927" y="260649"/>
            <a:ext cx="1549101" cy="365125"/>
          </a:xfrm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altLang="zh-CN" dirty="0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8BFFB8-7632-A3E4-AB6B-F743100ED4E9}"/>
              </a:ext>
            </a:extLst>
          </p:cNvPr>
          <p:cNvSpPr txBox="1"/>
          <p:nvPr/>
        </p:nvSpPr>
        <p:spPr>
          <a:xfrm>
            <a:off x="3023659" y="5833947"/>
            <a:ext cx="576064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267" dirty="0">
                <a:solidFill>
                  <a:prstClr val="black"/>
                </a:solidFill>
                <a:latin typeface="Tahoma" pitchFamily="34" charset="0"/>
                <a:ea typeface="宋体" pitchFamily="2" charset="-122"/>
              </a:rPr>
              <a:t>国内学者任重而道远！</a:t>
            </a:r>
          </a:p>
        </p:txBody>
      </p:sp>
    </p:spTree>
    <p:extLst>
      <p:ext uri="{BB962C8B-B14F-4D97-AF65-F5344CB8AC3E}">
        <p14:creationId xmlns:p14="http://schemas.microsoft.com/office/powerpoint/2010/main" val="315152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5135893" y="2539"/>
            <a:ext cx="2962435" cy="6823475"/>
          </a:xfrm>
          <a:prstGeom prst="rect">
            <a:avLst/>
          </a:prstGeom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sp>
        <p:nvSpPr>
          <p:cNvPr id="19" name="五边形 18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3" name="五边形 2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组合 12"/>
          <p:cNvGrpSpPr/>
          <p:nvPr/>
        </p:nvGrpSpPr>
        <p:grpSpPr>
          <a:xfrm>
            <a:off x="2159564" y="523856"/>
            <a:ext cx="5938761" cy="3193177"/>
            <a:chOff x="2518423" y="40347"/>
            <a:chExt cx="4822579" cy="319317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5" name="右箭头 34"/>
            <p:cNvSpPr/>
            <p:nvPr/>
          </p:nvSpPr>
          <p:spPr>
            <a:xfrm>
              <a:off x="2518423" y="562706"/>
              <a:ext cx="2183035" cy="2190765"/>
            </a:xfrm>
            <a:prstGeom prst="rightArrow">
              <a:avLst>
                <a:gd name="adj1" fmla="val 62576"/>
                <a:gd name="adj2" fmla="val 2356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分析部分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前端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(front end)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：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与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源语言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相关</a:t>
              </a:r>
              <a:endPara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4" name="Rectangle 42"/>
            <p:cNvSpPr>
              <a:spLocks noChangeArrowheads="1"/>
            </p:cNvSpPr>
            <p:nvPr/>
          </p:nvSpPr>
          <p:spPr bwMode="auto">
            <a:xfrm>
              <a:off x="4909165" y="40347"/>
              <a:ext cx="2431837" cy="3193177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99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043840" y="4101075"/>
            <a:ext cx="6119601" cy="2496276"/>
            <a:chOff x="1547664" y="3075807"/>
            <a:chExt cx="4589701" cy="1872207"/>
          </a:xfrm>
        </p:grpSpPr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 flipH="1">
              <a:off x="3827729" y="3075807"/>
              <a:ext cx="2309636" cy="1656184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000099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0" name="右箭头 39"/>
            <p:cNvSpPr/>
            <p:nvPr/>
          </p:nvSpPr>
          <p:spPr>
            <a:xfrm>
              <a:off x="1547664" y="3304940"/>
              <a:ext cx="2072842" cy="1643074"/>
            </a:xfrm>
            <a:prstGeom prst="rightArrow">
              <a:avLst>
                <a:gd name="adj1" fmla="val 62576"/>
                <a:gd name="adj2" fmla="val 2356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综合部分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后端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(back end)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：</a:t>
              </a:r>
            </a:p>
            <a:p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与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目标语言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相关</a:t>
              </a:r>
              <a:endPara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8640223" y="2317441"/>
            <a:ext cx="2942173" cy="54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933" dirty="0">
                <a:solidFill>
                  <a:srgbClr val="FF0000"/>
                </a:solidFill>
                <a:latin typeface="Tahoma" pitchFamily="34" charset="0"/>
                <a:ea typeface="宋体" pitchFamily="2" charset="-122"/>
              </a:rPr>
              <a:t>语法制导翻译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8654F7D9-3256-98DA-56EC-D24B1B0E83C4}"/>
              </a:ext>
            </a:extLst>
          </p:cNvPr>
          <p:cNvSpPr/>
          <p:nvPr/>
        </p:nvSpPr>
        <p:spPr>
          <a:xfrm>
            <a:off x="7920203" y="1604797"/>
            <a:ext cx="720020" cy="18242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409540-DBE9-4F12-9BA9-C8691E856A2A}"/>
              </a:ext>
            </a:extLst>
          </p:cNvPr>
          <p:cNvSpPr/>
          <p:nvPr/>
        </p:nvSpPr>
        <p:spPr>
          <a:xfrm>
            <a:off x="6473142" y="5443638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B4B1DD-4489-44F2-9F7C-FA71BFB9A505}"/>
              </a:ext>
            </a:extLst>
          </p:cNvPr>
          <p:cNvSpPr/>
          <p:nvPr/>
        </p:nvSpPr>
        <p:spPr>
          <a:xfrm>
            <a:off x="6473142" y="6347674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5135893" y="15508"/>
            <a:ext cx="2962435" cy="6823475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452670"/>
            <a:ext cx="10574965" cy="480053"/>
          </a:xfrm>
        </p:spPr>
        <p:txBody>
          <a:bodyPr/>
          <a:lstStyle/>
          <a:p>
            <a:pPr algn="l"/>
            <a:r>
              <a:rPr lang="en-US" altLang="zh-CN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</a:t>
            </a:r>
          </a:p>
        </p:txBody>
      </p:sp>
      <p:sp>
        <p:nvSpPr>
          <p:cNvPr id="31" name="Rectangle 42"/>
          <p:cNvSpPr>
            <a:spLocks noChangeArrowheads="1"/>
          </p:cNvSpPr>
          <p:nvPr/>
        </p:nvSpPr>
        <p:spPr bwMode="auto">
          <a:xfrm>
            <a:off x="5304818" y="452669"/>
            <a:ext cx="2615385" cy="592075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A2EA7B-B3E1-4BF0-B83C-7CE53A1C476B}"/>
              </a:ext>
            </a:extLst>
          </p:cNvPr>
          <p:cNvSpPr/>
          <p:nvPr/>
        </p:nvSpPr>
        <p:spPr>
          <a:xfrm>
            <a:off x="6473142" y="5443638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AAD08A-6F88-4638-A14E-55C2C13AB3CD}"/>
              </a:ext>
            </a:extLst>
          </p:cNvPr>
          <p:cNvSpPr/>
          <p:nvPr/>
        </p:nvSpPr>
        <p:spPr>
          <a:xfrm>
            <a:off x="6473142" y="6347674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4"/>
            <a:ext cx="11029980" cy="4301697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667" b="1" dirty="0">
                <a:solidFill>
                  <a:schemeClr val="tx1"/>
                </a:solidFill>
              </a:rPr>
              <a:t>从左向右逐行扫描源程序的字符，识别出各个单词，确定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单词的类型</a:t>
            </a:r>
            <a:r>
              <a:rPr lang="zh-CN" altLang="en-US" sz="2667" b="1" dirty="0">
                <a:solidFill>
                  <a:schemeClr val="tx1"/>
                </a:solidFill>
              </a:rPr>
              <a:t>。</a:t>
            </a:r>
            <a:endParaRPr lang="en-US" altLang="zh-CN" sz="2667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667" b="1" dirty="0">
                <a:solidFill>
                  <a:schemeClr val="tx1"/>
                </a:solidFill>
              </a:rPr>
              <a:t>将识别出的单词转换成统一的词法单元</a:t>
            </a:r>
            <a:r>
              <a:rPr lang="en-US" altLang="zh-CN" sz="2133" b="1" dirty="0">
                <a:solidFill>
                  <a:schemeClr val="tx1"/>
                </a:solidFill>
              </a:rPr>
              <a:t>(token)</a:t>
            </a:r>
            <a:r>
              <a:rPr lang="zh-CN" altLang="en-US" sz="2800" b="1" dirty="0">
                <a:solidFill>
                  <a:schemeClr val="tx1"/>
                </a:solidFill>
              </a:rPr>
              <a:t>的</a:t>
            </a:r>
            <a:r>
              <a:rPr lang="zh-CN" altLang="en-US" sz="2667" b="1" dirty="0">
                <a:solidFill>
                  <a:schemeClr val="tx1"/>
                </a:solidFill>
              </a:rPr>
              <a:t>形式</a:t>
            </a:r>
            <a:endParaRPr lang="en-US" altLang="zh-CN" sz="2667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altLang="zh-CN" sz="2667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token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&lt; </a:t>
            </a:r>
            <a:r>
              <a:rPr lang="zh-CN" altLang="en-US" sz="2400" b="1" dirty="0">
                <a:solidFill>
                  <a:schemeClr val="tx1"/>
                </a:solidFill>
              </a:rPr>
              <a:t>种别码，属性值 </a:t>
            </a:r>
            <a:r>
              <a:rPr lang="en-US" altLang="zh-CN" sz="2400" b="1" dirty="0">
                <a:solidFill>
                  <a:schemeClr val="tx1"/>
                </a:solidFill>
              </a:rPr>
              <a:t>&gt;</a:t>
            </a:r>
          </a:p>
          <a:p>
            <a:pPr lvl="1"/>
            <a:endParaRPr lang="en-US" altLang="zh-CN" sz="2400" b="1" dirty="0"/>
          </a:p>
          <a:p>
            <a:pPr lvl="1">
              <a:buClr>
                <a:srgbClr val="3333CC"/>
              </a:buClr>
              <a:buNone/>
            </a:pPr>
            <a:endParaRPr lang="en-US" altLang="zh-CN" sz="2667" dirty="0">
              <a:solidFill>
                <a:srgbClr val="000000"/>
              </a:solidFill>
            </a:endParaRPr>
          </a:p>
          <a:p>
            <a:pPr eaLnBrk="1" hangingPunct="1"/>
            <a:endParaRPr lang="zh-CN" altLang="en-US" sz="3733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sz="44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词法分析</a:t>
            </a:r>
            <a:r>
              <a:rPr lang="en-US" altLang="zh-CN" sz="44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sz="44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扫描</a:t>
            </a:r>
            <a:r>
              <a:rPr lang="en-US" altLang="zh-CN" sz="48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4800" i="1" dirty="0">
                <a:solidFill>
                  <a:schemeClr val="tx1"/>
                </a:solidFill>
              </a:rPr>
              <a:t>Scanning</a:t>
            </a:r>
            <a:r>
              <a:rPr lang="en-US" altLang="zh-CN" sz="48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sz="7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388538"/>
              </p:ext>
            </p:extLst>
          </p:nvPr>
        </p:nvGraphicFramePr>
        <p:xfrm>
          <a:off x="952464" y="2952747"/>
          <a:ext cx="10287074" cy="3893472"/>
        </p:xfrm>
        <a:graphic>
          <a:graphicData uri="http://schemas.openxmlformats.org/drawingml/2006/table">
            <a:tbl>
              <a:tblPr/>
              <a:tblGrid>
                <a:gridCol w="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1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单词类型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关键字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program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if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else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then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标识符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变量名、数组名、记录名、过程名、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多词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常量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整型、浮点型、字符型、布尔型、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94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运算符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算术（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+  - 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*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/  ++  --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关系（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!=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逻辑（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&amp;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|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~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?</a:t>
                      </a:r>
                      <a:endParaRPr lang="zh-CN" altLang="zh-CN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界限符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}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？</a:t>
                      </a:r>
                      <a:endParaRPr lang="zh-CN" altLang="zh-CN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0" name="五边形 1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952465" y="2953806"/>
            <a:ext cx="10288132" cy="3905255"/>
            <a:chOff x="857224" y="2215354"/>
            <a:chExt cx="7716099" cy="2928941"/>
          </a:xfrm>
        </p:grpSpPr>
        <p:sp>
          <p:nvSpPr>
            <p:cNvPr id="13" name="矩形 12"/>
            <p:cNvSpPr/>
            <p:nvPr/>
          </p:nvSpPr>
          <p:spPr>
            <a:xfrm>
              <a:off x="7284090" y="2571750"/>
              <a:ext cx="138548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30000"/>
                </a:spcBef>
                <a:spcAft>
                  <a:spcPct val="0"/>
                </a:spcAft>
              </a:pPr>
              <a:endParaRPr lang="zh-CN" altLang="zh-CN" sz="2667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84090" y="2959936"/>
              <a:ext cx="138548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</a:pPr>
              <a:endParaRPr lang="zh-CN" altLang="en-US" sz="2667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284090" y="3357568"/>
              <a:ext cx="138548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30000"/>
                </a:spcBef>
                <a:spcAft>
                  <a:spcPct val="0"/>
                </a:spcAft>
              </a:pPr>
              <a:endParaRPr lang="zh-CN" altLang="zh-CN" sz="2667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rot="5400000">
              <a:off x="-606452" y="3679031"/>
              <a:ext cx="2928148" cy="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7108058" y="3679031"/>
              <a:ext cx="292894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0" y="6819899"/>
            <a:ext cx="12192000" cy="60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90559" y="952484"/>
            <a:ext cx="11029980" cy="4301697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667" b="1" dirty="0">
                <a:solidFill>
                  <a:schemeClr val="tx1"/>
                </a:solidFill>
              </a:rPr>
              <a:t>从左向右逐行扫描源程序的字符，识别出各个单词，确定</a:t>
            </a:r>
            <a:r>
              <a:rPr lang="zh-CN" altLang="en-US" sz="2667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单词的类型</a:t>
            </a:r>
            <a:r>
              <a:rPr lang="zh-CN" altLang="en-US" sz="2667" b="1" dirty="0">
                <a:solidFill>
                  <a:schemeClr val="tx1"/>
                </a:solidFill>
              </a:rPr>
              <a:t>。</a:t>
            </a:r>
            <a:endParaRPr lang="en-US" altLang="zh-CN" sz="2667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667" b="1" dirty="0">
                <a:solidFill>
                  <a:schemeClr val="tx1"/>
                </a:solidFill>
              </a:rPr>
              <a:t>将识别出的单词转换成统一的词法单元</a:t>
            </a:r>
            <a:r>
              <a:rPr lang="en-US" altLang="zh-CN" sz="2133" b="1" dirty="0">
                <a:solidFill>
                  <a:schemeClr val="tx1"/>
                </a:solidFill>
              </a:rPr>
              <a:t>(token)</a:t>
            </a:r>
            <a:r>
              <a:rPr lang="zh-CN" altLang="en-US" sz="2800" b="1" dirty="0">
                <a:solidFill>
                  <a:schemeClr val="tx1"/>
                </a:solidFill>
              </a:rPr>
              <a:t>的</a:t>
            </a:r>
            <a:r>
              <a:rPr lang="zh-CN" altLang="en-US" sz="2667" b="1" dirty="0">
                <a:solidFill>
                  <a:schemeClr val="tx1"/>
                </a:solidFill>
              </a:rPr>
              <a:t>形式</a:t>
            </a:r>
            <a:endParaRPr lang="en-US" altLang="zh-CN" sz="2667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altLang="zh-CN" sz="2667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token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&lt; </a:t>
            </a:r>
            <a:r>
              <a:rPr lang="zh-CN" altLang="en-US" sz="2400" b="1" dirty="0">
                <a:solidFill>
                  <a:schemeClr val="tx1"/>
                </a:solidFill>
              </a:rPr>
              <a:t>种别码，属性值 </a:t>
            </a:r>
            <a:r>
              <a:rPr lang="en-US" altLang="zh-CN" sz="2400" b="1" dirty="0">
                <a:solidFill>
                  <a:schemeClr val="tx1"/>
                </a:solidFill>
              </a:rPr>
              <a:t>&gt;</a:t>
            </a:r>
          </a:p>
          <a:p>
            <a:pPr lvl="1"/>
            <a:endParaRPr lang="en-US" altLang="zh-CN" sz="2400" b="1" dirty="0"/>
          </a:p>
          <a:p>
            <a:pPr lvl="1">
              <a:buClr>
                <a:srgbClr val="3333CC"/>
              </a:buClr>
              <a:buNone/>
            </a:pPr>
            <a:endParaRPr lang="en-US" altLang="zh-CN" sz="2667" dirty="0">
              <a:solidFill>
                <a:srgbClr val="000000"/>
              </a:solidFill>
            </a:endParaRPr>
          </a:p>
          <a:p>
            <a:pPr eaLnBrk="1" hangingPunct="1"/>
            <a:endParaRPr lang="zh-CN" altLang="en-US" sz="3733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sz="44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词法分析</a:t>
            </a:r>
            <a:r>
              <a:rPr lang="en-US" altLang="zh-CN" sz="44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sz="44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扫描</a:t>
            </a:r>
            <a:r>
              <a:rPr lang="en-US" altLang="zh-CN" sz="48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4800" i="1" dirty="0">
                <a:solidFill>
                  <a:schemeClr val="tx1"/>
                </a:solidFill>
              </a:rPr>
              <a:t>Scanning</a:t>
            </a:r>
            <a:r>
              <a:rPr lang="en-US" altLang="zh-CN" sz="48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sz="7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" name="Group 18"/>
          <p:cNvGraphicFramePr>
            <a:graphicFrameLocks noGrp="1"/>
          </p:cNvGraphicFramePr>
          <p:nvPr/>
        </p:nvGraphicFramePr>
        <p:xfrm>
          <a:off x="952464" y="2952747"/>
          <a:ext cx="10287074" cy="3893472"/>
        </p:xfrm>
        <a:graphic>
          <a:graphicData uri="http://schemas.openxmlformats.org/drawingml/2006/table">
            <a:tbl>
              <a:tblPr/>
              <a:tblGrid>
                <a:gridCol w="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1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单词类型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关键字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program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if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else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then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标识符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变量名、数组名、记录名、过程名、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多词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常量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整型、浮点型、字符型、布尔型、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94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运算符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算术（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+  - 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*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/  ++  --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关系（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!=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&lt;=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逻辑（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&amp;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|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~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或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zh-CN" sz="24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6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133669" marR="133669" marT="50136" marB="50136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界限符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}</a:t>
                      </a: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0" name="五边形 1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952465" y="2953806"/>
            <a:ext cx="10288132" cy="3905255"/>
            <a:chOff x="857224" y="2215354"/>
            <a:chExt cx="7716099" cy="2928941"/>
          </a:xfrm>
        </p:grpSpPr>
        <p:sp>
          <p:nvSpPr>
            <p:cNvPr id="13" name="矩形 12"/>
            <p:cNvSpPr/>
            <p:nvPr/>
          </p:nvSpPr>
          <p:spPr>
            <a:xfrm>
              <a:off x="7284090" y="2571750"/>
              <a:ext cx="138548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30000"/>
                </a:spcBef>
                <a:spcAft>
                  <a:spcPct val="0"/>
                </a:spcAft>
              </a:pPr>
              <a:endParaRPr lang="zh-CN" altLang="zh-CN" sz="2667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84090" y="2959936"/>
              <a:ext cx="138548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</a:pPr>
              <a:endParaRPr lang="zh-CN" altLang="en-US" sz="2667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284090" y="3357568"/>
              <a:ext cx="138548" cy="377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spcBef>
                  <a:spcPct val="30000"/>
                </a:spcBef>
                <a:spcAft>
                  <a:spcPct val="0"/>
                </a:spcAft>
              </a:pPr>
              <a:endParaRPr lang="zh-CN" altLang="zh-CN" sz="2667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rot="5400000">
              <a:off x="-606452" y="3679031"/>
              <a:ext cx="2928148" cy="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7108058" y="3679031"/>
              <a:ext cx="292894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0" y="6819899"/>
            <a:ext cx="12192000" cy="60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42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例：词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法分析后得到的</a:t>
            </a:r>
            <a:r>
              <a:rPr lang="en-US" altLang="zh-CN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token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序列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380960" y="1333485"/>
            <a:ext cx="12096792" cy="7810555"/>
          </a:xfrm>
        </p:spPr>
        <p:txBody>
          <a:bodyPr>
            <a:noAutofit/>
          </a:bodyPr>
          <a:lstStyle/>
          <a:p>
            <a:pPr>
              <a:lnSpc>
                <a:spcPts val="1067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while(value!=100){</a:t>
            </a:r>
            <a:r>
              <a:rPr lang="en-US" altLang="zh-CN" b="1" dirty="0" err="1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num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++;}</a:t>
            </a:r>
          </a:p>
          <a:p>
            <a:pPr>
              <a:lnSpc>
                <a:spcPts val="1067"/>
              </a:lnSpc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ts val="1067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输出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   while</a:t>
            </a:r>
            <a:r>
              <a:rPr lang="en-US" altLang="zh-CN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 WHILE ,       - </a:t>
            </a:r>
            <a:r>
              <a:rPr lang="en-US" altLang="zh-CN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&gt;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 2      (           &lt;    SLP     ,       -        &gt;</a:t>
            </a:r>
          </a:p>
          <a:p>
            <a:pPr lvl="1" algn="just">
              <a:lnSpc>
                <a:spcPts val="1067"/>
              </a:lnSpc>
              <a:buNone/>
            </a:pPr>
            <a:endParaRPr lang="en-US" altLang="zh-CN" sz="32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     3   value      &lt;    </a:t>
            </a:r>
            <a:r>
              <a:rPr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IDN  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,   value    &gt;</a:t>
            </a:r>
            <a:endParaRPr lang="zh-CN" altLang="en-US" sz="32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  <a:p>
            <a:pPr lvl="1" algn="just">
              <a:lnSpc>
                <a:spcPts val="1067"/>
              </a:lnSpc>
              <a:buNone/>
            </a:pPr>
            <a:endParaRPr lang="en-US" altLang="zh-CN" sz="32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 4     </a:t>
            </a:r>
            <a:r>
              <a:rPr lang="zh-CN" altLang="en-US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!=          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&lt;</a:t>
            </a:r>
            <a:r>
              <a:rPr lang="zh-CN" altLang="en-US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NE     ,        - 	&gt;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     5    100        &lt; </a:t>
            </a:r>
            <a:r>
              <a:rPr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CONST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,    100       &gt;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     6       )          &lt;    SRP    ,        - 	&gt;</a:t>
            </a:r>
          </a:p>
          <a:p>
            <a:pPr lvl="1" algn="just">
              <a:lnSpc>
                <a:spcPts val="1067"/>
              </a:lnSpc>
              <a:buNone/>
            </a:pPr>
            <a:endParaRPr lang="en-US" altLang="zh-CN" sz="32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 7       {     	&lt;     LP      ,        - 	&gt;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 8   </a:t>
            </a:r>
            <a:r>
              <a:rPr lang="en-US" altLang="zh-CN" sz="3200" b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num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	&lt;    </a:t>
            </a:r>
            <a:r>
              <a:rPr lang="en-US" altLang="zh-CN" sz="32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IDN   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,     </a:t>
            </a:r>
            <a:r>
              <a:rPr lang="en-US" altLang="zh-CN" sz="3200" b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num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&gt;</a:t>
            </a:r>
            <a:endParaRPr lang="zh-CN" altLang="en-US" sz="32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 9      </a:t>
            </a:r>
            <a:r>
              <a:rPr lang="zh-CN" altLang="en-US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++   	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&lt;</a:t>
            </a:r>
            <a:r>
              <a:rPr lang="zh-CN" altLang="en-US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</a:t>
            </a: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INC     ,        - 	&gt;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10       ;         &lt;  SEMI    ,        - 	&gt;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</a:t>
            </a:r>
          </a:p>
          <a:p>
            <a:pPr lvl="1" algn="just">
              <a:lnSpc>
                <a:spcPts val="1067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	       11       }         &lt;      RP     ,        - 	&gt;    </a:t>
            </a:r>
            <a:endParaRPr lang="zh-CN" altLang="en-US" sz="32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AutoShape 208"/>
          <p:cNvSpPr>
            <a:spLocks noChangeArrowheads="1"/>
          </p:cNvSpPr>
          <p:nvPr/>
        </p:nvSpPr>
        <p:spPr bwMode="auto">
          <a:xfrm>
            <a:off x="8191515" y="2000240"/>
            <a:ext cx="3810027" cy="1905013"/>
          </a:xfrm>
          <a:prstGeom prst="cloudCallout">
            <a:avLst>
              <a:gd name="adj1" fmla="val -49536"/>
              <a:gd name="adj2" fmla="val 71871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467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如何实现</a:t>
            </a:r>
            <a:endParaRPr lang="en-US" altLang="zh-CN" sz="3467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467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词法分析器？</a:t>
            </a:r>
            <a:endParaRPr lang="en-US" altLang="zh-CN" sz="3467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5135893" y="15508"/>
            <a:ext cx="2962435" cy="6823475"/>
          </a:xfrm>
          <a:prstGeom prst="rect">
            <a:avLst/>
          </a:prstGeom>
        </p:spPr>
      </p:pic>
      <p:sp>
        <p:nvSpPr>
          <p:cNvPr id="20" name="Rectangle 42"/>
          <p:cNvSpPr>
            <a:spLocks noChangeArrowheads="1"/>
          </p:cNvSpPr>
          <p:nvPr/>
        </p:nvSpPr>
        <p:spPr bwMode="auto">
          <a:xfrm>
            <a:off x="5304818" y="1412776"/>
            <a:ext cx="2615385" cy="53854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452670"/>
            <a:ext cx="10574965" cy="480053"/>
          </a:xfrm>
        </p:spPr>
        <p:txBody>
          <a:bodyPr/>
          <a:lstStyle/>
          <a:p>
            <a:pPr algn="l"/>
            <a:r>
              <a:rPr lang="en-US" altLang="zh-CN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语法分析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7B154A-465E-41AD-994B-267050ED5EAD}"/>
              </a:ext>
            </a:extLst>
          </p:cNvPr>
          <p:cNvSpPr/>
          <p:nvPr/>
        </p:nvSpPr>
        <p:spPr>
          <a:xfrm>
            <a:off x="6473142" y="5443638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15A2B6-C558-4DEA-A39D-B92F8E63F4C9}"/>
              </a:ext>
            </a:extLst>
          </p:cNvPr>
          <p:cNvSpPr/>
          <p:nvPr/>
        </p:nvSpPr>
        <p:spPr>
          <a:xfrm>
            <a:off x="6473142" y="6347674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语法分析 </a:t>
            </a:r>
            <a:r>
              <a:rPr lang="en-US" altLang="zh-CN" sz="4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( </a:t>
            </a:r>
            <a:r>
              <a:rPr lang="en-US" altLang="zh-CN" sz="4000" i="1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parsing</a:t>
            </a:r>
            <a:r>
              <a:rPr lang="en-US" altLang="zh-CN" sz="4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lang="zh-CN" altLang="en-US" sz="4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260648"/>
            <a:ext cx="1007435" cy="576064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571461" y="1124745"/>
            <a:ext cx="10325073" cy="489828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语法分析器</a:t>
            </a:r>
            <a:r>
              <a:rPr lang="en-US" altLang="zh-CN" sz="3333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(parser)</a:t>
            </a: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从词法分析器输出的</a:t>
            </a:r>
            <a:r>
              <a:rPr lang="en-US" altLang="zh-CN" sz="3333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token</a:t>
            </a: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序列中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识别出各类短语</a:t>
            </a: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，并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构造语法分析树</a:t>
            </a:r>
            <a:r>
              <a:rPr lang="en-US" altLang="zh-CN" sz="3333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(parse tree)</a:t>
            </a:r>
            <a:endParaRPr lang="en-US" altLang="zh-CN" sz="3333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10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</a:rPr>
              <a:t>语法分析树描述了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</a:t>
            </a:r>
            <a:r>
              <a:rPr lang="zh-CN" altLang="en-US" sz="2667" b="1" dirty="0">
                <a:solidFill>
                  <a:schemeClr val="tx1"/>
                </a:solidFill>
                <a:latin typeface="楷体" pitchFamily="49" charset="-122"/>
              </a:rPr>
              <a:t>的语法结构</a:t>
            </a:r>
          </a:p>
          <a:p>
            <a:endParaRPr lang="en-US" altLang="zh-CN" b="1" dirty="0"/>
          </a:p>
          <a:p>
            <a:endParaRPr lang="zh-CN" altLang="en-US" sz="3733" dirty="0"/>
          </a:p>
        </p:txBody>
      </p:sp>
      <p:pic>
        <p:nvPicPr>
          <p:cNvPr id="10" name="Picture 74"/>
          <p:cNvPicPr>
            <a:picLocks noChangeAspect="1" noChangeArrowheads="1"/>
          </p:cNvPicPr>
          <p:nvPr/>
        </p:nvPicPr>
        <p:blipFill>
          <a:blip r:embed="rId3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541" y="2948947"/>
            <a:ext cx="7463768" cy="2476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3"/>
          <p:cNvPicPr>
            <a:picLocks noChangeAspect="1" noChangeArrowheads="1"/>
          </p:cNvPicPr>
          <p:nvPr/>
        </p:nvPicPr>
        <p:blipFill>
          <a:blip r:embed="rId4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507" y="5498671"/>
            <a:ext cx="7434381" cy="87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027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-336715" y="1142984"/>
            <a:ext cx="12624008" cy="345069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3733" dirty="0">
                <a:solidFill>
                  <a:srgbClr val="0000FF"/>
                </a:solidFill>
              </a:rPr>
              <a:t>	    </a:t>
            </a:r>
            <a:r>
              <a:rPr lang="en-US" altLang="zh-CN" sz="3733" b="1" dirty="0">
                <a:solidFill>
                  <a:schemeClr val="tx1"/>
                </a:solidFill>
              </a:rPr>
              <a:t>position  =   initial  +   rate  *    60     ;</a:t>
            </a:r>
          </a:p>
          <a:p>
            <a:pPr marL="0" indent="0">
              <a:buNone/>
              <a:defRPr/>
            </a:pPr>
            <a:r>
              <a:rPr lang="en-US" altLang="zh-CN" sz="1333" b="1" dirty="0">
                <a:solidFill>
                  <a:schemeClr val="tx1"/>
                </a:solidFill>
              </a:rPr>
              <a:t>       </a:t>
            </a:r>
            <a:r>
              <a:rPr lang="en-US" altLang="zh-CN" sz="2133" b="1" dirty="0">
                <a:solidFill>
                  <a:schemeClr val="tx1"/>
                </a:solidFill>
              </a:rPr>
              <a:t>                     &lt;id, position&gt;  &lt;=&gt;   &lt;</a:t>
            </a:r>
            <a:r>
              <a:rPr lang="en-US" altLang="zh-CN" sz="2133" b="1" dirty="0" err="1">
                <a:solidFill>
                  <a:schemeClr val="tx1"/>
                </a:solidFill>
              </a:rPr>
              <a:t>id,initial</a:t>
            </a:r>
            <a:r>
              <a:rPr lang="en-US" altLang="zh-CN" sz="2133" b="1" dirty="0">
                <a:solidFill>
                  <a:schemeClr val="tx1"/>
                </a:solidFill>
              </a:rPr>
              <a:t>&gt;  &lt;+&gt; &lt;id, rate&gt; &lt;*&gt; &lt;num,60&gt; &lt;;&gt;</a:t>
            </a:r>
          </a:p>
          <a:p>
            <a:pPr>
              <a:defRPr/>
            </a:pPr>
            <a:endParaRPr lang="zh-CN" altLang="en-US" sz="2667" dirty="0"/>
          </a:p>
        </p:txBody>
      </p: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：赋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值语句的分析树</a:t>
            </a:r>
          </a:p>
        </p:txBody>
      </p:sp>
      <p:grpSp>
        <p:nvGrpSpPr>
          <p:cNvPr id="9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" name="五边形 1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583499" y="2564905"/>
            <a:ext cx="8118447" cy="3437841"/>
            <a:chOff x="787421" y="2081601"/>
            <a:chExt cx="7409259" cy="3061899"/>
          </a:xfrm>
        </p:grpSpPr>
        <p:grpSp>
          <p:nvGrpSpPr>
            <p:cNvPr id="3" name="组合 2"/>
            <p:cNvGrpSpPr/>
            <p:nvPr/>
          </p:nvGrpSpPr>
          <p:grpSpPr>
            <a:xfrm>
              <a:off x="787421" y="2081601"/>
              <a:ext cx="7409259" cy="3061899"/>
              <a:chOff x="787421" y="2081601"/>
              <a:chExt cx="7409259" cy="3061899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421" y="2081601"/>
                <a:ext cx="7409259" cy="3061899"/>
              </a:xfrm>
              <a:prstGeom prst="rect">
                <a:avLst/>
              </a:prstGeom>
            </p:spPr>
          </p:pic>
          <p:cxnSp>
            <p:nvCxnSpPr>
              <p:cNvPr id="4" name="直接连接符 3"/>
              <p:cNvCxnSpPr/>
              <p:nvPr/>
            </p:nvCxnSpPr>
            <p:spPr>
              <a:xfrm>
                <a:off x="3779912" y="2427734"/>
                <a:ext cx="2448272" cy="36004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矩形 4"/>
              <p:cNvSpPr/>
              <p:nvPr/>
            </p:nvSpPr>
            <p:spPr>
              <a:xfrm>
                <a:off x="6048164" y="2787775"/>
                <a:ext cx="360040" cy="2297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3200" b="1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;</a:t>
                </a:r>
                <a:endParaRPr lang="zh-CN" altLang="en-US" sz="3200" b="1" dirty="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2771800" y="2643758"/>
              <a:ext cx="21602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white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407701" y="4005064"/>
            <a:ext cx="6432715" cy="2016224"/>
            <a:chOff x="2555776" y="3003798"/>
            <a:chExt cx="4824536" cy="1512168"/>
          </a:xfrm>
        </p:grpSpPr>
        <p:sp>
          <p:nvSpPr>
            <p:cNvPr id="8" name="矩形 7"/>
            <p:cNvSpPr/>
            <p:nvPr/>
          </p:nvSpPr>
          <p:spPr>
            <a:xfrm>
              <a:off x="2555776" y="3003798"/>
              <a:ext cx="1091039" cy="1008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white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13009" y="3507854"/>
              <a:ext cx="1091039" cy="1008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white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89273" y="3507854"/>
              <a:ext cx="1091039" cy="1008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white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</p:grp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59" name="五边形 5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0" name="五边形 5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61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13" y="-14493"/>
            <a:ext cx="10972800" cy="1252728"/>
          </a:xfrm>
        </p:spPr>
        <p:txBody>
          <a:bodyPr>
            <a:normAutofit/>
          </a:bodyPr>
          <a:lstStyle/>
          <a:p>
            <a:pPr algn="l"/>
            <a:r>
              <a:rPr lang="en-US" altLang="zh-CN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：变量声明语句的分析树</a:t>
            </a:r>
          </a:p>
        </p:txBody>
      </p:sp>
      <p:sp>
        <p:nvSpPr>
          <p:cNvPr id="62" name="内容占位符 2"/>
          <p:cNvSpPr>
            <a:spLocks noGrp="1"/>
          </p:cNvSpPr>
          <p:nvPr>
            <p:ph idx="1"/>
          </p:nvPr>
        </p:nvSpPr>
        <p:spPr>
          <a:xfrm>
            <a:off x="742989" y="1142985"/>
            <a:ext cx="10972800" cy="5097431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文法：</a:t>
            </a:r>
            <a:endParaRPr lang="en-US" altLang="zh-CN" sz="3333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 → &lt;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 &lt;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IDS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&gt;;</a:t>
            </a:r>
          </a:p>
          <a:p>
            <a:pPr lvl="1">
              <a:buNone/>
            </a:pP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 → </a:t>
            </a:r>
            <a:r>
              <a:rPr lang="en-US" altLang="zh-CN" sz="3333" b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| real | char | </a:t>
            </a:r>
            <a:r>
              <a:rPr lang="en-US" altLang="zh-CN" sz="3333" b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bool</a:t>
            </a:r>
            <a:endParaRPr lang="en-US" altLang="zh-CN" sz="3333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IDS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 → id | &lt;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IDS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&gt;, id </a:t>
            </a:r>
            <a:endParaRPr lang="zh-CN" altLang="en-US" sz="3333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有一条声明语句为：</a:t>
            </a:r>
            <a:endParaRPr lang="en-US" altLang="zh-CN" sz="3333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CN" sz="3333" b="1" dirty="0" err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;</a:t>
            </a:r>
            <a:endParaRPr lang="zh-CN" altLang="en-US" sz="3333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576053" y="1209883"/>
            <a:ext cx="5429288" cy="4743190"/>
            <a:chOff x="3837410" y="2390105"/>
            <a:chExt cx="3025328" cy="2533935"/>
          </a:xfrm>
        </p:grpSpPr>
        <p:sp>
          <p:nvSpPr>
            <p:cNvPr id="64" name="Rectangle 45"/>
            <p:cNvSpPr>
              <a:spLocks noChangeArrowheads="1"/>
            </p:cNvSpPr>
            <p:nvPr/>
          </p:nvSpPr>
          <p:spPr bwMode="auto">
            <a:xfrm>
              <a:off x="5471320" y="3364805"/>
              <a:ext cx="377540" cy="3430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zh-CN" altLang="en-US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，</a:t>
              </a:r>
            </a:p>
          </p:txBody>
        </p:sp>
        <p:sp>
          <p:nvSpPr>
            <p:cNvPr id="65" name="Rectangle 46"/>
            <p:cNvSpPr>
              <a:spLocks noChangeArrowheads="1"/>
            </p:cNvSpPr>
            <p:nvPr/>
          </p:nvSpPr>
          <p:spPr bwMode="auto">
            <a:xfrm>
              <a:off x="6372200" y="2950121"/>
              <a:ext cx="490538" cy="312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73E87"/>
                </a:buClr>
                <a:buSzPct val="75000"/>
              </a:pP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;</a:t>
              </a:r>
              <a:endParaRPr kumimoji="1" lang="zh-CN" altLang="en-US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6" name="Line 47"/>
            <p:cNvSpPr>
              <a:spLocks noChangeShapeType="1"/>
            </p:cNvSpPr>
            <p:nvPr/>
          </p:nvSpPr>
          <p:spPr bwMode="auto">
            <a:xfrm flipH="1">
              <a:off x="4932040" y="3219821"/>
              <a:ext cx="648072" cy="216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67" name="Line 48"/>
            <p:cNvSpPr>
              <a:spLocks noChangeShapeType="1"/>
            </p:cNvSpPr>
            <p:nvPr/>
          </p:nvSpPr>
          <p:spPr bwMode="auto">
            <a:xfrm>
              <a:off x="5580112" y="3184624"/>
              <a:ext cx="1588" cy="2512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68" name="Line 49"/>
            <p:cNvSpPr>
              <a:spLocks noChangeShapeType="1"/>
            </p:cNvSpPr>
            <p:nvPr/>
          </p:nvSpPr>
          <p:spPr bwMode="auto">
            <a:xfrm>
              <a:off x="5580112" y="3219822"/>
              <a:ext cx="432048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69" name="Rectangle 51"/>
            <p:cNvSpPr>
              <a:spLocks noChangeArrowheads="1"/>
            </p:cNvSpPr>
            <p:nvPr/>
          </p:nvSpPr>
          <p:spPr bwMode="auto">
            <a:xfrm>
              <a:off x="5326176" y="2390105"/>
              <a:ext cx="582090" cy="34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&lt;</a:t>
              </a:r>
              <a:r>
                <a:rPr kumimoji="1" lang="en-US" altLang="zh-CN" sz="3333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&gt;</a:t>
              </a:r>
            </a:p>
          </p:txBody>
        </p:sp>
        <p:sp>
          <p:nvSpPr>
            <p:cNvPr id="70" name="Rectangle 52"/>
            <p:cNvSpPr>
              <a:spLocks noChangeArrowheads="1"/>
            </p:cNvSpPr>
            <p:nvPr/>
          </p:nvSpPr>
          <p:spPr bwMode="auto">
            <a:xfrm>
              <a:off x="5217384" y="2863220"/>
              <a:ext cx="807184" cy="34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&lt;</a:t>
              </a:r>
              <a:r>
                <a:rPr kumimoji="1" lang="en-US" altLang="zh-CN" sz="3333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IDS</a:t>
              </a: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&gt;</a:t>
              </a:r>
            </a:p>
          </p:txBody>
        </p:sp>
        <p:sp>
          <p:nvSpPr>
            <p:cNvPr id="71" name="Rectangle 53"/>
            <p:cNvSpPr>
              <a:spLocks noChangeArrowheads="1"/>
            </p:cNvSpPr>
            <p:nvPr/>
          </p:nvSpPr>
          <p:spPr bwMode="auto">
            <a:xfrm>
              <a:off x="4102790" y="4221979"/>
              <a:ext cx="415949" cy="702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667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id</a:t>
              </a:r>
            </a:p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3333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72" name="Rectangle 54"/>
            <p:cNvSpPr>
              <a:spLocks noChangeArrowheads="1"/>
            </p:cNvSpPr>
            <p:nvPr/>
          </p:nvSpPr>
          <p:spPr bwMode="auto">
            <a:xfrm>
              <a:off x="3837410" y="2914384"/>
              <a:ext cx="555293" cy="34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&lt;</a:t>
              </a:r>
              <a:r>
                <a:rPr kumimoji="1" lang="en-US" altLang="zh-CN" sz="3333" b="1" i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&gt;</a:t>
              </a:r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 flipH="1">
              <a:off x="4139952" y="2715766"/>
              <a:ext cx="1440160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4" name="Line 56"/>
            <p:cNvSpPr>
              <a:spLocks noChangeShapeType="1"/>
            </p:cNvSpPr>
            <p:nvPr/>
          </p:nvSpPr>
          <p:spPr bwMode="auto">
            <a:xfrm>
              <a:off x="5580112" y="2715766"/>
              <a:ext cx="864096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5" name="Rectangle 57"/>
            <p:cNvSpPr>
              <a:spLocks noChangeArrowheads="1"/>
            </p:cNvSpPr>
            <p:nvPr/>
          </p:nvSpPr>
          <p:spPr bwMode="auto">
            <a:xfrm>
              <a:off x="4572000" y="3407813"/>
              <a:ext cx="807184" cy="34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&lt;</a:t>
              </a:r>
              <a:r>
                <a:rPr kumimoji="1" lang="en-US" altLang="zh-CN" sz="3333" b="1" i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IDS</a:t>
              </a: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&gt;</a:t>
              </a:r>
            </a:p>
          </p:txBody>
        </p:sp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5876872" y="3418384"/>
              <a:ext cx="402550" cy="702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 id</a:t>
              </a:r>
            </a:p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3333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77" name="Line 59"/>
            <p:cNvSpPr>
              <a:spLocks noChangeShapeType="1"/>
            </p:cNvSpPr>
            <p:nvPr/>
          </p:nvSpPr>
          <p:spPr bwMode="auto">
            <a:xfrm flipH="1">
              <a:off x="5580112" y="2715766"/>
              <a:ext cx="0" cy="2059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8" name="Line 60"/>
            <p:cNvSpPr>
              <a:spLocks noChangeShapeType="1"/>
            </p:cNvSpPr>
            <p:nvPr/>
          </p:nvSpPr>
          <p:spPr bwMode="auto">
            <a:xfrm flipH="1">
              <a:off x="4139952" y="3219152"/>
              <a:ext cx="0" cy="2166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9" name="Rectangle 61"/>
            <p:cNvSpPr>
              <a:spLocks noChangeArrowheads="1"/>
            </p:cNvSpPr>
            <p:nvPr/>
          </p:nvSpPr>
          <p:spPr bwMode="auto">
            <a:xfrm>
              <a:off x="3943562" y="3407813"/>
              <a:ext cx="415949" cy="34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 err="1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int</a:t>
              </a:r>
              <a:endParaRPr kumimoji="1"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0" name="Rectangle 62"/>
            <p:cNvSpPr>
              <a:spLocks noChangeArrowheads="1"/>
            </p:cNvSpPr>
            <p:nvPr/>
          </p:nvSpPr>
          <p:spPr bwMode="auto">
            <a:xfrm>
              <a:off x="4834409" y="3795812"/>
              <a:ext cx="377540" cy="3430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zh-CN" altLang="en-US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，</a:t>
              </a:r>
            </a:p>
          </p:txBody>
        </p:sp>
        <p:sp>
          <p:nvSpPr>
            <p:cNvPr id="81" name="Line 63"/>
            <p:cNvSpPr>
              <a:spLocks noChangeShapeType="1"/>
            </p:cNvSpPr>
            <p:nvPr/>
          </p:nvSpPr>
          <p:spPr bwMode="auto">
            <a:xfrm flipH="1">
              <a:off x="4283596" y="3723878"/>
              <a:ext cx="648444" cy="125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2" name="Line 64"/>
            <p:cNvSpPr>
              <a:spLocks noChangeShapeType="1"/>
            </p:cNvSpPr>
            <p:nvPr/>
          </p:nvSpPr>
          <p:spPr bwMode="auto">
            <a:xfrm>
              <a:off x="4932040" y="3723878"/>
              <a:ext cx="1588" cy="1790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932040" y="3723878"/>
              <a:ext cx="432048" cy="144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4" name="Line 66"/>
            <p:cNvSpPr>
              <a:spLocks noChangeShapeType="1"/>
            </p:cNvSpPr>
            <p:nvPr/>
          </p:nvSpPr>
          <p:spPr bwMode="auto">
            <a:xfrm flipH="1">
              <a:off x="4283596" y="4098230"/>
              <a:ext cx="0" cy="183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5" name="Rectangle 68"/>
            <p:cNvSpPr>
              <a:spLocks noChangeArrowheads="1"/>
            </p:cNvSpPr>
            <p:nvPr/>
          </p:nvSpPr>
          <p:spPr bwMode="auto">
            <a:xfrm>
              <a:off x="3907573" y="3789518"/>
              <a:ext cx="807184" cy="345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&lt;</a:t>
              </a:r>
              <a:r>
                <a:rPr kumimoji="1" lang="en-US" altLang="zh-CN" sz="3333" b="1" i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IDS</a:t>
              </a:r>
              <a:r>
                <a:rPr kumimoji="1" lang="en-US" altLang="zh-CN" sz="3333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</a:rPr>
                <a:t>&gt;</a:t>
              </a:r>
            </a:p>
          </p:txBody>
        </p:sp>
        <p:sp>
          <p:nvSpPr>
            <p:cNvPr id="86" name="Rectangle 69"/>
            <p:cNvSpPr>
              <a:spLocks noChangeArrowheads="1"/>
            </p:cNvSpPr>
            <p:nvPr/>
          </p:nvSpPr>
          <p:spPr bwMode="auto">
            <a:xfrm>
              <a:off x="5164308" y="3850580"/>
              <a:ext cx="415949" cy="702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 id</a:t>
              </a:r>
            </a:p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kumimoji="1" lang="en-US" altLang="zh-CN" sz="3333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b</a:t>
              </a:r>
              <a:r>
                <a:rPr kumimoji="1" lang="en-US" altLang="zh-CN" sz="3333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</p:grpSp>
      <p:sp>
        <p:nvSpPr>
          <p:cNvPr id="87" name="AutoShape 73"/>
          <p:cNvSpPr>
            <a:spLocks noChangeArrowheads="1"/>
          </p:cNvSpPr>
          <p:nvPr/>
        </p:nvSpPr>
        <p:spPr bwMode="auto">
          <a:xfrm>
            <a:off x="742989" y="4869161"/>
            <a:ext cx="6362768" cy="1807423"/>
          </a:xfrm>
          <a:prstGeom prst="cloudCallout">
            <a:avLst>
              <a:gd name="adj1" fmla="val -3555"/>
              <a:gd name="adj2" fmla="val -116084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333" b="1" kern="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如何根据语法规则为输入句子构造分析树？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5135893" y="15508"/>
            <a:ext cx="2962435" cy="6823475"/>
          </a:xfrm>
          <a:prstGeom prst="rect">
            <a:avLst/>
          </a:prstGeom>
        </p:spPr>
      </p:pic>
      <p:sp>
        <p:nvSpPr>
          <p:cNvPr id="18" name="Rectangle 42"/>
          <p:cNvSpPr>
            <a:spLocks noChangeArrowheads="1"/>
          </p:cNvSpPr>
          <p:nvPr/>
        </p:nvSpPr>
        <p:spPr bwMode="auto">
          <a:xfrm>
            <a:off x="5304818" y="2260893"/>
            <a:ext cx="2615385" cy="53854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452670"/>
            <a:ext cx="10574965" cy="480053"/>
          </a:xfrm>
        </p:spPr>
        <p:txBody>
          <a:bodyPr/>
          <a:lstStyle/>
          <a:p>
            <a:pPr algn="l"/>
            <a:r>
              <a:rPr lang="en-US" altLang="zh-CN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E3E95B-D5A1-48B0-9AB1-2AD6F6338E01}"/>
              </a:ext>
            </a:extLst>
          </p:cNvPr>
          <p:cNvSpPr/>
          <p:nvPr/>
        </p:nvSpPr>
        <p:spPr>
          <a:xfrm>
            <a:off x="6473142" y="5443638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F481E3-2E5C-4995-8D50-084F03F78C71}"/>
              </a:ext>
            </a:extLst>
          </p:cNvPr>
          <p:cNvSpPr/>
          <p:nvPr/>
        </p:nvSpPr>
        <p:spPr>
          <a:xfrm>
            <a:off x="6473142" y="6347674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6713" y="1124745"/>
            <a:ext cx="9601220" cy="4301697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4000" b="1" dirty="0">
                <a:solidFill>
                  <a:schemeClr val="tx1"/>
                </a:solidFill>
                <a:latin typeface="Times New Roman"/>
              </a:rPr>
              <a:t>收集标识符的属性信息                                                                                      </a:t>
            </a:r>
            <a:endParaRPr lang="en-US" altLang="zh-CN" sz="4000" b="1" dirty="0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zh-CN" altLang="en-US" sz="2667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8" name="内容占位符 1"/>
          <p:cNvSpPr txBox="1">
            <a:spLocks/>
          </p:cNvSpPr>
          <p:nvPr/>
        </p:nvSpPr>
        <p:spPr>
          <a:xfrm>
            <a:off x="1428718" y="2378421"/>
            <a:ext cx="9601220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简单变量、复合变量（数组、记录、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…</a:t>
            </a:r>
            <a:r>
              <a:rPr lang="zh-CN" altLang="en-US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）、过程、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…</a:t>
            </a: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9" name="内容占位符 1"/>
          <p:cNvSpPr txBox="1">
            <a:spLocks/>
          </p:cNvSpPr>
          <p:nvPr/>
        </p:nvSpPr>
        <p:spPr>
          <a:xfrm>
            <a:off x="1073113" y="1791500"/>
            <a:ext cx="9601220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种属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(Kind)</a:t>
            </a: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26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4530" y="2363004"/>
            <a:ext cx="8479492" cy="4301697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</a:rPr>
              <a:t>类型 </a:t>
            </a:r>
            <a:r>
              <a:rPr lang="en-US" altLang="zh-CN" sz="3333" b="1" dirty="0">
                <a:solidFill>
                  <a:schemeClr val="tx1"/>
                </a:solidFill>
                <a:ea typeface="楷体_GB2312" pitchFamily="49" charset="-122"/>
              </a:rPr>
              <a:t>(Type)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整型、实型、字符型、布尔型、指针型、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</a:p>
          <a:p>
            <a:endParaRPr lang="zh-CN" altLang="en-US" sz="2667" dirty="0"/>
          </a:p>
          <a:p>
            <a:endParaRPr lang="zh-CN" altLang="en-US" sz="2667" dirty="0"/>
          </a:p>
        </p:txBody>
      </p:sp>
      <p:sp>
        <p:nvSpPr>
          <p:cNvPr id="5" name="内容占位符 1"/>
          <p:cNvSpPr txBox="1">
            <a:spLocks/>
          </p:cNvSpPr>
          <p:nvPr/>
        </p:nvSpPr>
        <p:spPr>
          <a:xfrm>
            <a:off x="666713" y="1124745"/>
            <a:ext cx="9601220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" name="五边形 1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3" name="内容占位符 1"/>
          <p:cNvSpPr txBox="1">
            <a:spLocks/>
          </p:cNvSpPr>
          <p:nvPr/>
        </p:nvSpPr>
        <p:spPr>
          <a:xfrm>
            <a:off x="1073113" y="1791500"/>
            <a:ext cx="9601220" cy="2015681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种属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(Kind)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901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4530" y="2934507"/>
            <a:ext cx="8479492" cy="2602943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</a:rPr>
              <a:t>存储位置、长度</a:t>
            </a:r>
          </a:p>
          <a:p>
            <a:pPr lvl="1"/>
            <a:endParaRPr lang="en-US" altLang="zh-CN" sz="2133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667" dirty="0"/>
          </a:p>
          <a:p>
            <a:endParaRPr lang="zh-CN" altLang="en-US" sz="2667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073113" y="3646220"/>
            <a:ext cx="2400300" cy="24627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defTabSz="1219170">
              <a:lnSpc>
                <a:spcPts val="2667"/>
              </a:lnSpc>
              <a:buClr>
                <a:srgbClr val="5EAEFF"/>
              </a:buClr>
              <a:buNone/>
              <a:defRPr/>
            </a:pPr>
            <a:r>
              <a:rPr lang="zh-CN" altLang="en-US" sz="2667" dirty="0">
                <a:solidFill>
                  <a:prstClr val="black"/>
                </a:solidFill>
              </a:rPr>
              <a:t>例：</a:t>
            </a:r>
            <a:endParaRPr lang="en-US" altLang="zh-CN" sz="2667" dirty="0">
              <a:solidFill>
                <a:prstClr val="black"/>
              </a:solidFill>
            </a:endParaRPr>
          </a:p>
          <a:p>
            <a:pPr marL="457189" indent="-457189" defTabSz="1219170">
              <a:lnSpc>
                <a:spcPts val="2667"/>
              </a:lnSpc>
              <a:buClr>
                <a:srgbClr val="073E87"/>
              </a:buClr>
              <a:buSzPct val="75000"/>
              <a:buNone/>
              <a:defRPr/>
            </a:pP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begin</a:t>
            </a:r>
          </a:p>
          <a:p>
            <a:pPr marL="457189" indent="-457189" defTabSz="1219170">
              <a:lnSpc>
                <a:spcPts val="2667"/>
              </a:lnSpc>
              <a:buClr>
                <a:srgbClr val="073E87"/>
              </a:buClr>
              <a:buSzPct val="75000"/>
              <a:buNone/>
              <a:defRPr/>
            </a:pP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	real  </a:t>
            </a:r>
            <a:r>
              <a:rPr kumimoji="1" lang="en-US" altLang="zh-CN" sz="2667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[8];</a:t>
            </a:r>
          </a:p>
          <a:p>
            <a:pPr marL="457189" indent="-457189" defTabSz="1219170">
              <a:lnSpc>
                <a:spcPts val="2667"/>
              </a:lnSpc>
              <a:buClr>
                <a:srgbClr val="073E87"/>
              </a:buClr>
              <a:buSzPct val="75000"/>
              <a:buNone/>
              <a:defRPr/>
            </a:pP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	integer  </a:t>
            </a:r>
            <a:r>
              <a:rPr kumimoji="1" lang="en-US" altLang="zh-CN" sz="2667" i="1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kumimoji="1" lang="en-US" altLang="zh-CN" sz="2667" i="1" dirty="0">
                <a:solidFill>
                  <a:prstClr val="black"/>
                </a:solidFill>
                <a:cs typeface="Times New Roman" pitchFamily="18" charset="0"/>
              </a:rPr>
              <a:t>j</a:t>
            </a: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;</a:t>
            </a:r>
          </a:p>
          <a:p>
            <a:pPr marL="0" indent="0" defTabSz="1219170">
              <a:lnSpc>
                <a:spcPts val="2667"/>
              </a:lnSpc>
              <a:buClr>
                <a:srgbClr val="5EAEFF"/>
              </a:buClr>
              <a:buNone/>
              <a:defRPr/>
            </a:pP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     ……</a:t>
            </a:r>
          </a:p>
          <a:p>
            <a:pPr marL="0" indent="0" defTabSz="1219170">
              <a:lnSpc>
                <a:spcPts val="2667"/>
              </a:lnSpc>
              <a:buClr>
                <a:srgbClr val="5EAEFF"/>
              </a:buClr>
              <a:buNone/>
              <a:defRPr/>
            </a:pPr>
            <a:r>
              <a:rPr kumimoji="1" lang="en-US" altLang="zh-CN" sz="2667" dirty="0">
                <a:solidFill>
                  <a:prstClr val="black"/>
                </a:solidFill>
                <a:cs typeface="Times New Roman" pitchFamily="18" charset="0"/>
              </a:rPr>
              <a:t>end</a:t>
            </a:r>
          </a:p>
          <a:p>
            <a:pPr marL="457189" indent="-457189" defTabSz="1219170">
              <a:buClr>
                <a:srgbClr val="5EAEFF"/>
              </a:buClr>
              <a:defRPr/>
            </a:pPr>
            <a:endParaRPr lang="zh-CN" altLang="en-US" sz="4267" dirty="0">
              <a:solidFill>
                <a:prstClr val="black"/>
              </a:solidFill>
            </a:endParaRPr>
          </a:p>
          <a:p>
            <a:pPr marL="457189" indent="-457189" defTabSz="1219170">
              <a:buClr>
                <a:srgbClr val="5EAEFF"/>
              </a:buClr>
              <a:defRPr/>
            </a:pPr>
            <a:endParaRPr lang="zh-CN" altLang="en-US" sz="4267" dirty="0">
              <a:solidFill>
                <a:prstClr val="black"/>
              </a:solidFill>
            </a:endParaRPr>
          </a:p>
        </p:txBody>
      </p:sp>
      <p:sp>
        <p:nvSpPr>
          <p:cNvPr id="19" name="内容占位符 1"/>
          <p:cNvSpPr txBox="1">
            <a:spLocks/>
          </p:cNvSpPr>
          <p:nvPr/>
        </p:nvSpPr>
        <p:spPr>
          <a:xfrm>
            <a:off x="666713" y="1124745"/>
            <a:ext cx="9601220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lang="zh-CN" altLang="en-US" sz="4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4175787" y="4305033"/>
          <a:ext cx="2687158" cy="1715712"/>
        </p:xfrm>
        <a:graphic>
          <a:graphicData uri="http://schemas.openxmlformats.org/drawingml/2006/table">
            <a:tbl>
              <a:tblPr/>
              <a:tblGrid>
                <a:gridCol w="1067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0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名字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相对地址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121899" marR="12189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121899" marR="12189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121899" marR="12189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64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121899" marR="12189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zh-CN" altLang="en-US" sz="21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121899" marR="12189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68</a:t>
                      </a:r>
                      <a:endParaRPr kumimoji="0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121899" marR="12189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标题 2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7" name="内容占位符 1"/>
          <p:cNvSpPr txBox="1">
            <a:spLocks/>
          </p:cNvSpPr>
          <p:nvPr/>
        </p:nvSpPr>
        <p:spPr>
          <a:xfrm>
            <a:off x="664530" y="2363004"/>
            <a:ext cx="8479492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768331" lvl="1" indent="-365751" defTabSz="1219170">
              <a:spcBef>
                <a:spcPct val="20000"/>
              </a:spcBef>
              <a:buClr>
                <a:prstClr val="black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类型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(Type)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8" name="内容占位符 1"/>
          <p:cNvSpPr txBox="1">
            <a:spLocks/>
          </p:cNvSpPr>
          <p:nvPr/>
        </p:nvSpPr>
        <p:spPr>
          <a:xfrm>
            <a:off x="1073113" y="1791500"/>
            <a:ext cx="9601220" cy="2015681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种属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(Kind)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9" name="组合 36"/>
          <p:cNvGrpSpPr/>
          <p:nvPr/>
        </p:nvGrpSpPr>
        <p:grpSpPr>
          <a:xfrm>
            <a:off x="8078895" y="1754331"/>
            <a:ext cx="1502731" cy="4204998"/>
            <a:chOff x="6059171" y="1532179"/>
            <a:chExt cx="1127048" cy="3153748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078099" y="1532179"/>
              <a:ext cx="1108120" cy="315374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kumimoji="1" lang="en-US" altLang="zh-CN" sz="32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[0]</a:t>
              </a:r>
            </a:p>
            <a:p>
              <a:pPr algn="ctr"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kumimoji="1" lang="en-US" altLang="zh-CN" sz="32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[1]</a:t>
              </a:r>
            </a:p>
            <a:p>
              <a:pPr algn="ctr" defTabSz="1219170" fontAlgn="base">
                <a:lnSpc>
                  <a:spcPts val="24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en-US" altLang="zh-CN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……</a:t>
              </a:r>
            </a:p>
            <a:p>
              <a:pPr algn="ctr" defTabSz="1219170" fontAlgn="base">
                <a:lnSpc>
                  <a:spcPts val="3333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kumimoji="1" lang="en-US" altLang="zh-CN" sz="32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[7]</a:t>
              </a:r>
            </a:p>
            <a:p>
              <a:pPr algn="ctr" defTabSz="1219170" fontAlgn="base">
                <a:lnSpc>
                  <a:spcPts val="24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i="1" dirty="0" err="1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endParaRPr kumimoji="1" lang="en-US" altLang="zh-CN" sz="3200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 defTabSz="1219170" fontAlgn="base">
                <a:lnSpc>
                  <a:spcPts val="24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j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6078099" y="2031310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6078099" y="2468050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6078099" y="2904790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6078099" y="3403921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6078099" y="3840661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auto">
            <a:xfrm>
              <a:off x="6059171" y="4239574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grpSp>
        <p:nvGrpSpPr>
          <p:cNvPr id="16" name="组合 38"/>
          <p:cNvGrpSpPr/>
          <p:nvPr/>
        </p:nvGrpSpPr>
        <p:grpSpPr>
          <a:xfrm>
            <a:off x="7632171" y="1700265"/>
            <a:ext cx="457176" cy="4001607"/>
            <a:chOff x="5724128" y="1491630"/>
            <a:chExt cx="342882" cy="3001205"/>
          </a:xfrm>
        </p:grpSpPr>
        <p:sp>
          <p:nvSpPr>
            <p:cNvPr id="33" name="矩形 32"/>
            <p:cNvSpPr/>
            <p:nvPr/>
          </p:nvSpPr>
          <p:spPr>
            <a:xfrm>
              <a:off x="5724128" y="4177412"/>
              <a:ext cx="342882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1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68</a:t>
              </a:r>
              <a:endParaRPr lang="zh-CN" altLang="en-US" sz="2133" dirty="0">
                <a:solidFill>
                  <a:srgbClr val="073E87">
                    <a:lumMod val="60000"/>
                    <a:lumOff val="40000"/>
                  </a:srgbClr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790023" y="1491630"/>
              <a:ext cx="240692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1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lang="zh-CN" altLang="en-US" sz="2133" dirty="0">
                <a:solidFill>
                  <a:srgbClr val="073E87">
                    <a:lumMod val="60000"/>
                    <a:lumOff val="40000"/>
                  </a:srgbClr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796136" y="1945164"/>
              <a:ext cx="240692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1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8</a:t>
              </a:r>
              <a:endParaRPr lang="zh-CN" altLang="en-US" sz="2133" dirty="0">
                <a:solidFill>
                  <a:srgbClr val="073E87">
                    <a:lumMod val="60000"/>
                    <a:lumOff val="40000"/>
                  </a:srgbClr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724128" y="3313316"/>
              <a:ext cx="342882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1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56</a:t>
              </a:r>
              <a:endParaRPr lang="zh-CN" altLang="en-US" sz="2133" dirty="0">
                <a:solidFill>
                  <a:srgbClr val="073E87">
                    <a:lumMod val="60000"/>
                    <a:lumOff val="40000"/>
                  </a:srgbClr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724128" y="3795886"/>
              <a:ext cx="342882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133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64</a:t>
              </a:r>
              <a:endParaRPr lang="zh-CN" altLang="en-US" sz="2133" dirty="0">
                <a:solidFill>
                  <a:srgbClr val="073E87">
                    <a:lumMod val="60000"/>
                    <a:lumOff val="40000"/>
                  </a:srgbClr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grpSp>
        <p:nvGrpSpPr>
          <p:cNvPr id="18" name="组合 37"/>
          <p:cNvGrpSpPr/>
          <p:nvPr/>
        </p:nvGrpSpPr>
        <p:grpSpPr>
          <a:xfrm>
            <a:off x="6862946" y="1754329"/>
            <a:ext cx="1209812" cy="4074395"/>
            <a:chOff x="5147209" y="1532178"/>
            <a:chExt cx="907359" cy="3055796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V="1">
              <a:off x="5652120" y="1532178"/>
              <a:ext cx="40244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724127" y="3828209"/>
              <a:ext cx="330439" cy="75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5743055" y="4238771"/>
              <a:ext cx="3115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cxnSp>
          <p:nvCxnSpPr>
            <p:cNvPr id="17" name="直接连接符 16"/>
            <p:cNvCxnSpPr>
              <a:stCxn id="6" idx="0"/>
            </p:cNvCxnSpPr>
            <p:nvPr/>
          </p:nvCxnSpPr>
          <p:spPr>
            <a:xfrm flipH="1">
              <a:off x="5147209" y="1532179"/>
              <a:ext cx="504911" cy="240871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7" idx="0"/>
            </p:cNvCxnSpPr>
            <p:nvPr/>
          </p:nvCxnSpPr>
          <p:spPr>
            <a:xfrm flipH="1">
              <a:off x="5148065" y="3828209"/>
              <a:ext cx="576062" cy="471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5148065" y="4238771"/>
              <a:ext cx="618426" cy="34920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504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0730" y="4133972"/>
            <a:ext cx="10007303" cy="1863973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</a:rPr>
              <a:t>作用域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Times New Roman"/>
              </a:rPr>
              <a:t>参数和返回值信息</a:t>
            </a:r>
            <a:endParaRPr lang="en-US" altLang="zh-CN" sz="3333" b="1" dirty="0">
              <a:solidFill>
                <a:schemeClr val="tx1"/>
              </a:solidFill>
              <a:latin typeface="Times New Roman"/>
            </a:endParaRPr>
          </a:p>
          <a:p>
            <a:pPr lvl="2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Times New Roman"/>
              </a:rPr>
              <a:t>参数个数、参数类型、参数传递方式、返回值类型、</a:t>
            </a:r>
            <a:r>
              <a:rPr lang="en-US" altLang="zh-CN" b="1" dirty="0">
                <a:solidFill>
                  <a:srgbClr val="073E87"/>
                </a:solidFill>
                <a:latin typeface="Times New Roman"/>
              </a:rPr>
              <a:t>…</a:t>
            </a:r>
          </a:p>
          <a:p>
            <a:pPr lvl="1"/>
            <a:endParaRPr lang="en-US" altLang="zh-CN" sz="2133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667" dirty="0"/>
          </a:p>
          <a:p>
            <a:endParaRPr lang="zh-CN" altLang="en-US" sz="2667" dirty="0"/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3" name="五边形 1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4" name="内容占位符 1"/>
          <p:cNvSpPr txBox="1">
            <a:spLocks/>
          </p:cNvSpPr>
          <p:nvPr/>
        </p:nvSpPr>
        <p:spPr>
          <a:xfrm>
            <a:off x="664530" y="2934507"/>
            <a:ext cx="8479492" cy="164607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768331" lvl="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存储位置、长度</a:t>
            </a:r>
            <a:endParaRPr lang="en-US" altLang="zh-CN" sz="3333" b="1" dirty="0">
              <a:solidFill>
                <a:prstClr val="black"/>
              </a:solidFill>
              <a:latin typeface="楷体" pitchFamily="49" charset="-122"/>
              <a:ea typeface="华文楷体" panose="02010600040101010101" pitchFamily="2" charset="-122"/>
            </a:endParaRPr>
          </a:p>
          <a:p>
            <a:pPr marL="768331" lvl="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值</a:t>
            </a:r>
            <a:endParaRPr lang="en-US" altLang="zh-CN" sz="3333" b="1" dirty="0">
              <a:solidFill>
                <a:prstClr val="black"/>
              </a:solidFill>
              <a:latin typeface="楷体" pitchFamily="49" charset="-122"/>
              <a:ea typeface="华文楷体" panose="02010600040101010101" pitchFamily="2" charset="-122"/>
            </a:endParaRPr>
          </a:p>
          <a:p>
            <a:pPr marL="768331" lvl="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endParaRPr lang="zh-CN" altLang="en-US" sz="3333" b="1" dirty="0">
              <a:solidFill>
                <a:prstClr val="black"/>
              </a:solidFill>
              <a:latin typeface="楷体" pitchFamily="49" charset="-122"/>
              <a:ea typeface="华文楷体" panose="02010600040101010101" pitchFamily="2" charset="-122"/>
            </a:endParaRPr>
          </a:p>
          <a:p>
            <a:pPr marL="402581" lvl="1" defTabSz="1219170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endParaRPr lang="en-US" altLang="zh-CN" sz="2133" b="1" dirty="0">
              <a:solidFill>
                <a:srgbClr val="073E87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5" name="内容占位符 1"/>
          <p:cNvSpPr txBox="1">
            <a:spLocks/>
          </p:cNvSpPr>
          <p:nvPr/>
        </p:nvSpPr>
        <p:spPr>
          <a:xfrm>
            <a:off x="666713" y="1124745"/>
            <a:ext cx="9601220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lang="zh-CN" altLang="en-US" sz="4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" name="内容占位符 1"/>
          <p:cNvSpPr txBox="1">
            <a:spLocks/>
          </p:cNvSpPr>
          <p:nvPr/>
        </p:nvSpPr>
        <p:spPr>
          <a:xfrm>
            <a:off x="664530" y="2363004"/>
            <a:ext cx="8479492" cy="373019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768331" lvl="1" indent="-365751" defTabSz="1219170">
              <a:spcBef>
                <a:spcPct val="20000"/>
              </a:spcBef>
              <a:buClr>
                <a:prstClr val="black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类型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(Type)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" name="内容占位符 1"/>
          <p:cNvSpPr txBox="1">
            <a:spLocks/>
          </p:cNvSpPr>
          <p:nvPr/>
        </p:nvSpPr>
        <p:spPr>
          <a:xfrm>
            <a:off x="1073113" y="1791500"/>
            <a:ext cx="9601220" cy="2015681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种属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(Kind)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80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"/>
          <p:cNvSpPr txBox="1">
            <a:spLocks/>
          </p:cNvSpPr>
          <p:nvPr/>
        </p:nvSpPr>
        <p:spPr>
          <a:xfrm>
            <a:off x="664530" y="2934508"/>
            <a:ext cx="8479492" cy="25786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768331" lvl="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存储位置、长度</a:t>
            </a:r>
            <a:endParaRPr lang="en-US" altLang="zh-CN" sz="3333" b="1" dirty="0">
              <a:solidFill>
                <a:prstClr val="black"/>
              </a:solidFill>
              <a:latin typeface="楷体" pitchFamily="49" charset="-122"/>
              <a:ea typeface="华文楷体" panose="02010600040101010101" pitchFamily="2" charset="-122"/>
            </a:endParaRPr>
          </a:p>
          <a:p>
            <a:pPr marL="768331" lvl="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值</a:t>
            </a:r>
            <a:endParaRPr lang="en-US" altLang="zh-CN" sz="2133" b="1" dirty="0">
              <a:solidFill>
                <a:srgbClr val="073E87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365751" indent="-365751" defTabSz="1219170">
              <a:spcBef>
                <a:spcPct val="20000"/>
              </a:spcBef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0730" y="4133972"/>
            <a:ext cx="10007303" cy="1379144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楷体" pitchFamily="49" charset="-122"/>
              </a:rPr>
              <a:t>作用域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  <a:latin typeface="Times New Roman"/>
              </a:rPr>
              <a:t>参数和返回值信息</a:t>
            </a:r>
            <a:endParaRPr lang="en-US" altLang="zh-CN" sz="3333" b="1" dirty="0">
              <a:solidFill>
                <a:schemeClr val="tx1"/>
              </a:solidFill>
              <a:latin typeface="Times New Roman"/>
            </a:endParaRPr>
          </a:p>
          <a:p>
            <a:pPr lvl="1"/>
            <a:endParaRPr lang="en-US" altLang="zh-CN" sz="2133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667" dirty="0"/>
          </a:p>
          <a:p>
            <a:endParaRPr lang="zh-CN" altLang="en-US" sz="2667" dirty="0"/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3" name="五边形 1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5" name="内容占位符 1"/>
          <p:cNvSpPr txBox="1">
            <a:spLocks/>
          </p:cNvSpPr>
          <p:nvPr/>
        </p:nvSpPr>
        <p:spPr>
          <a:xfrm>
            <a:off x="666713" y="1124745"/>
            <a:ext cx="9601220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lang="zh-CN" altLang="en-US" sz="4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" name="内容占位符 1"/>
          <p:cNvSpPr txBox="1">
            <a:spLocks/>
          </p:cNvSpPr>
          <p:nvPr/>
        </p:nvSpPr>
        <p:spPr>
          <a:xfrm>
            <a:off x="664530" y="2363004"/>
            <a:ext cx="8479492" cy="430169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768331" lvl="1" indent="-365751" defTabSz="1219170">
              <a:spcBef>
                <a:spcPct val="20000"/>
              </a:spcBef>
              <a:buClr>
                <a:prstClr val="black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类型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(Type)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" name="内容占位符 1"/>
          <p:cNvSpPr txBox="1">
            <a:spLocks/>
          </p:cNvSpPr>
          <p:nvPr/>
        </p:nvSpPr>
        <p:spPr>
          <a:xfrm>
            <a:off x="1073113" y="1791500"/>
            <a:ext cx="9601220" cy="2015681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种属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(Kind)</a:t>
            </a:r>
            <a:endParaRPr lang="zh-CN" altLang="en-US" sz="2667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18" name="Picture 2" descr="E:\工大编译\ppt\图片3副本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0947" y="2190742"/>
            <a:ext cx="7317832" cy="3953879"/>
          </a:xfrm>
          <a:prstGeom prst="rect">
            <a:avLst/>
          </a:prstGeom>
          <a:noFill/>
        </p:spPr>
      </p:pic>
      <p:sp>
        <p:nvSpPr>
          <p:cNvPr id="19" name="矩形 18"/>
          <p:cNvSpPr/>
          <p:nvPr/>
        </p:nvSpPr>
        <p:spPr>
          <a:xfrm>
            <a:off x="6508389" y="1975909"/>
            <a:ext cx="2697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符号表</a:t>
            </a:r>
            <a:r>
              <a:rPr lang="en-US" altLang="zh-CN" sz="1867" b="1" dirty="0">
                <a:solidFill>
                  <a:prstClr val="black"/>
                </a:solidFill>
                <a:latin typeface="楷体" pitchFamily="49" charset="-122"/>
                <a:ea typeface="宋体" pitchFamily="2" charset="-122"/>
              </a:rPr>
              <a:t>(</a:t>
            </a:r>
            <a:r>
              <a:rPr lang="en-US" altLang="zh-CN" sz="1867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Symbol Table)</a:t>
            </a:r>
            <a:endParaRPr lang="zh-CN" altLang="en-US" sz="2400" b="1" dirty="0">
              <a:solidFill>
                <a:prstClr val="black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010947" y="5912346"/>
            <a:ext cx="6845693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符号表是用于存放标识符的属性信息的数据结构</a:t>
            </a:r>
            <a:endParaRPr lang="en-US" altLang="zh-CN" sz="24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936019" y="5432292"/>
            <a:ext cx="2103864" cy="461665"/>
            <a:chOff x="2057998" y="3867894"/>
            <a:chExt cx="1577898" cy="346249"/>
          </a:xfrm>
        </p:grpSpPr>
        <p:cxnSp>
          <p:nvCxnSpPr>
            <p:cNvPr id="4" name="直接箭头连接符 3"/>
            <p:cNvCxnSpPr/>
            <p:nvPr/>
          </p:nvCxnSpPr>
          <p:spPr>
            <a:xfrm flipV="1">
              <a:off x="3116119" y="4011910"/>
              <a:ext cx="519777" cy="1853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057998" y="3867894"/>
              <a:ext cx="1061829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字符串表</a:t>
              </a:r>
              <a:endPara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1" name="AutoShape 73"/>
          <p:cNvSpPr>
            <a:spLocks noChangeArrowheads="1"/>
          </p:cNvSpPr>
          <p:nvPr/>
        </p:nvSpPr>
        <p:spPr bwMode="auto">
          <a:xfrm>
            <a:off x="5999990" y="335624"/>
            <a:ext cx="6170385" cy="1283613"/>
          </a:xfrm>
          <a:prstGeom prst="cloudCallout">
            <a:avLst>
              <a:gd name="adj1" fmla="val -45191"/>
              <a:gd name="adj2" fmla="val 168737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kern="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符号表中</a:t>
            </a:r>
            <a:r>
              <a:rPr lang="zh-CN" altLang="en-US" sz="2667" b="1" kern="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为什么要设计</a:t>
            </a:r>
            <a:r>
              <a:rPr lang="zh-CN" altLang="en-US" sz="2667" b="1" kern="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字符串表</a:t>
            </a:r>
            <a:r>
              <a:rPr lang="zh-CN" altLang="en-US" sz="2667" b="1" kern="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这样一种数据结构？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064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 animBg="1"/>
      <p:bldP spid="20" grpId="1" animBg="1"/>
      <p:bldP spid="21" grpId="0" animBg="1"/>
      <p:bldP spid="2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60730" y="1952869"/>
            <a:ext cx="11817065" cy="7524803"/>
          </a:xfrm>
        </p:spPr>
        <p:txBody>
          <a:bodyPr>
            <a:normAutofit/>
          </a:bodyPr>
          <a:lstStyle/>
          <a:p>
            <a:pPr>
              <a:lnSpc>
                <a:spcPts val="3333"/>
              </a:lnSpc>
              <a:buClrTx/>
              <a:buFont typeface="Wingdings" pitchFamily="2" charset="2"/>
              <a:buChar char="Ø"/>
            </a:pPr>
            <a:r>
              <a:rPr lang="zh-CN" altLang="en-US" sz="4000" b="1" dirty="0">
                <a:solidFill>
                  <a:schemeClr val="tx1"/>
                </a:solidFill>
              </a:rPr>
              <a:t>语义</a:t>
            </a:r>
            <a:r>
              <a:rPr lang="zh-CN" altLang="en-US" sz="4000" b="1" dirty="0">
                <a:solidFill>
                  <a:prstClr val="black"/>
                </a:solidFill>
              </a:rPr>
              <a:t>检查</a:t>
            </a:r>
            <a:endParaRPr lang="en-US" altLang="zh-CN" sz="4000" b="1" dirty="0">
              <a:solidFill>
                <a:prstClr val="black"/>
              </a:solidFill>
            </a:endParaRPr>
          </a:p>
          <a:p>
            <a:pPr lvl="1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prstClr val="black"/>
                </a:solidFill>
              </a:rPr>
              <a:t> </a:t>
            </a:r>
            <a:r>
              <a:rPr lang="zh-CN" altLang="en-US" b="1" dirty="0">
                <a:solidFill>
                  <a:prstClr val="black"/>
                </a:solidFill>
              </a:rPr>
              <a:t>变量或过程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未经声明就使用</a:t>
            </a:r>
          </a:p>
          <a:p>
            <a:pPr lvl="1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 变量或过程名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重复声明</a:t>
            </a:r>
          </a:p>
          <a:p>
            <a:pPr lvl="1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运算分量</a:t>
            </a:r>
            <a:r>
              <a:rPr lang="zh-CN" altLang="en-US" b="1" dirty="0">
                <a:solidFill>
                  <a:schemeClr val="tx1"/>
                </a:solidFill>
              </a:rPr>
              <a:t>类型不匹配</a:t>
            </a:r>
          </a:p>
          <a:p>
            <a:pPr lvl="1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操作符</a:t>
            </a:r>
            <a:r>
              <a:rPr lang="zh-CN" altLang="en-US" b="1" dirty="0">
                <a:solidFill>
                  <a:schemeClr val="tx1"/>
                </a:solidFill>
              </a:rPr>
              <a:t>与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操作数</a:t>
            </a:r>
            <a:r>
              <a:rPr lang="zh-CN" altLang="en-US" b="1" dirty="0">
                <a:solidFill>
                  <a:prstClr val="black"/>
                </a:solidFill>
              </a:rPr>
              <a:t>之间</a:t>
            </a:r>
            <a:r>
              <a:rPr lang="zh-CN" altLang="en-US" b="1" dirty="0">
                <a:solidFill>
                  <a:schemeClr val="tx1"/>
                </a:solidFill>
              </a:rPr>
              <a:t>的类型不匹配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</a:rPr>
              <a:t> </a:t>
            </a:r>
            <a:r>
              <a:rPr lang="zh-CN" altLang="en-US" sz="29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数组下标</a:t>
            </a:r>
            <a:r>
              <a:rPr lang="zh-CN" altLang="en-US" sz="2933" b="1" dirty="0">
                <a:solidFill>
                  <a:prstClr val="black"/>
                </a:solidFill>
              </a:rPr>
              <a:t>不是整数</a:t>
            </a:r>
          </a:p>
          <a:p>
            <a:pPr lvl="2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</a:rPr>
              <a:t> 对</a:t>
            </a:r>
            <a:r>
              <a:rPr lang="zh-CN" altLang="en-US" sz="29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非数组变量</a:t>
            </a:r>
            <a:r>
              <a:rPr lang="zh-CN" altLang="en-US" sz="2933" b="1" dirty="0">
                <a:solidFill>
                  <a:prstClr val="black"/>
                </a:solidFill>
              </a:rPr>
              <a:t>使用</a:t>
            </a:r>
            <a:r>
              <a:rPr lang="zh-CN" altLang="en-US" sz="2933" b="1" dirty="0">
                <a:solidFill>
                  <a:schemeClr val="tx1"/>
                </a:solidFill>
              </a:rPr>
              <a:t>数组访问</a:t>
            </a:r>
            <a:r>
              <a:rPr lang="zh-CN" altLang="en-US" sz="2933" b="1" dirty="0">
                <a:solidFill>
                  <a:prstClr val="black"/>
                </a:solidFill>
              </a:rPr>
              <a:t>操作符</a:t>
            </a:r>
            <a:endParaRPr lang="en-US" altLang="zh-CN" sz="2933" b="1" dirty="0">
              <a:solidFill>
                <a:prstClr val="black"/>
              </a:solidFill>
            </a:endParaRPr>
          </a:p>
          <a:p>
            <a:pPr lvl="2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</a:rPr>
              <a:t> 对</a:t>
            </a:r>
            <a:r>
              <a:rPr lang="zh-CN" altLang="en-US" sz="29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非过程名</a:t>
            </a:r>
            <a:r>
              <a:rPr lang="zh-CN" altLang="en-US" sz="2933" b="1" dirty="0">
                <a:solidFill>
                  <a:prstClr val="black"/>
                </a:solidFill>
              </a:rPr>
              <a:t>使用</a:t>
            </a:r>
            <a:r>
              <a:rPr lang="zh-CN" altLang="en-US" sz="2933" b="1" dirty="0">
                <a:solidFill>
                  <a:schemeClr val="tx1"/>
                </a:solidFill>
              </a:rPr>
              <a:t>过程调用</a:t>
            </a:r>
            <a:r>
              <a:rPr lang="zh-CN" altLang="en-US" sz="2933" b="1" dirty="0">
                <a:solidFill>
                  <a:prstClr val="black"/>
                </a:solidFill>
              </a:rPr>
              <a:t>操作符</a:t>
            </a:r>
            <a:endParaRPr lang="en-US" altLang="zh-CN" sz="2933" b="1" dirty="0">
              <a:solidFill>
                <a:prstClr val="black"/>
              </a:solidFill>
            </a:endParaRPr>
          </a:p>
          <a:p>
            <a:pPr lvl="2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</a:rPr>
              <a:t> 过程调用的</a:t>
            </a:r>
            <a:r>
              <a:rPr lang="zh-CN" altLang="en-US" sz="29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参数类型或数目</a:t>
            </a:r>
            <a:r>
              <a:rPr lang="zh-CN" altLang="en-US" sz="2933" b="1" dirty="0">
                <a:solidFill>
                  <a:prstClr val="black"/>
                </a:solidFill>
              </a:rPr>
              <a:t>不匹配</a:t>
            </a:r>
            <a:endParaRPr lang="en-US" altLang="zh-CN" sz="2933" b="1" dirty="0">
              <a:solidFill>
                <a:prstClr val="black"/>
              </a:solidFill>
            </a:endParaRPr>
          </a:p>
          <a:p>
            <a:pPr lvl="2">
              <a:lnSpc>
                <a:spcPts val="3067"/>
              </a:lnSpc>
              <a:buClrTx/>
              <a:buFont typeface="Wingdings" pitchFamily="2" charset="2"/>
              <a:buChar char="Ø"/>
            </a:pPr>
            <a:r>
              <a:rPr lang="zh-CN" altLang="en-US" sz="2933" b="1" dirty="0">
                <a:solidFill>
                  <a:prstClr val="black"/>
                </a:solidFill>
              </a:rPr>
              <a:t> 函数</a:t>
            </a:r>
            <a:r>
              <a:rPr lang="zh-CN" altLang="en-US" sz="29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返回类型</a:t>
            </a:r>
            <a:r>
              <a:rPr lang="zh-CN" altLang="en-US" sz="2933" b="1" dirty="0">
                <a:solidFill>
                  <a:prstClr val="black"/>
                </a:solidFill>
              </a:rPr>
              <a:t>有误</a:t>
            </a:r>
            <a:endParaRPr lang="en-US" altLang="zh-CN" sz="2933" b="1" dirty="0">
              <a:solidFill>
                <a:prstClr val="black"/>
              </a:solidFill>
            </a:endParaRPr>
          </a:p>
        </p:txBody>
      </p:sp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>
            <a:noAutofit/>
          </a:bodyPr>
          <a:lstStyle/>
          <a:p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0" name="内容占位符 1"/>
          <p:cNvSpPr txBox="1">
            <a:spLocks/>
          </p:cNvSpPr>
          <p:nvPr/>
        </p:nvSpPr>
        <p:spPr>
          <a:xfrm>
            <a:off x="666713" y="1125288"/>
            <a:ext cx="9601220" cy="86355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365751" indent="-365751" defTabSz="121917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lang="zh-CN" altLang="en-US" sz="4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60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5135893" y="15508"/>
            <a:ext cx="2962435" cy="6823475"/>
          </a:xfrm>
          <a:prstGeom prst="rect">
            <a:avLst/>
          </a:prstGeom>
        </p:spPr>
      </p:pic>
      <p:sp>
        <p:nvSpPr>
          <p:cNvPr id="18" name="Rectangle 42"/>
          <p:cNvSpPr>
            <a:spLocks noChangeArrowheads="1"/>
          </p:cNvSpPr>
          <p:nvPr/>
        </p:nvSpPr>
        <p:spPr bwMode="auto">
          <a:xfrm>
            <a:off x="5304818" y="3178485"/>
            <a:ext cx="2615385" cy="53854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35360" y="452669"/>
            <a:ext cx="5184576" cy="2112235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1219170"/>
            <a:r>
              <a:rPr lang="en-US" altLang="zh-CN" sz="5333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6.</a:t>
            </a:r>
            <a:r>
              <a:rPr lang="zh-CN" altLang="en-US" sz="5333" spc="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中间代码生成及编译器后端概述</a:t>
            </a:r>
            <a:endParaRPr lang="zh-CN" altLang="en-US" sz="5333" spc="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2C6BD2-B726-4356-8EA4-887208F95D8A}"/>
              </a:ext>
            </a:extLst>
          </p:cNvPr>
          <p:cNvSpPr/>
          <p:nvPr/>
        </p:nvSpPr>
        <p:spPr>
          <a:xfrm>
            <a:off x="6473142" y="5443638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9DCFCA-FAC5-4D44-83A1-DC06FDB96523}"/>
              </a:ext>
            </a:extLst>
          </p:cNvPr>
          <p:cNvSpPr/>
          <p:nvPr/>
        </p:nvSpPr>
        <p:spPr>
          <a:xfrm>
            <a:off x="6473142" y="6347674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7715" y="1523988"/>
            <a:ext cx="9239315" cy="4301697"/>
          </a:xfrm>
        </p:spPr>
        <p:txBody>
          <a:bodyPr>
            <a:normAutofit/>
          </a:bodyPr>
          <a:lstStyle/>
          <a:p>
            <a:pPr>
              <a:lnSpc>
                <a:spcPts val="6000"/>
              </a:lnSpc>
              <a:buClrTx/>
              <a:buFont typeface="Wingdings" pitchFamily="2" charset="2"/>
              <a:buChar char="Ø"/>
            </a:pPr>
            <a:r>
              <a:rPr lang="zh-CN" altLang="en-US" sz="40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三地址码</a:t>
            </a:r>
            <a:r>
              <a:rPr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 (Three-address Code</a:t>
            </a:r>
            <a:r>
              <a:rPr lang="en-US" altLang="zh-CN" sz="4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endParaRPr lang="en-US" altLang="zh-CN" sz="4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6000"/>
              </a:lnSpc>
              <a:buClrTx/>
              <a:buFont typeface="Wingdings" pitchFamily="2" charset="2"/>
              <a:buChar char="Ø"/>
            </a:pPr>
            <a:r>
              <a:rPr lang="zh-CN" altLang="en-US" sz="3333" b="1" dirty="0">
                <a:solidFill>
                  <a:schemeClr val="tx1"/>
                </a:solidFill>
              </a:rPr>
              <a:t>三地址码由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类似于汇编语言</a:t>
            </a:r>
            <a:r>
              <a:rPr lang="zh-CN" altLang="en-US" sz="3333" b="1" dirty="0">
                <a:solidFill>
                  <a:schemeClr val="tx1"/>
                </a:solidFill>
              </a:rPr>
              <a:t>的指令序列组成，每个指令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最多有三个操作数</a:t>
            </a:r>
            <a:r>
              <a:rPr lang="en-US" altLang="zh-CN" sz="3333" b="1" dirty="0">
                <a:solidFill>
                  <a:schemeClr val="tx1"/>
                </a:solidFill>
              </a:rPr>
              <a:t>(operand)</a:t>
            </a:r>
            <a:endParaRPr lang="zh-CN" altLang="en-US" sz="3333" b="1" dirty="0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常用的中间代码表示形式</a:t>
            </a:r>
            <a:endParaRPr lang="en-US" altLang="zh-CN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5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5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常用的三地址指令</a:t>
            </a:r>
            <a:endParaRPr lang="zh-CN" altLang="en-US" sz="4000" spc="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5749336" y="4692339"/>
            <a:ext cx="5966453" cy="2001024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667" b="1" dirty="0">
                <a:solidFill>
                  <a:srgbClr val="0000FF"/>
                </a:solidFill>
              </a:rPr>
              <a:t>地址</a:t>
            </a:r>
            <a:r>
              <a:rPr lang="zh-CN" altLang="en-US" sz="2667" b="1" dirty="0">
                <a:solidFill>
                  <a:schemeClr val="tx1"/>
                </a:solidFill>
              </a:rPr>
              <a:t>可以具有如下形式之一</a:t>
            </a:r>
            <a:endParaRPr lang="en-US" altLang="zh-CN" sz="2667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667" b="1" dirty="0">
                <a:solidFill>
                  <a:schemeClr val="tx1"/>
                </a:solidFill>
              </a:rPr>
              <a:t> </a:t>
            </a:r>
            <a:r>
              <a:rPr lang="zh-CN" altLang="en-US" sz="2667" b="1" dirty="0">
                <a:solidFill>
                  <a:schemeClr val="tx1"/>
                </a:solidFill>
              </a:rPr>
              <a:t>源程序中的</a:t>
            </a:r>
            <a:r>
              <a:rPr lang="zh-CN" altLang="en-US" sz="2667" b="1" dirty="0">
                <a:solidFill>
                  <a:srgbClr val="0000FF"/>
                </a:solidFill>
              </a:rPr>
              <a:t>名字 </a:t>
            </a:r>
            <a:r>
              <a:rPr lang="en-US" altLang="zh-CN" sz="2667" b="1" dirty="0">
                <a:solidFill>
                  <a:schemeClr val="tx1"/>
                </a:solidFill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</a:rPr>
              <a:t>name</a:t>
            </a:r>
            <a:r>
              <a:rPr lang="en-US" altLang="zh-CN" sz="2667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667" b="1" dirty="0">
                <a:solidFill>
                  <a:schemeClr val="tx1"/>
                </a:solidFill>
              </a:rPr>
              <a:t> </a:t>
            </a:r>
            <a:r>
              <a:rPr lang="zh-CN" altLang="en-US" sz="2667" b="1" dirty="0">
                <a:solidFill>
                  <a:srgbClr val="0000FF"/>
                </a:solidFill>
              </a:rPr>
              <a:t>常量</a:t>
            </a:r>
            <a:r>
              <a:rPr lang="zh-CN" altLang="en-US" sz="2667" b="1" dirty="0">
                <a:solidFill>
                  <a:srgbClr val="FF0000"/>
                </a:solidFill>
              </a:rPr>
              <a:t> </a:t>
            </a:r>
            <a:r>
              <a:rPr lang="en-US" altLang="zh-CN" sz="2667" b="1" dirty="0">
                <a:solidFill>
                  <a:schemeClr val="tx1"/>
                </a:solidFill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</a:rPr>
              <a:t>constant</a:t>
            </a:r>
            <a:r>
              <a:rPr lang="en-US" altLang="zh-CN" sz="2667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zh-CN" altLang="en-US" sz="2667" b="1" dirty="0">
                <a:solidFill>
                  <a:schemeClr val="tx1"/>
                </a:solidFill>
              </a:rPr>
              <a:t> 编译器生成的</a:t>
            </a:r>
            <a:r>
              <a:rPr lang="zh-CN" altLang="en-US" sz="2667" b="1" dirty="0">
                <a:solidFill>
                  <a:srgbClr val="0000FF"/>
                </a:solidFill>
              </a:rPr>
              <a:t>临时变量</a:t>
            </a:r>
            <a:r>
              <a:rPr lang="en-US" altLang="zh-CN" sz="2667" b="1" dirty="0">
                <a:solidFill>
                  <a:schemeClr val="tx1"/>
                </a:solidFill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</a:rPr>
              <a:t>temporary</a:t>
            </a:r>
            <a:r>
              <a:rPr lang="en-US" altLang="zh-CN" sz="2667" b="1" dirty="0">
                <a:solidFill>
                  <a:schemeClr val="tx1"/>
                </a:solidFill>
              </a:rPr>
              <a:t>)</a:t>
            </a:r>
            <a:endParaRPr lang="en-US" altLang="zh-CN" sz="2667" b="1" dirty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buNone/>
            </a:pPr>
            <a:endParaRPr lang="zh-CN" altLang="en-US" sz="2667" dirty="0">
              <a:solidFill>
                <a:schemeClr val="tx1"/>
              </a:solidFill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20549" y="1150019"/>
          <a:ext cx="4903377" cy="5566352"/>
        </p:xfrm>
        <a:graphic>
          <a:graphicData uri="http://schemas.openxmlformats.org/drawingml/2006/table">
            <a:tbl>
              <a:tblPr/>
              <a:tblGrid>
                <a:gridCol w="91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5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3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序号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指令类型</a:t>
                      </a: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指令形式</a:t>
                      </a:r>
                      <a:endParaRPr kumimoji="0" lang="en-US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33669" marR="133669" marT="50136" marB="5013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1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100" b="1" dirty="0">
                          <a:solidFill>
                            <a:schemeClr val="tx1"/>
                          </a:solidFill>
                        </a:rPr>
                        <a:t>赋值指令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z  </a:t>
                      </a:r>
                    </a:p>
                    <a:p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2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复制指令</a:t>
                      </a:r>
                      <a:endParaRPr lang="en-US" altLang="zh-CN" sz="2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3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条件跳转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relop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goto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4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无条件跳转</a:t>
                      </a:r>
                      <a:endParaRPr lang="en-US" altLang="zh-CN" sz="2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5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参数传递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param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6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21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过程调用</a:t>
                      </a:r>
                      <a:endParaRPr lang="en-US" altLang="zh-CN" sz="21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7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过程返回</a:t>
                      </a:r>
                      <a:endParaRPr lang="en-US" altLang="zh-CN" sz="2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8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数组引用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1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2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 9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数组赋值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1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altLang="zh-CN" sz="2100" b="1" dirty="0">
                          <a:solidFill>
                            <a:schemeClr val="tx1"/>
                          </a:solidFill>
                        </a:rPr>
                        <a:t>   10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地址及</a:t>
                      </a:r>
                      <a:endParaRPr lang="en-US" altLang="zh-CN" sz="2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2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指针操作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=&amp;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=*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2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72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145343" y="1318069"/>
            <a:ext cx="7903428" cy="4301697"/>
          </a:xfrm>
        </p:spPr>
        <p:txBody>
          <a:bodyPr>
            <a:normAutofit/>
          </a:bodyPr>
          <a:lstStyle/>
          <a:p>
            <a:pPr>
              <a:lnSpc>
                <a:spcPts val="6000"/>
              </a:lnSpc>
              <a:buClrTx/>
              <a:buFont typeface="Wingdings" pitchFamily="2" charset="2"/>
              <a:buChar char="Ø"/>
            </a:pPr>
            <a:r>
              <a:rPr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四元式</a:t>
            </a:r>
            <a:r>
              <a:rPr kumimoji="1"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 (Quadruples)</a:t>
            </a:r>
            <a:r>
              <a:rPr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sz="4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6000"/>
              </a:lnSpc>
              <a:buClrTx/>
              <a:buFont typeface="Wingdings" pitchFamily="2" charset="2"/>
              <a:buChar char="Ø"/>
            </a:pPr>
            <a:r>
              <a:rPr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(op, 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>
              <a:lnSpc>
                <a:spcPts val="6000"/>
              </a:lnSpc>
              <a:buClrTx/>
              <a:buFont typeface="Wingdings" pitchFamily="2" charset="2"/>
              <a:buChar char="Ø"/>
            </a:pPr>
            <a:r>
              <a:rPr kumimoji="1"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三元式</a:t>
            </a:r>
            <a:r>
              <a:rPr kumimoji="1"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 (Triples)</a:t>
            </a:r>
          </a:p>
          <a:p>
            <a:pPr>
              <a:lnSpc>
                <a:spcPts val="6000"/>
              </a:lnSpc>
              <a:buClrTx/>
              <a:buFont typeface="Wingdings" pitchFamily="2" charset="2"/>
              <a:buChar char="Ø"/>
            </a:pPr>
            <a:r>
              <a:rPr kumimoji="1"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间接三元式</a:t>
            </a:r>
            <a:r>
              <a:rPr kumimoji="1"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 (Indirect triples)</a:t>
            </a:r>
            <a:endParaRPr kumimoji="1" lang="zh-CN" altLang="en-US" sz="4000" b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lnSpc>
                <a:spcPts val="6000"/>
              </a:lnSpc>
              <a:buClrTx/>
              <a:buFont typeface="Wingdings" pitchFamily="2" charset="2"/>
              <a:buChar char="Ø"/>
            </a:pPr>
            <a:endParaRPr kumimoji="1" lang="zh-CN" altLang="en-US" sz="4000" b="1" dirty="0">
              <a:solidFill>
                <a:schemeClr val="tx1"/>
              </a:solidFill>
              <a:cs typeface="Times New Roman" pitchFamily="18" charset="0"/>
            </a:endParaRPr>
          </a:p>
          <a:p>
            <a:endParaRPr lang="zh-CN" altLang="en-US" sz="4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三地址指令的表示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0617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6" y="1975656"/>
            <a:ext cx="5076656" cy="3358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7" y="1047734"/>
            <a:ext cx="7903428" cy="5730433"/>
          </a:xfrm>
        </p:spPr>
        <p:txBody>
          <a:bodyPr>
            <a:noAutofit/>
          </a:bodyPr>
          <a:lstStyle/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=  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_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goto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goto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   ( </a:t>
            </a:r>
            <a:r>
              <a:rPr lang="en-US" altLang="zh-CN" sz="3067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_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param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(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param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call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call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return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(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return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=[]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 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[]=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667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&amp;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&amp;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*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=*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667"/>
              </a:lnSpc>
              <a:buNone/>
              <a:defRPr/>
            </a:pP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   *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*</a:t>
            </a:r>
            <a:r>
              <a:rPr lang="en-US" altLang="zh-CN" sz="3067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   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 </a:t>
            </a:r>
            <a:r>
              <a:rPr lang="en-US" altLang="zh-CN" sz="3067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3067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三地址指令的四元式表示</a:t>
            </a:r>
          </a:p>
        </p:txBody>
      </p:sp>
      <p:grpSp>
        <p:nvGrpSpPr>
          <p:cNvPr id="6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7344139" y="5563647"/>
            <a:ext cx="3936437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一个三地址指令对应了一次运算的完成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94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kern="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中间代码生成的例子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-48682" y="1379363"/>
            <a:ext cx="8764459" cy="5418026"/>
            <a:chOff x="-36512" y="2611852"/>
            <a:chExt cx="6573344" cy="4063519"/>
          </a:xfrm>
        </p:grpSpPr>
        <p:sp>
          <p:nvSpPr>
            <p:cNvPr id="5" name="Line 47"/>
            <p:cNvSpPr>
              <a:spLocks noChangeShapeType="1"/>
            </p:cNvSpPr>
            <p:nvPr/>
          </p:nvSpPr>
          <p:spPr bwMode="auto">
            <a:xfrm flipH="1">
              <a:off x="491107" y="3513205"/>
              <a:ext cx="272630" cy="255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Line 48"/>
            <p:cNvSpPr>
              <a:spLocks noChangeShapeType="1"/>
            </p:cNvSpPr>
            <p:nvPr/>
          </p:nvSpPr>
          <p:spPr bwMode="auto">
            <a:xfrm>
              <a:off x="773264" y="3513205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Line 49"/>
            <p:cNvSpPr>
              <a:spLocks noChangeShapeType="1"/>
            </p:cNvSpPr>
            <p:nvPr/>
          </p:nvSpPr>
          <p:spPr bwMode="auto">
            <a:xfrm>
              <a:off x="773265" y="3513205"/>
              <a:ext cx="421752" cy="216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1329113" y="2611852"/>
              <a:ext cx="314590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" name="Rectangle 53"/>
            <p:cNvSpPr>
              <a:spLocks noChangeArrowheads="1"/>
            </p:cNvSpPr>
            <p:nvPr/>
          </p:nvSpPr>
          <p:spPr bwMode="auto">
            <a:xfrm>
              <a:off x="227955" y="4307031"/>
              <a:ext cx="455253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" name="Rectangle 54"/>
            <p:cNvSpPr>
              <a:spLocks noChangeArrowheads="1"/>
            </p:cNvSpPr>
            <p:nvPr/>
          </p:nvSpPr>
          <p:spPr bwMode="auto">
            <a:xfrm>
              <a:off x="-36512" y="3200815"/>
              <a:ext cx="2853747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while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B  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do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    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1" name="Line 55"/>
            <p:cNvSpPr>
              <a:spLocks noChangeShapeType="1"/>
            </p:cNvSpPr>
            <p:nvPr/>
          </p:nvSpPr>
          <p:spPr bwMode="auto">
            <a:xfrm flipH="1">
              <a:off x="491108" y="3010315"/>
              <a:ext cx="1145979" cy="224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56"/>
            <p:cNvSpPr>
              <a:spLocks noChangeShapeType="1"/>
            </p:cNvSpPr>
            <p:nvPr/>
          </p:nvSpPr>
          <p:spPr bwMode="auto">
            <a:xfrm>
              <a:off x="1637088" y="3010315"/>
              <a:ext cx="958062" cy="216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57"/>
            <p:cNvSpPr>
              <a:spLocks noChangeArrowheads="1"/>
            </p:cNvSpPr>
            <p:nvPr/>
          </p:nvSpPr>
          <p:spPr bwMode="auto">
            <a:xfrm>
              <a:off x="270905" y="3729229"/>
              <a:ext cx="1117117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dirty="0" err="1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relop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4" name="Line 59"/>
            <p:cNvSpPr>
              <a:spLocks noChangeShapeType="1"/>
            </p:cNvSpPr>
            <p:nvPr/>
          </p:nvSpPr>
          <p:spPr bwMode="auto">
            <a:xfrm flipH="1">
              <a:off x="1637088" y="3010315"/>
              <a:ext cx="0" cy="274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60"/>
            <p:cNvSpPr>
              <a:spLocks noChangeShapeType="1"/>
            </p:cNvSpPr>
            <p:nvPr/>
          </p:nvSpPr>
          <p:spPr bwMode="auto">
            <a:xfrm flipH="1">
              <a:off x="447440" y="4024818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62"/>
            <p:cNvSpPr>
              <a:spLocks noChangeArrowheads="1"/>
            </p:cNvSpPr>
            <p:nvPr/>
          </p:nvSpPr>
          <p:spPr bwMode="auto">
            <a:xfrm>
              <a:off x="1475656" y="3801237"/>
              <a:ext cx="4591001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if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then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 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else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           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S</a:t>
              </a:r>
              <a:endParaRPr kumimoji="1" lang="zh-CN" altLang="en-US" sz="2400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63"/>
            <p:cNvSpPr>
              <a:spLocks noChangeShapeType="1"/>
            </p:cNvSpPr>
            <p:nvPr/>
          </p:nvSpPr>
          <p:spPr bwMode="auto">
            <a:xfrm flipH="1">
              <a:off x="1763216" y="3585213"/>
              <a:ext cx="925513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2698254" y="3585213"/>
              <a:ext cx="3044856" cy="322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 flipH="1">
              <a:off x="1198150" y="4097482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69"/>
            <p:cNvSpPr>
              <a:spLocks noChangeArrowheads="1"/>
            </p:cNvSpPr>
            <p:nvPr/>
          </p:nvSpPr>
          <p:spPr bwMode="auto">
            <a:xfrm>
              <a:off x="971600" y="4321871"/>
              <a:ext cx="468478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1" name="Line 59"/>
            <p:cNvSpPr>
              <a:spLocks noChangeShapeType="1"/>
            </p:cNvSpPr>
            <p:nvPr/>
          </p:nvSpPr>
          <p:spPr bwMode="auto">
            <a:xfrm flipH="1">
              <a:off x="849688" y="3030953"/>
              <a:ext cx="78740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69"/>
            <p:cNvSpPr>
              <a:spLocks noChangeArrowheads="1"/>
            </p:cNvSpPr>
            <p:nvPr/>
          </p:nvSpPr>
          <p:spPr bwMode="auto">
            <a:xfrm>
              <a:off x="572325" y="3989487"/>
              <a:ext cx="470883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&lt;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3" name="Line 47"/>
            <p:cNvSpPr>
              <a:spLocks noChangeShapeType="1"/>
            </p:cNvSpPr>
            <p:nvPr/>
          </p:nvSpPr>
          <p:spPr bwMode="auto">
            <a:xfrm flipH="1">
              <a:off x="1637359" y="4179549"/>
              <a:ext cx="350515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48"/>
            <p:cNvSpPr>
              <a:spLocks noChangeShapeType="1"/>
            </p:cNvSpPr>
            <p:nvPr/>
          </p:nvSpPr>
          <p:spPr bwMode="auto">
            <a:xfrm>
              <a:off x="1997400" y="4179549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49"/>
            <p:cNvSpPr>
              <a:spLocks noChangeShapeType="1"/>
            </p:cNvSpPr>
            <p:nvPr/>
          </p:nvSpPr>
          <p:spPr bwMode="auto">
            <a:xfrm>
              <a:off x="1997400" y="4179550"/>
              <a:ext cx="461199" cy="2073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53"/>
            <p:cNvSpPr>
              <a:spLocks noChangeArrowheads="1"/>
            </p:cNvSpPr>
            <p:nvPr/>
          </p:nvSpPr>
          <p:spPr bwMode="auto">
            <a:xfrm>
              <a:off x="1393267" y="4973375"/>
              <a:ext cx="442029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7" name="Rectangle 57"/>
            <p:cNvSpPr>
              <a:spLocks noChangeArrowheads="1"/>
            </p:cNvSpPr>
            <p:nvPr/>
          </p:nvSpPr>
          <p:spPr bwMode="auto">
            <a:xfrm>
              <a:off x="1495041" y="4395573"/>
              <a:ext cx="1174825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dirty="0" err="1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relop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 flipH="1">
              <a:off x="1612752" y="4691162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 flipH="1">
              <a:off x="2458599" y="4763826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Line 64"/>
            <p:cNvSpPr>
              <a:spLocks noChangeShapeType="1"/>
            </p:cNvSpPr>
            <p:nvPr/>
          </p:nvSpPr>
          <p:spPr bwMode="auto">
            <a:xfrm flipH="1">
              <a:off x="2050950" y="3585213"/>
              <a:ext cx="648842" cy="2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Line 64"/>
            <p:cNvSpPr>
              <a:spLocks noChangeShapeType="1"/>
            </p:cNvSpPr>
            <p:nvPr/>
          </p:nvSpPr>
          <p:spPr bwMode="auto">
            <a:xfrm flipH="1">
              <a:off x="2688728" y="3585213"/>
              <a:ext cx="11061" cy="2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64"/>
            <p:cNvSpPr>
              <a:spLocks noChangeShapeType="1"/>
            </p:cNvSpPr>
            <p:nvPr/>
          </p:nvSpPr>
          <p:spPr bwMode="auto">
            <a:xfrm>
              <a:off x="2699791" y="3585213"/>
              <a:ext cx="899840" cy="322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2699792" y="3585214"/>
              <a:ext cx="1658398" cy="331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54"/>
            <p:cNvSpPr>
              <a:spLocks noChangeArrowheads="1"/>
            </p:cNvSpPr>
            <p:nvPr/>
          </p:nvSpPr>
          <p:spPr bwMode="auto">
            <a:xfrm>
              <a:off x="2681904" y="4351777"/>
              <a:ext cx="2276665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while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do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 flipH="1">
              <a:off x="3209524" y="4155349"/>
              <a:ext cx="437598" cy="2300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56"/>
            <p:cNvSpPr>
              <a:spLocks noChangeShapeType="1"/>
            </p:cNvSpPr>
            <p:nvPr/>
          </p:nvSpPr>
          <p:spPr bwMode="auto">
            <a:xfrm>
              <a:off x="3680249" y="4156809"/>
              <a:ext cx="1072173" cy="2455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59"/>
            <p:cNvSpPr>
              <a:spLocks noChangeShapeType="1"/>
            </p:cNvSpPr>
            <p:nvPr/>
          </p:nvSpPr>
          <p:spPr bwMode="auto">
            <a:xfrm>
              <a:off x="3680249" y="4155348"/>
              <a:ext cx="453391" cy="282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59"/>
            <p:cNvSpPr>
              <a:spLocks noChangeShapeType="1"/>
            </p:cNvSpPr>
            <p:nvPr/>
          </p:nvSpPr>
          <p:spPr bwMode="auto">
            <a:xfrm flipH="1">
              <a:off x="3568104" y="4156809"/>
              <a:ext cx="90238" cy="2822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Line 47"/>
            <p:cNvSpPr>
              <a:spLocks noChangeShapeType="1"/>
            </p:cNvSpPr>
            <p:nvPr/>
          </p:nvSpPr>
          <p:spPr bwMode="auto">
            <a:xfrm flipH="1">
              <a:off x="3191146" y="4755613"/>
              <a:ext cx="272630" cy="255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48"/>
            <p:cNvSpPr>
              <a:spLocks noChangeShapeType="1"/>
            </p:cNvSpPr>
            <p:nvPr/>
          </p:nvSpPr>
          <p:spPr bwMode="auto">
            <a:xfrm>
              <a:off x="3473303" y="4755613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49"/>
            <p:cNvSpPr>
              <a:spLocks noChangeShapeType="1"/>
            </p:cNvSpPr>
            <p:nvPr/>
          </p:nvSpPr>
          <p:spPr bwMode="auto">
            <a:xfrm>
              <a:off x="3473304" y="4755613"/>
              <a:ext cx="421752" cy="216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57"/>
            <p:cNvSpPr>
              <a:spLocks noChangeArrowheads="1"/>
            </p:cNvSpPr>
            <p:nvPr/>
          </p:nvSpPr>
          <p:spPr bwMode="auto">
            <a:xfrm>
              <a:off x="2970944" y="4971637"/>
              <a:ext cx="1117117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dirty="0" err="1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relop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3" name="Line 60"/>
            <p:cNvSpPr>
              <a:spLocks noChangeShapeType="1"/>
            </p:cNvSpPr>
            <p:nvPr/>
          </p:nvSpPr>
          <p:spPr bwMode="auto">
            <a:xfrm flipH="1">
              <a:off x="3147479" y="5267226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Line 66"/>
            <p:cNvSpPr>
              <a:spLocks noChangeShapeType="1"/>
            </p:cNvSpPr>
            <p:nvPr/>
          </p:nvSpPr>
          <p:spPr bwMode="auto">
            <a:xfrm flipH="1">
              <a:off x="3898189" y="5339890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4224989" y="4975542"/>
              <a:ext cx="1374976" cy="735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id  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;</a:t>
              </a:r>
            </a:p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" name="Line 55"/>
            <p:cNvSpPr>
              <a:spLocks noChangeShapeType="1"/>
            </p:cNvSpPr>
            <p:nvPr/>
          </p:nvSpPr>
          <p:spPr bwMode="auto">
            <a:xfrm flipH="1">
              <a:off x="4577674" y="4691162"/>
              <a:ext cx="188075" cy="3180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56"/>
            <p:cNvSpPr>
              <a:spLocks noChangeShapeType="1"/>
            </p:cNvSpPr>
            <p:nvPr/>
          </p:nvSpPr>
          <p:spPr bwMode="auto">
            <a:xfrm>
              <a:off x="4752422" y="4707260"/>
              <a:ext cx="726208" cy="322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59"/>
            <p:cNvSpPr>
              <a:spLocks noChangeShapeType="1"/>
            </p:cNvSpPr>
            <p:nvPr/>
          </p:nvSpPr>
          <p:spPr bwMode="auto">
            <a:xfrm>
              <a:off x="4762608" y="4691162"/>
              <a:ext cx="398739" cy="3180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59"/>
            <p:cNvSpPr>
              <a:spLocks noChangeShapeType="1"/>
            </p:cNvSpPr>
            <p:nvPr/>
          </p:nvSpPr>
          <p:spPr bwMode="auto">
            <a:xfrm>
              <a:off x="4752422" y="4703782"/>
              <a:ext cx="19075" cy="3054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7"/>
            <p:cNvSpPr>
              <a:spLocks noChangeShapeType="1"/>
            </p:cNvSpPr>
            <p:nvPr/>
          </p:nvSpPr>
          <p:spPr bwMode="auto">
            <a:xfrm flipH="1">
              <a:off x="4924643" y="5318945"/>
              <a:ext cx="208552" cy="2453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>
              <a:off x="5142722" y="5318945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>
              <a:off x="5142722" y="5318945"/>
              <a:ext cx="245175" cy="245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7"/>
            <p:cNvSpPr>
              <a:spLocks noChangeArrowheads="1"/>
            </p:cNvSpPr>
            <p:nvPr/>
          </p:nvSpPr>
          <p:spPr bwMode="auto">
            <a:xfrm>
              <a:off x="4712371" y="5534969"/>
              <a:ext cx="855604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+ 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54" name="Line 60"/>
            <p:cNvSpPr>
              <a:spLocks noChangeShapeType="1"/>
            </p:cNvSpPr>
            <p:nvPr/>
          </p:nvSpPr>
          <p:spPr bwMode="auto">
            <a:xfrm flipH="1">
              <a:off x="4830082" y="5830558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Line 66"/>
            <p:cNvSpPr>
              <a:spLocks noChangeShapeType="1"/>
            </p:cNvSpPr>
            <p:nvPr/>
          </p:nvSpPr>
          <p:spPr bwMode="auto">
            <a:xfrm flipH="1">
              <a:off x="5387897" y="5877272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5508104" y="4552088"/>
              <a:ext cx="1028728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id 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;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5855695" y="4138584"/>
              <a:ext cx="119232" cy="386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56"/>
            <p:cNvSpPr>
              <a:spLocks noChangeShapeType="1"/>
            </p:cNvSpPr>
            <p:nvPr/>
          </p:nvSpPr>
          <p:spPr bwMode="auto">
            <a:xfrm>
              <a:off x="5855695" y="4151154"/>
              <a:ext cx="536534" cy="3535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5855696" y="4161628"/>
              <a:ext cx="322679" cy="3639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H="1">
              <a:off x="5655043" y="4138583"/>
              <a:ext cx="200653" cy="366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6208410" y="4796259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22767" tIns="61384" rIns="122767" bIns="61384"/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763688" y="4653136"/>
              <a:ext cx="423433" cy="351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&lt;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3" name="Rectangle 53"/>
            <p:cNvSpPr>
              <a:spLocks noChangeArrowheads="1"/>
            </p:cNvSpPr>
            <p:nvPr/>
          </p:nvSpPr>
          <p:spPr bwMode="auto">
            <a:xfrm>
              <a:off x="2195736" y="5013176"/>
              <a:ext cx="635591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num</a:t>
              </a:r>
              <a:endPara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5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4" name="Rectangle 53"/>
            <p:cNvSpPr>
              <a:spLocks noChangeArrowheads="1"/>
            </p:cNvSpPr>
            <p:nvPr/>
          </p:nvSpPr>
          <p:spPr bwMode="auto">
            <a:xfrm>
              <a:off x="2928678" y="5570774"/>
              <a:ext cx="455253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5" name="Rectangle 53"/>
            <p:cNvSpPr>
              <a:spLocks noChangeArrowheads="1"/>
            </p:cNvSpPr>
            <p:nvPr/>
          </p:nvSpPr>
          <p:spPr bwMode="auto">
            <a:xfrm>
              <a:off x="3684699" y="5589240"/>
              <a:ext cx="455253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3308629" y="5213623"/>
              <a:ext cx="470883" cy="37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&gt;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7" name="Rectangle 53"/>
            <p:cNvSpPr>
              <a:spLocks noChangeArrowheads="1"/>
            </p:cNvSpPr>
            <p:nvPr/>
          </p:nvSpPr>
          <p:spPr bwMode="auto">
            <a:xfrm>
              <a:off x="4620803" y="6136264"/>
              <a:ext cx="455253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x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8" name="Rectangle 53"/>
            <p:cNvSpPr>
              <a:spLocks noChangeArrowheads="1"/>
            </p:cNvSpPr>
            <p:nvPr/>
          </p:nvSpPr>
          <p:spPr bwMode="auto">
            <a:xfrm>
              <a:off x="5076056" y="6136264"/>
              <a:ext cx="635591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num</a:t>
              </a:r>
              <a:endPara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9" name="Rectangle 53"/>
            <p:cNvSpPr>
              <a:spLocks noChangeArrowheads="1"/>
            </p:cNvSpPr>
            <p:nvPr/>
          </p:nvSpPr>
          <p:spPr bwMode="auto">
            <a:xfrm>
              <a:off x="5999131" y="5128152"/>
              <a:ext cx="455253" cy="539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2767" tIns="61384" rIns="122767" bIns="61384">
              <a:spAutoFit/>
            </a:bodyPr>
            <a:lstStyle/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id</a:t>
              </a:r>
            </a:p>
            <a:p>
              <a:pPr defTabSz="1219170" eaLnBrk="0" fontAlgn="base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75000"/>
              </a:pP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y</a:t>
              </a:r>
              <a:r>
                <a:rPr kumimoji="1" lang="en-US" altLang="zh-CN" sz="2400" b="1" dirty="0">
                  <a:solidFill>
                    <a:prstClr val="black"/>
                  </a:solidFill>
                  <a:latin typeface="Times New Roman" pitchFamily="18" charset="0"/>
                  <a:ea typeface="宋体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0" name="内容占位符 2"/>
          <p:cNvSpPr txBox="1">
            <a:spLocks/>
          </p:cNvSpPr>
          <p:nvPr/>
        </p:nvSpPr>
        <p:spPr bwMode="auto">
          <a:xfrm>
            <a:off x="8936715" y="1938165"/>
            <a:ext cx="2990133" cy="47123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100: 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&lt;,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102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b="1" kern="0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101: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- ,  - , 112 )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102: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&lt;,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, 5 , 104 )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103: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, - ,  - , 110 ) 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104: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&gt;,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106 )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105: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, - ,  - , 100 ) 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106: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+ ,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1 ,  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i="1" kern="0" baseline="-2500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kern="0" baseline="-2500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107: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= ,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i="1" kern="0" baseline="-2500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kern="0" baseline="-2500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, - ,  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 )</a:t>
            </a:r>
            <a:endParaRPr lang="en-US" altLang="zh-CN" sz="2400" b="1" kern="0" baseline="-25000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108: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, - ,  - , 104 )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109: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- ,  - , 100 )</a:t>
            </a:r>
            <a:endParaRPr lang="zh-CN" altLang="en-US" sz="2400" b="1" kern="0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110: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 = ,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,  - ,   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) 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111:</a:t>
            </a:r>
            <a:r>
              <a:rPr lang="zh-CN" altLang="en-US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j  </a:t>
            </a: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, - ,  - , 100 )</a:t>
            </a:r>
          </a:p>
          <a:p>
            <a:pPr marL="457189" indent="-457189" defTabSz="1219170" eaLnBrk="1" hangingPunct="1">
              <a:lnSpc>
                <a:spcPct val="80000"/>
              </a:lnSpc>
              <a:buClr>
                <a:srgbClr val="5EAEFF"/>
              </a:buClr>
              <a:buNone/>
            </a:pPr>
            <a:r>
              <a:rPr lang="en-US" altLang="zh-CN" sz="2400" b="1" kern="0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112:</a:t>
            </a:r>
          </a:p>
        </p:txBody>
      </p:sp>
      <p:grpSp>
        <p:nvGrpSpPr>
          <p:cNvPr id="71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72" name="五边形 7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3" name="五边形 7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74" name="标题 1"/>
          <p:cNvSpPr txBox="1">
            <a:spLocks/>
          </p:cNvSpPr>
          <p:nvPr/>
        </p:nvSpPr>
        <p:spPr>
          <a:xfrm>
            <a:off x="3714733" y="928589"/>
            <a:ext cx="2400088" cy="164315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vert="horz" lIns="121920" tIns="60960" rIns="121920" bIns="6096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defTabSz="1219170"/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while 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do </a:t>
            </a:r>
          </a:p>
          <a:p>
            <a:pPr algn="l" defTabSz="1219170"/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   if 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&lt;5 then </a:t>
            </a:r>
          </a:p>
          <a:p>
            <a:pPr algn="l" defTabSz="1219170"/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        while 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do    </a:t>
            </a:r>
          </a:p>
          <a:p>
            <a:pPr algn="l" defTabSz="1219170"/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  z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+1; </a:t>
            </a:r>
          </a:p>
          <a:p>
            <a:pPr algn="l" defTabSz="1219170"/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    else 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133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133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endParaRPr lang="zh-CN" altLang="en-US" sz="2133" b="1" dirty="0">
              <a:solidFill>
                <a:prstClr val="black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右箭头 74"/>
          <p:cNvSpPr/>
          <p:nvPr/>
        </p:nvSpPr>
        <p:spPr>
          <a:xfrm>
            <a:off x="6841728" y="2047819"/>
            <a:ext cx="1846560" cy="8640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303079" y="932723"/>
            <a:ext cx="73129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6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?</a:t>
            </a:r>
            <a:endParaRPr lang="zh-CN" altLang="en-US" sz="9600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92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4" grpId="0" animBg="1"/>
      <p:bldP spid="75" grpId="0" animBg="1"/>
      <p:bldP spid="7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571462" y="1241450"/>
            <a:ext cx="5908581" cy="5616575"/>
          </a:xfrm>
        </p:spPr>
        <p:txBody>
          <a:bodyPr>
            <a:noAutofit/>
          </a:bodyPr>
          <a:lstStyle/>
          <a:p>
            <a:pPr>
              <a:lnSpc>
                <a:spcPts val="4667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目标代码生成以源程序的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中间表示形式</a:t>
            </a:r>
            <a:r>
              <a:rPr lang="zh-CN" altLang="en-US" b="1" dirty="0">
                <a:solidFill>
                  <a:schemeClr val="tx1"/>
                </a:solidFill>
              </a:rPr>
              <a:t>作为输入，并把它映射到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目标语言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4667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目标代码生成的一个重要任务是为程序中使用的变量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合理分配寄存器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pPr algn="l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目标代码生成</a:t>
            </a:r>
          </a:p>
        </p:txBody>
      </p:sp>
      <p:grpSp>
        <p:nvGrpSpPr>
          <p:cNvPr id="28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9" name="五边形 2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0" name="五边形 2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6397928" y="15508"/>
            <a:ext cx="2962435" cy="6823475"/>
          </a:xfrm>
          <a:prstGeom prst="rect">
            <a:avLst/>
          </a:prstGeom>
        </p:spPr>
      </p:pic>
      <p:sp>
        <p:nvSpPr>
          <p:cNvPr id="25" name="Rectangle 42"/>
          <p:cNvSpPr>
            <a:spLocks noChangeArrowheads="1"/>
          </p:cNvSpPr>
          <p:nvPr/>
        </p:nvSpPr>
        <p:spPr bwMode="auto">
          <a:xfrm flipV="1">
            <a:off x="6589949" y="4958500"/>
            <a:ext cx="2571768" cy="514355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810FB1-95C3-4BF9-848B-0F51A198E68C}"/>
              </a:ext>
            </a:extLst>
          </p:cNvPr>
          <p:cNvSpPr/>
          <p:nvPr/>
        </p:nvSpPr>
        <p:spPr>
          <a:xfrm>
            <a:off x="7722198" y="5472855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1C0949-0C18-44F4-BC0E-BAAB893B54E1}"/>
              </a:ext>
            </a:extLst>
          </p:cNvPr>
          <p:cNvSpPr/>
          <p:nvPr/>
        </p:nvSpPr>
        <p:spPr>
          <a:xfrm>
            <a:off x="7722198" y="6376891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6397928" y="15508"/>
            <a:ext cx="2962435" cy="6823475"/>
          </a:xfrm>
          <a:prstGeom prst="rect">
            <a:avLst/>
          </a:prstGeom>
        </p:spPr>
      </p:pic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435" y="356659"/>
            <a:ext cx="10574965" cy="480053"/>
          </a:xfrm>
        </p:spPr>
        <p:txBody>
          <a:bodyPr/>
          <a:lstStyle/>
          <a:p>
            <a:pPr algn="l"/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grpSp>
        <p:nvGrpSpPr>
          <p:cNvPr id="24" name="组合 14"/>
          <p:cNvGrpSpPr/>
          <p:nvPr/>
        </p:nvGrpSpPr>
        <p:grpSpPr>
          <a:xfrm>
            <a:off x="-1047" y="260648"/>
            <a:ext cx="1008484" cy="576064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36" name="Rectangle 42"/>
          <p:cNvSpPr>
            <a:spLocks noChangeArrowheads="1"/>
          </p:cNvSpPr>
          <p:nvPr/>
        </p:nvSpPr>
        <p:spPr bwMode="auto">
          <a:xfrm>
            <a:off x="6576053" y="5829267"/>
            <a:ext cx="2592288" cy="576064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6576053" y="4005064"/>
            <a:ext cx="2592288" cy="576064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99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495309" y="1603821"/>
            <a:ext cx="5888724" cy="4301697"/>
          </a:xfrm>
        </p:spPr>
        <p:txBody>
          <a:bodyPr>
            <a:normAutofit/>
          </a:bodyPr>
          <a:lstStyle/>
          <a:p>
            <a:pPr>
              <a:lnSpc>
                <a:spcPts val="5333"/>
              </a:lnSpc>
              <a:buClrTx/>
              <a:buFont typeface="Wingdings" pitchFamily="2" charset="2"/>
              <a:buChar char="Ø"/>
            </a:pPr>
            <a:r>
              <a:rPr lang="zh-CN" altLang="en-US" sz="4000" b="1" dirty="0">
                <a:solidFill>
                  <a:schemeClr val="tx1"/>
                </a:solidFill>
              </a:rPr>
              <a:t> </a:t>
            </a:r>
            <a:r>
              <a:rPr lang="zh-CN" altLang="en-US" sz="3733" b="1" dirty="0">
                <a:solidFill>
                  <a:schemeClr val="tx1"/>
                </a:solidFill>
              </a:rPr>
              <a:t>代码优化</a:t>
            </a:r>
            <a:endParaRPr lang="en-US" altLang="zh-CN" sz="3733" b="1" dirty="0">
              <a:solidFill>
                <a:schemeClr val="tx1"/>
              </a:solidFill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</a:rPr>
              <a:t>为改进代码所进行的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等价程序变换</a:t>
            </a:r>
            <a:r>
              <a:rPr lang="zh-CN" altLang="en-US" sz="3200" b="1" dirty="0">
                <a:solidFill>
                  <a:schemeClr val="tx1"/>
                </a:solidFill>
              </a:rPr>
              <a:t>，使其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运行得更快</a:t>
            </a:r>
            <a:r>
              <a:rPr lang="zh-CN" altLang="en-US" sz="3200" b="1" dirty="0">
                <a:solidFill>
                  <a:schemeClr val="tx1"/>
                </a:solidFill>
              </a:rPr>
              <a:t>一些、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占用空间更少</a:t>
            </a:r>
            <a:r>
              <a:rPr lang="zh-CN" altLang="en-US" sz="3200" b="1" dirty="0">
                <a:solidFill>
                  <a:schemeClr val="tx1"/>
                </a:solidFill>
              </a:rPr>
              <a:t>一些，或者二者兼顾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45364A-6A73-44EA-A921-14D092CD94E4}"/>
              </a:ext>
            </a:extLst>
          </p:cNvPr>
          <p:cNvSpPr/>
          <p:nvPr/>
        </p:nvSpPr>
        <p:spPr>
          <a:xfrm>
            <a:off x="7745351" y="5505881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96611A-592F-4ADD-9882-3DB84252DBF2}"/>
              </a:ext>
            </a:extLst>
          </p:cNvPr>
          <p:cNvSpPr/>
          <p:nvPr/>
        </p:nvSpPr>
        <p:spPr>
          <a:xfrm>
            <a:off x="7745351" y="6409917"/>
            <a:ext cx="396009" cy="3233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2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199456" y="1220756"/>
            <a:ext cx="8832981" cy="4301697"/>
          </a:xfrm>
        </p:spPr>
        <p:txBody>
          <a:bodyPr/>
          <a:lstStyle/>
          <a:p>
            <a:r>
              <a:rPr lang="zh-CN" altLang="en-US" dirty="0"/>
              <a:t>词法分析：识别每个单词的类型，给出</a:t>
            </a:r>
            <a:endParaRPr lang="en-US" altLang="zh-CN" dirty="0"/>
          </a:p>
          <a:p>
            <a:pPr marL="0" lvl="1" indent="0">
              <a:buNone/>
            </a:pPr>
            <a:r>
              <a:rPr lang="en-US" altLang="zh-CN" sz="2400" b="1" dirty="0">
                <a:solidFill>
                  <a:schemeClr val="tx1"/>
                </a:solidFill>
              </a:rPr>
              <a:t>      token</a:t>
            </a:r>
            <a:r>
              <a:rPr lang="zh-CN" altLang="en-US" sz="2400" b="1" dirty="0">
                <a:solidFill>
                  <a:schemeClr val="tx1"/>
                </a:solidFill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</a:rPr>
              <a:t>&lt; </a:t>
            </a:r>
            <a:r>
              <a:rPr lang="zh-CN" altLang="en-US" sz="2400" b="1" dirty="0">
                <a:solidFill>
                  <a:schemeClr val="tx1"/>
                </a:solidFill>
              </a:rPr>
              <a:t>种别码，属性值 </a:t>
            </a:r>
            <a:r>
              <a:rPr lang="en-US" altLang="zh-CN" sz="2400" b="1" dirty="0">
                <a:solidFill>
                  <a:schemeClr val="tx1"/>
                </a:solidFill>
              </a:rPr>
              <a:t>&gt;</a:t>
            </a:r>
            <a:endParaRPr lang="en-US" altLang="zh-CN" dirty="0"/>
          </a:p>
          <a:p>
            <a:r>
              <a:rPr lang="zh-CN" altLang="en-US" dirty="0"/>
              <a:t>语法分析：根据文法规则，构建语法分析树</a:t>
            </a:r>
            <a:endParaRPr lang="en-US" altLang="zh-CN" dirty="0"/>
          </a:p>
          <a:p>
            <a:r>
              <a:rPr lang="zh-CN" altLang="en-US" dirty="0"/>
              <a:t>语义分析：收集标识符的属性和创建符号表</a:t>
            </a:r>
            <a:endParaRPr lang="en-US" altLang="zh-CN" dirty="0"/>
          </a:p>
          <a:p>
            <a:r>
              <a:rPr lang="zh-CN" altLang="en-US" dirty="0"/>
              <a:t>中间代码生成：三地址指令的四元式表示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x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(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 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总结：</a:t>
            </a:r>
          </a:p>
        </p:txBody>
      </p:sp>
      <p:sp>
        <p:nvSpPr>
          <p:cNvPr id="4" name="右箭头 3"/>
          <p:cNvSpPr/>
          <p:nvPr/>
        </p:nvSpPr>
        <p:spPr>
          <a:xfrm>
            <a:off x="3791744" y="4293096"/>
            <a:ext cx="480053" cy="1920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986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87755" y="2372883"/>
            <a:ext cx="3840427" cy="1632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400" dirty="0"/>
              <a:t>The End</a:t>
            </a:r>
            <a:endParaRPr lang="zh-CN" altLang="en-US" sz="6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877DB5C4-EDEC-409D-BB92-E8AE453AA2A4}" type="slidenum">
              <a:rPr lang="zh-CN" altLang="en-US">
                <a:solidFill>
                  <a:srgbClr val="073E87"/>
                </a:solidFill>
                <a:latin typeface="Tahoma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US" altLang="zh-CN">
              <a:solidFill>
                <a:srgbClr val="073E87"/>
              </a:solidFill>
              <a:latin typeface="Tahom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96457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60" y="0"/>
            <a:ext cx="11210459" cy="6879589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400257" y="2326312"/>
            <a:ext cx="5928783" cy="1253067"/>
          </a:xfrm>
          <a:prstGeom prst="rect">
            <a:avLst/>
          </a:prstGeom>
        </p:spPr>
        <p:txBody>
          <a:bodyPr anchor="ctr"/>
          <a:lstStyle/>
          <a:p>
            <a:pPr defTabSz="1219170" eaLnBrk="0" hangingPunct="0">
              <a:spcBef>
                <a:spcPct val="0"/>
              </a:spcBef>
              <a:defRPr/>
            </a:pPr>
            <a:endParaRPr lang="zh-CN" altLang="en-US" sz="4800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536160" y="2718105"/>
            <a:ext cx="4787261" cy="2148864"/>
          </a:xfrm>
          <a:prstGeom prst="rect">
            <a:avLst/>
          </a:prstGeom>
        </p:spPr>
        <p:txBody>
          <a:bodyPr anchor="ctr"/>
          <a:lstStyle/>
          <a:p>
            <a:pPr defTabSz="1219170" eaLnBrk="0" hangingPunct="0">
              <a:spcBef>
                <a:spcPct val="0"/>
              </a:spcBef>
              <a:defRPr/>
            </a:pPr>
            <a:r>
              <a:rPr lang="en-US" altLang="zh-CN" sz="33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37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南信大计软院</a:t>
            </a:r>
            <a:endParaRPr lang="en-US" altLang="zh-CN" sz="3733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defTabSz="1219170" eaLnBrk="0" hangingPunct="0">
              <a:spcBef>
                <a:spcPct val="0"/>
              </a:spcBef>
              <a:defRPr/>
            </a:pPr>
            <a:r>
              <a:rPr lang="en-US" altLang="zh-CN" sz="37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zh-CN" altLang="en-US" sz="32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3200" b="1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defTabSz="1219170" eaLnBrk="0" hangingPunct="0">
              <a:spcBef>
                <a:spcPct val="0"/>
              </a:spcBef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    </a:t>
            </a:r>
            <a:r>
              <a:rPr lang="en-US" altLang="zh-CN" sz="37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2025</a:t>
            </a:r>
            <a:r>
              <a:rPr lang="zh-CN" altLang="en-US" sz="3733" b="1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740961" y="1124745"/>
            <a:ext cx="6815667" cy="1543049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defTabSz="1219170">
              <a:spcBef>
                <a:spcPct val="0"/>
              </a:spcBef>
              <a:defRPr/>
            </a:pPr>
            <a:r>
              <a:rPr lang="zh-CN" altLang="en-US" sz="4800" spc="4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第二章 语言及其文法</a:t>
            </a:r>
          </a:p>
          <a:p>
            <a:pPr defTabSz="1219170" eaLnBrk="0" hangingPunct="0">
              <a:spcBef>
                <a:spcPct val="0"/>
              </a:spcBef>
              <a:defRPr/>
            </a:pPr>
            <a:endParaRPr lang="zh-CN" altLang="en-US" sz="4800" spc="4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990575" indent="-38099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33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523962" indent="-304792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67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2133547" indent="-304792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67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743131" indent="-304792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3352716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3962301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4571886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5181470" indent="-304792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33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fld id="{E5C32FFA-EA69-47F7-AFFE-12C640E3505D}" type="slidenum">
              <a:rPr lang="zh-CN" altLang="en-US" sz="1333">
                <a:solidFill>
                  <a:srgbClr val="073E87"/>
                </a:solidFill>
                <a:latin typeface="Tahoma" panose="020B0604030504040204" pitchFamily="34" charset="0"/>
                <a:ea typeface="宋体" pitchFamily="2" charset="-122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t>46</a:t>
            </a:fld>
            <a:endParaRPr lang="en-US" altLang="zh-CN" sz="1333">
              <a:solidFill>
                <a:srgbClr val="073E87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6183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74133" y="1653118"/>
            <a:ext cx="5878532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61981" indent="-761981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字母表和串的介绍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61981" indent="-761981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文法和语言的定义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761981" indent="-761981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48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文法的分类</a:t>
            </a:r>
            <a:endParaRPr lang="en-US" altLang="zh-CN" sz="48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endParaRPr lang="zh-CN" altLang="en-US" sz="37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0244" name="组合 29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1219170"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1024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990575" indent="-38099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523962" indent="-304792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2133547" indent="-304792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743131" indent="-304792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25B4C6A2-7E85-428E-BF6D-B25E919AF6DE}" type="slidenum">
              <a:rPr lang="zh-CN" altLang="en-US">
                <a:solidFill>
                  <a:srgbClr val="073E87"/>
                </a:solidFill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US" altLang="zh-CN">
              <a:solidFill>
                <a:srgbClr val="073E8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565152" y="1413933"/>
            <a:ext cx="8959849" cy="4301067"/>
          </a:xfrm>
        </p:spPr>
        <p:txBody>
          <a:bodyPr/>
          <a:lstStyle/>
          <a:p>
            <a:pPr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schemeClr val="tx1"/>
                </a:solidFill>
              </a:rPr>
              <a:t>字母表</a:t>
            </a:r>
            <a:r>
              <a:rPr lang="zh-CN" altLang="en-US" sz="4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4000" b="1" dirty="0">
                <a:solidFill>
                  <a:schemeClr val="tx1"/>
                </a:solidFill>
              </a:rPr>
              <a:t>是一个</a:t>
            </a:r>
            <a:r>
              <a:rPr lang="zh-CN" altLang="en-US" sz="4000" b="1" dirty="0">
                <a:solidFill>
                  <a:srgbClr val="FF0000"/>
                </a:solidFill>
              </a:rPr>
              <a:t>有穷符号集合</a:t>
            </a:r>
            <a:endParaRPr lang="en-US" altLang="zh-CN" sz="4000" b="1" dirty="0"/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467" b="1" dirty="0">
                <a:solidFill>
                  <a:schemeClr val="tx1"/>
                </a:solidFill>
              </a:rPr>
              <a:t>符号：字母、数字、标点符号、</a:t>
            </a:r>
            <a:r>
              <a:rPr lang="en-US" altLang="zh-CN" sz="3467" b="1" dirty="0">
                <a:solidFill>
                  <a:schemeClr val="tx1"/>
                </a:solidFill>
              </a:rPr>
              <a:t>…</a:t>
            </a:r>
          </a:p>
          <a:p>
            <a:pPr lvl="1" eaLnBrk="1" hangingPunct="1">
              <a:buFont typeface="Symbol" panose="05050102010706020507" pitchFamily="18" charset="2"/>
              <a:buNone/>
              <a:defRPr/>
            </a:pPr>
            <a:endParaRPr lang="en-US" altLang="zh-CN" b="1" dirty="0"/>
          </a:p>
          <a:p>
            <a:pPr marL="404274" lvl="1" indent="0" eaLnBrk="1" hangingPunct="1">
              <a:buNone/>
              <a:defRPr/>
            </a:pPr>
            <a:r>
              <a:rPr lang="zh-CN" altLang="en-US" b="1" dirty="0"/>
              <a:t>    </a:t>
            </a:r>
          </a:p>
        </p:txBody>
      </p:sp>
      <p:sp>
        <p:nvSpPr>
          <p:cNvPr id="19459" name="标题 1"/>
          <p:cNvSpPr>
            <a:spLocks noGrp="1"/>
          </p:cNvSpPr>
          <p:nvPr>
            <p:ph type="title"/>
          </p:nvPr>
        </p:nvSpPr>
        <p:spPr>
          <a:xfrm>
            <a:off x="1007533" y="861485"/>
            <a:ext cx="10574867" cy="47836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kern="1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字母表</a:t>
            </a:r>
            <a:r>
              <a:rPr lang="zh-CN" altLang="en-US" kern="1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200" kern="1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200" i="1" kern="100" dirty="0">
                <a:solidFill>
                  <a:schemeClr val="tx1"/>
                </a:solidFill>
                <a:cs typeface="Times New Roman" pitchFamily="18" charset="0"/>
              </a:rPr>
              <a:t>Alphabet</a:t>
            </a:r>
            <a:r>
              <a:rPr lang="en-US" altLang="zh-CN" sz="3200" kern="1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3200" dirty="0">
              <a:solidFill>
                <a:schemeClr val="tx1"/>
              </a:solidFill>
              <a:latin typeface="Time New Roman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33501" y="3236384"/>
            <a:ext cx="5524500" cy="29238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例：</a:t>
            </a:r>
            <a:endParaRPr lang="en-US" altLang="zh-CN" sz="4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364058" indent="-364058" defTabSz="1219170" fontAlgn="base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二进制字母表：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{ 0,1 }</a:t>
            </a:r>
          </a:p>
          <a:p>
            <a:pPr marL="364058" indent="-364058" defTabSz="1219170" fontAlgn="base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ASCII</a:t>
            </a:r>
            <a:r>
              <a:rPr lang="zh-CN" altLang="en-US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字符集</a:t>
            </a:r>
            <a:endParaRPr lang="en-US" altLang="zh-CN" sz="4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364058" indent="-364058" defTabSz="1219170" fontAlgn="base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Unicode</a:t>
            </a:r>
            <a:r>
              <a:rPr lang="zh-CN" altLang="en-US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字符集</a:t>
            </a:r>
            <a:endParaRPr lang="zh-CN" altLang="en-US" sz="4000" b="1" i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12293" name="组合 5"/>
          <p:cNvGrpSpPr>
            <a:grpSpLocks/>
          </p:cNvGrpSpPr>
          <p:nvPr/>
        </p:nvGrpSpPr>
        <p:grpSpPr bwMode="auto">
          <a:xfrm>
            <a:off x="0" y="836084"/>
            <a:ext cx="1007533" cy="575733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39184" y="222251"/>
            <a:ext cx="10574867" cy="480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1219170" eaLnBrk="1" hangingPunct="1">
              <a:defRPr/>
            </a:pPr>
            <a:r>
              <a:rPr lang="en-US" altLang="zh-CN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2.1 </a:t>
            </a:r>
            <a:r>
              <a:rPr lang="zh-CN" altLang="en-US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基本概念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59368" y="857251"/>
            <a:ext cx="7903633" cy="4301067"/>
          </a:xfrm>
        </p:spPr>
        <p:txBody>
          <a:bodyPr rtlCol="0">
            <a:normAutofit/>
          </a:bodyPr>
          <a:lstStyle/>
          <a:p>
            <a:pPr marL="365751" indent="-365751" eaLnBrk="1" fontAlgn="auto" hangingPunct="1">
              <a:lnSpc>
                <a:spcPts val="5333"/>
              </a:lnSpc>
              <a:spcAft>
                <a:spcPts val="0"/>
              </a:spcAft>
              <a:buClrTx/>
              <a:buNone/>
              <a:defRPr/>
            </a:pPr>
            <a:endParaRPr lang="en-US" altLang="zh-CN" sz="4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indent="-365751" eaLnBrk="1" fontAlgn="auto" hangingPunct="1">
              <a:lnSpc>
                <a:spcPts val="5333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={</a:t>
            </a:r>
            <a:r>
              <a:rPr lang="en-US" altLang="zh-CN" sz="3333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ab</a:t>
            </a:r>
            <a:r>
              <a:rPr lang="en-US" altLang="zh-CN" sz="3333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3333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333" dirty="0">
                <a:solidFill>
                  <a:schemeClr val="tx1"/>
                </a:solidFill>
                <a:cs typeface="Times New Roman" panose="02020603050405020304" pitchFamily="18" charset="0"/>
              </a:rPr>
              <a:t>∈ 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3333" dirty="0">
                <a:solidFill>
                  <a:schemeClr val="tx1"/>
                </a:solidFill>
                <a:cs typeface="Times New Roman" panose="02020603050405020304" pitchFamily="18" charset="0"/>
              </a:rPr>
              <a:t> ∈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marL="365751" indent="-365751" eaLnBrk="1" fontAlgn="auto" hangingPunct="1">
              <a:spcAft>
                <a:spcPts val="0"/>
              </a:spcAft>
              <a:defRPr/>
            </a:pPr>
            <a:endParaRPr lang="en-US" altLang="zh-CN" b="1" dirty="0">
              <a:ea typeface="楷体_GB2312"/>
              <a:cs typeface="Times New Roman" pitchFamily="18" charset="0"/>
            </a:endParaRPr>
          </a:p>
          <a:p>
            <a:pPr marL="365751" indent="-365751" eaLnBrk="1" fontAlgn="auto" hangingPunct="1">
              <a:spcAft>
                <a:spcPts val="0"/>
              </a:spcAft>
              <a:defRPr/>
            </a:pPr>
            <a:endParaRPr lang="zh-CN" altLang="en-US" dirty="0">
              <a:cs typeface="Times New Roman" pitchFamily="18" charset="0"/>
            </a:endParaRPr>
          </a:p>
        </p:txBody>
      </p:sp>
      <p:sp>
        <p:nvSpPr>
          <p:cNvPr id="12291" name="标题 2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1576918" y="2667001"/>
            <a:ext cx="7471833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{0, 1} {</a:t>
            </a: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 ={0</a:t>
            </a: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0</a:t>
            </a: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1</a:t>
            </a: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1</a:t>
            </a:r>
            <a:r>
              <a:rPr lang="en-US" altLang="zh-CN" sz="40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4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341" name="组合 5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94" name="内容占位符 1"/>
          <p:cNvSpPr txBox="1">
            <a:spLocks/>
          </p:cNvSpPr>
          <p:nvPr/>
        </p:nvSpPr>
        <p:spPr bwMode="auto">
          <a:xfrm>
            <a:off x="857251" y="1047751"/>
            <a:ext cx="9791700" cy="1428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64058" indent="-364058" defTabSz="1219170" fontAlgn="base">
              <a:lnSpc>
                <a:spcPts val="4000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333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333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乘积</a:t>
            </a:r>
            <a:r>
              <a:rPr lang="en-US" altLang="zh-CN" sz="2667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product</a:t>
            </a:r>
            <a:r>
              <a:rPr lang="en-US" altLang="zh-CN" sz="2667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21368" y="2286001"/>
            <a:ext cx="7903633" cy="2857500"/>
          </a:xfrm>
        </p:spPr>
        <p:txBody>
          <a:bodyPr rtlCol="0">
            <a:normAutofit/>
          </a:bodyPr>
          <a:lstStyle/>
          <a:p>
            <a:pPr marL="365751" indent="-365751" eaLnBrk="1" fontAlgn="auto" hangingPunct="1">
              <a:spcAft>
                <a:spcPts val="0"/>
              </a:spcAft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3333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3333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-1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n 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≥ </a:t>
            </a:r>
            <a:r>
              <a:rPr lang="en-US" altLang="zh-CN" sz="3333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1</a:t>
            </a:r>
          </a:p>
          <a:p>
            <a:pPr marL="365751" indent="-365751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={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ε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marL="365751" indent="-365751" eaLnBrk="1" fontAlgn="auto" hangingPunct="1">
              <a:spcAft>
                <a:spcPts val="0"/>
              </a:spcAft>
              <a:buNone/>
              <a:defRPr/>
            </a:pPr>
            <a:endParaRPr lang="en-US" altLang="zh-CN" b="1" dirty="0">
              <a:ea typeface="楷体_GB2312"/>
              <a:cs typeface="Times New Roman" panose="02020603050405020304" pitchFamily="18" charset="0"/>
            </a:endParaRPr>
          </a:p>
          <a:p>
            <a:pPr marL="365751" indent="-365751" eaLnBrk="1" fontAlgn="auto" hangingPunct="1">
              <a:spcAft>
                <a:spcPts val="0"/>
              </a:spcAft>
              <a:defRPr/>
            </a:pP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524000" y="3714751"/>
            <a:ext cx="8477251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例：</a:t>
            </a:r>
            <a:r>
              <a:rPr lang="en-US" altLang="zh-CN" sz="4000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{0, 1}</a:t>
            </a:r>
            <a:r>
              <a:rPr lang="en-US" altLang="zh-CN" sz="4000" b="1" baseline="30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3</a:t>
            </a:r>
            <a:r>
              <a:rPr lang="en-US" altLang="zh-CN" sz="4000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={0, 1} {0, 1} {0, 1}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={000, 001, 010, 011, 100, 101, 110, 111}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428751" y="2476500"/>
            <a:ext cx="190500" cy="857251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4000" y="5365751"/>
            <a:ext cx="8805333" cy="111812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字母表的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次幂：长度为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的所有符号串构成的集合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grpSp>
        <p:nvGrpSpPr>
          <p:cNvPr id="16391" name="组合 5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4" name="五边形 1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44" name="内容占位符 1"/>
          <p:cNvSpPr txBox="1">
            <a:spLocks/>
          </p:cNvSpPr>
          <p:nvPr/>
        </p:nvSpPr>
        <p:spPr bwMode="auto">
          <a:xfrm>
            <a:off x="857251" y="1047752"/>
            <a:ext cx="9791700" cy="1238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64058" indent="-364058" defTabSz="1219170" fontAlgn="base">
              <a:lnSpc>
                <a:spcPts val="4000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333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乘积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667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product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64058" indent="-364058" defTabSz="1219170" fontAlgn="base">
              <a:lnSpc>
                <a:spcPts val="4000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3333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次幂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667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power</a:t>
            </a:r>
            <a:r>
              <a:rPr lang="en-US" altLang="zh-CN" sz="2667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  <p:bldP spid="6" grpId="0" animBg="1"/>
      <p:bldP spid="6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59367" y="2258484"/>
            <a:ext cx="10761133" cy="4301067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3333" b="1">
                <a:solidFill>
                  <a:srgbClr val="FF0000"/>
                </a:solidFill>
                <a:cs typeface="Times New Roman" panose="02020603050405020304" pitchFamily="18" charset="0"/>
              </a:rPr>
              <a:t>正闭包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schemeClr val="tx1"/>
                </a:solidFill>
                <a:cs typeface="Times New Roman" panose="02020603050405020304" pitchFamily="18" charset="0"/>
              </a:rPr>
              <a:t>positive closure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 ∪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3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∪ …</a:t>
            </a:r>
          </a:p>
          <a:p>
            <a:pPr eaLnBrk="1" hangingPunct="1"/>
            <a:endParaRPr lang="en-US" altLang="zh-CN" b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557" name="矩形 3"/>
          <p:cNvSpPr>
            <a:spLocks noChangeArrowheads="1"/>
          </p:cNvSpPr>
          <p:nvPr/>
        </p:nvSpPr>
        <p:spPr bwMode="auto">
          <a:xfrm>
            <a:off x="1619251" y="3676651"/>
            <a:ext cx="7429500" cy="18156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7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例：</a:t>
            </a:r>
            <a:r>
              <a:rPr lang="el-GR" altLang="zh-CN" sz="37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{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 </a:t>
            </a:r>
            <a:r>
              <a:rPr lang="en-US" altLang="zh-CN" sz="37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}</a:t>
            </a:r>
            <a:r>
              <a:rPr lang="en-US" altLang="zh-CN" sz="3733" b="1" baseline="30000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+</a:t>
            </a:r>
            <a:r>
              <a:rPr lang="en-US" altLang="zh-CN" sz="37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= {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d, 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ac, ad,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ba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bb,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bc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bd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…, 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aaa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aab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aac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aad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aba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abb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abc</a:t>
            </a:r>
            <a:r>
              <a:rPr lang="en-US" altLang="zh-CN" sz="37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7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…}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grpSp>
        <p:nvGrpSpPr>
          <p:cNvPr id="18437" name="组合 5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438" name="内容占位符 1"/>
          <p:cNvSpPr txBox="1">
            <a:spLocks/>
          </p:cNvSpPr>
          <p:nvPr/>
        </p:nvSpPr>
        <p:spPr bwMode="auto">
          <a:xfrm>
            <a:off x="857251" y="1047752"/>
            <a:ext cx="9791700" cy="1238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64058" indent="-364058" defTabSz="1219170" fontAlgn="base">
              <a:lnSpc>
                <a:spcPts val="4000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333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333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乘积</a:t>
            </a:r>
            <a:r>
              <a:rPr lang="en-US" altLang="zh-CN" sz="2667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product</a:t>
            </a:r>
            <a:r>
              <a:rPr lang="en-US" altLang="zh-CN" sz="2667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64058" indent="-364058" defTabSz="1219170" fontAlgn="base">
              <a:lnSpc>
                <a:spcPts val="4000"/>
              </a:lnSpc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∑</a:t>
            </a:r>
            <a:r>
              <a:rPr lang="zh-CN" altLang="en-US" sz="3333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3333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333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次幂</a:t>
            </a:r>
            <a:r>
              <a:rPr lang="en-US" altLang="zh-CN" sz="2667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power</a:t>
            </a:r>
            <a:r>
              <a:rPr lang="en-US" altLang="zh-CN" sz="2667" b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7751" y="5746751"/>
            <a:ext cx="9271000" cy="6052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华文楷体 (正文)"/>
                <a:ea typeface="楷体" panose="02010609060101010101" pitchFamily="49" charset="-122"/>
                <a:cs typeface="Times New Roman" panose="02020603050405020304" pitchFamily="18" charset="0"/>
              </a:rPr>
              <a:t>字母表的正闭包：长度正数的符号串构成的集合</a:t>
            </a:r>
            <a:endParaRPr lang="en-US" altLang="zh-CN" sz="3333" b="1" dirty="0">
              <a:solidFill>
                <a:prstClr val="black"/>
              </a:solidFill>
              <a:latin typeface="华文楷体 (正文)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7" grpId="1" animBg="1"/>
      <p:bldP spid="14" grpId="0" animBg="1"/>
      <p:bldP spid="14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57251" y="1047751"/>
            <a:ext cx="9791700" cy="430106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-3000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3333" b="1">
                <a:solidFill>
                  <a:srgbClr val="FF0000"/>
                </a:solidFill>
                <a:cs typeface="Times New Roman" panose="02020603050405020304" pitchFamily="18" charset="0"/>
              </a:rPr>
              <a:t>乘积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schemeClr val="tx1"/>
                </a:solidFill>
                <a:cs typeface="Times New Roman" panose="02020603050405020304" pitchFamily="18" charset="0"/>
              </a:rPr>
              <a:t>product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3333" b="1" i="1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3333" b="1">
                <a:solidFill>
                  <a:srgbClr val="FF0000"/>
                </a:solidFill>
                <a:cs typeface="Times New Roman" panose="02020603050405020304" pitchFamily="18" charset="0"/>
              </a:rPr>
              <a:t>次幂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schemeClr val="tx1"/>
                </a:solidFill>
                <a:cs typeface="Times New Roman" panose="02020603050405020304" pitchFamily="18" charset="0"/>
              </a:rPr>
              <a:t>power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3333" b="1">
                <a:solidFill>
                  <a:srgbClr val="FF0000"/>
                </a:solidFill>
                <a:cs typeface="Times New Roman" panose="02020603050405020304" pitchFamily="18" charset="0"/>
              </a:rPr>
              <a:t>正闭包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667" b="1" i="1">
                <a:solidFill>
                  <a:schemeClr val="tx1"/>
                </a:solidFill>
                <a:cs typeface="Times New Roman" panose="02020603050405020304" pitchFamily="18" charset="0"/>
              </a:rPr>
              <a:t>positive closure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字母表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333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3333" b="1">
                <a:solidFill>
                  <a:srgbClr val="FF0000"/>
                </a:solidFill>
                <a:cs typeface="Times New Roman" panose="02020603050405020304" pitchFamily="18" charset="0"/>
              </a:rPr>
              <a:t>克林闭包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667" b="1" i="1">
                <a:solidFill>
                  <a:schemeClr val="tx1"/>
                </a:solidFill>
                <a:cs typeface="Times New Roman" panose="02020603050405020304" pitchFamily="18" charset="0"/>
              </a:rPr>
              <a:t>Kleene closure</a:t>
            </a:r>
            <a:r>
              <a:rPr lang="en-US" altLang="zh-CN" sz="2667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3333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+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0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 ∪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3333" b="1" i="1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en-US" altLang="zh-CN" sz="3333" b="1" baseline="30000">
                <a:solidFill>
                  <a:schemeClr val="tx1"/>
                </a:solidFill>
                <a:cs typeface="Times New Roman" panose="02020603050405020304" pitchFamily="18" charset="0"/>
              </a:rPr>
              <a:t>3 </a:t>
            </a:r>
            <a:r>
              <a:rPr lang="en-US" altLang="zh-CN" sz="3333" b="1">
                <a:solidFill>
                  <a:schemeClr val="tx1"/>
                </a:solidFill>
                <a:cs typeface="Times New Roman" panose="02020603050405020304" pitchFamily="18" charset="0"/>
              </a:rPr>
              <a:t>∪ …</a:t>
            </a:r>
          </a:p>
          <a:p>
            <a:pPr eaLnBrk="1" hangingPunct="1">
              <a:lnSpc>
                <a:spcPts val="4667"/>
              </a:lnSpc>
            </a:pPr>
            <a:endParaRPr lang="en-US" altLang="zh-CN" b="1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4667"/>
              </a:lnSpc>
            </a:pP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4581" name="矩形 3"/>
          <p:cNvSpPr>
            <a:spLocks noChangeArrowheads="1"/>
          </p:cNvSpPr>
          <p:nvPr/>
        </p:nvSpPr>
        <p:spPr bwMode="auto">
          <a:xfrm>
            <a:off x="1619251" y="4221560"/>
            <a:ext cx="6667500" cy="16310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b"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例：</a:t>
            </a:r>
            <a:r>
              <a:rPr lang="el-GR" altLang="zh-CN" sz="33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{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}</a:t>
            </a:r>
            <a:r>
              <a:rPr lang="en-US" altLang="zh-CN" sz="3333" b="1" baseline="30000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*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= {</a:t>
            </a:r>
            <a:r>
              <a:rPr lang="el-GR" altLang="zh-CN" sz="3333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ε</a:t>
            </a:r>
            <a:r>
              <a:rPr lang="el-GR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a, b, c, d, 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ac, ad,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ba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bb,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bc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bd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…, 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aaa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aab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aac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aad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aba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abb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 err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abc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,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…}</a:t>
            </a:r>
          </a:p>
        </p:txBody>
      </p:sp>
      <p:sp>
        <p:nvSpPr>
          <p:cNvPr id="5" name="矩形 4"/>
          <p:cNvSpPr/>
          <p:nvPr/>
        </p:nvSpPr>
        <p:spPr>
          <a:xfrm>
            <a:off x="372533" y="6038851"/>
            <a:ext cx="11438467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prstClr val="black"/>
                </a:solidFill>
                <a:latin typeface="华文楷体 (正文)"/>
                <a:ea typeface="楷体" pitchFamily="49" charset="-122"/>
                <a:cs typeface="Times New Roman" pitchFamily="18" charset="0"/>
              </a:rPr>
              <a:t>字母表的克林闭包：任意符号串（长度可以为零）构成的集合</a:t>
            </a:r>
            <a:endParaRPr lang="en-US" altLang="zh-CN" sz="3200" b="1" dirty="0">
              <a:solidFill>
                <a:prstClr val="black"/>
              </a:solidFill>
              <a:latin typeface="华文楷体 (正文)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字母表上的运算</a:t>
            </a:r>
          </a:p>
        </p:txBody>
      </p:sp>
      <p:grpSp>
        <p:nvGrpSpPr>
          <p:cNvPr id="20486" name="组合 5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/>
      <p:bldP spid="24581" grpId="1" animBg="1"/>
      <p:bldP spid="5" grpId="0" animBg="1"/>
      <p:bldP spid="5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571500" y="1047751"/>
            <a:ext cx="11049000" cy="6381749"/>
          </a:xfrm>
        </p:spPr>
        <p:txBody>
          <a:bodyPr rtlCol="0">
            <a:noAutofit/>
          </a:bodyPr>
          <a:lstStyle/>
          <a:p>
            <a:pPr marL="36575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设∑是一个字母表，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3600" b="1" i="1" dirty="0">
                <a:solidFill>
                  <a:schemeClr val="tx1"/>
                </a:solidFill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∈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∑</a:t>
            </a:r>
            <a:r>
              <a:rPr lang="zh-CN" altLang="en-US" sz="3600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称为是∑上的一个</a:t>
            </a:r>
            <a:r>
              <a:rPr lang="zh-C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串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串是</a:t>
            </a:r>
            <a:r>
              <a:rPr lang="zh-CN" altLang="en-US" sz="3333" b="1" dirty="0">
                <a:solidFill>
                  <a:prstClr val="black"/>
                </a:solidFill>
                <a:cs typeface="Times New Roman" panose="02020603050405020304" pitchFamily="18" charset="0"/>
              </a:rPr>
              <a:t>字母表中</a:t>
            </a:r>
            <a:r>
              <a:rPr lang="zh-CN" altLang="en-US" sz="3333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符号的</a:t>
            </a:r>
            <a:r>
              <a:rPr lang="zh-CN" altLang="en-US" sz="3333" b="1" dirty="0">
                <a:solidFill>
                  <a:prstClr val="black"/>
                </a:solidFill>
                <a:cs typeface="Times New Roman" panose="02020603050405020304" pitchFamily="18" charset="0"/>
              </a:rPr>
              <a:t>一个</a:t>
            </a:r>
            <a:r>
              <a:rPr lang="zh-CN" altLang="en-US" sz="3333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有穷序列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6575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串</a:t>
            </a:r>
            <a:r>
              <a:rPr lang="en-US" altLang="zh-CN" sz="3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长度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，通常记作</a:t>
            </a:r>
            <a:r>
              <a:rPr lang="en-US" altLang="zh-CN" sz="3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36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3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|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，是指</a:t>
            </a:r>
            <a:r>
              <a:rPr lang="en-US" altLang="zh-CN" sz="3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符号的个数</a:t>
            </a:r>
            <a:endParaRPr lang="en-US" altLang="zh-CN" sz="36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lvl="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36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aab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|=3</a:t>
            </a:r>
          </a:p>
          <a:p>
            <a:pPr marL="36575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空串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长度为</a:t>
            </a:r>
            <a:r>
              <a:rPr lang="en-US" altLang="zh-CN" sz="3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的串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，用 </a:t>
            </a:r>
            <a:r>
              <a:rPr lang="en-US" altLang="zh-CN" sz="36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ε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667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epsilon</a:t>
            </a:r>
            <a:r>
              <a:rPr lang="zh-CN" altLang="en-US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indent="-365751" eaLnBrk="1" fontAlgn="auto" hangingPunct="1"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 |</a:t>
            </a:r>
            <a:r>
              <a:rPr lang="en-US" altLang="zh-CN" sz="3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</a:rPr>
              <a:t>|= 0</a:t>
            </a:r>
            <a:endParaRPr lang="zh-CN" altLang="en-US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标题 2"/>
          <p:cNvSpPr txBox="1">
            <a:spLocks/>
          </p:cNvSpPr>
          <p:nvPr/>
        </p:nvSpPr>
        <p:spPr bwMode="auto">
          <a:xfrm>
            <a:off x="1007533" y="357718"/>
            <a:ext cx="10574867" cy="478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串</a:t>
            </a:r>
            <a:r>
              <a:rPr lang="en-US" altLang="zh-CN" sz="32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String</a:t>
            </a:r>
            <a:r>
              <a:rPr lang="en-US" altLang="zh-CN" sz="3200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endParaRPr lang="zh-CN" altLang="en-US" sz="3200" b="1" spc="400" dirty="0">
              <a:solidFill>
                <a:prstClr val="black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22532" name="组合 5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53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318684"/>
            <a:ext cx="11457517" cy="4301067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4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4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是串，那么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</a:rPr>
              <a:t>连接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concatenation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eaLnBrk="1" hangingPunct="1">
              <a:buClrTx/>
              <a:buFont typeface="Symbol" panose="05050102010706020507" pitchFamily="18" charset="2"/>
              <a:buNone/>
              <a:defRPr/>
            </a:pPr>
            <a:r>
              <a:rPr lang="en-US" altLang="zh-CN" sz="40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是把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附加到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后面而形成的串，记作</a:t>
            </a:r>
            <a:r>
              <a:rPr lang="en-US" altLang="zh-CN" sz="4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xy</a:t>
            </a:r>
            <a:endParaRPr lang="en-US" altLang="zh-CN" sz="4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 例如，如果 </a:t>
            </a:r>
            <a:r>
              <a:rPr lang="en-US" altLang="zh-CN" sz="3733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3733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3733" b="1" i="1" dirty="0">
                <a:solidFill>
                  <a:schemeClr val="tx1"/>
                </a:solidFill>
                <a:cs typeface="Times New Roman" pitchFamily="18" charset="0"/>
              </a:rPr>
              <a:t>dog</a:t>
            </a: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且 </a:t>
            </a:r>
            <a:r>
              <a:rPr lang="en-US" altLang="zh-CN" sz="3733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sz="3733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3733" b="1" i="1" dirty="0">
                <a:solidFill>
                  <a:schemeClr val="tx1"/>
                </a:solidFill>
                <a:cs typeface="Times New Roman" pitchFamily="18" charset="0"/>
              </a:rPr>
              <a:t>house</a:t>
            </a: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，那么</a:t>
            </a:r>
            <a:r>
              <a:rPr lang="en-US" altLang="zh-CN" sz="3733" b="1" i="1" dirty="0" err="1">
                <a:solidFill>
                  <a:schemeClr val="tx1"/>
                </a:solidFill>
                <a:cs typeface="Times New Roman" pitchFamily="18" charset="0"/>
              </a:rPr>
              <a:t>xy</a:t>
            </a:r>
            <a:r>
              <a:rPr lang="en-US" altLang="zh-CN" sz="3733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3733" b="1" i="1" dirty="0">
                <a:solidFill>
                  <a:schemeClr val="tx1"/>
                </a:solidFill>
                <a:cs typeface="Times New Roman" pitchFamily="18" charset="0"/>
              </a:rPr>
              <a:t>doghouse </a:t>
            </a: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37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空串</a:t>
            </a: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是连接运算的</a:t>
            </a:r>
            <a:r>
              <a:rPr lang="zh-CN" altLang="en-US" sz="37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单位元</a:t>
            </a:r>
            <a:r>
              <a:rPr lang="en-US" altLang="zh-CN" sz="2667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667" b="1" i="1" dirty="0">
                <a:solidFill>
                  <a:schemeClr val="tx1"/>
                </a:solidFill>
                <a:cs typeface="Times New Roman" pitchFamily="18" charset="0"/>
              </a:rPr>
              <a:t>identity</a:t>
            </a:r>
            <a:r>
              <a:rPr lang="en-US" altLang="zh-CN" sz="2667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，即，对于任</a:t>
            </a:r>
            <a:endParaRPr lang="en-US" altLang="zh-CN" sz="3733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Symbol" panose="05050102010706020507" pitchFamily="18" charset="2"/>
              <a:buNone/>
              <a:defRPr/>
            </a:pPr>
            <a:r>
              <a:rPr lang="en-US" altLang="zh-CN" sz="3733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何串</a:t>
            </a:r>
            <a:r>
              <a:rPr lang="en-US" altLang="zh-CN" sz="3733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3733" b="1" dirty="0">
                <a:solidFill>
                  <a:schemeClr val="tx1"/>
                </a:solidFill>
                <a:latin typeface="+mn-ea"/>
              </a:rPr>
              <a:t>都有，</a:t>
            </a:r>
            <a:r>
              <a:rPr lang="en-US" altLang="zh-CN" sz="3733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εs</a:t>
            </a:r>
            <a:r>
              <a:rPr lang="en-US" altLang="zh-CN" sz="37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en-US" altLang="zh-CN" sz="3733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sε</a:t>
            </a:r>
            <a:r>
              <a:rPr lang="en-US" altLang="zh-CN" sz="37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</a:t>
            </a:r>
            <a:r>
              <a:rPr lang="en-US" altLang="zh-CN" sz="3733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s</a:t>
            </a:r>
            <a:endParaRPr lang="en-US" altLang="zh-CN" sz="3733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4339" name="标题 1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串上的运算</a:t>
            </a:r>
            <a:r>
              <a:rPr lang="en-US" altLang="zh-CN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连接</a:t>
            </a:r>
          </a:p>
        </p:txBody>
      </p:sp>
      <p:grpSp>
        <p:nvGrpSpPr>
          <p:cNvPr id="24580" name="组合 3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476500" y="5003800"/>
            <a:ext cx="681778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defTabSz="1219170">
              <a:spcBef>
                <a:spcPct val="20000"/>
              </a:spcBef>
              <a:buSzPct val="100000"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x,y,z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是三个字符串，如果 </a:t>
            </a:r>
            <a:r>
              <a:rPr lang="en-US" altLang="zh-CN" sz="3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x=</a:t>
            </a:r>
            <a:r>
              <a:rPr lang="en-US" altLang="zh-CN" sz="3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yz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sz="3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y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前缀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z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x</a:t>
            </a:r>
            <a:r>
              <a:rPr lang="zh-CN" altLang="en-US" sz="3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后缀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54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0551" y="1128184"/>
            <a:ext cx="11696700" cy="4301067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串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的</a:t>
            </a:r>
            <a:r>
              <a:rPr lang="zh-CN" altLang="en-US" sz="4000" b="1" dirty="0">
                <a:solidFill>
                  <a:srgbClr val="FF0000"/>
                </a:solidFill>
                <a:latin typeface="+mn-ea"/>
              </a:rPr>
              <a:t>幂</a:t>
            </a: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运算</a:t>
            </a:r>
            <a:endParaRPr lang="en-US" altLang="zh-CN" sz="4000" b="1" dirty="0">
              <a:solidFill>
                <a:schemeClr val="tx1"/>
              </a:solidFill>
              <a:latin typeface="+mn-ea"/>
            </a:endParaRPr>
          </a:p>
          <a:p>
            <a:pPr marL="0" indent="0" eaLnBrk="1" hangingPunct="1">
              <a:buNone/>
              <a:defRPr/>
            </a:pPr>
            <a:r>
              <a:rPr lang="zh-CN" altLang="en-US" sz="4000" b="1" i="1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sz="4000" b="1" i="1" dirty="0" err="1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4000" b="1" i="1" baseline="30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4000" b="1" i="1" baseline="30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= s</a:t>
            </a:r>
            <a:r>
              <a:rPr lang="en-US" altLang="zh-CN" sz="4000" b="1" i="1" baseline="30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-1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4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n ≥</a:t>
            </a:r>
            <a:r>
              <a:rPr lang="en-US" altLang="zh-CN" sz="4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1</a:t>
            </a:r>
            <a:endParaRPr lang="en-US" altLang="zh-CN" sz="40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lvl="1" indent="0" eaLnBrk="1" hangingPunct="1">
              <a:buNone/>
              <a:defRPr/>
            </a:pP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        s</a:t>
            </a:r>
            <a:r>
              <a:rPr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= ε</a:t>
            </a:r>
            <a:endParaRPr lang="zh-CN" altLang="en-US" sz="4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kumimoji="1" lang="en-US" altLang="zh-CN" sz="4000" b="1" i="1" baseline="30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4000" b="1" i="1" baseline="30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l-GR" altLang="zh-CN" sz="4000" b="1" i="1" dirty="0">
                <a:solidFill>
                  <a:schemeClr val="tx1"/>
                </a:solidFill>
                <a:cs typeface="Times New Roman" pitchFamily="18" charset="0"/>
              </a:rPr>
              <a:t> ε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 = s</a:t>
            </a:r>
            <a:r>
              <a:rPr lang="zh-CN" altLang="en-US" sz="4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 = ss</a:t>
            </a:r>
            <a:r>
              <a:rPr lang="zh-CN" altLang="en-US" sz="4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sz="4000" b="1" i="1" dirty="0" err="1">
                <a:solidFill>
                  <a:schemeClr val="tx1"/>
                </a:solidFill>
                <a:cs typeface="Times New Roman" pitchFamily="18" charset="0"/>
              </a:rPr>
              <a:t>sss</a:t>
            </a:r>
            <a:r>
              <a:rPr lang="zh-CN" altLang="en-US" sz="40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4000" b="1" dirty="0">
                <a:solidFill>
                  <a:schemeClr val="tx1"/>
                </a:solidFill>
                <a:latin typeface="+mn-ea"/>
              </a:rPr>
              <a:t>例：如果 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kumimoji="1"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kumimoji="1" lang="en-US" altLang="zh-CN" sz="4000" b="1" i="1" dirty="0" err="1">
                <a:solidFill>
                  <a:schemeClr val="tx1"/>
                </a:solidFill>
                <a:cs typeface="Times New Roman" pitchFamily="18" charset="0"/>
              </a:rPr>
              <a:t>ba</a:t>
            </a:r>
            <a:r>
              <a:rPr kumimoji="1"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zh-CN" altLang="en-US" sz="4000" b="1" dirty="0">
                <a:solidFill>
                  <a:schemeClr val="tx1"/>
                </a:solidFill>
                <a:latin typeface="+mn-ea"/>
                <a:cs typeface="楷体_GB2312"/>
              </a:rPr>
              <a:t>那么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= </a:t>
            </a:r>
            <a:r>
              <a:rPr kumimoji="1" lang="en-US" altLang="zh-CN" sz="4000" b="1" i="1" dirty="0" err="1">
                <a:solidFill>
                  <a:schemeClr val="tx1"/>
                </a:solidFill>
                <a:cs typeface="Times New Roman" pitchFamily="18" charset="0"/>
              </a:rPr>
              <a:t>ba</a:t>
            </a:r>
            <a:r>
              <a:rPr kumimoji="1" lang="zh-CN" altLang="en-US" sz="4000" b="1" dirty="0">
                <a:solidFill>
                  <a:schemeClr val="tx1"/>
                </a:solidFill>
                <a:latin typeface="+mn-ea"/>
                <a:cs typeface="楷体_GB2312"/>
              </a:rPr>
              <a:t>，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kumimoji="1" lang="en-US" altLang="zh-CN" sz="4000" b="1" i="1" dirty="0" err="1">
                <a:solidFill>
                  <a:schemeClr val="tx1"/>
                </a:solidFill>
                <a:cs typeface="Times New Roman" pitchFamily="18" charset="0"/>
              </a:rPr>
              <a:t>baba</a:t>
            </a:r>
            <a:r>
              <a:rPr kumimoji="1"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zh-CN" altLang="en-US" sz="4000" b="1" dirty="0">
                <a:solidFill>
                  <a:schemeClr val="tx1"/>
                </a:solidFill>
                <a:latin typeface="+mn-ea"/>
                <a:cs typeface="楷体_GB2312"/>
              </a:rPr>
              <a:t>          </a:t>
            </a:r>
            <a:r>
              <a:rPr kumimoji="1" lang="en-US" altLang="zh-CN" sz="40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kumimoji="1" lang="en-US" altLang="zh-CN" sz="4000" b="1" baseline="30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kumimoji="1" lang="en-US" altLang="zh-CN" sz="4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kumimoji="1" lang="en-US" altLang="zh-CN" sz="4000" b="1" i="1" dirty="0" err="1">
                <a:solidFill>
                  <a:schemeClr val="tx1"/>
                </a:solidFill>
                <a:cs typeface="Times New Roman" pitchFamily="18" charset="0"/>
              </a:rPr>
              <a:t>bababa</a:t>
            </a:r>
            <a:r>
              <a:rPr kumimoji="1" lang="zh-CN" altLang="en-US" sz="4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en-US" altLang="zh-CN" sz="4000" b="1" dirty="0">
                <a:solidFill>
                  <a:schemeClr val="tx1"/>
                </a:solidFill>
                <a:latin typeface="+mn-ea"/>
                <a:cs typeface="楷体_GB2312"/>
              </a:rPr>
              <a:t>…</a:t>
            </a:r>
          </a:p>
          <a:p>
            <a:pPr lvl="1" eaLnBrk="1" hangingPunct="1">
              <a:defRPr/>
            </a:pPr>
            <a:endParaRPr lang="zh-CN" altLang="en-US" sz="2400" dirty="0"/>
          </a:p>
        </p:txBody>
      </p:sp>
      <p:sp>
        <p:nvSpPr>
          <p:cNvPr id="15363" name="标题 1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串上的运算</a:t>
            </a:r>
            <a:r>
              <a:rPr lang="en-US" altLang="zh-CN" sz="4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幂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428751" y="2279651"/>
            <a:ext cx="190500" cy="76834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5901" y="5651501"/>
            <a:ext cx="5761567" cy="6052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defTabSz="1219170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串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次幂：将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连接起来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630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3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55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952500" y="1047751"/>
            <a:ext cx="11125200" cy="4301067"/>
          </a:xfrm>
        </p:spPr>
        <p:txBody>
          <a:bodyPr/>
          <a:lstStyle/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句子  名词短语 动词短语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名词短语  形容词 名词短语                  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名词短语  名词                  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形容词  </a:t>
            </a:r>
            <a:r>
              <a:rPr kumimoji="1" lang="en-US" altLang="zh-CN" sz="3333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little</a:t>
            </a: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名词  </a:t>
            </a:r>
            <a:r>
              <a:rPr kumimoji="1" lang="en-US" altLang="zh-CN" sz="3333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boy   </a:t>
            </a: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名词  </a:t>
            </a:r>
            <a:r>
              <a:rPr kumimoji="1" lang="en-US" altLang="zh-CN" sz="3333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apple</a:t>
            </a:r>
            <a:r>
              <a:rPr kumimoji="1" lang="zh-CN" altLang="en-US" sz="3333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endParaRPr kumimoji="1" lang="en-US" altLang="zh-CN" sz="3333" b="1" i="1" dirty="0">
              <a:solidFill>
                <a:schemeClr val="tx1"/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ts val="4667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Symbol" pitchFamily="18" charset="2"/>
              </a:rPr>
              <a:t>动词  </a:t>
            </a:r>
            <a:r>
              <a:rPr kumimoji="1" lang="en-US" altLang="zh-CN" sz="3333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eat</a:t>
            </a:r>
          </a:p>
        </p:txBody>
      </p:sp>
      <p:sp>
        <p:nvSpPr>
          <p:cNvPr id="20483" name="标题 1"/>
          <p:cNvSpPr>
            <a:spLocks noGrp="1"/>
          </p:cNvSpPr>
          <p:nvPr>
            <p:ph type="title"/>
          </p:nvPr>
        </p:nvSpPr>
        <p:spPr>
          <a:xfrm>
            <a:off x="1007533" y="645585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自然语言的例子</a:t>
            </a:r>
            <a:r>
              <a:rPr lang="en-US" altLang="zh-CN" sz="3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32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句子的构成规则</a:t>
            </a:r>
          </a:p>
        </p:txBody>
      </p:sp>
      <p:sp>
        <p:nvSpPr>
          <p:cNvPr id="3" name="线形标注 2 2"/>
          <p:cNvSpPr/>
          <p:nvPr/>
        </p:nvSpPr>
        <p:spPr>
          <a:xfrm>
            <a:off x="5410201" y="4593168"/>
            <a:ext cx="5541433" cy="112183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012"/>
              <a:gd name="adj6" fmla="val -22264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未用尖括号括起来部分表示</a:t>
            </a:r>
            <a:r>
              <a:rPr lang="zh-CN" altLang="en-US" sz="3333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语言的基本符号</a:t>
            </a:r>
          </a:p>
        </p:txBody>
      </p:sp>
      <p:sp>
        <p:nvSpPr>
          <p:cNvPr id="8" name="线形标注 2 7"/>
          <p:cNvSpPr/>
          <p:nvPr/>
        </p:nvSpPr>
        <p:spPr>
          <a:xfrm>
            <a:off x="4722284" y="6000751"/>
            <a:ext cx="6212416" cy="666749"/>
          </a:xfrm>
          <a:prstGeom prst="borderCallout2">
            <a:avLst>
              <a:gd name="adj1" fmla="val 100022"/>
              <a:gd name="adj2" fmla="val -2609"/>
              <a:gd name="adj3" fmla="val 100022"/>
              <a:gd name="adj4" fmla="val -36837"/>
              <a:gd name="adj5" fmla="val 69407"/>
              <a:gd name="adj6" fmla="val -4092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尖括号括起来部分称为</a:t>
            </a:r>
            <a:r>
              <a:rPr lang="zh-CN" altLang="en-US" sz="3333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语法成分</a:t>
            </a:r>
            <a:endParaRPr lang="zh-CN" altLang="en-US" sz="3333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8678" name="组合 6"/>
          <p:cNvGrpSpPr>
            <a:grpSpLocks/>
          </p:cNvGrpSpPr>
          <p:nvPr/>
        </p:nvGrpSpPr>
        <p:grpSpPr bwMode="auto">
          <a:xfrm>
            <a:off x="14817" y="645585"/>
            <a:ext cx="937683" cy="402167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1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39184" y="67734"/>
            <a:ext cx="10574867" cy="480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1219170" eaLnBrk="1" hangingPunct="1">
              <a:defRPr/>
            </a:pPr>
            <a:r>
              <a:rPr lang="en-US" altLang="zh-CN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2.2 </a:t>
            </a:r>
            <a:r>
              <a:rPr lang="zh-CN" altLang="en-US" spc="4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文法的定义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56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764118" y="2190751"/>
            <a:ext cx="10420349" cy="4301067"/>
          </a:xfrm>
        </p:spPr>
        <p:txBody>
          <a:bodyPr rtlCol="0">
            <a:normAutofit/>
          </a:bodyPr>
          <a:lstStyle/>
          <a:p>
            <a:pPr marL="609585" lvl="1" indent="0" algn="just" eaLnBrk="1" fontAlgn="auto" hangingPunct="1">
              <a:lnSpc>
                <a:spcPct val="120000"/>
              </a:lnSpc>
              <a:spcAft>
                <a:spcPts val="0"/>
              </a:spcAft>
              <a:buClr>
                <a:srgbClr val="31B6FD"/>
              </a:buClr>
              <a:buNone/>
              <a:defRPr/>
            </a:pPr>
            <a:r>
              <a:rPr lang="zh-CN" altLang="en-US" sz="3333" b="1" dirty="0">
                <a:solidFill>
                  <a:srgbClr val="FF0000"/>
                </a:solidFill>
                <a:latin typeface="+mn-ea"/>
              </a:rPr>
              <a:t>终结符</a:t>
            </a:r>
            <a:r>
              <a:rPr lang="zh-CN" altLang="en-US" sz="2667" b="1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667" b="1" i="1" dirty="0">
                <a:solidFill>
                  <a:schemeClr val="tx1"/>
                </a:solidFill>
                <a:cs typeface="Times New Roman" pitchFamily="18" charset="0"/>
              </a:rPr>
              <a:t>terminal symbol</a:t>
            </a:r>
            <a:r>
              <a:rPr lang="zh-CN" altLang="en-US" sz="2667" b="1" dirty="0">
                <a:solidFill>
                  <a:schemeClr val="tx1"/>
                </a:solidFill>
                <a:latin typeface="+mn-ea"/>
              </a:rPr>
              <a:t>）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是文法所定义的语言的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rPr>
              <a:t>基本符号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，有时也称为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</a:p>
          <a:p>
            <a:pPr lvl="1" indent="-365751" algn="just" eaLnBrk="1" fontAlgn="auto" hangingPunct="1">
              <a:lnSpc>
                <a:spcPct val="120000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kumimoji="1" lang="en-US" altLang="zh-CN" sz="3200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kumimoji="1" lang="en-US" altLang="zh-CN" sz="3200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kumimoji="1" lang="en-US" altLang="zh-CN" sz="3200" b="1" i="1" dirty="0">
                <a:solidFill>
                  <a:schemeClr val="tx1"/>
                </a:solidFill>
                <a:cs typeface="Times New Roman" pitchFamily="18" charset="0"/>
              </a:rPr>
              <a:t>= </a:t>
            </a:r>
            <a:r>
              <a:rPr kumimoji="1" lang="en-US" altLang="zh-CN" sz="3200" b="1" dirty="0">
                <a:solidFill>
                  <a:schemeClr val="tx1"/>
                </a:solidFill>
                <a:cs typeface="Times New Roman" pitchFamily="18" charset="0"/>
              </a:rPr>
              <a:t>{ </a:t>
            </a:r>
            <a:r>
              <a:rPr kumimoji="1" lang="en-US" altLang="zh-CN" sz="32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apple, boy, eat, </a:t>
            </a:r>
            <a:r>
              <a:rPr kumimoji="1" lang="en-US" altLang="zh-CN" sz="3200" b="1" i="1" dirty="0">
                <a:solidFill>
                  <a:schemeClr val="tx1"/>
                </a:solidFill>
                <a:cs typeface="Times New Roman" pitchFamily="18" charset="0"/>
              </a:rPr>
              <a:t>little</a:t>
            </a:r>
            <a:r>
              <a:rPr kumimoji="1" lang="en-US" altLang="zh-CN" sz="32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}</a:t>
            </a:r>
          </a:p>
          <a:p>
            <a:pPr lvl="1" indent="-365751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zh-CN" altLang="en-US" sz="3333" dirty="0">
              <a:latin typeface="+mn-ea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  <a:r>
              <a:rPr lang="en-US" altLang="zh-CN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(Grammer)</a:t>
            </a: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的形式化定义</a:t>
            </a:r>
          </a:p>
        </p:txBody>
      </p:sp>
      <p:grpSp>
        <p:nvGrpSpPr>
          <p:cNvPr id="30724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27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3684" y="969434"/>
            <a:ext cx="10648949" cy="2175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57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762001" y="2762251"/>
            <a:ext cx="10191751" cy="4301067"/>
          </a:xfrm>
        </p:spPr>
        <p:txBody>
          <a:bodyPr rtlCol="0">
            <a:normAutofit/>
          </a:bodyPr>
          <a:lstStyle/>
          <a:p>
            <a:pPr marL="609585" lvl="1" indent="0" eaLnBrk="1" fontAlgn="auto" hangingPunct="1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kumimoji="1" lang="zh-CN" altLang="en-US" sz="3333" b="1" dirty="0">
                <a:solidFill>
                  <a:srgbClr val="FF0000"/>
                </a:solidFill>
                <a:latin typeface="楷体" pitchFamily="49" charset="-122"/>
              </a:rPr>
              <a:t>非终结符</a:t>
            </a:r>
            <a:r>
              <a:rPr lang="en-US" altLang="zh-CN" sz="2667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en-US" altLang="zh-CN" sz="2667" b="1" i="1" dirty="0" err="1">
                <a:solidFill>
                  <a:schemeClr val="tx1"/>
                </a:solidFill>
                <a:ea typeface="楷体_GB2312" pitchFamily="49" charset="-122"/>
              </a:rPr>
              <a:t>nontermina</a:t>
            </a:r>
            <a:r>
              <a:rPr lang="en-US" altLang="zh-CN" sz="2667" b="1" i="1" spc="400" dirty="0" err="1">
                <a:solidFill>
                  <a:schemeClr val="tx1"/>
                </a:solidFill>
                <a:ea typeface="楷体_GB2312" pitchFamily="49" charset="-122"/>
              </a:rPr>
              <a:t>l</a:t>
            </a:r>
            <a:r>
              <a:rPr lang="en-US" altLang="zh-CN" sz="2667" b="1" spc="400" dirty="0">
                <a:solidFill>
                  <a:schemeClr val="tx1"/>
                </a:solidFill>
              </a:rPr>
              <a:t>)</a:t>
            </a:r>
            <a:r>
              <a:rPr lang="zh-CN" altLang="en-US" sz="3333" b="1" spc="400" dirty="0">
                <a:solidFill>
                  <a:schemeClr val="tx1"/>
                </a:solidFill>
              </a:rPr>
              <a:t> </a:t>
            </a:r>
            <a:r>
              <a:rPr lang="zh-CN" altLang="en-US" sz="3333" b="1" dirty="0">
                <a:solidFill>
                  <a:schemeClr val="tx1"/>
                </a:solidFill>
              </a:rPr>
              <a:t>是用来表示语法成分的符号</a:t>
            </a:r>
            <a:r>
              <a:rPr kumimoji="1" lang="zh-CN" altLang="en-US" sz="3200" b="1" dirty="0">
                <a:solidFill>
                  <a:schemeClr val="tx1"/>
                </a:solidFill>
                <a:latin typeface="楷体" pitchFamily="49" charset="-122"/>
              </a:rPr>
              <a:t>例</a:t>
            </a:r>
            <a:r>
              <a:rPr kumimoji="1" lang="en-US" altLang="zh-CN" sz="3200" b="1" dirty="0">
                <a:solidFill>
                  <a:schemeClr val="tx1"/>
                </a:solidFill>
                <a:latin typeface="楷体" pitchFamily="49" charset="-122"/>
              </a:rPr>
              <a:t>: </a:t>
            </a:r>
            <a:r>
              <a:rPr kumimoji="1" lang="en-US" altLang="zh-CN" sz="3200" b="1" i="1" dirty="0">
                <a:solidFill>
                  <a:schemeClr val="tx1"/>
                </a:solidFill>
                <a:ea typeface="楷体_GB2312" pitchFamily="49" charset="-122"/>
              </a:rPr>
              <a:t>V</a:t>
            </a:r>
            <a:r>
              <a:rPr kumimoji="1" lang="en-US" altLang="zh-CN" sz="3200" b="1" i="1" baseline="-25000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kumimoji="1" lang="en-US" altLang="zh-CN" sz="3200" b="1" baseline="-250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kumimoji="1" lang="en-US" altLang="zh-CN" sz="3200" b="1" dirty="0">
                <a:solidFill>
                  <a:schemeClr val="tx1"/>
                </a:solidFill>
                <a:ea typeface="楷体_GB2312" pitchFamily="49" charset="-122"/>
              </a:rPr>
              <a:t>= { 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</a:t>
            </a:r>
            <a:r>
              <a:rPr kumimoji="1" lang="zh-CN" altLang="en-US" sz="3200" b="1" dirty="0">
                <a:solidFill>
                  <a:schemeClr val="tx1"/>
                </a:solidFill>
                <a:sym typeface="Symbol" pitchFamily="18" charset="2"/>
              </a:rPr>
              <a:t>句子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 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 </a:t>
            </a:r>
            <a:r>
              <a:rPr kumimoji="1" lang="zh-CN" altLang="en-US" sz="3200" b="1" dirty="0">
                <a:solidFill>
                  <a:schemeClr val="tx1"/>
                </a:solidFill>
                <a:sym typeface="Symbol" pitchFamily="18" charset="2"/>
              </a:rPr>
              <a:t>名词短语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  </a:t>
            </a:r>
            <a:r>
              <a:rPr kumimoji="1" lang="zh-CN" altLang="en-US" sz="3200" b="1" dirty="0">
                <a:solidFill>
                  <a:schemeClr val="tx1"/>
                </a:solidFill>
                <a:sym typeface="Symbol" pitchFamily="18" charset="2"/>
              </a:rPr>
              <a:t>动词短语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  </a:t>
            </a:r>
            <a:r>
              <a:rPr kumimoji="1" lang="zh-CN" altLang="en-US" sz="3200" b="1" dirty="0">
                <a:solidFill>
                  <a:schemeClr val="tx1"/>
                </a:solidFill>
                <a:sym typeface="Symbol" pitchFamily="18" charset="2"/>
              </a:rPr>
              <a:t>名词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</a:t>
            </a:r>
            <a:r>
              <a:rPr kumimoji="1" lang="en-US" altLang="zh-CN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, … </a:t>
            </a:r>
            <a:r>
              <a:rPr kumimoji="1" lang="zh-CN" altLang="en-US" sz="3200" b="1" dirty="0">
                <a:solidFill>
                  <a:schemeClr val="tx1"/>
                </a:solidFill>
                <a:ea typeface="楷体_GB2312" pitchFamily="49" charset="-122"/>
                <a:sym typeface="Symbol" pitchFamily="18" charset="2"/>
              </a:rPr>
              <a:t>}</a:t>
            </a:r>
          </a:p>
          <a:p>
            <a:pPr marL="365751" indent="-365751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en-US" altLang="zh-CN" sz="2400" dirty="0">
              <a:ea typeface="楷体_GB2312" pitchFamily="49" charset="-122"/>
            </a:endParaRPr>
          </a:p>
          <a:p>
            <a:pPr lvl="1" indent="-365751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zh-CN" altLang="en-US" sz="2133" dirty="0">
              <a:ea typeface="楷体_GB2312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5801" y="967318"/>
            <a:ext cx="10648951" cy="2175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2773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5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58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143934" y="5048252"/>
            <a:ext cx="11381317" cy="1934633"/>
          </a:xfrm>
        </p:spPr>
        <p:txBody>
          <a:bodyPr/>
          <a:lstStyle/>
          <a:p>
            <a:pPr lvl="2" algn="just" eaLnBrk="1" hangingPunct="1">
              <a:lnSpc>
                <a:spcPct val="120000"/>
              </a:lnSpc>
              <a:buClrTx/>
              <a:buFont typeface="Wingdings" pitchFamily="2" charset="2"/>
              <a:buChar char="Ø"/>
              <a:defRPr/>
            </a:pP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l-GR" altLang="zh-CN" b="1" dirty="0">
                <a:solidFill>
                  <a:schemeClr val="tx1"/>
                </a:solidFill>
                <a:cs typeface="Times New Roman" pitchFamily="18" charset="0"/>
              </a:rPr>
              <a:t>∈(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+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，且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中至少包含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中的一个元素：称为产生式的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头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133" b="1" i="1" dirty="0">
                <a:solidFill>
                  <a:schemeClr val="tx1"/>
                </a:solidFill>
                <a:cs typeface="Times New Roman" pitchFamily="18" charset="0"/>
              </a:rPr>
              <a:t>hea</a:t>
            </a:r>
            <a:r>
              <a:rPr lang="en-US" altLang="zh-CN" sz="2133" b="1" i="1" spc="400" dirty="0">
                <a:solidFill>
                  <a:schemeClr val="tx1"/>
                </a:solidFill>
                <a:cs typeface="Times New Roman" pitchFamily="18" charset="0"/>
              </a:rPr>
              <a:t>d</a:t>
            </a:r>
            <a:r>
              <a:rPr lang="en-US" altLang="zh-CN" sz="2133" b="1" spc="400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左部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133" b="1" i="1" dirty="0">
                <a:solidFill>
                  <a:schemeClr val="tx1"/>
                </a:solidFill>
                <a:cs typeface="Times New Roman" pitchFamily="18" charset="0"/>
              </a:rPr>
              <a:t>left side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2133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2" algn="just" eaLnBrk="1" hangingPunct="1">
              <a:lnSpc>
                <a:spcPct val="120000"/>
              </a:lnSpc>
              <a:buClrTx/>
              <a:buFont typeface="Wingdings" pitchFamily="2" charset="2"/>
              <a:buChar char="Ø"/>
              <a:defRPr/>
            </a:pP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l-GR" altLang="zh-CN" b="1" dirty="0">
                <a:solidFill>
                  <a:schemeClr val="tx1"/>
                </a:solidFill>
                <a:cs typeface="Times New Roman" pitchFamily="18" charset="0"/>
              </a:rPr>
              <a:t>∈(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：称为产生式的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体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133" b="1" i="1" dirty="0">
                <a:solidFill>
                  <a:schemeClr val="tx1"/>
                </a:solidFill>
                <a:cs typeface="Times New Roman" pitchFamily="18" charset="0"/>
              </a:rPr>
              <a:t>body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右部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133" b="1" i="1" dirty="0">
                <a:solidFill>
                  <a:schemeClr val="tx1"/>
                </a:solidFill>
                <a:cs typeface="Times New Roman" pitchFamily="18" charset="0"/>
              </a:rPr>
              <a:t>right side</a:t>
            </a:r>
            <a:r>
              <a:rPr lang="en-US" altLang="zh-CN" sz="2133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2133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501" y="3333751"/>
            <a:ext cx="11239500" cy="2396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fontScale="77500" lnSpcReduction="20000"/>
          </a:bodyPr>
          <a:lstStyle/>
          <a:p>
            <a:pPr marL="365751" indent="-365751" algn="just" defTabSz="1219170">
              <a:lnSpc>
                <a:spcPts val="3333"/>
              </a:lnSpc>
              <a:spcBef>
                <a:spcPct val="20000"/>
              </a:spcBef>
              <a:buClr>
                <a:srgbClr val="3333CC"/>
              </a:buClr>
              <a:buSzPct val="100000"/>
              <a:defRPr/>
            </a:pPr>
            <a:r>
              <a:rPr lang="zh-CN" altLang="en-US" sz="4133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4133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产生式</a:t>
            </a:r>
            <a:r>
              <a:rPr lang="en-US" altLang="zh-CN" sz="41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 </a:t>
            </a:r>
            <a:r>
              <a:rPr lang="en-US" altLang="zh-CN" sz="41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production</a:t>
            </a:r>
            <a:r>
              <a:rPr lang="en-US" altLang="zh-CN" sz="41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41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就是文法规则</a:t>
            </a:r>
            <a:endParaRPr kumimoji="1" lang="en-US" altLang="zh-CN" sz="41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5751" indent="-365751" algn="just" defTabSz="1219170">
              <a:lnSpc>
                <a:spcPts val="2667"/>
              </a:lnSpc>
              <a:spcBef>
                <a:spcPct val="20000"/>
              </a:spcBef>
              <a:buClr>
                <a:srgbClr val="3333CC"/>
              </a:buClr>
              <a:buSzPct val="100000"/>
              <a:defRPr/>
            </a:pPr>
            <a:r>
              <a:rPr kumimoji="1" lang="en-US" altLang="zh-CN" sz="41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kumimoji="1" lang="zh-CN" altLang="en-US" sz="41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产生式的一般形式：</a:t>
            </a:r>
            <a:endParaRPr kumimoji="1" lang="en-US" altLang="zh-CN" sz="41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5751" indent="-365751" algn="just" defTabSz="1219170">
              <a:lnSpc>
                <a:spcPts val="2667"/>
              </a:lnSpc>
              <a:spcBef>
                <a:spcPct val="20000"/>
              </a:spcBef>
              <a:buClr>
                <a:srgbClr val="3333CC"/>
              </a:buClr>
              <a:buSzPct val="100000"/>
              <a:defRPr/>
            </a:pPr>
            <a:r>
              <a:rPr lang="en-US" altLang="zh-CN" sz="4800" b="1" i="1" dirty="0">
                <a:solidFill>
                  <a:prstClr val="black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				α→β</a:t>
            </a:r>
            <a:endParaRPr kumimoji="1" lang="en-US" altLang="zh-CN" sz="41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65751" indent="-365751" algn="just" defTabSz="1219170">
              <a:lnSpc>
                <a:spcPts val="2667"/>
              </a:lnSpc>
              <a:spcBef>
                <a:spcPct val="20000"/>
              </a:spcBef>
              <a:buClr>
                <a:srgbClr val="3333CC"/>
              </a:buClr>
              <a:buSzPct val="100000"/>
              <a:defRPr/>
            </a:pPr>
            <a:r>
              <a:rPr kumimoji="1" lang="en-US" altLang="zh-CN" sz="41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kumimoji="1" lang="zh-CN" altLang="en-US" sz="41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读作：</a:t>
            </a:r>
            <a:r>
              <a:rPr kumimoji="1" lang="en-US" altLang="zh-CN" sz="41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α</a:t>
            </a:r>
            <a:r>
              <a:rPr kumimoji="1" lang="zh-CN" altLang="en-US" sz="41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定义为</a:t>
            </a:r>
            <a:r>
              <a:rPr kumimoji="1" lang="en-US" altLang="zh-CN" sz="41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β</a:t>
            </a:r>
            <a:endParaRPr lang="en-US" altLang="zh-CN" sz="4133" b="1" i="1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609585" lvl="1" algn="just" defTabSz="1219170">
              <a:lnSpc>
                <a:spcPct val="12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kumimoji="1" lang="en-US" altLang="zh-CN" sz="37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1" y="967318"/>
            <a:ext cx="10648951" cy="2556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4789279" y="1642533"/>
            <a:ext cx="2308645" cy="6542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defTabSz="121917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∩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Φ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4823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26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749800" y="2470151"/>
            <a:ext cx="4226984" cy="6646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 defTabSz="121917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 </a:t>
            </a:r>
            <a:r>
              <a:rPr kumimoji="1" lang="zh-CN" altLang="en-US" sz="32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：文法符号集</a:t>
            </a:r>
            <a:endParaRPr lang="en-US" altLang="zh-CN" sz="32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59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3" grpId="0" animBg="1"/>
      <p:bldP spid="3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571501" y="3333751"/>
            <a:ext cx="11239500" cy="4301067"/>
          </a:xfrm>
        </p:spPr>
        <p:txBody>
          <a:bodyPr rtlCol="0">
            <a:normAutofit/>
          </a:bodyPr>
          <a:lstStyle/>
          <a:p>
            <a:pPr marL="365751" indent="-365751" algn="just" eaLnBrk="1" fontAlgn="auto" hangingPunct="1">
              <a:lnSpc>
                <a:spcPts val="3333"/>
              </a:lnSpc>
              <a:spcAft>
                <a:spcPts val="0"/>
              </a:spcAft>
              <a:buClr>
                <a:srgbClr val="3333CC"/>
              </a:buClr>
              <a:buNone/>
              <a:defRPr/>
            </a:pPr>
            <a:r>
              <a:rPr lang="zh-CN" altLang="en-US" sz="2933" dirty="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kumimoji="1" lang="zh-CN" altLang="en-US" sz="2933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产生式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production</a:t>
            </a:r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zh-CN" altLang="en-US" sz="2933" b="1" dirty="0">
                <a:solidFill>
                  <a:schemeClr val="tx1"/>
                </a:solidFill>
                <a:latin typeface="+mn-ea"/>
              </a:rPr>
              <a:t>就是文法规则</a:t>
            </a:r>
            <a:endParaRPr kumimoji="1" lang="en-US" altLang="zh-CN" sz="2933" b="1" dirty="0">
              <a:solidFill>
                <a:schemeClr val="tx1"/>
              </a:solidFill>
              <a:latin typeface="+mn-ea"/>
            </a:endParaRPr>
          </a:p>
          <a:p>
            <a:pPr marL="365751" indent="-365751" algn="just" eaLnBrk="1" fontAlgn="auto" hangingPunct="1">
              <a:lnSpc>
                <a:spcPts val="2667"/>
              </a:lnSpc>
              <a:spcAft>
                <a:spcPts val="0"/>
              </a:spcAft>
              <a:buClr>
                <a:srgbClr val="3333CC"/>
              </a:buClr>
              <a:buNone/>
              <a:defRPr/>
            </a:pPr>
            <a:r>
              <a:rPr kumimoji="1" lang="en-US" altLang="zh-CN" sz="2933" b="1" dirty="0">
                <a:solidFill>
                  <a:schemeClr val="tx1"/>
                </a:solidFill>
                <a:latin typeface="+mn-ea"/>
              </a:rPr>
              <a:t>    </a:t>
            </a:r>
            <a:r>
              <a:rPr kumimoji="1" lang="zh-CN" altLang="en-US" sz="2933" b="1" dirty="0">
                <a:solidFill>
                  <a:schemeClr val="tx1"/>
                </a:solidFill>
                <a:latin typeface="+mn-ea"/>
              </a:rPr>
              <a:t>产生式的一般形式：</a:t>
            </a:r>
            <a:endParaRPr kumimoji="1" lang="en-US" altLang="zh-CN" sz="2933" b="1" dirty="0">
              <a:solidFill>
                <a:schemeClr val="tx1"/>
              </a:solidFill>
              <a:latin typeface="+mn-ea"/>
            </a:endParaRPr>
          </a:p>
          <a:p>
            <a:pPr marL="365751" indent="-365751" algn="just" eaLnBrk="1" fontAlgn="auto" hangingPunct="1">
              <a:lnSpc>
                <a:spcPts val="2667"/>
              </a:lnSpc>
              <a:spcAft>
                <a:spcPts val="0"/>
              </a:spcAft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prstClr val="black"/>
                </a:solidFill>
                <a:cs typeface="Times New Roman" pitchFamily="18" charset="0"/>
              </a:rPr>
              <a:t>				α→β</a:t>
            </a:r>
            <a:endParaRPr kumimoji="1" lang="en-US" altLang="zh-CN" sz="2933" b="1" dirty="0">
              <a:solidFill>
                <a:prstClr val="black"/>
              </a:solidFill>
              <a:latin typeface="华文楷体" panose="02010600040101010101" pitchFamily="2" charset="-122"/>
            </a:endParaRP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Tx/>
              <a:buFont typeface="Wingdings" pitchFamily="2" charset="2"/>
              <a:buChar char="Ø"/>
              <a:defRPr/>
            </a:pPr>
            <a:r>
              <a:rPr kumimoji="1" lang="zh-CN" altLang="en-US" b="1" dirty="0">
                <a:solidFill>
                  <a:schemeClr val="tx1"/>
                </a:solidFill>
                <a:latin typeface="+mn-ea"/>
              </a:rPr>
              <a:t>例：</a:t>
            </a:r>
            <a:r>
              <a:rPr kumimoji="1" lang="en-US" altLang="zh-CN" b="1" dirty="0">
                <a:solidFill>
                  <a:schemeClr val="tx1"/>
                </a:solidFill>
                <a:latin typeface="+mn-ea"/>
                <a:cs typeface="楷体_GB2312"/>
              </a:rPr>
              <a:t>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kumimoji="1" lang="en-US" altLang="zh-CN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kumimoji="1" lang="en-US" altLang="zh-CN" b="1" dirty="0">
                <a:solidFill>
                  <a:schemeClr val="tx1"/>
                </a:solidFill>
                <a:latin typeface="+mn-ea"/>
                <a:cs typeface="楷体_GB2312"/>
              </a:rPr>
              <a:t>   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cs typeface="楷体_GB2312"/>
                <a:sym typeface="Symbol" panose="05050102010706020507" pitchFamily="18" charset="2"/>
              </a:rPr>
              <a:t>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句子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cs typeface="楷体_GB2312"/>
                <a:sym typeface="Symbol" panose="05050102010706020507" pitchFamily="18" charset="2"/>
              </a:rPr>
              <a:t>  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名词短语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cs typeface="楷体_GB2312"/>
                <a:sym typeface="Symbol" panose="05050102010706020507" pitchFamily="18" charset="2"/>
              </a:rPr>
              <a:t> 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动词短</a:t>
            </a:r>
            <a:r>
              <a:rPr kumimoji="1" lang="en-US" altLang="zh-CN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,                                      </a:t>
            </a: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Tx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                      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名词短语 形容词 名词短语，</a:t>
            </a:r>
            <a:endParaRPr kumimoji="1" lang="en-US" altLang="zh-CN" b="1" dirty="0">
              <a:solidFill>
                <a:schemeClr val="tx1"/>
              </a:solidFill>
              <a:latin typeface="+mn-ea"/>
              <a:sym typeface="Symbol" panose="05050102010706020507" pitchFamily="18" charset="2"/>
            </a:endParaRPr>
          </a:p>
          <a:p>
            <a:pPr marL="609585" lvl="1" indent="0" eaLnBrk="1" fontAlgn="auto" hangingPunct="1">
              <a:lnSpc>
                <a:spcPts val="3333"/>
              </a:lnSpc>
              <a:spcAft>
                <a:spcPts val="0"/>
              </a:spcAft>
              <a:buClrTx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                                   </a:t>
            </a:r>
            <a:r>
              <a:rPr kumimoji="1" lang="zh-CN" altLang="en-US" b="1" dirty="0">
                <a:solidFill>
                  <a:schemeClr val="tx1"/>
                </a:solidFill>
                <a:latin typeface="+mn-ea"/>
                <a:sym typeface="Symbol" panose="05050102010706020507" pitchFamily="18" charset="2"/>
              </a:rPr>
              <a:t>…                                         </a:t>
            </a:r>
            <a:endParaRPr kumimoji="1" lang="en-US" altLang="zh-CN" b="1" dirty="0">
              <a:solidFill>
                <a:schemeClr val="tx1"/>
              </a:solidFill>
              <a:latin typeface="+mn-ea"/>
            </a:endParaRPr>
          </a:p>
          <a:p>
            <a:pPr marL="609585" lvl="1" indent="0" algn="just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endParaRPr lang="zh-CN" altLang="en-US" sz="3333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1" y="967317"/>
            <a:ext cx="10648951" cy="2461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6869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872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双大括号 1"/>
          <p:cNvSpPr/>
          <p:nvPr/>
        </p:nvSpPr>
        <p:spPr>
          <a:xfrm>
            <a:off x="3119967" y="4965701"/>
            <a:ext cx="6527800" cy="1344084"/>
          </a:xfrm>
          <a:prstGeom prst="bracePair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60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4000500"/>
            <a:ext cx="11144251" cy="4301067"/>
          </a:xfrm>
        </p:spPr>
        <p:txBody>
          <a:bodyPr/>
          <a:lstStyle/>
          <a:p>
            <a:pPr marL="609585" lvl="1" indent="0" algn="just" eaLnBrk="1" hangingPunct="1">
              <a:lnSpc>
                <a:spcPct val="120000"/>
              </a:lnSpc>
              <a:buClr>
                <a:srgbClr val="3333CC"/>
              </a:buClr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∈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r>
              <a:rPr kumimoji="1" lang="zh-CN" altLang="en-US" sz="3333" b="1" dirty="0">
                <a:solidFill>
                  <a:srgbClr val="FF0000"/>
                </a:solidFill>
                <a:latin typeface="+mn-ea"/>
              </a:rPr>
              <a:t>开始符号</a:t>
            </a:r>
            <a:r>
              <a:rPr lang="en-US" altLang="zh-CN" sz="2667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  <a:cs typeface="Times New Roman" pitchFamily="18" charset="0"/>
              </a:rPr>
              <a:t>start symbo</a:t>
            </a:r>
            <a:r>
              <a:rPr lang="en-US" altLang="zh-CN" sz="2667" b="1" i="1" spc="400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667" b="1" spc="4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</a:rPr>
              <a:t>表示的是该文法中最大的语法成分</a:t>
            </a:r>
            <a:endParaRPr lang="en-US" altLang="zh-CN" sz="3333" b="1" i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marL="609585" lvl="1" indent="0" algn="just" eaLnBrk="1" hangingPunct="1">
              <a:lnSpc>
                <a:spcPct val="120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  <a:latin typeface="+mn-ea"/>
              </a:rPr>
              <a:t>例：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S =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句子 </a:t>
            </a:r>
            <a:endParaRPr lang="en-US" altLang="zh-CN" sz="3333" b="1" dirty="0">
              <a:solidFill>
                <a:schemeClr val="tx1"/>
              </a:solidFill>
              <a:latin typeface="+mn-ea"/>
            </a:endParaRPr>
          </a:p>
          <a:p>
            <a:pPr marL="609585" lvl="1" indent="0" algn="just" eaLnBrk="1" hangingPunct="1">
              <a:lnSpc>
                <a:spcPct val="120000"/>
              </a:lnSpc>
              <a:defRPr/>
            </a:pPr>
            <a:endParaRPr lang="zh-CN" altLang="en-US" sz="2133" dirty="0">
              <a:ea typeface="楷体_GB2312"/>
              <a:cs typeface="楷体_GB231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85801" y="967318"/>
            <a:ext cx="10648951" cy="3509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G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T 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终结符集合</a:t>
            </a:r>
            <a:endParaRPr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N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产生式集合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364058" indent="-364058" algn="just" defTabSz="1219170" fontAlgn="base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</a:t>
            </a:r>
            <a:r>
              <a:rPr lang="zh-CN" altLang="en-US" sz="3333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 </a:t>
            </a:r>
            <a:r>
              <a:rPr kumimoji="1" lang="zh-CN" altLang="en-US" sz="3333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开始符号</a:t>
            </a:r>
            <a:endParaRPr kumimoji="1" lang="en-US" altLang="zh-CN" sz="3333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768331" lvl="1" indent="-364058" algn="just" defTabSz="121917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defRPr/>
            </a:pPr>
            <a:endParaRPr lang="zh-CN" altLang="en-US" sz="3333" dirty="0">
              <a:solidFill>
                <a:srgbClr val="073E87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38917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19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61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529167" y="1007534"/>
            <a:ext cx="10648951" cy="6176433"/>
          </a:xfrm>
        </p:spPr>
        <p:txBody>
          <a:bodyPr/>
          <a:lstStyle/>
          <a:p>
            <a:pPr algn="just" eaLnBrk="1" hangingPunct="1">
              <a:lnSpc>
                <a:spcPts val="4000"/>
              </a:lnSpc>
              <a:buClr>
                <a:srgbClr val="3333CC"/>
              </a:buClr>
              <a:buNone/>
              <a:defRPr/>
            </a:pPr>
            <a:r>
              <a:rPr lang="zh-CN" altLang="en-US" dirty="0">
                <a:solidFill>
                  <a:srgbClr val="000000"/>
                </a:solidFill>
                <a:ea typeface="楷体_GB2312"/>
                <a:cs typeface="Times New Roman" pitchFamily="18" charset="0"/>
              </a:rPr>
              <a:t>	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3333" b="1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T 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终结符集合</a:t>
            </a:r>
            <a:endParaRPr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V</a:t>
            </a:r>
            <a:r>
              <a:rPr lang="en-US" altLang="zh-CN" sz="3333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非终结符集合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algn="just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  ：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产生式集合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algn="just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kumimoji="1"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：</a:t>
            </a:r>
            <a:r>
              <a:rPr kumimoji="1"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开始符号</a:t>
            </a:r>
            <a:endParaRPr kumimoji="1"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Symbol" panose="05050102010706020507" pitchFamily="18" charset="2"/>
              <a:buNone/>
              <a:defRPr/>
            </a:pPr>
            <a:endParaRPr lang="zh-CN" altLang="en-US" sz="3333" dirty="0">
              <a:latin typeface="+mn-ea"/>
              <a:cs typeface="Times New Roman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43418" y="4095751"/>
            <a:ext cx="6519333" cy="25717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zh-CN" altLang="en-US" sz="33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例：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=( { id, +, *, (, ) }, {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},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)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P =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{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→ E + E ,     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	    E → E * E ,     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E →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,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E →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048751" y="4095751"/>
            <a:ext cx="2857500" cy="25717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defTabSz="1219170" fontAlgn="base"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+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</a:t>
            </a:r>
          </a:p>
          <a:p>
            <a:pPr algn="just" defTabSz="1219170" fontAlgn="base"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</a:p>
          <a:p>
            <a:pPr algn="just" defTabSz="1219170" fontAlgn="base"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(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)</a:t>
            </a:r>
          </a:p>
          <a:p>
            <a:pPr algn="just" defTabSz="1219170" fontAlgn="base"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id</a:t>
            </a: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6714067" y="3663951"/>
            <a:ext cx="2334684" cy="1734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约定：</a:t>
            </a:r>
            <a:endParaRPr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67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不引起歧义的前提下，可以只写产生式</a:t>
            </a:r>
            <a:endParaRPr lang="en-US" altLang="zh-CN" sz="2667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6965951" y="5334000"/>
            <a:ext cx="1987549" cy="56726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b="1">
              <a:solidFill>
                <a:prstClr val="white"/>
              </a:solidFill>
              <a:latin typeface="Candara"/>
              <a:ea typeface="华文楷体" panose="02010600040101010101" pitchFamily="2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文法的形式化定义</a:t>
            </a:r>
          </a:p>
        </p:txBody>
      </p:sp>
      <p:grpSp>
        <p:nvGrpSpPr>
          <p:cNvPr id="40968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62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573618" y="952500"/>
            <a:ext cx="10761133" cy="4301067"/>
          </a:xfrm>
        </p:spPr>
        <p:txBody>
          <a:bodyPr/>
          <a:lstStyle/>
          <a:p>
            <a:pPr eaLnBrk="1" hangingPunct="1">
              <a:lnSpc>
                <a:spcPts val="3333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对一组有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相同左部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产生式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3333"/>
              </a:lnSpc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,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, … , </a:t>
            </a:r>
            <a:r>
              <a:rPr lang="en-US" altLang="zh-CN" sz="3333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3333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3333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sz="3333" b="1" i="1" baseline="-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3333"/>
              </a:lnSpc>
              <a:buNone/>
              <a:defRPr/>
            </a:pP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可以简记为：</a:t>
            </a:r>
            <a:endParaRPr lang="zh-CN" altLang="en-US" sz="3333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3333"/>
              </a:lnSpc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|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| … | </a:t>
            </a:r>
            <a:r>
              <a:rPr lang="en-US" altLang="zh-CN" sz="3333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sz="3333" b="1" i="1" baseline="-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5333"/>
              </a:lnSpc>
              <a:buNone/>
              <a:defRPr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  读作：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定义为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，或者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，或者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 。</a:t>
            </a:r>
            <a:endParaRPr lang="en-US" altLang="zh-CN" sz="3333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5333"/>
              </a:lnSpc>
              <a:buNone/>
              <a:defRPr/>
            </a:pP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…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en-US" altLang="zh-CN" sz="3333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称为</a:t>
            </a:r>
            <a:r>
              <a:rPr lang="el-GR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3333" b="1" dirty="0">
                <a:solidFill>
                  <a:srgbClr val="FF0000"/>
                </a:solidFill>
                <a:cs typeface="Times New Roman" panose="02020603050405020304" pitchFamily="18" charset="0"/>
              </a:rPr>
              <a:t>候选式</a:t>
            </a:r>
            <a:r>
              <a:rPr lang="en-US" altLang="zh-CN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667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Candidate</a:t>
            </a:r>
            <a:r>
              <a:rPr lang="en-US" altLang="zh-CN" sz="2667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en-US" altLang="zh-CN" sz="2667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zh-CN" altLang="en-US" sz="3333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7651" name="标题 1"/>
          <p:cNvSpPr>
            <a:spLocks noGrp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产生式的简写</a:t>
            </a:r>
          </a:p>
        </p:txBody>
      </p:sp>
      <p:sp>
        <p:nvSpPr>
          <p:cNvPr id="8" name="右箭头 7"/>
          <p:cNvSpPr/>
          <p:nvPr/>
        </p:nvSpPr>
        <p:spPr>
          <a:xfrm>
            <a:off x="4572001" y="5552017"/>
            <a:ext cx="785284" cy="3810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b="1">
              <a:solidFill>
                <a:srgbClr val="073E87"/>
              </a:solidFill>
              <a:latin typeface="Times New Roman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41990" name="Rectangle 3"/>
          <p:cNvSpPr txBox="1">
            <a:spLocks noChangeArrowheads="1"/>
          </p:cNvSpPr>
          <p:nvPr/>
        </p:nvSpPr>
        <p:spPr bwMode="auto">
          <a:xfrm>
            <a:off x="2059518" y="4627034"/>
            <a:ext cx="2321983" cy="2095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+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(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)</a:t>
            </a:r>
          </a:p>
          <a:p>
            <a:pPr algn="just" defTabSz="1219170" fontAlgn="base">
              <a:lnSpc>
                <a:spcPts val="3333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id</a:t>
            </a:r>
          </a:p>
        </p:txBody>
      </p:sp>
      <p:sp>
        <p:nvSpPr>
          <p:cNvPr id="41991" name="Rectangle 3"/>
          <p:cNvSpPr txBox="1">
            <a:spLocks noChangeArrowheads="1"/>
          </p:cNvSpPr>
          <p:nvPr/>
        </p:nvSpPr>
        <p:spPr bwMode="auto">
          <a:xfrm>
            <a:off x="5524501" y="5431367"/>
            <a:ext cx="5247217" cy="596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1219170" fontAlgn="base"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defRPr/>
            </a:pP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→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+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|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*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|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 </a:t>
            </a:r>
            <a:r>
              <a:rPr lang="en-US" altLang="zh-CN" sz="3333" b="1" i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sz="3333" b="1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) | id</a:t>
            </a:r>
          </a:p>
        </p:txBody>
      </p:sp>
      <p:grpSp>
        <p:nvGrpSpPr>
          <p:cNvPr id="43015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17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63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1990" grpId="0" animBg="1"/>
      <p:bldP spid="4199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047751"/>
            <a:ext cx="10458451" cy="4301067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下述符号是</a:t>
            </a:r>
            <a:r>
              <a:rPr lang="zh-CN" altLang="en-US" sz="3733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终结符</a:t>
            </a:r>
            <a:endParaRPr lang="en-US" altLang="zh-CN" sz="3733" b="1" dirty="0">
              <a:solidFill>
                <a:srgbClr val="FF0000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spc="4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333" b="1" i="1" spc="400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3333" b="1" spc="400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字母表中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排在前面的小写字母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，如</a:t>
            </a:r>
            <a:r>
              <a:rPr lang="en-US" altLang="zh-CN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有特定含义的字符串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else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sz="3333" b="1" dirty="0">
                <a:solidFill>
                  <a:schemeClr val="tx1"/>
                </a:solidFill>
                <a:cs typeface="Times New Roman" pitchFamily="18" charset="0"/>
              </a:rPr>
              <a:t>if</a:t>
            </a:r>
            <a:r>
              <a:rPr lang="zh-CN" altLang="en-US" sz="3333" b="1" dirty="0">
                <a:solidFill>
                  <a:schemeClr val="tx1"/>
                </a:solidFill>
                <a:cs typeface="Times New Roman" pitchFamily="18" charset="0"/>
              </a:rPr>
              <a:t>等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endParaRPr lang="en-US" altLang="zh-CN" sz="3333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333" b="1" spc="4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3333" b="1" i="1" spc="400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3333" b="1" spc="400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运算符、标点符号、数字这些无法继续推导的符号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，如</a:t>
            </a:r>
            <a:r>
              <a:rPr lang="en-US" altLang="zh-CN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+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、（、</a:t>
            </a:r>
            <a:r>
              <a:rPr lang="en-US" altLang="zh-CN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0</a:t>
            </a:r>
            <a:r>
              <a:rPr lang="zh-CN" altLang="en-US" sz="3333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等</a:t>
            </a:r>
            <a:endParaRPr lang="en-US" altLang="zh-CN" sz="3333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符号约定</a:t>
            </a:r>
          </a:p>
        </p:txBody>
      </p:sp>
      <p:grpSp>
        <p:nvGrpSpPr>
          <p:cNvPr id="45060" name="组合 3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62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64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619251"/>
            <a:ext cx="10763251" cy="4301067"/>
          </a:xfrm>
        </p:spPr>
        <p:txBody>
          <a:bodyPr/>
          <a:lstStyle/>
          <a:p>
            <a:pPr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733" b="1" dirty="0">
                <a:solidFill>
                  <a:schemeClr val="tx1"/>
                </a:solidFill>
                <a:cs typeface="Times New Roman" panose="02020603050405020304" pitchFamily="18" charset="0"/>
              </a:rPr>
              <a:t>下述符号是</a:t>
            </a:r>
            <a:r>
              <a:rPr lang="zh-CN" altLang="en-US" sz="3733" b="1" dirty="0">
                <a:solidFill>
                  <a:srgbClr val="FF0000"/>
                </a:solidFill>
                <a:cs typeface="Times New Roman" panose="02020603050405020304" pitchFamily="18" charset="0"/>
              </a:rPr>
              <a:t>非终结符</a:t>
            </a:r>
            <a:endParaRPr lang="en-US" altLang="zh-CN" sz="3733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spc="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3333" b="1" i="1" spc="400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3333" b="1" spc="400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字母表中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排在前面的大写字母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，如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C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；</a:t>
            </a:r>
            <a:endParaRPr lang="en-US" altLang="zh-CN" sz="3333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04274" lvl="1" indent="0" eaLnBrk="1" hangingPunct="1">
              <a:lnSpc>
                <a:spcPts val="5333"/>
              </a:lnSpc>
              <a:buClrTx/>
              <a:buNone/>
              <a:defRPr/>
            </a:pPr>
            <a:r>
              <a:rPr lang="en-US" altLang="zh-CN" sz="33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+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一些特定的大写字母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。如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表达式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项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因子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（开始符号）。</a:t>
            </a:r>
            <a:endParaRPr lang="en-US" altLang="zh-CN" sz="3333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5333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3333" b="1" spc="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3333" b="1" i="1" spc="4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3333" b="1" spc="400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sz="3333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小写、斜体的名字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，如</a:t>
            </a:r>
            <a:r>
              <a:rPr lang="en-US" altLang="zh-CN" sz="3333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expr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3333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stmt</a:t>
            </a:r>
            <a:r>
              <a:rPr lang="zh-CN" altLang="en-US" sz="3333" b="1" dirty="0">
                <a:solidFill>
                  <a:schemeClr val="tx1"/>
                </a:solidFill>
                <a:cs typeface="Times New Roman" panose="02020603050405020304" pitchFamily="18" charset="0"/>
              </a:rPr>
              <a:t>等</a:t>
            </a:r>
            <a:endParaRPr lang="en-US" altLang="zh-CN" sz="3333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04274" lvl="1" indent="0" eaLnBrk="1" hangingPunct="1">
              <a:lnSpc>
                <a:spcPts val="5333"/>
              </a:lnSpc>
              <a:buClrTx/>
              <a:buNone/>
              <a:defRPr/>
            </a:pPr>
            <a:endParaRPr lang="en-US" altLang="zh-CN" sz="3333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1500" y="1047752"/>
            <a:ext cx="10458451" cy="857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4058" indent="-364058" defTabSz="1219170" fontAlgn="base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733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下述符号是</a:t>
            </a:r>
            <a:r>
              <a:rPr lang="zh-CN" altLang="en-US" sz="3733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终结符</a:t>
            </a:r>
            <a:endParaRPr lang="en-US" altLang="zh-CN" sz="3733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533" y="357718"/>
            <a:ext cx="10574867" cy="47836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pc="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符号约定</a:t>
            </a:r>
          </a:p>
        </p:txBody>
      </p:sp>
      <p:grpSp>
        <p:nvGrpSpPr>
          <p:cNvPr id="47109" name="组合 6"/>
          <p:cNvGrpSpPr>
            <a:grpSpLocks/>
          </p:cNvGrpSpPr>
          <p:nvPr/>
        </p:nvGrpSpPr>
        <p:grpSpPr bwMode="auto">
          <a:xfrm>
            <a:off x="0" y="260351"/>
            <a:ext cx="1007533" cy="575733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8A00C03-5752-4D33-BF8A-7610D6B58497}" type="slidenum">
              <a:rPr lang="zh-CN" altLang="en-US">
                <a:latin typeface="Tahoma" panose="020B0604030504040204" pitchFamily="34" charset="0"/>
              </a:rPr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65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4605</Words>
  <Application>Microsoft Office PowerPoint</Application>
  <PresentationFormat>宽屏</PresentationFormat>
  <Paragraphs>859</Paragraphs>
  <Slides>65</Slides>
  <Notes>64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65</vt:i4>
      </vt:variant>
    </vt:vector>
  </HeadingPairs>
  <TitlesOfParts>
    <vt:vector size="86" baseType="lpstr">
      <vt:lpstr>PingFang SC</vt:lpstr>
      <vt:lpstr>Time New Roman</vt:lpstr>
      <vt:lpstr>等线</vt:lpstr>
      <vt:lpstr>华文仿宋</vt:lpstr>
      <vt:lpstr>华文楷体</vt:lpstr>
      <vt:lpstr>华文楷体 (正文)</vt:lpstr>
      <vt:lpstr>楷体</vt:lpstr>
      <vt:lpstr>楷体_GB2312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3_波形</vt:lpstr>
      <vt:lpstr>波形</vt:lpstr>
      <vt:lpstr>13_波形</vt:lpstr>
      <vt:lpstr>1_波形</vt:lpstr>
      <vt:lpstr>2_波形</vt:lpstr>
      <vt:lpstr>PowerPoint 演示文稿</vt:lpstr>
      <vt:lpstr>主要内容</vt:lpstr>
      <vt:lpstr>课程概要</vt:lpstr>
      <vt:lpstr>关于这门课</vt:lpstr>
      <vt:lpstr>1.计算机程序设计语言及什么是编译</vt:lpstr>
      <vt:lpstr>计算机程序设计语言及编译</vt:lpstr>
      <vt:lpstr>编译在语言处理系统中的位置</vt:lpstr>
      <vt:lpstr>编译在语言处理系统中的位置</vt:lpstr>
      <vt:lpstr>编译在语言处理系统中的位置</vt:lpstr>
      <vt:lpstr>编译在语言处理系统中的位置</vt:lpstr>
      <vt:lpstr>PowerPoint 演示文稿</vt:lpstr>
      <vt:lpstr>PowerPoint 演示文稿</vt:lpstr>
      <vt:lpstr>编译在语言处理系统中的位置</vt:lpstr>
      <vt:lpstr>编译在语言处理系统中的位置</vt:lpstr>
      <vt:lpstr>编译在语言处理系统中的位置</vt:lpstr>
      <vt:lpstr>2.编译系统的结构</vt:lpstr>
      <vt:lpstr>人脑英汉翻译的例子</vt:lpstr>
      <vt:lpstr>人脑英汉翻译的例子</vt:lpstr>
      <vt:lpstr>PowerPoint 演示文稿</vt:lpstr>
      <vt:lpstr>编译器的结构</vt:lpstr>
      <vt:lpstr>3.词法分析</vt:lpstr>
      <vt:lpstr>词法分析/扫描(Scanning)</vt:lpstr>
      <vt:lpstr>词法分析/扫描(Scanning)</vt:lpstr>
      <vt:lpstr>例：词法分析后得到的token序列</vt:lpstr>
      <vt:lpstr>4.语法分析</vt:lpstr>
      <vt:lpstr>语法分析 ( parsing)</vt:lpstr>
      <vt:lpstr>例1：赋值语句的分析树</vt:lpstr>
      <vt:lpstr> 例2：变量声明语句的分析树</vt:lpstr>
      <vt:lpstr>5.语义分析</vt:lpstr>
      <vt:lpstr>语义分析的主要任务</vt:lpstr>
      <vt:lpstr>语义分析的主要任务</vt:lpstr>
      <vt:lpstr>语义分析的主要任务</vt:lpstr>
      <vt:lpstr>语义分析的主要任务</vt:lpstr>
      <vt:lpstr>语义分析的主要任务</vt:lpstr>
      <vt:lpstr>语义分析的主要任务</vt:lpstr>
      <vt:lpstr>PowerPoint 演示文稿</vt:lpstr>
      <vt:lpstr>常用的中间代码表示形式</vt:lpstr>
      <vt:lpstr>常用的三地址指令</vt:lpstr>
      <vt:lpstr>三地址指令的表示</vt:lpstr>
      <vt:lpstr>三地址指令的四元式表示</vt:lpstr>
      <vt:lpstr>中间代码生成的例子</vt:lpstr>
      <vt:lpstr>目标代码生成</vt:lpstr>
      <vt:lpstr>编译器的结构</vt:lpstr>
      <vt:lpstr>总结：</vt:lpstr>
      <vt:lpstr>PowerPoint 演示文稿</vt:lpstr>
      <vt:lpstr>PowerPoint 演示文稿</vt:lpstr>
      <vt:lpstr>主要内容</vt:lpstr>
      <vt:lpstr>字母表 (Alphabet)</vt:lpstr>
      <vt:lpstr>字母表上的运算</vt:lpstr>
      <vt:lpstr>字母表上的运算</vt:lpstr>
      <vt:lpstr>字母表上的运算</vt:lpstr>
      <vt:lpstr>字母表上的运算</vt:lpstr>
      <vt:lpstr>PowerPoint 演示文稿</vt:lpstr>
      <vt:lpstr>串上的运算——连接</vt:lpstr>
      <vt:lpstr>串上的运算——幂</vt:lpstr>
      <vt:lpstr>自然语言的例子——句子的构成规则</vt:lpstr>
      <vt:lpstr>文法(Grammer)的形式化定义</vt:lpstr>
      <vt:lpstr>文法的形式化定义</vt:lpstr>
      <vt:lpstr>文法的形式化定义</vt:lpstr>
      <vt:lpstr>文法的形式化定义</vt:lpstr>
      <vt:lpstr>文法的形式化定义</vt:lpstr>
      <vt:lpstr>文法的形式化定义</vt:lpstr>
      <vt:lpstr>产生式的简写</vt:lpstr>
      <vt:lpstr>符号约定</vt:lpstr>
      <vt:lpstr>符号约定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凌 妙根</dc:creator>
  <cp:lastModifiedBy>8615952081735</cp:lastModifiedBy>
  <cp:revision>63</cp:revision>
  <dcterms:created xsi:type="dcterms:W3CDTF">2024-09-01T15:21:57Z</dcterms:created>
  <dcterms:modified xsi:type="dcterms:W3CDTF">2025-09-03T13:26:36Z</dcterms:modified>
</cp:coreProperties>
</file>