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4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5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ink/ink1.xml" ContentType="application/inkml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ink/ink2.xml" ContentType="application/inkml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  <p:sldMasterId id="2147487464" r:id="rId2"/>
    <p:sldMasterId id="2147487643" r:id="rId3"/>
    <p:sldMasterId id="2147488898" r:id="rId4"/>
    <p:sldMasterId id="2147488901" r:id="rId5"/>
    <p:sldMasterId id="2147488904" r:id="rId6"/>
  </p:sldMasterIdLst>
  <p:notesMasterIdLst>
    <p:notesMasterId r:id="rId54"/>
  </p:notesMasterIdLst>
  <p:handoutMasterIdLst>
    <p:handoutMasterId r:id="rId55"/>
  </p:handoutMasterIdLst>
  <p:sldIdLst>
    <p:sldId id="779" r:id="rId7"/>
    <p:sldId id="775" r:id="rId8"/>
    <p:sldId id="764" r:id="rId9"/>
    <p:sldId id="769" r:id="rId10"/>
    <p:sldId id="784" r:id="rId11"/>
    <p:sldId id="770" r:id="rId12"/>
    <p:sldId id="771" r:id="rId13"/>
    <p:sldId id="785" r:id="rId14"/>
    <p:sldId id="1122" r:id="rId15"/>
    <p:sldId id="787" r:id="rId16"/>
    <p:sldId id="788" r:id="rId17"/>
    <p:sldId id="772" r:id="rId18"/>
    <p:sldId id="1107" r:id="rId19"/>
    <p:sldId id="1118" r:id="rId20"/>
    <p:sldId id="1119" r:id="rId21"/>
    <p:sldId id="583" r:id="rId22"/>
    <p:sldId id="585" r:id="rId23"/>
    <p:sldId id="939" r:id="rId24"/>
    <p:sldId id="893" r:id="rId25"/>
    <p:sldId id="512" r:id="rId26"/>
    <p:sldId id="597" r:id="rId27"/>
    <p:sldId id="826" r:id="rId28"/>
    <p:sldId id="827" r:id="rId29"/>
    <p:sldId id="1098" r:id="rId30"/>
    <p:sldId id="1116" r:id="rId31"/>
    <p:sldId id="1117" r:id="rId32"/>
    <p:sldId id="1099" r:id="rId33"/>
    <p:sldId id="1108" r:id="rId34"/>
    <p:sldId id="1109" r:id="rId35"/>
    <p:sldId id="1110" r:id="rId36"/>
    <p:sldId id="1111" r:id="rId37"/>
    <p:sldId id="1112" r:id="rId38"/>
    <p:sldId id="1113" r:id="rId39"/>
    <p:sldId id="1114" r:id="rId40"/>
    <p:sldId id="1115" r:id="rId41"/>
    <p:sldId id="903" r:id="rId42"/>
    <p:sldId id="945" r:id="rId43"/>
    <p:sldId id="836" r:id="rId44"/>
    <p:sldId id="1029" r:id="rId45"/>
    <p:sldId id="1120" r:id="rId46"/>
    <p:sldId id="1121" r:id="rId47"/>
    <p:sldId id="1081" r:id="rId48"/>
    <p:sldId id="1100" r:id="rId49"/>
    <p:sldId id="1102" r:id="rId50"/>
    <p:sldId id="1106" r:id="rId51"/>
    <p:sldId id="1105" r:id="rId52"/>
    <p:sldId id="1103" r:id="rId53"/>
  </p:sldIdLst>
  <p:sldSz cx="9144000" cy="5143500" type="screen16x9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333FF"/>
    <a:srgbClr val="FF00FF"/>
    <a:srgbClr val="008000"/>
    <a:srgbClr val="FFCCCC"/>
    <a:srgbClr val="FF6600"/>
    <a:srgbClr val="00AB7E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45" autoAdjust="0"/>
    <p:restoredTop sz="80622" autoAdjust="0"/>
  </p:normalViewPr>
  <p:slideViewPr>
    <p:cSldViewPr>
      <p:cViewPr varScale="1">
        <p:scale>
          <a:sx n="122" d="100"/>
          <a:sy n="122" d="100"/>
        </p:scale>
        <p:origin x="186" y="9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1292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presProps" Target="presProp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tableStyles" Target="tableStyles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viewProps" Target="viewProps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14" tIns="45708" rIns="91414" bIns="45708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87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14" tIns="45708" rIns="91414" bIns="45708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3860FC0-A699-4166-B4F0-470C8526BF92}" type="datetimeFigureOut">
              <a:rPr lang="zh-CN" altLang="en-US"/>
              <a:pPr>
                <a:defRPr/>
              </a:pPr>
              <a:t>2025/10/11</a:t>
            </a:fld>
            <a:endParaRPr lang="en-US" altLang="zh-CN"/>
          </a:p>
        </p:txBody>
      </p:sp>
      <p:sp>
        <p:nvSpPr>
          <p:cNvPr id="387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14" tIns="45708" rIns="91414" bIns="45708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7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14" tIns="45708" rIns="91414" bIns="45708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C627A9ED-590A-41F3-8573-4155AFFF303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129758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66.66666" units="1/cm"/>
          <inkml:channelProperty channel="Y" name="resolution" value="66.66666" units="1/cm"/>
          <inkml:channelProperty channel="T" name="resolution" value="1" units="1/dev"/>
        </inkml:channelProperties>
      </inkml:inkSource>
      <inkml:timestamp xml:id="ts0" timeString="2021-09-18T02:55:14.1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10983 7992 0</inkml:trace>
  <inkml:trace contextRef="#ctx0" brushRef="#br0" timeOffset="15661.58">9880 7737 0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66.66666" units="1/cm"/>
          <inkml:channelProperty channel="Y" name="resolution" value="66.66666" units="1/cm"/>
          <inkml:channelProperty channel="T" name="resolution" value="1" units="1/dev"/>
        </inkml:channelProperties>
      </inkml:inkSource>
      <inkml:timestamp xml:id="ts0" timeString="2021-09-18T06:53:32.1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15181 4070 0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9019" tIns="49510" rIns="99019" bIns="49510" numCol="1" anchor="t" anchorCtr="0" compatLnSpc="1">
            <a:prstTxWarp prst="textNoShape">
              <a:avLst/>
            </a:prstTxWarp>
          </a:bodyPr>
          <a:lstStyle>
            <a:lvl1pPr defTabSz="988409" eaLnBrk="1" hangingPunct="1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276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9019" tIns="49510" rIns="99019" bIns="49510" numCol="1" anchor="t" anchorCtr="0" compatLnSpc="1">
            <a:prstTxWarp prst="textNoShape">
              <a:avLst/>
            </a:prstTxWarp>
          </a:bodyPr>
          <a:lstStyle>
            <a:lvl1pPr algn="r" defTabSz="988409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9700" y="768350"/>
            <a:ext cx="6821488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6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>
            <a:noFill/>
          </a:ln>
        </p:spPr>
        <p:txBody>
          <a:bodyPr vert="horz" wrap="square" lIns="99019" tIns="49510" rIns="99019" bIns="495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276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9019" tIns="49510" rIns="99019" bIns="49510" numCol="1" anchor="b" anchorCtr="0" compatLnSpc="1">
            <a:prstTxWarp prst="textNoShape">
              <a:avLst/>
            </a:prstTxWarp>
          </a:bodyPr>
          <a:lstStyle>
            <a:lvl1pPr defTabSz="988409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276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9019" tIns="49510" rIns="99019" bIns="49510" numCol="1" anchor="b" anchorCtr="0" compatLnSpc="1">
            <a:prstTxWarp prst="textNoShape">
              <a:avLst/>
            </a:prstTxWarp>
          </a:bodyPr>
          <a:lstStyle>
            <a:lvl1pPr algn="r" defTabSz="988409" eaLnBrk="1" hangingPunct="1">
              <a:defRPr sz="1300"/>
            </a:lvl1pPr>
          </a:lstStyle>
          <a:p>
            <a:pPr>
              <a:defRPr/>
            </a:pPr>
            <a:fld id="{C28EDF83-12AF-4CA7-A8DF-17AE33FE35D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132710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74DA35-8635-4BDF-AA8C-65560060F529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06648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6C61CE-634D-4F64-ACD8-85A675627EA4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8481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74DA35-8635-4BDF-AA8C-65560060F529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60996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ffectLst/>
            </a:endParaRPr>
          </a:p>
        </p:txBody>
      </p:sp>
      <p:sp>
        <p:nvSpPr>
          <p:cNvPr id="931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A484FA9-D4E0-445B-BDD4-DDC6D27CC5DD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67095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74DA35-8635-4BDF-AA8C-65560060F529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71049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31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A484FA9-D4E0-445B-BDD4-DDC6D27CC5DD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20039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31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A484FA9-D4E0-445B-BDD4-DDC6D27CC5DD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58089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31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A484FA9-D4E0-445B-BDD4-DDC6D27CC5DD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83822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31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A484FA9-D4E0-445B-BDD4-DDC6D27CC5DD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44220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31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A484FA9-D4E0-445B-BDD4-DDC6D27CC5DD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81111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31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509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50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A484FA9-D4E0-445B-BDD4-DDC6D27CC5DD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93082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509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55981A6-AA2F-4D16-9934-F73E594B34B2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509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51245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1126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858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6174070-73D0-40B1-9725-1CDDB8686D14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  <a:cs typeface="楷体_GB2312"/>
              </a:rPr>
              <a:pPr marL="0" marR="0" lvl="0" indent="0" algn="r" defTabSz="9858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40616613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D903A7E7-EB15-6A9B-4D6D-C24D74A462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890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4230552-48BF-45AE-A409-7366AAE4CFC4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  <a:cs typeface="楷体_GB2312"/>
              </a:rPr>
              <a:pPr marL="0" marR="0" lvl="0" indent="0" algn="r" defTabSz="9890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5C54FD24-252B-BE4E-7A1B-9952F4159E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FF8AB559-06A5-E598-742C-AFA8261076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7738"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86647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82859182-6AD3-9DFD-CE83-BE75CD3354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858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C0A4279-BBFE-4869-842C-E6173B410A8E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858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70D130A8-AF10-2F04-5ADF-66EE7879C8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721A8472-3E98-C17F-703E-886F08BD35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118037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D747495D-61E3-2620-23CB-FCDE9ABBCA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858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3D55E32-D2DD-440B-8024-CBE1ACB2B9E8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858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1368817E-FFC2-E152-DF50-608DD66CF8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EA1D9D67-CB63-6FB7-1EB0-232A3E2064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27342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741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85A9A24-E17D-4DA3-906C-249534708DCA}" type="slidenum">
              <a:rPr lang="zh-CN" altLang="en-US" smtClean="0"/>
              <a:pPr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54857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94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7B8AA7E-0FEC-49BC-A389-B3A4328565AC}" type="slidenum">
              <a:rPr lang="zh-CN" altLang="en-US" smtClean="0"/>
              <a:pPr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36760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901F650-4EA0-4087-80B7-0CB286DD495B}" type="slidenum">
              <a:rPr lang="zh-CN" altLang="en-US" smtClean="0"/>
              <a:pPr/>
              <a:t>19</a:t>
            </a:fld>
            <a:endParaRPr lang="en-US" altLang="zh-CN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01959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0CDF28E-691A-4BF5-9A71-99D128952E59}" type="slidenum">
              <a:rPr lang="zh-CN" altLang="en-US" smtClean="0"/>
              <a:pPr/>
              <a:t>20</a:t>
            </a:fld>
            <a:endParaRPr lang="en-US" altLang="zh-CN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43554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B40ABD8-554D-488D-A621-37BAEFE68CD3}" type="slidenum">
              <a:rPr lang="zh-CN" altLang="en-US" smtClean="0"/>
              <a:pPr/>
              <a:t>21</a:t>
            </a:fld>
            <a:endParaRPr lang="en-US" altLang="zh-CN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498045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276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82ADF32-1CC8-49D9-92C6-04C2E757196B}" type="slidenum">
              <a:rPr lang="zh-CN" altLang="en-US" smtClean="0"/>
              <a:pPr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53129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970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D05CE8D-986F-4D31-95D4-81E4B62988EC}" type="slidenum">
              <a:rPr lang="zh-CN" altLang="en-US" smtClean="0"/>
              <a:pPr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46514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3174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DC77AEF-FFB0-4797-86E7-17EF477FC2DD}" type="slidenum">
              <a:rPr lang="zh-CN" altLang="en-US" smtClean="0">
                <a:solidFill>
                  <a:srgbClr val="000000"/>
                </a:solidFill>
              </a:rPr>
              <a:pPr/>
              <a:t>24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91884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858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1107677-A840-45A0-B819-12E291E6C7FA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858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48672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5427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874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EED7173-69CB-4D60-A073-8A38AB3C2886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874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125274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3379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DDC42F4-B3F0-4738-997B-D2B610716CE5}" type="slidenum">
              <a:rPr lang="zh-CN" altLang="en-US" smtClean="0">
                <a:solidFill>
                  <a:srgbClr val="000000"/>
                </a:solidFill>
              </a:rPr>
              <a:pPr/>
              <a:t>27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94567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3584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14C257A-7BEE-4000-8138-3F0B35617588}" type="slidenum">
              <a:rPr lang="zh-CN" altLang="en-US" smtClean="0">
                <a:solidFill>
                  <a:srgbClr val="000000"/>
                </a:solidFill>
              </a:rPr>
              <a:pPr/>
              <a:t>28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395354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7BDB2CA-F45E-4407-B5F6-EA7FD91425EE}" type="slidenum">
              <a:rPr lang="zh-CN" altLang="en-US" smtClean="0">
                <a:solidFill>
                  <a:srgbClr val="000000"/>
                </a:solidFill>
              </a:rPr>
              <a:pPr/>
              <a:t>29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01383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780A42F-1314-48D2-9EA0-F7A0F05C3339}" type="slidenum">
              <a:rPr lang="zh-CN" altLang="en-US" smtClean="0">
                <a:solidFill>
                  <a:srgbClr val="000000"/>
                </a:solidFill>
              </a:rPr>
              <a:pPr/>
              <a:t>30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99016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19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62B904A-0084-4670-B81D-D2823F9C5336}" type="slidenum">
              <a:rPr lang="zh-CN" altLang="en-US" smtClean="0">
                <a:solidFill>
                  <a:srgbClr val="000000"/>
                </a:solidFill>
              </a:rPr>
              <a:pPr/>
              <a:t>31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166263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4403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6486A9-3404-4BC3-A325-3AD2986134B2}" type="slidenum">
              <a:rPr lang="zh-CN" altLang="en-US" smtClean="0">
                <a:solidFill>
                  <a:srgbClr val="000000"/>
                </a:solidFill>
              </a:rPr>
              <a:pPr/>
              <a:t>32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412389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4608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7F5E7D4-3C18-44BA-8FB0-3D027F0DEFBC}" type="slidenum">
              <a:rPr lang="zh-CN" altLang="en-US" smtClean="0">
                <a:solidFill>
                  <a:srgbClr val="000000"/>
                </a:solidFill>
              </a:rPr>
              <a:pPr/>
              <a:t>33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250557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3F445C5-96C0-468A-AF62-FAAFC504FB51}" type="slidenum">
              <a:rPr lang="zh-CN" altLang="en-US" smtClean="0">
                <a:solidFill>
                  <a:srgbClr val="000000"/>
                </a:solidFill>
              </a:rPr>
              <a:pPr/>
              <a:t>34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708010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5018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85B4389-167C-482B-A609-BC9DA940CEDD}" type="slidenum">
              <a:rPr lang="zh-CN" altLang="en-US" smtClean="0"/>
              <a:pPr/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887569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7E55DDF-35C2-46E9-9D29-B6052AE9AF79}" type="slidenum">
              <a:rPr lang="zh-CN" altLang="en-US" smtClean="0">
                <a:solidFill>
                  <a:srgbClr val="000000"/>
                </a:solidFill>
              </a:rPr>
              <a:pPr/>
              <a:t>36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250641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13C0681-A32D-45ED-AFD9-34AABB67125B}" type="slidenum">
              <a:rPr lang="zh-CN" altLang="en-US" smtClean="0"/>
              <a:pPr/>
              <a:t>37</a:t>
            </a:fld>
            <a:endParaRPr lang="en-US" altLang="zh-CN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418441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042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EA7BABD-CEC0-4716-AA30-DF1093BD2E80}" type="slidenum">
              <a:rPr lang="zh-CN" altLang="en-US" smtClean="0"/>
              <a:pPr/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097166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9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9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9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9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9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9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9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9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9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2521B56-AD6C-4096-90E8-74C2EED6575A}" type="slidenum">
              <a:rPr lang="zh-CN" altLang="en-US" smtClean="0"/>
              <a:pPr/>
              <a:t>39</a:t>
            </a:fld>
            <a:endParaRPr lang="en-US" altLang="zh-CN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259895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13C0681-A32D-45ED-AFD9-34AABB67125B}" type="slidenum">
              <a:rPr lang="zh-CN" altLang="en-US" smtClean="0"/>
              <a:pPr/>
              <a:t>40</a:t>
            </a:fld>
            <a:endParaRPr lang="en-US" altLang="zh-CN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265745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9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9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9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9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9013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9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9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9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9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2521B56-AD6C-4096-90E8-74C2EED6575A}" type="slidenum">
              <a:rPr lang="zh-CN" altLang="en-US" smtClean="0"/>
              <a:pPr/>
              <a:t>41</a:t>
            </a:fld>
            <a:endParaRPr lang="en-US" altLang="zh-CN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295615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451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2EE3144-7B0C-4DB1-A9E8-0F3484B010C1}" type="slidenum">
              <a:rPr lang="zh-CN" altLang="en-US" smtClean="0">
                <a:solidFill>
                  <a:srgbClr val="000000"/>
                </a:solidFill>
              </a:rPr>
              <a:pPr/>
              <a:t>42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224818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/>
            <a:endParaRPr lang="en-US" altLang="zh-CN" dirty="0"/>
          </a:p>
        </p:txBody>
      </p:sp>
      <p:sp>
        <p:nvSpPr>
          <p:cNvPr id="665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42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8350" indent="-293688" defTabSz="9842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4275" indent="-234950" defTabSz="9842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57350" indent="-234950" defTabSz="9842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2013" indent="-234950" defTabSz="9842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89213" indent="-234950" defTabSz="9842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6413" indent="-234950" defTabSz="9842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3613" indent="-234950" defTabSz="9842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0813" indent="-234950" defTabSz="9842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04DF334-54B0-4E53-B882-59EF9EBEEB0F}" type="slidenum">
              <a:rPr lang="zh-CN" altLang="en-US" smtClean="0">
                <a:solidFill>
                  <a:srgbClr val="000000"/>
                </a:solidFill>
              </a:rPr>
              <a:pPr/>
              <a:t>43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707647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/>
            <a:endParaRPr lang="en-US" altLang="zh-CN" sz="2100" b="1" dirty="0">
              <a:latin typeface="Arial" panose="020B0604020202020204" pitchFamily="34" charset="0"/>
            </a:endParaRPr>
          </a:p>
        </p:txBody>
      </p:sp>
      <p:sp>
        <p:nvSpPr>
          <p:cNvPr id="6861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42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68350" indent="-293688" defTabSz="9842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4275" indent="-234950" defTabSz="9842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57350" indent="-234950" defTabSz="9842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2013" indent="-234950" defTabSz="9842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89213" indent="-234950" defTabSz="9842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46413" indent="-234950" defTabSz="9842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03613" indent="-234950" defTabSz="9842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960813" indent="-234950" defTabSz="9842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9A9CA8-A4AF-402A-9B29-AD7603521793}" type="slidenum">
              <a:rPr lang="zh-CN" altLang="en-US" smtClean="0">
                <a:solidFill>
                  <a:srgbClr val="000000"/>
                </a:solidFill>
              </a:rPr>
              <a:pPr/>
              <a:t>44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32977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28EDF83-12AF-4CA7-A8DF-17AE33FE35D9}" type="slidenum">
              <a:rPr lang="zh-CN" altLang="en-US" smtClean="0"/>
              <a:pPr>
                <a:defRPr/>
              </a:pPr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046301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6A790D8A-11E2-11CB-42B5-B70ED5EA76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 defTabSz="9890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defTabSz="989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890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D0A949-22CD-4788-BE73-0A7C13A5D403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  <a:cs typeface="楷体_GB2312"/>
              </a:rPr>
              <a:pPr marL="0" marR="0" lvl="0" indent="0" algn="r" defTabSz="9890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/>
              <a:cs typeface="楷体_GB2312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B0CC325B-043D-C43D-0139-0A337F8850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99DC0915-E8F4-7545-D26C-171191B85B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7738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83439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168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87425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7D943E2-4619-4C33-BA4C-8EC7B5F9973B}" type="slidenum">
              <a:rPr lang="zh-CN" altLang="en-US" smtClean="0"/>
              <a:pPr/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9604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4F9641-3237-4975-BE60-480E97888A82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4901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745C71-AEB5-4F30-AFDC-084762F3689C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69182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E900FA-58C1-489C-8F98-E671E092FDF6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2112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71A6A1-8A37-42F4-82C0-75DA389DAA10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65176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D7FA41-4274-4B3E-B87E-FA3ECA1555FF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34872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48C892-FC46-48F5-9541-3C7B1C99168E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28989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366574-F11E-40D0-AA14-7729FBB05689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11685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3AA934-DF6E-4141-AD46-2BD6C22D262A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76539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967B47-CA3C-41F3-B028-C64E6B829772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3914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E47076-0DE0-493D-89CD-26E5AAB188C5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14120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D5F09C-2B55-4F98-ABA4-B7B6FA70D280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88535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1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98FBB9-AC1B-41FF-9A51-D822891C9BD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21450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3E9B7E-9726-4931-9190-261B223F21A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24346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9" y="160735"/>
            <a:ext cx="7793037" cy="109656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1513285"/>
            <a:ext cx="3810000" cy="30861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145088" y="1513285"/>
            <a:ext cx="3810000" cy="1485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145088" y="3113485"/>
            <a:ext cx="3810000" cy="1485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104DC2-FAFF-4B41-A228-C2F50DB5357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91931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9" y="160735"/>
            <a:ext cx="7793037" cy="109656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1513285"/>
            <a:ext cx="3810000" cy="30861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145088" y="1513285"/>
            <a:ext cx="3810000" cy="1485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145088" y="3113485"/>
            <a:ext cx="3810000" cy="1485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13864E-780C-4457-8D70-3C0A4678EE5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96413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15A929F0-00CE-40F3-87AC-8416398EE75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58658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/>
          <p:cNvGrpSpPr>
            <a:grpSpLocks/>
          </p:cNvGrpSpPr>
          <p:nvPr userDrawn="1"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" name="五边形 5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24750" y="311150"/>
            <a:ext cx="1162050" cy="273050"/>
          </a:xfrm>
        </p:spPr>
        <p:txBody>
          <a:bodyPr/>
          <a:lstStyle>
            <a:lvl1pPr>
              <a:defRPr sz="1400">
                <a:ea typeface="楷体_GB2312"/>
                <a:cs typeface="楷体_GB2312"/>
              </a:defRPr>
            </a:lvl1pPr>
          </a:lstStyle>
          <a:p>
            <a:pPr>
              <a:defRPr/>
            </a:pPr>
            <a:fld id="{A5831147-BBEB-4E4D-8FFD-8CFECDFA6930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951841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">
            <a:extLst>
              <a:ext uri="{FF2B5EF4-FFF2-40B4-BE49-F238E27FC236}">
                <a16:creationId xmlns:a16="http://schemas.microsoft.com/office/drawing/2014/main" id="{572AD0C4-5F07-F493-8A82-B0210843E5F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11138" y="4016375"/>
            <a:ext cx="8723312" cy="996950"/>
            <a:chOff x="-3905250" y="4294188"/>
            <a:chExt cx="13011150" cy="1892300"/>
          </a:xfrm>
        </p:grpSpPr>
        <p:sp>
          <p:nvSpPr>
            <p:cNvPr id="5" name="Freeform 14">
              <a:extLst>
                <a:ext uri="{FF2B5EF4-FFF2-40B4-BE49-F238E27FC236}">
                  <a16:creationId xmlns:a16="http://schemas.microsoft.com/office/drawing/2014/main" id="{66A22226-204B-4A9E-103D-42C09BC74A7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681" y="4499087"/>
              <a:ext cx="4295219" cy="1018467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  <p:sp>
          <p:nvSpPr>
            <p:cNvPr id="6" name="Freeform 18">
              <a:extLst>
                <a:ext uri="{FF2B5EF4-FFF2-40B4-BE49-F238E27FC236}">
                  <a16:creationId xmlns:a16="http://schemas.microsoft.com/office/drawing/2014/main" id="{9BE9EC6C-0E91-F02C-6234-6F4DE63077B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08538" y="4318294"/>
              <a:ext cx="8280254" cy="1208301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  <p:sp>
          <p:nvSpPr>
            <p:cNvPr id="7" name="Freeform 22">
              <a:extLst>
                <a:ext uri="{FF2B5EF4-FFF2-40B4-BE49-F238E27FC236}">
                  <a16:creationId xmlns:a16="http://schemas.microsoft.com/office/drawing/2014/main" id="{871D0606-4FAF-C630-B1BA-95D4F5872D0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014" y="4336373"/>
              <a:ext cx="8164231" cy="1099825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  <p:sp>
          <p:nvSpPr>
            <p:cNvPr id="8" name="Freeform 26">
              <a:extLst>
                <a:ext uri="{FF2B5EF4-FFF2-40B4-BE49-F238E27FC236}">
                  <a16:creationId xmlns:a16="http://schemas.microsoft.com/office/drawing/2014/main" id="{CFD50832-99E3-77DA-16CF-EEC77551474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7164" y="4315281"/>
              <a:ext cx="4939265" cy="928071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  <p:sp useBgFill="1">
          <p:nvSpPr>
            <p:cNvPr id="9" name="Freeform 10">
              <a:extLst>
                <a:ext uri="{FF2B5EF4-FFF2-40B4-BE49-F238E27FC236}">
                  <a16:creationId xmlns:a16="http://schemas.microsoft.com/office/drawing/2014/main" id="{03F4BA14-14BA-B2C5-0AA2-FFA9C2037A7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0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C768AEB6-37AA-A3C5-7148-E5CD79EE3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B4132BE4-E3EE-6708-B5A7-350BEB493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2A61A7CF-84B5-6632-331D-39B821CAF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3D5A0E-BBF6-4712-8DC5-99252F80414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81793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170746C-A64F-4459-E419-F8F5B2EFA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CE871FE-2E71-908D-E0FF-30B24706F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DF0CBA4-B117-96D9-8047-EC2ACBFC7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82ED08-307A-42BB-93B6-AF4C06147EE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7654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11B758-7C33-F301-BE0B-D05A55728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B9E4C-CB5A-1B3B-9EE4-6F5897AC2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43A74-F352-7FFD-C975-DB8B267C1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fld id="{59BE18A8-2D2E-4815-BA8B-08EB057EA708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82536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5">
            <a:extLst>
              <a:ext uri="{FF2B5EF4-FFF2-40B4-BE49-F238E27FC236}">
                <a16:creationId xmlns:a16="http://schemas.microsoft.com/office/drawing/2014/main" id="{A73C3D86-4390-510D-F6E5-5154B874AE5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4" name="五边形 7">
              <a:extLst>
                <a:ext uri="{FF2B5EF4-FFF2-40B4-BE49-F238E27FC236}">
                  <a16:creationId xmlns:a16="http://schemas.microsoft.com/office/drawing/2014/main" id="{E8056A17-987B-D45F-CF7A-E54F0AB099BE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5" name="五边形 8">
              <a:extLst>
                <a:ext uri="{FF2B5EF4-FFF2-40B4-BE49-F238E27FC236}">
                  <a16:creationId xmlns:a16="http://schemas.microsoft.com/office/drawing/2014/main" id="{F003E23B-7F7F-03A1-AFBB-4001085A80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1FE4F3DE-7A12-A50D-65F6-1A107FE4A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1A2C459-531B-FB4C-491B-18EB13FCE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1F3DD7B-D65A-B3A9-FBE7-BC986212F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67625" y="331788"/>
            <a:ext cx="1162050" cy="273050"/>
          </a:xfrm>
        </p:spPr>
        <p:txBody>
          <a:bodyPr/>
          <a:lstStyle>
            <a:lvl1pPr>
              <a:defRPr>
                <a:ea typeface="楷体_GB2312"/>
                <a:cs typeface="楷体_GB2312"/>
              </a:defRPr>
            </a:lvl1pPr>
          </a:lstStyle>
          <a:p>
            <a:fld id="{ADA7E883-64AF-43C0-8AF8-32F53E616D4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29725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9"/>
          <p:cNvGrpSpPr>
            <a:grpSpLocks noChangeAspect="1"/>
          </p:cNvGrpSpPr>
          <p:nvPr/>
        </p:nvGrpSpPr>
        <p:grpSpPr bwMode="auto">
          <a:xfrm>
            <a:off x="211138" y="4014788"/>
            <a:ext cx="8723312" cy="1000125"/>
            <a:chOff x="-3905250" y="4294188"/>
            <a:chExt cx="13011150" cy="1892300"/>
          </a:xfrm>
        </p:grpSpPr>
        <p:sp>
          <p:nvSpPr>
            <p:cNvPr id="6" name="Freeform 14"/>
            <p:cNvSpPr>
              <a:spLocks/>
            </p:cNvSpPr>
            <p:nvPr/>
          </p:nvSpPr>
          <p:spPr bwMode="hidden">
            <a:xfrm>
              <a:off x="4810681" y="4501439"/>
              <a:ext cx="4295219" cy="1015234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18"/>
            <p:cNvSpPr>
              <a:spLocks/>
            </p:cNvSpPr>
            <p:nvPr/>
          </p:nvSpPr>
          <p:spPr bwMode="hidden">
            <a:xfrm>
              <a:off x="-308538" y="4318217"/>
              <a:ext cx="8280254" cy="1210470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22"/>
            <p:cNvSpPr>
              <a:spLocks/>
            </p:cNvSpPr>
            <p:nvPr/>
          </p:nvSpPr>
          <p:spPr bwMode="hidden">
            <a:xfrm>
              <a:off x="4014" y="4336239"/>
              <a:ext cx="8164231" cy="1102339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26"/>
            <p:cNvSpPr>
              <a:spLocks/>
            </p:cNvSpPr>
            <p:nvPr/>
          </p:nvSpPr>
          <p:spPr bwMode="hidden">
            <a:xfrm>
              <a:off x="4157164" y="4315213"/>
              <a:ext cx="4939265" cy="928129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10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DDF7D0-BF66-4101-9ECB-2D828DE3A81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64080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88275" y="267494"/>
            <a:ext cx="1162050" cy="2730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21F1F6-B610-4C16-B03C-1F2229AE002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9398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178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178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1786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16688" y="206375"/>
            <a:ext cx="213360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3564E34-1CD0-4DF0-9F28-95CC6F217757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8879" r:id="rId1"/>
    <p:sldLayoutId id="2147488880" r:id="rId2"/>
    <p:sldLayoutId id="2147488881" r:id="rId3"/>
    <p:sldLayoutId id="2147488882" r:id="rId4"/>
    <p:sldLayoutId id="2147488883" r:id="rId5"/>
    <p:sldLayoutId id="2147488884" r:id="rId6"/>
    <p:sldLayoutId id="2147488885" r:id="rId7"/>
    <p:sldLayoutId id="2147488886" r:id="rId8"/>
    <p:sldLayoutId id="2147488887" r:id="rId9"/>
    <p:sldLayoutId id="2147488888" r:id="rId10"/>
    <p:sldLayoutId id="214748888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宋体" panose="0201060003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宋体" panose="02010600030101010101" pitchFamily="2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54000"/>
            <a:ext cx="822960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1E0B4CAE-AA50-465B-9C18-B9CC3AE40BB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05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50825" y="1347788"/>
            <a:ext cx="5976938" cy="324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8890" r:id="rId1"/>
    <p:sldLayoutId id="2147488891" r:id="rId2"/>
    <p:sldLayoutId id="2147488892" r:id="rId3"/>
    <p:sldLayoutId id="2147488893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2088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/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F3969EAD-B529-4654-9CA1-A3FE43B462E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10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8896" r:id="rId1"/>
    <p:sldLayoutId id="2147488897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2088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>
            <a:extLst>
              <a:ext uri="{FF2B5EF4-FFF2-40B4-BE49-F238E27FC236}">
                <a16:creationId xmlns:a16="http://schemas.microsoft.com/office/drawing/2014/main" id="{9DB570D3-FD1D-E41D-C3D5-2676BDEBFAA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54000"/>
            <a:ext cx="822960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1C0EC-2C5C-55B8-C939-8797CCA681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1000">
                <a:solidFill>
                  <a:srgbClr val="073E87"/>
                </a:solidFill>
                <a:ea typeface="楷体_GB2312" pitchFamily="49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E1B2B-4EF4-1997-0A3F-4D81EE854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000">
                <a:solidFill>
                  <a:srgbClr val="073E87"/>
                </a:solidFill>
                <a:ea typeface="楷体_GB2312" pitchFamily="49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8C940-5FB9-1FD3-BDC3-90F79F8900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rgbClr val="073E87"/>
                </a:solidFill>
              </a:defRPr>
            </a:lvl1pPr>
          </a:lstStyle>
          <a:p>
            <a:fld id="{FD995F98-8671-4EC1-AAE4-DB0F60FEA769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3078" name="Text Placeholder 2">
            <a:extLst>
              <a:ext uri="{FF2B5EF4-FFF2-40B4-BE49-F238E27FC236}">
                <a16:creationId xmlns:a16="http://schemas.microsoft.com/office/drawing/2014/main" id="{C531821F-CAC6-5A36-F188-496D3402FEF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250825" y="1347788"/>
            <a:ext cx="5976938" cy="324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730989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8899" r:id="rId1"/>
    <p:sldLayoutId id="2147488900" r:id="rId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2088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>
            <a:extLst>
              <a:ext uri="{FF2B5EF4-FFF2-40B4-BE49-F238E27FC236}">
                <a16:creationId xmlns:a16="http://schemas.microsoft.com/office/drawing/2014/main" id="{A7F531B0-DE9C-713C-6A6B-81164870699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E22755-651E-1743-396F-3D62ED23FB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F5032-9DC2-881B-180A-E5237F75A1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21247-6DB9-1795-8480-0A3B818B65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rgbClr val="073E87"/>
                </a:solidFill>
              </a:defRPr>
            </a:lvl1pPr>
          </a:lstStyle>
          <a:p>
            <a:fld id="{AC2E958E-4D5D-4D44-9413-D0F2EE23038E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4102" name="Text Placeholder 2">
            <a:extLst>
              <a:ext uri="{FF2B5EF4-FFF2-40B4-BE49-F238E27FC236}">
                <a16:creationId xmlns:a16="http://schemas.microsoft.com/office/drawing/2014/main" id="{BA43A77F-61BD-80A0-91A4-6D9C209C426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76952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8902" r:id="rId1"/>
    <p:sldLayoutId id="2147488903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2088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171450"/>
            <a:ext cx="8696325" cy="1404938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en-US" altLang="zh-CN">
              <a:solidFill>
                <a:srgbClr val="FFFFFF"/>
              </a:solidFill>
              <a:latin typeface="Candara" panose="020E0502030303020204" pitchFamily="34" charset="0"/>
            </a:endParaRPr>
          </a:p>
        </p:txBody>
      </p:sp>
      <p:grpSp>
        <p:nvGrpSpPr>
          <p:cNvPr id="2051" name="Group 15"/>
          <p:cNvGrpSpPr>
            <a:grpSpLocks noChangeAspect="1"/>
          </p:cNvGrpSpPr>
          <p:nvPr/>
        </p:nvGrpSpPr>
        <p:grpSpPr bwMode="auto">
          <a:xfrm>
            <a:off x="211138" y="1058863"/>
            <a:ext cx="8824912" cy="576262"/>
            <a:chOff x="-3905251" y="4294188"/>
            <a:chExt cx="13027839" cy="1892300"/>
          </a:xfrm>
        </p:grpSpPr>
        <p:sp>
          <p:nvSpPr>
            <p:cNvPr id="2057" name="Freeform 14"/>
            <p:cNvSpPr>
              <a:spLocks/>
            </p:cNvSpPr>
            <p:nvPr/>
          </p:nvSpPr>
          <p:spPr bwMode="hidden">
            <a:xfrm>
              <a:off x="4810441" y="4502706"/>
              <a:ext cx="4295743" cy="1011313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" name="Freeform 18"/>
            <p:cNvSpPr>
              <a:spLocks/>
            </p:cNvSpPr>
            <p:nvPr/>
          </p:nvSpPr>
          <p:spPr bwMode="hidden">
            <a:xfrm>
              <a:off x="-310233" y="4320251"/>
              <a:ext cx="8282134" cy="120940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" name="Freeform 22"/>
            <p:cNvSpPr>
              <a:spLocks/>
            </p:cNvSpPr>
            <p:nvPr/>
          </p:nvSpPr>
          <p:spPr bwMode="hidden">
            <a:xfrm>
              <a:off x="3804" y="4335892"/>
              <a:ext cx="8164957" cy="1099931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0" name="Freeform 26"/>
            <p:cNvSpPr>
              <a:spLocks/>
            </p:cNvSpPr>
            <p:nvPr/>
          </p:nvSpPr>
          <p:spPr bwMode="hidden">
            <a:xfrm>
              <a:off x="4156589" y="4315040"/>
              <a:ext cx="4940221" cy="927905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206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52" name="Title Placeholder 1"/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A444DD4C-B293-4EB5-AB01-DD5CF862DD5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05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860465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8905" r:id="rId1"/>
    <p:sldLayoutId id="2147488906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2088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csdn.net/wp1603710463/article/details/50365495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Relationship Id="rId4" Type="http://schemas.openxmlformats.org/officeDocument/2006/relationships/hyperlink" Target="https://www.runoob.com/regexp/regexp-syntax.html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csdn.net/chaifang0620/article/details/103124090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gnuwin32.sourceforge.net/packages/flex.htm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Relationship Id="rId4" Type="http://schemas.openxmlformats.org/officeDocument/2006/relationships/hyperlink" Target="http://gnuwin32.sourceforge.net/packages/bison.htm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.e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.e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23478"/>
            <a:ext cx="8159824" cy="2592288"/>
          </a:xfrm>
        </p:spPr>
        <p:txBody>
          <a:bodyPr/>
          <a:lstStyle/>
          <a:p>
            <a:r>
              <a:rPr lang="en-US" altLang="zh-CN" sz="2800" dirty="0"/>
              <a:t>[] </a:t>
            </a:r>
            <a:r>
              <a:rPr lang="zh-CN" altLang="en-US" sz="2800" dirty="0"/>
              <a:t>与 </a:t>
            </a:r>
            <a:r>
              <a:rPr lang="en-US" altLang="zh-CN" sz="2800" dirty="0"/>
              <a:t>()</a:t>
            </a:r>
            <a:r>
              <a:rPr lang="zh-CN" altLang="en-US" sz="2800" dirty="0"/>
              <a:t>的区别？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dirty="0"/>
              <a:t>    [A-Z]</a:t>
            </a:r>
            <a:r>
              <a:rPr lang="zh-CN" altLang="en-US" dirty="0"/>
              <a:t>是匹配其中一个字符，</a:t>
            </a:r>
            <a:r>
              <a:rPr lang="en-US" altLang="zh-CN" dirty="0"/>
              <a:t>()</a:t>
            </a:r>
            <a:r>
              <a:rPr lang="zh-CN" altLang="en-US" dirty="0"/>
              <a:t>是表示整个表达式，就是要     </a:t>
            </a:r>
            <a:r>
              <a:rPr lang="en-US" altLang="zh-CN" dirty="0"/>
              <a:t>  </a:t>
            </a:r>
            <a:r>
              <a:rPr lang="zh-CN" altLang="en-US" dirty="0"/>
              <a:t>匹配全部字符。</a:t>
            </a:r>
            <a:endParaRPr lang="en-US" altLang="zh-CN" dirty="0"/>
          </a:p>
          <a:p>
            <a:r>
              <a:rPr lang="en-US" altLang="zh-CN" dirty="0"/>
              <a:t>R1/R2</a:t>
            </a:r>
            <a:r>
              <a:rPr lang="zh-CN" altLang="en-US" dirty="0"/>
              <a:t>（</a:t>
            </a:r>
            <a:r>
              <a:rPr lang="en-US" altLang="zh-CN" dirty="0"/>
              <a:t>R1</a:t>
            </a:r>
            <a:r>
              <a:rPr lang="zh-CN" altLang="en-US" dirty="0"/>
              <a:t>和</a:t>
            </a:r>
            <a:r>
              <a:rPr lang="en-US" altLang="zh-CN" dirty="0"/>
              <a:t>R2</a:t>
            </a:r>
            <a:r>
              <a:rPr lang="zh-CN" altLang="en-US" dirty="0"/>
              <a:t>是正则式）表示超前搜索：若要匹配</a:t>
            </a:r>
            <a:r>
              <a:rPr lang="en-US" altLang="zh-CN" dirty="0"/>
              <a:t>R1</a:t>
            </a:r>
            <a:r>
              <a:rPr lang="zh-CN" altLang="en-US" dirty="0"/>
              <a:t>，则必须先看紧跟其后的超前搜索部分是否与</a:t>
            </a:r>
            <a:r>
              <a:rPr lang="en-US" altLang="zh-CN" dirty="0"/>
              <a:t>R2</a:t>
            </a:r>
            <a:r>
              <a:rPr lang="zh-CN" altLang="en-US" dirty="0"/>
              <a:t>匹配。</a:t>
            </a:r>
            <a:endParaRPr lang="en-US" altLang="zh-CN" dirty="0"/>
          </a:p>
          <a:p>
            <a:r>
              <a:rPr lang="en-US" altLang="zh-CN" dirty="0"/>
              <a:t>[0-9]{1,2}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21F1F6-B610-4C16-B03C-1F2229AE0020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7544" y="4659982"/>
            <a:ext cx="64807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例：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fo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{1,3}d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表示可以匹配？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7C80222-9DCD-F398-27BC-7379F616C6AA}"/>
              </a:ext>
            </a:extLst>
          </p:cNvPr>
          <p:cNvSpPr txBox="1"/>
          <p:nvPr/>
        </p:nvSpPr>
        <p:spPr>
          <a:xfrm>
            <a:off x="2051720" y="2319722"/>
            <a:ext cx="5292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至少指定一位但至多两位数字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CD024A9-444B-F636-DA79-08C00FFEE94B}"/>
              </a:ext>
            </a:extLst>
          </p:cNvPr>
          <p:cNvSpPr txBox="1"/>
          <p:nvPr/>
        </p:nvSpPr>
        <p:spPr>
          <a:xfrm>
            <a:off x="2051720" y="2715766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匹配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1~99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的正整数表达式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5E9E598-9923-4329-0673-E42AACB77976}"/>
              </a:ext>
            </a:extLst>
          </p:cNvPr>
          <p:cNvSpPr txBox="1"/>
          <p:nvPr/>
        </p:nvSpPr>
        <p:spPr>
          <a:xfrm>
            <a:off x="467544" y="3195938"/>
            <a:ext cx="760752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匹配时，冲突解决规则： </a:t>
            </a:r>
            <a:b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</a:b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） 总是选择最长的前缀 </a:t>
            </a:r>
            <a:b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</a:b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） 如果最长的可能前缀与多个模式匹配，总是选择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Lex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中先被列出的模式。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B92261F-8695-535F-6F3D-CD41143637C1}"/>
              </a:ext>
            </a:extLst>
          </p:cNvPr>
          <p:cNvSpPr txBox="1"/>
          <p:nvPr/>
        </p:nvSpPr>
        <p:spPr>
          <a:xfrm>
            <a:off x="432048" y="2715766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[1-9][0-9]?    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3825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8" grpId="0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idx="1"/>
          </p:nvPr>
        </p:nvSpPr>
        <p:spPr>
          <a:xfrm>
            <a:off x="303766" y="671372"/>
            <a:ext cx="4123592" cy="3904825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CN" sz="2800" dirty="0"/>
              <a:t>LEX</a:t>
            </a:r>
            <a:r>
              <a:rPr lang="zh-CN" altLang="en-US" sz="2800" dirty="0"/>
              <a:t>的工作过程</a:t>
            </a:r>
          </a:p>
          <a:p>
            <a:pPr lvl="1" eaLnBrk="1" hangingPunct="1">
              <a:spcBef>
                <a:spcPct val="40000"/>
              </a:spcBef>
            </a:pPr>
            <a:r>
              <a:rPr lang="zh-CN" altLang="en-US" sz="2200" dirty="0"/>
              <a:t>对每条识别规则</a:t>
            </a:r>
            <a:r>
              <a:rPr lang="en-US" altLang="zh-CN" sz="2200" dirty="0"/>
              <a:t>P</a:t>
            </a:r>
            <a:r>
              <a:rPr lang="en-US" altLang="zh-CN" sz="2200" baseline="-25000" dirty="0"/>
              <a:t>i</a:t>
            </a:r>
            <a:r>
              <a:rPr lang="zh-CN" altLang="en-US" sz="2200" dirty="0"/>
              <a:t>构造一个相应的非确定有穷自动机</a:t>
            </a:r>
            <a:r>
              <a:rPr lang="en-US" altLang="zh-CN" sz="2200" dirty="0" err="1"/>
              <a:t>M</a:t>
            </a:r>
            <a:r>
              <a:rPr lang="en-US" altLang="zh-CN" sz="2200" baseline="-25000" dirty="0" err="1"/>
              <a:t>i</a:t>
            </a:r>
            <a:r>
              <a:rPr lang="zh-CN" altLang="en-US" sz="2200" dirty="0"/>
              <a:t>；</a:t>
            </a:r>
          </a:p>
          <a:p>
            <a:pPr lvl="1" eaLnBrk="1" hangingPunct="1">
              <a:spcBef>
                <a:spcPct val="40000"/>
              </a:spcBef>
            </a:pPr>
            <a:r>
              <a:rPr lang="zh-CN" altLang="en-US" sz="2200" dirty="0"/>
              <a:t>引进一个新初态</a:t>
            </a:r>
            <a:r>
              <a:rPr lang="en-US" altLang="zh-CN" sz="2200" dirty="0"/>
              <a:t>X</a:t>
            </a:r>
            <a:r>
              <a:rPr lang="zh-CN" altLang="en-US" sz="2200" dirty="0"/>
              <a:t>，通过</a:t>
            </a:r>
            <a:r>
              <a:rPr lang="zh-CN" altLang="en-US" sz="2200" dirty="0">
                <a:sym typeface="Symbol" panose="05050102010706020507" pitchFamily="18" charset="2"/>
              </a:rPr>
              <a:t></a:t>
            </a:r>
            <a:r>
              <a:rPr lang="zh-CN" altLang="en-US" sz="2200" dirty="0"/>
              <a:t>弧，将这些自动机连接成一个新的</a:t>
            </a:r>
            <a:r>
              <a:rPr lang="en-US" altLang="zh-CN" sz="2200" dirty="0"/>
              <a:t>NFA M</a:t>
            </a:r>
            <a:r>
              <a:rPr lang="zh-CN" altLang="en-US" sz="2200" dirty="0"/>
              <a:t>；</a:t>
            </a:r>
            <a:endParaRPr lang="en-US" altLang="zh-CN" sz="2200" dirty="0"/>
          </a:p>
          <a:p>
            <a:pPr lvl="1">
              <a:spcBef>
                <a:spcPct val="40000"/>
              </a:spcBef>
            </a:pPr>
            <a:r>
              <a:rPr lang="zh-CN" altLang="en-US" sz="2200" dirty="0"/>
              <a:t>把</a:t>
            </a:r>
            <a:r>
              <a:rPr lang="en-US" altLang="zh-CN" sz="2200" dirty="0"/>
              <a:t>M</a:t>
            </a:r>
            <a:r>
              <a:rPr lang="zh-CN" altLang="en-US" sz="2200" dirty="0"/>
              <a:t>确定化、最小化，生成该</a:t>
            </a:r>
            <a:r>
              <a:rPr lang="en-US" altLang="zh-CN" sz="2200" dirty="0"/>
              <a:t>DFA</a:t>
            </a:r>
            <a:r>
              <a:rPr lang="zh-CN" altLang="en-US" sz="2200" dirty="0"/>
              <a:t>的状态转换表和控制执行程序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4932040" y="1497430"/>
            <a:ext cx="783551" cy="1070582"/>
            <a:chOff x="7098401" y="600183"/>
            <a:chExt cx="1392978" cy="1903256"/>
          </a:xfrm>
        </p:grpSpPr>
        <p:sp>
          <p:nvSpPr>
            <p:cNvPr id="20" name="Oval 4"/>
            <p:cNvSpPr>
              <a:spLocks noChangeArrowheads="1"/>
            </p:cNvSpPr>
            <p:nvPr/>
          </p:nvSpPr>
          <p:spPr bwMode="auto">
            <a:xfrm>
              <a:off x="7098401" y="1238632"/>
              <a:ext cx="463117" cy="40628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3429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13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rPr>
                <a:t>X</a:t>
              </a:r>
            </a:p>
          </p:txBody>
        </p:sp>
        <p:sp>
          <p:nvSpPr>
            <p:cNvPr id="21" name="Rectangle 6"/>
            <p:cNvSpPr>
              <a:spLocks noChangeArrowheads="1"/>
            </p:cNvSpPr>
            <p:nvPr/>
          </p:nvSpPr>
          <p:spPr bwMode="auto">
            <a:xfrm>
              <a:off x="7620767" y="1122551"/>
              <a:ext cx="638448" cy="406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3429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26" name="Line 13"/>
            <p:cNvSpPr>
              <a:spLocks noChangeShapeType="1"/>
            </p:cNvSpPr>
            <p:nvPr/>
          </p:nvSpPr>
          <p:spPr bwMode="auto">
            <a:xfrm flipV="1">
              <a:off x="7504686" y="600183"/>
              <a:ext cx="986693" cy="6964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8" name="Line 16"/>
            <p:cNvSpPr>
              <a:spLocks noChangeShapeType="1"/>
            </p:cNvSpPr>
            <p:nvPr/>
          </p:nvSpPr>
          <p:spPr bwMode="auto">
            <a:xfrm>
              <a:off x="7562726" y="1470796"/>
              <a:ext cx="8706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1" name="Line 19"/>
            <p:cNvSpPr>
              <a:spLocks noChangeShapeType="1"/>
            </p:cNvSpPr>
            <p:nvPr/>
          </p:nvSpPr>
          <p:spPr bwMode="auto">
            <a:xfrm>
              <a:off x="7498641" y="1601388"/>
              <a:ext cx="958882" cy="90205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3" name="Rectangle 22"/>
            <p:cNvSpPr>
              <a:spLocks noChangeArrowheads="1"/>
            </p:cNvSpPr>
            <p:nvPr/>
          </p:nvSpPr>
          <p:spPr bwMode="auto">
            <a:xfrm>
              <a:off x="7620767" y="600183"/>
              <a:ext cx="638448" cy="406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3429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13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34" name="Rectangle 23"/>
            <p:cNvSpPr>
              <a:spLocks noChangeArrowheads="1"/>
            </p:cNvSpPr>
            <p:nvPr/>
          </p:nvSpPr>
          <p:spPr bwMode="auto">
            <a:xfrm>
              <a:off x="7420043" y="1787602"/>
              <a:ext cx="638448" cy="406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3429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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5682943" y="1791262"/>
            <a:ext cx="1958196" cy="326480"/>
            <a:chOff x="8433339" y="1122551"/>
            <a:chExt cx="3481237" cy="580408"/>
          </a:xfrm>
        </p:grpSpPr>
        <p:sp>
          <p:nvSpPr>
            <p:cNvPr id="22" name="Oval 7"/>
            <p:cNvSpPr>
              <a:spLocks noChangeArrowheads="1"/>
            </p:cNvSpPr>
            <p:nvPr/>
          </p:nvSpPr>
          <p:spPr bwMode="auto">
            <a:xfrm>
              <a:off x="8433339" y="1238632"/>
              <a:ext cx="463117" cy="40628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3429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1" lang="en-GB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Oval 12"/>
            <p:cNvSpPr>
              <a:spLocks noChangeArrowheads="1"/>
            </p:cNvSpPr>
            <p:nvPr/>
          </p:nvSpPr>
          <p:spPr bwMode="auto">
            <a:xfrm>
              <a:off x="11451459" y="1238632"/>
              <a:ext cx="463117" cy="406286"/>
            </a:xfrm>
            <a:prstGeom prst="ellipse">
              <a:avLst/>
            </a:prstGeom>
            <a:noFill/>
            <a:ln w="57150" cmpd="dbl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3429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13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rPr>
                <a:t>P</a:t>
              </a:r>
              <a:r>
                <a:rPr kumimoji="1" lang="en-US" altLang="zh-CN" sz="135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rPr>
                <a:t>2</a:t>
              </a:r>
              <a:endParaRPr kumimoji="1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Line 17"/>
            <p:cNvSpPr>
              <a:spLocks noChangeShapeType="1"/>
            </p:cNvSpPr>
            <p:nvPr/>
          </p:nvSpPr>
          <p:spPr bwMode="auto">
            <a:xfrm>
              <a:off x="8897664" y="1470796"/>
              <a:ext cx="81257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0" name="Line 18"/>
            <p:cNvSpPr>
              <a:spLocks noChangeShapeType="1"/>
            </p:cNvSpPr>
            <p:nvPr/>
          </p:nvSpPr>
          <p:spPr bwMode="auto">
            <a:xfrm>
              <a:off x="10522806" y="1470796"/>
              <a:ext cx="9286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8" name="Rectangle 29"/>
            <p:cNvSpPr>
              <a:spLocks noChangeArrowheads="1"/>
            </p:cNvSpPr>
            <p:nvPr/>
          </p:nvSpPr>
          <p:spPr bwMode="auto">
            <a:xfrm>
              <a:off x="9710235" y="1122551"/>
              <a:ext cx="812571" cy="58040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0625" tIns="26325" rIns="50625" bIns="26325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3429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1" lang="en-US" altLang="zh-CN" sz="1350" b="0" i="0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rPr>
                <a:t>2</a:t>
              </a:r>
              <a:endParaRPr kumimoji="1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5682943" y="1203598"/>
            <a:ext cx="1958196" cy="326480"/>
            <a:chOff x="8433339" y="77816"/>
            <a:chExt cx="3481237" cy="580408"/>
          </a:xfrm>
        </p:grpSpPr>
        <p:sp>
          <p:nvSpPr>
            <p:cNvPr id="24" name="Oval 10"/>
            <p:cNvSpPr>
              <a:spLocks noChangeArrowheads="1"/>
            </p:cNvSpPr>
            <p:nvPr/>
          </p:nvSpPr>
          <p:spPr bwMode="auto">
            <a:xfrm>
              <a:off x="8433339" y="251938"/>
              <a:ext cx="463117" cy="40628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3429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1" lang="en-GB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Line 14"/>
            <p:cNvSpPr>
              <a:spLocks noChangeShapeType="1"/>
            </p:cNvSpPr>
            <p:nvPr/>
          </p:nvSpPr>
          <p:spPr bwMode="auto">
            <a:xfrm>
              <a:off x="8897664" y="426061"/>
              <a:ext cx="81257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6" name="Rectangle 27"/>
            <p:cNvSpPr>
              <a:spLocks noChangeArrowheads="1"/>
            </p:cNvSpPr>
            <p:nvPr/>
          </p:nvSpPr>
          <p:spPr bwMode="auto">
            <a:xfrm>
              <a:off x="9710235" y="77816"/>
              <a:ext cx="812571" cy="58040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0625" tIns="26325" rIns="50625" bIns="26325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3429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1" lang="en-US" altLang="zh-CN" sz="1350" b="0" i="0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" name="Oval 32"/>
            <p:cNvSpPr>
              <a:spLocks noChangeArrowheads="1"/>
            </p:cNvSpPr>
            <p:nvPr/>
          </p:nvSpPr>
          <p:spPr bwMode="auto">
            <a:xfrm>
              <a:off x="11451459" y="193898"/>
              <a:ext cx="463117" cy="406286"/>
            </a:xfrm>
            <a:prstGeom prst="ellipse">
              <a:avLst/>
            </a:prstGeom>
            <a:noFill/>
            <a:ln w="57150" cmpd="dbl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3429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rPr>
                <a:t>P</a:t>
              </a:r>
              <a:r>
                <a:rPr kumimoji="1" lang="en-US" altLang="zh-CN" sz="1350" b="0" i="0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" name="Line 33"/>
            <p:cNvSpPr>
              <a:spLocks noChangeShapeType="1"/>
            </p:cNvSpPr>
            <p:nvPr/>
          </p:nvSpPr>
          <p:spPr bwMode="auto">
            <a:xfrm>
              <a:off x="10522806" y="426061"/>
              <a:ext cx="9286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5682943" y="2476869"/>
            <a:ext cx="1972479" cy="326480"/>
            <a:chOff x="8433339" y="2341408"/>
            <a:chExt cx="3506629" cy="580408"/>
          </a:xfrm>
        </p:grpSpPr>
        <p:sp>
          <p:nvSpPr>
            <p:cNvPr id="23" name="Oval 9"/>
            <p:cNvSpPr>
              <a:spLocks noChangeArrowheads="1"/>
            </p:cNvSpPr>
            <p:nvPr/>
          </p:nvSpPr>
          <p:spPr bwMode="auto">
            <a:xfrm>
              <a:off x="8433339" y="2399449"/>
              <a:ext cx="463117" cy="40628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3429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1" lang="en-GB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" name="Line 20"/>
            <p:cNvSpPr>
              <a:spLocks noChangeShapeType="1"/>
            </p:cNvSpPr>
            <p:nvPr/>
          </p:nvSpPr>
          <p:spPr bwMode="auto">
            <a:xfrm>
              <a:off x="8897664" y="2631612"/>
              <a:ext cx="8174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7" name="Rectangle 28"/>
            <p:cNvSpPr>
              <a:spLocks noChangeArrowheads="1"/>
            </p:cNvSpPr>
            <p:nvPr/>
          </p:nvSpPr>
          <p:spPr bwMode="auto">
            <a:xfrm>
              <a:off x="9710235" y="2341408"/>
              <a:ext cx="812571" cy="58040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0625" tIns="26325" rIns="50625" bIns="26325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3429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1" lang="en-US" altLang="zh-CN" sz="1350" b="0" i="0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rPr>
                <a:t>m</a:t>
              </a:r>
              <a:endParaRPr kumimoji="1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" name="Oval 34"/>
            <p:cNvSpPr>
              <a:spLocks noChangeArrowheads="1"/>
            </p:cNvSpPr>
            <p:nvPr/>
          </p:nvSpPr>
          <p:spPr bwMode="auto">
            <a:xfrm>
              <a:off x="11476851" y="2399449"/>
              <a:ext cx="463117" cy="406286"/>
            </a:xfrm>
            <a:prstGeom prst="ellipse">
              <a:avLst/>
            </a:prstGeom>
            <a:noFill/>
            <a:ln w="57150" cmpd="dbl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3429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13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rPr>
                <a:t>P</a:t>
              </a:r>
              <a:r>
                <a:rPr kumimoji="1" lang="en-US" altLang="zh-CN" sz="135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rPr>
                <a:t>m</a:t>
              </a:r>
              <a:endParaRPr kumimoji="1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" name="Line 35"/>
            <p:cNvSpPr>
              <a:spLocks noChangeShapeType="1"/>
            </p:cNvSpPr>
            <p:nvPr/>
          </p:nvSpPr>
          <p:spPr bwMode="auto">
            <a:xfrm>
              <a:off x="10548199" y="2631612"/>
              <a:ext cx="9286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5617647" y="2150390"/>
            <a:ext cx="2056820" cy="261184"/>
            <a:chOff x="8317256" y="1761000"/>
            <a:chExt cx="3656569" cy="464326"/>
          </a:xfrm>
        </p:grpSpPr>
        <p:sp>
          <p:nvSpPr>
            <p:cNvPr id="35" name="Rectangle 24"/>
            <p:cNvSpPr>
              <a:spLocks noChangeArrowheads="1"/>
            </p:cNvSpPr>
            <p:nvPr/>
          </p:nvSpPr>
          <p:spPr bwMode="auto">
            <a:xfrm>
              <a:off x="8317256" y="1819040"/>
              <a:ext cx="638448" cy="406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3429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13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</a:t>
              </a:r>
            </a:p>
          </p:txBody>
        </p:sp>
        <p:sp>
          <p:nvSpPr>
            <p:cNvPr id="43" name="Rectangle 36"/>
            <p:cNvSpPr>
              <a:spLocks noChangeArrowheads="1"/>
            </p:cNvSpPr>
            <p:nvPr/>
          </p:nvSpPr>
          <p:spPr bwMode="auto">
            <a:xfrm>
              <a:off x="11335377" y="1761000"/>
              <a:ext cx="638448" cy="406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3429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13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</a:t>
              </a:r>
            </a:p>
          </p:txBody>
        </p:sp>
        <p:sp>
          <p:nvSpPr>
            <p:cNvPr id="44" name="Rectangle 37"/>
            <p:cNvSpPr>
              <a:spLocks noChangeArrowheads="1"/>
            </p:cNvSpPr>
            <p:nvPr/>
          </p:nvSpPr>
          <p:spPr bwMode="auto">
            <a:xfrm>
              <a:off x="9884357" y="1819040"/>
              <a:ext cx="638448" cy="406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3429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13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</a:t>
              </a: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6659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68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68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68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2" grpId="0" build="p" bldLvl="2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195486"/>
            <a:ext cx="8748464" cy="4564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600" dirty="0"/>
              <a:t>由</a:t>
            </a:r>
            <a:r>
              <a:rPr lang="en-US" altLang="zh-CN" sz="2600" dirty="0" err="1"/>
              <a:t>lex</a:t>
            </a:r>
            <a:r>
              <a:rPr lang="zh-CN" altLang="en-US" sz="2600" dirty="0"/>
              <a:t>创建的词法分析器按如下方式工作：</a:t>
            </a:r>
            <a:endParaRPr lang="en-US" altLang="zh-CN" sz="2600" dirty="0"/>
          </a:p>
          <a:p>
            <a:pPr>
              <a:lnSpc>
                <a:spcPct val="160000"/>
              </a:lnSpc>
            </a:pPr>
            <a:r>
              <a:rPr lang="zh-CN" altLang="en-US" dirty="0"/>
              <a:t>词法分析器自左至右读入字符串，直至发现一个最长的与某个</a:t>
            </a:r>
            <a:r>
              <a:rPr lang="zh-CN" altLang="en-US" dirty="0">
                <a:solidFill>
                  <a:srgbClr val="FF0000"/>
                </a:solidFill>
              </a:rPr>
              <a:t>模式</a:t>
            </a:r>
            <a:r>
              <a:rPr lang="en-US" altLang="zh-CN" dirty="0">
                <a:solidFill>
                  <a:srgbClr val="FF0000"/>
                </a:solidFill>
              </a:rPr>
              <a:t>P</a:t>
            </a:r>
            <a:r>
              <a:rPr lang="en-US" altLang="zh-CN" baseline="-25000" dirty="0">
                <a:solidFill>
                  <a:srgbClr val="FF0000"/>
                </a:solidFill>
              </a:rPr>
              <a:t>i</a:t>
            </a:r>
            <a:r>
              <a:rPr lang="zh-CN" altLang="en-US" dirty="0">
                <a:solidFill>
                  <a:srgbClr val="FF0000"/>
                </a:solidFill>
              </a:rPr>
              <a:t>匹配的前缀，则执行相关的动作</a:t>
            </a: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en-US" altLang="zh-CN" baseline="-25000" dirty="0">
                <a:solidFill>
                  <a:srgbClr val="FF0000"/>
                </a:solidFill>
              </a:rPr>
              <a:t>i</a:t>
            </a:r>
            <a:r>
              <a:rPr lang="zh-CN" altLang="en-US" dirty="0"/>
              <a:t>，通常</a:t>
            </a:r>
            <a:r>
              <a:rPr lang="en-US" altLang="zh-CN" dirty="0"/>
              <a:t>A</a:t>
            </a:r>
            <a:r>
              <a:rPr lang="en-US" altLang="zh-CN" baseline="-25000" dirty="0"/>
              <a:t>i</a:t>
            </a:r>
            <a:r>
              <a:rPr lang="zh-CN" altLang="en-US" dirty="0"/>
              <a:t>会将控制返回给语法分析器（除空白或注释外）。同时，词法分析器返回一个值，即种别码，但在需要时可以利用</a:t>
            </a:r>
            <a:r>
              <a:rPr lang="zh-CN" altLang="en-US" dirty="0">
                <a:solidFill>
                  <a:srgbClr val="FF0000"/>
                </a:solidFill>
              </a:rPr>
              <a:t>整型</a:t>
            </a:r>
            <a:r>
              <a:rPr lang="en-US" altLang="zh-CN" dirty="0" err="1">
                <a:solidFill>
                  <a:srgbClr val="FF0000"/>
                </a:solidFill>
              </a:rPr>
              <a:t>yylval</a:t>
            </a:r>
            <a:r>
              <a:rPr lang="zh-CN" altLang="en-US" dirty="0"/>
              <a:t>传递这个</a:t>
            </a:r>
            <a:r>
              <a:rPr lang="zh-CN" altLang="en-US" dirty="0">
                <a:solidFill>
                  <a:srgbClr val="FF0000"/>
                </a:solidFill>
              </a:rPr>
              <a:t>词素</a:t>
            </a:r>
            <a:r>
              <a:rPr lang="zh-CN" altLang="en-US" dirty="0"/>
              <a:t>的附加信息。</a:t>
            </a:r>
            <a:endParaRPr lang="en-US" altLang="zh-CN" dirty="0"/>
          </a:p>
          <a:p>
            <a:pPr>
              <a:lnSpc>
                <a:spcPct val="160000"/>
              </a:lnSpc>
            </a:pPr>
            <a:r>
              <a:rPr lang="zh-CN" altLang="en-US" dirty="0">
                <a:solidFill>
                  <a:srgbClr val="0000FF"/>
                </a:solidFill>
              </a:rPr>
              <a:t>蓝书</a:t>
            </a:r>
            <a:r>
              <a:rPr lang="en-US" altLang="zh-CN" dirty="0">
                <a:solidFill>
                  <a:srgbClr val="0000FF"/>
                </a:solidFill>
              </a:rPr>
              <a:t>P87-88 </a:t>
            </a:r>
            <a:r>
              <a:rPr lang="zh-CN" altLang="en-US" dirty="0">
                <a:solidFill>
                  <a:srgbClr val="0000FF"/>
                </a:solidFill>
              </a:rPr>
              <a:t>例</a:t>
            </a:r>
            <a:r>
              <a:rPr lang="en-US" altLang="zh-CN" dirty="0">
                <a:solidFill>
                  <a:srgbClr val="0000FF"/>
                </a:solidFill>
              </a:rPr>
              <a:t>3.11</a:t>
            </a:r>
            <a:r>
              <a:rPr lang="zh-CN" altLang="en-US" dirty="0">
                <a:solidFill>
                  <a:srgbClr val="0000FF"/>
                </a:solidFill>
              </a:rPr>
              <a:t>的图</a:t>
            </a:r>
            <a:r>
              <a:rPr lang="en-US" altLang="zh-CN" dirty="0">
                <a:solidFill>
                  <a:srgbClr val="0000FF"/>
                </a:solidFill>
              </a:rPr>
              <a:t>3-20</a:t>
            </a:r>
            <a:r>
              <a:rPr lang="en-US" altLang="zh-CN" dirty="0"/>
              <a:t>/ </a:t>
            </a:r>
            <a:r>
              <a:rPr lang="zh-CN" altLang="en-US" dirty="0"/>
              <a:t>电子书</a:t>
            </a:r>
            <a:r>
              <a:rPr lang="en-US" altLang="zh-CN" dirty="0"/>
              <a:t>P89-91</a:t>
            </a:r>
            <a:r>
              <a:rPr lang="zh-CN" altLang="en-US" dirty="0"/>
              <a:t>例</a:t>
            </a:r>
            <a:r>
              <a:rPr lang="en-US" altLang="zh-CN" dirty="0"/>
              <a:t>3.11</a:t>
            </a:r>
            <a:r>
              <a:rPr lang="zh-CN" altLang="en-US" dirty="0"/>
              <a:t>的图</a:t>
            </a:r>
            <a:r>
              <a:rPr lang="en-US" altLang="zh-CN" dirty="0"/>
              <a:t>3-23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4573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Lex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源程序的写法</a:t>
            </a:r>
          </a:p>
        </p:txBody>
      </p:sp>
      <p:grpSp>
        <p:nvGrpSpPr>
          <p:cNvPr id="92173" name="组合 5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6" name="五边形 5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15" name="五边形 5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6" name="内容占位符 15"/>
          <p:cNvSpPr>
            <a:spLocks noGrp="1"/>
          </p:cNvSpPr>
          <p:nvPr>
            <p:ph idx="1"/>
          </p:nvPr>
        </p:nvSpPr>
        <p:spPr>
          <a:xfrm>
            <a:off x="323528" y="987574"/>
            <a:ext cx="8226623" cy="3312368"/>
          </a:xfrm>
        </p:spPr>
        <p:txBody>
          <a:bodyPr/>
          <a:lstStyle/>
          <a:p>
            <a:r>
              <a:rPr lang="zh-CN" altLang="en-US" dirty="0"/>
              <a:t>关于</a:t>
            </a:r>
            <a:r>
              <a:rPr lang="en-US" altLang="zh-CN" dirty="0" err="1"/>
              <a:t>lex</a:t>
            </a:r>
            <a:r>
              <a:rPr lang="zh-CN" altLang="en-US" dirty="0"/>
              <a:t>更进一步的知识及例子：</a:t>
            </a:r>
            <a:r>
              <a:rPr lang="en-US" altLang="zh-CN" dirty="0">
                <a:hlinkClick r:id="rId3"/>
              </a:rPr>
              <a:t>https://blog.csdn.net/wp1603710463/article/details/50365495</a:t>
            </a:r>
            <a:endParaRPr lang="en-US" altLang="zh-CN" dirty="0"/>
          </a:p>
          <a:p>
            <a:r>
              <a:rPr lang="zh-CN" altLang="en-US" dirty="0"/>
              <a:t>关于正则式的书写：</a:t>
            </a:r>
            <a:r>
              <a:rPr lang="en-US" altLang="zh-CN" dirty="0"/>
              <a:t> </a:t>
            </a:r>
            <a:r>
              <a:rPr lang="en-US" altLang="zh-CN" dirty="0">
                <a:hlinkClick r:id="rId4"/>
              </a:rPr>
              <a:t>https://www.runoob.com/regexp/regexp-syntax.html</a:t>
            </a:r>
            <a:endParaRPr lang="en-US" altLang="zh-CN" dirty="0"/>
          </a:p>
          <a:p>
            <a:endParaRPr lang="zh-CN" altLang="en-US" dirty="0"/>
          </a:p>
          <a:p>
            <a:endParaRPr lang="zh-CN" altLang="en-US" dirty="0">
              <a:effectLst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21F1F6-B610-4C16-B03C-1F2229AE0020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0648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11560" y="987574"/>
            <a:ext cx="8064896" cy="3225800"/>
          </a:xfrm>
        </p:spPr>
        <p:txBody>
          <a:bodyPr/>
          <a:lstStyle/>
          <a:p>
            <a:pPr latinLnBrk="1">
              <a:buFont typeface="Wingdings" panose="05000000000000000000" pitchFamily="2" charset="2"/>
              <a:buChar char="Ø"/>
            </a:pPr>
            <a:r>
              <a:rPr lang="en-US" altLang="zh-CN" b="1" dirty="0"/>
              <a:t>【</a:t>
            </a:r>
            <a:r>
              <a:rPr lang="zh-CN" altLang="en-US" b="1" dirty="0"/>
              <a:t>编译原理</a:t>
            </a:r>
            <a:r>
              <a:rPr lang="en-US" altLang="zh-CN" b="1" dirty="0"/>
              <a:t>】</a:t>
            </a:r>
            <a:r>
              <a:rPr lang="zh-CN" altLang="en-US" b="1" dirty="0"/>
              <a:t>下载安装</a:t>
            </a:r>
            <a:r>
              <a:rPr lang="en-US" altLang="zh-CN" b="1" dirty="0"/>
              <a:t>flex</a:t>
            </a:r>
            <a:r>
              <a:rPr lang="zh-CN" altLang="en-US" b="1" dirty="0"/>
              <a:t>，实现词法分析器</a:t>
            </a:r>
            <a:endParaRPr lang="en-US" altLang="zh-CN" b="1" dirty="0"/>
          </a:p>
          <a:p>
            <a:pPr latinLnBrk="1"/>
            <a:endParaRPr lang="en-US" altLang="zh-CN" b="1" dirty="0"/>
          </a:p>
          <a:p>
            <a:pPr latinLnBrk="1"/>
            <a:endParaRPr lang="en-US" altLang="zh-CN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dirty="0"/>
              <a:t>用</a:t>
            </a:r>
            <a:r>
              <a:rPr lang="en-US" altLang="zh-CN" dirty="0" err="1"/>
              <a:t>gcc</a:t>
            </a:r>
            <a:r>
              <a:rPr lang="zh-CN" altLang="en-US" dirty="0"/>
              <a:t>编译器编译</a:t>
            </a:r>
            <a:r>
              <a:rPr lang="en-US" altLang="zh-CN" dirty="0" err="1"/>
              <a:t>lex</a:t>
            </a:r>
            <a:r>
              <a:rPr lang="zh-CN" altLang="en-US" dirty="0"/>
              <a:t>编译器生成的</a:t>
            </a:r>
            <a:r>
              <a:rPr lang="en-US" altLang="zh-CN" dirty="0"/>
              <a:t>c</a:t>
            </a:r>
            <a:r>
              <a:rPr lang="zh-CN" altLang="en-US" dirty="0"/>
              <a:t>源程序</a:t>
            </a:r>
            <a:endParaRPr lang="en-US" altLang="zh-CN" dirty="0"/>
          </a:p>
          <a:p>
            <a:pPr marL="0" indent="0">
              <a:buNone/>
            </a:pPr>
            <a:r>
              <a:rPr lang="pt-BR" altLang="zh-CN" dirty="0"/>
              <a:t>    gcc [-o outfile] lex.yy.c </a:t>
            </a:r>
            <a:r>
              <a:rPr lang="en-US" altLang="zh-CN" dirty="0"/>
              <a:t>-</a:t>
            </a:r>
            <a:r>
              <a:rPr lang="en-US" altLang="zh-CN" dirty="0" err="1"/>
              <a:t>lfl</a:t>
            </a:r>
            <a:endParaRPr lang="pt-BR" altLang="zh-CN" dirty="0"/>
          </a:p>
          <a:p>
            <a:pPr marL="0" indent="0">
              <a:buNone/>
            </a:pPr>
            <a:r>
              <a:rPr lang="pt-BR" altLang="zh-CN" dirty="0"/>
              <a:t>    </a:t>
            </a:r>
            <a:r>
              <a:rPr lang="zh-CN" altLang="en-US" dirty="0"/>
              <a:t>其中，</a:t>
            </a:r>
            <a:r>
              <a:rPr lang="en-US" altLang="zh-CN" dirty="0"/>
              <a:t>-</a:t>
            </a:r>
            <a:r>
              <a:rPr lang="en-US" altLang="zh-CN" dirty="0" err="1"/>
              <a:t>lfl</a:t>
            </a:r>
            <a:r>
              <a:rPr lang="zh-CN" altLang="en-US" dirty="0"/>
              <a:t>是链接</a:t>
            </a:r>
            <a:r>
              <a:rPr lang="en-US" altLang="zh-CN" dirty="0"/>
              <a:t>flex</a:t>
            </a:r>
            <a:r>
              <a:rPr lang="zh-CN" altLang="en-US" dirty="0"/>
              <a:t>的库函数的。</a:t>
            </a:r>
            <a:r>
              <a:rPr lang="en-US" altLang="zh-CN" dirty="0"/>
              <a:t>-o </a:t>
            </a:r>
            <a:r>
              <a:rPr lang="en-US" altLang="zh-CN" dirty="0" err="1"/>
              <a:t>outfile</a:t>
            </a:r>
            <a:r>
              <a:rPr lang="zh-CN" altLang="en-US" dirty="0"/>
              <a:t>是可选编译选项，默认生成</a:t>
            </a:r>
            <a:r>
              <a:rPr lang="en-US" altLang="zh-CN" dirty="0"/>
              <a:t>a.exe.</a:t>
            </a:r>
          </a:p>
          <a:p>
            <a:pPr marL="0" indent="0">
              <a:buNone/>
            </a:pPr>
            <a:r>
              <a:rPr lang="zh-CN" altLang="en-US" dirty="0"/>
              <a:t>前提：安装好</a:t>
            </a:r>
            <a:r>
              <a:rPr lang="en-US" altLang="zh-CN" dirty="0" err="1"/>
              <a:t>gcc</a:t>
            </a:r>
            <a:r>
              <a:rPr lang="en-US" altLang="zh-CN" dirty="0"/>
              <a:t>, https://www.cnblogs.com/raina/p/10656106.html</a:t>
            </a:r>
          </a:p>
          <a:p>
            <a:pPr marL="0" indent="0" latinLnBrk="1">
              <a:buNone/>
            </a:pPr>
            <a:endParaRPr lang="zh-CN" altLang="en-US" b="1" dirty="0"/>
          </a:p>
        </p:txBody>
      </p:sp>
      <p:sp>
        <p:nvSpPr>
          <p:cNvPr id="5" name="矩形 4"/>
          <p:cNvSpPr/>
          <p:nvPr/>
        </p:nvSpPr>
        <p:spPr>
          <a:xfrm>
            <a:off x="1043608" y="1563638"/>
            <a:ext cx="77768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hlinkClick r:id="rId3"/>
              </a:rPr>
              <a:t>https://blog.csdn.net/chaifang0620/article/details/103124090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267494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3.10 Lex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词法分析器自动生成工具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23528" y="626269"/>
            <a:ext cx="18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方法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1559220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194015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3.10 Lex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词法分析器自动生成工具</a:t>
            </a:r>
          </a:p>
        </p:txBody>
      </p:sp>
      <p:grpSp>
        <p:nvGrpSpPr>
          <p:cNvPr id="92173" name="组合 5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6" name="五边形 5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15" name="五边形 5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6" name="内容占位符 15"/>
          <p:cNvSpPr>
            <a:spLocks noGrp="1"/>
          </p:cNvSpPr>
          <p:nvPr>
            <p:ph idx="1"/>
          </p:nvPr>
        </p:nvSpPr>
        <p:spPr>
          <a:xfrm>
            <a:off x="382997" y="1428453"/>
            <a:ext cx="8676456" cy="3225800"/>
          </a:xfrm>
        </p:spPr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、首先先下载</a:t>
            </a:r>
            <a:r>
              <a:rPr lang="en-US" altLang="zh-CN" dirty="0"/>
              <a:t>flex/bison for windows</a:t>
            </a:r>
          </a:p>
          <a:p>
            <a:pPr marL="0" indent="0">
              <a:buNone/>
            </a:pPr>
            <a:r>
              <a:rPr lang="en-US" altLang="zh-CN" dirty="0"/>
              <a:t>	flex</a:t>
            </a:r>
            <a:r>
              <a:rPr lang="zh-CN" altLang="en-US" dirty="0"/>
              <a:t>：</a:t>
            </a:r>
            <a:r>
              <a:rPr lang="en-US" altLang="zh-CN" dirty="0">
                <a:hlinkClick r:id="rId3"/>
              </a:rPr>
              <a:t>http://gnuwin32.sourceforge.net/packages/flex.htm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bison</a:t>
            </a:r>
            <a:r>
              <a:rPr lang="zh-CN" altLang="en-US" dirty="0"/>
              <a:t>：</a:t>
            </a:r>
            <a:r>
              <a:rPr lang="en-US" altLang="zh-CN" dirty="0">
                <a:hlinkClick r:id="rId4"/>
              </a:rPr>
              <a:t>http://gnuwin32.sourceforge.net/packages/bison.htm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选择</a:t>
            </a:r>
            <a:r>
              <a:rPr lang="en-US" altLang="zh-CN" dirty="0"/>
              <a:t>complete package setup</a:t>
            </a:r>
            <a:r>
              <a:rPr lang="zh-CN" altLang="en-US" dirty="0"/>
              <a:t>版本。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、安装后为</a:t>
            </a:r>
            <a:r>
              <a:rPr lang="en-US" altLang="zh-CN" dirty="0"/>
              <a:t>bin</a:t>
            </a:r>
            <a:r>
              <a:rPr lang="zh-CN" altLang="en-US" dirty="0"/>
              <a:t>目录配置环境变量。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、在命令行中输入</a:t>
            </a:r>
            <a:r>
              <a:rPr lang="en-US" altLang="zh-CN" dirty="0"/>
              <a:t>flex --version</a:t>
            </a:r>
          </a:p>
          <a:p>
            <a:pPr marL="0" indent="0">
              <a:buNone/>
            </a:pPr>
            <a:r>
              <a:rPr lang="zh-CN" altLang="en-US" dirty="0"/>
              <a:t>    可得到版本号：</a:t>
            </a:r>
            <a:r>
              <a:rPr lang="en-US" altLang="zh-CN" dirty="0"/>
              <a:t>flex version 2.5.4</a:t>
            </a:r>
          </a:p>
          <a:p>
            <a:pPr marL="0" indent="0">
              <a:buNone/>
            </a:pPr>
            <a:r>
              <a:rPr lang="zh-CN" altLang="en-US" dirty="0"/>
              <a:t>   </a:t>
            </a:r>
            <a:r>
              <a:rPr lang="en-US" altLang="zh-CN" dirty="0"/>
              <a:t>	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21F1F6-B610-4C16-B03C-1F2229AE0020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62206" y="819831"/>
            <a:ext cx="18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方法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669178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3.10 Lex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词法分析器自动生成工具</a:t>
            </a:r>
          </a:p>
        </p:txBody>
      </p:sp>
      <p:grpSp>
        <p:nvGrpSpPr>
          <p:cNvPr id="92173" name="组合 54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6" name="五边形 5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15" name="五边形 5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6" name="内容占位符 15"/>
          <p:cNvSpPr>
            <a:spLocks noGrp="1"/>
          </p:cNvSpPr>
          <p:nvPr>
            <p:ph idx="1"/>
          </p:nvPr>
        </p:nvSpPr>
        <p:spPr>
          <a:xfrm>
            <a:off x="382997" y="915566"/>
            <a:ext cx="8676456" cy="3225800"/>
          </a:xfrm>
        </p:spPr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、编译源程序：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flex </a:t>
            </a:r>
            <a:r>
              <a:rPr lang="en-US" altLang="zh-CN" dirty="0" err="1"/>
              <a:t>filename.l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</a:t>
            </a:r>
            <a:r>
              <a:rPr lang="en-US" altLang="zh-CN" dirty="0"/>
              <a:t>5</a:t>
            </a:r>
            <a:r>
              <a:rPr lang="zh-CN" altLang="en-US" dirty="0"/>
              <a:t>、用</a:t>
            </a:r>
            <a:r>
              <a:rPr lang="en-US" altLang="zh-CN" dirty="0" err="1"/>
              <a:t>gcc</a:t>
            </a:r>
            <a:r>
              <a:rPr lang="zh-CN" altLang="en-US" dirty="0"/>
              <a:t>编译器编译</a:t>
            </a:r>
            <a:r>
              <a:rPr lang="en-US" altLang="zh-CN" dirty="0" err="1"/>
              <a:t>lex</a:t>
            </a:r>
            <a:r>
              <a:rPr lang="zh-CN" altLang="en-US" dirty="0"/>
              <a:t>编译器生成的</a:t>
            </a:r>
            <a:r>
              <a:rPr lang="en-US" altLang="zh-CN" dirty="0"/>
              <a:t>c</a:t>
            </a:r>
            <a:r>
              <a:rPr lang="zh-CN" altLang="en-US" dirty="0"/>
              <a:t>源程序</a:t>
            </a:r>
            <a:endParaRPr lang="en-US" altLang="zh-CN" dirty="0"/>
          </a:p>
          <a:p>
            <a:pPr marL="0" indent="0">
              <a:buNone/>
            </a:pPr>
            <a:r>
              <a:rPr lang="pt-BR" altLang="zh-CN" dirty="0"/>
              <a:t>    gcc [-o outfile] lex.yy.c –lfl</a:t>
            </a:r>
          </a:p>
          <a:p>
            <a:pPr marL="0" indent="0">
              <a:buNone/>
            </a:pPr>
            <a:r>
              <a:rPr lang="pt-BR" altLang="zh-CN" dirty="0"/>
              <a:t>    </a:t>
            </a:r>
            <a:r>
              <a:rPr lang="zh-CN" altLang="en-US" dirty="0"/>
              <a:t>其中，</a:t>
            </a:r>
            <a:r>
              <a:rPr lang="en-US" altLang="zh-CN" dirty="0"/>
              <a:t>-</a:t>
            </a:r>
            <a:r>
              <a:rPr lang="en-US" altLang="zh-CN" dirty="0" err="1"/>
              <a:t>lfl</a:t>
            </a:r>
            <a:r>
              <a:rPr lang="zh-CN" altLang="en-US" dirty="0"/>
              <a:t>是链接</a:t>
            </a:r>
            <a:r>
              <a:rPr lang="en-US" altLang="zh-CN" dirty="0"/>
              <a:t>flex</a:t>
            </a:r>
            <a:r>
              <a:rPr lang="zh-CN" altLang="en-US" dirty="0"/>
              <a:t>的库函数的。</a:t>
            </a:r>
            <a:r>
              <a:rPr lang="en-US" altLang="zh-CN" dirty="0"/>
              <a:t>-o </a:t>
            </a:r>
            <a:r>
              <a:rPr lang="en-US" altLang="zh-CN" dirty="0" err="1"/>
              <a:t>outfile</a:t>
            </a:r>
            <a:r>
              <a:rPr lang="zh-CN" altLang="en-US" dirty="0"/>
              <a:t>是可选编译选项，默认生成</a:t>
            </a:r>
            <a:r>
              <a:rPr lang="en-US" altLang="zh-CN" dirty="0"/>
              <a:t>a.exe.</a:t>
            </a:r>
          </a:p>
          <a:p>
            <a:pPr marL="0" indent="0">
              <a:buNone/>
            </a:pPr>
            <a:r>
              <a:rPr lang="zh-CN" altLang="en-US" dirty="0"/>
              <a:t>前提：安装好</a:t>
            </a:r>
            <a:r>
              <a:rPr lang="en-US" altLang="zh-CN" dirty="0" err="1"/>
              <a:t>gcc</a:t>
            </a:r>
            <a:r>
              <a:rPr lang="en-US" altLang="zh-CN" dirty="0"/>
              <a:t>, https://www.cnblogs.com/raina/p/10656106.html</a:t>
            </a:r>
          </a:p>
          <a:p>
            <a:pPr marL="0" indent="0">
              <a:buNone/>
            </a:pPr>
            <a:r>
              <a:rPr lang="en-US" altLang="zh-CN" dirty="0"/>
              <a:t>     6</a:t>
            </a:r>
            <a:r>
              <a:rPr lang="zh-CN" altLang="en-US" dirty="0"/>
              <a:t>、运行</a:t>
            </a:r>
            <a:r>
              <a:rPr lang="en-US" altLang="zh-CN" dirty="0"/>
              <a:t>a.exe</a:t>
            </a:r>
          </a:p>
          <a:p>
            <a:pPr marL="0" indent="0">
              <a:buNone/>
            </a:pPr>
            <a:r>
              <a:rPr lang="en-US" altLang="zh-CN" dirty="0"/>
              <a:t>     ./a.exe</a:t>
            </a:r>
            <a:r>
              <a:rPr lang="zh-CN" altLang="en-US" dirty="0"/>
              <a:t>   </a:t>
            </a:r>
            <a:r>
              <a:rPr lang="en-US" altLang="zh-CN" dirty="0"/>
              <a:t>	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21F1F6-B610-4C16-B03C-1F2229AE0020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288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内容占位符 15"/>
          <p:cNvSpPr>
            <a:spLocks noGrp="1"/>
          </p:cNvSpPr>
          <p:nvPr>
            <p:ph idx="1"/>
          </p:nvPr>
        </p:nvSpPr>
        <p:spPr>
          <a:xfrm>
            <a:off x="179512" y="51470"/>
            <a:ext cx="7992888" cy="3960440"/>
          </a:xfrm>
        </p:spPr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1</a:t>
            </a:r>
            <a:r>
              <a:rPr lang="zh-CN" altLang="en-US" dirty="0"/>
              <a:t>：编写一个</a:t>
            </a:r>
            <a:r>
              <a:rPr lang="en-US" altLang="zh-CN" dirty="0" err="1"/>
              <a:t>lex</a:t>
            </a:r>
            <a:r>
              <a:rPr lang="zh-CN" altLang="en-US" dirty="0"/>
              <a:t>程序，该程序拷贝一个文件，并将文件中的每个非空的空白符序列替换为单个空格。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920181"/>
            <a:ext cx="6552728" cy="4223319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21F1F6-B610-4C16-B03C-1F2229AE0020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3948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内容占位符 15"/>
          <p:cNvSpPr>
            <a:spLocks noGrp="1"/>
          </p:cNvSpPr>
          <p:nvPr>
            <p:ph idx="1"/>
          </p:nvPr>
        </p:nvSpPr>
        <p:spPr>
          <a:xfrm>
            <a:off x="300119" y="1687116"/>
            <a:ext cx="8280920" cy="3456384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</a:rPr>
              <a:t>[ \t]+  </a:t>
            </a:r>
            <a:r>
              <a:rPr lang="en-US" altLang="zh-CN" dirty="0">
                <a:solidFill>
                  <a:schemeClr val="tx1"/>
                </a:solidFill>
              </a:rPr>
              <a:t>{</a:t>
            </a:r>
            <a:r>
              <a:rPr lang="en-US" altLang="zh-CN" dirty="0" err="1">
                <a:solidFill>
                  <a:schemeClr val="tx1"/>
                </a:solidFill>
              </a:rPr>
              <a:t>printf</a:t>
            </a:r>
            <a:r>
              <a:rPr lang="en-US" altLang="zh-CN" dirty="0">
                <a:solidFill>
                  <a:schemeClr val="tx1"/>
                </a:solidFill>
              </a:rPr>
              <a:t>(“ ”);}</a:t>
            </a:r>
          </a:p>
          <a:p>
            <a:pPr marL="0" indent="0">
              <a:buClrTx/>
              <a:buNone/>
            </a:pPr>
            <a:r>
              <a:rPr lang="zh-CN" altLang="en-US" dirty="0">
                <a:solidFill>
                  <a:schemeClr val="tx1"/>
                </a:solidFill>
              </a:rPr>
              <a:t>表示遇到连续多个空格符或</a:t>
            </a:r>
            <a:r>
              <a:rPr lang="en-US" altLang="zh-CN" dirty="0">
                <a:solidFill>
                  <a:schemeClr val="tx1"/>
                </a:solidFill>
              </a:rPr>
              <a:t>\tab</a:t>
            </a:r>
            <a:r>
              <a:rPr lang="zh-CN" altLang="en-US" dirty="0">
                <a:solidFill>
                  <a:schemeClr val="tx1"/>
                </a:solidFill>
              </a:rPr>
              <a:t>制表符，则替换为一个空格符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ClrTx/>
              <a:buNone/>
            </a:pPr>
            <a:r>
              <a:rPr lang="zh-CN" altLang="en-US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</a:rPr>
              <a:t>\n|.    </a:t>
            </a:r>
            <a:r>
              <a:rPr lang="en-US" altLang="zh-CN" dirty="0">
                <a:solidFill>
                  <a:schemeClr val="tx1"/>
                </a:solidFill>
              </a:rPr>
              <a:t>{</a:t>
            </a:r>
            <a:r>
              <a:rPr lang="en-US" altLang="zh-CN" dirty="0" err="1">
                <a:solidFill>
                  <a:schemeClr val="tx1"/>
                </a:solidFill>
              </a:rPr>
              <a:t>printf</a:t>
            </a:r>
            <a:r>
              <a:rPr lang="en-US" altLang="zh-CN" dirty="0">
                <a:solidFill>
                  <a:schemeClr val="tx1"/>
                </a:solidFill>
              </a:rPr>
              <a:t>(“%s”,</a:t>
            </a:r>
            <a:r>
              <a:rPr lang="en-US" altLang="zh-CN" dirty="0" err="1">
                <a:solidFill>
                  <a:schemeClr val="tx1"/>
                </a:solidFill>
              </a:rPr>
              <a:t>yytext</a:t>
            </a:r>
            <a:r>
              <a:rPr lang="en-US" altLang="zh-CN" dirty="0">
                <a:solidFill>
                  <a:schemeClr val="tx1"/>
                </a:solidFill>
              </a:rPr>
              <a:t>);}</a:t>
            </a:r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</a:rPr>
              <a:t>.</a:t>
            </a:r>
            <a:r>
              <a:rPr lang="zh-CN" altLang="en-US" dirty="0">
                <a:solidFill>
                  <a:schemeClr val="tx1"/>
                </a:solidFill>
              </a:rPr>
              <a:t>表示匹配除</a:t>
            </a:r>
            <a:r>
              <a:rPr lang="en-US" altLang="zh-CN" dirty="0">
                <a:solidFill>
                  <a:schemeClr val="tx1"/>
                </a:solidFill>
              </a:rPr>
              <a:t>\n</a:t>
            </a:r>
            <a:r>
              <a:rPr lang="zh-CN" altLang="en-US" dirty="0">
                <a:solidFill>
                  <a:schemeClr val="tx1"/>
                </a:solidFill>
              </a:rPr>
              <a:t>以外的所有字符（通常作为最后一个规则）， </a:t>
            </a:r>
            <a:r>
              <a:rPr lang="en-US" altLang="zh-CN" dirty="0" err="1">
                <a:solidFill>
                  <a:schemeClr val="tx1"/>
                </a:solidFill>
              </a:rPr>
              <a:t>yytext</a:t>
            </a:r>
            <a:r>
              <a:rPr lang="zh-CN" altLang="en-US" dirty="0">
                <a:solidFill>
                  <a:schemeClr val="tx1"/>
                </a:solidFill>
              </a:rPr>
              <a:t>总是指向当前获得匹配的字符串，这个规则表示其余的语句均照常打印出来。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21F1F6-B610-4C16-B03C-1F2229AE0020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27" y="411510"/>
            <a:ext cx="4383321" cy="86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413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内容占位符 15"/>
          <p:cNvSpPr>
            <a:spLocks noGrp="1"/>
          </p:cNvSpPr>
          <p:nvPr>
            <p:ph idx="1"/>
          </p:nvPr>
        </p:nvSpPr>
        <p:spPr>
          <a:xfrm>
            <a:off x="226228" y="2643758"/>
            <a:ext cx="8280920" cy="2160240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chemeClr val="accent3"/>
                </a:solidFill>
              </a:rPr>
              <a:t>//program section</a:t>
            </a:r>
          </a:p>
          <a:p>
            <a:pPr>
              <a:buClrTx/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chemeClr val="tx1"/>
                </a:solidFill>
              </a:rPr>
              <a:t>#pragma</a:t>
            </a:r>
            <a:r>
              <a:rPr lang="zh-CN" altLang="en-US" dirty="0">
                <a:solidFill>
                  <a:schemeClr val="tx1"/>
                </a:solidFill>
              </a:rPr>
              <a:t> 包含特定的库文件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buClrTx/>
              <a:buFont typeface="Wingdings" panose="05000000000000000000" pitchFamily="2" charset="2"/>
              <a:buChar char="Ø"/>
            </a:pPr>
            <a:r>
              <a:rPr lang="en-US" altLang="zh-CN" dirty="0" err="1">
                <a:solidFill>
                  <a:schemeClr val="tx1"/>
                </a:solidFill>
              </a:rPr>
              <a:t>stdin</a:t>
            </a:r>
            <a:r>
              <a:rPr lang="zh-CN" altLang="en-US" dirty="0">
                <a:solidFill>
                  <a:schemeClr val="tx1"/>
                </a:solidFill>
              </a:rPr>
              <a:t>为标准输入，</a:t>
            </a:r>
            <a:r>
              <a:rPr lang="en-US" altLang="zh-CN" dirty="0" err="1">
                <a:solidFill>
                  <a:schemeClr val="tx1"/>
                </a:solidFill>
              </a:rPr>
              <a:t>yyin</a:t>
            </a:r>
            <a:r>
              <a:rPr lang="zh-CN" altLang="en-US" dirty="0">
                <a:solidFill>
                  <a:schemeClr val="tx1"/>
                </a:solidFill>
              </a:rPr>
              <a:t>用于读取输入流，</a:t>
            </a:r>
            <a:r>
              <a:rPr lang="en-US" altLang="zh-CN" dirty="0" err="1">
                <a:solidFill>
                  <a:schemeClr val="tx1"/>
                </a:solidFill>
              </a:rPr>
              <a:t>yylex</a:t>
            </a:r>
            <a:r>
              <a:rPr lang="en-US" altLang="zh-CN" dirty="0">
                <a:solidFill>
                  <a:schemeClr val="tx1"/>
                </a:solidFill>
              </a:rPr>
              <a:t>()</a:t>
            </a:r>
            <a:r>
              <a:rPr lang="zh-CN" altLang="en-US" dirty="0">
                <a:solidFill>
                  <a:schemeClr val="tx1"/>
                </a:solidFill>
              </a:rPr>
              <a:t>函数表示开始对</a:t>
            </a:r>
            <a:r>
              <a:rPr lang="en-US" altLang="zh-CN" dirty="0" err="1">
                <a:solidFill>
                  <a:schemeClr val="tx1"/>
                </a:solidFill>
              </a:rPr>
              <a:t>yyin</a:t>
            </a:r>
            <a:r>
              <a:rPr lang="zh-CN" altLang="en-US" dirty="0">
                <a:solidFill>
                  <a:schemeClr val="tx1"/>
                </a:solidFill>
              </a:rPr>
              <a:t>中的符号进行词法分析。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21F1F6-B610-4C16-B03C-1F2229AE0020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302844"/>
            <a:ext cx="5040560" cy="2027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087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内容占位符 15"/>
          <p:cNvSpPr>
            <a:spLocks noGrp="1"/>
          </p:cNvSpPr>
          <p:nvPr>
            <p:ph idx="1"/>
          </p:nvPr>
        </p:nvSpPr>
        <p:spPr>
          <a:xfrm>
            <a:off x="323528" y="699542"/>
            <a:ext cx="7992888" cy="1296144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</a:rPr>
              <a:t>读入文件：</a:t>
            </a:r>
          </a:p>
          <a:p>
            <a:pPr marL="0" indent="0">
              <a:buNone/>
            </a:pPr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389" y="332958"/>
            <a:ext cx="5968932" cy="1656184"/>
          </a:xfrm>
          <a:prstGeom prst="rect">
            <a:avLst/>
          </a:prstGeom>
        </p:spPr>
      </p:pic>
      <p:sp>
        <p:nvSpPr>
          <p:cNvPr id="5" name="内容占位符 15"/>
          <p:cNvSpPr txBox="1">
            <a:spLocks/>
          </p:cNvSpPr>
          <p:nvPr/>
        </p:nvSpPr>
        <p:spPr bwMode="auto">
          <a:xfrm>
            <a:off x="349028" y="2755849"/>
            <a:ext cx="7992888" cy="1296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576263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8556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4620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 typeface="Symbol" panose="05050102010706020507" pitchFamily="18" charset="2"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替换后结果：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 typeface="Symbol" panose="05050102010706020507" pitchFamily="18" charset="2"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21F1F6-B610-4C16-B03C-1F2229AE0020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028" y="3291830"/>
            <a:ext cx="8796986" cy="351879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349028" y="2258589"/>
            <a:ext cx="37737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编译后，运行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./a.exe &lt; a.txt</a:t>
            </a:r>
          </a:p>
        </p:txBody>
      </p:sp>
    </p:spTree>
    <p:extLst>
      <p:ext uri="{BB962C8B-B14F-4D97-AF65-F5344CB8AC3E}">
        <p14:creationId xmlns:p14="http://schemas.microsoft.com/office/powerpoint/2010/main" val="3697213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内容占位符 1"/>
          <p:cNvSpPr>
            <a:spLocks noGrp="1"/>
          </p:cNvSpPr>
          <p:nvPr>
            <p:ph idx="1"/>
          </p:nvPr>
        </p:nvSpPr>
        <p:spPr>
          <a:xfrm>
            <a:off x="2916238" y="1779588"/>
            <a:ext cx="2879725" cy="1223962"/>
          </a:xfrm>
        </p:spPr>
        <p:txBody>
          <a:bodyPr/>
          <a:lstStyle/>
          <a:p>
            <a:pPr marL="0" indent="0">
              <a:buFont typeface="Symbol" panose="05050102010706020507" pitchFamily="18" charset="2"/>
              <a:buNone/>
            </a:pPr>
            <a:r>
              <a:rPr lang="en-US" altLang="zh-CN" sz="4800"/>
              <a:t>The End</a:t>
            </a:r>
            <a:endParaRPr lang="zh-CN" altLang="en-US" sz="4800"/>
          </a:p>
        </p:txBody>
      </p:sp>
      <p:sp>
        <p:nvSpPr>
          <p:cNvPr id="110595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0596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9EA8AD6-43E4-4EF7-8007-C91CD55344AB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725863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313" y="0"/>
            <a:ext cx="8407400" cy="515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6300788" y="1744663"/>
            <a:ext cx="4446587" cy="939800"/>
          </a:xfrm>
          <a:prstGeom prst="rect">
            <a:avLst/>
          </a:prstGeom>
        </p:spPr>
        <p:txBody>
          <a:bodyPr anchor="ctr"/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6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0244" name="Rectangle 2"/>
          <p:cNvSpPr txBox="1">
            <a:spLocks noChangeArrowheads="1"/>
          </p:cNvSpPr>
          <p:nvPr/>
        </p:nvSpPr>
        <p:spPr bwMode="auto">
          <a:xfrm>
            <a:off x="5651500" y="2038350"/>
            <a:ext cx="3590925" cy="161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 panose="020E0502030303020204" pitchFamily="34" charset="0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 panose="020E0502030303020204" pitchFamily="34" charset="0"/>
                <a:ea typeface="楷体" panose="02010609060101010101" pitchFamily="49" charset="-122"/>
                <a:cs typeface="+mn-cs"/>
              </a:rPr>
              <a:t>南信大计软院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dara" panose="020E0502030303020204" pitchFamily="34" charset="0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 panose="020E0502030303020204" pitchFamily="34" charset="0"/>
                <a:ea typeface="楷体" panose="02010609060101010101" pitchFamily="49" charset="-122"/>
                <a:cs typeface="+mn-cs"/>
              </a:rPr>
              <a:t>   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 panose="020E0502030303020204" pitchFamily="34" charset="0"/>
                <a:ea typeface="楷体" panose="02010609060101010101" pitchFamily="49" charset="-122"/>
                <a:cs typeface="+mn-cs"/>
              </a:rPr>
              <a:t>  凌妙根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dara" panose="020E0502030303020204" pitchFamily="34" charset="0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 panose="020E0502030303020204" pitchFamily="34" charset="0"/>
                <a:ea typeface="楷体" panose="02010609060101010101" pitchFamily="49" charset="-122"/>
                <a:cs typeface="+mn-cs"/>
              </a:rPr>
              <a:t>  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 panose="020E0502030303020204" pitchFamily="34" charset="0"/>
                <a:ea typeface="楷体" panose="02010609060101010101" pitchFamily="49" charset="-122"/>
                <a:cs typeface="+mn-cs"/>
              </a:rPr>
              <a:t>2025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 panose="020E0502030303020204" pitchFamily="34" charset="0"/>
                <a:ea typeface="楷体" panose="02010609060101010101" pitchFamily="49" charset="-122"/>
                <a:cs typeface="+mn-cs"/>
              </a:rPr>
              <a:t>年秋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900113" y="1008063"/>
            <a:ext cx="5829300" cy="1157287"/>
          </a:xfrm>
          <a:prstGeom prst="rect">
            <a:avLst/>
          </a:prstGeom>
          <a:ln w="12700">
            <a:noFill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第</a:t>
            </a:r>
            <a:r>
              <a:rPr kumimoji="0" lang="en-US" altLang="zh-CN" sz="36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</a:t>
            </a: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章 语法分析</a:t>
            </a:r>
            <a:r>
              <a:rPr kumimoji="0" lang="en-US" altLang="zh-CN" sz="36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 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        自顶向下分析概述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6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0246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AD6B4B0-621E-4484-96D9-7DC9715D0DEF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3145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EEF990C0-3BFE-4CDC-AB91-076F20A9AD95}"/>
              </a:ext>
            </a:extLst>
          </p:cNvPr>
          <p:cNvSpPr/>
          <p:nvPr/>
        </p:nvSpPr>
        <p:spPr>
          <a:xfrm>
            <a:off x="355600" y="1239838"/>
            <a:ext cx="5378395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自顶向下分析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文法转换：</a:t>
            </a:r>
            <a:r>
              <a:rPr lang="zh-CN" altLang="en-US" sz="3600" noProof="0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消除左递归</a:t>
            </a:r>
            <a:endParaRPr lang="en-US" altLang="zh-CN" sz="3600" noProof="0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3600" b="0" i="0" u="none" strike="noStrike" kern="1200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LL(1)</a:t>
            </a:r>
            <a:r>
              <a:rPr kumimoji="0" lang="zh-CN" altLang="en-US" sz="3600" b="0" i="0" u="none" strike="noStrike" kern="1200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文法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	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29" name="Rectangle 2">
            <a:extLst>
              <a:ext uri="{FF2B5EF4-FFF2-40B4-BE49-F238E27FC236}">
                <a16:creationId xmlns:a16="http://schemas.microsoft.com/office/drawing/2014/main" id="{3B6ED54E-5310-95DB-08D1-69F130CCA8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主要内容</a:t>
            </a:r>
          </a:p>
        </p:txBody>
      </p:sp>
      <p:grpSp>
        <p:nvGrpSpPr>
          <p:cNvPr id="18436" name="组合 29">
            <a:extLst>
              <a:ext uri="{FF2B5EF4-FFF2-40B4-BE49-F238E27FC236}">
                <a16:creationId xmlns:a16="http://schemas.microsoft.com/office/drawing/2014/main" id="{6848A4A7-A88F-8BE9-89E6-172AC75303ED}"/>
              </a:ext>
            </a:extLst>
          </p:cNvPr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31" name="五边形 30">
              <a:extLst>
                <a:ext uri="{FF2B5EF4-FFF2-40B4-BE49-F238E27FC236}">
                  <a16:creationId xmlns:a16="http://schemas.microsoft.com/office/drawing/2014/main" id="{7A080021-59E8-3998-4441-09CA79A5A93F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" name="五边形 33">
              <a:extLst>
                <a:ext uri="{FF2B5EF4-FFF2-40B4-BE49-F238E27FC236}">
                  <a16:creationId xmlns:a16="http://schemas.microsoft.com/office/drawing/2014/main" id="{41FD1925-5F57-3680-FED6-8F438B3E2D95}"/>
                </a:ext>
              </a:extLst>
            </p:cNvPr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437" name="灯片编号占位符 2">
            <a:extLst>
              <a:ext uri="{FF2B5EF4-FFF2-40B4-BE49-F238E27FC236}">
                <a16:creationId xmlns:a16="http://schemas.microsoft.com/office/drawing/2014/main" id="{95127C39-AA1F-9F46-0F00-4E7D6CB15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9D4AA78-0343-4AC7-A3A5-BB1FE4E9CBE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  <a:cs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>
            <a:extLst>
              <a:ext uri="{FF2B5EF4-FFF2-40B4-BE49-F238E27FC236}">
                <a16:creationId xmlns:a16="http://schemas.microsoft.com/office/drawing/2014/main" id="{DDF732B5-6342-C4C9-EC73-E12412083D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1.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自顶向下的分析</a:t>
            </a:r>
            <a:r>
              <a:rPr lang="en-US" altLang="zh-CN" sz="25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(</a:t>
            </a:r>
            <a:r>
              <a:rPr lang="en-US" altLang="zh-CN" sz="25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Top-Down Parsing</a:t>
            </a:r>
            <a:r>
              <a:rPr lang="en-US" altLang="zh-CN" sz="25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)</a:t>
            </a:r>
            <a:endParaRPr lang="zh-CN" altLang="en-US" sz="2500" dirty="0">
              <a:solidFill>
                <a:schemeClr val="tx1"/>
              </a:solidFill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0483" name="灯片编号占位符 11">
            <a:extLst>
              <a:ext uri="{FF2B5EF4-FFF2-40B4-BE49-F238E27FC236}">
                <a16:creationId xmlns:a16="http://schemas.microsoft.com/office/drawing/2014/main" id="{10145032-6F69-7BCE-2845-444540FF7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A02A232-AC5F-4CC1-BADA-A4BF77430BA8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7A00E7-DE48-FABF-9B49-19E4359174E3}"/>
              </a:ext>
            </a:extLst>
          </p:cNvPr>
          <p:cNvSpPr txBox="1"/>
          <p:nvPr/>
        </p:nvSpPr>
        <p:spPr>
          <a:xfrm>
            <a:off x="776772" y="771550"/>
            <a:ext cx="746763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2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从分析树的顶部（根节点）向底部（叶节点）方向构造分析树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>
            <a:extLst>
              <a:ext uri="{FF2B5EF4-FFF2-40B4-BE49-F238E27FC236}">
                <a16:creationId xmlns:a16="http://schemas.microsoft.com/office/drawing/2014/main" id="{BC9C6C7B-CE91-FD2B-3DDE-7152D20CC1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17513" y="714375"/>
            <a:ext cx="8402637" cy="4298950"/>
          </a:xfrm>
        </p:spPr>
        <p:txBody>
          <a:bodyPr/>
          <a:lstStyle/>
          <a:p>
            <a:pPr marL="342900" lvl="2" indent="-342900" eaLnBrk="1" hangingPunct="1">
              <a:buClrTx/>
              <a:buFont typeface="Wingdings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从分析树的顶部（根节点）向底部（叶节点）方向构造分析树</a:t>
            </a:r>
            <a:endParaRPr lang="en-US" altLang="zh-CN" sz="2200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marL="342900" lvl="2" indent="-342900" eaLnBrk="1" hangingPunct="1">
              <a:buClrTx/>
              <a:buFont typeface="Wingdings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可以看成是从文法开始符号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itchFamily="18" charset="0"/>
              </a:rPr>
              <a:t>S</a:t>
            </a:r>
            <a:r>
              <a:rPr lang="zh-CN" altLang="en-US" sz="2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cs typeface="Times New Roman" pitchFamily="18" charset="0"/>
              </a:rPr>
              <a:t>推导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出词串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itchFamily="18" charset="0"/>
              </a:rPr>
              <a:t>w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的过程</a:t>
            </a:r>
          </a:p>
          <a:p>
            <a:pPr marL="800100" lvl="3" indent="-342900" eaLnBrk="1" hangingPunct="1">
              <a:lnSpc>
                <a:spcPts val="3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例</a:t>
            </a:r>
            <a:endParaRPr lang="en-US" altLang="zh-CN" sz="2200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marL="800100" lvl="3" indent="-342900" eaLnBrk="1" hangingPunct="1">
              <a:lnSpc>
                <a:spcPts val="3000"/>
              </a:lnSpc>
              <a:buClrTx/>
              <a:buSzPct val="60000"/>
              <a:buFont typeface="Wingdings" pitchFamily="2" charset="2"/>
              <a:buChar char="Ø"/>
              <a:defRPr/>
            </a:pPr>
            <a:endParaRPr lang="en-US" altLang="zh-CN" sz="2200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eaLnBrk="1" hangingPunct="1">
              <a:lnSpc>
                <a:spcPts val="3000"/>
              </a:lnSpc>
              <a:buFont typeface="Symbol" panose="05050102010706020507" pitchFamily="18" charset="2"/>
              <a:buNone/>
              <a:defRPr/>
            </a:pPr>
            <a:endParaRPr lang="en-US" altLang="zh-CN" sz="2200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eaLnBrk="1" hangingPunct="1">
              <a:lnSpc>
                <a:spcPts val="3000"/>
              </a:lnSpc>
              <a:buFont typeface="Symbol" panose="05050102010706020507" pitchFamily="18" charset="2"/>
              <a:buNone/>
              <a:defRPr/>
            </a:pPr>
            <a:endParaRPr lang="en-US" altLang="zh-CN" sz="2200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marL="0" indent="0" eaLnBrk="1" hangingPunct="1">
              <a:lnSpc>
                <a:spcPts val="3000"/>
              </a:lnSpc>
              <a:buFont typeface="Wingdings" pitchFamily="2" charset="2"/>
              <a:buNone/>
              <a:defRPr/>
            </a:pPr>
            <a:endParaRPr lang="en-US" altLang="zh-CN" sz="2200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eaLnBrk="1" hangingPunct="1">
              <a:lnSpc>
                <a:spcPts val="3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每一步推导中，都需要做</a:t>
            </a:r>
            <a:r>
              <a:rPr lang="zh-CN" altLang="en-US" sz="2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cs typeface="Times New Roman" pitchFamily="18" charset="0"/>
              </a:rPr>
              <a:t>两个选择</a:t>
            </a:r>
          </a:p>
          <a:p>
            <a:pPr lvl="1" eaLnBrk="1" hangingPunct="1"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替换当前句型中的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cs typeface="Times New Roman" pitchFamily="18" charset="0"/>
              </a:rPr>
              <a:t>哪个非终结符</a:t>
            </a:r>
            <a:endParaRPr lang="en-US" altLang="zh-CN" b="1" dirty="0">
              <a:solidFill>
                <a:schemeClr val="tx2">
                  <a:lumMod val="60000"/>
                  <a:lumOff val="40000"/>
                </a:schemeClr>
              </a:solidFill>
              <a:latin typeface="+mn-ea"/>
              <a:cs typeface="Times New Roman" pitchFamily="18" charset="0"/>
            </a:endParaRPr>
          </a:p>
          <a:p>
            <a:pPr lvl="1" eaLnBrk="1" hangingPunct="1"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用该非终结符的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cs typeface="Times New Roman" pitchFamily="18" charset="0"/>
              </a:rPr>
              <a:t>哪个候选式</a:t>
            </a:r>
            <a:r>
              <a:rPr lang="zh-CN" altLang="en-US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进行替换</a:t>
            </a:r>
            <a:endParaRPr lang="en-US" altLang="zh-CN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5BA284D4-BBC6-C124-3D80-0F6A538FE4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1.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自顶向下的分析</a:t>
            </a:r>
            <a:r>
              <a:rPr lang="en-US" altLang="zh-CN" sz="25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(</a:t>
            </a:r>
            <a:r>
              <a:rPr lang="en-US" altLang="zh-CN" sz="25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Top-Down Parsing</a:t>
            </a:r>
            <a:r>
              <a:rPr lang="en-US" altLang="zh-CN" sz="25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)</a:t>
            </a:r>
            <a:endParaRPr lang="zh-CN" altLang="en-US" sz="2500" dirty="0">
              <a:solidFill>
                <a:schemeClr val="tx1"/>
              </a:solidFill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A9D6F89-2976-1103-F07F-7CD43EFEC3BF}"/>
              </a:ext>
            </a:extLst>
          </p:cNvPr>
          <p:cNvSpPr/>
          <p:nvPr/>
        </p:nvSpPr>
        <p:spPr>
          <a:xfrm>
            <a:off x="1857375" y="3148013"/>
            <a:ext cx="1411288" cy="5969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2"/>
            </a:solidFill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输入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+ ( id +  id )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9D8891C-80DE-3F43-DAB9-CE878EBEB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1671638"/>
            <a:ext cx="2847975" cy="20875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342900" marR="0" lvl="1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Tx/>
              <a:buNone/>
              <a:tabLst/>
              <a:defRPr/>
            </a:pPr>
            <a:endParaRPr kumimoji="0" lang="en-US" altLang="zh-CN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n-cs"/>
            </a:endParaRPr>
          </a:p>
          <a:p>
            <a:pPr marL="342900" marR="0" lvl="1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Symbol" pitchFamily="18" charset="2"/>
              </a:rPr>
              <a:t>		      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 </a:t>
            </a:r>
            <a:r>
              <a:rPr kumimoji="1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E 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+ </a:t>
            </a:r>
            <a:r>
              <a:rPr kumimoji="1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E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 </a:t>
            </a:r>
          </a:p>
          <a:p>
            <a:pPr marL="1905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Symbol" pitchFamily="18" charset="2"/>
              </a:rPr>
              <a:t>                    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 </a:t>
            </a:r>
            <a:r>
              <a:rPr kumimoji="1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E 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+ ( </a:t>
            </a:r>
            <a:r>
              <a:rPr kumimoji="1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E 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) </a:t>
            </a:r>
          </a:p>
          <a:p>
            <a:pPr marL="1905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Symbol" pitchFamily="18" charset="2"/>
              </a:rPr>
              <a:t>   	      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 </a:t>
            </a:r>
            <a:r>
              <a:rPr kumimoji="1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E 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+ ( </a:t>
            </a:r>
            <a:r>
              <a:rPr kumimoji="1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E 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+ </a:t>
            </a:r>
            <a:r>
              <a:rPr kumimoji="1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E 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)</a:t>
            </a:r>
          </a:p>
          <a:p>
            <a:pPr marL="1905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Symbol" pitchFamily="18" charset="2"/>
              </a:rPr>
              <a:t>   	      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 </a:t>
            </a:r>
            <a:r>
              <a:rPr kumimoji="1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E 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+ ( id + </a:t>
            </a:r>
            <a:r>
              <a:rPr kumimoji="1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E 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)</a:t>
            </a:r>
          </a:p>
          <a:p>
            <a:pPr marL="1905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Symbol" pitchFamily="18" charset="2"/>
              </a:rPr>
              <a:t>   	      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 id + ( id + </a:t>
            </a:r>
            <a:r>
              <a:rPr kumimoji="1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E 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)</a:t>
            </a:r>
          </a:p>
          <a:p>
            <a:pPr marL="1905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  <a:sym typeface="Symbol" pitchFamily="18" charset="2"/>
              </a:rPr>
              <a:t>   	      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Times New Roman" pitchFamily="18" charset="0"/>
              </a:rPr>
              <a:t> id + ( id + id )</a:t>
            </a:r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9BA83BDF-3D36-BAE5-C71C-ED170D7D40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5313" y="1609725"/>
            <a:ext cx="1403350" cy="15494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文法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① </a:t>
            </a: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 → E + E </a:t>
            </a:r>
          </a:p>
          <a:p>
            <a:pPr marL="0" marR="0" lvl="0" indent="0" algn="just" defTabSz="914400" rtl="0" eaLnBrk="1" fontAlgn="base" latinLnBrk="0" hangingPunct="1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②</a:t>
            </a: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E → E * E      </a:t>
            </a:r>
          </a:p>
          <a:p>
            <a:pPr marL="0" marR="0" lvl="0" indent="0" algn="just" defTabSz="914400" rtl="0" eaLnBrk="1" fontAlgn="base" latinLnBrk="0" hangingPunct="1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③</a:t>
            </a: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E → 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 </a:t>
            </a: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 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marL="0" marR="0" lvl="0" indent="0" algn="just" defTabSz="914400" rtl="0" eaLnBrk="1" fontAlgn="base" latinLnBrk="0" hangingPunct="1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④ </a:t>
            </a:r>
            <a:r>
              <a:rPr kumimoji="0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 → 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id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E64F930-F4EA-4696-AE3D-14D2CF6C61A4}"/>
              </a:ext>
            </a:extLst>
          </p:cNvPr>
          <p:cNvSpPr/>
          <p:nvPr/>
        </p:nvSpPr>
        <p:spPr bwMode="auto">
          <a:xfrm>
            <a:off x="3203575" y="1724025"/>
            <a:ext cx="2455863" cy="21018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grpSp>
        <p:nvGrpSpPr>
          <p:cNvPr id="3" name="组合 41">
            <a:extLst>
              <a:ext uri="{FF2B5EF4-FFF2-40B4-BE49-F238E27FC236}">
                <a16:creationId xmlns:a16="http://schemas.microsoft.com/office/drawing/2014/main" id="{5421859F-8E98-4FBF-23D5-4806F59EBE61}"/>
              </a:ext>
            </a:extLst>
          </p:cNvPr>
          <p:cNvGrpSpPr>
            <a:grpSpLocks/>
          </p:cNvGrpSpPr>
          <p:nvPr/>
        </p:nvGrpSpPr>
        <p:grpSpPr bwMode="auto">
          <a:xfrm>
            <a:off x="4484688" y="2481263"/>
            <a:ext cx="1069975" cy="460375"/>
            <a:chOff x="4568297" y="3723878"/>
            <a:chExt cx="1070134" cy="460623"/>
          </a:xfrm>
        </p:grpSpPr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17C9A7F0-C0FF-10B0-4153-8A2DC8D69257}"/>
                </a:ext>
              </a:extLst>
            </p:cNvPr>
            <p:cNvCxnSpPr/>
            <p:nvPr/>
          </p:nvCxnSpPr>
          <p:spPr bwMode="auto">
            <a:xfrm rot="5400000">
              <a:off x="4814368" y="3723906"/>
              <a:ext cx="142952" cy="14289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353D91ED-D213-BD65-1B28-A31FCEC8E568}"/>
                </a:ext>
              </a:extLst>
            </p:cNvPr>
            <p:cNvCxnSpPr/>
            <p:nvPr/>
          </p:nvCxnSpPr>
          <p:spPr bwMode="auto">
            <a:xfrm rot="16200000" flipH="1">
              <a:off x="5297039" y="3741371"/>
              <a:ext cx="142952" cy="10796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DEA3AF49-DC12-4B3E-33BE-B31C1903E011}"/>
                </a:ext>
              </a:extLst>
            </p:cNvPr>
            <p:cNvCxnSpPr/>
            <p:nvPr/>
          </p:nvCxnSpPr>
          <p:spPr bwMode="auto">
            <a:xfrm rot="5400000">
              <a:off x="5061260" y="3794560"/>
              <a:ext cx="142952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565" name="矩形 25">
              <a:extLst>
                <a:ext uri="{FF2B5EF4-FFF2-40B4-BE49-F238E27FC236}">
                  <a16:creationId xmlns:a16="http://schemas.microsoft.com/office/drawing/2014/main" id="{0A4F6420-15FF-A404-28BC-36FE08B0A0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8297" y="3814350"/>
              <a:ext cx="1070134" cy="3701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</a:t>
              </a: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(     </a:t>
              </a: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E    </a:t>
              </a: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)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组合 46">
            <a:extLst>
              <a:ext uri="{FF2B5EF4-FFF2-40B4-BE49-F238E27FC236}">
                <a16:creationId xmlns:a16="http://schemas.microsoft.com/office/drawing/2014/main" id="{B6634A12-4B90-7103-57D2-6C694D4DA81C}"/>
              </a:ext>
            </a:extLst>
          </p:cNvPr>
          <p:cNvGrpSpPr>
            <a:grpSpLocks/>
          </p:cNvGrpSpPr>
          <p:nvPr/>
        </p:nvGrpSpPr>
        <p:grpSpPr bwMode="auto">
          <a:xfrm>
            <a:off x="4514850" y="2954338"/>
            <a:ext cx="1085850" cy="460375"/>
            <a:chOff x="4572000" y="3723878"/>
            <a:chExt cx="1084652" cy="460623"/>
          </a:xfrm>
        </p:grpSpPr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B46861CB-2DEE-C90F-EA8F-1DE2B7F21EFC}"/>
                </a:ext>
              </a:extLst>
            </p:cNvPr>
            <p:cNvCxnSpPr/>
            <p:nvPr/>
          </p:nvCxnSpPr>
          <p:spPr bwMode="auto">
            <a:xfrm rot="5400000">
              <a:off x="4789131" y="3723995"/>
              <a:ext cx="142952" cy="14271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C7F60264-B48D-BC3F-90E7-6BDC5A1565E8}"/>
                </a:ext>
              </a:extLst>
            </p:cNvPr>
            <p:cNvCxnSpPr/>
            <p:nvPr/>
          </p:nvCxnSpPr>
          <p:spPr bwMode="auto">
            <a:xfrm rot="16200000" flipH="1">
              <a:off x="5237897" y="3741439"/>
              <a:ext cx="142952" cy="10783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DF44D9C4-41B6-0739-2F36-DB3403B9CB84}"/>
                </a:ext>
              </a:extLst>
            </p:cNvPr>
            <p:cNvCxnSpPr/>
            <p:nvPr/>
          </p:nvCxnSpPr>
          <p:spPr bwMode="auto">
            <a:xfrm rot="5400000">
              <a:off x="5045229" y="3794561"/>
              <a:ext cx="142952" cy="158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561" name="矩形 46">
              <a:extLst>
                <a:ext uri="{FF2B5EF4-FFF2-40B4-BE49-F238E27FC236}">
                  <a16:creationId xmlns:a16="http://schemas.microsoft.com/office/drawing/2014/main" id="{4287C304-47A6-C565-B748-C6B69E76D7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3814350"/>
              <a:ext cx="1084652" cy="3701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E    +   E 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" name="组合 51">
            <a:extLst>
              <a:ext uri="{FF2B5EF4-FFF2-40B4-BE49-F238E27FC236}">
                <a16:creationId xmlns:a16="http://schemas.microsoft.com/office/drawing/2014/main" id="{29C8CC65-1104-E638-9050-D538CF613CB4}"/>
              </a:ext>
            </a:extLst>
          </p:cNvPr>
          <p:cNvGrpSpPr>
            <a:grpSpLocks/>
          </p:cNvGrpSpPr>
          <p:nvPr/>
        </p:nvGrpSpPr>
        <p:grpSpPr bwMode="auto">
          <a:xfrm>
            <a:off x="4227513" y="2462213"/>
            <a:ext cx="376237" cy="457200"/>
            <a:chOff x="5275094" y="4643438"/>
            <a:chExt cx="377026" cy="457884"/>
          </a:xfrm>
        </p:grpSpPr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A9F58559-4296-194E-4B37-E10FFBB5F07D}"/>
                </a:ext>
              </a:extLst>
            </p:cNvPr>
            <p:cNvCxnSpPr/>
            <p:nvPr/>
          </p:nvCxnSpPr>
          <p:spPr bwMode="auto">
            <a:xfrm rot="5400000">
              <a:off x="5363428" y="4714187"/>
              <a:ext cx="143089" cy="159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557" name="矩形 49">
              <a:extLst>
                <a:ext uri="{FF2B5EF4-FFF2-40B4-BE49-F238E27FC236}">
                  <a16:creationId xmlns:a16="http://schemas.microsoft.com/office/drawing/2014/main" id="{B953432D-4CDB-4A82-8F52-679E0FDE6C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5094" y="4731990"/>
              <a:ext cx="37702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id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组合 54">
            <a:extLst>
              <a:ext uri="{FF2B5EF4-FFF2-40B4-BE49-F238E27FC236}">
                <a16:creationId xmlns:a16="http://schemas.microsoft.com/office/drawing/2014/main" id="{0E29BA40-20CF-7591-61ED-7A84C6FE7DC8}"/>
              </a:ext>
            </a:extLst>
          </p:cNvPr>
          <p:cNvGrpSpPr>
            <a:grpSpLocks/>
          </p:cNvGrpSpPr>
          <p:nvPr/>
        </p:nvGrpSpPr>
        <p:grpSpPr bwMode="auto">
          <a:xfrm>
            <a:off x="4532313" y="3367088"/>
            <a:ext cx="377825" cy="458787"/>
            <a:chOff x="5275094" y="4643438"/>
            <a:chExt cx="377026" cy="457884"/>
          </a:xfrm>
        </p:grpSpPr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642F2BE2-80B5-C554-D00D-F0F54868FC8D}"/>
                </a:ext>
              </a:extLst>
            </p:cNvPr>
            <p:cNvCxnSpPr/>
            <p:nvPr/>
          </p:nvCxnSpPr>
          <p:spPr bwMode="auto">
            <a:xfrm rot="5400000">
              <a:off x="5364587" y="4713943"/>
              <a:ext cx="142594" cy="158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555" name="矩形 54">
              <a:extLst>
                <a:ext uri="{FF2B5EF4-FFF2-40B4-BE49-F238E27FC236}">
                  <a16:creationId xmlns:a16="http://schemas.microsoft.com/office/drawing/2014/main" id="{CA359C51-8F73-EC6B-DF6F-F1555A65B4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5094" y="4731990"/>
              <a:ext cx="37702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id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组合 61">
            <a:extLst>
              <a:ext uri="{FF2B5EF4-FFF2-40B4-BE49-F238E27FC236}">
                <a16:creationId xmlns:a16="http://schemas.microsoft.com/office/drawing/2014/main" id="{ED0C9C88-F1AF-A479-D3E0-D7BF8933E367}"/>
              </a:ext>
            </a:extLst>
          </p:cNvPr>
          <p:cNvGrpSpPr>
            <a:grpSpLocks/>
          </p:cNvGrpSpPr>
          <p:nvPr/>
        </p:nvGrpSpPr>
        <p:grpSpPr bwMode="auto">
          <a:xfrm>
            <a:off x="4225925" y="1993900"/>
            <a:ext cx="1085850" cy="460375"/>
            <a:chOff x="4572000" y="3723878"/>
            <a:chExt cx="1084652" cy="460622"/>
          </a:xfrm>
        </p:grpSpPr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44EFCF35-28B8-5311-79A8-22B7ABF795CF}"/>
                </a:ext>
              </a:extLst>
            </p:cNvPr>
            <p:cNvCxnSpPr/>
            <p:nvPr/>
          </p:nvCxnSpPr>
          <p:spPr bwMode="auto">
            <a:xfrm rot="5400000">
              <a:off x="4789131" y="3723995"/>
              <a:ext cx="142952" cy="14271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40886B7D-D834-3C13-984F-7710192309F3}"/>
                </a:ext>
              </a:extLst>
            </p:cNvPr>
            <p:cNvCxnSpPr/>
            <p:nvPr/>
          </p:nvCxnSpPr>
          <p:spPr bwMode="auto">
            <a:xfrm rot="16200000" flipH="1">
              <a:off x="5237897" y="3741439"/>
              <a:ext cx="142952" cy="10783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2BB452D9-A205-E533-6216-F285D4387481}"/>
                </a:ext>
              </a:extLst>
            </p:cNvPr>
            <p:cNvCxnSpPr/>
            <p:nvPr/>
          </p:nvCxnSpPr>
          <p:spPr bwMode="auto">
            <a:xfrm rot="5400000">
              <a:off x="5002413" y="3794561"/>
              <a:ext cx="142952" cy="158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553" name="矩形 46">
              <a:extLst>
                <a:ext uri="{FF2B5EF4-FFF2-40B4-BE49-F238E27FC236}">
                  <a16:creationId xmlns:a16="http://schemas.microsoft.com/office/drawing/2014/main" id="{B3C50973-2B12-1786-09B5-419B68E9A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3814350"/>
              <a:ext cx="1084652" cy="370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E    +   E 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B5FF41D2-407E-DD34-D638-DE2136FCC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8663" y="1765300"/>
            <a:ext cx="13557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推导过程：</a:t>
            </a:r>
            <a:r>
              <a:rPr kumimoji="1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" name="组合 67">
            <a:extLst>
              <a:ext uri="{FF2B5EF4-FFF2-40B4-BE49-F238E27FC236}">
                <a16:creationId xmlns:a16="http://schemas.microsoft.com/office/drawing/2014/main" id="{81BAB55C-6CC4-9182-CCFA-B2585DB89EFE}"/>
              </a:ext>
            </a:extLst>
          </p:cNvPr>
          <p:cNvGrpSpPr>
            <a:grpSpLocks/>
          </p:cNvGrpSpPr>
          <p:nvPr/>
        </p:nvGrpSpPr>
        <p:grpSpPr bwMode="auto">
          <a:xfrm>
            <a:off x="5165725" y="3362325"/>
            <a:ext cx="376238" cy="457200"/>
            <a:chOff x="5275094" y="4643438"/>
            <a:chExt cx="377026" cy="457884"/>
          </a:xfrm>
        </p:grpSpPr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D8A197EC-529C-D964-C64B-4A14BB06F894}"/>
                </a:ext>
              </a:extLst>
            </p:cNvPr>
            <p:cNvCxnSpPr/>
            <p:nvPr/>
          </p:nvCxnSpPr>
          <p:spPr bwMode="auto">
            <a:xfrm rot="5400000">
              <a:off x="5363427" y="4714187"/>
              <a:ext cx="143089" cy="159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549" name="矩形 49">
              <a:extLst>
                <a:ext uri="{FF2B5EF4-FFF2-40B4-BE49-F238E27FC236}">
                  <a16:creationId xmlns:a16="http://schemas.microsoft.com/office/drawing/2014/main" id="{DDAFD7D7-9CD3-1834-0643-3311B09C6A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5094" y="4731990"/>
              <a:ext cx="37702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id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组合 40">
            <a:extLst>
              <a:ext uri="{FF2B5EF4-FFF2-40B4-BE49-F238E27FC236}">
                <a16:creationId xmlns:a16="http://schemas.microsoft.com/office/drawing/2014/main" id="{CE8AB229-2267-DF50-7573-BDB370C51DB2}"/>
              </a:ext>
            </a:extLst>
          </p:cNvPr>
          <p:cNvGrpSpPr>
            <a:grpSpLocks/>
          </p:cNvGrpSpPr>
          <p:nvPr/>
        </p:nvGrpSpPr>
        <p:grpSpPr bwMode="auto">
          <a:xfrm>
            <a:off x="3419475" y="1654175"/>
            <a:ext cx="2239963" cy="2101850"/>
            <a:chOff x="3203848" y="2859586"/>
            <a:chExt cx="3312368" cy="2241736"/>
          </a:xfrm>
        </p:grpSpPr>
        <p:sp>
          <p:nvSpPr>
            <p:cNvPr id="22545" name="矩形 9">
              <a:extLst>
                <a:ext uri="{FF2B5EF4-FFF2-40B4-BE49-F238E27FC236}">
                  <a16:creationId xmlns:a16="http://schemas.microsoft.com/office/drawing/2014/main" id="{9FEC2D40-3838-9ADF-5D0F-A3138FE5B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3997" y="2916070"/>
              <a:ext cx="30518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E</a:t>
              </a: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508E3E21-6794-755A-5D47-665731F04471}"/>
                </a:ext>
              </a:extLst>
            </p:cNvPr>
            <p:cNvSpPr/>
            <p:nvPr/>
          </p:nvSpPr>
          <p:spPr>
            <a:xfrm>
              <a:off x="3203848" y="2859586"/>
              <a:ext cx="3312368" cy="224173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22547" name="矩形 47">
              <a:extLst>
                <a:ext uri="{FF2B5EF4-FFF2-40B4-BE49-F238E27FC236}">
                  <a16:creationId xmlns:a16="http://schemas.microsoft.com/office/drawing/2014/main" id="{2F568095-0A6C-3F79-E278-6DE7F2DCD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3848" y="2915344"/>
              <a:ext cx="1107826" cy="369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楷体_GB2312"/>
                </a:rPr>
                <a:t>分析树</a:t>
              </a: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_GB2312"/>
                  <a:ea typeface="华文楷体" panose="02010600040101010101" pitchFamily="2" charset="-122"/>
                  <a:cs typeface="楷体_GB2312"/>
                </a:rPr>
                <a:t>：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华文楷体" panose="02010600040101010101" pitchFamily="2" charset="-122"/>
                <a:cs typeface="楷体_GB2312"/>
              </a:endParaRPr>
            </a:p>
          </p:txBody>
        </p:sp>
      </p:grpSp>
      <p:sp>
        <p:nvSpPr>
          <p:cNvPr id="22544" name="灯片编号占位符 11">
            <a:extLst>
              <a:ext uri="{FF2B5EF4-FFF2-40B4-BE49-F238E27FC236}">
                <a16:creationId xmlns:a16="http://schemas.microsoft.com/office/drawing/2014/main" id="{B342BA48-9040-0DE8-5B02-FD80654B9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96820C-E2BB-44E8-9C7F-D0792ECDC7EB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build="allAtOnce" animBg="1"/>
      <p:bldP spid="33" grpId="0" animBg="1"/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428625" y="889000"/>
            <a:ext cx="8505825" cy="3968750"/>
          </a:xfrm>
        </p:spPr>
        <p:txBody>
          <a:bodyPr/>
          <a:lstStyle/>
          <a:p>
            <a:pPr eaLnBrk="1" hangingPunct="1">
              <a:buClrTx/>
              <a:buFont typeface="Wingdings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在</a:t>
            </a:r>
            <a:r>
              <a:rPr lang="zh-CN" altLang="en-US" sz="2200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最左推导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中，总是选择每个句型的</a:t>
            </a:r>
            <a:r>
              <a:rPr lang="zh-CN" altLang="en-US" sz="2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cs typeface="Times New Roman" pitchFamily="18" charset="0"/>
              </a:rPr>
              <a:t>最左非终结符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进行替换</a:t>
            </a:r>
            <a:endParaRPr lang="en-US" altLang="zh-CN" sz="2200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lvl="1" eaLnBrk="1" hangingPunct="1"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例</a:t>
            </a:r>
            <a:endParaRPr lang="en-US" altLang="zh-CN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lvl="1" eaLnBrk="1" hangingPunct="1">
              <a:buFont typeface="Symbol" panose="05050102010706020507" pitchFamily="18" charset="2"/>
              <a:buNone/>
              <a:defRPr/>
            </a:pPr>
            <a:endParaRPr lang="en-US" altLang="zh-CN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lvl="1" eaLnBrk="1" hangingPunct="1">
              <a:buFont typeface="Symbol" panose="05050102010706020507" pitchFamily="18" charset="2"/>
              <a:buNone/>
              <a:defRPr/>
            </a:pPr>
            <a:endParaRPr lang="en-US" altLang="zh-CN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lvl="1" eaLnBrk="1" hangingPunct="1">
              <a:buFont typeface="Symbol" panose="05050102010706020507" pitchFamily="18" charset="2"/>
              <a:buNone/>
              <a:defRPr/>
            </a:pPr>
            <a:endParaRPr lang="en-US" altLang="zh-CN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lvl="1" eaLnBrk="1" hangingPunct="1">
              <a:buFont typeface="Symbol" panose="05050102010706020507" pitchFamily="18" charset="2"/>
              <a:buNone/>
              <a:defRPr/>
            </a:pPr>
            <a:endParaRPr lang="en-US" altLang="zh-CN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lvl="1" eaLnBrk="1" hangingPunct="1">
              <a:buFont typeface="Wingdings" pitchFamily="2" charset="2"/>
              <a:buNone/>
              <a:defRPr/>
            </a:pPr>
            <a:endParaRPr lang="en-US" altLang="zh-CN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lvl="1" eaLnBrk="1" hangingPunct="1">
              <a:buFont typeface="Wingdings" pitchFamily="2" charset="2"/>
              <a:buNone/>
              <a:defRPr/>
            </a:pPr>
            <a:endParaRPr lang="en-US" altLang="zh-CN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lvl="1" eaLnBrk="1" hangingPunct="1">
              <a:buClrTx/>
              <a:buFont typeface="Wingdings" pitchFamily="2" charset="2"/>
              <a:buChar char="Ø"/>
              <a:defRPr/>
            </a:pPr>
            <a:endParaRPr lang="en-US" altLang="zh-CN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lvl="1" eaLnBrk="1" hangingPunct="1"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如果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S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</a:t>
            </a:r>
            <a:r>
              <a:rPr lang="en-US" altLang="zh-CN" b="1" baseline="30000" dirty="0">
                <a:solidFill>
                  <a:schemeClr val="tx1"/>
                </a:solidFill>
                <a:cs typeface="Times New Roman" pitchFamily="18" charset="0"/>
              </a:rPr>
              <a:t>*</a:t>
            </a:r>
            <a:r>
              <a:rPr kumimoji="1" lang="en-US" altLang="zh-CN" b="1" i="1" baseline="-25000" dirty="0">
                <a:solidFill>
                  <a:srgbClr val="FF0000"/>
                </a:solidFill>
                <a:cs typeface="Times New Roman" pitchFamily="18" charset="0"/>
              </a:rPr>
              <a:t>lm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kumimoji="1" lang="en-US" altLang="zh-CN" b="1" i="1" dirty="0">
                <a:solidFill>
                  <a:schemeClr val="tx1"/>
                </a:solidFill>
                <a:cs typeface="Times New Roman" pitchFamily="18" charset="0"/>
              </a:rPr>
              <a:t>α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，则称</a:t>
            </a:r>
            <a:r>
              <a:rPr lang="en-US" altLang="zh-CN" b="1" i="1" dirty="0">
                <a:solidFill>
                  <a:schemeClr val="tx1"/>
                </a:solidFill>
                <a:latin typeface="+mn-ea"/>
              </a:rPr>
              <a:t>α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是当前文法的</a:t>
            </a:r>
            <a:r>
              <a:rPr lang="zh-CN" altLang="en-US" b="1" dirty="0">
                <a:solidFill>
                  <a:srgbClr val="FF0000"/>
                </a:solidFill>
                <a:latin typeface="+mn-ea"/>
              </a:rPr>
              <a:t>最左句型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left-sentential form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最左推导</a:t>
            </a:r>
            <a:r>
              <a:rPr lang="en-US" altLang="zh-CN" sz="2500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(</a:t>
            </a:r>
            <a:r>
              <a:rPr lang="en-US" altLang="zh-CN" sz="25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Left-most Derivation</a:t>
            </a:r>
            <a:r>
              <a:rPr lang="en-US" altLang="zh-CN" sz="2500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)</a:t>
            </a:r>
          </a:p>
        </p:txBody>
      </p:sp>
      <p:sp>
        <p:nvSpPr>
          <p:cNvPr id="2" name="矩形 1"/>
          <p:cNvSpPr/>
          <p:nvPr/>
        </p:nvSpPr>
        <p:spPr>
          <a:xfrm>
            <a:off x="4356100" y="1693863"/>
            <a:ext cx="2366963" cy="2616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marL="190500" lvl="1" indent="-285750">
              <a:lnSpc>
                <a:spcPts val="2400"/>
              </a:lnSpc>
              <a:spcBef>
                <a:spcPct val="20000"/>
              </a:spcBef>
              <a:buClr>
                <a:srgbClr val="3333CC"/>
              </a:buClr>
              <a:buSzPct val="75000"/>
              <a:defRPr/>
            </a:pPr>
            <a:r>
              <a:rPr lang="zh-CN" altLang="en-US" sz="2000" b="1" dirty="0">
                <a:latin typeface="楷体" pitchFamily="49" charset="-122"/>
                <a:ea typeface="楷体" pitchFamily="49" charset="-122"/>
              </a:rPr>
              <a:t>推导过程</a:t>
            </a:r>
            <a:endParaRPr lang="en-US" altLang="zh-CN" sz="2000" b="1" dirty="0">
              <a:latin typeface="楷体" pitchFamily="49" charset="-122"/>
              <a:ea typeface="楷体" pitchFamily="49" charset="-122"/>
            </a:endParaRPr>
          </a:p>
          <a:p>
            <a:pPr marL="190500" lvl="1" indent="-285750">
              <a:lnSpc>
                <a:spcPts val="2400"/>
              </a:lnSpc>
              <a:spcBef>
                <a:spcPct val="20000"/>
              </a:spcBef>
              <a:buClr>
                <a:srgbClr val="3333CC"/>
              </a:buClr>
              <a:buSzPct val="75000"/>
              <a:defRPr/>
            </a:pPr>
            <a:r>
              <a:rPr kumimoji="1" lang="en-US" altLang="zh-CN" sz="2000" b="1" i="1" kern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kumimoji="1" lang="en-US" altLang="zh-CN" sz="2000" b="1" kern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zh-CN" sz="2000" b="1" kern="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</a:t>
            </a:r>
            <a:r>
              <a:rPr kumimoji="1" lang="en-US" altLang="zh-CN" sz="2000" b="1" i="1" baseline="-25000" dirty="0">
                <a:latin typeface="Times New Roman" pitchFamily="18" charset="0"/>
              </a:rPr>
              <a:t>lm</a:t>
            </a:r>
            <a:r>
              <a:rPr kumimoji="1" lang="en-US" altLang="zh-CN" sz="2000" b="1" kern="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zh-CN" sz="2000" b="1" i="1" kern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 </a:t>
            </a:r>
            <a:r>
              <a:rPr kumimoji="1" lang="en-US" altLang="zh-CN" sz="2000" b="1" kern="0" dirty="0">
                <a:latin typeface="Times New Roman" pitchFamily="18" charset="0"/>
                <a:cs typeface="Times New Roman" pitchFamily="18" charset="0"/>
              </a:rPr>
              <a:t>+ </a:t>
            </a:r>
            <a:r>
              <a:rPr kumimoji="1" lang="en-US" altLang="zh-CN" sz="2000" b="1" i="1" kern="0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kumimoji="1" lang="en-US" altLang="zh-CN" sz="2000" b="1" kern="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190500" lvl="1" indent="-285750">
              <a:lnSpc>
                <a:spcPts val="2400"/>
              </a:lnSpc>
              <a:spcBef>
                <a:spcPct val="20000"/>
              </a:spcBef>
              <a:buClr>
                <a:srgbClr val="3333CC"/>
              </a:buClr>
              <a:buSzPct val="75000"/>
              <a:defRPr/>
            </a:pPr>
            <a:r>
              <a:rPr kumimoji="1" lang="en-US" altLang="zh-CN" sz="2000" b="1" kern="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 </a:t>
            </a:r>
            <a:r>
              <a:rPr kumimoji="1" lang="en-US" altLang="zh-CN" sz="2000" b="1" i="1" baseline="-25000" dirty="0">
                <a:latin typeface="Times New Roman" pitchFamily="18" charset="0"/>
              </a:rPr>
              <a:t>lm</a:t>
            </a:r>
            <a:r>
              <a:rPr kumimoji="1" lang="en-US" altLang="zh-CN" sz="2000" b="1" kern="0" dirty="0">
                <a:latin typeface="Times New Roman" pitchFamily="18" charset="0"/>
                <a:cs typeface="Times New Roman" pitchFamily="18" charset="0"/>
              </a:rPr>
              <a:t> id + </a:t>
            </a:r>
            <a:r>
              <a:rPr kumimoji="1" lang="en-US" altLang="zh-CN" sz="2000" b="1" i="1" kern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kumimoji="1" lang="en-US" altLang="zh-CN" sz="2000" b="1" kern="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190500" lvl="1" indent="-285750">
              <a:lnSpc>
                <a:spcPts val="2400"/>
              </a:lnSpc>
              <a:spcBef>
                <a:spcPct val="20000"/>
              </a:spcBef>
              <a:buClr>
                <a:srgbClr val="3333CC"/>
              </a:buClr>
              <a:buSzPct val="75000"/>
              <a:defRPr/>
            </a:pPr>
            <a:r>
              <a:rPr kumimoji="1" lang="en-US" altLang="zh-CN" sz="2000" b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   </a:t>
            </a:r>
            <a:r>
              <a:rPr kumimoji="1" lang="en-US" altLang="zh-CN" sz="2000" b="1" kern="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</a:t>
            </a:r>
            <a:r>
              <a:rPr kumimoji="1" lang="en-US" altLang="zh-CN" sz="2000" b="1" i="1" baseline="-25000" dirty="0">
                <a:latin typeface="Times New Roman" pitchFamily="18" charset="0"/>
              </a:rPr>
              <a:t>lm</a:t>
            </a:r>
            <a:r>
              <a:rPr kumimoji="1" lang="en-US" altLang="zh-CN" sz="2000" b="1" kern="0" dirty="0">
                <a:latin typeface="Times New Roman" pitchFamily="18" charset="0"/>
                <a:cs typeface="Times New Roman" pitchFamily="18" charset="0"/>
              </a:rPr>
              <a:t> id + (</a:t>
            </a:r>
            <a:r>
              <a:rPr kumimoji="1" lang="en-US" altLang="zh-CN" sz="2000" b="1" kern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zh-CN" sz="2000" b="1" i="1" kern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 </a:t>
            </a:r>
            <a:r>
              <a:rPr kumimoji="1" lang="en-US" altLang="zh-CN" sz="2000" b="1" kern="0" dirty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pPr marL="190500" lvl="1" indent="-285750">
              <a:lnSpc>
                <a:spcPts val="2400"/>
              </a:lnSpc>
              <a:spcBef>
                <a:spcPct val="20000"/>
              </a:spcBef>
              <a:buClr>
                <a:srgbClr val="3333CC"/>
              </a:buClr>
              <a:buSzPct val="75000"/>
              <a:defRPr/>
            </a:pPr>
            <a:r>
              <a:rPr kumimoji="1" lang="en-US" altLang="zh-CN" sz="2000" b="1" kern="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kumimoji="1" lang="en-US" altLang="zh-CN" sz="2000" b="1" kern="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</a:t>
            </a:r>
            <a:r>
              <a:rPr kumimoji="1" lang="en-US" altLang="zh-CN" sz="2000" b="1" i="1" baseline="-25000" dirty="0">
                <a:latin typeface="Times New Roman" pitchFamily="18" charset="0"/>
              </a:rPr>
              <a:t>lm</a:t>
            </a:r>
            <a:r>
              <a:rPr kumimoji="1" lang="en-US" altLang="zh-CN" sz="2000" b="1" kern="0" dirty="0">
                <a:latin typeface="Times New Roman" pitchFamily="18" charset="0"/>
                <a:cs typeface="Times New Roman" pitchFamily="18" charset="0"/>
              </a:rPr>
              <a:t> id + (</a:t>
            </a:r>
            <a:r>
              <a:rPr kumimoji="1" lang="en-US" altLang="zh-CN" sz="2000" b="1" kern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zh-CN" sz="2000" b="1" i="1" kern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 </a:t>
            </a:r>
            <a:r>
              <a:rPr kumimoji="1" lang="en-US" altLang="zh-CN" sz="2000" b="1" kern="0" dirty="0">
                <a:latin typeface="Times New Roman" pitchFamily="18" charset="0"/>
                <a:cs typeface="Times New Roman" pitchFamily="18" charset="0"/>
              </a:rPr>
              <a:t>+ </a:t>
            </a:r>
            <a:r>
              <a:rPr kumimoji="1" lang="en-US" altLang="zh-CN" sz="2000" b="1" i="1" kern="0" dirty="0">
                <a:latin typeface="Times New Roman" pitchFamily="18" charset="0"/>
                <a:cs typeface="Times New Roman" pitchFamily="18" charset="0"/>
              </a:rPr>
              <a:t>E </a:t>
            </a:r>
            <a:r>
              <a:rPr kumimoji="1" lang="en-US" altLang="zh-CN" sz="2000" b="1" kern="0" dirty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pPr marL="190500" lvl="1" indent="-285750">
              <a:lnSpc>
                <a:spcPts val="2400"/>
              </a:lnSpc>
              <a:spcBef>
                <a:spcPct val="20000"/>
              </a:spcBef>
              <a:buClr>
                <a:srgbClr val="3333CC"/>
              </a:buClr>
              <a:buSzPct val="75000"/>
              <a:defRPr/>
            </a:pPr>
            <a:r>
              <a:rPr kumimoji="1" lang="en-US" altLang="zh-CN" sz="2000" b="1" kern="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 </a:t>
            </a:r>
            <a:r>
              <a:rPr kumimoji="1" lang="en-US" altLang="zh-CN" sz="2000" b="1" i="1" baseline="-25000" dirty="0">
                <a:latin typeface="Times New Roman" pitchFamily="18" charset="0"/>
              </a:rPr>
              <a:t>lm</a:t>
            </a:r>
            <a:r>
              <a:rPr kumimoji="1" lang="en-US" altLang="zh-CN" sz="2000" b="1" kern="0" dirty="0">
                <a:latin typeface="Times New Roman" pitchFamily="18" charset="0"/>
                <a:cs typeface="Times New Roman" pitchFamily="18" charset="0"/>
              </a:rPr>
              <a:t> id + ( id + </a:t>
            </a:r>
            <a:r>
              <a:rPr kumimoji="1" lang="en-US" altLang="zh-CN" sz="2000" b="1" i="1" kern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 </a:t>
            </a:r>
            <a:r>
              <a:rPr kumimoji="1" lang="en-US" altLang="zh-CN" sz="2000" b="1" kern="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190500" lvl="1" indent="-285750">
              <a:lnSpc>
                <a:spcPts val="2400"/>
              </a:lnSpc>
              <a:spcBef>
                <a:spcPct val="20000"/>
              </a:spcBef>
              <a:buClr>
                <a:srgbClr val="3333CC"/>
              </a:buClr>
              <a:buSzPct val="75000"/>
              <a:defRPr/>
            </a:pPr>
            <a:r>
              <a:rPr kumimoji="1" lang="en-US" altLang="zh-CN" sz="2000" b="1" kern="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kumimoji="1" lang="en-US" altLang="zh-CN" sz="2000" b="1" kern="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</a:t>
            </a:r>
            <a:r>
              <a:rPr kumimoji="1" lang="en-US" altLang="zh-CN" sz="2000" b="1" i="1" baseline="-25000" dirty="0">
                <a:latin typeface="Times New Roman" pitchFamily="18" charset="0"/>
              </a:rPr>
              <a:t>lm</a:t>
            </a:r>
            <a:r>
              <a:rPr kumimoji="1" lang="en-US" altLang="zh-CN" sz="2000" b="1" kern="0" dirty="0">
                <a:latin typeface="Times New Roman" pitchFamily="18" charset="0"/>
                <a:cs typeface="Times New Roman" pitchFamily="18" charset="0"/>
              </a:rPr>
              <a:t> id + ( id + id )</a:t>
            </a:r>
          </a:p>
        </p:txBody>
      </p:sp>
      <p:sp>
        <p:nvSpPr>
          <p:cNvPr id="6" name="矩形 5"/>
          <p:cNvSpPr/>
          <p:nvPr/>
        </p:nvSpPr>
        <p:spPr>
          <a:xfrm>
            <a:off x="1647825" y="3548063"/>
            <a:ext cx="1700213" cy="7318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zh-CN" altLang="en-US" sz="2000" b="1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输入</a:t>
            </a:r>
            <a:endParaRPr lang="en-US" altLang="zh-CN" sz="2000" b="1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</a:t>
            </a:r>
            <a:r>
              <a:rPr lang="en-US" altLang="zh-CN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+ ( id +  id )</a:t>
            </a:r>
            <a:endParaRPr lang="zh-CN" altLang="en-US" sz="1400" b="1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655763" y="1674813"/>
            <a:ext cx="1692275" cy="18732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ts val="24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2000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文法</a:t>
            </a:r>
            <a:endParaRPr lang="en-US" altLang="zh-CN" sz="2000" b="1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2400"/>
              </a:lnSpc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r>
              <a:rPr lang="en-US" altLang="zh-CN" sz="2000" b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① </a:t>
            </a:r>
            <a:r>
              <a:rPr lang="en-US" altLang="zh-CN" sz="2000" b="1" i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 → E + E </a:t>
            </a:r>
          </a:p>
          <a:p>
            <a:pPr algn="just" eaLnBrk="1" hangingPunct="1">
              <a:lnSpc>
                <a:spcPts val="2400"/>
              </a:lnSpc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r>
              <a:rPr lang="en-US" altLang="zh-CN" sz="2000" b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②</a:t>
            </a:r>
            <a:r>
              <a:rPr lang="en-US" altLang="zh-CN" sz="2000" b="1" i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i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 → E * E      </a:t>
            </a:r>
          </a:p>
          <a:p>
            <a:pPr algn="just" eaLnBrk="1" hangingPunct="1">
              <a:lnSpc>
                <a:spcPts val="2400"/>
              </a:lnSpc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③</a:t>
            </a:r>
            <a:r>
              <a:rPr lang="en-US" altLang="zh-CN" sz="2000" b="1" i="1">
                <a:latin typeface="Times New Roman" panose="02020603050405020304" pitchFamily="18" charset="0"/>
                <a:ea typeface="楷体" panose="02010609060101010101" pitchFamily="49" charset="-122"/>
              </a:rPr>
              <a:t> E → </a:t>
            </a:r>
            <a:r>
              <a:rPr lang="en-US" altLang="zh-CN" sz="2000" b="1">
                <a:latin typeface="Times New Roman" panose="02020603050405020304" pitchFamily="18" charset="0"/>
                <a:ea typeface="楷体" panose="02010609060101010101" pitchFamily="49" charset="-122"/>
              </a:rPr>
              <a:t>( </a:t>
            </a:r>
            <a:r>
              <a:rPr lang="en-US" altLang="zh-CN" sz="2000" b="1" i="1">
                <a:latin typeface="Times New Roman" panose="02020603050405020304" pitchFamily="18" charset="0"/>
                <a:ea typeface="楷体" panose="02010609060101010101" pitchFamily="49" charset="-122"/>
              </a:rPr>
              <a:t>E </a:t>
            </a:r>
            <a:r>
              <a:rPr lang="en-US" altLang="zh-CN" sz="2000" b="1">
                <a:latin typeface="Times New Roman" panose="02020603050405020304" pitchFamily="18" charset="0"/>
                <a:ea typeface="楷体" panose="02010609060101010101" pitchFamily="49" charset="-122"/>
              </a:rPr>
              <a:t>)</a:t>
            </a:r>
          </a:p>
          <a:p>
            <a:pPr algn="just" eaLnBrk="1" hangingPunct="1">
              <a:lnSpc>
                <a:spcPts val="2400"/>
              </a:lnSpc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④ </a:t>
            </a:r>
            <a:r>
              <a:rPr lang="en-US" altLang="zh-CN" sz="2000" b="1" i="1">
                <a:latin typeface="Times New Roman" panose="02020603050405020304" pitchFamily="18" charset="0"/>
                <a:ea typeface="楷体" panose="02010609060101010101" pitchFamily="49" charset="-122"/>
              </a:rPr>
              <a:t>E → </a:t>
            </a:r>
            <a:r>
              <a:rPr lang="en-US" altLang="zh-CN" sz="2000" b="1">
                <a:latin typeface="Times New Roman" panose="02020603050405020304" pitchFamily="18" charset="0"/>
                <a:ea typeface="楷体" panose="02010609060101010101" pitchFamily="49" charset="-122"/>
              </a:rPr>
              <a:t>id</a:t>
            </a:r>
          </a:p>
        </p:txBody>
      </p:sp>
      <p:sp>
        <p:nvSpPr>
          <p:cNvPr id="8" name="矩形 1"/>
          <p:cNvSpPr>
            <a:spLocks noChangeArrowheads="1"/>
          </p:cNvSpPr>
          <p:nvPr/>
        </p:nvSpPr>
        <p:spPr bwMode="auto">
          <a:xfrm>
            <a:off x="6724650" y="2287588"/>
            <a:ext cx="415925" cy="12001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最</a:t>
            </a:r>
            <a:endParaRPr lang="en-US" altLang="zh-CN" b="1" dirty="0">
              <a:solidFill>
                <a:schemeClr val="tx2">
                  <a:lumMod val="60000"/>
                  <a:lumOff val="4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ctr" eaLnBrk="1" hangingPunct="1">
              <a:defRPr/>
            </a:pP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右</a:t>
            </a:r>
            <a:endParaRPr lang="en-US" altLang="zh-CN" b="1" dirty="0">
              <a:solidFill>
                <a:schemeClr val="tx2">
                  <a:lumMod val="60000"/>
                  <a:lumOff val="4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ctr" eaLnBrk="1" hangingPunct="1">
              <a:defRPr/>
            </a:pP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归</a:t>
            </a:r>
            <a:endParaRPr lang="en-US" altLang="zh-CN" b="1" dirty="0">
              <a:solidFill>
                <a:schemeClr val="tx2">
                  <a:lumMod val="60000"/>
                  <a:lumOff val="4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ctr" eaLnBrk="1" hangingPunct="1">
              <a:defRPr/>
            </a:pP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约</a:t>
            </a:r>
            <a:endParaRPr lang="en-US" altLang="zh-CN" b="1" dirty="0">
              <a:solidFill>
                <a:schemeClr val="tx2">
                  <a:lumMod val="60000"/>
                  <a:lumOff val="4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 bwMode="auto">
          <a:xfrm>
            <a:off x="4211638" y="1957388"/>
            <a:ext cx="141287" cy="1860550"/>
          </a:xfrm>
          <a:prstGeom prst="downArrow">
            <a:avLst>
              <a:gd name="adj1" fmla="val 50000"/>
              <a:gd name="adj2" fmla="val 240466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" name="AutoShape 9"/>
          <p:cNvSpPr>
            <a:spLocks noChangeArrowheads="1"/>
          </p:cNvSpPr>
          <p:nvPr/>
        </p:nvSpPr>
        <p:spPr bwMode="auto">
          <a:xfrm rot="10800000">
            <a:off x="6659563" y="1957388"/>
            <a:ext cx="141287" cy="1868487"/>
          </a:xfrm>
          <a:prstGeom prst="downArrow">
            <a:avLst>
              <a:gd name="adj1" fmla="val 50000"/>
              <a:gd name="adj2" fmla="val 239605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3833813" y="2287588"/>
            <a:ext cx="450850" cy="12001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最</a:t>
            </a:r>
            <a:endParaRPr lang="en-US" altLang="zh-CN" b="1" dirty="0">
              <a:solidFill>
                <a:schemeClr val="tx2">
                  <a:lumMod val="60000"/>
                  <a:lumOff val="4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 eaLnBrk="1" hangingPunct="1">
              <a:defRPr/>
            </a:pP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左</a:t>
            </a:r>
            <a:endParaRPr lang="en-US" altLang="zh-CN" b="1" dirty="0">
              <a:solidFill>
                <a:schemeClr val="tx2">
                  <a:lumMod val="60000"/>
                  <a:lumOff val="4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 eaLnBrk="1" hangingPunct="1">
              <a:defRPr/>
            </a:pP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推</a:t>
            </a:r>
            <a:endParaRPr lang="en-US" altLang="zh-CN" b="1" dirty="0">
              <a:solidFill>
                <a:schemeClr val="tx2">
                  <a:lumMod val="60000"/>
                  <a:lumOff val="4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 eaLnBrk="1" hangingPunct="1">
              <a:defRPr/>
            </a:pP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导</a:t>
            </a:r>
          </a:p>
        </p:txBody>
      </p:sp>
      <p:sp>
        <p:nvSpPr>
          <p:cNvPr id="16395" name="灯片编号占位符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CBC2139-EA31-4D1F-A80F-61C056F53FD2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17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 animBg="1"/>
      <p:bldP spid="10" grpId="0" animBg="1"/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428625" y="889000"/>
            <a:ext cx="8505825" cy="396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indent="-273050" eaLnBrk="1" hangingPunct="1"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zh-CN" altLang="en-US" sz="2200" b="1" dirty="0">
                <a:latin typeface="+mn-ea"/>
                <a:ea typeface="+mn-ea"/>
                <a:cs typeface="Times New Roman" pitchFamily="18" charset="0"/>
              </a:rPr>
              <a:t>在</a:t>
            </a:r>
            <a:r>
              <a:rPr lang="zh-CN" altLang="en-US" sz="2200" b="1" dirty="0">
                <a:solidFill>
                  <a:srgbClr val="FF0000"/>
                </a:solidFill>
                <a:latin typeface="+mn-ea"/>
                <a:ea typeface="+mn-ea"/>
                <a:cs typeface="Times New Roman" pitchFamily="18" charset="0"/>
              </a:rPr>
              <a:t>最右推导</a:t>
            </a:r>
            <a:r>
              <a:rPr lang="zh-CN" altLang="en-US" sz="2200" b="1" dirty="0">
                <a:latin typeface="+mn-ea"/>
                <a:ea typeface="+mn-ea"/>
                <a:cs typeface="Times New Roman" pitchFamily="18" charset="0"/>
              </a:rPr>
              <a:t>中，总是选择每个句型的</a:t>
            </a:r>
            <a:r>
              <a:rPr lang="zh-CN" altLang="en-US" sz="2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  <a:cs typeface="Times New Roman" pitchFamily="18" charset="0"/>
              </a:rPr>
              <a:t>最右非终结符</a:t>
            </a:r>
            <a:r>
              <a:rPr lang="zh-CN" altLang="en-US" sz="2200" b="1" dirty="0">
                <a:latin typeface="+mn-ea"/>
                <a:ea typeface="+mn-ea"/>
                <a:cs typeface="Times New Roman" pitchFamily="18" charset="0"/>
              </a:rPr>
              <a:t>进行替换</a:t>
            </a:r>
            <a:endParaRPr lang="en-US" altLang="zh-CN" sz="2200" b="1" dirty="0">
              <a:latin typeface="+mn-ea"/>
              <a:ea typeface="+mn-ea"/>
              <a:cs typeface="Times New Roman" pitchFamily="18" charset="0"/>
            </a:endParaRPr>
          </a:p>
          <a:p>
            <a:pPr marL="576263" lvl="1" indent="-273050" eaLnBrk="1" hangingPunct="1"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zh-CN" altLang="en-US" sz="2200" b="1" dirty="0">
                <a:latin typeface="+mn-ea"/>
                <a:ea typeface="+mn-ea"/>
                <a:cs typeface="Times New Roman" pitchFamily="18" charset="0"/>
              </a:rPr>
              <a:t>例</a:t>
            </a:r>
            <a:endParaRPr lang="en-US" altLang="zh-CN" sz="2200" b="1" dirty="0">
              <a:latin typeface="+mn-ea"/>
              <a:ea typeface="+mn-ea"/>
              <a:cs typeface="Times New Roman" pitchFamily="18" charset="0"/>
            </a:endParaRPr>
          </a:p>
          <a:p>
            <a:pPr marL="576263" lvl="1" indent="-273050" eaLnBrk="1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None/>
              <a:defRPr/>
            </a:pPr>
            <a:endParaRPr lang="en-US" altLang="zh-CN" sz="2200" b="1" dirty="0">
              <a:latin typeface="+mn-ea"/>
              <a:ea typeface="+mn-ea"/>
              <a:cs typeface="Times New Roman" pitchFamily="18" charset="0"/>
            </a:endParaRPr>
          </a:p>
          <a:p>
            <a:pPr marL="576263" lvl="1" indent="-273050" eaLnBrk="1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None/>
              <a:defRPr/>
            </a:pPr>
            <a:endParaRPr lang="en-US" altLang="zh-CN" sz="2200" b="1" dirty="0">
              <a:latin typeface="+mn-ea"/>
              <a:ea typeface="+mn-ea"/>
              <a:cs typeface="Times New Roman" pitchFamily="18" charset="0"/>
            </a:endParaRPr>
          </a:p>
          <a:p>
            <a:pPr marL="576263" lvl="1" indent="-273050" eaLnBrk="1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None/>
              <a:defRPr/>
            </a:pPr>
            <a:endParaRPr lang="en-US" altLang="zh-CN" sz="2200" b="1" dirty="0">
              <a:latin typeface="+mn-ea"/>
              <a:ea typeface="+mn-ea"/>
              <a:cs typeface="Times New Roman" pitchFamily="18" charset="0"/>
            </a:endParaRPr>
          </a:p>
          <a:p>
            <a:pPr marL="576263" lvl="1" indent="-273050" eaLnBrk="1" hangingPunct="1">
              <a:spcBef>
                <a:spcPct val="20000"/>
              </a:spcBef>
              <a:buClr>
                <a:schemeClr val="accent1"/>
              </a:buClr>
              <a:buSzPct val="100000"/>
              <a:buFont typeface="Wingdings" pitchFamily="2" charset="2"/>
              <a:buNone/>
              <a:defRPr/>
            </a:pPr>
            <a:endParaRPr lang="en-US" altLang="zh-CN" sz="2200" b="1" dirty="0">
              <a:latin typeface="+mn-ea"/>
              <a:ea typeface="+mn-ea"/>
              <a:cs typeface="Times New Roman" pitchFamily="18" charset="0"/>
            </a:endParaRPr>
          </a:p>
          <a:p>
            <a:pPr marL="576263" lvl="1" indent="-273050" eaLnBrk="1" hangingPunct="1">
              <a:spcBef>
                <a:spcPct val="20000"/>
              </a:spcBef>
              <a:buClr>
                <a:schemeClr val="accent1"/>
              </a:buClr>
              <a:buSzPct val="100000"/>
              <a:buFont typeface="Wingdings" pitchFamily="2" charset="2"/>
              <a:buNone/>
              <a:defRPr/>
            </a:pPr>
            <a:endParaRPr lang="en-US" altLang="zh-CN" sz="2200" b="1" dirty="0">
              <a:latin typeface="+mn-ea"/>
              <a:ea typeface="+mn-ea"/>
              <a:cs typeface="Times New Roman" pitchFamily="18" charset="0"/>
            </a:endParaRPr>
          </a:p>
          <a:p>
            <a:pPr marL="576263" lvl="1" indent="-273050" eaLnBrk="1" hangingPunct="1"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endParaRPr lang="en-US" altLang="zh-CN" sz="2200" b="1" dirty="0">
              <a:latin typeface="+mn-ea"/>
              <a:ea typeface="+mn-ea"/>
            </a:endParaRPr>
          </a:p>
          <a:p>
            <a:pPr marL="576263" lvl="1" indent="-273050" eaLnBrk="1" hangingPunct="1"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zh-CN" altLang="en-US" sz="2200" b="1" dirty="0">
                <a:latin typeface="+mn-ea"/>
                <a:ea typeface="+mn-ea"/>
              </a:rPr>
              <a:t>在自底向上的分析中，总是采用最左归约的方式，因此把</a:t>
            </a:r>
            <a:r>
              <a:rPr lang="zh-CN" altLang="en-US" sz="2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最左归约</a:t>
            </a:r>
            <a:r>
              <a:rPr lang="zh-CN" altLang="en-US" sz="2200" b="1" dirty="0">
                <a:latin typeface="+mn-ea"/>
                <a:ea typeface="+mn-ea"/>
              </a:rPr>
              <a:t>称为</a:t>
            </a:r>
            <a:r>
              <a:rPr lang="zh-CN" altLang="en-US" sz="2200" b="1" dirty="0">
                <a:solidFill>
                  <a:srgbClr val="FF0000"/>
                </a:solidFill>
                <a:latin typeface="+mn-ea"/>
                <a:ea typeface="+mn-ea"/>
              </a:rPr>
              <a:t>规范归约</a:t>
            </a:r>
            <a:r>
              <a:rPr lang="zh-CN" altLang="en-US" sz="2200" b="1" dirty="0">
                <a:latin typeface="+mn-ea"/>
                <a:ea typeface="+mn-ea"/>
              </a:rPr>
              <a:t>，而</a:t>
            </a:r>
            <a:r>
              <a:rPr lang="zh-CN" altLang="en-US" sz="2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最右推导</a:t>
            </a:r>
            <a:r>
              <a:rPr lang="zh-CN" altLang="en-US" sz="2200" b="1" dirty="0">
                <a:latin typeface="+mn-ea"/>
                <a:ea typeface="+mn-ea"/>
              </a:rPr>
              <a:t>相应地称为</a:t>
            </a:r>
            <a:r>
              <a:rPr lang="zh-CN" altLang="en-US" sz="2200" b="1" dirty="0">
                <a:solidFill>
                  <a:srgbClr val="FF0000"/>
                </a:solidFill>
                <a:latin typeface="+mn-ea"/>
                <a:ea typeface="+mn-ea"/>
              </a:rPr>
              <a:t>规范推导</a:t>
            </a:r>
            <a:endParaRPr lang="en-US" altLang="zh-CN" sz="2200" b="1" dirty="0">
              <a:latin typeface="+mn-ea"/>
              <a:ea typeface="+mn-ea"/>
              <a:cs typeface="Times New Roman" pitchFamily="18" charset="0"/>
            </a:endParaRP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755650" y="268288"/>
            <a:ext cx="7931150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zh-CN" altLang="en-US" sz="3000" b="1" spc="3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最右推导</a:t>
            </a:r>
            <a:r>
              <a:rPr lang="en-US" altLang="zh-CN" sz="2500" b="1" spc="300" dirty="0"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(</a:t>
            </a:r>
            <a:r>
              <a:rPr lang="en-US" altLang="zh-CN" sz="2500" b="1" i="1" dirty="0"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Right</a:t>
            </a:r>
            <a:r>
              <a:rPr lang="en-US" altLang="zh-CN" sz="2500" b="1" dirty="0"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-</a:t>
            </a:r>
            <a:r>
              <a:rPr lang="en-US" altLang="zh-CN" sz="2500" b="1" i="1" dirty="0"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most Derivation</a:t>
            </a:r>
            <a:r>
              <a:rPr lang="en-US" altLang="zh-CN" sz="2500" b="1" spc="300" dirty="0">
                <a:latin typeface="Times New Roman" panose="02020603050405020304" pitchFamily="18" charset="0"/>
                <a:ea typeface="微软雅黑" pitchFamily="34" charset="-122"/>
                <a:cs typeface="Times New Roman" pitchFamily="18" charset="0"/>
              </a:rPr>
              <a:t>)</a:t>
            </a:r>
          </a:p>
        </p:txBody>
      </p:sp>
      <p:sp>
        <p:nvSpPr>
          <p:cNvPr id="12" name="矩形 11"/>
          <p:cNvSpPr/>
          <p:nvPr/>
        </p:nvSpPr>
        <p:spPr>
          <a:xfrm>
            <a:off x="1655763" y="3351213"/>
            <a:ext cx="1979612" cy="7334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zh-CN" altLang="en-US" sz="2000" b="1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输入</a:t>
            </a:r>
            <a:endParaRPr lang="en-US" altLang="zh-CN" sz="2000" b="1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 + ( id +  id )</a:t>
            </a:r>
            <a:endParaRPr lang="zh-CN" altLang="en-US" sz="1400" b="1"/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1655763" y="1587500"/>
            <a:ext cx="1979612" cy="17637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ts val="24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b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文法</a:t>
            </a:r>
            <a:endParaRPr lang="en-US" altLang="zh-CN" b="1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2400"/>
              </a:lnSpc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r>
              <a:rPr lang="en-US" altLang="zh-CN" b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① </a:t>
            </a:r>
            <a:r>
              <a:rPr lang="en-US" altLang="zh-CN" b="1" i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 → E + E </a:t>
            </a:r>
          </a:p>
          <a:p>
            <a:pPr algn="just" eaLnBrk="1" hangingPunct="1">
              <a:lnSpc>
                <a:spcPts val="2400"/>
              </a:lnSpc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r>
              <a:rPr lang="en-US" altLang="zh-CN" b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②</a:t>
            </a:r>
            <a:r>
              <a:rPr lang="en-US" altLang="zh-CN" b="1" i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 → E * E      </a:t>
            </a:r>
          </a:p>
          <a:p>
            <a:pPr algn="just" eaLnBrk="1" hangingPunct="1">
              <a:lnSpc>
                <a:spcPts val="2400"/>
              </a:lnSpc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③</a:t>
            </a:r>
            <a:r>
              <a:rPr lang="en-US" altLang="zh-CN" b="1" i="1">
                <a:latin typeface="Times New Roman" panose="02020603050405020304" pitchFamily="18" charset="0"/>
                <a:ea typeface="楷体" panose="02010609060101010101" pitchFamily="49" charset="-122"/>
              </a:rPr>
              <a:t> E → </a:t>
            </a:r>
            <a:r>
              <a:rPr lang="en-US" altLang="zh-CN" b="1">
                <a:latin typeface="Times New Roman" panose="02020603050405020304" pitchFamily="18" charset="0"/>
                <a:ea typeface="楷体" panose="02010609060101010101" pitchFamily="49" charset="-122"/>
              </a:rPr>
              <a:t>( </a:t>
            </a:r>
            <a:r>
              <a:rPr lang="en-US" altLang="zh-CN" b="1" i="1">
                <a:latin typeface="Times New Roman" panose="02020603050405020304" pitchFamily="18" charset="0"/>
                <a:ea typeface="楷体" panose="02010609060101010101" pitchFamily="49" charset="-122"/>
              </a:rPr>
              <a:t>E </a:t>
            </a:r>
            <a:r>
              <a:rPr lang="en-US" altLang="zh-CN" b="1">
                <a:latin typeface="Times New Roman" panose="02020603050405020304" pitchFamily="18" charset="0"/>
                <a:ea typeface="楷体" panose="02010609060101010101" pitchFamily="49" charset="-122"/>
              </a:rPr>
              <a:t>)</a:t>
            </a:r>
          </a:p>
          <a:p>
            <a:pPr algn="just" eaLnBrk="1" hangingPunct="1">
              <a:lnSpc>
                <a:spcPts val="2400"/>
              </a:lnSpc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④ </a:t>
            </a:r>
            <a:r>
              <a:rPr lang="en-US" altLang="zh-CN" b="1" i="1">
                <a:latin typeface="Times New Roman" panose="02020603050405020304" pitchFamily="18" charset="0"/>
                <a:ea typeface="楷体" panose="02010609060101010101" pitchFamily="49" charset="-122"/>
              </a:rPr>
              <a:t>E → </a:t>
            </a:r>
            <a:r>
              <a:rPr lang="en-US" altLang="zh-CN" b="1">
                <a:latin typeface="Times New Roman" panose="02020603050405020304" pitchFamily="18" charset="0"/>
                <a:ea typeface="楷体" panose="02010609060101010101" pitchFamily="49" charset="-122"/>
              </a:rPr>
              <a:t>id</a:t>
            </a:r>
          </a:p>
        </p:txBody>
      </p:sp>
      <p:sp>
        <p:nvSpPr>
          <p:cNvPr id="16" name="矩形 15"/>
          <p:cNvSpPr/>
          <p:nvPr/>
        </p:nvSpPr>
        <p:spPr>
          <a:xfrm>
            <a:off x="4284663" y="1487488"/>
            <a:ext cx="2366962" cy="2616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marL="190500" lvl="1" indent="-285750">
              <a:spcBef>
                <a:spcPct val="20000"/>
              </a:spcBef>
              <a:buClr>
                <a:srgbClr val="3333CC"/>
              </a:buClr>
              <a:buSzPct val="75000"/>
              <a:defRPr/>
            </a:pPr>
            <a:r>
              <a:rPr lang="zh-CN" altLang="en-US" sz="2000" b="1" dirty="0">
                <a:latin typeface="楷体" pitchFamily="49" charset="-122"/>
                <a:ea typeface="楷体" pitchFamily="49" charset="-122"/>
              </a:rPr>
              <a:t>推导过程</a:t>
            </a:r>
            <a:endParaRPr lang="en-US" altLang="zh-CN" sz="2000" b="1" dirty="0">
              <a:latin typeface="楷体" pitchFamily="49" charset="-122"/>
              <a:ea typeface="楷体" pitchFamily="49" charset="-122"/>
            </a:endParaRPr>
          </a:p>
          <a:p>
            <a:pPr marL="190500" lvl="1" indent="-285750">
              <a:spcBef>
                <a:spcPct val="20000"/>
              </a:spcBef>
              <a:buClr>
                <a:srgbClr val="3333CC"/>
              </a:buClr>
              <a:buSzPct val="75000"/>
              <a:defRPr/>
            </a:pPr>
            <a:r>
              <a:rPr kumimoji="1" lang="en-US" altLang="zh-CN" sz="2000" b="1" i="1" kern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kumimoji="1" lang="en-US" altLang="zh-CN" sz="2000" b="1" kern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zh-CN" sz="2000" b="1" kern="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</a:t>
            </a:r>
            <a:r>
              <a:rPr kumimoji="1" lang="en-US" altLang="zh-CN" sz="2000" b="1" i="1" baseline="-25000" dirty="0" err="1">
                <a:latin typeface="Times New Roman" pitchFamily="18" charset="0"/>
              </a:rPr>
              <a:t>rm</a:t>
            </a:r>
            <a:r>
              <a:rPr kumimoji="1" lang="en-US" altLang="zh-CN" sz="2000" b="1" kern="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zh-CN" sz="2000" b="1" i="1" kern="0" dirty="0">
                <a:latin typeface="Times New Roman" pitchFamily="18" charset="0"/>
                <a:cs typeface="Times New Roman" pitchFamily="18" charset="0"/>
              </a:rPr>
              <a:t>E </a:t>
            </a:r>
            <a:r>
              <a:rPr kumimoji="1" lang="en-US" altLang="zh-CN" sz="2000" b="1" kern="0" dirty="0">
                <a:latin typeface="Times New Roman" pitchFamily="18" charset="0"/>
                <a:cs typeface="Times New Roman" pitchFamily="18" charset="0"/>
              </a:rPr>
              <a:t>+ </a:t>
            </a:r>
            <a:r>
              <a:rPr kumimoji="1" lang="en-US" altLang="zh-CN" sz="2000" b="1" i="1" kern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kumimoji="1" lang="en-US" altLang="zh-CN" sz="2000" b="1" kern="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190500" lvl="1" indent="-285750">
              <a:spcBef>
                <a:spcPct val="20000"/>
              </a:spcBef>
              <a:buClr>
                <a:srgbClr val="3333CC"/>
              </a:buClr>
              <a:buSzPct val="75000"/>
              <a:defRPr/>
            </a:pPr>
            <a:r>
              <a:rPr kumimoji="1" lang="en-US" altLang="zh-CN" sz="2000" b="1" kern="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 </a:t>
            </a:r>
            <a:r>
              <a:rPr kumimoji="1" lang="en-US" altLang="zh-CN" sz="2000" b="1" i="1" baseline="-25000" dirty="0" err="1">
                <a:latin typeface="Times New Roman" pitchFamily="18" charset="0"/>
              </a:rPr>
              <a:t>rm</a:t>
            </a:r>
            <a:r>
              <a:rPr kumimoji="1" lang="en-US" altLang="zh-CN" sz="2000" b="1" kern="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zh-CN" sz="2000" b="1" i="1" kern="0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kumimoji="1" lang="en-US" altLang="zh-CN" sz="2000" b="1" kern="0" dirty="0">
                <a:latin typeface="Times New Roman" pitchFamily="18" charset="0"/>
                <a:cs typeface="Times New Roman" pitchFamily="18" charset="0"/>
              </a:rPr>
              <a:t> + (</a:t>
            </a:r>
            <a:r>
              <a:rPr kumimoji="1" lang="en-US" altLang="zh-CN" sz="2000" b="1" kern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zh-CN" sz="2000" b="1" i="1" kern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 </a:t>
            </a:r>
            <a:r>
              <a:rPr kumimoji="1" lang="en-US" altLang="zh-CN" sz="2000" b="1" kern="0" dirty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pPr marL="190500" lvl="1" indent="-285750">
              <a:spcBef>
                <a:spcPct val="20000"/>
              </a:spcBef>
              <a:buClr>
                <a:srgbClr val="3333CC"/>
              </a:buClr>
              <a:buSzPct val="75000"/>
              <a:defRPr/>
            </a:pPr>
            <a:r>
              <a:rPr kumimoji="1" lang="en-US" altLang="zh-CN" sz="2000" b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   </a:t>
            </a:r>
            <a:r>
              <a:rPr kumimoji="1" lang="en-US" altLang="zh-CN" sz="2000" b="1" kern="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</a:t>
            </a:r>
            <a:r>
              <a:rPr kumimoji="1" lang="en-US" altLang="zh-CN" sz="2000" b="1" i="1" baseline="-25000" dirty="0" err="1">
                <a:latin typeface="Times New Roman" pitchFamily="18" charset="0"/>
              </a:rPr>
              <a:t>rm</a:t>
            </a:r>
            <a:r>
              <a:rPr kumimoji="1" lang="en-US" altLang="zh-CN" sz="2000" b="1" kern="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zh-CN" sz="2000" b="1" i="1" kern="0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kumimoji="1" lang="en-US" altLang="zh-CN" sz="2000" b="1" kern="0" dirty="0">
                <a:latin typeface="Times New Roman" pitchFamily="18" charset="0"/>
                <a:cs typeface="Times New Roman" pitchFamily="18" charset="0"/>
              </a:rPr>
              <a:t> + (</a:t>
            </a:r>
            <a:r>
              <a:rPr kumimoji="1" lang="en-US" altLang="zh-CN" sz="2000" b="1" kern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zh-CN" sz="2000" b="1" i="1" kern="0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kumimoji="1" lang="en-US" altLang="zh-CN" sz="2000" b="1" kern="0" dirty="0">
                <a:latin typeface="Times New Roman" pitchFamily="18" charset="0"/>
                <a:cs typeface="Times New Roman" pitchFamily="18" charset="0"/>
              </a:rPr>
              <a:t> + </a:t>
            </a:r>
            <a:r>
              <a:rPr kumimoji="1" lang="en-US" altLang="zh-CN" sz="2000" b="1" i="1" kern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 </a:t>
            </a:r>
            <a:r>
              <a:rPr kumimoji="1" lang="en-US" altLang="zh-CN" sz="2000" b="1" kern="0" dirty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pPr marL="190500" lvl="1" indent="-285750">
              <a:spcBef>
                <a:spcPct val="20000"/>
              </a:spcBef>
              <a:buClr>
                <a:srgbClr val="3333CC"/>
              </a:buClr>
              <a:buSzPct val="75000"/>
              <a:defRPr/>
            </a:pPr>
            <a:r>
              <a:rPr kumimoji="1" lang="en-US" altLang="zh-CN" sz="2000" b="1" kern="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kumimoji="1" lang="en-US" altLang="zh-CN" sz="2000" b="1" kern="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</a:t>
            </a:r>
            <a:r>
              <a:rPr kumimoji="1" lang="en-US" altLang="zh-CN" sz="2000" b="1" i="1" baseline="-25000" dirty="0" err="1">
                <a:latin typeface="Times New Roman" pitchFamily="18" charset="0"/>
              </a:rPr>
              <a:t>rm</a:t>
            </a:r>
            <a:r>
              <a:rPr kumimoji="1" lang="en-US" altLang="zh-CN" sz="2000" b="1" kern="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zh-CN" sz="2000" b="1" i="1" kern="0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kumimoji="1" lang="en-US" altLang="zh-CN" sz="2000" b="1" kern="0" dirty="0">
                <a:latin typeface="Times New Roman" pitchFamily="18" charset="0"/>
                <a:cs typeface="Times New Roman" pitchFamily="18" charset="0"/>
              </a:rPr>
              <a:t> + (</a:t>
            </a:r>
            <a:r>
              <a:rPr kumimoji="1" lang="en-US" altLang="zh-CN" sz="2000" b="1" kern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zh-CN" sz="2000" b="1" i="1" kern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 </a:t>
            </a:r>
            <a:r>
              <a:rPr kumimoji="1" lang="en-US" altLang="zh-CN" sz="2000" b="1" kern="0" dirty="0">
                <a:latin typeface="Times New Roman" pitchFamily="18" charset="0"/>
                <a:cs typeface="Times New Roman" pitchFamily="18" charset="0"/>
              </a:rPr>
              <a:t>+ id</a:t>
            </a:r>
            <a:r>
              <a:rPr kumimoji="1" lang="en-US" altLang="zh-CN" sz="2000" b="1" i="1" kern="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zh-CN" sz="2000" b="1" kern="0" dirty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pPr marL="190500" lvl="1" indent="-285750">
              <a:spcBef>
                <a:spcPct val="20000"/>
              </a:spcBef>
              <a:buClr>
                <a:srgbClr val="3333CC"/>
              </a:buClr>
              <a:buSzPct val="75000"/>
              <a:defRPr/>
            </a:pPr>
            <a:r>
              <a:rPr kumimoji="1" lang="en-US" altLang="zh-CN" sz="2000" b="1" kern="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 </a:t>
            </a:r>
            <a:r>
              <a:rPr kumimoji="1" lang="en-US" altLang="zh-CN" sz="2000" b="1" i="1" baseline="-25000" dirty="0" err="1">
                <a:latin typeface="Times New Roman" pitchFamily="18" charset="0"/>
              </a:rPr>
              <a:t>rm</a:t>
            </a:r>
            <a:r>
              <a:rPr kumimoji="1" lang="en-US" altLang="zh-CN" sz="2000" b="1" kern="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zh-CN" sz="2000" b="1" i="1" kern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 </a:t>
            </a:r>
            <a:r>
              <a:rPr kumimoji="1" lang="en-US" altLang="zh-CN" sz="2000" b="1" kern="0" dirty="0">
                <a:latin typeface="Times New Roman" pitchFamily="18" charset="0"/>
                <a:cs typeface="Times New Roman" pitchFamily="18" charset="0"/>
              </a:rPr>
              <a:t>+ ( id + id</a:t>
            </a:r>
            <a:r>
              <a:rPr kumimoji="1" lang="en-US" altLang="zh-CN" sz="2000" b="1" i="1" kern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zh-CN" sz="2000" b="1" kern="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190500" lvl="1" indent="-285750">
              <a:spcBef>
                <a:spcPct val="20000"/>
              </a:spcBef>
              <a:buClr>
                <a:srgbClr val="3333CC"/>
              </a:buClr>
              <a:buSzPct val="75000"/>
              <a:defRPr/>
            </a:pPr>
            <a:r>
              <a:rPr kumimoji="1" lang="en-US" altLang="zh-CN" sz="2000" b="1" kern="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kumimoji="1" lang="en-US" altLang="zh-CN" sz="2000" b="1" kern="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</a:t>
            </a:r>
            <a:r>
              <a:rPr kumimoji="1" lang="en-US" altLang="zh-CN" sz="2000" b="1" i="1" baseline="-25000" dirty="0" err="1">
                <a:latin typeface="Times New Roman" pitchFamily="18" charset="0"/>
              </a:rPr>
              <a:t>rm</a:t>
            </a:r>
            <a:r>
              <a:rPr kumimoji="1" lang="en-US" altLang="zh-CN" sz="2000" b="1" kern="0" dirty="0">
                <a:latin typeface="Times New Roman" pitchFamily="18" charset="0"/>
                <a:cs typeface="Times New Roman" pitchFamily="18" charset="0"/>
              </a:rPr>
              <a:t> id + ( id + id )</a:t>
            </a:r>
          </a:p>
        </p:txBody>
      </p:sp>
      <p:sp>
        <p:nvSpPr>
          <p:cNvPr id="15" name="矩形 1"/>
          <p:cNvSpPr>
            <a:spLocks noChangeArrowheads="1"/>
          </p:cNvSpPr>
          <p:nvPr/>
        </p:nvSpPr>
        <p:spPr bwMode="auto">
          <a:xfrm>
            <a:off x="6724650" y="2287588"/>
            <a:ext cx="415925" cy="12001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最</a:t>
            </a:r>
            <a:endParaRPr lang="en-US" altLang="zh-CN" b="1" dirty="0">
              <a:solidFill>
                <a:schemeClr val="tx2">
                  <a:lumMod val="60000"/>
                  <a:lumOff val="4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ctr" eaLnBrk="1" hangingPunct="1">
              <a:defRPr/>
            </a:pP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左</a:t>
            </a:r>
            <a:endParaRPr lang="en-US" altLang="zh-CN" b="1" dirty="0">
              <a:solidFill>
                <a:schemeClr val="tx2">
                  <a:lumMod val="60000"/>
                  <a:lumOff val="4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ctr" eaLnBrk="1" hangingPunct="1">
              <a:defRPr/>
            </a:pP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归</a:t>
            </a:r>
            <a:endParaRPr lang="en-US" altLang="zh-CN" b="1" dirty="0">
              <a:solidFill>
                <a:schemeClr val="tx2">
                  <a:lumMod val="60000"/>
                  <a:lumOff val="4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ctr" eaLnBrk="1" hangingPunct="1">
              <a:defRPr/>
            </a:pP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约</a:t>
            </a:r>
            <a:endParaRPr lang="en-US" altLang="zh-CN" b="1" dirty="0">
              <a:solidFill>
                <a:schemeClr val="tx2">
                  <a:lumMod val="60000"/>
                  <a:lumOff val="4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AutoShape 6"/>
          <p:cNvSpPr>
            <a:spLocks noChangeArrowheads="1"/>
          </p:cNvSpPr>
          <p:nvPr/>
        </p:nvSpPr>
        <p:spPr bwMode="auto">
          <a:xfrm>
            <a:off x="4211638" y="1957388"/>
            <a:ext cx="141287" cy="1860550"/>
          </a:xfrm>
          <a:prstGeom prst="downArrow">
            <a:avLst>
              <a:gd name="adj1" fmla="val 50000"/>
              <a:gd name="adj2" fmla="val 240466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8" name="AutoShape 9"/>
          <p:cNvSpPr>
            <a:spLocks noChangeArrowheads="1"/>
          </p:cNvSpPr>
          <p:nvPr/>
        </p:nvSpPr>
        <p:spPr bwMode="auto">
          <a:xfrm rot="10800000">
            <a:off x="6659563" y="1957388"/>
            <a:ext cx="141287" cy="1868487"/>
          </a:xfrm>
          <a:prstGeom prst="downArrow">
            <a:avLst>
              <a:gd name="adj1" fmla="val 50000"/>
              <a:gd name="adj2" fmla="val 239605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9" name="Rectangle 7"/>
          <p:cNvSpPr>
            <a:spLocks noChangeArrowheads="1"/>
          </p:cNvSpPr>
          <p:nvPr/>
        </p:nvSpPr>
        <p:spPr bwMode="auto">
          <a:xfrm>
            <a:off x="3833813" y="2287588"/>
            <a:ext cx="450850" cy="12001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最</a:t>
            </a:r>
            <a:endParaRPr lang="en-US" altLang="zh-CN" b="1" dirty="0">
              <a:solidFill>
                <a:schemeClr val="tx2">
                  <a:lumMod val="60000"/>
                  <a:lumOff val="4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 eaLnBrk="1" hangingPunct="1">
              <a:defRPr/>
            </a:pP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右</a:t>
            </a:r>
            <a:endParaRPr lang="en-US" altLang="zh-CN" b="1" dirty="0">
              <a:solidFill>
                <a:schemeClr val="tx2">
                  <a:lumMod val="60000"/>
                  <a:lumOff val="4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 eaLnBrk="1" hangingPunct="1">
              <a:defRPr/>
            </a:pP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推</a:t>
            </a:r>
            <a:endParaRPr lang="en-US" altLang="zh-CN" b="1" dirty="0">
              <a:solidFill>
                <a:schemeClr val="tx2">
                  <a:lumMod val="60000"/>
                  <a:lumOff val="4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 eaLnBrk="1" hangingPunct="1">
              <a:defRPr/>
            </a:pP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导</a:t>
            </a:r>
          </a:p>
        </p:txBody>
      </p:sp>
      <p:sp>
        <p:nvSpPr>
          <p:cNvPr id="18443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B3FC5F2-F75A-4DB6-B343-7AB0E48FBB64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18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/>
      <p:bldP spid="17" grpId="0" animBg="1"/>
      <p:bldP spid="18" grpId="0" animBg="1"/>
      <p:bldP spid="1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714375" y="268288"/>
            <a:ext cx="83883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最左推导和最右推导的唯一性</a:t>
            </a:r>
            <a:endParaRPr lang="zh-CN" altLang="en-US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072188" y="755650"/>
            <a:ext cx="2414587" cy="2032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190500" lvl="1" indent="-285750">
              <a:spcBef>
                <a:spcPct val="20000"/>
              </a:spcBef>
              <a:buClr>
                <a:srgbClr val="3333CC"/>
              </a:buClr>
              <a:buSzPct val="75000"/>
              <a:defRPr/>
            </a:pPr>
            <a:r>
              <a:rPr kumimoji="1" lang="en-US" altLang="zh-CN" b="1" i="1" kern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kumimoji="1" lang="en-US" altLang="zh-CN" b="1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zh-CN" b="1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</a:t>
            </a:r>
            <a:r>
              <a:rPr kumimoji="1" lang="en-US" altLang="zh-CN" b="1" i="1" baseline="-25000" dirty="0">
                <a:solidFill>
                  <a:srgbClr val="000000"/>
                </a:solidFill>
                <a:latin typeface="Times New Roman" pitchFamily="18" charset="0"/>
              </a:rPr>
              <a:t>lm</a:t>
            </a:r>
            <a:r>
              <a:rPr kumimoji="1" lang="en-US" altLang="zh-CN" b="1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zh-CN" b="1" i="1" kern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kumimoji="1" lang="en-US" altLang="zh-CN" b="1" i="1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zh-CN" b="1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 </a:t>
            </a:r>
            <a:r>
              <a:rPr kumimoji="1" lang="en-US" altLang="zh-CN" b="1" i="1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kumimoji="1" lang="en-US" altLang="zh-CN" b="1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190500" lvl="1" indent="-285750">
              <a:spcBef>
                <a:spcPct val="20000"/>
              </a:spcBef>
              <a:buClr>
                <a:srgbClr val="3333CC"/>
              </a:buClr>
              <a:buSzPct val="75000"/>
              <a:defRPr/>
            </a:pPr>
            <a:r>
              <a:rPr kumimoji="1" lang="en-US" altLang="zh-CN" b="1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 </a:t>
            </a:r>
            <a:r>
              <a:rPr kumimoji="1" lang="en-US" altLang="zh-CN" b="1" i="1" baseline="-25000" dirty="0">
                <a:solidFill>
                  <a:srgbClr val="000000"/>
                </a:solidFill>
                <a:latin typeface="Times New Roman" pitchFamily="18" charset="0"/>
              </a:rPr>
              <a:t>lm</a:t>
            </a:r>
            <a:r>
              <a:rPr kumimoji="1" lang="en-US" altLang="zh-CN" b="1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id + </a:t>
            </a:r>
            <a:r>
              <a:rPr kumimoji="1" lang="en-US" altLang="zh-CN" b="1" i="1" kern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kumimoji="1" lang="en-US" altLang="zh-CN" b="1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190500" lvl="1" indent="-285750">
              <a:spcBef>
                <a:spcPct val="20000"/>
              </a:spcBef>
              <a:buClr>
                <a:srgbClr val="3333CC"/>
              </a:buClr>
              <a:buSzPct val="75000"/>
              <a:defRPr/>
            </a:pPr>
            <a:r>
              <a:rPr kumimoji="1" lang="en-US" altLang="zh-CN" b="1" kern="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 pitchFamily="18" charset="2"/>
              </a:rPr>
              <a:t>   </a:t>
            </a:r>
            <a:r>
              <a:rPr kumimoji="1" lang="en-US" altLang="zh-CN" b="1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</a:t>
            </a:r>
            <a:r>
              <a:rPr kumimoji="1" lang="en-US" altLang="zh-CN" b="1" i="1" baseline="-25000" dirty="0">
                <a:solidFill>
                  <a:srgbClr val="000000"/>
                </a:solidFill>
                <a:latin typeface="Times New Roman" pitchFamily="18" charset="0"/>
              </a:rPr>
              <a:t>lm</a:t>
            </a:r>
            <a:r>
              <a:rPr kumimoji="1" lang="en-US" altLang="zh-CN" b="1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id + ( </a:t>
            </a:r>
            <a:r>
              <a:rPr kumimoji="1" lang="en-US" altLang="zh-CN" b="1" i="1" kern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kumimoji="1" lang="en-US" altLang="zh-CN" b="1" i="1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zh-CN" b="1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pPr marL="190500" lvl="1" indent="-285750">
              <a:spcBef>
                <a:spcPct val="20000"/>
              </a:spcBef>
              <a:buClr>
                <a:srgbClr val="3333CC"/>
              </a:buClr>
              <a:buSzPct val="75000"/>
              <a:defRPr/>
            </a:pPr>
            <a:r>
              <a:rPr kumimoji="1" lang="en-US" altLang="zh-CN" b="1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kumimoji="1" lang="en-US" altLang="zh-CN" b="1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</a:t>
            </a:r>
            <a:r>
              <a:rPr kumimoji="1" lang="en-US" altLang="zh-CN" b="1" i="1" baseline="-25000" dirty="0">
                <a:solidFill>
                  <a:srgbClr val="000000"/>
                </a:solidFill>
                <a:latin typeface="Times New Roman" pitchFamily="18" charset="0"/>
              </a:rPr>
              <a:t>lm</a:t>
            </a:r>
            <a:r>
              <a:rPr kumimoji="1" lang="en-US" altLang="zh-CN" b="1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id + ( </a:t>
            </a:r>
            <a:r>
              <a:rPr kumimoji="1" lang="en-US" altLang="zh-CN" b="1" i="1" kern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kumimoji="1" lang="en-US" altLang="zh-CN" b="1" i="1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zh-CN" b="1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 </a:t>
            </a:r>
            <a:r>
              <a:rPr kumimoji="1" lang="en-US" altLang="zh-CN" b="1" i="1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 </a:t>
            </a:r>
            <a:r>
              <a:rPr kumimoji="1" lang="en-US" altLang="zh-CN" b="1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pPr marL="190500" lvl="1" indent="-285750">
              <a:spcBef>
                <a:spcPct val="20000"/>
              </a:spcBef>
              <a:buClr>
                <a:srgbClr val="3333CC"/>
              </a:buClr>
              <a:buSzPct val="75000"/>
              <a:defRPr/>
            </a:pPr>
            <a:r>
              <a:rPr kumimoji="1" lang="en-US" altLang="zh-CN" b="1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 </a:t>
            </a:r>
            <a:r>
              <a:rPr kumimoji="1" lang="en-US" altLang="zh-CN" b="1" i="1" baseline="-25000" dirty="0">
                <a:solidFill>
                  <a:srgbClr val="000000"/>
                </a:solidFill>
                <a:latin typeface="Times New Roman" pitchFamily="18" charset="0"/>
              </a:rPr>
              <a:t>lm</a:t>
            </a:r>
            <a:r>
              <a:rPr kumimoji="1" lang="en-US" altLang="zh-CN" b="1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id + ( id + </a:t>
            </a:r>
            <a:r>
              <a:rPr kumimoji="1" lang="en-US" altLang="zh-CN" b="1" i="1" kern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kumimoji="1" lang="en-US" altLang="zh-CN" b="1" i="1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zh-CN" b="1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190500" lvl="1" indent="-285750">
              <a:spcBef>
                <a:spcPct val="20000"/>
              </a:spcBef>
              <a:buClr>
                <a:srgbClr val="3333CC"/>
              </a:buClr>
              <a:buSzPct val="75000"/>
              <a:defRPr/>
            </a:pPr>
            <a:r>
              <a:rPr kumimoji="1" lang="en-US" altLang="zh-CN" b="1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kumimoji="1" lang="en-US" altLang="zh-CN" b="1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</a:t>
            </a:r>
            <a:r>
              <a:rPr kumimoji="1" lang="en-US" altLang="zh-CN" b="1" i="1" baseline="-25000" dirty="0">
                <a:solidFill>
                  <a:srgbClr val="000000"/>
                </a:solidFill>
                <a:latin typeface="Times New Roman" pitchFamily="18" charset="0"/>
              </a:rPr>
              <a:t>lm</a:t>
            </a:r>
            <a:r>
              <a:rPr kumimoji="1" lang="en-US" altLang="zh-CN" b="1" kern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id + ( id + id )</a:t>
            </a:r>
          </a:p>
        </p:txBody>
      </p:sp>
      <p:grpSp>
        <p:nvGrpSpPr>
          <p:cNvPr id="2" name="组合 3"/>
          <p:cNvGrpSpPr>
            <a:grpSpLocks/>
          </p:cNvGrpSpPr>
          <p:nvPr/>
        </p:nvGrpSpPr>
        <p:grpSpPr bwMode="auto">
          <a:xfrm>
            <a:off x="3286125" y="1643063"/>
            <a:ext cx="2720975" cy="2109787"/>
            <a:chOff x="3315223" y="3225232"/>
            <a:chExt cx="2720535" cy="2815873"/>
          </a:xfrm>
        </p:grpSpPr>
        <p:sp>
          <p:nvSpPr>
            <p:cNvPr id="3" name="矩形 2"/>
            <p:cNvSpPr/>
            <p:nvPr/>
          </p:nvSpPr>
          <p:spPr>
            <a:xfrm>
              <a:off x="4026308" y="3225232"/>
              <a:ext cx="503157" cy="2881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CN" sz="2000" b="1" i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E</a:t>
              </a:r>
              <a:endParaRPr lang="zh-CN" altLang="en-US" sz="20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 flipH="1">
              <a:off x="3567595" y="3608733"/>
              <a:ext cx="682515" cy="25001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4250110" y="3608733"/>
              <a:ext cx="0" cy="27756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4250110" y="3608733"/>
              <a:ext cx="747591" cy="27756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 16"/>
            <p:cNvSpPr/>
            <p:nvPr/>
          </p:nvSpPr>
          <p:spPr>
            <a:xfrm>
              <a:off x="3315223" y="3907483"/>
              <a:ext cx="503157" cy="28603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CN" sz="2000" b="1" i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E</a:t>
              </a:r>
              <a:endParaRPr lang="zh-CN" altLang="en-US" sz="20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4005674" y="3899008"/>
              <a:ext cx="503156" cy="2881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+</a:t>
              </a:r>
              <a:endParaRPr lang="zh-CN" alt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4746916" y="3928671"/>
              <a:ext cx="503157" cy="2881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CN" sz="2000" b="1" i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E</a:t>
              </a:r>
              <a:endParaRPr lang="zh-CN" altLang="en-US" sz="20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20" name="直接连接符 19"/>
            <p:cNvCxnSpPr/>
            <p:nvPr/>
          </p:nvCxnSpPr>
          <p:spPr>
            <a:xfrm>
              <a:off x="3585054" y="4216826"/>
              <a:ext cx="0" cy="27756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矩形 20"/>
            <p:cNvSpPr/>
            <p:nvPr/>
          </p:nvSpPr>
          <p:spPr>
            <a:xfrm>
              <a:off x="3337444" y="4507100"/>
              <a:ext cx="503157" cy="2881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id</a:t>
              </a:r>
              <a:endParaRPr lang="zh-CN" alt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28" name="直接连接符 27"/>
            <p:cNvCxnSpPr/>
            <p:nvPr/>
          </p:nvCxnSpPr>
          <p:spPr>
            <a:xfrm flipH="1">
              <a:off x="4316774" y="4223182"/>
              <a:ext cx="684101" cy="25001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5000875" y="4223182"/>
              <a:ext cx="0" cy="27756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5000875" y="4223182"/>
              <a:ext cx="746004" cy="27756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矩形 30"/>
            <p:cNvSpPr/>
            <p:nvPr/>
          </p:nvSpPr>
          <p:spPr>
            <a:xfrm>
              <a:off x="4064402" y="4521932"/>
              <a:ext cx="503157" cy="28603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CN" sz="20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(</a:t>
              </a:r>
              <a:endParaRPr lang="zh-CN" alt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4785010" y="4513457"/>
              <a:ext cx="503157" cy="2881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CN" sz="2000" b="1" i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E</a:t>
              </a:r>
              <a:endParaRPr lang="zh-CN" altLang="en-US" sz="20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5496095" y="4543120"/>
              <a:ext cx="503157" cy="2881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CN" sz="20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)</a:t>
              </a:r>
              <a:endParaRPr lang="zh-CN" alt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34" name="直接连接符 33"/>
            <p:cNvCxnSpPr/>
            <p:nvPr/>
          </p:nvCxnSpPr>
          <p:spPr>
            <a:xfrm flipH="1">
              <a:off x="4372327" y="4810088"/>
              <a:ext cx="684102" cy="25001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5056429" y="4810088"/>
              <a:ext cx="0" cy="27756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>
              <a:off x="5056429" y="4810088"/>
              <a:ext cx="747591" cy="27756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矩形 36"/>
            <p:cNvSpPr/>
            <p:nvPr/>
          </p:nvSpPr>
          <p:spPr>
            <a:xfrm>
              <a:off x="4121543" y="5108837"/>
              <a:ext cx="503157" cy="2881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CN" sz="2000" b="1" i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E</a:t>
              </a:r>
              <a:endParaRPr lang="zh-CN" altLang="en-US" sz="20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4832628" y="5100362"/>
              <a:ext cx="503157" cy="2881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+</a:t>
              </a:r>
              <a:endParaRPr lang="zh-CN" alt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5529428" y="5151213"/>
              <a:ext cx="503156" cy="2902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CN" sz="2000" b="1" i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E</a:t>
              </a:r>
              <a:endParaRPr lang="zh-CN" altLang="en-US" sz="20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40" name="直接连接符 39"/>
            <p:cNvCxnSpPr/>
            <p:nvPr/>
          </p:nvCxnSpPr>
          <p:spPr>
            <a:xfrm>
              <a:off x="4367566" y="5441488"/>
              <a:ext cx="0" cy="27544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矩形 40"/>
            <p:cNvSpPr/>
            <p:nvPr/>
          </p:nvSpPr>
          <p:spPr>
            <a:xfrm>
              <a:off x="4119956" y="5731761"/>
              <a:ext cx="503156" cy="2881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id</a:t>
              </a:r>
              <a:endParaRPr lang="zh-CN" alt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42" name="直接连接符 41"/>
            <p:cNvCxnSpPr/>
            <p:nvPr/>
          </p:nvCxnSpPr>
          <p:spPr>
            <a:xfrm>
              <a:off x="5761165" y="5475388"/>
              <a:ext cx="0" cy="27756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矩形 42"/>
            <p:cNvSpPr/>
            <p:nvPr/>
          </p:nvSpPr>
          <p:spPr>
            <a:xfrm>
              <a:off x="5532602" y="5752949"/>
              <a:ext cx="503156" cy="2881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CN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id</a:t>
              </a:r>
              <a:endParaRPr lang="zh-CN" alt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44" name="矩形 43"/>
          <p:cNvSpPr/>
          <p:nvPr/>
        </p:nvSpPr>
        <p:spPr>
          <a:xfrm>
            <a:off x="6072188" y="2917825"/>
            <a:ext cx="2414587" cy="2032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190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rgbClr val="3333CC"/>
              </a:buClr>
              <a:buSzPct val="75000"/>
              <a:defRPr/>
            </a:pPr>
            <a:r>
              <a:rPr kumimoji="1" lang="en-US" altLang="zh-CN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kumimoji="1" lang="en-US" altLang="zh-CN" b="1" i="1" baseline="-250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rm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kumimoji="1" lang="en-US" altLang="zh-CN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  <a:p>
            <a:pPr lvl="1">
              <a:spcBef>
                <a:spcPct val="20000"/>
              </a:spcBef>
              <a:buClr>
                <a:srgbClr val="3333CC"/>
              </a:buClr>
              <a:buSzPct val="75000"/>
              <a:defRPr/>
            </a:pP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kumimoji="1" lang="en-US" altLang="zh-CN" b="1" i="1" baseline="-250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rm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( </a:t>
            </a:r>
            <a:r>
              <a:rPr kumimoji="1" lang="en-US" altLang="zh-CN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>
              <a:spcBef>
                <a:spcPct val="20000"/>
              </a:spcBef>
              <a:buClr>
                <a:srgbClr val="3333CC"/>
              </a:buClr>
              <a:buSzPct val="75000"/>
              <a:defRPr/>
            </a:pP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kumimoji="1" lang="en-US" altLang="zh-CN" b="1" i="1" baseline="-250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rm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( </a:t>
            </a:r>
            <a:r>
              <a:rPr kumimoji="1"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kumimoji="1" lang="en-US" altLang="zh-CN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>
              <a:spcBef>
                <a:spcPct val="20000"/>
              </a:spcBef>
              <a:buClr>
                <a:srgbClr val="3333CC"/>
              </a:buClr>
              <a:buSzPct val="75000"/>
              <a:defRPr/>
            </a:pP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kumimoji="1" lang="en-US" altLang="zh-CN" b="1" i="1" baseline="-250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rm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( </a:t>
            </a:r>
            <a:r>
              <a:rPr kumimoji="1" lang="en-US" altLang="zh-CN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id )</a:t>
            </a:r>
          </a:p>
          <a:p>
            <a:pPr lvl="1">
              <a:spcBef>
                <a:spcPct val="20000"/>
              </a:spcBef>
              <a:buClr>
                <a:srgbClr val="3333CC"/>
              </a:buClr>
              <a:buSzPct val="75000"/>
              <a:defRPr/>
            </a:pP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kumimoji="1" lang="en-US" altLang="zh-CN" b="1" i="1" baseline="-250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rm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( id + id )</a:t>
            </a:r>
          </a:p>
          <a:p>
            <a:pPr lvl="1">
              <a:spcBef>
                <a:spcPct val="20000"/>
              </a:spcBef>
              <a:buClr>
                <a:srgbClr val="3333CC"/>
              </a:buClr>
              <a:buSzPct val="75000"/>
              <a:defRPr/>
            </a:pP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kumimoji="1" lang="en-US" altLang="zh-CN" b="1" i="1" baseline="-250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rm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 + ( id + id )</a:t>
            </a:r>
            <a:endParaRPr lang="en-US" altLang="zh-CN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" name="Rectangle 6"/>
          <p:cNvSpPr>
            <a:spLocks noChangeArrowheads="1"/>
          </p:cNvSpPr>
          <p:nvPr/>
        </p:nvSpPr>
        <p:spPr bwMode="auto">
          <a:xfrm>
            <a:off x="785813" y="714375"/>
            <a:ext cx="2389187" cy="21145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190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rgbClr val="3333CC"/>
              </a:buClr>
              <a:buSzPct val="75000"/>
              <a:defRPr/>
            </a:pPr>
            <a:r>
              <a:rPr kumimoji="1" lang="en-US" altLang="zh-CN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en-US" altLang="zh-CN" b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kumimoji="1" lang="en-US" altLang="zh-CN" b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kumimoji="1"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en-US" altLang="zh-CN" b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en-US" altLang="zh-CN" b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en-US" altLang="zh-CN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ct val="20000"/>
              </a:spcBef>
              <a:buClr>
                <a:srgbClr val="3333CC"/>
              </a:buClr>
              <a:buSzPct val="75000"/>
              <a:defRPr/>
            </a:pP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kumimoji="1" lang="en-US" altLang="zh-CN" b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kumimoji="1"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+ ( </a:t>
            </a:r>
            <a:r>
              <a:rPr kumimoji="1" lang="en-US" altLang="zh-CN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kumimoji="1"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lvl="1">
              <a:spcBef>
                <a:spcPct val="20000"/>
              </a:spcBef>
              <a:buClr>
                <a:srgbClr val="3333CC"/>
              </a:buClr>
              <a:buSzPct val="75000"/>
              <a:defRPr/>
            </a:pP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kumimoji="1" lang="en-US" altLang="zh-CN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kumimoji="1"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kumimoji="1"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+ ( </a:t>
            </a:r>
            <a:r>
              <a:rPr kumimoji="1" lang="en-US" altLang="zh-CN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kumimoji="1"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kumimoji="1"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kumimoji="1"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>
              <a:spcBef>
                <a:spcPct val="20000"/>
              </a:spcBef>
              <a:buClr>
                <a:srgbClr val="3333CC"/>
              </a:buClr>
              <a:buSzPct val="75000"/>
              <a:defRPr/>
            </a:pP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kumimoji="1" lang="en-US" altLang="zh-CN" b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kumimoji="1"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+ ( id + </a:t>
            </a:r>
            <a:r>
              <a:rPr kumimoji="1"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kumimoji="1"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>
              <a:spcBef>
                <a:spcPct val="20000"/>
              </a:spcBef>
              <a:buClr>
                <a:srgbClr val="3333CC"/>
              </a:buClr>
              <a:buSzPct val="75000"/>
              <a:defRPr/>
            </a:pP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kumimoji="1" lang="en-US" altLang="zh-CN" b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id + ( id + </a:t>
            </a:r>
            <a:r>
              <a:rPr kumimoji="1" lang="en-US" altLang="zh-CN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kumimoji="1"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>
              <a:spcBef>
                <a:spcPct val="20000"/>
              </a:spcBef>
              <a:buClr>
                <a:srgbClr val="3333CC"/>
              </a:buClr>
              <a:buSzPct val="75000"/>
              <a:defRPr/>
            </a:pPr>
            <a:r>
              <a:rPr kumimoji="1" lang="en-US" altLang="zh-CN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kumimoji="1"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id + ( id + id )</a:t>
            </a:r>
          </a:p>
        </p:txBody>
      </p:sp>
      <p:sp>
        <p:nvSpPr>
          <p:cNvPr id="46" name="Rectangle 6"/>
          <p:cNvSpPr>
            <a:spLocks noChangeArrowheads="1"/>
          </p:cNvSpPr>
          <p:nvPr/>
        </p:nvSpPr>
        <p:spPr bwMode="auto">
          <a:xfrm>
            <a:off x="785813" y="2930525"/>
            <a:ext cx="2389187" cy="20193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190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rgbClr val="3333CC"/>
              </a:buClr>
              <a:buSzPct val="75000"/>
              <a:defRPr/>
            </a:pPr>
            <a:r>
              <a:rPr kumimoji="1" lang="en-US" altLang="zh-CN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en-US" altLang="zh-CN" b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kumimoji="1" lang="en-US" altLang="zh-CN" b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en-US" altLang="zh-CN" b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en-US" altLang="zh-CN" b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en-US" altLang="zh-CN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ct val="20000"/>
              </a:spcBef>
              <a:buClr>
                <a:srgbClr val="3333CC"/>
              </a:buClr>
              <a:buSzPct val="75000"/>
              <a:defRPr/>
            </a:pP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kumimoji="1" lang="en-US" altLang="zh-CN" b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id +  </a:t>
            </a:r>
            <a:r>
              <a:rPr kumimoji="1" lang="en-US" altLang="zh-CN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kumimoji="1"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spcBef>
                <a:spcPct val="20000"/>
              </a:spcBef>
              <a:buClr>
                <a:srgbClr val="3333CC"/>
              </a:buClr>
              <a:buSzPct val="75000"/>
              <a:defRPr/>
            </a:pP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kumimoji="1" lang="en-US" altLang="zh-CN" b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id + ( </a:t>
            </a:r>
            <a:r>
              <a:rPr kumimoji="1" lang="en-US" altLang="zh-CN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kumimoji="1"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kumimoji="1" lang="en-US" altLang="zh-CN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>
              <a:spcBef>
                <a:spcPct val="20000"/>
              </a:spcBef>
              <a:buClr>
                <a:srgbClr val="3333CC"/>
              </a:buClr>
              <a:buSzPct val="75000"/>
              <a:defRPr/>
            </a:pP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kumimoji="1" lang="en-US" altLang="zh-CN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kumimoji="1"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 id + ( </a:t>
            </a:r>
            <a:r>
              <a:rPr kumimoji="1"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en-US" altLang="zh-CN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kumimoji="1" lang="en-US" altLang="zh-CN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>
              <a:spcBef>
                <a:spcPct val="20000"/>
              </a:spcBef>
              <a:buClr>
                <a:srgbClr val="3333CC"/>
              </a:buClr>
              <a:buSzPct val="75000"/>
              <a:defRPr/>
            </a:pP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kumimoji="1" lang="en-US" altLang="zh-CN" b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kumimoji="1" lang="en-US" altLang="zh-CN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+ ( </a:t>
            </a:r>
            <a:r>
              <a:rPr kumimoji="1" lang="en-US" altLang="zh-CN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+ id</a:t>
            </a:r>
            <a:r>
              <a:rPr kumimoji="1"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>
              <a:spcBef>
                <a:spcPct val="20000"/>
              </a:spcBef>
              <a:buClr>
                <a:srgbClr val="3333CC"/>
              </a:buClr>
              <a:buSzPct val="75000"/>
              <a:defRPr/>
            </a:pP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kumimoji="1" lang="en-US" altLang="zh-CN" b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id + ( id + id</a:t>
            </a:r>
            <a:r>
              <a:rPr kumimoji="1" lang="en-US" altLang="zh-CN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0488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D9D6E8A-A5C0-426B-94D1-4A034AF7332F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19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4" grpId="0" animBg="1"/>
      <p:bldP spid="45" grpId="0" build="allAtOnce" animBg="1"/>
      <p:bldP spid="46" grpId="0" build="allAtOnce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/>
          <p:cNvSpPr>
            <a:spLocks noGrp="1" noChangeArrowheads="1"/>
          </p:cNvSpPr>
          <p:nvPr>
            <p:ph idx="1"/>
          </p:nvPr>
        </p:nvSpPr>
        <p:spPr>
          <a:xfrm>
            <a:off x="373063" y="1368425"/>
            <a:ext cx="8231187" cy="3225800"/>
          </a:xfrm>
        </p:spPr>
        <p:txBody>
          <a:bodyPr/>
          <a:lstStyle/>
          <a:p>
            <a:pPr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总是选择每个句型的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最左非终结符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进行替换</a:t>
            </a:r>
            <a:endParaRPr lang="en-US" altLang="zh-CN" sz="28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4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根据输入流中的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下一个终结符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，选择最左非终结符的一个候选式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自顶向下的语法分析采用最左推导方式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2532" name="灯片编号占位符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60BA9E2-8D60-47DF-AEDD-5E57A08F10CE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20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39" name="Rectangle 39"/>
          <p:cNvSpPr>
            <a:spLocks noGrp="1" noChangeArrowheads="1"/>
          </p:cNvSpPr>
          <p:nvPr>
            <p:ph idx="1"/>
          </p:nvPr>
        </p:nvSpPr>
        <p:spPr>
          <a:xfrm>
            <a:off x="785813" y="785813"/>
            <a:ext cx="5976937" cy="3246437"/>
          </a:xfrm>
        </p:spPr>
        <p:txBody>
          <a:bodyPr/>
          <a:lstStyle/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文法</a:t>
            </a:r>
            <a:endParaRPr lang="en-US" altLang="zh-CN" sz="2500" b="1">
              <a:solidFill>
                <a:schemeClr val="tx1"/>
              </a:solidFill>
              <a:latin typeface="楷体" panose="02010609060101010101" pitchFamily="49" charset="-122"/>
              <a:cs typeface="Times New Roman" panose="02020603050405020304" pitchFamily="18" charset="0"/>
            </a:endParaRPr>
          </a:p>
          <a:p>
            <a:pPr marL="303213" lvl="1" indent="0" eaLnBrk="1" hangingPunct="1">
              <a:buFont typeface="Symbol" panose="05050102010706020507" pitchFamily="18" charset="2"/>
              <a:buNone/>
            </a:pPr>
            <a:r>
              <a:rPr lang="en-US" altLang="zh-CN" sz="25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① </a:t>
            </a:r>
            <a:r>
              <a:rPr lang="en-US" altLang="zh-CN" sz="2500" b="1" i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</a:t>
            </a:r>
            <a:r>
              <a:rPr lang="en-US" altLang="zh-CN" sz="25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→ </a:t>
            </a:r>
            <a:r>
              <a:rPr lang="en-US" altLang="zh-CN" sz="2500" b="1" i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 E’</a:t>
            </a:r>
            <a:r>
              <a:rPr lang="en-US" altLang="zh-CN" sz="25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      </a:t>
            </a:r>
          </a:p>
          <a:p>
            <a:pPr marL="303213" lvl="1" indent="0" eaLnBrk="1" hangingPunct="1">
              <a:buFont typeface="Symbol" panose="05050102010706020507" pitchFamily="18" charset="2"/>
              <a:buNone/>
            </a:pPr>
            <a:r>
              <a:rPr lang="en-US" altLang="zh-CN" sz="25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② </a:t>
            </a:r>
            <a:r>
              <a:rPr lang="en-US" altLang="zh-CN" sz="2500" b="1" i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E’</a:t>
            </a:r>
            <a:r>
              <a:rPr lang="en-US" altLang="zh-CN" sz="25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 </a:t>
            </a:r>
            <a:r>
              <a:rPr lang="en-US" altLang="zh-CN" sz="2500" b="1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+ </a:t>
            </a:r>
            <a:r>
              <a:rPr lang="en-US" altLang="zh-CN" sz="2500" b="1" i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 E’</a:t>
            </a:r>
            <a:r>
              <a:rPr lang="en-US" altLang="zh-CN" sz="25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｜</a:t>
            </a:r>
            <a:r>
              <a:rPr lang="en-US" altLang="zh-CN" sz="2500" b="1" i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ε</a:t>
            </a:r>
            <a:r>
              <a:rPr lang="en-US" altLang="zh-CN" sz="25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</a:t>
            </a:r>
          </a:p>
          <a:p>
            <a:pPr marL="303213" lvl="1" indent="0" eaLnBrk="1" hangingPunct="1">
              <a:buFont typeface="Symbol" panose="05050102010706020507" pitchFamily="18" charset="2"/>
              <a:buNone/>
            </a:pPr>
            <a:r>
              <a:rPr lang="en-US" altLang="zh-CN" sz="25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③ </a:t>
            </a:r>
            <a:r>
              <a:rPr lang="en-US" altLang="zh-CN" sz="2500" b="1" i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25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→ </a:t>
            </a:r>
            <a:r>
              <a:rPr lang="en-US" altLang="zh-CN" sz="2500" b="1" i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 T’</a:t>
            </a:r>
            <a:r>
              <a:rPr lang="en-US" altLang="zh-CN" sz="25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      </a:t>
            </a:r>
          </a:p>
          <a:p>
            <a:pPr marL="303213" lvl="1" indent="0" eaLnBrk="1" hangingPunct="1">
              <a:buFont typeface="Symbol" panose="05050102010706020507" pitchFamily="18" charset="2"/>
              <a:buNone/>
            </a:pPr>
            <a:r>
              <a:rPr lang="en-US" altLang="zh-CN" sz="25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④ </a:t>
            </a:r>
            <a:r>
              <a:rPr lang="en-US" altLang="zh-CN" sz="2500" b="1" i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T’</a:t>
            </a:r>
            <a:r>
              <a:rPr lang="en-US" altLang="zh-CN" sz="25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 </a:t>
            </a:r>
            <a:r>
              <a:rPr lang="en-US" altLang="zh-CN" sz="2500" b="1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*</a:t>
            </a:r>
            <a:r>
              <a:rPr lang="en-US" altLang="zh-CN" sz="25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500" b="1" i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 T’</a:t>
            </a:r>
            <a:r>
              <a:rPr lang="en-US" altLang="zh-CN" sz="25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｜</a:t>
            </a:r>
            <a:r>
              <a:rPr lang="en-US" altLang="zh-CN" sz="2500" b="1" i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ε</a:t>
            </a:r>
            <a:r>
              <a:rPr lang="en-US" altLang="zh-CN" sz="25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</a:t>
            </a:r>
          </a:p>
          <a:p>
            <a:pPr marL="303213" lvl="1" indent="0" eaLnBrk="1" hangingPunct="1">
              <a:buFont typeface="Symbol" panose="05050102010706020507" pitchFamily="18" charset="2"/>
              <a:buNone/>
            </a:pPr>
            <a:r>
              <a:rPr lang="en-US" altLang="zh-CN" sz="25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⑤ </a:t>
            </a:r>
            <a:r>
              <a:rPr lang="en-US" altLang="zh-CN" sz="2500" b="1" i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</a:t>
            </a:r>
            <a:r>
              <a:rPr lang="en-US" altLang="zh-CN" sz="25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→ </a:t>
            </a:r>
            <a:r>
              <a:rPr lang="en-US" altLang="zh-CN" sz="2500" b="1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</a:t>
            </a:r>
            <a:r>
              <a:rPr lang="en-US" altLang="zh-CN" sz="25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500" b="1" i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</a:t>
            </a:r>
            <a:r>
              <a:rPr lang="en-US" altLang="zh-CN" sz="25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500" b="1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)</a:t>
            </a:r>
            <a:r>
              <a:rPr lang="en-US" altLang="zh-CN" sz="25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｜</a:t>
            </a:r>
            <a:r>
              <a:rPr lang="en-US" altLang="zh-CN" sz="2500" b="1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</a:t>
            </a:r>
          </a:p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</a:t>
            </a:r>
          </a:p>
          <a:p>
            <a:pPr marL="303213" lvl="1" indent="0" eaLnBrk="1" hangingPunct="1">
              <a:buFont typeface="Symbol" panose="05050102010706020507" pitchFamily="18" charset="2"/>
              <a:buNone/>
            </a:pPr>
            <a:r>
              <a:rPr lang="en-US" altLang="zh-CN" sz="25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  id + id * id</a:t>
            </a:r>
            <a:br>
              <a:rPr lang="en-US" altLang="zh-CN" sz="25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</a:br>
            <a:endParaRPr lang="en-US" altLang="zh-CN" sz="2500" b="1">
              <a:solidFill>
                <a:schemeClr val="tx1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704514" name="Text Box 2"/>
          <p:cNvSpPr txBox="1">
            <a:spLocks noChangeArrowheads="1"/>
          </p:cNvSpPr>
          <p:nvPr/>
        </p:nvSpPr>
        <p:spPr bwMode="auto">
          <a:xfrm>
            <a:off x="5143500" y="1027113"/>
            <a:ext cx="355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kumimoji="1" lang="zh-CN" altLang="en-US" sz="2000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4515" name="Text Box 3"/>
          <p:cNvSpPr txBox="1">
            <a:spLocks noChangeArrowheads="1"/>
          </p:cNvSpPr>
          <p:nvPr/>
        </p:nvSpPr>
        <p:spPr bwMode="auto">
          <a:xfrm>
            <a:off x="4575175" y="1603375"/>
            <a:ext cx="3413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kumimoji="1" lang="zh-CN" altLang="en-US" sz="2000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4516" name="Text Box 4"/>
          <p:cNvSpPr txBox="1">
            <a:spLocks noChangeArrowheads="1"/>
          </p:cNvSpPr>
          <p:nvPr/>
        </p:nvSpPr>
        <p:spPr bwMode="auto">
          <a:xfrm>
            <a:off x="5745163" y="1603375"/>
            <a:ext cx="990600" cy="67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en-US" altLang="zh-CN" sz="2000" b="1" i="1">
                <a:latin typeface="Times New Roman" panose="02020603050405020304" pitchFamily="18" charset="0"/>
              </a:rPr>
              <a:t>’</a:t>
            </a:r>
            <a:endParaRPr kumimoji="1" lang="zh-CN" altLang="en-US" sz="2000" b="1" i="1">
              <a:latin typeface="Times New Roman" panose="02020603050405020304" pitchFamily="18" charset="0"/>
            </a:endParaRPr>
          </a:p>
          <a:p>
            <a:endParaRPr kumimoji="1" lang="zh-CN" altLang="en-US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04517" name="AutoShape 5"/>
          <p:cNvCxnSpPr>
            <a:cxnSpLocks noChangeShapeType="1"/>
          </p:cNvCxnSpPr>
          <p:nvPr/>
        </p:nvCxnSpPr>
        <p:spPr bwMode="auto">
          <a:xfrm flipV="1">
            <a:off x="4854575" y="1397000"/>
            <a:ext cx="503238" cy="2159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04518" name="AutoShape 6"/>
          <p:cNvCxnSpPr>
            <a:cxnSpLocks noChangeShapeType="1"/>
          </p:cNvCxnSpPr>
          <p:nvPr/>
        </p:nvCxnSpPr>
        <p:spPr bwMode="auto">
          <a:xfrm>
            <a:off x="5357813" y="1406525"/>
            <a:ext cx="511175" cy="2460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04519" name="Text Box 7"/>
          <p:cNvSpPr txBox="1">
            <a:spLocks noChangeArrowheads="1"/>
          </p:cNvSpPr>
          <p:nvPr/>
        </p:nvSpPr>
        <p:spPr bwMode="auto">
          <a:xfrm>
            <a:off x="4249738" y="2189163"/>
            <a:ext cx="355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kumimoji="1" lang="zh-CN" altLang="en-US" sz="2000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4520" name="Text Box 8"/>
          <p:cNvSpPr txBox="1">
            <a:spLocks noChangeArrowheads="1"/>
          </p:cNvSpPr>
          <p:nvPr/>
        </p:nvSpPr>
        <p:spPr bwMode="auto">
          <a:xfrm>
            <a:off x="4781550" y="2189163"/>
            <a:ext cx="6477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000" b="1" i="1">
                <a:latin typeface="Times New Roman" panose="02020603050405020304" pitchFamily="18" charset="0"/>
              </a:rPr>
              <a:t>T’</a:t>
            </a:r>
            <a:endParaRPr kumimoji="1" lang="zh-CN" altLang="en-US" sz="2000" b="1" i="1">
              <a:latin typeface="Times New Roman" panose="02020603050405020304" pitchFamily="18" charset="0"/>
            </a:endParaRPr>
          </a:p>
        </p:txBody>
      </p:sp>
      <p:cxnSp>
        <p:nvCxnSpPr>
          <p:cNvPr id="704521" name="AutoShape 9"/>
          <p:cNvCxnSpPr>
            <a:cxnSpLocks noChangeShapeType="1"/>
          </p:cNvCxnSpPr>
          <p:nvPr/>
        </p:nvCxnSpPr>
        <p:spPr bwMode="auto">
          <a:xfrm rot="5400000">
            <a:off x="4486275" y="1936750"/>
            <a:ext cx="185738" cy="3190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04522" name="AutoShape 10"/>
          <p:cNvCxnSpPr>
            <a:cxnSpLocks noChangeShapeType="1"/>
          </p:cNvCxnSpPr>
          <p:nvPr/>
        </p:nvCxnSpPr>
        <p:spPr bwMode="auto">
          <a:xfrm rot="16200000" flipH="1">
            <a:off x="4758531" y="1977232"/>
            <a:ext cx="225425" cy="2778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04523" name="Text Box 11"/>
          <p:cNvSpPr txBox="1">
            <a:spLocks noChangeArrowheads="1"/>
          </p:cNvSpPr>
          <p:nvPr/>
        </p:nvSpPr>
        <p:spPr bwMode="auto">
          <a:xfrm>
            <a:off x="5816600" y="2228850"/>
            <a:ext cx="3413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kumimoji="1" lang="zh-CN" altLang="en-US" i="1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4524" name="Text Box 12"/>
          <p:cNvSpPr txBox="1">
            <a:spLocks noChangeArrowheads="1"/>
          </p:cNvSpPr>
          <p:nvPr/>
        </p:nvSpPr>
        <p:spPr bwMode="auto">
          <a:xfrm>
            <a:off x="5257800" y="2228850"/>
            <a:ext cx="4429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＋</a:t>
            </a:r>
          </a:p>
        </p:txBody>
      </p:sp>
      <p:sp>
        <p:nvSpPr>
          <p:cNvPr id="704525" name="Text Box 13"/>
          <p:cNvSpPr txBox="1">
            <a:spLocks noChangeArrowheads="1"/>
          </p:cNvSpPr>
          <p:nvPr/>
        </p:nvSpPr>
        <p:spPr bwMode="auto">
          <a:xfrm>
            <a:off x="6248400" y="2228850"/>
            <a:ext cx="441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en-US" altLang="zh-CN" sz="2000" b="1" i="1">
                <a:latin typeface="Times New Roman" panose="02020603050405020304" pitchFamily="18" charset="0"/>
              </a:rPr>
              <a:t>’</a:t>
            </a:r>
            <a:endParaRPr kumimoji="1" lang="zh-CN" altLang="en-US" sz="2000" b="1" i="1">
              <a:latin typeface="Times New Roman" panose="02020603050405020304" pitchFamily="18" charset="0"/>
            </a:endParaRPr>
          </a:p>
        </p:txBody>
      </p:sp>
      <p:cxnSp>
        <p:nvCxnSpPr>
          <p:cNvPr id="704526" name="AutoShape 14"/>
          <p:cNvCxnSpPr>
            <a:cxnSpLocks noChangeShapeType="1"/>
          </p:cNvCxnSpPr>
          <p:nvPr/>
        </p:nvCxnSpPr>
        <p:spPr bwMode="auto">
          <a:xfrm flipV="1">
            <a:off x="5529263" y="1941513"/>
            <a:ext cx="503237" cy="3603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04527" name="AutoShape 15"/>
          <p:cNvCxnSpPr>
            <a:cxnSpLocks noChangeShapeType="1"/>
          </p:cNvCxnSpPr>
          <p:nvPr/>
        </p:nvCxnSpPr>
        <p:spPr bwMode="auto">
          <a:xfrm>
            <a:off x="6032500" y="1941513"/>
            <a:ext cx="0" cy="3603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04528" name="AutoShape 16"/>
          <p:cNvCxnSpPr>
            <a:cxnSpLocks noChangeShapeType="1"/>
          </p:cNvCxnSpPr>
          <p:nvPr/>
        </p:nvCxnSpPr>
        <p:spPr bwMode="auto">
          <a:xfrm>
            <a:off x="6032500" y="1941513"/>
            <a:ext cx="431800" cy="3603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04529" name="Text Box 17"/>
          <p:cNvSpPr txBox="1">
            <a:spLocks noChangeArrowheads="1"/>
          </p:cNvSpPr>
          <p:nvPr/>
        </p:nvSpPr>
        <p:spPr bwMode="auto">
          <a:xfrm>
            <a:off x="4214813" y="2836863"/>
            <a:ext cx="3984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000" b="1">
                <a:latin typeface="Times New Roman" panose="02020603050405020304" pitchFamily="18" charset="0"/>
              </a:rPr>
              <a:t>id</a:t>
            </a:r>
          </a:p>
        </p:txBody>
      </p:sp>
      <p:cxnSp>
        <p:nvCxnSpPr>
          <p:cNvPr id="704530" name="AutoShape 18"/>
          <p:cNvCxnSpPr>
            <a:cxnSpLocks noChangeShapeType="1"/>
          </p:cNvCxnSpPr>
          <p:nvPr/>
        </p:nvCxnSpPr>
        <p:spPr bwMode="auto">
          <a:xfrm>
            <a:off x="4430713" y="2600325"/>
            <a:ext cx="0" cy="2889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04531" name="Text Box 19"/>
          <p:cNvSpPr txBox="1">
            <a:spLocks noChangeArrowheads="1"/>
          </p:cNvSpPr>
          <p:nvPr/>
        </p:nvSpPr>
        <p:spPr bwMode="auto">
          <a:xfrm>
            <a:off x="4857750" y="2836863"/>
            <a:ext cx="2905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</a:p>
        </p:txBody>
      </p:sp>
      <p:cxnSp>
        <p:nvCxnSpPr>
          <p:cNvPr id="704532" name="AutoShape 20"/>
          <p:cNvCxnSpPr>
            <a:cxnSpLocks noChangeShapeType="1"/>
          </p:cNvCxnSpPr>
          <p:nvPr/>
        </p:nvCxnSpPr>
        <p:spPr bwMode="auto">
          <a:xfrm>
            <a:off x="5024438" y="2600325"/>
            <a:ext cx="0" cy="2889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04533" name="Text Box 21"/>
          <p:cNvSpPr txBox="1">
            <a:spLocks noChangeArrowheads="1"/>
          </p:cNvSpPr>
          <p:nvPr/>
        </p:nvSpPr>
        <p:spPr bwMode="auto">
          <a:xfrm>
            <a:off x="5500688" y="2846388"/>
            <a:ext cx="355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kumimoji="1" lang="zh-CN" altLang="en-US" sz="2000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4534" name="Text Box 22"/>
          <p:cNvSpPr txBox="1">
            <a:spLocks noChangeArrowheads="1"/>
          </p:cNvSpPr>
          <p:nvPr/>
        </p:nvSpPr>
        <p:spPr bwMode="auto">
          <a:xfrm>
            <a:off x="6073775" y="2836863"/>
            <a:ext cx="4270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000" b="1" i="1">
                <a:latin typeface="Times New Roman" panose="02020603050405020304" pitchFamily="18" charset="0"/>
              </a:rPr>
              <a:t>T’</a:t>
            </a:r>
            <a:endParaRPr kumimoji="1" lang="zh-CN" altLang="en-US" sz="2000" b="1" i="1">
              <a:latin typeface="Times New Roman" panose="02020603050405020304" pitchFamily="18" charset="0"/>
            </a:endParaRPr>
          </a:p>
        </p:txBody>
      </p:sp>
      <p:cxnSp>
        <p:nvCxnSpPr>
          <p:cNvPr id="704535" name="AutoShape 23"/>
          <p:cNvCxnSpPr>
            <a:cxnSpLocks noChangeShapeType="1"/>
          </p:cNvCxnSpPr>
          <p:nvPr/>
        </p:nvCxnSpPr>
        <p:spPr bwMode="auto">
          <a:xfrm rot="10800000" flipV="1">
            <a:off x="5688013" y="2571750"/>
            <a:ext cx="309562" cy="274638"/>
          </a:xfrm>
          <a:prstGeom prst="straightConnector1">
            <a:avLst/>
          </a:prstGeom>
          <a:noFill/>
          <a:ln w="19431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04536" name="AutoShape 24"/>
          <p:cNvCxnSpPr>
            <a:cxnSpLocks noChangeShapeType="1"/>
          </p:cNvCxnSpPr>
          <p:nvPr/>
        </p:nvCxnSpPr>
        <p:spPr bwMode="auto">
          <a:xfrm rot="16200000" flipH="1">
            <a:off x="5971381" y="2601119"/>
            <a:ext cx="306388" cy="247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04537" name="Text Box 25"/>
          <p:cNvSpPr txBox="1">
            <a:spLocks noChangeArrowheads="1"/>
          </p:cNvSpPr>
          <p:nvPr/>
        </p:nvSpPr>
        <p:spPr bwMode="auto">
          <a:xfrm>
            <a:off x="5173663" y="3417888"/>
            <a:ext cx="3984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000" b="1">
                <a:latin typeface="Times New Roman" panose="02020603050405020304" pitchFamily="18" charset="0"/>
              </a:rPr>
              <a:t>id</a:t>
            </a:r>
          </a:p>
        </p:txBody>
      </p:sp>
      <p:cxnSp>
        <p:nvCxnSpPr>
          <p:cNvPr id="704538" name="AutoShape 26"/>
          <p:cNvCxnSpPr>
            <a:cxnSpLocks noChangeShapeType="1"/>
          </p:cNvCxnSpPr>
          <p:nvPr/>
        </p:nvCxnSpPr>
        <p:spPr bwMode="auto">
          <a:xfrm rot="5400000">
            <a:off x="5346700" y="3248026"/>
            <a:ext cx="223837" cy="2016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04539" name="Text Box 27"/>
          <p:cNvSpPr txBox="1">
            <a:spLocks noChangeArrowheads="1"/>
          </p:cNvSpPr>
          <p:nvPr/>
        </p:nvSpPr>
        <p:spPr bwMode="auto">
          <a:xfrm>
            <a:off x="6569075" y="2805113"/>
            <a:ext cx="2905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</a:p>
        </p:txBody>
      </p:sp>
      <p:cxnSp>
        <p:nvCxnSpPr>
          <p:cNvPr id="704540" name="AutoShape 28"/>
          <p:cNvCxnSpPr>
            <a:cxnSpLocks noChangeShapeType="1"/>
            <a:stCxn id="704525" idx="2"/>
          </p:cNvCxnSpPr>
          <p:nvPr/>
        </p:nvCxnSpPr>
        <p:spPr bwMode="auto">
          <a:xfrm rot="16200000" flipH="1">
            <a:off x="6461919" y="2636044"/>
            <a:ext cx="260350" cy="2460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04541" name="Text Box 29"/>
          <p:cNvSpPr txBox="1">
            <a:spLocks noChangeArrowheads="1"/>
          </p:cNvSpPr>
          <p:nvPr/>
        </p:nvSpPr>
        <p:spPr bwMode="auto">
          <a:xfrm>
            <a:off x="6072188" y="3532188"/>
            <a:ext cx="609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kumimoji="1" lang="zh-CN" altLang="en-US" sz="2000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4542" name="Text Box 30"/>
          <p:cNvSpPr txBox="1">
            <a:spLocks noChangeArrowheads="1"/>
          </p:cNvSpPr>
          <p:nvPr/>
        </p:nvSpPr>
        <p:spPr bwMode="auto">
          <a:xfrm>
            <a:off x="5643563" y="3532188"/>
            <a:ext cx="4429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＊</a:t>
            </a:r>
            <a:endParaRPr kumimoji="1"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4543" name="Text Box 31"/>
          <p:cNvSpPr txBox="1">
            <a:spLocks noChangeArrowheads="1"/>
          </p:cNvSpPr>
          <p:nvPr/>
        </p:nvSpPr>
        <p:spPr bwMode="auto">
          <a:xfrm>
            <a:off x="6429375" y="3532188"/>
            <a:ext cx="4270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000" b="1" i="1">
                <a:latin typeface="Times New Roman" panose="02020603050405020304" pitchFamily="18" charset="0"/>
              </a:rPr>
              <a:t>T’</a:t>
            </a:r>
            <a:endParaRPr kumimoji="1" lang="zh-CN" altLang="en-US" sz="2000" b="1" i="1">
              <a:latin typeface="Times New Roman" panose="02020603050405020304" pitchFamily="18" charset="0"/>
            </a:endParaRPr>
          </a:p>
        </p:txBody>
      </p:sp>
      <p:cxnSp>
        <p:nvCxnSpPr>
          <p:cNvPr id="704544" name="AutoShape 32"/>
          <p:cNvCxnSpPr>
            <a:cxnSpLocks noChangeShapeType="1"/>
          </p:cNvCxnSpPr>
          <p:nvPr/>
        </p:nvCxnSpPr>
        <p:spPr bwMode="auto">
          <a:xfrm flipV="1">
            <a:off x="5929313" y="3225800"/>
            <a:ext cx="323850" cy="3508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04545" name="AutoShape 33"/>
          <p:cNvCxnSpPr>
            <a:cxnSpLocks noChangeShapeType="1"/>
          </p:cNvCxnSpPr>
          <p:nvPr/>
        </p:nvCxnSpPr>
        <p:spPr bwMode="auto">
          <a:xfrm rot="5400000">
            <a:off x="6078538" y="3405188"/>
            <a:ext cx="357187" cy="15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04546" name="AutoShape 34"/>
          <p:cNvCxnSpPr>
            <a:cxnSpLocks noChangeShapeType="1"/>
          </p:cNvCxnSpPr>
          <p:nvPr/>
        </p:nvCxnSpPr>
        <p:spPr bwMode="auto">
          <a:xfrm rot="16200000" flipH="1">
            <a:off x="6222206" y="3261519"/>
            <a:ext cx="357188" cy="285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04547" name="Text Box 35"/>
          <p:cNvSpPr txBox="1">
            <a:spLocks noChangeArrowheads="1"/>
          </p:cNvSpPr>
          <p:nvPr/>
        </p:nvSpPr>
        <p:spPr bwMode="auto">
          <a:xfrm>
            <a:off x="6103938" y="4103688"/>
            <a:ext cx="3968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000" b="1">
                <a:latin typeface="Times New Roman" panose="02020603050405020304" pitchFamily="18" charset="0"/>
              </a:rPr>
              <a:t>id</a:t>
            </a:r>
          </a:p>
        </p:txBody>
      </p:sp>
      <p:cxnSp>
        <p:nvCxnSpPr>
          <p:cNvPr id="704548" name="AutoShape 36"/>
          <p:cNvCxnSpPr>
            <a:cxnSpLocks noChangeShapeType="1"/>
          </p:cNvCxnSpPr>
          <p:nvPr/>
        </p:nvCxnSpPr>
        <p:spPr bwMode="auto">
          <a:xfrm flipH="1">
            <a:off x="6286500" y="3889375"/>
            <a:ext cx="0" cy="2794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04549" name="Text Box 37"/>
          <p:cNvSpPr txBox="1">
            <a:spLocks noChangeArrowheads="1"/>
          </p:cNvSpPr>
          <p:nvPr/>
        </p:nvSpPr>
        <p:spPr bwMode="auto">
          <a:xfrm>
            <a:off x="6786563" y="4103688"/>
            <a:ext cx="5349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</a:p>
        </p:txBody>
      </p:sp>
      <p:cxnSp>
        <p:nvCxnSpPr>
          <p:cNvPr id="704550" name="AutoShape 38"/>
          <p:cNvCxnSpPr>
            <a:cxnSpLocks noChangeShapeType="1"/>
          </p:cNvCxnSpPr>
          <p:nvPr/>
        </p:nvCxnSpPr>
        <p:spPr bwMode="auto">
          <a:xfrm rot="16200000" flipH="1">
            <a:off x="6679407" y="3925093"/>
            <a:ext cx="285750" cy="2143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04553" name="Line 41"/>
          <p:cNvSpPr>
            <a:spLocks noChangeShapeType="1"/>
          </p:cNvSpPr>
          <p:nvPr/>
        </p:nvSpPr>
        <p:spPr bwMode="auto">
          <a:xfrm flipV="1">
            <a:off x="1635125" y="4464050"/>
            <a:ext cx="0" cy="269875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04554" name="Line 42"/>
          <p:cNvSpPr>
            <a:spLocks noChangeShapeType="1"/>
          </p:cNvSpPr>
          <p:nvPr/>
        </p:nvSpPr>
        <p:spPr bwMode="auto">
          <a:xfrm flipV="1">
            <a:off x="1922463" y="4464050"/>
            <a:ext cx="0" cy="269875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04555" name="Line 43"/>
          <p:cNvSpPr>
            <a:spLocks noChangeShapeType="1"/>
          </p:cNvSpPr>
          <p:nvPr/>
        </p:nvSpPr>
        <p:spPr bwMode="auto">
          <a:xfrm flipV="1">
            <a:off x="2211388" y="4464050"/>
            <a:ext cx="0" cy="269875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04556" name="Line 44"/>
          <p:cNvSpPr>
            <a:spLocks noChangeShapeType="1"/>
          </p:cNvSpPr>
          <p:nvPr/>
        </p:nvSpPr>
        <p:spPr bwMode="auto">
          <a:xfrm flipV="1">
            <a:off x="2500313" y="4464050"/>
            <a:ext cx="0" cy="269875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04557" name="Line 45"/>
          <p:cNvSpPr>
            <a:spLocks noChangeShapeType="1"/>
          </p:cNvSpPr>
          <p:nvPr/>
        </p:nvSpPr>
        <p:spPr bwMode="auto">
          <a:xfrm flipV="1">
            <a:off x="2786063" y="4464050"/>
            <a:ext cx="0" cy="269875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8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3000" b="1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</a:p>
        </p:txBody>
      </p:sp>
      <p:grpSp>
        <p:nvGrpSpPr>
          <p:cNvPr id="24622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0" name="五边形 49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24626" name="五边形 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49" name="Line 45"/>
          <p:cNvSpPr>
            <a:spLocks noChangeShapeType="1"/>
          </p:cNvSpPr>
          <p:nvPr/>
        </p:nvSpPr>
        <p:spPr bwMode="auto">
          <a:xfrm flipV="1">
            <a:off x="3059113" y="4443413"/>
            <a:ext cx="0" cy="269875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24624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9E54D59-5B8E-4578-B056-20ABF8F551CC}" type="slidenum">
              <a:rPr lang="zh-CN" altLang="en-US" smtClean="0">
                <a:solidFill>
                  <a:schemeClr val="tx2"/>
                </a:solidFill>
              </a:rPr>
              <a:pPr/>
              <a:t>21</a:t>
            </a:fld>
            <a:endParaRPr lang="en-US" altLang="zh-CN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6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6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6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56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56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56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045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045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04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045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045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0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045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045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0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045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045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0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045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045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04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6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045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045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0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045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045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04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045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045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04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7045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045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04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7045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7045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04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7045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7045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704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7045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7045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704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7045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7045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704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704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704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704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704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704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704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7045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7045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704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7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7045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7045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704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3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7045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7045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704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7045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7045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704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7045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7045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704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4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7045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7045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704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7045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7045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704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7045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7045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704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7045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7045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704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704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704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704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704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704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704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7045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7045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704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6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7045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7045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704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 nodeType="clickPar">
                      <p:stCondLst>
                        <p:cond delay="indefinite"/>
                      </p:stCondLst>
                      <p:childTnLst>
                        <p:par>
                          <p:cTn id="1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7045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7045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704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 nodeType="clickPar">
                      <p:stCondLst>
                        <p:cond delay="indefinite"/>
                      </p:stCondLst>
                      <p:childTnLst>
                        <p:par>
                          <p:cTn id="1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7045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7045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704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6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704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704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704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7045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7045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704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8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7045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7045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704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6" dur="500" fill="hold"/>
                                        <p:tgtEl>
                                          <p:spTgt spid="7045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7045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704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3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7045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500" fill="hold"/>
                                        <p:tgtEl>
                                          <p:spTgt spid="7045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704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 nodeType="clickPar">
                      <p:stCondLst>
                        <p:cond delay="indefinite"/>
                      </p:stCondLst>
                      <p:childTnLst>
                        <p:par>
                          <p:cTn id="2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7045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500" fill="hold"/>
                                        <p:tgtEl>
                                          <p:spTgt spid="7045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704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 nodeType="clickPar">
                      <p:stCondLst>
                        <p:cond delay="indefinite"/>
                      </p:stCondLst>
                      <p:childTnLst>
                        <p:par>
                          <p:cTn id="2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6" dur="500" fill="hold"/>
                                        <p:tgtEl>
                                          <p:spTgt spid="7045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7" dur="500" fill="hold"/>
                                        <p:tgtEl>
                                          <p:spTgt spid="7045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8" dur="500"/>
                                        <p:tgtEl>
                                          <p:spTgt spid="704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7045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500" fill="hold"/>
                                        <p:tgtEl>
                                          <p:spTgt spid="7045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704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 nodeType="clickPar">
                      <p:stCondLst>
                        <p:cond delay="indefinite"/>
                      </p:stCondLst>
                      <p:childTnLst>
                        <p:par>
                          <p:cTn id="2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 nodeType="clickPar">
                      <p:stCondLst>
                        <p:cond delay="indefinite"/>
                      </p:stCondLst>
                      <p:childTnLst>
                        <p:par>
                          <p:cTn id="2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6" dur="500" fill="hold"/>
                                        <p:tgtEl>
                                          <p:spTgt spid="7045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500" fill="hold"/>
                                        <p:tgtEl>
                                          <p:spTgt spid="7045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8" dur="500"/>
                                        <p:tgtEl>
                                          <p:spTgt spid="704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2" dur="500" fill="hold"/>
                                        <p:tgtEl>
                                          <p:spTgt spid="7045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500" fill="hold"/>
                                        <p:tgtEl>
                                          <p:spTgt spid="7045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4" dur="500"/>
                                        <p:tgtEl>
                                          <p:spTgt spid="704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 nodeType="clickPar">
                      <p:stCondLst>
                        <p:cond delay="indefinite"/>
                      </p:stCondLst>
                      <p:childTnLst>
                        <p:par>
                          <p:cTn id="2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9" dur="500" fill="hold"/>
                                        <p:tgtEl>
                                          <p:spTgt spid="7045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0" dur="500" fill="hold"/>
                                        <p:tgtEl>
                                          <p:spTgt spid="7045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1" dur="500"/>
                                        <p:tgtEl>
                                          <p:spTgt spid="704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5" dur="500" fill="hold"/>
                                        <p:tgtEl>
                                          <p:spTgt spid="704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6" dur="500" fill="hold"/>
                                        <p:tgtEl>
                                          <p:spTgt spid="704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7" dur="500"/>
                                        <p:tgtEl>
                                          <p:spTgt spid="704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4514" grpId="0"/>
      <p:bldP spid="704515" grpId="0" autoUpdateAnimBg="0"/>
      <p:bldP spid="704516" grpId="0" autoUpdateAnimBg="0"/>
      <p:bldP spid="704519" grpId="0" autoUpdateAnimBg="0"/>
      <p:bldP spid="704520" grpId="0" autoUpdateAnimBg="0"/>
      <p:bldP spid="704523" grpId="0" autoUpdateAnimBg="0"/>
      <p:bldP spid="704524" grpId="0" autoUpdateAnimBg="0"/>
      <p:bldP spid="704525" grpId="0" autoUpdateAnimBg="0"/>
      <p:bldP spid="704529" grpId="0" autoUpdateAnimBg="0"/>
      <p:bldP spid="704531" grpId="0" autoUpdateAnimBg="0"/>
      <p:bldP spid="704533" grpId="0" autoUpdateAnimBg="0"/>
      <p:bldP spid="704534" grpId="0" autoUpdateAnimBg="0"/>
      <p:bldP spid="704537" grpId="0" autoUpdateAnimBg="0"/>
      <p:bldP spid="704539" grpId="0" autoUpdateAnimBg="0"/>
      <p:bldP spid="704541" grpId="0" autoUpdateAnimBg="0"/>
      <p:bldP spid="704542" grpId="0" autoUpdateAnimBg="0"/>
      <p:bldP spid="704543" grpId="0" autoUpdateAnimBg="0"/>
      <p:bldP spid="704547" grpId="0" autoUpdateAnimBg="0"/>
      <p:bldP spid="704549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B2AF42C-5DA5-2050-B395-A346FF224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176" y="2406931"/>
            <a:ext cx="2160240" cy="2631062"/>
          </a:xfrm>
          <a:prstGeom prst="rect">
            <a:avLst/>
          </a:prstGeom>
        </p:spPr>
      </p:pic>
      <p:sp>
        <p:nvSpPr>
          <p:cNvPr id="20484" name="内容占位符 2"/>
          <p:cNvSpPr>
            <a:spLocks noGrp="1"/>
          </p:cNvSpPr>
          <p:nvPr>
            <p:ph idx="1"/>
          </p:nvPr>
        </p:nvSpPr>
        <p:spPr>
          <a:xfrm>
            <a:off x="0" y="987425"/>
            <a:ext cx="9036050" cy="1428750"/>
          </a:xfrm>
        </p:spPr>
        <p:txBody>
          <a:bodyPr/>
          <a:lstStyle/>
          <a:p>
            <a:pPr eaLnBrk="1" hangingPunct="1">
              <a:buClrTx/>
              <a:buFont typeface="Wingdings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递归下降分析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1800" b="1" i="1" dirty="0">
                <a:solidFill>
                  <a:schemeClr val="tx1"/>
                </a:solidFill>
                <a:cs typeface="Times New Roman" pitchFamily="18" charset="0"/>
              </a:rPr>
              <a:t>Recursive-Descent Parsing</a:t>
            </a:r>
            <a:r>
              <a:rPr lang="en-US" altLang="zh-CN" sz="1800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</a:p>
          <a:p>
            <a:pPr lvl="1" eaLnBrk="1" hangingPunct="1">
              <a:buClrTx/>
              <a:buFont typeface="Wingdings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由一组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cs typeface="Times New Roman" pitchFamily="18" charset="0"/>
              </a:rPr>
              <a:t>过程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组成，每个过程对应一个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cs typeface="Times New Roman" pitchFamily="18" charset="0"/>
              </a:rPr>
              <a:t>非终结符</a:t>
            </a:r>
            <a:endParaRPr lang="en-US" altLang="zh-CN" sz="2000" b="1" dirty="0">
              <a:solidFill>
                <a:schemeClr val="tx2">
                  <a:lumMod val="60000"/>
                  <a:lumOff val="40000"/>
                </a:schemeClr>
              </a:solidFill>
              <a:latin typeface="+mn-ea"/>
              <a:cs typeface="Times New Roman" pitchFamily="18" charset="0"/>
            </a:endParaRPr>
          </a:p>
          <a:p>
            <a:pPr lvl="1" eaLnBrk="1" hangingPunct="1">
              <a:buClrTx/>
              <a:buFont typeface="Wingdings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从文法开始符号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对应的过程</a:t>
            </a:r>
            <a:r>
              <a:rPr lang="zh-CN" alt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开始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，递归调用文法中其它非终结符对应的过程。如果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对应的过程体恰好扫描了整个输入串，则成功完成语法分析</a:t>
            </a:r>
          </a:p>
        </p:txBody>
      </p:sp>
      <p:sp>
        <p:nvSpPr>
          <p:cNvPr id="34820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自顶向下语法分析的通用形式</a:t>
            </a:r>
          </a:p>
        </p:txBody>
      </p:sp>
      <p:sp>
        <p:nvSpPr>
          <p:cNvPr id="6" name="内容占位符 1"/>
          <p:cNvSpPr txBox="1">
            <a:spLocks/>
          </p:cNvSpPr>
          <p:nvPr/>
        </p:nvSpPr>
        <p:spPr bwMode="auto">
          <a:xfrm>
            <a:off x="714375" y="2487613"/>
            <a:ext cx="4319588" cy="25320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273050" indent="-2730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600"/>
              </a:lnSpc>
              <a:spcBef>
                <a:spcPct val="20000"/>
              </a:spcBef>
              <a:buSzPct val="100000"/>
              <a:buFont typeface="Symbol" panose="05050102010706020507" pitchFamily="18" charset="2"/>
              <a:buNone/>
              <a:defRPr/>
            </a:pPr>
            <a:r>
              <a:rPr lang="en-US" altLang="zh-CN" sz="1600" b="1">
                <a:latin typeface="Times New Roman" panose="02020603050405020304" pitchFamily="18" charset="0"/>
                <a:ea typeface="华文楷体" panose="02010600040101010101" pitchFamily="2" charset="-122"/>
              </a:rPr>
              <a:t>      void </a:t>
            </a:r>
            <a:r>
              <a:rPr lang="en-US" altLang="zh-CN" sz="1600" b="1" i="1"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en-US" altLang="zh-CN" sz="1600" b="1">
                <a:latin typeface="Times New Roman" panose="02020603050405020304" pitchFamily="18" charset="0"/>
                <a:ea typeface="楷体" panose="02010609060101010101" pitchFamily="49" charset="-122"/>
              </a:rPr>
              <a:t>( ) {</a:t>
            </a:r>
            <a:endParaRPr lang="en-US" altLang="zh-CN" sz="1600" b="1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ts val="1600"/>
              </a:lnSpc>
              <a:spcBef>
                <a:spcPct val="20000"/>
              </a:spcBef>
              <a:buSzPct val="100000"/>
              <a:buFontTx/>
              <a:buAutoNum type="arabicParenR"/>
              <a:defRPr/>
            </a:pPr>
            <a:r>
              <a:rPr lang="zh-CN" altLang="en-US" sz="1600" b="1">
                <a:latin typeface="Times New Roman" panose="02020603050405020304" pitchFamily="18" charset="0"/>
                <a:ea typeface="楷体" panose="02010609060101010101" pitchFamily="49" charset="-122"/>
              </a:rPr>
              <a:t>     选择一个</a:t>
            </a:r>
            <a:r>
              <a:rPr lang="en-US" altLang="zh-CN" sz="1600" b="1" i="1">
                <a:latin typeface="Times New Roman" panose="02020603050405020304" pitchFamily="18" charset="0"/>
              </a:rPr>
              <a:t>A</a:t>
            </a:r>
            <a:r>
              <a:rPr lang="zh-CN" altLang="en-US" sz="1600" b="1">
                <a:latin typeface="华文楷体" panose="02010600040101010101" pitchFamily="2" charset="-122"/>
                <a:ea typeface="华文楷体" panose="02010600040101010101" pitchFamily="2" charset="-122"/>
              </a:rPr>
              <a:t>产生式，</a:t>
            </a:r>
            <a:r>
              <a:rPr lang="en-US" altLang="zh-CN" sz="1600" b="1" i="1">
                <a:latin typeface="Times New Roman" panose="02020603050405020304" pitchFamily="18" charset="0"/>
              </a:rPr>
              <a:t> A →X</a:t>
            </a:r>
            <a:r>
              <a:rPr lang="en-US" altLang="zh-CN" sz="16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1600" b="1" i="1">
                <a:latin typeface="Times New Roman" panose="02020603050405020304" pitchFamily="18" charset="0"/>
              </a:rPr>
              <a:t> X</a:t>
            </a:r>
            <a:r>
              <a:rPr lang="en-US" altLang="zh-CN" sz="16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1600" b="1" i="1">
                <a:latin typeface="Times New Roman" panose="02020603050405020304" pitchFamily="18" charset="0"/>
              </a:rPr>
              <a:t>  … X</a:t>
            </a:r>
            <a:r>
              <a:rPr lang="en-US" altLang="zh-CN" sz="1600" b="1" i="1" baseline="-25000">
                <a:latin typeface="Times New Roman" panose="02020603050405020304" pitchFamily="18" charset="0"/>
              </a:rPr>
              <a:t>k</a:t>
            </a:r>
            <a:r>
              <a:rPr lang="en-US" altLang="zh-CN" sz="1600" b="1" i="1">
                <a:latin typeface="Times New Roman" panose="02020603050405020304" pitchFamily="18" charset="0"/>
              </a:rPr>
              <a:t>  </a:t>
            </a:r>
            <a:r>
              <a:rPr lang="zh-CN" altLang="en-US" sz="1600" b="1">
                <a:latin typeface="华文楷体" panose="02010600040101010101" pitchFamily="2" charset="-122"/>
                <a:ea typeface="华文楷体" panose="02010600040101010101" pitchFamily="2" charset="-122"/>
              </a:rPr>
              <a:t>；</a:t>
            </a:r>
            <a:endParaRPr lang="en-US" altLang="zh-CN" sz="1600" b="1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lnSpc>
                <a:spcPts val="1600"/>
              </a:lnSpc>
              <a:spcBef>
                <a:spcPct val="20000"/>
              </a:spcBef>
              <a:buSzPct val="100000"/>
              <a:buFontTx/>
              <a:buAutoNum type="arabicParenR"/>
              <a:defRPr/>
            </a:pPr>
            <a:r>
              <a:rPr lang="en-US" altLang="zh-CN" sz="1600" b="1">
                <a:latin typeface="Times New Roman" panose="02020603050405020304" pitchFamily="18" charset="0"/>
                <a:ea typeface="楷体" panose="02010609060101010101" pitchFamily="49" charset="-122"/>
              </a:rPr>
              <a:t>     for</a:t>
            </a:r>
            <a:r>
              <a:rPr lang="en-US" altLang="zh-CN" sz="1600" b="1" i="1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1600" b="1">
                <a:latin typeface="Times New Roman" panose="02020603050405020304" pitchFamily="18" charset="0"/>
                <a:ea typeface="楷体" panose="02010609060101010101" pitchFamily="49" charset="-122"/>
              </a:rPr>
              <a:t>( </a:t>
            </a:r>
            <a:r>
              <a:rPr lang="en-US" altLang="zh-CN" sz="1600" b="1" i="1">
                <a:latin typeface="Times New Roman" panose="02020603050405020304" pitchFamily="18" charset="0"/>
                <a:ea typeface="楷体" panose="02010609060101010101" pitchFamily="49" charset="-122"/>
              </a:rPr>
              <a:t>i </a:t>
            </a:r>
            <a:r>
              <a:rPr lang="en-US" altLang="zh-CN" sz="1600" b="1">
                <a:latin typeface="Times New Roman" panose="02020603050405020304" pitchFamily="18" charset="0"/>
                <a:ea typeface="楷体" panose="02010609060101010101" pitchFamily="49" charset="-122"/>
              </a:rPr>
              <a:t>= 1 to </a:t>
            </a:r>
            <a:r>
              <a:rPr lang="en-US" altLang="zh-CN" sz="1600" b="1" i="1">
                <a:latin typeface="Times New Roman" panose="02020603050405020304" pitchFamily="18" charset="0"/>
                <a:ea typeface="楷体" panose="02010609060101010101" pitchFamily="49" charset="-122"/>
              </a:rPr>
              <a:t>k</a:t>
            </a:r>
            <a:r>
              <a:rPr lang="en-US" altLang="zh-CN" sz="1600" b="1">
                <a:latin typeface="Times New Roman" panose="02020603050405020304" pitchFamily="18" charset="0"/>
                <a:ea typeface="楷体" panose="02010609060101010101" pitchFamily="49" charset="-122"/>
              </a:rPr>
              <a:t> ) {</a:t>
            </a:r>
          </a:p>
          <a:p>
            <a:pPr eaLnBrk="1" hangingPunct="1">
              <a:lnSpc>
                <a:spcPts val="1600"/>
              </a:lnSpc>
              <a:spcBef>
                <a:spcPct val="20000"/>
              </a:spcBef>
              <a:buSzPct val="100000"/>
              <a:buFontTx/>
              <a:buAutoNum type="arabicParenR" startAt="3"/>
              <a:defRPr/>
            </a:pPr>
            <a:r>
              <a:rPr lang="en-US" altLang="zh-CN" sz="1600" b="1">
                <a:latin typeface="Times New Roman" panose="02020603050405020304" pitchFamily="18" charset="0"/>
                <a:ea typeface="楷体" panose="02010609060101010101" pitchFamily="49" charset="-122"/>
              </a:rPr>
              <a:t>             if</a:t>
            </a:r>
            <a:r>
              <a:rPr lang="en-US" altLang="zh-CN" sz="1600" b="1" i="1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1600" b="1">
                <a:latin typeface="Times New Roman" panose="02020603050405020304" pitchFamily="18" charset="0"/>
                <a:ea typeface="楷体" panose="02010609060101010101" pitchFamily="49" charset="-122"/>
              </a:rPr>
              <a:t>( </a:t>
            </a:r>
            <a:r>
              <a:rPr lang="en-US" altLang="zh-CN" sz="1600" b="1" i="1">
                <a:latin typeface="Times New Roman" panose="02020603050405020304" pitchFamily="18" charset="0"/>
                <a:ea typeface="楷体" panose="02010609060101010101" pitchFamily="49" charset="-122"/>
              </a:rPr>
              <a:t>X</a:t>
            </a:r>
            <a:r>
              <a:rPr lang="en-US" altLang="zh-CN" sz="1600" b="1" i="1" baseline="-25000">
                <a:latin typeface="Times New Roman" panose="02020603050405020304" pitchFamily="18" charset="0"/>
              </a:rPr>
              <a:t>i</a:t>
            </a:r>
            <a:r>
              <a:rPr lang="zh-CN" altLang="en-US" sz="1600" b="1">
                <a:latin typeface="Times New Roman" panose="02020603050405020304" pitchFamily="18" charset="0"/>
                <a:ea typeface="楷体" panose="02010609060101010101" pitchFamily="49" charset="-122"/>
              </a:rPr>
              <a:t>是一个非终结符号</a:t>
            </a:r>
            <a:r>
              <a:rPr lang="en-US" altLang="zh-CN" sz="1600" b="1">
                <a:latin typeface="Times New Roman" panose="02020603050405020304" pitchFamily="18" charset="0"/>
                <a:ea typeface="楷体" panose="02010609060101010101" pitchFamily="49" charset="-122"/>
              </a:rPr>
              <a:t>)</a:t>
            </a:r>
          </a:p>
          <a:p>
            <a:pPr eaLnBrk="1" hangingPunct="1">
              <a:lnSpc>
                <a:spcPts val="1600"/>
              </a:lnSpc>
              <a:spcBef>
                <a:spcPct val="20000"/>
              </a:spcBef>
              <a:buSzPct val="100000"/>
              <a:buFontTx/>
              <a:buAutoNum type="arabicParenR" startAt="3"/>
              <a:defRPr/>
            </a:pPr>
            <a:r>
              <a:rPr lang="en-US" altLang="zh-CN" sz="1600" b="1">
                <a:latin typeface="Times New Roman" panose="02020603050405020304" pitchFamily="18" charset="0"/>
                <a:ea typeface="楷体" panose="02010609060101010101" pitchFamily="49" charset="-122"/>
              </a:rPr>
              <a:t>                       </a:t>
            </a:r>
            <a:r>
              <a:rPr lang="zh-CN" altLang="en-US" sz="1600" b="1">
                <a:latin typeface="Times New Roman" panose="02020603050405020304" pitchFamily="18" charset="0"/>
                <a:ea typeface="楷体" panose="02010609060101010101" pitchFamily="49" charset="-122"/>
              </a:rPr>
              <a:t>调用过程 </a:t>
            </a:r>
            <a:r>
              <a:rPr lang="en-US" altLang="zh-CN" sz="1600" b="1" i="1">
                <a:latin typeface="Times New Roman" panose="02020603050405020304" pitchFamily="18" charset="0"/>
                <a:ea typeface="楷体" panose="02010609060101010101" pitchFamily="49" charset="-122"/>
              </a:rPr>
              <a:t>X</a:t>
            </a:r>
            <a:r>
              <a:rPr lang="en-US" altLang="zh-CN" sz="1600" b="1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i </a:t>
            </a:r>
            <a:r>
              <a:rPr lang="en-US" altLang="zh-CN" sz="1600" b="1">
                <a:latin typeface="Times New Roman" panose="02020603050405020304" pitchFamily="18" charset="0"/>
                <a:ea typeface="楷体" panose="02010609060101010101" pitchFamily="49" charset="-122"/>
              </a:rPr>
              <a:t>( ) ; </a:t>
            </a:r>
            <a:endParaRPr lang="en-US" altLang="zh-CN" sz="1600" b="1" i="1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eaLnBrk="1" hangingPunct="1">
              <a:lnSpc>
                <a:spcPts val="1600"/>
              </a:lnSpc>
              <a:spcBef>
                <a:spcPct val="20000"/>
              </a:spcBef>
              <a:buSzPct val="100000"/>
              <a:buFontTx/>
              <a:buAutoNum type="arabicParenR" startAt="3"/>
              <a:defRPr/>
            </a:pPr>
            <a:r>
              <a:rPr lang="en-US" altLang="zh-CN" sz="1600" b="1">
                <a:latin typeface="Times New Roman" panose="02020603050405020304" pitchFamily="18" charset="0"/>
                <a:ea typeface="楷体" panose="02010609060101010101" pitchFamily="49" charset="-122"/>
              </a:rPr>
              <a:t>             else  if ( </a:t>
            </a:r>
            <a:r>
              <a:rPr lang="en-US" altLang="zh-CN" sz="1600" b="1" i="1">
                <a:latin typeface="Times New Roman" panose="02020603050405020304" pitchFamily="18" charset="0"/>
                <a:ea typeface="楷体" panose="02010609060101010101" pitchFamily="49" charset="-122"/>
              </a:rPr>
              <a:t>X</a:t>
            </a:r>
            <a:r>
              <a:rPr lang="en-US" altLang="zh-CN" sz="1600" b="1" i="1" baseline="-25000">
                <a:latin typeface="Times New Roman" panose="02020603050405020304" pitchFamily="18" charset="0"/>
              </a:rPr>
              <a:t>i</a:t>
            </a:r>
            <a:r>
              <a:rPr lang="en-US" altLang="zh-CN" sz="1600" b="1" i="1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zh-CN" altLang="en-US" sz="1600" b="1">
                <a:latin typeface="Times New Roman" panose="02020603050405020304" pitchFamily="18" charset="0"/>
                <a:ea typeface="楷体" panose="02010609060101010101" pitchFamily="49" charset="-122"/>
              </a:rPr>
              <a:t>等于当前的输入符号</a:t>
            </a:r>
            <a:r>
              <a:rPr lang="en-US" altLang="zh-CN" sz="1600" b="1" i="1"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  <a:r>
              <a:rPr lang="en-US" altLang="zh-CN" sz="1600" b="1">
                <a:latin typeface="Times New Roman" panose="02020603050405020304" pitchFamily="18" charset="0"/>
                <a:ea typeface="楷体" panose="02010609060101010101" pitchFamily="49" charset="-122"/>
              </a:rPr>
              <a:t>)       </a:t>
            </a:r>
          </a:p>
          <a:p>
            <a:pPr eaLnBrk="1" hangingPunct="1">
              <a:lnSpc>
                <a:spcPts val="1600"/>
              </a:lnSpc>
              <a:spcBef>
                <a:spcPct val="20000"/>
              </a:spcBef>
              <a:buSzPct val="100000"/>
              <a:buFontTx/>
              <a:buAutoNum type="arabicParenR" startAt="3"/>
              <a:defRPr/>
            </a:pPr>
            <a:r>
              <a:rPr lang="en-US" altLang="zh-CN" sz="1600" b="1">
                <a:latin typeface="Times New Roman" panose="02020603050405020304" pitchFamily="18" charset="0"/>
                <a:ea typeface="楷体" panose="02010609060101010101" pitchFamily="49" charset="-122"/>
              </a:rPr>
              <a:t>                        </a:t>
            </a:r>
            <a:r>
              <a:rPr lang="zh-CN" altLang="en-US" sz="1600" b="1">
                <a:latin typeface="Times New Roman" panose="02020603050405020304" pitchFamily="18" charset="0"/>
                <a:ea typeface="楷体" panose="02010609060101010101" pitchFamily="49" charset="-122"/>
              </a:rPr>
              <a:t>读入下一个输入符号</a:t>
            </a:r>
            <a:r>
              <a:rPr lang="en-US" altLang="zh-CN" sz="1600" b="1">
                <a:latin typeface="Times New Roman" panose="02020603050405020304" pitchFamily="18" charset="0"/>
                <a:ea typeface="楷体" panose="02010609060101010101" pitchFamily="49" charset="-122"/>
              </a:rPr>
              <a:t>;</a:t>
            </a:r>
          </a:p>
          <a:p>
            <a:pPr eaLnBrk="1" hangingPunct="1">
              <a:lnSpc>
                <a:spcPts val="1600"/>
              </a:lnSpc>
              <a:spcBef>
                <a:spcPct val="20000"/>
              </a:spcBef>
              <a:buSzPct val="100000"/>
              <a:buFontTx/>
              <a:buAutoNum type="arabicParenR" startAt="3"/>
              <a:defRPr/>
            </a:pPr>
            <a:r>
              <a:rPr lang="en-US" altLang="zh-CN" sz="1600" b="1">
                <a:latin typeface="Times New Roman" panose="02020603050405020304" pitchFamily="18" charset="0"/>
                <a:ea typeface="楷体" panose="02010609060101010101" pitchFamily="49" charset="-122"/>
              </a:rPr>
              <a:t>             else /* </a:t>
            </a:r>
            <a:r>
              <a:rPr lang="zh-CN" altLang="en-US" sz="1600" b="1">
                <a:latin typeface="Times New Roman" panose="02020603050405020304" pitchFamily="18" charset="0"/>
                <a:ea typeface="楷体" panose="02010609060101010101" pitchFamily="49" charset="-122"/>
              </a:rPr>
              <a:t>发生了一个错误 </a:t>
            </a:r>
            <a:r>
              <a:rPr lang="en-US" altLang="zh-CN" sz="1600" b="1">
                <a:latin typeface="Times New Roman" panose="02020603050405020304" pitchFamily="18" charset="0"/>
                <a:ea typeface="楷体" panose="02010609060101010101" pitchFamily="49" charset="-122"/>
              </a:rPr>
              <a:t>*/ ;</a:t>
            </a:r>
          </a:p>
          <a:p>
            <a:pPr eaLnBrk="1" hangingPunct="1">
              <a:lnSpc>
                <a:spcPts val="1600"/>
              </a:lnSpc>
              <a:spcBef>
                <a:spcPct val="20000"/>
              </a:spcBef>
              <a:buSzPct val="100000"/>
              <a:buFont typeface="Symbol" panose="05050102010706020507" pitchFamily="18" charset="2"/>
              <a:buNone/>
              <a:defRPr/>
            </a:pPr>
            <a:r>
              <a:rPr lang="en-US" altLang="zh-CN" sz="1600" b="1">
                <a:latin typeface="Times New Roman" panose="02020603050405020304" pitchFamily="18" charset="0"/>
                <a:ea typeface="楷体" panose="02010609060101010101" pitchFamily="49" charset="-122"/>
              </a:rPr>
              <a:t>              }</a:t>
            </a:r>
          </a:p>
          <a:p>
            <a:pPr eaLnBrk="1" hangingPunct="1">
              <a:lnSpc>
                <a:spcPts val="1600"/>
              </a:lnSpc>
              <a:spcBef>
                <a:spcPct val="20000"/>
              </a:spcBef>
              <a:buSzPct val="100000"/>
              <a:buFont typeface="Symbol" panose="05050102010706020507" pitchFamily="18" charset="2"/>
              <a:buNone/>
              <a:defRPr/>
            </a:pPr>
            <a:r>
              <a:rPr lang="en-US" altLang="zh-CN" sz="1600" b="1">
                <a:latin typeface="Times New Roman" panose="02020603050405020304" pitchFamily="18" charset="0"/>
                <a:ea typeface="楷体" panose="02010609060101010101" pitchFamily="49" charset="-122"/>
              </a:rPr>
              <a:t>       }</a:t>
            </a:r>
          </a:p>
        </p:txBody>
      </p:sp>
      <p:sp>
        <p:nvSpPr>
          <p:cNvPr id="19461" name="矩形 3"/>
          <p:cNvSpPr>
            <a:spLocks noChangeArrowheads="1"/>
          </p:cNvSpPr>
          <p:nvPr/>
        </p:nvSpPr>
        <p:spPr bwMode="auto">
          <a:xfrm>
            <a:off x="5796136" y="962846"/>
            <a:ext cx="3111500" cy="7080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000" b="1" dirty="0">
                <a:latin typeface="+mn-ea"/>
                <a:ea typeface="+mn-ea"/>
                <a:cs typeface="Times New Roman" pitchFamily="18" charset="0"/>
              </a:rPr>
              <a:t>可能需要回溯</a:t>
            </a:r>
            <a:r>
              <a:rPr lang="en-US" altLang="zh-CN" sz="1600" b="1" dirty="0"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altLang="zh-CN" sz="1600" b="1" i="1" dirty="0">
                <a:latin typeface="Times New Roman" pitchFamily="18" charset="0"/>
                <a:ea typeface="+mn-ea"/>
                <a:cs typeface="Times New Roman" pitchFamily="18" charset="0"/>
              </a:rPr>
              <a:t>backtracking</a:t>
            </a:r>
            <a:r>
              <a:rPr lang="en-US" altLang="zh-CN" sz="1600" b="1" dirty="0">
                <a:latin typeface="Times New Roman" pitchFamily="18" charset="0"/>
                <a:ea typeface="+mn-ea"/>
                <a:cs typeface="Times New Roman" pitchFamily="18" charset="0"/>
              </a:rPr>
              <a:t>)</a:t>
            </a:r>
            <a:r>
              <a:rPr lang="zh-CN" altLang="en-US" sz="2000" b="1" dirty="0">
                <a:latin typeface="+mn-ea"/>
                <a:ea typeface="+mn-ea"/>
                <a:cs typeface="Times New Roman" pitchFamily="18" charset="0"/>
              </a:rPr>
              <a:t>，导致效率较低</a:t>
            </a:r>
          </a:p>
        </p:txBody>
      </p:sp>
      <p:sp>
        <p:nvSpPr>
          <p:cNvPr id="26630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697AC71-FBAA-4351-A0FD-1912CA3D53FC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22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4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4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946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内容占位符 2"/>
          <p:cNvSpPr>
            <a:spLocks noGrp="1"/>
          </p:cNvSpPr>
          <p:nvPr>
            <p:ph idx="1"/>
          </p:nvPr>
        </p:nvSpPr>
        <p:spPr>
          <a:xfrm>
            <a:off x="433388" y="1125538"/>
            <a:ext cx="8353425" cy="3246437"/>
          </a:xfrm>
        </p:spPr>
        <p:txBody>
          <a:bodyPr/>
          <a:lstStyle/>
          <a:p>
            <a:pPr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预测分析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是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cs typeface="Times New Roman" pitchFamily="18" charset="0"/>
              </a:rPr>
              <a:t>递归下降分析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技术的一个特例，通过在输入中向前看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cs typeface="Times New Roman" pitchFamily="18" charset="0"/>
              </a:rPr>
              <a:t>固定个数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（通常是一个）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cs typeface="Times New Roman" pitchFamily="18" charset="0"/>
              </a:rPr>
              <a:t>符号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来选择正确的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8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-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产生式。</a:t>
            </a:r>
            <a:endParaRPr lang="en-US" altLang="zh-CN" sz="2800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prstClr val="black"/>
                </a:solidFill>
                <a:latin typeface="华文楷体" panose="02010600040101010101" pitchFamily="2" charset="-122"/>
                <a:cs typeface="Times New Roman" pitchFamily="18" charset="0"/>
              </a:rPr>
              <a:t>可以对某些文法构造出向前看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zh-CN" altLang="en-US" sz="2500" b="1" dirty="0">
                <a:solidFill>
                  <a:prstClr val="black"/>
                </a:solidFill>
                <a:latin typeface="华文楷体" panose="02010600040101010101" pitchFamily="2" charset="-122"/>
                <a:cs typeface="Times New Roman" pitchFamily="18" charset="0"/>
              </a:rPr>
              <a:t>个输入符号的预测分析器，该类文法有时也称为</a:t>
            </a:r>
            <a:r>
              <a:rPr lang="en-US" altLang="zh-CN" sz="25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LL</a:t>
            </a:r>
            <a:r>
              <a:rPr lang="en-US" altLang="zh-CN" sz="25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5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zh-CN" sz="25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zh-CN" altLang="en-US" sz="2500" b="1" dirty="0">
                <a:solidFill>
                  <a:srgbClr val="FF0000"/>
                </a:solidFill>
                <a:latin typeface="华文楷体" panose="02010600040101010101" pitchFamily="2" charset="-122"/>
                <a:cs typeface="Times New Roman" pitchFamily="18" charset="0"/>
              </a:rPr>
              <a:t>文法类</a:t>
            </a:r>
            <a:endParaRPr lang="en-US" altLang="zh-CN" sz="2800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预测分析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cs typeface="Times New Roman" pitchFamily="18" charset="0"/>
              </a:rPr>
              <a:t>不需要回溯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，是一种确定的自顶向下分析方法</a:t>
            </a:r>
            <a:endParaRPr lang="en-US" altLang="zh-CN" sz="2800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</p:txBody>
      </p:sp>
      <p:grpSp>
        <p:nvGrpSpPr>
          <p:cNvPr id="28675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7" name="五边形 6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28679" name="五边形 6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3000" b="1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预测分析法</a:t>
            </a:r>
            <a:r>
              <a:rPr lang="en-US" altLang="zh-CN" sz="3000" b="1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/LL(1)</a:t>
            </a:r>
            <a:r>
              <a:rPr lang="zh-CN" altLang="en-US" sz="3000" b="1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分析法</a:t>
            </a:r>
            <a:r>
              <a:rPr lang="zh-CN" altLang="en-US" sz="3000" b="1" spc="300" dirty="0">
                <a:solidFill>
                  <a:schemeClr val="tx1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spc="300" dirty="0">
                <a:solidFill>
                  <a:schemeClr val="tx1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Predictive Parsing</a:t>
            </a:r>
            <a:r>
              <a:rPr lang="en-US" altLang="zh-CN" sz="2400" b="1" spc="300" dirty="0">
                <a:solidFill>
                  <a:schemeClr val="tx1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)</a:t>
            </a:r>
            <a:endParaRPr lang="zh-CN" altLang="en-US" sz="2400" b="1" spc="300" dirty="0">
              <a:solidFill>
                <a:schemeClr val="tx1"/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28677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C03271A-2CA8-45EE-A161-01B707A8148E}" type="slidenum">
              <a:rPr lang="zh-CN" altLang="en-US" smtClean="0">
                <a:solidFill>
                  <a:schemeClr val="tx2"/>
                </a:solidFill>
              </a:rPr>
              <a:pPr/>
              <a:t>23</a:t>
            </a:fld>
            <a:endParaRPr lang="en-US" altLang="zh-CN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2"/>
          <p:cNvSpPr>
            <a:spLocks noGrp="1"/>
          </p:cNvSpPr>
          <p:nvPr>
            <p:ph type="title"/>
          </p:nvPr>
        </p:nvSpPr>
        <p:spPr>
          <a:xfrm>
            <a:off x="684213" y="411163"/>
            <a:ext cx="7931150" cy="358775"/>
          </a:xfrm>
        </p:spPr>
        <p:txBody>
          <a:bodyPr/>
          <a:lstStyle/>
          <a:p>
            <a:r>
              <a:rPr lang="en-US" altLang="zh-CN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预测分析法首先要文法转换</a:t>
            </a:r>
            <a:br>
              <a:rPr lang="en-US" altLang="zh-CN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endParaRPr lang="zh-CN" altLang="en-US" sz="3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47700" y="1206500"/>
            <a:ext cx="7046913" cy="3579813"/>
          </a:xfrm>
          <a:prstGeom prst="rect">
            <a:avLst/>
          </a:prstGeom>
        </p:spPr>
        <p:txBody>
          <a:bodyPr>
            <a:spAutoFit/>
          </a:bodyPr>
          <a:lstStyle/>
          <a:p>
            <a:pPr marL="273050" indent="-273050" eaLnBrk="1" hangingPunct="1">
              <a:lnSpc>
                <a:spcPts val="30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zh-CN" altLang="en-US" sz="32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例</a:t>
            </a:r>
            <a:r>
              <a:rPr lang="en-US" altLang="zh-CN" sz="32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1</a:t>
            </a:r>
            <a:endParaRPr lang="zh-CN" altLang="en-US" sz="3200" b="1" dirty="0"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  <a:p>
            <a:pPr marL="576263" lvl="1" indent="-273050" eaLnBrk="1" hangingPunct="1"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文法</a:t>
            </a:r>
            <a:r>
              <a:rPr lang="en-US" altLang="zh-CN" sz="2800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</a:p>
          <a:p>
            <a:pPr marL="303213" lvl="1" eaLnBrk="1" hangingPunct="1">
              <a:spcBef>
                <a:spcPct val="20000"/>
              </a:spcBef>
              <a:buSzPct val="100000"/>
              <a:defRPr/>
            </a:pPr>
            <a:r>
              <a:rPr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2800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 </a:t>
            </a:r>
            <a:r>
              <a:rPr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→ 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aAd</a:t>
            </a:r>
            <a:r>
              <a:rPr lang="en-US" altLang="zh-CN" sz="2800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| 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aBe</a:t>
            </a:r>
            <a:endParaRPr lang="en-US" altLang="zh-CN" sz="2800" b="1" i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03213" lvl="1" eaLnBrk="1" hangingPunct="1">
              <a:spcBef>
                <a:spcPct val="20000"/>
              </a:spcBef>
              <a:buSzPct val="100000"/>
              <a:defRPr/>
            </a:pPr>
            <a:r>
              <a:rPr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2800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→ </a:t>
            </a:r>
            <a:r>
              <a:rPr lang="en-US" altLang="zh-CN" sz="2800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</a:t>
            </a:r>
          </a:p>
          <a:p>
            <a:pPr marL="303213" lvl="1" eaLnBrk="1" hangingPunct="1">
              <a:spcBef>
                <a:spcPct val="20000"/>
              </a:spcBef>
              <a:buSzPct val="100000"/>
              <a:defRPr/>
            </a:pPr>
            <a:r>
              <a:rPr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2800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→ </a:t>
            </a:r>
            <a:r>
              <a:rPr lang="en-US" altLang="zh-CN" sz="2800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</a:p>
          <a:p>
            <a:pPr marL="576263" lvl="1" indent="-273050" eaLnBrk="1" hangingPunct="1"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输入</a:t>
            </a:r>
          </a:p>
          <a:p>
            <a:pPr marL="303213" lvl="1" eaLnBrk="1" hangingPunct="1">
              <a:spcBef>
                <a:spcPct val="20000"/>
              </a:spcBef>
              <a:buSzPct val="100000"/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2800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 b c</a:t>
            </a:r>
          </a:p>
        </p:txBody>
      </p:sp>
      <p:sp>
        <p:nvSpPr>
          <p:cNvPr id="13" name="内容占位符 1"/>
          <p:cNvSpPr txBox="1">
            <a:spLocks/>
          </p:cNvSpPr>
          <p:nvPr/>
        </p:nvSpPr>
        <p:spPr bwMode="auto">
          <a:xfrm>
            <a:off x="3071813" y="1096963"/>
            <a:ext cx="5327650" cy="8985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/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576263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8556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4620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Symbol" panose="05050102010706020507" pitchFamily="18" charset="2"/>
              <a:buNone/>
              <a:defRPr/>
            </a:pPr>
            <a:r>
              <a:rPr lang="zh-CN" altLang="en-US" sz="2800" b="1" dirty="0">
                <a:solidFill>
                  <a:srgbClr val="000000"/>
                </a:solidFill>
                <a:latin typeface="Arial" panose="020B0604020202020204" pitchFamily="34" charset="0"/>
              </a:rPr>
              <a:t>同一非终结符的多个候选式存在共同前缀，可能产生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回溯</a:t>
            </a:r>
            <a:r>
              <a:rPr lang="zh-CN" altLang="en-US" sz="2800" b="1" dirty="0">
                <a:solidFill>
                  <a:srgbClr val="000000"/>
                </a:solidFill>
                <a:latin typeface="Arial" panose="020B0604020202020204" pitchFamily="34" charset="0"/>
              </a:rPr>
              <a:t>现象</a:t>
            </a:r>
            <a:endParaRPr lang="en-US" altLang="zh-CN" sz="28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defRPr/>
            </a:pPr>
            <a:endParaRPr lang="en-US" altLang="zh-CN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defRPr/>
            </a:pPr>
            <a:endParaRPr lang="zh-CN" altLang="en-US" dirty="0"/>
          </a:p>
        </p:txBody>
      </p:sp>
      <p:sp>
        <p:nvSpPr>
          <p:cNvPr id="15" name="Line 45"/>
          <p:cNvSpPr>
            <a:spLocks noChangeShapeType="1"/>
          </p:cNvSpPr>
          <p:nvPr/>
        </p:nvSpPr>
        <p:spPr bwMode="auto">
          <a:xfrm flipV="1">
            <a:off x="1476375" y="4749800"/>
            <a:ext cx="0" cy="269875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30726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1696EC2-6ABE-438C-8B7F-6626610C64C2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24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/>
      <p:bldP spid="13" grpId="0" build="p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475" name="Rectangle 3"/>
          <p:cNvSpPr>
            <a:spLocks noGrp="1" noChangeArrowheads="1"/>
          </p:cNvSpPr>
          <p:nvPr>
            <p:ph idx="1"/>
          </p:nvPr>
        </p:nvSpPr>
        <p:spPr>
          <a:xfrm>
            <a:off x="787400" y="846138"/>
            <a:ext cx="5927725" cy="3225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例</a:t>
            </a:r>
            <a:endParaRPr lang="en-US" altLang="zh-CN" sz="25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文法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G</a:t>
            </a:r>
          </a:p>
          <a:p>
            <a:pPr lvl="2" eaLnBrk="1" hangingPunct="1">
              <a:lnSpc>
                <a:spcPct val="90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pt-BR" altLang="zh-CN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pt-BR" altLang="zh-CN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→ </a:t>
            </a:r>
            <a:r>
              <a:rPr lang="pt-BR" altLang="zh-CN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aAd </a:t>
            </a:r>
            <a:r>
              <a:rPr lang="pt-BR" altLang="zh-CN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| </a:t>
            </a:r>
            <a:r>
              <a:rPr lang="pt-BR" altLang="zh-CN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aBe</a:t>
            </a:r>
          </a:p>
          <a:p>
            <a:pPr lvl="2" eaLnBrk="1" hangingPunct="1">
              <a:lnSpc>
                <a:spcPct val="90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pt-BR" altLang="zh-CN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pt-BR" altLang="zh-CN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→ </a:t>
            </a:r>
            <a:r>
              <a:rPr lang="pt-BR" altLang="zh-CN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c</a:t>
            </a:r>
          </a:p>
          <a:p>
            <a:pPr lvl="2" eaLnBrk="1" hangingPunct="1">
              <a:lnSpc>
                <a:spcPct val="90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pt-BR" altLang="zh-CN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B </a:t>
            </a:r>
            <a:r>
              <a:rPr lang="pt-BR" altLang="zh-CN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→ </a:t>
            </a:r>
            <a:r>
              <a:rPr lang="pt-BR" altLang="zh-CN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b</a:t>
            </a:r>
          </a:p>
          <a:p>
            <a:pPr marL="0" indent="0" eaLnBrk="1" hangingPunct="1">
              <a:lnSpc>
                <a:spcPct val="80000"/>
              </a:lnSpc>
              <a:buClr>
                <a:srgbClr val="3333CC"/>
              </a:buClr>
              <a:buFont typeface="Symbol" panose="05050102010706020507" pitchFamily="18" charset="2"/>
              <a:buNone/>
              <a:defRPr/>
            </a:pPr>
            <a:endParaRPr lang="en-US" altLang="zh-CN" sz="2000" b="1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rgbClr val="3333CC"/>
              </a:buClr>
              <a:defRPr/>
            </a:pPr>
            <a:endParaRPr lang="en-US" altLang="zh-CN" sz="2000" b="1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文法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G </a:t>
            </a:r>
            <a:r>
              <a:rPr lang="en-US" altLang="zh-CN" sz="20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'</a:t>
            </a:r>
          </a:p>
          <a:p>
            <a:pPr lvl="2" eaLnBrk="1" hangingPunct="1">
              <a:lnSpc>
                <a:spcPct val="90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 → a S'</a:t>
            </a:r>
          </a:p>
          <a:p>
            <a:pPr lvl="2" eaLnBrk="1" hangingPunct="1">
              <a:lnSpc>
                <a:spcPct val="90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S' → Ad | Be</a:t>
            </a:r>
          </a:p>
          <a:p>
            <a:pPr lvl="2" eaLnBrk="1" hangingPunct="1">
              <a:lnSpc>
                <a:spcPct val="90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A → c</a:t>
            </a:r>
          </a:p>
          <a:p>
            <a:pPr lvl="2" eaLnBrk="1" hangingPunct="1">
              <a:lnSpc>
                <a:spcPct val="90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B → b</a:t>
            </a:r>
          </a:p>
          <a:p>
            <a:pPr lvl="2" eaLnBrk="1" hangingPunct="1">
              <a:lnSpc>
                <a:spcPct val="90000"/>
              </a:lnSpc>
              <a:buClrTx/>
              <a:buFont typeface="Wingdings" panose="05000000000000000000" pitchFamily="2" charset="2"/>
              <a:buChar char="Ø"/>
              <a:defRPr/>
            </a:pPr>
            <a:endParaRPr lang="en-US" altLang="zh-CN" sz="2500" i="1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zh-CN" dirty="0"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ea typeface="楷体_GB2312" pitchFamily="49" charset="-122"/>
                <a:cs typeface="Times New Roman" panose="02020603050405020304" pitchFamily="18" charset="0"/>
              </a:rPr>
              <a:t>		</a:t>
            </a:r>
            <a:endParaRPr lang="zh-CN" altLang="en-US" dirty="0"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解决方法：提取左公因子</a:t>
            </a:r>
            <a:r>
              <a:rPr lang="en-US" altLang="zh-CN" sz="2500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(</a:t>
            </a:r>
            <a:r>
              <a:rPr lang="en-US" altLang="zh-CN" sz="2500" i="1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Left Factoring </a:t>
            </a:r>
            <a:r>
              <a:rPr lang="en-US" altLang="zh-CN" sz="2500" spc="300" dirty="0">
                <a:solidFill>
                  <a:schemeClr val="tx1"/>
                </a:solidFill>
                <a:ea typeface="微软雅黑" pitchFamily="34" charset="-122"/>
                <a:cs typeface="Times New Roman" pitchFamily="18" charset="0"/>
              </a:rPr>
              <a:t>)</a:t>
            </a:r>
            <a:endParaRPr lang="zh-CN" altLang="en-US" sz="2500" spc="300" dirty="0">
              <a:solidFill>
                <a:schemeClr val="tx1"/>
              </a:solidFill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3" name="下箭头 2"/>
          <p:cNvSpPr/>
          <p:nvPr/>
        </p:nvSpPr>
        <p:spPr>
          <a:xfrm>
            <a:off x="1619250" y="2500313"/>
            <a:ext cx="1081088" cy="431800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987675" y="2211388"/>
            <a:ext cx="4313238" cy="12461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通过改写产生式来</a:t>
            </a:r>
            <a:r>
              <a:rPr kumimoji="0" lang="zh-CN" altLang="en-US" sz="2500" b="1" i="0" u="none" strike="noStrike" kern="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推迟决定</a:t>
            </a:r>
            <a:r>
              <a:rPr kumimoji="0" lang="zh-CN" altLang="en-US" sz="25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，等读入了足够多的输入，获得足够信息后再做出正确的选择</a:t>
            </a:r>
          </a:p>
        </p:txBody>
      </p:sp>
      <p:sp>
        <p:nvSpPr>
          <p:cNvPr id="51206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C70E6FB-1A0D-47BE-AAEF-A2E1AE8B2642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217039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89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89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89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89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89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89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89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89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89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89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89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89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89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89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89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894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894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894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894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894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894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894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894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894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894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894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894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894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894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894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内容占位符 2"/>
          <p:cNvSpPr>
            <a:spLocks noGrp="1"/>
          </p:cNvSpPr>
          <p:nvPr>
            <p:ph idx="1"/>
          </p:nvPr>
        </p:nvSpPr>
        <p:spPr>
          <a:xfrm>
            <a:off x="142875" y="785813"/>
            <a:ext cx="8858250" cy="1209675"/>
          </a:xfrm>
        </p:spPr>
        <p:txBody>
          <a:bodyPr/>
          <a:lstStyle/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000" b="1">
                <a:solidFill>
                  <a:schemeClr val="tx1"/>
                </a:solidFill>
                <a:cs typeface="Times New Roman" panose="02020603050405020304" pitchFamily="18" charset="0"/>
              </a:rPr>
              <a:t>输入：文法</a:t>
            </a:r>
            <a:r>
              <a:rPr lang="en-US" altLang="zh-CN" sz="2000" b="1" i="1">
                <a:solidFill>
                  <a:schemeClr val="tx1"/>
                </a:solidFill>
                <a:cs typeface="Times New Roman" panose="02020603050405020304" pitchFamily="18" charset="0"/>
              </a:rPr>
              <a:t>G</a:t>
            </a:r>
            <a:endParaRPr lang="en-US" altLang="zh-CN" sz="2000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000" b="1">
                <a:solidFill>
                  <a:schemeClr val="tx1"/>
                </a:solidFill>
                <a:cs typeface="Times New Roman" panose="02020603050405020304" pitchFamily="18" charset="0"/>
              </a:rPr>
              <a:t>输出：等价的提取了左公因子的文法</a:t>
            </a:r>
            <a:endParaRPr lang="en-US" altLang="zh-CN" sz="2000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000" b="1">
                <a:solidFill>
                  <a:schemeClr val="tx1"/>
                </a:solidFill>
                <a:cs typeface="Times New Roman" panose="02020603050405020304" pitchFamily="18" charset="0"/>
              </a:rPr>
              <a:t>方法：</a:t>
            </a:r>
            <a:endParaRPr lang="en-US" altLang="zh-CN" sz="2000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2500"/>
              </a:lnSpc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chemeClr val="tx1"/>
                </a:solidFill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53251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提取左公因子算法</a:t>
            </a:r>
          </a:p>
        </p:txBody>
      </p:sp>
      <p:sp>
        <p:nvSpPr>
          <p:cNvPr id="2" name="矩形 1"/>
          <p:cNvSpPr/>
          <p:nvPr/>
        </p:nvSpPr>
        <p:spPr>
          <a:xfrm>
            <a:off x="504825" y="1924050"/>
            <a:ext cx="8459788" cy="31607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273050" marR="0" lvl="0" indent="-27305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对于每个非终结符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，找出它的两个或多个选项之间的最长公共前缀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α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。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如果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α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≠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ε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，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即存在一个非平凡的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(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nontrivial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)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公共前缀，那么将所有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-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产生式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marL="273050" marR="0" lvl="0" indent="-273050" algn="ctr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A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α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β</a:t>
            </a:r>
            <a:r>
              <a:rPr kumimoji="0" lang="en-US" altLang="zh-CN" sz="1800" b="1" i="1" u="none" strike="noStrike" kern="1200" cap="none" spc="0" normalizeH="0" baseline="-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|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α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β</a:t>
            </a:r>
            <a:r>
              <a:rPr kumimoji="0" lang="en-US" altLang="zh-CN" sz="1800" b="1" i="1" u="none" strike="noStrike" kern="1200" cap="none" spc="0" normalizeH="0" baseline="-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| … |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α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β</a:t>
            </a:r>
            <a:r>
              <a:rPr kumimoji="0" lang="en-US" altLang="zh-CN" sz="1800" b="1" i="1" u="none" strike="noStrike" kern="1200" cap="none" spc="0" normalizeH="0" baseline="-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|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γ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|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γ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| … | 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γ</a:t>
            </a:r>
            <a:r>
              <a:rPr kumimoji="0" lang="en-US" altLang="zh-CN" sz="1800" b="1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m</a:t>
            </a:r>
            <a:endParaRPr kumimoji="0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替换为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marL="273050" marR="0" lvl="0" indent="-273050" algn="ctr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A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α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A'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|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γ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|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γ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| … | 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γ</a:t>
            </a:r>
            <a:r>
              <a:rPr kumimoji="0" lang="en-US" altLang="zh-CN" sz="1800" b="1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m</a:t>
            </a:r>
            <a:endParaRPr kumimoji="0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273050" marR="0" lvl="0" indent="-273050" algn="ctr" defTabSz="914400" rtl="0" eaLnBrk="1" fontAlgn="base" latinLnBrk="0" hangingPunct="1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A'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→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β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|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β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| … |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β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n</a:t>
            </a:r>
            <a:endParaRPr kumimoji="0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其中，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γ</a:t>
            </a:r>
            <a:r>
              <a:rPr kumimoji="0" lang="en-US" altLang="zh-CN" sz="1800" b="1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表示所有不以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α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华文楷体" panose="02010600040101010101" pitchFamily="2" charset="-122"/>
                <a:cs typeface="+mn-cs"/>
              </a:rPr>
              <a:t>开头的产生式体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；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A'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是一个新的非终结符。不断应用这个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转换，直到每个非终结符的任意两个产生式体都没有公共前缀为止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53253" name="灯片编号占位符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A7AB782-83CC-4919-BFAE-45DC5DC50BCD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9197945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2588" y="785813"/>
            <a:ext cx="7046912" cy="29146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73050" indent="-273050" eaLnBrk="1" hangingPunct="1">
              <a:lnSpc>
                <a:spcPts val="30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例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2</a:t>
            </a:r>
            <a:endParaRPr lang="zh-CN" altLang="en-US" sz="2800" b="1" dirty="0"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  <a:p>
            <a:pPr marL="576263" lvl="1" indent="-273050" eaLnBrk="1" hangingPunct="1"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文法</a:t>
            </a:r>
            <a:r>
              <a:rPr lang="en-US" altLang="zh-CN" sz="2400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</a:p>
          <a:p>
            <a:pPr lvl="1" eaLnBrk="1" hangingPunct="1">
              <a:defRPr/>
            </a:pPr>
            <a:r>
              <a:rPr lang="en-US" altLang="zh-CN" sz="24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 E </a:t>
            </a:r>
            <a:r>
              <a:rPr lang="en-US" altLang="zh-CN" sz="2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→ 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E </a:t>
            </a:r>
            <a:r>
              <a:rPr lang="en-US" altLang="zh-CN" sz="2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+ 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T </a:t>
            </a:r>
            <a:r>
              <a:rPr lang="en-US" altLang="zh-CN" sz="2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| 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E </a:t>
            </a:r>
            <a:r>
              <a:rPr lang="en-US" altLang="zh-CN" sz="2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– 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T </a:t>
            </a:r>
            <a:r>
              <a:rPr lang="en-US" altLang="zh-CN" sz="2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| 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T</a:t>
            </a:r>
          </a:p>
          <a:p>
            <a:pPr lvl="1" eaLnBrk="1" hangingPunct="1">
              <a:defRPr/>
            </a:pPr>
            <a:r>
              <a:rPr lang="en-US" altLang="zh-CN" sz="24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 T</a:t>
            </a:r>
            <a:r>
              <a:rPr lang="en-US" altLang="zh-CN" sz="2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→ 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T</a:t>
            </a:r>
            <a:r>
              <a:rPr lang="en-US" altLang="zh-CN" sz="2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* 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F</a:t>
            </a:r>
            <a:r>
              <a:rPr lang="en-US" altLang="zh-CN" sz="2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| 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T</a:t>
            </a:r>
            <a:r>
              <a:rPr lang="en-US" altLang="zh-CN" sz="2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/ 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F</a:t>
            </a:r>
            <a:r>
              <a:rPr lang="en-US" altLang="zh-CN" sz="2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| 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F</a:t>
            </a:r>
          </a:p>
          <a:p>
            <a:pPr lvl="1" eaLnBrk="1" hangingPunct="1">
              <a:defRPr/>
            </a:pPr>
            <a:r>
              <a:rPr lang="en-US" altLang="zh-CN" sz="24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 F</a:t>
            </a:r>
            <a:r>
              <a:rPr lang="en-US" altLang="zh-CN" sz="2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→ ( 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E</a:t>
            </a:r>
            <a:r>
              <a:rPr lang="en-US" altLang="zh-CN" sz="2400" b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) | id</a:t>
            </a:r>
          </a:p>
          <a:p>
            <a:pPr marL="576263" lvl="1" indent="-273050" eaLnBrk="1" hangingPunct="1"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输入</a:t>
            </a:r>
          </a:p>
          <a:p>
            <a:pPr marL="303213" lvl="1" eaLnBrk="1" hangingPunct="1">
              <a:spcBef>
                <a:spcPct val="20000"/>
              </a:spcBef>
              <a:buSzPct val="100000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id + id * id</a:t>
            </a:r>
          </a:p>
        </p:txBody>
      </p:sp>
      <p:sp>
        <p:nvSpPr>
          <p:cNvPr id="13" name="内容占位符 1"/>
          <p:cNvSpPr txBox="1">
            <a:spLocks/>
          </p:cNvSpPr>
          <p:nvPr/>
        </p:nvSpPr>
        <p:spPr bwMode="auto">
          <a:xfrm>
            <a:off x="3101975" y="428625"/>
            <a:ext cx="5327650" cy="8985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/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576263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8556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4620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Symbol" panose="05050102010706020507" pitchFamily="18" charset="2"/>
              <a:buNone/>
              <a:defRPr/>
            </a:pPr>
            <a:r>
              <a:rPr lang="zh-CN" altLang="en-US" sz="2800" b="1" dirty="0">
                <a:solidFill>
                  <a:srgbClr val="000000"/>
                </a:solidFill>
                <a:latin typeface="Arial" panose="020B0604020202020204" pitchFamily="34" charset="0"/>
              </a:rPr>
              <a:t>左递归文法会使递归下降分析器陷入</a:t>
            </a: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无限循环</a:t>
            </a:r>
            <a:endParaRPr lang="en-US" altLang="zh-CN" b="1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  <a:p>
            <a:pPr>
              <a:defRPr/>
            </a:pPr>
            <a:endParaRPr lang="zh-CN" altLang="en-US" dirty="0"/>
          </a:p>
        </p:txBody>
      </p:sp>
      <p:sp>
        <p:nvSpPr>
          <p:cNvPr id="15" name="Line 45"/>
          <p:cNvSpPr>
            <a:spLocks noChangeShapeType="1"/>
          </p:cNvSpPr>
          <p:nvPr/>
        </p:nvSpPr>
        <p:spPr bwMode="auto">
          <a:xfrm flipV="1">
            <a:off x="1214438" y="3643313"/>
            <a:ext cx="0" cy="269875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4146550" y="1357313"/>
            <a:ext cx="2043113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190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rgbClr val="3333CC"/>
              </a:buClr>
              <a:buSzPct val="75000"/>
            </a:pPr>
            <a:r>
              <a:rPr kumimoji="1"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kumimoji="1"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4356100" y="2084388"/>
            <a:ext cx="27368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190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rgbClr val="3333CC"/>
              </a:buClr>
              <a:buSzPct val="75000"/>
            </a:pPr>
            <a:r>
              <a: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kumimoji="1"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kumimoji="1"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kumimoji="1"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kumimoji="1"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kumimoji="1" lang="en-US" altLang="zh-C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4371975" y="1716088"/>
            <a:ext cx="19954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1905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rgbClr val="3333CC"/>
              </a:buClr>
              <a:buSzPct val="75000"/>
            </a:pPr>
            <a:r>
              <a: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kumimoji="1"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kumimoji="1"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kumimoji="1" lang="en-US" altLang="zh-C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4546600" y="2406650"/>
            <a:ext cx="873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kumimoji="1"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…</a:t>
            </a:r>
            <a:endParaRPr lang="zh-CN" altLang="en-US" sz="2800"/>
          </a:p>
        </p:txBody>
      </p:sp>
      <p:sp>
        <p:nvSpPr>
          <p:cNvPr id="10" name="矩形 9"/>
          <p:cNvSpPr/>
          <p:nvPr/>
        </p:nvSpPr>
        <p:spPr>
          <a:xfrm>
            <a:off x="2643188" y="3532188"/>
            <a:ext cx="6189662" cy="7381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100" b="1" dirty="0">
                <a:latin typeface="+mn-ea"/>
                <a:ea typeface="+mn-ea"/>
                <a:cs typeface="Times New Roman" panose="02020603050405020304" pitchFamily="18" charset="0"/>
              </a:rPr>
              <a:t>如果一个文法中有一个非终结符</a:t>
            </a:r>
            <a:r>
              <a:rPr lang="en-US" altLang="zh-CN" sz="2100" b="1" i="1" dirty="0">
                <a:latin typeface="+mn-ea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en-US" sz="2100" b="1" dirty="0">
                <a:latin typeface="+mn-ea"/>
                <a:ea typeface="+mn-ea"/>
                <a:cs typeface="Times New Roman" panose="02020603050405020304" pitchFamily="18" charset="0"/>
              </a:rPr>
              <a:t>使得对某个串</a:t>
            </a:r>
            <a:r>
              <a:rPr lang="en-US" altLang="zh-CN" sz="2100" b="1" i="1" dirty="0">
                <a:latin typeface="Times New Roman" pitchFamily="18" charset="0"/>
                <a:ea typeface="+mn-ea"/>
                <a:cs typeface="Times New Roman" pitchFamily="18" charset="0"/>
              </a:rPr>
              <a:t>α</a:t>
            </a:r>
            <a:r>
              <a:rPr lang="zh-CN" altLang="en-US" sz="2100" b="1" dirty="0">
                <a:latin typeface="+mn-ea"/>
                <a:ea typeface="+mn-ea"/>
                <a:cs typeface="Times New Roman" panose="02020603050405020304" pitchFamily="18" charset="0"/>
              </a:rPr>
              <a:t>存在一个推导</a:t>
            </a:r>
            <a:r>
              <a:rPr kumimoji="1" lang="en-US" altLang="zh-CN" sz="2100" b="1" i="1" dirty="0">
                <a:latin typeface="Times New Roman" pitchFamily="18" charset="0"/>
                <a:ea typeface="+mn-ea"/>
                <a:cs typeface="Times New Roman" pitchFamily="18" charset="0"/>
              </a:rPr>
              <a:t>A</a:t>
            </a:r>
            <a:r>
              <a:rPr kumimoji="1" lang="en-US" altLang="zh-CN" sz="2100" b="1" dirty="0">
                <a:latin typeface="Times New Roman" pitchFamily="18" charset="0"/>
                <a:ea typeface="+mn-ea"/>
                <a:cs typeface="Times New Roman" pitchFamily="18" charset="0"/>
                <a:sym typeface="Symbol" panose="05050102010706020507" pitchFamily="18" charset="2"/>
              </a:rPr>
              <a:t></a:t>
            </a:r>
            <a:r>
              <a:rPr kumimoji="1" lang="en-US" altLang="zh-CN" sz="2100" b="1" baseline="30000" dirty="0">
                <a:solidFill>
                  <a:srgbClr val="FF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+</a:t>
            </a:r>
            <a:r>
              <a:rPr kumimoji="1" lang="en-US" altLang="zh-CN" sz="2100" b="1" i="1" dirty="0">
                <a:latin typeface="Times New Roman" pitchFamily="18" charset="0"/>
                <a:ea typeface="+mn-ea"/>
                <a:cs typeface="Times New Roman" pitchFamily="18" charset="0"/>
              </a:rPr>
              <a:t>Aα </a:t>
            </a:r>
            <a:r>
              <a:rPr lang="zh-CN" altLang="en-US" sz="2100" b="1" dirty="0">
                <a:latin typeface="+mn-ea"/>
                <a:ea typeface="+mn-ea"/>
                <a:cs typeface="Times New Roman" panose="02020603050405020304" pitchFamily="18" charset="0"/>
              </a:rPr>
              <a:t>，那么这个文法就是</a:t>
            </a:r>
            <a:r>
              <a:rPr lang="zh-CN" altLang="en-US" sz="21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左递归</a:t>
            </a:r>
            <a:r>
              <a:rPr lang="zh-CN" altLang="en-US" sz="2100" b="1" dirty="0">
                <a:latin typeface="+mn-ea"/>
                <a:ea typeface="+mn-ea"/>
                <a:cs typeface="Times New Roman" panose="02020603050405020304" pitchFamily="18" charset="0"/>
              </a:rPr>
              <a:t>的</a:t>
            </a:r>
          </a:p>
        </p:txBody>
      </p:sp>
      <p:sp>
        <p:nvSpPr>
          <p:cNvPr id="11" name="矩形 10"/>
          <p:cNvSpPr/>
          <p:nvPr/>
        </p:nvSpPr>
        <p:spPr>
          <a:xfrm>
            <a:off x="2643188" y="2857500"/>
            <a:ext cx="6189662" cy="6921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100" b="1" dirty="0">
                <a:solidFill>
                  <a:prstClr val="black"/>
                </a:solidFill>
                <a:latin typeface="+mn-ea"/>
                <a:ea typeface="+mn-ea"/>
                <a:cs typeface="Times New Roman" panose="02020603050405020304" pitchFamily="18" charset="0"/>
              </a:rPr>
              <a:t>含有</a:t>
            </a:r>
            <a:r>
              <a:rPr lang="en-US" altLang="zh-CN" sz="2100" b="1" i="1" dirty="0">
                <a:solidFill>
                  <a:prstClr val="black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A</a:t>
            </a:r>
            <a:r>
              <a:rPr lang="en-US" altLang="zh-CN" sz="2100" b="1" dirty="0">
                <a:solidFill>
                  <a:prstClr val="black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→</a:t>
            </a:r>
            <a:r>
              <a:rPr lang="en-US" altLang="zh-CN" sz="2100" b="1" i="1" dirty="0">
                <a:solidFill>
                  <a:prstClr val="black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Aα</a:t>
            </a:r>
            <a:r>
              <a:rPr lang="zh-CN" altLang="en-US" sz="2100" b="1" dirty="0">
                <a:solidFill>
                  <a:prstClr val="black"/>
                </a:solidFill>
                <a:latin typeface="+mn-ea"/>
                <a:ea typeface="+mn-ea"/>
                <a:cs typeface="Times New Roman" panose="02020603050405020304" pitchFamily="18" charset="0"/>
              </a:rPr>
              <a:t>形式产生式的文法称为是</a:t>
            </a:r>
            <a:r>
              <a:rPr lang="zh-CN" altLang="en-US" sz="21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直接左递归</a:t>
            </a:r>
            <a:r>
              <a:rPr lang="zh-CN" altLang="en-US" sz="2100" b="1" dirty="0">
                <a:solidFill>
                  <a:prstClr val="black"/>
                </a:solidFill>
                <a:latin typeface="+mn-ea"/>
                <a:ea typeface="+mn-ea"/>
                <a:cs typeface="Times New Roman" panose="02020603050405020304" pitchFamily="18" charset="0"/>
              </a:rPr>
              <a:t>的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altLang="zh-CN" b="1" i="1" dirty="0">
                <a:solidFill>
                  <a:prstClr val="black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immediate left recursive</a:t>
            </a:r>
            <a:r>
              <a:rPr lang="en-US" altLang="zh-CN" b="1" dirty="0">
                <a:solidFill>
                  <a:prstClr val="black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)</a:t>
            </a:r>
          </a:p>
        </p:txBody>
      </p:sp>
      <p:sp>
        <p:nvSpPr>
          <p:cNvPr id="12" name="矩形 11"/>
          <p:cNvSpPr/>
          <p:nvPr/>
        </p:nvSpPr>
        <p:spPr>
          <a:xfrm>
            <a:off x="2643188" y="4270375"/>
            <a:ext cx="6189662" cy="7381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100" b="1" dirty="0">
                <a:latin typeface="+mn-ea"/>
                <a:ea typeface="+mn-ea"/>
                <a:cs typeface="Times New Roman" panose="02020603050405020304" pitchFamily="18" charset="0"/>
              </a:rPr>
              <a:t>经过两步或两步以上推导产生的左递归称为是</a:t>
            </a:r>
            <a:r>
              <a:rPr lang="zh-CN" altLang="en-US" sz="21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间接左递归</a:t>
            </a:r>
            <a:r>
              <a:rPr lang="zh-CN" altLang="en-US" sz="2100" b="1" dirty="0">
                <a:latin typeface="+mn-ea"/>
                <a:ea typeface="+mn-ea"/>
                <a:cs typeface="Times New Roman" panose="02020603050405020304" pitchFamily="18" charset="0"/>
              </a:rPr>
              <a:t>的</a:t>
            </a:r>
            <a:endParaRPr lang="en-US" altLang="zh-CN" sz="2100" b="1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781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239AF62-C41F-4B80-8253-C3F61DE7B6A5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27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7" grpId="0"/>
      <p:bldP spid="8" grpId="0"/>
      <p:bldP spid="9" grpId="0"/>
      <p:bldP spid="10" grpId="0" animBg="1"/>
      <p:bldP spid="11" grpId="0" animBg="1"/>
      <p:bldP spid="1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180975" y="500063"/>
            <a:ext cx="5927725" cy="2643187"/>
          </a:xfrm>
        </p:spPr>
        <p:txBody>
          <a:bodyPr/>
          <a:lstStyle/>
          <a:p>
            <a:pPr eaLnBrk="1" hangingPunct="1">
              <a:defRPr/>
            </a:pPr>
            <a:endParaRPr lang="en-US" altLang="zh-CN" b="1" dirty="0">
              <a:cs typeface="Times New Roman" pitchFamily="18" charset="0"/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kumimoji="1" lang="en-US" altLang="zh-CN" sz="2000" b="1" i="1" dirty="0">
                <a:ea typeface="楷体_GB2312" pitchFamily="49" charset="-122"/>
                <a:cs typeface="Times New Roman" pitchFamily="18" charset="0"/>
              </a:rPr>
              <a:t>	    </a:t>
            </a:r>
            <a:r>
              <a:rPr kumimoji="1"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A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→ </a:t>
            </a:r>
            <a:r>
              <a:rPr kumimoji="1"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Aα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| </a:t>
            </a:r>
            <a:r>
              <a:rPr kumimoji="1"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β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	(</a:t>
            </a:r>
            <a:r>
              <a:rPr kumimoji="1"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α</a:t>
            </a:r>
            <a:r>
              <a:rPr kumimoji="1" lang="el-GR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≠ ε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1"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β</a:t>
            </a: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不以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开头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)</a:t>
            </a:r>
            <a:r>
              <a:rPr kumimoji="1" lang="zh-CN" altLang="en-US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	</a:t>
            </a:r>
            <a:endParaRPr kumimoji="1" lang="en-US" altLang="zh-CN" sz="2500" b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endParaRPr kumimoji="1" lang="en-US" altLang="zh-CN" sz="2000" b="1" dirty="0">
              <a:ea typeface="楷体_GB2312" pitchFamily="49" charset="-122"/>
              <a:cs typeface="Times New Roman" pitchFamily="18" charset="0"/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kumimoji="1" lang="en-US" altLang="zh-CN" sz="2000" b="1" dirty="0">
                <a:ea typeface="楷体_GB2312" pitchFamily="49" charset="-122"/>
                <a:cs typeface="Times New Roman" pitchFamily="18" charset="0"/>
              </a:rPr>
              <a:t>	    </a:t>
            </a:r>
            <a:r>
              <a:rPr kumimoji="1"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A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→ </a:t>
            </a:r>
            <a:r>
              <a:rPr kumimoji="1"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β A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′ </a:t>
            </a: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kumimoji="1"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	   </a:t>
            </a:r>
            <a:r>
              <a:rPr kumimoji="1"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A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′ → </a:t>
            </a:r>
            <a:r>
              <a:rPr kumimoji="1"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α A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′</a:t>
            </a:r>
            <a:endParaRPr kumimoji="1" lang="en-US" altLang="zh-CN" sz="2500" b="1" i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endParaRPr lang="en-US" altLang="zh-CN" sz="1600" b="1" i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  <a:p>
            <a:pPr lvl="1" eaLnBrk="1" hangingPunct="1"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例</a:t>
            </a:r>
            <a:endParaRPr lang="en-US" altLang="zh-CN" sz="2500" b="1" dirty="0">
              <a:solidFill>
                <a:schemeClr val="tx1"/>
              </a:solidFill>
              <a:cs typeface="Times New Roman" pitchFamily="18" charset="0"/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kumimoji="1"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	</a:t>
            </a:r>
            <a:endParaRPr lang="zh-CN" altLang="en-US" sz="2500" b="1" dirty="0">
              <a:solidFill>
                <a:schemeClr val="tx1"/>
              </a:solidFill>
            </a:endParaRPr>
          </a:p>
        </p:txBody>
      </p:sp>
      <p:sp>
        <p:nvSpPr>
          <p:cNvPr id="5" name="下箭头 4"/>
          <p:cNvSpPr/>
          <p:nvPr/>
        </p:nvSpPr>
        <p:spPr>
          <a:xfrm>
            <a:off x="1441450" y="1390650"/>
            <a:ext cx="503238" cy="323850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844800" y="1577975"/>
            <a:ext cx="3370263" cy="7080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30000"/>
              </a:spcBef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事实上，这种消除过程就是把</a:t>
            </a:r>
            <a:r>
              <a:rPr lang="zh-CN" altLang="en-US" sz="2000" b="1" dirty="0">
                <a:solidFill>
                  <a:srgbClr val="073E87">
                    <a:lumMod val="60000"/>
                    <a:lumOff val="40000"/>
                  </a:srgb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左递归</a:t>
            </a:r>
            <a:r>
              <a:rPr lang="zh-CN" altLang="en-US" sz="20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转换成了</a:t>
            </a:r>
            <a:r>
              <a:rPr lang="zh-CN" altLang="en-US" sz="2000" b="1" dirty="0">
                <a:solidFill>
                  <a:srgbClr val="073E87">
                    <a:lumMod val="60000"/>
                    <a:lumOff val="40000"/>
                  </a:srgb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右递归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962025" y="2787650"/>
            <a:ext cx="2819400" cy="169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5500"/>
              </a:lnSpc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→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+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｜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endParaRPr lang="en-US" altLang="zh-CN" sz="2500" b="1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lnSpc>
                <a:spcPts val="5500"/>
              </a:lnSpc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→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*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｜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</a:t>
            </a:r>
            <a:endParaRPr lang="en-US" altLang="zh-CN" sz="2500" b="1">
              <a:solidFill>
                <a:srgbClr val="0000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lnSpc>
                <a:spcPts val="5500"/>
              </a:lnSpc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→ (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)｜id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3851275" y="3076575"/>
            <a:ext cx="2633663" cy="173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E</a:t>
            </a:r>
            <a:r>
              <a:rPr kumimoji="1"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′</a:t>
            </a:r>
            <a:endParaRPr lang="en-US" altLang="zh-CN" sz="2500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′ 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</a:rPr>
              <a:t>→ +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</a:rPr>
              <a:t>T E</a:t>
            </a:r>
            <a:r>
              <a:rPr kumimoji="1"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′ 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</a:rPr>
              <a:t>|ε</a:t>
            </a: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</a:rPr>
              <a:t>→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</a:rPr>
              <a:t>F T </a:t>
            </a:r>
            <a:r>
              <a:rPr kumimoji="1"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′</a:t>
            </a:r>
            <a:endParaRPr lang="en-US" altLang="zh-CN" sz="25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</a:rPr>
              <a:t>T </a:t>
            </a:r>
            <a:r>
              <a:rPr kumimoji="1"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′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</a:rPr>
              <a:t>→*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</a:rPr>
              <a:t>F T </a:t>
            </a:r>
            <a:r>
              <a:rPr kumimoji="1"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′ 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</a:rPr>
              <a:t>｜ε</a:t>
            </a: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rgbClr val="5EAEFF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</a:rPr>
              <a:t>→ ( </a:t>
            </a:r>
            <a:r>
              <a:rPr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</a:rPr>
              <a:t> )｜id</a:t>
            </a: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3203575" y="3570288"/>
            <a:ext cx="642938" cy="782637"/>
          </a:xfrm>
          <a:prstGeom prst="rightArrow">
            <a:avLst>
              <a:gd name="adj1" fmla="val 50000"/>
              <a:gd name="adj2" fmla="val 46205"/>
            </a:avLst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>
              <a:solidFill>
                <a:prstClr val="black"/>
              </a:solidFill>
            </a:endParaRPr>
          </a:p>
        </p:txBody>
      </p:sp>
      <p:grpSp>
        <p:nvGrpSpPr>
          <p:cNvPr id="2" name="组合 9"/>
          <p:cNvGrpSpPr>
            <a:grpSpLocks/>
          </p:cNvGrpSpPr>
          <p:nvPr/>
        </p:nvGrpSpPr>
        <p:grpSpPr bwMode="auto">
          <a:xfrm>
            <a:off x="2176463" y="3417888"/>
            <a:ext cx="1143000" cy="306387"/>
            <a:chOff x="2275887" y="4784510"/>
            <a:chExt cx="1143984" cy="406662"/>
          </a:xfrm>
        </p:grpSpPr>
        <p:sp>
          <p:nvSpPr>
            <p:cNvPr id="34836" name="AutoShape 8"/>
            <p:cNvSpPr>
              <a:spLocks/>
            </p:cNvSpPr>
            <p:nvPr/>
          </p:nvSpPr>
          <p:spPr bwMode="auto">
            <a:xfrm rot="5400000">
              <a:off x="2338693" y="4721704"/>
              <a:ext cx="160383" cy="285996"/>
            </a:xfrm>
            <a:prstGeom prst="rightBrace">
              <a:avLst>
                <a:gd name="adj1" fmla="val 25188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vert="eaVert"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4837" name="AutoShape 9"/>
            <p:cNvSpPr>
              <a:spLocks/>
            </p:cNvSpPr>
            <p:nvPr/>
          </p:nvSpPr>
          <p:spPr bwMode="auto">
            <a:xfrm rot="5400000">
              <a:off x="2987934" y="4800912"/>
              <a:ext cx="143504" cy="144462"/>
            </a:xfrm>
            <a:prstGeom prst="rightBrace">
              <a:avLst>
                <a:gd name="adj1" fmla="val 8426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vert="eaVert"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4838" name="Rectangle 12"/>
            <p:cNvSpPr>
              <a:spLocks noChangeArrowheads="1"/>
            </p:cNvSpPr>
            <p:nvPr/>
          </p:nvSpPr>
          <p:spPr bwMode="auto">
            <a:xfrm>
              <a:off x="2290196" y="4974321"/>
              <a:ext cx="1129675" cy="2168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α       β</a:t>
              </a:r>
            </a:p>
          </p:txBody>
        </p:sp>
      </p:grpSp>
      <p:grpSp>
        <p:nvGrpSpPr>
          <p:cNvPr id="4" name="组合 13"/>
          <p:cNvGrpSpPr>
            <a:grpSpLocks/>
          </p:cNvGrpSpPr>
          <p:nvPr/>
        </p:nvGrpSpPr>
        <p:grpSpPr bwMode="auto">
          <a:xfrm>
            <a:off x="2100263" y="4149725"/>
            <a:ext cx="1147762" cy="323850"/>
            <a:chOff x="2695948" y="5718975"/>
            <a:chExt cx="1147818" cy="432589"/>
          </a:xfrm>
        </p:grpSpPr>
        <p:sp>
          <p:nvSpPr>
            <p:cNvPr id="34833" name="AutoShape 15"/>
            <p:cNvSpPr>
              <a:spLocks/>
            </p:cNvSpPr>
            <p:nvPr/>
          </p:nvSpPr>
          <p:spPr bwMode="auto">
            <a:xfrm rot="5400000">
              <a:off x="2807455" y="5613016"/>
              <a:ext cx="90158" cy="303664"/>
            </a:xfrm>
            <a:prstGeom prst="rightBrace">
              <a:avLst>
                <a:gd name="adj1" fmla="val 25183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vert="eaVert"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4834" name="AutoShape 16"/>
            <p:cNvSpPr>
              <a:spLocks/>
            </p:cNvSpPr>
            <p:nvPr/>
          </p:nvSpPr>
          <p:spPr bwMode="auto">
            <a:xfrm rot="5400000">
              <a:off x="3512621" y="5691327"/>
              <a:ext cx="89165" cy="144462"/>
            </a:xfrm>
            <a:prstGeom prst="rightBrace">
              <a:avLst>
                <a:gd name="adj1" fmla="val 8423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vert="eaVert"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4835" name="Rectangle 17"/>
            <p:cNvSpPr>
              <a:spLocks noChangeArrowheads="1"/>
            </p:cNvSpPr>
            <p:nvPr/>
          </p:nvSpPr>
          <p:spPr bwMode="auto">
            <a:xfrm>
              <a:off x="2695948" y="5864227"/>
              <a:ext cx="1147818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α         β</a:t>
              </a:r>
            </a:p>
          </p:txBody>
        </p:sp>
      </p:grpSp>
      <p:sp>
        <p:nvSpPr>
          <p:cNvPr id="22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消除直接左递归</a:t>
            </a:r>
            <a:endParaRPr lang="zh-CN" altLang="en-US" dirty="0">
              <a:solidFill>
                <a:srgbClr val="000099"/>
              </a:solidFill>
              <a:ea typeface="楷体_GB2312"/>
              <a:cs typeface="Times New Roman" pitchFamily="18" charset="0"/>
            </a:endParaRP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6067425" y="622300"/>
            <a:ext cx="1758950" cy="204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3333CC"/>
              </a:buClr>
              <a:buSzPct val="100000"/>
            </a:pP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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α</a:t>
            </a:r>
            <a:endParaRPr kumimoji="1" lang="en-US" altLang="zh-CN" sz="2400" b="1" i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3333CC"/>
              </a:buClr>
              <a:buSzPct val="100000"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αα</a:t>
            </a:r>
            <a:endParaRPr kumimoji="1" lang="en-US" altLang="zh-CN" sz="2400" b="1" i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3333CC"/>
              </a:buClr>
              <a:buSzPct val="100000"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ααα</a:t>
            </a:r>
            <a:endParaRPr kumimoji="1" lang="en-US" altLang="zh-CN" sz="2400" b="1" i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3333CC"/>
              </a:buClr>
              <a:buSzPct val="100000"/>
            </a:pPr>
            <a:r>
              <a:rPr kumimoji="1"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…</a:t>
            </a:r>
          </a:p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3333CC"/>
              </a:buClr>
              <a:buSzPct val="100000"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α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…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α</a:t>
            </a:r>
            <a:endParaRPr kumimoji="1" lang="en-US" altLang="zh-CN" sz="2400" b="1" i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3333CC"/>
              </a:buClr>
              <a:buSzPct val="100000"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β α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…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α</a:t>
            </a:r>
            <a:endParaRPr kumimoji="1" lang="en-US" altLang="zh-CN" sz="2400" b="1" i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auto">
          <a:xfrm>
            <a:off x="6061075" y="2859088"/>
            <a:ext cx="1966913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3333CC"/>
              </a:buClr>
              <a:buSzPct val="100000"/>
            </a:pPr>
            <a:r>
              <a:rPr kumimoji="1"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′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αA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′ </a:t>
            </a:r>
            <a:endParaRPr kumimoji="1" lang="en-US" altLang="zh-CN" sz="2400" b="1" i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3333CC"/>
              </a:buClr>
              <a:buSzPct val="100000"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  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ααA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′</a:t>
            </a:r>
            <a:endParaRPr kumimoji="1" lang="en-US" altLang="zh-CN" sz="2400" b="1" i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3333CC"/>
              </a:buClr>
              <a:buSzPct val="100000"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  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αααA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′</a:t>
            </a:r>
            <a:endParaRPr kumimoji="1" lang="en-US" altLang="zh-CN" sz="2400" b="1" i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3333CC"/>
              </a:buClr>
              <a:buSzPct val="100000"/>
            </a:pPr>
            <a:r>
              <a:rPr kumimoji="1"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  …</a:t>
            </a:r>
          </a:p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3333CC"/>
              </a:buClr>
              <a:buSzPct val="100000"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  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α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…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αA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′</a:t>
            </a:r>
            <a:endParaRPr kumimoji="1" lang="en-US" altLang="zh-CN" sz="2400" b="1" i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3333CC"/>
              </a:buClr>
              <a:buSzPct val="100000"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  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α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…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α</a:t>
            </a:r>
            <a:endParaRPr kumimoji="1" lang="en-US" altLang="zh-CN" sz="2400" b="1" i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299075" y="981075"/>
            <a:ext cx="908050" cy="46196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r=βα</a:t>
            </a:r>
            <a:r>
              <a:rPr kumimoji="1" lang="zh-CN" altLang="en-US" sz="2400" b="1" i="1" baseline="300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*</a:t>
            </a:r>
            <a:endParaRPr lang="zh-CN" altLang="en-US" baseline="30000">
              <a:solidFill>
                <a:prstClr val="black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34830" name="灯片编号占位符 10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09D9089-1365-46BD-8135-2CC774B3B9A1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28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  <p:sp>
        <p:nvSpPr>
          <p:cNvPr id="11" name="文本框 10"/>
          <p:cNvSpPr txBox="1">
            <a:spLocks noChangeArrowheads="1"/>
          </p:cNvSpPr>
          <p:nvPr/>
        </p:nvSpPr>
        <p:spPr bwMode="auto">
          <a:xfrm>
            <a:off x="2206625" y="2216150"/>
            <a:ext cx="935038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｜</a:t>
            </a:r>
            <a:r>
              <a:rPr kumimoji="1" lang="en-US" altLang="zh-CN" sz="25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ε</a:t>
            </a:r>
            <a:endParaRPr lang="zh-CN" altLang="en-US">
              <a:ea typeface="楷体_GB231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墨迹 11"/>
              <p14:cNvContentPartPr/>
              <p14:nvPr/>
            </p14:nvContentPartPr>
            <p14:xfrm>
              <a:off x="3556800" y="2785320"/>
              <a:ext cx="397440" cy="92160"/>
            </p14:xfrm>
          </p:contentPart>
        </mc:Choice>
        <mc:Fallback xmlns="">
          <p:pic>
            <p:nvPicPr>
              <p:cNvPr id="12" name="墨迹 1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47440" y="2775960"/>
                <a:ext cx="416160" cy="110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7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7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7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utoUpdateAnimBg="0"/>
      <p:bldP spid="8" grpId="0" build="p" autoUpdateAnimBg="0"/>
      <p:bldP spid="9" grpId="0" animBg="1"/>
      <p:bldP spid="10" grpId="0" animBg="1"/>
      <p:bldP spid="1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58900" y="917575"/>
            <a:ext cx="5927725" cy="3225800"/>
          </a:xfrm>
        </p:spPr>
        <p:txBody>
          <a:bodyPr/>
          <a:lstStyle/>
          <a:p>
            <a:pPr marL="0" indent="0" algn="ctr" eaLnBrk="1" hangingPunct="1">
              <a:lnSpc>
                <a:spcPts val="4000"/>
              </a:lnSpc>
              <a:buClr>
                <a:srgbClr val="3333CC"/>
              </a:buClr>
              <a:buFont typeface="Wingdings" pitchFamily="2" charset="2"/>
              <a:buNone/>
              <a:defRPr/>
            </a:pP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A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→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A α</a:t>
            </a:r>
            <a:r>
              <a:rPr lang="en-US" altLang="zh-CN" sz="25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|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A α</a:t>
            </a:r>
            <a:r>
              <a:rPr lang="en-US" altLang="zh-CN" sz="25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2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| … |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A α</a:t>
            </a:r>
            <a:r>
              <a:rPr lang="en-US" altLang="zh-CN" sz="2500" b="1" i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n</a:t>
            </a:r>
            <a:r>
              <a:rPr lang="en-US" altLang="zh-CN" sz="25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|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β</a:t>
            </a:r>
            <a:r>
              <a:rPr lang="en-US" altLang="zh-CN" sz="25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|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β</a:t>
            </a:r>
            <a:r>
              <a:rPr lang="en-US" altLang="zh-CN" sz="25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2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| … |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β</a:t>
            </a:r>
            <a:r>
              <a:rPr lang="en-US" altLang="zh-CN" sz="2500" b="1" i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m</a:t>
            </a:r>
            <a:endParaRPr lang="en-US" altLang="zh-CN" sz="2500" b="1" i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  <a:p>
            <a:pPr marL="0" indent="0" algn="ctr" eaLnBrk="1" hangingPunct="1">
              <a:lnSpc>
                <a:spcPts val="4000"/>
              </a:lnSpc>
              <a:buClr>
                <a:srgbClr val="3333CC"/>
              </a:buClr>
              <a:buFont typeface="Wingdings" pitchFamily="2" charset="2"/>
              <a:buNone/>
              <a:defRPr/>
            </a:pPr>
            <a:r>
              <a:rPr kumimoji="1"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α</a:t>
            </a:r>
            <a:r>
              <a:rPr lang="en-US" altLang="zh-CN" sz="2500" b="1" i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i</a:t>
            </a:r>
            <a:r>
              <a:rPr lang="en-US" altLang="zh-CN" sz="25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1" lang="el-GR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≠ ε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</a:t>
            </a:r>
            <a:r>
              <a:rPr lang="en-US" altLang="zh-CN" sz="2500" b="1" dirty="0">
                <a:solidFill>
                  <a:schemeClr val="tx1"/>
                </a:solidFill>
                <a:ea typeface="宋体"/>
                <a:cs typeface="Times New Roman" pitchFamily="18" charset="0"/>
              </a:rPr>
              <a:t> </a:t>
            </a:r>
            <a:r>
              <a:rPr kumimoji="1"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β</a:t>
            </a:r>
            <a:r>
              <a:rPr lang="en-US" altLang="zh-CN" sz="2500" b="1" i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j</a:t>
            </a: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不以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开头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)</a:t>
            </a:r>
          </a:p>
          <a:p>
            <a:pPr marL="0" indent="0" algn="ctr" eaLnBrk="1" hangingPunct="1">
              <a:lnSpc>
                <a:spcPts val="4000"/>
              </a:lnSpc>
              <a:buClr>
                <a:srgbClr val="3333CC"/>
              </a:buClr>
              <a:buFont typeface="Wingdings" pitchFamily="2" charset="2"/>
              <a:buNone/>
              <a:defRPr/>
            </a:pPr>
            <a:endParaRPr lang="en-US" altLang="zh-CN" sz="2500" b="1" i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  <a:p>
            <a:pPr marL="0" indent="0" algn="ctr" eaLnBrk="1" hangingPunct="1">
              <a:lnSpc>
                <a:spcPts val="4000"/>
              </a:lnSpc>
              <a:buClr>
                <a:srgbClr val="3333CC"/>
              </a:buClr>
              <a:buFont typeface="Wingdings" pitchFamily="2" charset="2"/>
              <a:buNone/>
              <a:defRPr/>
            </a:pP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A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β</a:t>
            </a:r>
            <a:r>
              <a:rPr lang="en-US" altLang="zh-CN" sz="25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A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′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|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β</a:t>
            </a:r>
            <a:r>
              <a:rPr lang="en-US" altLang="zh-CN" sz="25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2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A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′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| … |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β</a:t>
            </a:r>
            <a:r>
              <a:rPr lang="en-US" altLang="zh-CN" sz="2500" b="1" i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m</a:t>
            </a:r>
            <a:r>
              <a:rPr lang="en-US" altLang="zh-CN" sz="25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A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′</a:t>
            </a:r>
            <a:endParaRPr lang="en-US" altLang="zh-CN" sz="2500" b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  <a:p>
            <a:pPr marL="0" indent="0" algn="ctr" eaLnBrk="1" hangingPunct="1">
              <a:lnSpc>
                <a:spcPts val="4000"/>
              </a:lnSpc>
              <a:buClr>
                <a:srgbClr val="3333CC"/>
              </a:buClr>
              <a:buFont typeface="Wingdings" pitchFamily="2" charset="2"/>
              <a:buNone/>
              <a:defRPr/>
            </a:pP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A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′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  <a:sym typeface="Symbol" pitchFamily="18" charset="2"/>
              </a:rPr>
              <a:t>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α</a:t>
            </a:r>
            <a:r>
              <a:rPr lang="en-US" altLang="zh-CN" sz="25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A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′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|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α</a:t>
            </a:r>
            <a:r>
              <a:rPr lang="en-US" altLang="zh-CN" sz="25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2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A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′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| … |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α</a:t>
            </a:r>
            <a:r>
              <a:rPr lang="en-US" altLang="zh-CN" sz="2500" b="1" i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n</a:t>
            </a:r>
            <a:r>
              <a:rPr lang="en-US" altLang="zh-CN" sz="2500" b="1" baseline="-30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A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′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| 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ε</a:t>
            </a:r>
          </a:p>
          <a:p>
            <a:pPr lvl="2" algn="ctr" eaLnBrk="1" hangingPunct="1">
              <a:buClr>
                <a:srgbClr val="3333CC"/>
              </a:buClr>
              <a:defRPr/>
            </a:pPr>
            <a:endParaRPr lang="en-US" altLang="zh-CN" sz="2500" b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  <a:p>
            <a:pPr eaLnBrk="1" hangingPunct="1">
              <a:defRPr/>
            </a:pPr>
            <a:endParaRPr lang="en-US" altLang="zh-CN" b="1" dirty="0">
              <a:cs typeface="Times New Roman" pitchFamily="18" charset="0"/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kumimoji="1" lang="en-US" altLang="zh-CN" sz="2000" b="1" i="1" dirty="0">
                <a:ea typeface="楷体_GB2312" pitchFamily="49" charset="-122"/>
                <a:cs typeface="Times New Roman" pitchFamily="18" charset="0"/>
              </a:rPr>
              <a:t>	</a:t>
            </a:r>
            <a:endParaRPr lang="zh-CN" altLang="en-US" b="1" dirty="0"/>
          </a:p>
        </p:txBody>
      </p:sp>
      <p:sp>
        <p:nvSpPr>
          <p:cNvPr id="47107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消除直接左递归的一般形式</a:t>
            </a:r>
            <a:endParaRPr lang="zh-CN" altLang="en-US" sz="3000" spc="3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357188" y="4125913"/>
            <a:ext cx="8429625" cy="4460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30000"/>
              </a:spcBef>
              <a:defRPr/>
            </a:pPr>
            <a:r>
              <a:rPr lang="zh-CN" altLang="en-US" sz="23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消除左递归是要付出代价的</a:t>
            </a:r>
            <a:r>
              <a:rPr lang="en-US" altLang="zh-CN" sz="23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——</a:t>
            </a:r>
            <a:r>
              <a:rPr lang="zh-CN" altLang="en-US" sz="23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引进了一些</a:t>
            </a:r>
            <a:r>
              <a:rPr lang="zh-CN" altLang="en-US" sz="2300" b="1" dirty="0">
                <a:solidFill>
                  <a:srgbClr val="073E87">
                    <a:lumMod val="60000"/>
                    <a:lumOff val="4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非终结符</a:t>
            </a:r>
            <a:r>
              <a:rPr lang="zh-CN" altLang="en-US" sz="23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和</a:t>
            </a:r>
            <a:r>
              <a:rPr lang="en-US" altLang="zh-CN" sz="2300" b="1" i="1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itchFamily="18" charset="0"/>
                <a:ea typeface="华文楷体" panose="02010600040101010101" pitchFamily="2" charset="-122"/>
                <a:cs typeface="Times New Roman" pitchFamily="18" charset="0"/>
              </a:rPr>
              <a:t>ε</a:t>
            </a:r>
            <a:r>
              <a:rPr lang="en-US" altLang="zh-CN" sz="2300" b="1" dirty="0">
                <a:solidFill>
                  <a:srgbClr val="073E87">
                    <a:lumMod val="60000"/>
                    <a:lumOff val="4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_</a:t>
            </a:r>
            <a:r>
              <a:rPr lang="zh-CN" altLang="en-US" sz="2300" b="1" dirty="0">
                <a:solidFill>
                  <a:srgbClr val="073E87">
                    <a:lumMod val="60000"/>
                    <a:lumOff val="4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产生式</a:t>
            </a:r>
          </a:p>
        </p:txBody>
      </p:sp>
      <p:sp>
        <p:nvSpPr>
          <p:cNvPr id="19" name="下箭头 18"/>
          <p:cNvSpPr/>
          <p:nvPr/>
        </p:nvSpPr>
        <p:spPr>
          <a:xfrm>
            <a:off x="3811588" y="2139950"/>
            <a:ext cx="974725" cy="646113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36870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49B6BCB-ACE6-482F-BDA4-0F731AA74EB7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29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消除间接左递归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31913" y="1362075"/>
            <a:ext cx="5927725" cy="3225800"/>
          </a:xfrm>
        </p:spPr>
        <p:txBody>
          <a:bodyPr/>
          <a:lstStyle/>
          <a:p>
            <a:pPr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例</a:t>
            </a:r>
            <a:r>
              <a:rPr lang="en-US" altLang="zh-CN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                  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S 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→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 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|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b</a:t>
            </a:r>
            <a:endParaRPr lang="en-US" altLang="zh-CN" sz="2500" b="1" dirty="0">
              <a:solidFill>
                <a:schemeClr val="tx1"/>
              </a:solidFill>
              <a:cs typeface="Times New Roman" pitchFamily="18" charset="0"/>
            </a:endParaRPr>
          </a:p>
          <a:p>
            <a:pPr marL="0" lvl="1" indent="0" algn="ctr">
              <a:buClr>
                <a:schemeClr val="folHlink"/>
              </a:buClr>
              <a:buSzPct val="60000"/>
              <a:buFont typeface="Symbol" panose="05050102010706020507" pitchFamily="18" charset="2"/>
              <a:buNone/>
              <a:defRPr/>
            </a:pP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 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→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 c 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|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S d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 |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ε</a:t>
            </a:r>
          </a:p>
          <a:p>
            <a:pPr lvl="1"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将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S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的定义代入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  <a:latin typeface="+mn-ea"/>
              </a:rPr>
              <a:t>-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产生式，得：</a:t>
            </a:r>
            <a:endParaRPr lang="en-US" altLang="zh-CN" sz="2500" b="1" dirty="0">
              <a:solidFill>
                <a:schemeClr val="tx1"/>
              </a:solidFill>
              <a:latin typeface="+mn-ea"/>
            </a:endParaRPr>
          </a:p>
          <a:p>
            <a:pPr marL="0" lvl="1" indent="0" algn="ctr">
              <a:buClr>
                <a:schemeClr val="folHlink"/>
              </a:buClr>
              <a:buSzPct val="60000"/>
              <a:buFont typeface="Symbol" panose="05050102010706020507" pitchFamily="18" charset="2"/>
              <a:buNone/>
              <a:defRPr/>
            </a:pP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 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→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 c 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|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 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 d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 |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b d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 |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ε </a:t>
            </a:r>
            <a:endParaRPr lang="en-US" altLang="zh-CN" sz="2500" b="1" dirty="0">
              <a:solidFill>
                <a:schemeClr val="tx1"/>
              </a:solidFill>
              <a:cs typeface="Times New Roman" pitchFamily="18" charset="0"/>
            </a:endParaRPr>
          </a:p>
          <a:p>
            <a:pPr lvl="1"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消除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  <a:latin typeface="+mn-ea"/>
              </a:rPr>
              <a:t>-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产生式的直接左递归？</a:t>
            </a:r>
            <a:endParaRPr lang="en-US" altLang="zh-CN" sz="2500" b="1" dirty="0">
              <a:solidFill>
                <a:schemeClr val="tx1"/>
              </a:solidFill>
              <a:latin typeface="+mn-ea"/>
            </a:endParaRPr>
          </a:p>
          <a:p>
            <a:pPr marL="0" lvl="1" indent="0" algn="ctr">
              <a:buClr>
                <a:schemeClr val="folHlink"/>
              </a:buClr>
              <a:buSzPct val="60000"/>
              <a:buFont typeface="Symbol" panose="05050102010706020507" pitchFamily="18" charset="2"/>
              <a:buNone/>
              <a:defRPr/>
            </a:pPr>
            <a:endParaRPr lang="en-US" altLang="zh-CN" sz="2500" b="1" i="1" dirty="0">
              <a:solidFill>
                <a:schemeClr val="tx1"/>
              </a:solidFill>
              <a:cs typeface="Times New Roman" pitchFamily="18" charset="0"/>
            </a:endParaRPr>
          </a:p>
          <a:p>
            <a:pPr lvl="1">
              <a:defRPr/>
            </a:pPr>
            <a:endParaRPr lang="en-US" altLang="zh-CN" sz="1800" dirty="0">
              <a:solidFill>
                <a:schemeClr val="bg2"/>
              </a:solidFill>
              <a:cs typeface="Times New Roman" pitchFamily="18" charset="0"/>
            </a:endParaRPr>
          </a:p>
          <a:p>
            <a:pPr>
              <a:defRPr/>
            </a:pPr>
            <a:endParaRPr lang="zh-CN" altLang="en-US" dirty="0"/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5954713" y="1362075"/>
            <a:ext cx="127635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3333CC"/>
              </a:buClr>
              <a:buSzPct val="100000"/>
            </a:pPr>
            <a:r>
              <a:rPr lang="en-US" altLang="zh-CN" sz="2400" b="1" i="1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="1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</a:t>
            </a:r>
            <a:r>
              <a:rPr kumimoji="1" lang="zh-CN" altLang="en-US" sz="2400" b="1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400" b="1" i="1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Aa</a:t>
            </a:r>
          </a:p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3333CC"/>
              </a:buClr>
              <a:buSzPct val="100000"/>
            </a:pPr>
            <a:r>
              <a:rPr lang="en-US" altLang="zh-CN" sz="2400" b="1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kumimoji="1" lang="zh-CN" altLang="en-US" sz="2400" b="1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400" b="1" i="1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Sda</a:t>
            </a:r>
          </a:p>
        </p:txBody>
      </p:sp>
      <p:sp>
        <p:nvSpPr>
          <p:cNvPr id="6" name="矩形 5"/>
          <p:cNvSpPr/>
          <p:nvPr/>
        </p:nvSpPr>
        <p:spPr>
          <a:xfrm>
            <a:off x="2774950" y="1362075"/>
            <a:ext cx="3021013" cy="431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8918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EEB5074-1356-45D3-ACAB-C687403A77E1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30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消除间接左递归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87450" y="771525"/>
            <a:ext cx="5927725" cy="4248150"/>
          </a:xfrm>
        </p:spPr>
        <p:txBody>
          <a:bodyPr/>
          <a:lstStyle/>
          <a:p>
            <a:pPr marL="0" lvl="1" indent="0" algn="ctr">
              <a:buClr>
                <a:schemeClr val="folHlink"/>
              </a:buClr>
              <a:buSzPct val="60000"/>
              <a:buFont typeface="Symbol" panose="05050102010706020507" pitchFamily="18" charset="2"/>
              <a:buNone/>
              <a:defRPr/>
            </a:pP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 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→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 c 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|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 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 d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 |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b d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 |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ε </a:t>
            </a:r>
            <a:endParaRPr lang="en-US" altLang="zh-CN" sz="2500" b="1" dirty="0">
              <a:solidFill>
                <a:schemeClr val="tx1"/>
              </a:solidFill>
              <a:cs typeface="Times New Roman" pitchFamily="18" charset="0"/>
            </a:endParaRPr>
          </a:p>
          <a:p>
            <a:pPr lvl="1"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消除直接左递归：</a:t>
            </a:r>
            <a:endParaRPr lang="en-US" altLang="zh-CN" sz="2500" b="1" dirty="0">
              <a:solidFill>
                <a:schemeClr val="tx1"/>
              </a:solidFill>
              <a:latin typeface="+mn-ea"/>
            </a:endParaRPr>
          </a:p>
          <a:p>
            <a:pPr marL="303213" lvl="1" indent="0" algn="ctr">
              <a:buClrTx/>
              <a:buFont typeface="Symbol" panose="05050102010706020507" pitchFamily="18" charset="2"/>
              <a:buNone/>
              <a:defRPr/>
            </a:pP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 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→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 (c 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|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 d)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 |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b d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 |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ε </a:t>
            </a:r>
          </a:p>
          <a:p>
            <a:pPr marL="303213" lvl="1" indent="0" algn="ctr">
              <a:buClrTx/>
              <a:buFont typeface="Symbol" panose="05050102010706020507" pitchFamily="18" charset="2"/>
              <a:buNone/>
              <a:defRPr/>
            </a:pP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 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→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 (c 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|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 d)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 | (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b d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 |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ε) </a:t>
            </a:r>
          </a:p>
          <a:p>
            <a:pPr marL="303213" lvl="1" indent="0">
              <a:buClrTx/>
              <a:buFont typeface="Symbol" panose="05050102010706020507" pitchFamily="18" charset="2"/>
              <a:buNone/>
              <a:defRPr/>
            </a:pP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应用公式得到：</a:t>
            </a:r>
            <a:endParaRPr lang="en-US" altLang="zh-CN" sz="2500" b="1" dirty="0">
              <a:solidFill>
                <a:schemeClr val="tx1"/>
              </a:solidFill>
              <a:cs typeface="Times New Roman" pitchFamily="18" charset="0"/>
            </a:endParaRPr>
          </a:p>
          <a:p>
            <a:pPr marL="303213" lvl="1" indent="0" algn="ctr">
              <a:buClrTx/>
              <a:buFont typeface="Symbol" panose="05050102010706020507" pitchFamily="18" charset="2"/>
              <a:buNone/>
              <a:defRPr/>
            </a:pP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 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→  (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b d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 |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ε) A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′ </a:t>
            </a:r>
          </a:p>
          <a:p>
            <a:pPr marL="303213" lvl="1" indent="0" algn="ctr">
              <a:buClrTx/>
              <a:buFont typeface="Symbol" panose="05050102010706020507" pitchFamily="18" charset="2"/>
              <a:buNone/>
              <a:defRPr/>
            </a:pP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 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′ 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→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(c 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|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 d)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′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|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ε</a:t>
            </a:r>
          </a:p>
          <a:p>
            <a:pPr marL="0" lvl="1" indent="0">
              <a:buClr>
                <a:schemeClr val="folHlink"/>
              </a:buClr>
              <a:buSzPct val="60000"/>
              <a:buFont typeface="Symbol" panose="05050102010706020507" pitchFamily="18" charset="2"/>
              <a:buNone/>
              <a:defRPr/>
            </a:pP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    展开：       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 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→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b d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′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 |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′</a:t>
            </a:r>
          </a:p>
          <a:p>
            <a:pPr marL="0" lvl="1" indent="0" algn="ctr">
              <a:buClr>
                <a:schemeClr val="folHlink"/>
              </a:buClr>
              <a:buSzPct val="60000"/>
              <a:buFont typeface="Symbol" panose="05050102010706020507" pitchFamily="18" charset="2"/>
              <a:buNone/>
              <a:defRPr/>
            </a:pP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     A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′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 →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c A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′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|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 d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′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 |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ε</a:t>
            </a:r>
          </a:p>
          <a:p>
            <a:pPr lvl="1">
              <a:buClrTx/>
              <a:buFont typeface="Wingdings" pitchFamily="2" charset="2"/>
              <a:buChar char="Ø"/>
              <a:defRPr/>
            </a:pPr>
            <a:endParaRPr lang="en-US" altLang="zh-CN" sz="2500" b="1" dirty="0">
              <a:solidFill>
                <a:schemeClr val="tx1"/>
              </a:solidFill>
              <a:latin typeface="+mn-ea"/>
            </a:endParaRPr>
          </a:p>
          <a:p>
            <a:pPr lvl="1">
              <a:defRPr/>
            </a:pPr>
            <a:endParaRPr lang="en-US" altLang="zh-CN" sz="1800" dirty="0">
              <a:solidFill>
                <a:schemeClr val="bg2"/>
              </a:solidFill>
              <a:cs typeface="Times New Roman" pitchFamily="18" charset="0"/>
            </a:endParaRPr>
          </a:p>
          <a:p>
            <a:pPr>
              <a:defRPr/>
            </a:pPr>
            <a:endParaRPr lang="zh-CN" altLang="en-US" dirty="0"/>
          </a:p>
        </p:txBody>
      </p:sp>
      <p:sp>
        <p:nvSpPr>
          <p:cNvPr id="40964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94C5C24-D835-4941-AEF5-1DDF7818AEE1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31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消除间接左递归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31913" y="1362075"/>
            <a:ext cx="5927725" cy="3225800"/>
          </a:xfrm>
        </p:spPr>
        <p:txBody>
          <a:bodyPr/>
          <a:lstStyle/>
          <a:p>
            <a:pPr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例</a:t>
            </a:r>
            <a:r>
              <a:rPr lang="en-US" altLang="zh-CN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                  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S 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→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 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|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b</a:t>
            </a:r>
            <a:endParaRPr lang="en-US" altLang="zh-CN" sz="2500" b="1" dirty="0">
              <a:solidFill>
                <a:schemeClr val="tx1"/>
              </a:solidFill>
              <a:cs typeface="Times New Roman" pitchFamily="18" charset="0"/>
            </a:endParaRPr>
          </a:p>
          <a:p>
            <a:pPr marL="0" lvl="1" indent="0" algn="ctr">
              <a:buClr>
                <a:schemeClr val="folHlink"/>
              </a:buClr>
              <a:buSzPct val="60000"/>
              <a:buFont typeface="Symbol" panose="05050102010706020507" pitchFamily="18" charset="2"/>
              <a:buNone/>
              <a:defRPr/>
            </a:pP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 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→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 c 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|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S d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 |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ε</a:t>
            </a:r>
          </a:p>
          <a:p>
            <a:pPr lvl="1"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消除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  <a:latin typeface="+mn-ea"/>
              </a:rPr>
              <a:t>-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产生式的直接左递归：</a:t>
            </a:r>
            <a:endParaRPr lang="en-US" altLang="zh-CN" sz="2500" b="1" dirty="0">
              <a:solidFill>
                <a:schemeClr val="tx1"/>
              </a:solidFill>
              <a:latin typeface="+mn-ea"/>
            </a:endParaRPr>
          </a:p>
          <a:p>
            <a:pPr marL="0" lvl="1" indent="0" algn="ctr">
              <a:buClr>
                <a:schemeClr val="folHlink"/>
              </a:buClr>
              <a:buSzPct val="60000"/>
              <a:buFont typeface="Symbol" panose="05050102010706020507" pitchFamily="18" charset="2"/>
              <a:buNone/>
              <a:defRPr/>
            </a:pPr>
            <a:r>
              <a:rPr lang="en-US" altLang="zh-CN" sz="2400" b="1" i="1" dirty="0">
                <a:solidFill>
                  <a:schemeClr val="tx1"/>
                </a:solidFill>
                <a:cs typeface="Times New Roman" pitchFamily="18" charset="0"/>
              </a:rPr>
              <a:t>S </a:t>
            </a:r>
            <a:r>
              <a:rPr lang="en-US" altLang="zh-CN" sz="2400" b="1" dirty="0">
                <a:solidFill>
                  <a:schemeClr val="tx1"/>
                </a:solidFill>
                <a:cs typeface="Times New Roman" pitchFamily="18" charset="0"/>
              </a:rPr>
              <a:t>→ </a:t>
            </a:r>
            <a:r>
              <a:rPr lang="en-US" altLang="zh-CN" sz="2400" b="1" i="1" dirty="0">
                <a:solidFill>
                  <a:schemeClr val="tx1"/>
                </a:solidFill>
                <a:cs typeface="Times New Roman" pitchFamily="18" charset="0"/>
              </a:rPr>
              <a:t>A </a:t>
            </a:r>
            <a:r>
              <a:rPr lang="en-US" altLang="zh-CN" sz="2400" b="1" i="1" dirty="0" err="1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altLang="zh-CN" sz="24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sz="2400" b="1" dirty="0">
                <a:solidFill>
                  <a:schemeClr val="tx1"/>
                </a:solidFill>
                <a:cs typeface="Times New Roman" pitchFamily="18" charset="0"/>
              </a:rPr>
              <a:t>| </a:t>
            </a:r>
            <a:r>
              <a:rPr lang="en-US" altLang="zh-CN" sz="2400" b="1" i="1" dirty="0">
                <a:solidFill>
                  <a:schemeClr val="tx1"/>
                </a:solidFill>
                <a:cs typeface="Times New Roman" pitchFamily="18" charset="0"/>
              </a:rPr>
              <a:t>b</a:t>
            </a:r>
          </a:p>
          <a:p>
            <a:pPr marL="0" lvl="1" indent="0" algn="ctr">
              <a:buClr>
                <a:schemeClr val="folHlink"/>
              </a:buClr>
              <a:buSzPct val="60000"/>
              <a:buFont typeface="Symbol" panose="05050102010706020507" pitchFamily="18" charset="2"/>
              <a:buNone/>
              <a:defRPr/>
            </a:pP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 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→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b d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′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 |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′</a:t>
            </a:r>
          </a:p>
          <a:p>
            <a:pPr marL="0" lvl="1" indent="0" algn="ctr">
              <a:buClr>
                <a:schemeClr val="folHlink"/>
              </a:buClr>
              <a:buSzPct val="60000"/>
              <a:buFont typeface="Symbol" panose="05050102010706020507" pitchFamily="18" charset="2"/>
              <a:buNone/>
              <a:defRPr/>
            </a:pP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     A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′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 →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c A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′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|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 d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kumimoji="1"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′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 |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ε</a:t>
            </a:r>
          </a:p>
          <a:p>
            <a:pPr lvl="1">
              <a:buClrTx/>
              <a:buFont typeface="Wingdings" pitchFamily="2" charset="2"/>
              <a:buChar char="Ø"/>
              <a:defRPr/>
            </a:pPr>
            <a:endParaRPr lang="en-US" altLang="zh-CN" sz="2500" b="1" dirty="0">
              <a:solidFill>
                <a:schemeClr val="tx1"/>
              </a:solidFill>
              <a:latin typeface="+mn-ea"/>
            </a:endParaRPr>
          </a:p>
          <a:p>
            <a:pPr marL="0" lvl="1" indent="0" algn="ctr">
              <a:buClr>
                <a:schemeClr val="folHlink"/>
              </a:buClr>
              <a:buSzPct val="60000"/>
              <a:buFont typeface="Symbol" panose="05050102010706020507" pitchFamily="18" charset="2"/>
              <a:buNone/>
              <a:defRPr/>
            </a:pPr>
            <a:endParaRPr lang="en-US" altLang="zh-CN" sz="2500" b="1" i="1" dirty="0">
              <a:solidFill>
                <a:schemeClr val="tx1"/>
              </a:solidFill>
              <a:cs typeface="Times New Roman" pitchFamily="18" charset="0"/>
            </a:endParaRPr>
          </a:p>
          <a:p>
            <a:pPr lvl="1">
              <a:defRPr/>
            </a:pPr>
            <a:endParaRPr lang="en-US" altLang="zh-CN" sz="1800" dirty="0">
              <a:solidFill>
                <a:schemeClr val="bg2"/>
              </a:solidFill>
              <a:cs typeface="Times New Roman" pitchFamily="18" charset="0"/>
            </a:endParaRPr>
          </a:p>
          <a:p>
            <a:pPr>
              <a:defRPr/>
            </a:pPr>
            <a:endParaRPr lang="zh-CN" altLang="en-US" dirty="0"/>
          </a:p>
        </p:txBody>
      </p:sp>
      <p:sp>
        <p:nvSpPr>
          <p:cNvPr id="43012" name="矩形 3"/>
          <p:cNvSpPr>
            <a:spLocks noChangeArrowheads="1"/>
          </p:cNvSpPr>
          <p:nvPr/>
        </p:nvSpPr>
        <p:spPr bwMode="auto">
          <a:xfrm>
            <a:off x="5954713" y="1362075"/>
            <a:ext cx="127635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3333CC"/>
              </a:buClr>
              <a:buSzPct val="100000"/>
            </a:pPr>
            <a:r>
              <a:rPr lang="en-US" altLang="zh-CN" sz="2400" b="1" i="1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="1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</a:t>
            </a:r>
            <a:r>
              <a:rPr kumimoji="1" lang="zh-CN" altLang="en-US" sz="2400" b="1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400" b="1" i="1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Aa</a:t>
            </a:r>
          </a:p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3333CC"/>
              </a:buClr>
              <a:buSzPct val="100000"/>
            </a:pPr>
            <a:r>
              <a:rPr lang="en-US" altLang="zh-CN" sz="2400" b="1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</a:t>
            </a:r>
            <a:r>
              <a:rPr kumimoji="1" lang="zh-CN" altLang="en-US" sz="2400" b="1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400" b="1" i="1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Sda</a:t>
            </a:r>
          </a:p>
        </p:txBody>
      </p:sp>
      <p:sp>
        <p:nvSpPr>
          <p:cNvPr id="43013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B66B1A1-FCA5-4552-BCD5-7AB5549021DC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32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内容占位符 2"/>
          <p:cNvSpPr>
            <a:spLocks noGrp="1"/>
          </p:cNvSpPr>
          <p:nvPr>
            <p:ph idx="1"/>
          </p:nvPr>
        </p:nvSpPr>
        <p:spPr>
          <a:xfrm>
            <a:off x="430213" y="930275"/>
            <a:ext cx="7886700" cy="3225800"/>
          </a:xfrm>
        </p:spPr>
        <p:txBody>
          <a:bodyPr/>
          <a:lstStyle/>
          <a:p>
            <a:pPr eaLnBrk="1" hangingPunct="1">
              <a:lnSpc>
                <a:spcPts val="24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输入：不含循环</a:t>
            </a:r>
            <a:r>
              <a:rPr lang="zh-CN" alt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推导（即形如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kumimoji="1" lang="en-US" altLang="zh-CN" sz="1800" b="1" dirty="0">
                <a:solidFill>
                  <a:srgbClr val="073E87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18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kumimoji="1" lang="en-US" altLang="zh-CN" sz="1800" b="1" baseline="30000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+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zh-CN" alt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的推导）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和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ε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-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产生式的文法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G</a:t>
            </a:r>
            <a:endParaRPr lang="en-US" altLang="zh-CN" sz="2000" b="1" dirty="0">
              <a:solidFill>
                <a:schemeClr val="tx1"/>
              </a:solidFill>
              <a:cs typeface="Times New Roman" pitchFamily="18" charset="0"/>
            </a:endParaRPr>
          </a:p>
          <a:p>
            <a:pPr eaLnBrk="1" hangingPunct="1">
              <a:lnSpc>
                <a:spcPts val="24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输出：等价的无左递归文法</a:t>
            </a:r>
            <a:endParaRPr lang="en-US" altLang="zh-CN" sz="2000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eaLnBrk="1" hangingPunct="1">
              <a:lnSpc>
                <a:spcPts val="24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方法：</a:t>
            </a:r>
          </a:p>
        </p:txBody>
      </p:sp>
      <p:sp>
        <p:nvSpPr>
          <p:cNvPr id="49155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828040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消除左递归算法 </a:t>
            </a:r>
            <a:r>
              <a:rPr lang="zh-CN" altLang="en-US" sz="2400" spc="3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蓝书</a:t>
            </a:r>
            <a:r>
              <a:rPr lang="en-US" altLang="zh-CN" sz="2400" spc="3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P124/</a:t>
            </a:r>
            <a:r>
              <a:rPr lang="zh-CN" altLang="en-US" sz="24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电子书</a:t>
            </a:r>
            <a:r>
              <a:rPr lang="en-US" altLang="zh-CN" sz="24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P135 </a:t>
            </a:r>
            <a:r>
              <a:rPr lang="zh-CN" altLang="en-US" sz="2400" spc="3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图</a:t>
            </a:r>
            <a:r>
              <a:rPr lang="en-US" altLang="zh-CN" sz="2400" spc="3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4-11</a:t>
            </a:r>
            <a:endParaRPr lang="zh-CN" altLang="en-US" sz="2400" spc="3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9705" name="内容占位符 1"/>
          <p:cNvSpPr txBox="1">
            <a:spLocks/>
          </p:cNvSpPr>
          <p:nvPr/>
        </p:nvSpPr>
        <p:spPr bwMode="auto">
          <a:xfrm>
            <a:off x="142875" y="2066925"/>
            <a:ext cx="8786813" cy="29337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273050" indent="-2730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20000"/>
              </a:spcBef>
              <a:buSzPct val="100000"/>
              <a:buFontTx/>
              <a:buAutoNum type="arabicParenR"/>
              <a:defRPr/>
            </a:pP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按照某个顺序将非终结符号排序为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，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，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…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，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.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</a:t>
            </a:r>
            <a:endParaRPr lang="en-US" altLang="zh-CN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SzPct val="100000"/>
              <a:buFontTx/>
              <a:buAutoNum type="arabicParenR"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for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( 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从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1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到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n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的每个</a:t>
            </a:r>
            <a:r>
              <a:rPr lang="en-US" altLang="zh-CN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i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) {</a:t>
            </a: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SzPct val="100000"/>
              <a:buFontTx/>
              <a:buAutoNum type="arabicParenR" startAt="3"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for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( 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从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1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到</a:t>
            </a:r>
            <a:r>
              <a:rPr lang="en-US" altLang="zh-CN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i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-1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的每个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j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) {</a:t>
            </a: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SzPct val="100000"/>
              <a:buFontTx/>
              <a:buAutoNum type="arabicParenR" startAt="3"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       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将每个形如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 → </a:t>
            </a:r>
            <a:r>
              <a:rPr lang="en-US" altLang="zh-CN" b="1" i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i="1" baseline="-25000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l-GR" altLang="zh-CN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γ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产生式的</a:t>
            </a:r>
            <a:r>
              <a:rPr lang="en-US" altLang="zh-CN" b="1" i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i="1" baseline="-25000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进行替换，利用</a:t>
            </a:r>
            <a:r>
              <a:rPr lang="en-US" altLang="zh-CN" b="1" i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i="1" baseline="-25000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  →</a:t>
            </a:r>
            <a:r>
              <a:rPr lang="el-GR" altLang="zh-CN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 δ</a:t>
            </a:r>
            <a:r>
              <a:rPr lang="en-US" altLang="zh-CN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</a:rPr>
              <a:t>∣</a:t>
            </a:r>
            <a:r>
              <a:rPr lang="el-GR" altLang="zh-CN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δ</a:t>
            </a:r>
            <a:r>
              <a:rPr lang="en-US" altLang="zh-CN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</a:rPr>
              <a:t>∣… ∣</a:t>
            </a:r>
            <a:r>
              <a:rPr lang="el-GR" altLang="zh-CN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δ</a:t>
            </a:r>
            <a:r>
              <a:rPr lang="en-US" altLang="zh-CN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k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替换为产生式组 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 →</a:t>
            </a:r>
            <a:r>
              <a:rPr lang="el-GR" altLang="zh-CN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 δ</a:t>
            </a:r>
            <a:r>
              <a:rPr lang="en-US" altLang="zh-CN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  <a:r>
              <a:rPr lang="el-GR" altLang="zh-CN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γ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</a:rPr>
              <a:t>∣</a:t>
            </a:r>
            <a:r>
              <a:rPr lang="el-GR" altLang="zh-CN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δ</a:t>
            </a:r>
            <a:r>
              <a:rPr lang="en-US" altLang="zh-CN" b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  <a:r>
              <a:rPr lang="el-GR" altLang="zh-CN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γ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</a:rPr>
              <a:t>∣…∣</a:t>
            </a:r>
            <a:r>
              <a:rPr lang="el-GR" altLang="zh-CN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δ</a:t>
            </a:r>
            <a:r>
              <a:rPr lang="en-US" altLang="zh-CN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  <a:r>
              <a:rPr lang="el-GR" altLang="zh-CN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γ </a:t>
            </a:r>
            <a:endParaRPr lang="en-US" altLang="zh-CN" b="1" dirty="0">
              <a:solidFill>
                <a:prstClr val="black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SzPct val="100000"/>
              <a:buFontTx/>
              <a:buAutoNum type="arabicParenR" startAt="5"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}</a:t>
            </a: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SzPct val="100000"/>
              <a:buFontTx/>
              <a:buAutoNum type="arabicParenR" startAt="5"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消除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  <a:r>
              <a:rPr lang="en-US" altLang="zh-CN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产生式之间的立即左递归</a:t>
            </a:r>
            <a:endParaRPr lang="en-US" altLang="zh-CN" b="1" dirty="0">
              <a:solidFill>
                <a:prstClr val="black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SzPct val="100000"/>
              <a:buFontTx/>
              <a:buAutoNum type="arabicParenR" startAt="5"/>
              <a:defRPr/>
            </a:pP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}</a:t>
            </a: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Symbol" panose="05050102010706020507" pitchFamily="18" charset="2"/>
              <a:buNone/>
              <a:defRPr/>
            </a:pPr>
            <a:r>
              <a:rPr lang="en-US" altLang="zh-CN" sz="15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       </a:t>
            </a: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SzPct val="100000"/>
              <a:buFont typeface="Symbol" panose="05050102010706020507" pitchFamily="18" charset="2"/>
              <a:buNone/>
              <a:defRPr/>
            </a:pPr>
            <a:endParaRPr lang="zh-CN" altLang="en-US" sz="1500" b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/>
              <p14:cNvContentPartPr/>
              <p14:nvPr/>
            </p14:nvContentPartPr>
            <p14:xfrm>
              <a:off x="5465160" y="1465200"/>
              <a:ext cx="360" cy="360"/>
            </p14:xfrm>
          </p:contentPart>
        </mc:Choice>
        <mc:Fallback xmlns="">
          <p:pic>
            <p:nvPicPr>
              <p:cNvPr id="2" name="墨迹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55800" y="145584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内容占位符 2"/>
          <p:cNvSpPr>
            <a:spLocks noGrp="1"/>
          </p:cNvSpPr>
          <p:nvPr>
            <p:ph idx="1"/>
          </p:nvPr>
        </p:nvSpPr>
        <p:spPr>
          <a:xfrm>
            <a:off x="684213" y="123825"/>
            <a:ext cx="8015287" cy="2303463"/>
          </a:xfrm>
        </p:spPr>
        <p:txBody>
          <a:bodyPr/>
          <a:lstStyle/>
          <a:p>
            <a:pPr marL="0" indent="0" eaLnBrk="1" hangingPunct="1">
              <a:lnSpc>
                <a:spcPts val="2500"/>
              </a:lnSpc>
              <a:buClrTx/>
              <a:buFontTx/>
              <a:buAutoNum type="arabicParenR"/>
              <a:defRPr/>
            </a:pPr>
            <a:r>
              <a:rPr lang="zh-CN" altLang="en-US" sz="1600" b="1" dirty="0">
                <a:solidFill>
                  <a:prstClr val="black"/>
                </a:solidFill>
                <a:ea typeface="楷体" panose="02010609060101010101" pitchFamily="49" charset="-122"/>
              </a:rPr>
              <a:t>按照某个顺序将非终结符号排序为</a:t>
            </a:r>
            <a:r>
              <a:rPr lang="en-US" altLang="zh-CN" sz="1600" b="1" i="1" dirty="0">
                <a:solidFill>
                  <a:prstClr val="black"/>
                </a:solidFill>
                <a:ea typeface="宋体" panose="02010600030101010101" pitchFamily="2" charset="-122"/>
              </a:rPr>
              <a:t>A</a:t>
            </a:r>
            <a:r>
              <a:rPr lang="en-US" altLang="zh-CN" sz="1600" b="1" baseline="-25000" dirty="0">
                <a:solidFill>
                  <a:prstClr val="black"/>
                </a:solidFill>
                <a:ea typeface="宋体" panose="02010600030101010101" pitchFamily="2" charset="-122"/>
              </a:rPr>
              <a:t>1</a:t>
            </a:r>
            <a:r>
              <a:rPr lang="zh-CN" altLang="en-US" sz="1600" b="1" dirty="0">
                <a:solidFill>
                  <a:prstClr val="black"/>
                </a:solidFill>
                <a:ea typeface="楷体" panose="02010609060101010101" pitchFamily="49" charset="-122"/>
              </a:rPr>
              <a:t>，</a:t>
            </a:r>
            <a:r>
              <a:rPr lang="en-US" altLang="zh-CN" sz="1600" b="1" i="1" dirty="0">
                <a:solidFill>
                  <a:prstClr val="black"/>
                </a:solidFill>
                <a:ea typeface="宋体" panose="02010600030101010101" pitchFamily="2" charset="-122"/>
              </a:rPr>
              <a:t>A</a:t>
            </a:r>
            <a:r>
              <a:rPr lang="en-US" altLang="zh-CN" sz="1600" b="1" baseline="-25000" dirty="0">
                <a:solidFill>
                  <a:prstClr val="black"/>
                </a:solidFill>
                <a:ea typeface="宋体" panose="02010600030101010101" pitchFamily="2" charset="-122"/>
              </a:rPr>
              <a:t>2</a:t>
            </a:r>
            <a:r>
              <a:rPr lang="zh-CN" altLang="en-US" sz="1600" b="1" dirty="0">
                <a:solidFill>
                  <a:prstClr val="black"/>
                </a:solidFill>
                <a:ea typeface="楷体" panose="02010609060101010101" pitchFamily="49" charset="-122"/>
              </a:rPr>
              <a:t>，</a:t>
            </a:r>
            <a:r>
              <a:rPr lang="en-US" altLang="zh-CN" sz="1600" b="1" i="1" dirty="0">
                <a:solidFill>
                  <a:prstClr val="black"/>
                </a:solidFill>
                <a:ea typeface="宋体" panose="02010600030101010101" pitchFamily="2" charset="-122"/>
              </a:rPr>
              <a:t>…</a:t>
            </a:r>
            <a:r>
              <a:rPr lang="zh-CN" altLang="en-US" sz="1600" b="1" dirty="0">
                <a:solidFill>
                  <a:prstClr val="black"/>
                </a:solidFill>
                <a:ea typeface="楷体" panose="02010609060101010101" pitchFamily="49" charset="-122"/>
              </a:rPr>
              <a:t> ，</a:t>
            </a:r>
            <a:r>
              <a:rPr lang="en-US" altLang="zh-CN" sz="1600" b="1" i="1" dirty="0">
                <a:solidFill>
                  <a:prstClr val="black"/>
                </a:solidFill>
                <a:ea typeface="宋体" panose="02010600030101010101" pitchFamily="2" charset="-122"/>
              </a:rPr>
              <a:t>A</a:t>
            </a:r>
            <a:r>
              <a:rPr lang="en-US" altLang="zh-CN" sz="1600" b="1" i="1" baseline="-25000" dirty="0">
                <a:solidFill>
                  <a:prstClr val="black"/>
                </a:solidFill>
                <a:ea typeface="宋体" panose="02010600030101010101" pitchFamily="2" charset="-122"/>
              </a:rPr>
              <a:t>n</a:t>
            </a:r>
            <a:r>
              <a:rPr lang="zh-CN" altLang="en-US" sz="1600" b="1" dirty="0">
                <a:solidFill>
                  <a:prstClr val="black"/>
                </a:solidFill>
                <a:ea typeface="楷体" panose="02010609060101010101" pitchFamily="49" charset="-122"/>
              </a:rPr>
              <a:t>  </a:t>
            </a:r>
            <a:r>
              <a:rPr lang="en-US" altLang="zh-CN" sz="1600" b="1" dirty="0">
                <a:solidFill>
                  <a:prstClr val="black"/>
                </a:solidFill>
                <a:ea typeface="楷体" panose="02010609060101010101" pitchFamily="49" charset="-122"/>
              </a:rPr>
              <a:t>.</a:t>
            </a:r>
            <a:r>
              <a:rPr lang="zh-CN" altLang="en-US" sz="1600" b="1" dirty="0">
                <a:solidFill>
                  <a:prstClr val="black"/>
                </a:solidFill>
                <a:ea typeface="楷体" panose="02010609060101010101" pitchFamily="49" charset="-122"/>
              </a:rPr>
              <a:t>          </a:t>
            </a:r>
            <a:endParaRPr lang="en-US" altLang="zh-CN" sz="1600" b="1" dirty="0">
              <a:solidFill>
                <a:prstClr val="black"/>
              </a:solidFill>
              <a:latin typeface="华文楷体" panose="02010600040101010101" pitchFamily="2" charset="-122"/>
            </a:endParaRPr>
          </a:p>
          <a:p>
            <a:pPr marL="0" indent="0" eaLnBrk="1" hangingPunct="1">
              <a:lnSpc>
                <a:spcPts val="2500"/>
              </a:lnSpc>
              <a:buClrTx/>
              <a:buFontTx/>
              <a:buAutoNum type="arabicParenR"/>
              <a:defRPr/>
            </a:pPr>
            <a:r>
              <a:rPr lang="en-US" altLang="zh-CN" sz="1600" b="1" dirty="0">
                <a:solidFill>
                  <a:prstClr val="black"/>
                </a:solidFill>
                <a:ea typeface="楷体" panose="02010609060101010101" pitchFamily="49" charset="-122"/>
              </a:rPr>
              <a:t>for</a:t>
            </a:r>
            <a:r>
              <a:rPr lang="en-US" altLang="zh-CN" sz="1600" b="1" i="1" dirty="0">
                <a:solidFill>
                  <a:prstClr val="black"/>
                </a:solidFill>
                <a:ea typeface="楷体" panose="02010609060101010101" pitchFamily="49" charset="-122"/>
              </a:rPr>
              <a:t> </a:t>
            </a:r>
            <a:r>
              <a:rPr lang="en-US" altLang="zh-CN" sz="1600" b="1" dirty="0">
                <a:solidFill>
                  <a:prstClr val="black"/>
                </a:solidFill>
                <a:ea typeface="楷体" panose="02010609060101010101" pitchFamily="49" charset="-122"/>
              </a:rPr>
              <a:t>( </a:t>
            </a:r>
            <a:r>
              <a:rPr lang="zh-CN" altLang="en-US" sz="1600" b="1" dirty="0">
                <a:solidFill>
                  <a:prstClr val="black"/>
                </a:solidFill>
                <a:ea typeface="楷体" panose="02010609060101010101" pitchFamily="49" charset="-122"/>
              </a:rPr>
              <a:t>从</a:t>
            </a:r>
            <a:r>
              <a:rPr lang="en-US" altLang="zh-CN" sz="1600" b="1" dirty="0">
                <a:solidFill>
                  <a:prstClr val="black"/>
                </a:solidFill>
                <a:ea typeface="楷体" panose="02010609060101010101" pitchFamily="49" charset="-122"/>
              </a:rPr>
              <a:t>1</a:t>
            </a:r>
            <a:r>
              <a:rPr lang="zh-CN" altLang="en-US" sz="1600" b="1" dirty="0">
                <a:solidFill>
                  <a:prstClr val="black"/>
                </a:solidFill>
                <a:ea typeface="楷体" panose="02010609060101010101" pitchFamily="49" charset="-122"/>
              </a:rPr>
              <a:t>到</a:t>
            </a:r>
            <a:r>
              <a:rPr lang="en-US" altLang="zh-CN" sz="1600" b="1" dirty="0">
                <a:solidFill>
                  <a:prstClr val="black"/>
                </a:solidFill>
                <a:ea typeface="楷体" panose="02010609060101010101" pitchFamily="49" charset="-122"/>
              </a:rPr>
              <a:t>n</a:t>
            </a:r>
            <a:r>
              <a:rPr lang="zh-CN" altLang="en-US" sz="1600" b="1" dirty="0">
                <a:solidFill>
                  <a:prstClr val="black"/>
                </a:solidFill>
                <a:ea typeface="楷体" panose="02010609060101010101" pitchFamily="49" charset="-122"/>
              </a:rPr>
              <a:t>的每个</a:t>
            </a:r>
            <a:r>
              <a:rPr lang="en-US" altLang="zh-CN" sz="1600" b="1" i="1" dirty="0" err="1">
                <a:solidFill>
                  <a:prstClr val="black"/>
                </a:solidFill>
                <a:ea typeface="楷体" panose="02010609060101010101" pitchFamily="49" charset="-122"/>
              </a:rPr>
              <a:t>i</a:t>
            </a:r>
            <a:r>
              <a:rPr lang="en-US" altLang="zh-CN" sz="1600" b="1" i="1" dirty="0">
                <a:solidFill>
                  <a:prstClr val="black"/>
                </a:solidFill>
                <a:ea typeface="楷体" panose="02010609060101010101" pitchFamily="49" charset="-122"/>
              </a:rPr>
              <a:t> </a:t>
            </a:r>
            <a:r>
              <a:rPr lang="en-US" altLang="zh-CN" sz="1600" b="1" dirty="0">
                <a:solidFill>
                  <a:prstClr val="black"/>
                </a:solidFill>
                <a:ea typeface="楷体" panose="02010609060101010101" pitchFamily="49" charset="-122"/>
              </a:rPr>
              <a:t>) {</a:t>
            </a:r>
          </a:p>
          <a:p>
            <a:pPr marL="0" indent="0" eaLnBrk="1" hangingPunct="1">
              <a:lnSpc>
                <a:spcPts val="2500"/>
              </a:lnSpc>
              <a:buClrTx/>
              <a:buFontTx/>
              <a:buAutoNum type="arabicParenR" startAt="3"/>
              <a:defRPr/>
            </a:pPr>
            <a:r>
              <a:rPr lang="en-US" altLang="zh-CN" sz="1600" b="1" dirty="0">
                <a:solidFill>
                  <a:prstClr val="black"/>
                </a:solidFill>
                <a:ea typeface="楷体" panose="02010609060101010101" pitchFamily="49" charset="-122"/>
              </a:rPr>
              <a:t>         for</a:t>
            </a:r>
            <a:r>
              <a:rPr lang="en-US" altLang="zh-CN" sz="1600" b="1" i="1" dirty="0">
                <a:solidFill>
                  <a:prstClr val="black"/>
                </a:solidFill>
                <a:ea typeface="楷体" panose="02010609060101010101" pitchFamily="49" charset="-122"/>
              </a:rPr>
              <a:t> </a:t>
            </a:r>
            <a:r>
              <a:rPr lang="en-US" altLang="zh-CN" sz="1600" b="1" dirty="0">
                <a:solidFill>
                  <a:prstClr val="black"/>
                </a:solidFill>
                <a:ea typeface="楷体" panose="02010609060101010101" pitchFamily="49" charset="-122"/>
              </a:rPr>
              <a:t>( </a:t>
            </a:r>
            <a:r>
              <a:rPr lang="zh-CN" altLang="en-US" sz="1600" b="1" dirty="0">
                <a:solidFill>
                  <a:prstClr val="black"/>
                </a:solidFill>
                <a:ea typeface="楷体" panose="02010609060101010101" pitchFamily="49" charset="-122"/>
              </a:rPr>
              <a:t>从</a:t>
            </a:r>
            <a:r>
              <a:rPr lang="en-US" altLang="zh-CN" sz="1600" b="1" dirty="0">
                <a:solidFill>
                  <a:prstClr val="black"/>
                </a:solidFill>
                <a:ea typeface="楷体" panose="02010609060101010101" pitchFamily="49" charset="-122"/>
              </a:rPr>
              <a:t>1</a:t>
            </a:r>
            <a:r>
              <a:rPr lang="zh-CN" altLang="en-US" sz="1600" b="1" dirty="0">
                <a:solidFill>
                  <a:prstClr val="black"/>
                </a:solidFill>
                <a:ea typeface="楷体" panose="02010609060101010101" pitchFamily="49" charset="-122"/>
              </a:rPr>
              <a:t>到</a:t>
            </a:r>
            <a:r>
              <a:rPr lang="en-US" altLang="zh-CN" sz="1600" b="1" i="1" dirty="0" err="1">
                <a:solidFill>
                  <a:prstClr val="black"/>
                </a:solidFill>
                <a:ea typeface="楷体" panose="02010609060101010101" pitchFamily="49" charset="-122"/>
              </a:rPr>
              <a:t>i</a:t>
            </a:r>
            <a:r>
              <a:rPr lang="en-US" altLang="zh-CN" sz="1600" b="1" i="1" dirty="0">
                <a:solidFill>
                  <a:prstClr val="black"/>
                </a:solidFill>
                <a:ea typeface="楷体" panose="02010609060101010101" pitchFamily="49" charset="-122"/>
              </a:rPr>
              <a:t> </a:t>
            </a:r>
            <a:r>
              <a:rPr lang="en-US" altLang="zh-CN" sz="1600" b="1" dirty="0">
                <a:solidFill>
                  <a:prstClr val="black"/>
                </a:solidFill>
                <a:ea typeface="楷体" panose="02010609060101010101" pitchFamily="49" charset="-122"/>
              </a:rPr>
              <a:t>-1</a:t>
            </a:r>
            <a:r>
              <a:rPr lang="zh-CN" altLang="en-US" sz="1600" b="1" dirty="0">
                <a:solidFill>
                  <a:prstClr val="black"/>
                </a:solidFill>
                <a:ea typeface="楷体" panose="02010609060101010101" pitchFamily="49" charset="-122"/>
              </a:rPr>
              <a:t>的每个</a:t>
            </a:r>
            <a:r>
              <a:rPr lang="en-US" altLang="zh-CN" sz="1600" b="1" i="1" dirty="0">
                <a:solidFill>
                  <a:prstClr val="black"/>
                </a:solidFill>
                <a:ea typeface="楷体" panose="02010609060101010101" pitchFamily="49" charset="-122"/>
              </a:rPr>
              <a:t>j</a:t>
            </a:r>
            <a:r>
              <a:rPr lang="en-US" altLang="zh-CN" sz="1600" b="1" dirty="0">
                <a:solidFill>
                  <a:prstClr val="black"/>
                </a:solidFill>
                <a:ea typeface="楷体" panose="02010609060101010101" pitchFamily="49" charset="-122"/>
              </a:rPr>
              <a:t>) {</a:t>
            </a:r>
          </a:p>
          <a:p>
            <a:pPr marL="0" lvl="0" indent="0" eaLnBrk="1" hangingPunct="1">
              <a:lnSpc>
                <a:spcPts val="2500"/>
              </a:lnSpc>
              <a:buClrTx/>
              <a:buFontTx/>
              <a:buAutoNum type="arabicParenR" startAt="3"/>
              <a:defRPr/>
            </a:pPr>
            <a:r>
              <a:rPr lang="zh-CN" altLang="en-US" sz="1800" b="1" dirty="0">
                <a:solidFill>
                  <a:prstClr val="black"/>
                </a:solidFill>
                <a:ea typeface="楷体" panose="02010609060101010101" pitchFamily="49" charset="-122"/>
              </a:rPr>
              <a:t>             将每个形如</a:t>
            </a:r>
            <a:r>
              <a:rPr lang="en-US" altLang="zh-CN" sz="1800" b="1" i="1" dirty="0">
                <a:solidFill>
                  <a:prstClr val="black"/>
                </a:solidFill>
                <a:ea typeface="宋体" panose="02010600030101010101" pitchFamily="2" charset="-122"/>
              </a:rPr>
              <a:t>A</a:t>
            </a:r>
            <a:r>
              <a:rPr lang="en-US" altLang="zh-CN" sz="1800" b="1" i="1" baseline="-25000" dirty="0">
                <a:solidFill>
                  <a:prstClr val="black"/>
                </a:solidFill>
                <a:ea typeface="宋体" panose="02010600030101010101" pitchFamily="2" charset="-122"/>
              </a:rPr>
              <a:t>i</a:t>
            </a:r>
            <a:r>
              <a:rPr lang="en-US" altLang="zh-CN" sz="1800" b="1" i="1" dirty="0">
                <a:solidFill>
                  <a:prstClr val="black"/>
                </a:solidFill>
                <a:ea typeface="宋体" panose="02010600030101010101" pitchFamily="2" charset="-122"/>
              </a:rPr>
              <a:t> → </a:t>
            </a:r>
            <a:r>
              <a:rPr lang="en-US" altLang="zh-CN" sz="1800" b="1" i="1" dirty="0" err="1">
                <a:solidFill>
                  <a:prstClr val="black"/>
                </a:solidFill>
                <a:ea typeface="宋体" panose="02010600030101010101" pitchFamily="2" charset="-122"/>
              </a:rPr>
              <a:t>A</a:t>
            </a:r>
            <a:r>
              <a:rPr lang="en-US" altLang="zh-CN" sz="1800" b="1" i="1" baseline="-25000" dirty="0" err="1">
                <a:solidFill>
                  <a:prstClr val="black"/>
                </a:solidFill>
                <a:ea typeface="宋体" panose="02010600030101010101" pitchFamily="2" charset="-122"/>
              </a:rPr>
              <a:t>j</a:t>
            </a:r>
            <a:r>
              <a:rPr lang="en-US" altLang="zh-CN" sz="1800" b="1" dirty="0">
                <a:solidFill>
                  <a:prstClr val="black"/>
                </a:solidFill>
                <a:ea typeface="楷体" panose="02010609060101010101" pitchFamily="49" charset="-122"/>
              </a:rPr>
              <a:t> </a:t>
            </a:r>
            <a:r>
              <a:rPr lang="el-GR" altLang="zh-CN" sz="1800" b="1" i="1" dirty="0">
                <a:solidFill>
                  <a:prstClr val="black"/>
                </a:solidFill>
                <a:ea typeface="宋体" panose="02010600030101010101" pitchFamily="2" charset="-122"/>
              </a:rPr>
              <a:t>γ</a:t>
            </a:r>
            <a:r>
              <a:rPr lang="zh-CN" altLang="en-US" sz="1800" b="1" dirty="0">
                <a:solidFill>
                  <a:prstClr val="black"/>
                </a:solidFill>
                <a:ea typeface="楷体" panose="02010609060101010101" pitchFamily="49" charset="-122"/>
              </a:rPr>
              <a:t>产生式的</a:t>
            </a:r>
            <a:r>
              <a:rPr lang="en-US" altLang="zh-CN" sz="1800" b="1" i="1" dirty="0" err="1">
                <a:solidFill>
                  <a:prstClr val="black"/>
                </a:solidFill>
                <a:ea typeface="宋体" panose="02010600030101010101" pitchFamily="2" charset="-122"/>
              </a:rPr>
              <a:t>A</a:t>
            </a:r>
            <a:r>
              <a:rPr lang="en-US" altLang="zh-CN" sz="1800" b="1" i="1" baseline="-25000" dirty="0" err="1">
                <a:solidFill>
                  <a:prstClr val="black"/>
                </a:solidFill>
                <a:ea typeface="宋体" panose="02010600030101010101" pitchFamily="2" charset="-122"/>
              </a:rPr>
              <a:t>j</a:t>
            </a:r>
            <a:r>
              <a:rPr lang="en-US" altLang="zh-CN" sz="1800" b="1" dirty="0">
                <a:solidFill>
                  <a:prstClr val="black"/>
                </a:solidFill>
                <a:ea typeface="楷体" panose="02010609060101010101" pitchFamily="49" charset="-122"/>
              </a:rPr>
              <a:t> </a:t>
            </a:r>
            <a:r>
              <a:rPr lang="zh-CN" altLang="en-US" sz="1800" b="1" dirty="0">
                <a:solidFill>
                  <a:prstClr val="black"/>
                </a:solidFill>
                <a:ea typeface="楷体" panose="02010609060101010101" pitchFamily="49" charset="-122"/>
              </a:rPr>
              <a:t>进行替换，利用</a:t>
            </a:r>
            <a:r>
              <a:rPr lang="en-US" altLang="zh-CN" sz="1800" b="1" i="1" dirty="0" err="1">
                <a:solidFill>
                  <a:prstClr val="black"/>
                </a:solidFill>
                <a:ea typeface="宋体" panose="02010600030101010101" pitchFamily="2" charset="-122"/>
              </a:rPr>
              <a:t>A</a:t>
            </a:r>
            <a:r>
              <a:rPr lang="en-US" altLang="zh-CN" sz="1800" b="1" i="1" baseline="-25000" dirty="0" err="1">
                <a:solidFill>
                  <a:prstClr val="black"/>
                </a:solidFill>
                <a:ea typeface="宋体" panose="02010600030101010101" pitchFamily="2" charset="-122"/>
              </a:rPr>
              <a:t>j</a:t>
            </a:r>
            <a:r>
              <a:rPr lang="en-US" altLang="zh-CN" sz="1800" b="1" i="1" dirty="0">
                <a:solidFill>
                  <a:prstClr val="black"/>
                </a:solidFill>
                <a:ea typeface="宋体" panose="02010600030101010101" pitchFamily="2" charset="-122"/>
              </a:rPr>
              <a:t>  →</a:t>
            </a:r>
            <a:r>
              <a:rPr lang="el-GR" altLang="zh-CN" sz="1800" b="1" i="1" dirty="0">
                <a:solidFill>
                  <a:prstClr val="black"/>
                </a:solidFill>
                <a:ea typeface="宋体" panose="02010600030101010101" pitchFamily="2" charset="-122"/>
              </a:rPr>
              <a:t> δ</a:t>
            </a:r>
            <a:r>
              <a:rPr lang="en-US" altLang="zh-CN" sz="1800" b="1" baseline="-25000" dirty="0">
                <a:solidFill>
                  <a:prstClr val="black"/>
                </a:solidFill>
                <a:ea typeface="宋体" panose="02010600030101010101" pitchFamily="2" charset="-122"/>
              </a:rPr>
              <a:t>1</a:t>
            </a:r>
            <a:r>
              <a:rPr lang="en-US" altLang="zh-CN" sz="1800" b="1" dirty="0">
                <a:solidFill>
                  <a:prstClr val="black"/>
                </a:solidFill>
                <a:ea typeface="宋体" panose="02010600030101010101" pitchFamily="2" charset="-122"/>
              </a:rPr>
              <a:t>∣</a:t>
            </a:r>
            <a:r>
              <a:rPr lang="el-GR" altLang="zh-CN" sz="1800" b="1" i="1" dirty="0">
                <a:solidFill>
                  <a:prstClr val="black"/>
                </a:solidFill>
                <a:ea typeface="宋体" panose="02010600030101010101" pitchFamily="2" charset="-122"/>
              </a:rPr>
              <a:t>δ</a:t>
            </a:r>
            <a:r>
              <a:rPr lang="en-US" altLang="zh-CN" sz="1800" b="1" baseline="-25000" dirty="0">
                <a:solidFill>
                  <a:prstClr val="black"/>
                </a:solidFill>
                <a:ea typeface="宋体" panose="02010600030101010101" pitchFamily="2" charset="-122"/>
              </a:rPr>
              <a:t>2</a:t>
            </a:r>
            <a:r>
              <a:rPr lang="en-US" altLang="zh-CN" sz="1800" b="1" dirty="0">
                <a:solidFill>
                  <a:prstClr val="black"/>
                </a:solidFill>
                <a:ea typeface="宋体" panose="02010600030101010101" pitchFamily="2" charset="-122"/>
              </a:rPr>
              <a:t>∣… ∣</a:t>
            </a:r>
            <a:r>
              <a:rPr lang="el-GR" altLang="zh-CN" sz="1800" b="1" i="1" dirty="0">
                <a:solidFill>
                  <a:prstClr val="black"/>
                </a:solidFill>
                <a:ea typeface="宋体" panose="02010600030101010101" pitchFamily="2" charset="-122"/>
              </a:rPr>
              <a:t>δ</a:t>
            </a:r>
            <a:r>
              <a:rPr lang="en-US" altLang="zh-CN" sz="1800" b="1" i="1" baseline="-25000" dirty="0">
                <a:solidFill>
                  <a:prstClr val="black"/>
                </a:solidFill>
                <a:ea typeface="宋体" panose="02010600030101010101" pitchFamily="2" charset="-122"/>
              </a:rPr>
              <a:t>k</a:t>
            </a:r>
            <a:r>
              <a:rPr lang="zh-CN" altLang="en-US" sz="1800" b="1" dirty="0">
                <a:solidFill>
                  <a:prstClr val="black"/>
                </a:solidFill>
                <a:ea typeface="楷体" panose="02010609060101010101" pitchFamily="49" charset="-122"/>
              </a:rPr>
              <a:t>替换为产生式组 </a:t>
            </a:r>
            <a:r>
              <a:rPr lang="en-US" altLang="zh-CN" sz="1800" b="1" i="1" dirty="0">
                <a:solidFill>
                  <a:prstClr val="black"/>
                </a:solidFill>
                <a:ea typeface="宋体" panose="02010600030101010101" pitchFamily="2" charset="-122"/>
              </a:rPr>
              <a:t>A</a:t>
            </a:r>
            <a:r>
              <a:rPr lang="en-US" altLang="zh-CN" sz="1800" b="1" i="1" baseline="-25000" dirty="0">
                <a:solidFill>
                  <a:prstClr val="black"/>
                </a:solidFill>
                <a:ea typeface="宋体" panose="02010600030101010101" pitchFamily="2" charset="-122"/>
              </a:rPr>
              <a:t>i</a:t>
            </a:r>
            <a:r>
              <a:rPr lang="en-US" altLang="zh-CN" sz="1800" b="1" i="1" dirty="0">
                <a:solidFill>
                  <a:prstClr val="black"/>
                </a:solidFill>
                <a:ea typeface="宋体" panose="02010600030101010101" pitchFamily="2" charset="-122"/>
              </a:rPr>
              <a:t> →</a:t>
            </a:r>
            <a:r>
              <a:rPr lang="el-GR" altLang="zh-CN" sz="1800" b="1" i="1" dirty="0">
                <a:solidFill>
                  <a:prstClr val="black"/>
                </a:solidFill>
                <a:ea typeface="宋体" panose="02010600030101010101" pitchFamily="2" charset="-122"/>
              </a:rPr>
              <a:t> δ</a:t>
            </a:r>
            <a:r>
              <a:rPr lang="en-US" altLang="zh-CN" sz="1800" b="1" baseline="-25000" dirty="0">
                <a:solidFill>
                  <a:prstClr val="black"/>
                </a:solidFill>
                <a:ea typeface="宋体" panose="02010600030101010101" pitchFamily="2" charset="-122"/>
              </a:rPr>
              <a:t>1</a:t>
            </a:r>
            <a:r>
              <a:rPr lang="en-US" altLang="zh-CN" sz="1800" b="1" dirty="0">
                <a:solidFill>
                  <a:prstClr val="black"/>
                </a:solidFill>
                <a:ea typeface="宋体" panose="02010600030101010101" pitchFamily="2" charset="-122"/>
              </a:rPr>
              <a:t> </a:t>
            </a:r>
            <a:r>
              <a:rPr lang="el-GR" altLang="zh-CN" sz="1800" b="1" i="1" dirty="0">
                <a:solidFill>
                  <a:prstClr val="black"/>
                </a:solidFill>
                <a:ea typeface="宋体" panose="02010600030101010101" pitchFamily="2" charset="-122"/>
              </a:rPr>
              <a:t>γ</a:t>
            </a:r>
            <a:r>
              <a:rPr lang="en-US" altLang="zh-CN" sz="1800" b="1" dirty="0">
                <a:solidFill>
                  <a:prstClr val="black"/>
                </a:solidFill>
                <a:ea typeface="宋体" panose="02010600030101010101" pitchFamily="2" charset="-122"/>
              </a:rPr>
              <a:t>∣</a:t>
            </a:r>
            <a:r>
              <a:rPr lang="el-GR" altLang="zh-CN" sz="1800" b="1" i="1" dirty="0">
                <a:solidFill>
                  <a:prstClr val="black"/>
                </a:solidFill>
                <a:ea typeface="宋体" panose="02010600030101010101" pitchFamily="2" charset="-122"/>
              </a:rPr>
              <a:t>δ</a:t>
            </a:r>
            <a:r>
              <a:rPr lang="en-US" altLang="zh-CN" sz="1800" b="1" baseline="-25000" dirty="0">
                <a:solidFill>
                  <a:prstClr val="black"/>
                </a:solidFill>
                <a:ea typeface="宋体" panose="02010600030101010101" pitchFamily="2" charset="-122"/>
              </a:rPr>
              <a:t>2</a:t>
            </a:r>
            <a:r>
              <a:rPr lang="en-US" altLang="zh-CN" sz="1800" b="1" i="1" dirty="0">
                <a:solidFill>
                  <a:prstClr val="black"/>
                </a:solidFill>
                <a:ea typeface="宋体" panose="02010600030101010101" pitchFamily="2" charset="-122"/>
              </a:rPr>
              <a:t> </a:t>
            </a:r>
            <a:r>
              <a:rPr lang="el-GR" altLang="zh-CN" sz="1800" b="1" i="1" dirty="0">
                <a:solidFill>
                  <a:prstClr val="black"/>
                </a:solidFill>
                <a:ea typeface="宋体" panose="02010600030101010101" pitchFamily="2" charset="-122"/>
              </a:rPr>
              <a:t>γ</a:t>
            </a:r>
            <a:r>
              <a:rPr lang="en-US" altLang="zh-CN" sz="1800" b="1" dirty="0">
                <a:solidFill>
                  <a:prstClr val="black"/>
                </a:solidFill>
                <a:ea typeface="宋体" panose="02010600030101010101" pitchFamily="2" charset="-122"/>
              </a:rPr>
              <a:t>∣…∣</a:t>
            </a:r>
            <a:r>
              <a:rPr lang="el-GR" altLang="zh-CN" sz="1800" b="1" i="1" dirty="0">
                <a:solidFill>
                  <a:prstClr val="black"/>
                </a:solidFill>
                <a:ea typeface="宋体" panose="02010600030101010101" pitchFamily="2" charset="-122"/>
              </a:rPr>
              <a:t>δ</a:t>
            </a:r>
            <a:r>
              <a:rPr lang="en-US" altLang="zh-CN" sz="1800" b="1" i="1" baseline="-25000" dirty="0">
                <a:solidFill>
                  <a:prstClr val="black"/>
                </a:solidFill>
                <a:ea typeface="宋体" panose="02010600030101010101" pitchFamily="2" charset="-122"/>
              </a:rPr>
              <a:t>k</a:t>
            </a:r>
            <a:r>
              <a:rPr lang="en-US" altLang="zh-CN" sz="1800" b="1" i="1" dirty="0">
                <a:solidFill>
                  <a:prstClr val="black"/>
                </a:solidFill>
                <a:ea typeface="宋体" panose="02010600030101010101" pitchFamily="2" charset="-122"/>
              </a:rPr>
              <a:t> </a:t>
            </a:r>
            <a:r>
              <a:rPr lang="el-GR" altLang="zh-CN" sz="14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γ</a:t>
            </a:r>
            <a:endParaRPr lang="en-US" altLang="zh-CN" sz="1800" b="1" dirty="0">
              <a:solidFill>
                <a:prstClr val="black"/>
              </a:solidFill>
              <a:ea typeface="楷体" panose="02010609060101010101" pitchFamily="49" charset="-122"/>
            </a:endParaRPr>
          </a:p>
          <a:p>
            <a:pPr marL="0" indent="0"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l-GR" altLang="zh-CN" sz="1600" b="1" i="1" dirty="0">
                <a:solidFill>
                  <a:prstClr val="black"/>
                </a:solidFill>
                <a:ea typeface="宋体" panose="02010600030101010101" pitchFamily="2" charset="-122"/>
              </a:rPr>
              <a:t> </a:t>
            </a:r>
            <a:r>
              <a:rPr lang="en-US" altLang="zh-CN" sz="1600" b="1" dirty="0">
                <a:solidFill>
                  <a:prstClr val="black"/>
                </a:solidFill>
                <a:ea typeface="楷体" panose="02010609060101010101" pitchFamily="49" charset="-122"/>
              </a:rPr>
              <a:t>         }</a:t>
            </a:r>
          </a:p>
          <a:p>
            <a:pPr marL="0" indent="0" eaLnBrk="1" hangingPunct="1">
              <a:lnSpc>
                <a:spcPts val="2500"/>
              </a:lnSpc>
              <a:buClrTx/>
              <a:buFontTx/>
              <a:buAutoNum type="arabicParenR" startAt="5"/>
              <a:defRPr/>
            </a:pPr>
            <a:r>
              <a:rPr lang="en-US" altLang="zh-CN" sz="1600" b="1" dirty="0">
                <a:solidFill>
                  <a:prstClr val="black"/>
                </a:solidFill>
                <a:ea typeface="楷体" panose="02010609060101010101" pitchFamily="49" charset="-122"/>
              </a:rPr>
              <a:t>         </a:t>
            </a:r>
            <a:r>
              <a:rPr lang="zh-CN" altLang="en-US" sz="1600" b="1" dirty="0">
                <a:solidFill>
                  <a:prstClr val="black"/>
                </a:solidFill>
                <a:ea typeface="楷体" panose="02010609060101010101" pitchFamily="49" charset="-122"/>
              </a:rPr>
              <a:t>消除</a:t>
            </a:r>
            <a:r>
              <a:rPr lang="en-US" altLang="zh-CN" sz="1600" b="1" i="1" dirty="0">
                <a:solidFill>
                  <a:prstClr val="black"/>
                </a:solidFill>
                <a:ea typeface="楷体" panose="02010609060101010101" pitchFamily="49" charset="-122"/>
              </a:rPr>
              <a:t>A</a:t>
            </a:r>
            <a:r>
              <a:rPr lang="en-US" altLang="zh-CN" sz="1600" b="1" i="1" baseline="-25000" dirty="0">
                <a:solidFill>
                  <a:prstClr val="black"/>
                </a:solidFill>
                <a:ea typeface="宋体" panose="02010600030101010101" pitchFamily="2" charset="-122"/>
              </a:rPr>
              <a:t>i</a:t>
            </a:r>
            <a:r>
              <a:rPr lang="en-US" altLang="zh-CN" sz="1600" b="1" dirty="0">
                <a:solidFill>
                  <a:prstClr val="black"/>
                </a:solidFill>
                <a:ea typeface="楷体" panose="02010609060101010101" pitchFamily="49" charset="-122"/>
              </a:rPr>
              <a:t> </a:t>
            </a:r>
            <a:r>
              <a:rPr lang="zh-CN" altLang="en-US" sz="1600" b="1" dirty="0">
                <a:solidFill>
                  <a:prstClr val="black"/>
                </a:solidFill>
                <a:ea typeface="楷体" panose="02010609060101010101" pitchFamily="49" charset="-122"/>
              </a:rPr>
              <a:t>产生式之间的立即左递归</a:t>
            </a:r>
            <a:endParaRPr lang="en-US" altLang="zh-CN" sz="1600" b="1" dirty="0">
              <a:solidFill>
                <a:prstClr val="black"/>
              </a:solidFill>
              <a:ea typeface="楷体" panose="02010609060101010101" pitchFamily="49" charset="-122"/>
            </a:endParaRPr>
          </a:p>
          <a:p>
            <a:pPr marL="0" indent="0" eaLnBrk="1" hangingPunct="1">
              <a:lnSpc>
                <a:spcPts val="2500"/>
              </a:lnSpc>
              <a:buClrTx/>
              <a:buFontTx/>
              <a:buAutoNum type="arabicParenR" startAt="5"/>
              <a:defRPr/>
            </a:pPr>
            <a:r>
              <a:rPr lang="en-US" altLang="zh-CN" sz="1600" b="1" dirty="0">
                <a:solidFill>
                  <a:prstClr val="black"/>
                </a:solidFill>
                <a:ea typeface="楷体" panose="02010609060101010101" pitchFamily="49" charset="-122"/>
              </a:rPr>
              <a:t> }</a:t>
            </a:r>
          </a:p>
          <a:p>
            <a:pPr marL="0" lvl="4" indent="0" eaLnBrk="1" hangingPunct="1">
              <a:lnSpc>
                <a:spcPts val="2400"/>
              </a:lnSpc>
              <a:buClrTx/>
              <a:buFont typeface="Symbol" panose="05050102010706020507" pitchFamily="18" charset="2"/>
              <a:buNone/>
              <a:defRPr/>
            </a:pPr>
            <a:endParaRPr lang="en-US" altLang="zh-CN" sz="2000" b="1" i="1" dirty="0">
              <a:solidFill>
                <a:prstClr val="black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ts val="2400"/>
              </a:lnSpc>
              <a:buClrTx/>
              <a:buFont typeface="Wingdings" pitchFamily="2" charset="2"/>
              <a:buChar char="Ø"/>
              <a:defRPr/>
            </a:pPr>
            <a:endParaRPr lang="zh-CN" altLang="en-US" sz="2000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</p:txBody>
      </p:sp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5364163" y="3076575"/>
            <a:ext cx="3095625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400"/>
              </a:lnSpc>
              <a:spcBef>
                <a:spcPct val="20000"/>
              </a:spcBef>
              <a:buSzPct val="100000"/>
            </a:pP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 b="1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 → A</a:t>
            </a:r>
            <a:r>
              <a:rPr lang="en-US" altLang="zh-CN" sz="2000" b="1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l-GR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γ</a:t>
            </a:r>
            <a:endParaRPr lang="en-US" altLang="zh-CN" sz="2000" b="1" i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4" eaLnBrk="1" hangingPunct="1">
              <a:lnSpc>
                <a:spcPts val="2400"/>
              </a:lnSpc>
              <a:spcBef>
                <a:spcPct val="20000"/>
              </a:spcBef>
              <a:buSzPct val="100000"/>
            </a:pP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 b="1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 → A</a:t>
            </a:r>
            <a:r>
              <a:rPr lang="en-US" altLang="zh-CN" sz="2000" b="1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l-GR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γ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′ 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84213" y="3103563"/>
            <a:ext cx="4679950" cy="21542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73050" indent="-273050" eaLnBrk="1" hangingPunct="1">
              <a:lnSpc>
                <a:spcPts val="24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en-US" altLang="zh-CN" sz="2000" b="1" dirty="0" err="1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i</a:t>
            </a:r>
            <a:r>
              <a:rPr lang="en-US" altLang="zh-CN" sz="20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=1,j=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Ø</a:t>
            </a:r>
            <a:r>
              <a:rPr lang="en-US" altLang="zh-CN" sz="20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	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 A</a:t>
            </a:r>
            <a:r>
              <a:rPr lang="en-US" altLang="zh-CN" sz="20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 → A</a:t>
            </a:r>
            <a:r>
              <a:rPr lang="en-US" altLang="zh-CN" sz="20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l-GR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γ</a:t>
            </a:r>
            <a:endParaRPr lang="en-US" altLang="zh-CN" sz="2000" b="1" i="1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marL="0" lvl="4" eaLnBrk="1" hangingPunct="1">
              <a:lnSpc>
                <a:spcPts val="24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16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		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 → </a:t>
            </a:r>
            <a:r>
              <a:rPr lang="en-US" altLang="zh-CN" sz="2000" b="1" i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 b="1" i="1" baseline="-25000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  <a:r>
              <a:rPr lang="el-GR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γ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′(k&gt;1)</a:t>
            </a:r>
            <a:endParaRPr lang="en-US" altLang="zh-CN" sz="2000" b="1" i="1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marL="273050" indent="-273050" eaLnBrk="1" hangingPunct="1">
              <a:lnSpc>
                <a:spcPts val="24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en-US" altLang="zh-CN" sz="2000" b="1" dirty="0" err="1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i</a:t>
            </a:r>
            <a:r>
              <a:rPr lang="en-US" altLang="zh-CN" sz="20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itchFamily="18" charset="0"/>
              </a:rPr>
              <a:t>=2,j=1	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 A</a:t>
            </a:r>
            <a:r>
              <a:rPr lang="en-US" altLang="zh-CN" sz="20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 → A</a:t>
            </a:r>
            <a:r>
              <a:rPr lang="en-US" altLang="zh-CN" sz="20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l-GR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γ</a:t>
            </a:r>
            <a:endParaRPr lang="en-US" altLang="zh-CN" sz="2000" b="1" i="1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marL="0" lvl="4" eaLnBrk="1" hangingPunct="1">
              <a:lnSpc>
                <a:spcPts val="24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		A</a:t>
            </a:r>
            <a:r>
              <a:rPr lang="en-US" altLang="zh-CN" sz="20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 → </a:t>
            </a:r>
            <a:r>
              <a:rPr lang="en-US" altLang="zh-CN" sz="2000" b="1" i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 b="1" i="1" baseline="-25000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  <a:r>
              <a:rPr lang="el-GR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γ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′(k</a:t>
            </a:r>
            <a:r>
              <a:rPr kumimoji="1"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≥ 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2)</a:t>
            </a:r>
          </a:p>
          <a:p>
            <a:pPr marL="0" lvl="4" eaLnBrk="1" hangingPunct="1">
              <a:lnSpc>
                <a:spcPts val="24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		A</a:t>
            </a:r>
            <a:r>
              <a:rPr lang="en-US" altLang="zh-CN" sz="2000" b="1" i="1" baseline="-25000" dirty="0">
                <a:solidFill>
                  <a:prstClr val="blac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 → </a:t>
            </a:r>
            <a:r>
              <a:rPr lang="en-US" altLang="zh-CN" sz="2000" b="1" i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 b="1" i="1" baseline="-25000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  <a:r>
              <a:rPr lang="el-GR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</a:rPr>
              <a:t>γ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′(k</a:t>
            </a:r>
            <a:r>
              <a:rPr kumimoji="1"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&gt;2)</a:t>
            </a:r>
            <a:endParaRPr lang="en-US" altLang="zh-CN" sz="2000" b="1" i="1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288" y="195263"/>
            <a:ext cx="8229600" cy="3394075"/>
          </a:xfrm>
        </p:spPr>
        <p:txBody>
          <a:bodyPr/>
          <a:lstStyle/>
          <a:p>
            <a:pPr eaLnBrk="1" hangingPunct="1">
              <a:lnSpc>
                <a:spcPts val="2400"/>
              </a:lnSpc>
              <a:buFont typeface="Wingdings" pitchFamily="2" charset="2"/>
              <a:buChar char="Ø"/>
              <a:defRPr/>
            </a:pPr>
            <a:r>
              <a:rPr lang="en-US" altLang="zh-CN" sz="2000" b="1" dirty="0" err="1">
                <a:solidFill>
                  <a:prstClr val="black"/>
                </a:solidFill>
                <a:latin typeface="华文楷体" panose="02010600040101010101" pitchFamily="2" charset="-122"/>
                <a:cs typeface="Times New Roman" pitchFamily="18" charset="0"/>
              </a:rPr>
              <a:t>i</a:t>
            </a:r>
            <a:r>
              <a:rPr lang="en-US" altLang="zh-CN" sz="2000" b="1" dirty="0">
                <a:solidFill>
                  <a:prstClr val="black"/>
                </a:solidFill>
                <a:latin typeface="华文楷体" panose="02010600040101010101" pitchFamily="2" charset="-122"/>
                <a:cs typeface="Times New Roman" pitchFamily="18" charset="0"/>
              </a:rPr>
              <a:t>=3,j=1,2	</a:t>
            </a:r>
            <a:r>
              <a:rPr lang="en-US" altLang="zh-CN" sz="2000" b="1" i="1" dirty="0">
                <a:solidFill>
                  <a:prstClr val="black"/>
                </a:solidFill>
              </a:rPr>
              <a:t> A</a:t>
            </a:r>
            <a:r>
              <a:rPr lang="en-US" altLang="zh-CN" sz="2000" b="1" i="1" baseline="-25000" dirty="0">
                <a:solidFill>
                  <a:prstClr val="black"/>
                </a:solidFill>
              </a:rPr>
              <a:t>3</a:t>
            </a:r>
            <a:r>
              <a:rPr lang="en-US" altLang="zh-CN" sz="2000" b="1" i="1" dirty="0">
                <a:solidFill>
                  <a:prstClr val="black"/>
                </a:solidFill>
              </a:rPr>
              <a:t> → A</a:t>
            </a:r>
            <a:r>
              <a:rPr lang="en-US" altLang="zh-CN" sz="2000" b="1" i="1" baseline="-25000" dirty="0">
                <a:solidFill>
                  <a:prstClr val="black"/>
                </a:solidFill>
              </a:rPr>
              <a:t>1</a:t>
            </a:r>
            <a:r>
              <a:rPr lang="en-US" altLang="zh-CN" sz="2000" b="1" dirty="0">
                <a:solidFill>
                  <a:prstClr val="black"/>
                </a:solidFill>
                <a:ea typeface="楷体" panose="02010609060101010101" pitchFamily="49" charset="-122"/>
              </a:rPr>
              <a:t> </a:t>
            </a:r>
            <a:r>
              <a:rPr lang="el-GR" altLang="zh-CN" sz="2000" b="1" i="1" dirty="0">
                <a:solidFill>
                  <a:prstClr val="black"/>
                </a:solidFill>
              </a:rPr>
              <a:t>γ</a:t>
            </a:r>
            <a:endParaRPr lang="en-US" altLang="zh-CN" sz="2000" b="1" i="1" dirty="0">
              <a:solidFill>
                <a:prstClr val="black"/>
              </a:solidFill>
            </a:endParaRPr>
          </a:p>
          <a:p>
            <a:pPr marL="0" lvl="4" indent="0" eaLnBrk="1" hangingPunct="1">
              <a:lnSpc>
                <a:spcPts val="2400"/>
              </a:lnSpc>
              <a:buFontTx/>
              <a:buNone/>
              <a:defRPr/>
            </a:pPr>
            <a:r>
              <a:rPr lang="en-US" altLang="zh-CN" b="1" i="1" dirty="0">
                <a:solidFill>
                  <a:prstClr val="black"/>
                </a:solidFill>
              </a:rPr>
              <a:t>		</a:t>
            </a:r>
            <a:r>
              <a:rPr lang="en-US" altLang="zh-CN" sz="2000" b="1" i="1" dirty="0">
                <a:solidFill>
                  <a:prstClr val="black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000" b="1" i="1" baseline="-25000" dirty="0">
                <a:solidFill>
                  <a:prstClr val="black"/>
                </a:solidFill>
                <a:cs typeface="Times New Roman" panose="02020603050405020304" pitchFamily="18" charset="0"/>
              </a:rPr>
              <a:t>3</a:t>
            </a:r>
            <a:r>
              <a:rPr lang="en-US" altLang="zh-CN" sz="2000" b="1" i="1" dirty="0">
                <a:solidFill>
                  <a:prstClr val="black"/>
                </a:solidFill>
                <a:cs typeface="Times New Roman" panose="02020603050405020304" pitchFamily="18" charset="0"/>
              </a:rPr>
              <a:t> → A</a:t>
            </a:r>
            <a:r>
              <a:rPr lang="en-US" altLang="zh-CN" sz="2000" b="1" i="1" baseline="-25000" dirty="0">
                <a:solidFill>
                  <a:prstClr val="black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sz="2000" b="1" i="1" dirty="0">
                <a:solidFill>
                  <a:prstClr val="black"/>
                </a:solidFill>
                <a:cs typeface="Times New Roman" panose="02020603050405020304" pitchFamily="18" charset="0"/>
              </a:rPr>
              <a:t> </a:t>
            </a:r>
            <a:r>
              <a:rPr lang="el-GR" altLang="zh-CN" sz="2000" b="1" i="1" dirty="0">
                <a:solidFill>
                  <a:prstClr val="black"/>
                </a:solidFill>
                <a:cs typeface="Times New Roman" panose="02020603050405020304" pitchFamily="18" charset="0"/>
              </a:rPr>
              <a:t>γ</a:t>
            </a:r>
            <a:r>
              <a:rPr kumimoji="1" lang="en-US" altLang="zh-CN" sz="2000" b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endParaRPr lang="en-US" altLang="zh-CN" sz="2000" b="1" i="1" dirty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pPr marL="0" lvl="4" indent="0" eaLnBrk="1" hangingPunct="1">
              <a:lnSpc>
                <a:spcPts val="2400"/>
              </a:lnSpc>
              <a:buFontTx/>
              <a:buNone/>
              <a:defRPr/>
            </a:pPr>
            <a:r>
              <a:rPr lang="en-US" altLang="zh-CN" sz="2000" b="1" i="1" dirty="0">
                <a:solidFill>
                  <a:prstClr val="black"/>
                </a:solidFill>
                <a:cs typeface="Times New Roman" panose="02020603050405020304" pitchFamily="18" charset="0"/>
              </a:rPr>
              <a:t>		A</a:t>
            </a:r>
            <a:r>
              <a:rPr lang="en-US" altLang="zh-CN" sz="2000" b="1" i="1" baseline="-25000" dirty="0">
                <a:solidFill>
                  <a:prstClr val="black"/>
                </a:solidFill>
                <a:cs typeface="Times New Roman" panose="02020603050405020304" pitchFamily="18" charset="0"/>
              </a:rPr>
              <a:t>3</a:t>
            </a:r>
            <a:r>
              <a:rPr lang="en-US" altLang="zh-CN" sz="2000" b="1" i="1" dirty="0">
                <a:solidFill>
                  <a:prstClr val="black"/>
                </a:solidFill>
                <a:cs typeface="Times New Roman" panose="02020603050405020304" pitchFamily="18" charset="0"/>
              </a:rPr>
              <a:t> → </a:t>
            </a:r>
            <a:r>
              <a:rPr lang="en-US" altLang="zh-CN" sz="2000" b="1" i="1" dirty="0" err="1">
                <a:solidFill>
                  <a:prstClr val="black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000" b="1" i="1" baseline="-25000" dirty="0" err="1">
                <a:solidFill>
                  <a:prstClr val="black"/>
                </a:solidFill>
                <a:cs typeface="Times New Roman" panose="02020603050405020304" pitchFamily="18" charset="0"/>
              </a:rPr>
              <a:t>k</a:t>
            </a:r>
            <a:r>
              <a:rPr lang="en-US" altLang="zh-CN" sz="2000" b="1" i="1" dirty="0">
                <a:solidFill>
                  <a:prstClr val="black"/>
                </a:solidFill>
                <a:cs typeface="Times New Roman" panose="02020603050405020304" pitchFamily="18" charset="0"/>
              </a:rPr>
              <a:t> </a:t>
            </a:r>
            <a:r>
              <a:rPr lang="el-GR" altLang="zh-CN" sz="2000" b="1" i="1" dirty="0">
                <a:solidFill>
                  <a:prstClr val="black"/>
                </a:solidFill>
                <a:cs typeface="Times New Roman" panose="02020603050405020304" pitchFamily="18" charset="0"/>
              </a:rPr>
              <a:t>γ</a:t>
            </a:r>
            <a:r>
              <a:rPr kumimoji="1" lang="en-US" altLang="zh-CN" sz="2000" b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′(k</a:t>
            </a:r>
            <a:r>
              <a:rPr kumimoji="1" lang="zh-CN" altLang="en-US" sz="2000" b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≥ </a:t>
            </a:r>
            <a:r>
              <a:rPr kumimoji="1" lang="en-US" altLang="zh-CN" sz="2000" b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3)</a:t>
            </a:r>
          </a:p>
          <a:p>
            <a:pPr marL="0" lvl="4" indent="0" eaLnBrk="1" hangingPunct="1">
              <a:lnSpc>
                <a:spcPts val="2400"/>
              </a:lnSpc>
              <a:buFontTx/>
              <a:buNone/>
              <a:defRPr/>
            </a:pPr>
            <a:r>
              <a:rPr lang="en-US" altLang="zh-CN" sz="2000" b="1" i="1" dirty="0">
                <a:solidFill>
                  <a:prstClr val="black"/>
                </a:solidFill>
                <a:cs typeface="Times New Roman" panose="02020603050405020304" pitchFamily="18" charset="0"/>
              </a:rPr>
              <a:t>		A</a:t>
            </a:r>
            <a:r>
              <a:rPr lang="en-US" altLang="zh-CN" sz="2000" b="1" i="1" baseline="-25000" dirty="0">
                <a:solidFill>
                  <a:prstClr val="black"/>
                </a:solidFill>
                <a:cs typeface="Times New Roman" panose="02020603050405020304" pitchFamily="18" charset="0"/>
              </a:rPr>
              <a:t>3</a:t>
            </a:r>
            <a:r>
              <a:rPr lang="en-US" altLang="zh-CN" sz="2000" b="1" i="1" dirty="0">
                <a:solidFill>
                  <a:prstClr val="black"/>
                </a:solidFill>
                <a:cs typeface="Times New Roman" panose="02020603050405020304" pitchFamily="18" charset="0"/>
              </a:rPr>
              <a:t> → </a:t>
            </a:r>
            <a:r>
              <a:rPr lang="en-US" altLang="zh-CN" sz="2000" b="1" i="1" dirty="0" err="1">
                <a:solidFill>
                  <a:prstClr val="black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000" b="1" i="1" baseline="-25000" dirty="0" err="1">
                <a:solidFill>
                  <a:prstClr val="black"/>
                </a:solidFill>
                <a:cs typeface="Times New Roman" panose="02020603050405020304" pitchFamily="18" charset="0"/>
              </a:rPr>
              <a:t>k</a:t>
            </a:r>
            <a:r>
              <a:rPr lang="en-US" altLang="zh-CN" sz="2000" b="1" i="1" dirty="0">
                <a:solidFill>
                  <a:prstClr val="black"/>
                </a:solidFill>
                <a:cs typeface="Times New Roman" panose="02020603050405020304" pitchFamily="18" charset="0"/>
              </a:rPr>
              <a:t> </a:t>
            </a:r>
            <a:r>
              <a:rPr lang="el-GR" altLang="zh-CN" sz="2000" b="1" i="1" dirty="0">
                <a:solidFill>
                  <a:prstClr val="black"/>
                </a:solidFill>
                <a:cs typeface="Times New Roman" panose="02020603050405020304" pitchFamily="18" charset="0"/>
              </a:rPr>
              <a:t>γ</a:t>
            </a:r>
            <a:r>
              <a:rPr kumimoji="1" lang="en-US" altLang="zh-CN" sz="2000" b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′(k</a:t>
            </a:r>
            <a:r>
              <a:rPr kumimoji="1" lang="zh-CN" altLang="en-US" sz="2000" b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&gt;3)</a:t>
            </a:r>
          </a:p>
          <a:p>
            <a:pPr marL="0" lvl="4" indent="0" eaLnBrk="1" hangingPunct="1">
              <a:lnSpc>
                <a:spcPts val="2400"/>
              </a:lnSpc>
              <a:buFontTx/>
              <a:buNone/>
              <a:defRPr/>
            </a:pPr>
            <a:r>
              <a:rPr kumimoji="1" lang="en-US" altLang="zh-CN" b="1" i="1" dirty="0">
                <a:solidFill>
                  <a:prstClr val="black"/>
                </a:solidFill>
                <a:ea typeface="楷体_GB2312" pitchFamily="49" charset="-122"/>
                <a:cs typeface="Times New Roman" pitchFamily="18" charset="0"/>
              </a:rPr>
              <a:t>…</a:t>
            </a:r>
            <a:endParaRPr lang="en-US" altLang="zh-CN" b="1" i="1" dirty="0">
              <a:solidFill>
                <a:prstClr val="black"/>
              </a:solidFill>
            </a:endParaRPr>
          </a:p>
          <a:p>
            <a:pPr eaLnBrk="1" hangingPunct="1">
              <a:lnSpc>
                <a:spcPts val="2400"/>
              </a:lnSpc>
              <a:buFont typeface="Wingdings" pitchFamily="2" charset="2"/>
              <a:buChar char="Ø"/>
              <a:defRPr/>
            </a:pPr>
            <a:r>
              <a:rPr lang="en-US" altLang="zh-CN" sz="2000" b="1" dirty="0" err="1">
                <a:solidFill>
                  <a:prstClr val="black"/>
                </a:solidFill>
                <a:latin typeface="华文楷体" panose="02010600040101010101" pitchFamily="2" charset="-122"/>
                <a:cs typeface="Times New Roman" pitchFamily="18" charset="0"/>
              </a:rPr>
              <a:t>i</a:t>
            </a:r>
            <a:r>
              <a:rPr lang="en-US" altLang="zh-CN" sz="2000" b="1" dirty="0">
                <a:solidFill>
                  <a:prstClr val="black"/>
                </a:solidFill>
                <a:latin typeface="华文楷体" panose="02010600040101010101" pitchFamily="2" charset="-122"/>
                <a:cs typeface="Times New Roman" pitchFamily="18" charset="0"/>
              </a:rPr>
              <a:t>=</a:t>
            </a:r>
            <a:r>
              <a:rPr lang="en-US" altLang="zh-CN" sz="2000" b="1" dirty="0" err="1">
                <a:solidFill>
                  <a:prstClr val="black"/>
                </a:solidFill>
                <a:latin typeface="华文楷体" panose="02010600040101010101" pitchFamily="2" charset="-122"/>
                <a:cs typeface="Times New Roman" pitchFamily="18" charset="0"/>
              </a:rPr>
              <a:t>n,j</a:t>
            </a:r>
            <a:r>
              <a:rPr lang="en-US" altLang="zh-CN" sz="2000" b="1" dirty="0">
                <a:solidFill>
                  <a:prstClr val="black"/>
                </a:solidFill>
                <a:latin typeface="华文楷体" panose="02010600040101010101" pitchFamily="2" charset="-122"/>
                <a:cs typeface="Times New Roman" pitchFamily="18" charset="0"/>
              </a:rPr>
              <a:t>=1: i-1	</a:t>
            </a:r>
            <a:r>
              <a:rPr lang="en-US" altLang="zh-CN" sz="2000" b="1" i="1" dirty="0">
                <a:solidFill>
                  <a:prstClr val="black"/>
                </a:solidFill>
              </a:rPr>
              <a:t> A</a:t>
            </a:r>
            <a:r>
              <a:rPr lang="en-US" altLang="zh-CN" sz="2000" b="1" i="1" baseline="-25000" dirty="0">
                <a:solidFill>
                  <a:prstClr val="black"/>
                </a:solidFill>
              </a:rPr>
              <a:t>n</a:t>
            </a:r>
            <a:r>
              <a:rPr lang="en-US" altLang="zh-CN" sz="2000" b="1" i="1" dirty="0">
                <a:solidFill>
                  <a:prstClr val="black"/>
                </a:solidFill>
              </a:rPr>
              <a:t> → </a:t>
            </a:r>
            <a:r>
              <a:rPr lang="en-US" altLang="zh-CN" sz="2000" b="1" i="1" dirty="0" err="1">
                <a:solidFill>
                  <a:prstClr val="black"/>
                </a:solidFill>
              </a:rPr>
              <a:t>A</a:t>
            </a:r>
            <a:r>
              <a:rPr lang="en-US" altLang="zh-CN" sz="2000" b="1" i="1" baseline="-25000" dirty="0" err="1">
                <a:solidFill>
                  <a:prstClr val="black"/>
                </a:solidFill>
              </a:rPr>
              <a:t>k</a:t>
            </a:r>
            <a:r>
              <a:rPr lang="en-US" altLang="zh-CN" sz="2000" b="1" dirty="0">
                <a:solidFill>
                  <a:prstClr val="black"/>
                </a:solidFill>
                <a:ea typeface="楷体" panose="02010609060101010101" pitchFamily="49" charset="-122"/>
              </a:rPr>
              <a:t> </a:t>
            </a:r>
            <a:r>
              <a:rPr lang="el-GR" altLang="zh-CN" sz="2000" b="1" i="1" dirty="0">
                <a:solidFill>
                  <a:prstClr val="black"/>
                </a:solidFill>
              </a:rPr>
              <a:t>γ</a:t>
            </a:r>
            <a:r>
              <a:rPr kumimoji="1" lang="en-US" altLang="zh-CN" sz="2000" b="1" dirty="0">
                <a:solidFill>
                  <a:prstClr val="black"/>
                </a:solidFill>
                <a:ea typeface="楷体_GB2312" pitchFamily="49" charset="-122"/>
                <a:cs typeface="Times New Roman" pitchFamily="18" charset="0"/>
              </a:rPr>
              <a:t>(k</a:t>
            </a:r>
            <a:r>
              <a:rPr kumimoji="1" lang="zh-CN" altLang="en-US" sz="2000" b="1" dirty="0">
                <a:solidFill>
                  <a:prstClr val="black"/>
                </a:solidFill>
                <a:ea typeface="楷体_GB2312" pitchFamily="49" charset="-122"/>
                <a:cs typeface="Times New Roman" pitchFamily="18" charset="0"/>
              </a:rPr>
              <a:t> ≥ </a:t>
            </a:r>
            <a:r>
              <a:rPr kumimoji="1" lang="en-US" altLang="zh-CN" sz="2000" b="1" dirty="0">
                <a:solidFill>
                  <a:prstClr val="black"/>
                </a:solidFill>
                <a:ea typeface="楷体_GB2312" pitchFamily="49" charset="-122"/>
                <a:cs typeface="Times New Roman" pitchFamily="18" charset="0"/>
              </a:rPr>
              <a:t>n)</a:t>
            </a:r>
            <a:endParaRPr lang="en-US" altLang="zh-CN" sz="2000" b="1" i="1" dirty="0">
              <a:solidFill>
                <a:prstClr val="black"/>
              </a:solidFill>
            </a:endParaRPr>
          </a:p>
          <a:p>
            <a:pPr marL="0" indent="0" eaLnBrk="1" hangingPunct="1">
              <a:lnSpc>
                <a:spcPts val="2400"/>
              </a:lnSpc>
              <a:buFontTx/>
              <a:buNone/>
              <a:defRPr/>
            </a:pPr>
            <a:r>
              <a:rPr lang="en-US" altLang="zh-CN" sz="2000" b="1" i="1" dirty="0">
                <a:solidFill>
                  <a:prstClr val="black"/>
                </a:solidFill>
              </a:rPr>
              <a:t>		A</a:t>
            </a:r>
            <a:r>
              <a:rPr lang="en-US" altLang="zh-CN" sz="2000" b="1" i="1" baseline="-25000" dirty="0">
                <a:solidFill>
                  <a:prstClr val="black"/>
                </a:solidFill>
              </a:rPr>
              <a:t>n</a:t>
            </a:r>
            <a:r>
              <a:rPr lang="en-US" altLang="zh-CN" sz="2000" b="1" i="1" dirty="0">
                <a:solidFill>
                  <a:prstClr val="black"/>
                </a:solidFill>
              </a:rPr>
              <a:t> → A</a:t>
            </a:r>
            <a:r>
              <a:rPr lang="en-US" altLang="zh-CN" sz="2000" b="1" i="1" baseline="-25000" dirty="0">
                <a:solidFill>
                  <a:prstClr val="black"/>
                </a:solidFill>
              </a:rPr>
              <a:t>k</a:t>
            </a:r>
            <a:r>
              <a:rPr lang="en-US" altLang="zh-CN" sz="2000" b="1" i="1" dirty="0">
                <a:solidFill>
                  <a:prstClr val="black"/>
                </a:solidFill>
              </a:rPr>
              <a:t> </a:t>
            </a:r>
            <a:r>
              <a:rPr lang="el-GR" altLang="zh-CN" sz="2000" b="1" i="1" dirty="0">
                <a:solidFill>
                  <a:prstClr val="black"/>
                </a:solidFill>
              </a:rPr>
              <a:t>γ</a:t>
            </a:r>
            <a:r>
              <a:rPr kumimoji="1" lang="en-US" altLang="zh-CN" sz="2000" b="1" dirty="0">
                <a:solidFill>
                  <a:prstClr val="black"/>
                </a:solidFill>
                <a:ea typeface="楷体_GB2312" pitchFamily="49" charset="-122"/>
                <a:cs typeface="Times New Roman" pitchFamily="18" charset="0"/>
              </a:rPr>
              <a:t> ′(k</a:t>
            </a:r>
            <a:r>
              <a:rPr kumimoji="1" lang="zh-CN" altLang="en-US" sz="2000" b="1" dirty="0">
                <a:solidFill>
                  <a:prstClr val="black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1" lang="en-US" altLang="zh-CN" sz="2000" b="1" dirty="0">
                <a:solidFill>
                  <a:prstClr val="black"/>
                </a:solidFill>
                <a:ea typeface="楷体_GB2312" pitchFamily="49" charset="-122"/>
                <a:cs typeface="Times New Roman" pitchFamily="18" charset="0"/>
              </a:rPr>
              <a:t>&gt;n)</a:t>
            </a:r>
          </a:p>
          <a:p>
            <a:pPr eaLnBrk="1" hangingPunct="1">
              <a:lnSpc>
                <a:spcPts val="2400"/>
              </a:lnSpc>
              <a:buFont typeface="Wingdings" pitchFamily="2" charset="2"/>
              <a:buChar char="Ø"/>
              <a:defRPr/>
            </a:pPr>
            <a:endParaRPr lang="en-US" altLang="zh-CN" sz="2000" b="1" i="1" dirty="0">
              <a:solidFill>
                <a:prstClr val="black"/>
              </a:solidFill>
            </a:endParaRPr>
          </a:p>
          <a:p>
            <a:pPr marL="0" lvl="4" indent="0" eaLnBrk="1" hangingPunct="1">
              <a:lnSpc>
                <a:spcPts val="2400"/>
              </a:lnSpc>
              <a:buFontTx/>
              <a:buNone/>
              <a:defRPr/>
            </a:pPr>
            <a:r>
              <a:rPr lang="en-US" altLang="zh-CN" b="1" i="1" dirty="0">
                <a:solidFill>
                  <a:prstClr val="black"/>
                </a:solidFill>
              </a:rPr>
              <a:t>		</a:t>
            </a:r>
            <a:endParaRPr lang="zh-CN" altLang="en-US" dirty="0"/>
          </a:p>
        </p:txBody>
      </p:sp>
      <p:sp>
        <p:nvSpPr>
          <p:cNvPr id="49155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F9C11BE-3D68-4798-96F2-2F7B10D0F288}" type="slidenum">
              <a:rPr lang="zh-CN" altLang="en-US" sz="140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zh-CN" sz="14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4"/>
          <p:cNvSpPr>
            <a:spLocks/>
          </p:cNvSpPr>
          <p:nvPr/>
        </p:nvSpPr>
        <p:spPr bwMode="auto">
          <a:xfrm>
            <a:off x="4510088" y="4471988"/>
            <a:ext cx="2714625" cy="412750"/>
          </a:xfrm>
          <a:prstGeom prst="borderCallout2">
            <a:avLst>
              <a:gd name="adj1" fmla="val 48542"/>
              <a:gd name="adj2" fmla="val -1053"/>
              <a:gd name="adj3" fmla="val 48700"/>
              <a:gd name="adj4" fmla="val -7649"/>
              <a:gd name="adj5" fmla="val -25800"/>
              <a:gd name="adj6" fmla="val -26993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2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_</a:t>
            </a:r>
            <a:r>
              <a:rPr lang="zh-CN" altLang="en-US" sz="22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文法</a:t>
            </a:r>
            <a:r>
              <a:rPr lang="zh-CN" altLang="en-US" sz="2200" b="1" dirty="0">
                <a:solidFill>
                  <a:srgbClr val="3333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不含</a:t>
            </a:r>
            <a:r>
              <a:rPr lang="el-GR" altLang="zh-CN" sz="2200" b="1" i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  <a:r>
              <a:rPr lang="zh-CN" altLang="en-US" sz="2200" b="1" dirty="0">
                <a:solidFill>
                  <a:srgbClr val="3333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产生式</a:t>
            </a:r>
          </a:p>
          <a:p>
            <a:pPr algn="ctr" eaLnBrk="1" hangingPunct="1">
              <a:defRPr/>
            </a:pPr>
            <a:endParaRPr lang="zh-CN" altLang="en-US" sz="220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6386" name="Rectangle 3"/>
          <p:cNvSpPr>
            <a:spLocks noGrp="1" noChangeArrowheads="1"/>
          </p:cNvSpPr>
          <p:nvPr>
            <p:ph idx="1"/>
          </p:nvPr>
        </p:nvSpPr>
        <p:spPr>
          <a:xfrm>
            <a:off x="214313" y="930275"/>
            <a:ext cx="8720137" cy="3225800"/>
          </a:xfrm>
        </p:spPr>
        <p:txBody>
          <a:bodyPr/>
          <a:lstStyle/>
          <a:p>
            <a:pPr eaLnBrk="1" hangingPunct="1">
              <a:lnSpc>
                <a:spcPts val="32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预测分析法的工作过程</a:t>
            </a:r>
            <a:endParaRPr lang="en-US" altLang="zh-CN" sz="2500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lvl="1" eaLnBrk="1" hangingPunct="1">
              <a:lnSpc>
                <a:spcPts val="32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从文法开始符号出发，在每一步推导过程中根据当前句型的最左非终结符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和当前输入符号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，选择正确的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-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产生式。为保证分析的确定性，选出的候选式必须是唯一的。</a:t>
            </a:r>
            <a:endParaRPr lang="en-US" altLang="zh-CN" sz="2500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eaLnBrk="1" hangingPunct="1">
              <a:lnSpc>
                <a:spcPts val="32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S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_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文法（简单的确定性文法，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itchFamily="18" charset="0"/>
              </a:rPr>
              <a:t>Korenjak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 &amp; 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itchFamily="18" charset="0"/>
              </a:rPr>
              <a:t>Hopcroft</a:t>
            </a:r>
            <a:r>
              <a:rPr lang="zh-CN" altLang="en-US" sz="2500" b="1" i="1" dirty="0">
                <a:solidFill>
                  <a:schemeClr val="tx1"/>
                </a:solidFill>
                <a:cs typeface="Times New Roman" pitchFamily="18" charset="0"/>
              </a:rPr>
              <a:t>，</a:t>
            </a:r>
            <a:r>
              <a:rPr lang="en-US" altLang="zh-CN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1966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）</a:t>
            </a:r>
            <a:endParaRPr lang="en-US" altLang="zh-CN" sz="2500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lvl="1" eaLnBrk="1" hangingPunct="1">
              <a:lnSpc>
                <a:spcPts val="3200"/>
              </a:lnSpc>
              <a:defRPr/>
            </a:pPr>
            <a:endParaRPr lang="en-US" altLang="zh-CN" sz="2000" dirty="0">
              <a:cs typeface="Times New Roman" pitchFamily="18" charset="0"/>
            </a:endParaRPr>
          </a:p>
        </p:txBody>
      </p:sp>
      <p:sp>
        <p:nvSpPr>
          <p:cNvPr id="36867" name="Rectangle 4"/>
          <p:cNvSpPr>
            <a:spLocks noGrp="1" noChangeArrowheads="1"/>
          </p:cNvSpPr>
          <p:nvPr>
            <p:ph type="title"/>
          </p:nvPr>
        </p:nvSpPr>
        <p:spPr>
          <a:xfrm>
            <a:off x="684213" y="39688"/>
            <a:ext cx="7931150" cy="3714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3. LL(1)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文法</a:t>
            </a:r>
          </a:p>
        </p:txBody>
      </p:sp>
      <p:sp>
        <p:nvSpPr>
          <p:cNvPr id="3" name="云形标注 2"/>
          <p:cNvSpPr/>
          <p:nvPr/>
        </p:nvSpPr>
        <p:spPr>
          <a:xfrm>
            <a:off x="3249613" y="157163"/>
            <a:ext cx="5645150" cy="1046162"/>
          </a:xfrm>
          <a:prstGeom prst="cloudCallout">
            <a:avLst>
              <a:gd name="adj1" fmla="val -38335"/>
              <a:gd name="adj2" fmla="val 65851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sz="22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假如允许</a:t>
            </a:r>
            <a:r>
              <a:rPr lang="en-US" altLang="zh-CN" sz="22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CN" sz="22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_</a:t>
            </a:r>
            <a:r>
              <a:rPr lang="zh-CN" altLang="en-US" sz="22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文法</a:t>
            </a:r>
            <a:r>
              <a:rPr lang="zh-CN" altLang="en-US" sz="2200" b="1" dirty="0">
                <a:solidFill>
                  <a:srgbClr val="3333FF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包含</a:t>
            </a:r>
            <a:r>
              <a:rPr lang="el-GR" altLang="zh-CN" sz="2200" b="1" i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ε</a:t>
            </a:r>
            <a:r>
              <a:rPr lang="zh-CN" altLang="en-US" sz="2200" b="1" dirty="0">
                <a:solidFill>
                  <a:srgbClr val="3333FF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产生式</a:t>
            </a:r>
            <a:r>
              <a:rPr lang="zh-CN" altLang="en-US" sz="22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，将会产生什么问题？</a:t>
            </a:r>
          </a:p>
        </p:txBody>
      </p:sp>
      <p:sp>
        <p:nvSpPr>
          <p:cNvPr id="7" name="矩形 6"/>
          <p:cNvSpPr/>
          <p:nvPr/>
        </p:nvSpPr>
        <p:spPr>
          <a:xfrm>
            <a:off x="844550" y="3262313"/>
            <a:ext cx="6299200" cy="4619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b="1" dirty="0">
                <a:latin typeface="+mn-ea"/>
                <a:ea typeface="+mn-ea"/>
              </a:rPr>
              <a:t>每个产生式的右部都以</a:t>
            </a:r>
            <a:r>
              <a:rPr lang="zh-CN" altLang="en-US" sz="2400" b="1" dirty="0">
                <a:solidFill>
                  <a:srgbClr val="3333FF"/>
                </a:solidFill>
                <a:latin typeface="+mn-ea"/>
                <a:ea typeface="+mn-ea"/>
              </a:rPr>
              <a:t>终结符</a:t>
            </a:r>
            <a:r>
              <a:rPr lang="zh-CN" altLang="en-US" sz="2400" b="1" dirty="0">
                <a:latin typeface="+mn-ea"/>
                <a:ea typeface="+mn-ea"/>
              </a:rPr>
              <a:t>开始</a:t>
            </a:r>
          </a:p>
        </p:txBody>
      </p:sp>
      <p:sp>
        <p:nvSpPr>
          <p:cNvPr id="8" name="矩形 7"/>
          <p:cNvSpPr/>
          <p:nvPr/>
        </p:nvSpPr>
        <p:spPr>
          <a:xfrm>
            <a:off x="827088" y="3765550"/>
            <a:ext cx="6316662" cy="4619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b="1" dirty="0">
                <a:latin typeface="+mn-ea"/>
                <a:ea typeface="+mn-ea"/>
              </a:rPr>
              <a:t>同一非终结符的各个候选式的</a:t>
            </a:r>
            <a:r>
              <a:rPr lang="zh-CN" altLang="en-US" sz="2400" b="1" dirty="0">
                <a:solidFill>
                  <a:srgbClr val="3333FF"/>
                </a:solidFill>
                <a:latin typeface="+mn-ea"/>
                <a:ea typeface="+mn-ea"/>
              </a:rPr>
              <a:t>首终结符</a:t>
            </a:r>
            <a:r>
              <a:rPr lang="zh-CN" altLang="en-US" sz="2400" b="1" dirty="0">
                <a:latin typeface="+mn-ea"/>
                <a:ea typeface="+mn-ea"/>
              </a:rPr>
              <a:t>都不同</a:t>
            </a:r>
          </a:p>
        </p:txBody>
      </p:sp>
      <p:sp>
        <p:nvSpPr>
          <p:cNvPr id="55304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DD55A68-8ED2-4FDF-B2CF-5A2BABD8A34F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36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  <p:sp>
        <p:nvSpPr>
          <p:cNvPr id="9" name="Rectangle 4"/>
          <p:cNvSpPr txBox="1">
            <a:spLocks noChangeArrowheads="1"/>
          </p:cNvSpPr>
          <p:nvPr/>
        </p:nvSpPr>
        <p:spPr bwMode="auto">
          <a:xfrm>
            <a:off x="684213" y="411163"/>
            <a:ext cx="7931150" cy="69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 baseline="0">
                <a:solidFill>
                  <a:srgbClr val="FFFF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eaLnBrk="1" hangingPunct="1">
              <a:defRPr/>
            </a:pP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S_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文法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6867" grpId="0"/>
      <p:bldP spid="3" grpId="0" animBg="1"/>
      <p:bldP spid="7" grpId="0" animBg="1"/>
      <p:bldP spid="8" grpId="0" animBg="1"/>
      <p:bldP spid="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3754438" y="1379538"/>
            <a:ext cx="4103687" cy="16208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33796" name="Rectangle 4"/>
          <p:cNvSpPr>
            <a:spLocks noGrp="1" noChangeArrowheads="1"/>
          </p:cNvSpPr>
          <p:nvPr>
            <p:ph sz="half" idx="4294967295"/>
          </p:nvPr>
        </p:nvSpPr>
        <p:spPr>
          <a:xfrm>
            <a:off x="3754438" y="714375"/>
            <a:ext cx="4103687" cy="665163"/>
          </a:xfr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/>
          <a:lstStyle/>
          <a:p>
            <a:pPr eaLnBrk="1" hangingPunct="1"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输入</a:t>
            </a:r>
            <a:r>
              <a:rPr lang="en-US" altLang="zh-CN" dirty="0">
                <a:latin typeface="Times New Roman" pitchFamily="18" charset="0"/>
                <a:ea typeface="楷体_GB2312"/>
                <a:cs typeface="Times New Roman" pitchFamily="18" charset="0"/>
              </a:rPr>
              <a:t>	    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a d a</a:t>
            </a:r>
          </a:p>
          <a:p>
            <a:pPr eaLnBrk="1" hangingPunct="1">
              <a:defRPr/>
            </a:pPr>
            <a:endParaRPr lang="en-US" altLang="zh-CN" dirty="0">
              <a:latin typeface="Times New Roman" pitchFamily="18" charset="0"/>
              <a:ea typeface="楷体_GB2312"/>
              <a:cs typeface="Times New Roman" pitchFamily="18" charset="0"/>
            </a:endParaRPr>
          </a:p>
          <a:p>
            <a:pPr eaLnBrk="1" hangingPunct="1"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推导</a:t>
            </a:r>
            <a:endParaRPr lang="en-US" altLang="zh-CN" sz="2500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eaLnBrk="1" hangingPunct="1">
              <a:defRPr/>
            </a:pPr>
            <a:endParaRPr lang="zh-CN" altLang="en-US" i="1" dirty="0">
              <a:latin typeface="Times New Roman" pitchFamily="18" charset="0"/>
              <a:ea typeface="楷体_GB2312"/>
              <a:cs typeface="Times New Roman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42963" y="714375"/>
            <a:ext cx="2928937" cy="2286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710659" name="Rectangle 3"/>
          <p:cNvSpPr>
            <a:spLocks noGrp="1" noChangeArrowheads="1"/>
          </p:cNvSpPr>
          <p:nvPr>
            <p:ph idx="1"/>
          </p:nvPr>
        </p:nvSpPr>
        <p:spPr>
          <a:xfrm>
            <a:off x="785813" y="714375"/>
            <a:ext cx="7643812" cy="3225800"/>
          </a:xfrm>
        </p:spPr>
        <p:txBody>
          <a:bodyPr/>
          <a:lstStyle/>
          <a:p>
            <a:pPr eaLnBrk="1" hangingPunct="1"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文法</a:t>
            </a:r>
            <a:endParaRPr lang="en-US" altLang="zh-CN" sz="2500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eaLnBrk="1" hangingPunct="1">
              <a:buFont typeface="Symbol" panose="05050102010706020507" pitchFamily="18" charset="2"/>
              <a:buNone/>
              <a:defRPr/>
            </a:pPr>
            <a:endParaRPr lang="en-US" altLang="zh-CN" b="1" dirty="0">
              <a:ea typeface="楷体" pitchFamily="49" charset="-122"/>
              <a:cs typeface="Times New Roman" pitchFamily="18" charset="0"/>
            </a:endParaRPr>
          </a:p>
          <a:p>
            <a:pPr eaLnBrk="1" hangingPunct="1">
              <a:buFont typeface="Symbol" panose="05050102010706020507" pitchFamily="18" charset="2"/>
              <a:buNone/>
              <a:defRPr/>
            </a:pPr>
            <a:endParaRPr lang="en-US" altLang="zh-CN" b="1" dirty="0">
              <a:ea typeface="楷体" pitchFamily="49" charset="-122"/>
              <a:cs typeface="Times New Roman" pitchFamily="18" charset="0"/>
            </a:endParaRPr>
          </a:p>
          <a:p>
            <a:pPr eaLnBrk="1" hangingPunct="1">
              <a:lnSpc>
                <a:spcPts val="3500"/>
              </a:lnSpc>
              <a:defRPr/>
            </a:pPr>
            <a:endParaRPr lang="en-US" altLang="zh-CN" b="1" dirty="0">
              <a:ea typeface="楷体" pitchFamily="49" charset="-122"/>
              <a:cs typeface="Times New Roman" pitchFamily="18" charset="0"/>
            </a:endParaRPr>
          </a:p>
          <a:p>
            <a:pPr eaLnBrk="1" hangingPunct="1">
              <a:lnSpc>
                <a:spcPts val="3000"/>
              </a:lnSpc>
              <a:defRPr/>
            </a:pPr>
            <a:endParaRPr lang="en-US" altLang="zh-CN" b="1" dirty="0">
              <a:ea typeface="楷体" pitchFamily="49" charset="-122"/>
              <a:cs typeface="Times New Roman" pitchFamily="18" charset="0"/>
            </a:endParaRPr>
          </a:p>
          <a:p>
            <a:pPr eaLnBrk="1" hangingPunct="1">
              <a:lnSpc>
                <a:spcPts val="3000"/>
              </a:lnSpc>
              <a:buClrTx/>
              <a:buFont typeface="Wingdings" pitchFamily="2" charset="2"/>
              <a:buChar char="Ø"/>
              <a:defRPr/>
            </a:pPr>
            <a:endParaRPr lang="en-US" altLang="zh-CN" sz="600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eaLnBrk="1" hangingPunct="1">
              <a:lnSpc>
                <a:spcPts val="28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什么时候使用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ε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产生式是有效的呢？</a:t>
            </a:r>
            <a:endParaRPr lang="en-US" altLang="zh-CN" sz="2500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lvl="1" eaLnBrk="1" hangingPunct="1">
              <a:lnSpc>
                <a:spcPts val="28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如果当前某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cs typeface="Times New Roman" pitchFamily="18" charset="0"/>
              </a:rPr>
              <a:t>非终结符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A</a:t>
            </a:r>
            <a:r>
              <a:rPr lang="zh-CN" altLang="en-US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与当前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cs typeface="Times New Roman" pitchFamily="18" charset="0"/>
              </a:rPr>
              <a:t>输入符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a</a:t>
            </a:r>
            <a:r>
              <a:rPr lang="zh-CN" altLang="en-US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不匹配时，若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cs typeface="Times New Roman" pitchFamily="18" charset="0"/>
              </a:rPr>
              <a:t>存在</a:t>
            </a:r>
            <a:r>
              <a:rPr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A</a:t>
            </a:r>
            <a:r>
              <a:rPr lang="en-US" altLang="zh-CN" b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→</a:t>
            </a:r>
            <a:r>
              <a:rPr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ε</a:t>
            </a:r>
            <a:r>
              <a:rPr lang="zh-CN" altLang="en-US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，可以通过检查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zh-CN" altLang="en-US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是否可以出现在 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A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cs typeface="Times New Roman" pitchFamily="18" charset="0"/>
              </a:rPr>
              <a:t>的后面</a:t>
            </a:r>
            <a:r>
              <a:rPr lang="zh-CN" altLang="en-US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，来决定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cs typeface="Times New Roman" pitchFamily="18" charset="0"/>
              </a:rPr>
              <a:t>是否使用产生式 </a:t>
            </a:r>
            <a:r>
              <a:rPr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A</a:t>
            </a:r>
            <a:r>
              <a:rPr lang="en-US" altLang="zh-CN" b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→</a:t>
            </a:r>
            <a:r>
              <a:rPr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ε</a:t>
            </a:r>
            <a:r>
              <a:rPr lang="zh-CN" altLang="en-US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（若文法中无 </a:t>
            </a:r>
            <a:r>
              <a:rPr lang="en-US" altLang="zh-CN" b="1" i="1" dirty="0" err="1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altLang="zh-CN" b="1" dirty="0" err="1">
                <a:solidFill>
                  <a:schemeClr val="tx1"/>
                </a:solidFill>
                <a:cs typeface="Times New Roman" pitchFamily="18" charset="0"/>
              </a:rPr>
              <a:t>→</a:t>
            </a:r>
            <a:r>
              <a:rPr lang="en-US" altLang="zh-CN" b="1" i="1" dirty="0" err="1">
                <a:solidFill>
                  <a:schemeClr val="tx1"/>
                </a:solidFill>
                <a:cs typeface="Times New Roman" pitchFamily="18" charset="0"/>
              </a:rPr>
              <a:t>ε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，则应报错）</a:t>
            </a:r>
          </a:p>
        </p:txBody>
      </p:sp>
      <p:sp>
        <p:nvSpPr>
          <p:cNvPr id="5735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</a:p>
        </p:txBody>
      </p:sp>
      <p:sp>
        <p:nvSpPr>
          <p:cNvPr id="710663" name="Line 7"/>
          <p:cNvSpPr>
            <a:spLocks noChangeShapeType="1"/>
          </p:cNvSpPr>
          <p:nvPr/>
        </p:nvSpPr>
        <p:spPr bwMode="auto">
          <a:xfrm flipV="1">
            <a:off x="5122863" y="1108075"/>
            <a:ext cx="0" cy="163513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0664" name="Line 8"/>
          <p:cNvSpPr>
            <a:spLocks noChangeShapeType="1"/>
          </p:cNvSpPr>
          <p:nvPr/>
        </p:nvSpPr>
        <p:spPr bwMode="auto">
          <a:xfrm flipV="1">
            <a:off x="5338763" y="1108075"/>
            <a:ext cx="0" cy="161925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0665" name="Line 9"/>
          <p:cNvSpPr>
            <a:spLocks noChangeShapeType="1"/>
          </p:cNvSpPr>
          <p:nvPr/>
        </p:nvSpPr>
        <p:spPr bwMode="auto">
          <a:xfrm flipV="1">
            <a:off x="5572125" y="1108075"/>
            <a:ext cx="0" cy="161925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54" name="矩形 2"/>
          <p:cNvSpPr>
            <a:spLocks noChangeArrowheads="1"/>
          </p:cNvSpPr>
          <p:nvPr/>
        </p:nvSpPr>
        <p:spPr bwMode="auto">
          <a:xfrm>
            <a:off x="1825625" y="714375"/>
            <a:ext cx="1728788" cy="2316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buFont typeface="宋体" panose="02010600030101010101" pitchFamily="2" charset="-122"/>
              <a:buAutoNum type="circleNumDbPlain"/>
            </a:pPr>
            <a:r>
              <a:rPr lang="en-US" altLang="zh-CN" sz="20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000" b="1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 → aBC</a:t>
            </a:r>
          </a:p>
          <a:p>
            <a:pPr eaLnBrk="1" hangingPunct="1">
              <a:lnSpc>
                <a:spcPts val="2500"/>
              </a:lnSpc>
              <a:buFont typeface="宋体" panose="02010600030101010101" pitchFamily="2" charset="-122"/>
              <a:buAutoNum type="circleNumDbPlain"/>
            </a:pPr>
            <a:r>
              <a:rPr lang="en-US" altLang="zh-CN" sz="20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000" b="1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 → bC  </a:t>
            </a:r>
          </a:p>
          <a:p>
            <a:pPr eaLnBrk="1" hangingPunct="1">
              <a:lnSpc>
                <a:spcPts val="2500"/>
              </a:lnSpc>
              <a:buFont typeface="宋体" panose="02010600030101010101" pitchFamily="2" charset="-122"/>
              <a:buAutoNum type="circleNumDbPlain"/>
            </a:pPr>
            <a:r>
              <a:rPr lang="en-US" altLang="zh-CN" sz="20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000" b="1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 → dB </a:t>
            </a:r>
          </a:p>
          <a:p>
            <a:pPr eaLnBrk="1" hangingPunct="1">
              <a:lnSpc>
                <a:spcPts val="2500"/>
              </a:lnSpc>
              <a:buFont typeface="宋体" panose="02010600030101010101" pitchFamily="2" charset="-122"/>
              <a:buAutoNum type="circleNumDbPlain"/>
            </a:pPr>
            <a:r>
              <a:rPr lang="en-US" altLang="zh-CN" sz="20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000" b="1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 → </a:t>
            </a:r>
            <a:r>
              <a:rPr lang="en-US" altLang="zh-CN" sz="2000" b="1" i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ε</a:t>
            </a:r>
            <a:r>
              <a:rPr lang="en-US" altLang="zh-CN" sz="2000" b="1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</a:t>
            </a:r>
          </a:p>
          <a:p>
            <a:pPr eaLnBrk="1" hangingPunct="1">
              <a:lnSpc>
                <a:spcPts val="2500"/>
              </a:lnSpc>
              <a:buFont typeface="宋体" panose="02010600030101010101" pitchFamily="2" charset="-122"/>
              <a:buAutoNum type="circleNumDbPlain"/>
            </a:pPr>
            <a:r>
              <a:rPr lang="en-US" altLang="zh-CN" sz="20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000" b="1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C → c</a:t>
            </a:r>
          </a:p>
          <a:p>
            <a:pPr eaLnBrk="1" hangingPunct="1">
              <a:lnSpc>
                <a:spcPts val="2500"/>
              </a:lnSpc>
              <a:buFont typeface="宋体" panose="02010600030101010101" pitchFamily="2" charset="-122"/>
              <a:buAutoNum type="circleNumDbPlain"/>
            </a:pPr>
            <a:r>
              <a:rPr lang="en-US" altLang="zh-CN" sz="20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000" b="1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C → a</a:t>
            </a:r>
          </a:p>
          <a:p>
            <a:pPr eaLnBrk="1" hangingPunct="1">
              <a:lnSpc>
                <a:spcPts val="2500"/>
              </a:lnSpc>
              <a:buFont typeface="宋体" panose="02010600030101010101" pitchFamily="2" charset="-122"/>
              <a:buAutoNum type="circleNumDbPlain"/>
            </a:pPr>
            <a:r>
              <a:rPr lang="en-US" altLang="zh-CN" sz="20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000" b="1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D → e</a:t>
            </a:r>
          </a:p>
        </p:txBody>
      </p:sp>
      <p:sp>
        <p:nvSpPr>
          <p:cNvPr id="13" name="Rectangle 4"/>
          <p:cNvSpPr txBox="1">
            <a:spLocks noChangeArrowheads="1"/>
          </p:cNvSpPr>
          <p:nvPr/>
        </p:nvSpPr>
        <p:spPr bwMode="auto">
          <a:xfrm>
            <a:off x="4929188" y="1400175"/>
            <a:ext cx="1727200" cy="1243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i="1">
                <a:latin typeface="Times New Roman" panose="02020603050405020304" pitchFamily="18" charset="0"/>
              </a:rPr>
              <a:t>     </a:t>
            </a:r>
            <a:r>
              <a:rPr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  <a:p>
            <a:pPr>
              <a:lnSpc>
                <a:spcPts val="2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aBC</a:t>
            </a:r>
          </a:p>
          <a:p>
            <a:pPr>
              <a:lnSpc>
                <a:spcPts val="2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adBC</a:t>
            </a:r>
          </a:p>
          <a:p>
            <a:pPr>
              <a:lnSpc>
                <a:spcPts val="2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adC</a:t>
            </a:r>
          </a:p>
          <a:p>
            <a:pPr>
              <a:lnSpc>
                <a:spcPts val="2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ada</a:t>
            </a:r>
            <a:endParaRPr lang="zh-CN" altLang="en-US" sz="2000" b="1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6508750" y="714375"/>
            <a:ext cx="808038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en-US" altLang="zh-CN" sz="2500" b="1" i="1">
                <a:latin typeface="Times New Roman" panose="02020603050405020304" pitchFamily="18" charset="0"/>
              </a:rPr>
              <a:t>a d e</a:t>
            </a:r>
            <a:endParaRPr lang="zh-CN" altLang="en-US" sz="2500" b="1" i="1">
              <a:latin typeface="Times New Roman" panose="02020603050405020304" pitchFamily="18" charset="0"/>
            </a:endParaRPr>
          </a:p>
        </p:txBody>
      </p:sp>
      <p:sp>
        <p:nvSpPr>
          <p:cNvPr id="19" name="Line 7"/>
          <p:cNvSpPr>
            <a:spLocks noChangeShapeType="1"/>
          </p:cNvSpPr>
          <p:nvPr/>
        </p:nvSpPr>
        <p:spPr bwMode="auto">
          <a:xfrm flipV="1">
            <a:off x="6683375" y="1125538"/>
            <a:ext cx="0" cy="163512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8"/>
          <p:cNvSpPr>
            <a:spLocks noChangeShapeType="1"/>
          </p:cNvSpPr>
          <p:nvPr/>
        </p:nvSpPr>
        <p:spPr bwMode="auto">
          <a:xfrm flipV="1">
            <a:off x="6899275" y="1127125"/>
            <a:ext cx="0" cy="161925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Line 9"/>
          <p:cNvSpPr>
            <a:spLocks noChangeShapeType="1"/>
          </p:cNvSpPr>
          <p:nvPr/>
        </p:nvSpPr>
        <p:spPr bwMode="auto">
          <a:xfrm flipV="1">
            <a:off x="7143750" y="1127125"/>
            <a:ext cx="0" cy="161925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Rectangle 4"/>
          <p:cNvSpPr txBox="1">
            <a:spLocks noChangeArrowheads="1"/>
          </p:cNvSpPr>
          <p:nvPr/>
        </p:nvSpPr>
        <p:spPr bwMode="auto">
          <a:xfrm>
            <a:off x="6489700" y="1400175"/>
            <a:ext cx="1154113" cy="1243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i="1">
                <a:latin typeface="Times New Roman" panose="02020603050405020304" pitchFamily="18" charset="0"/>
              </a:rPr>
              <a:t>     </a:t>
            </a:r>
            <a:r>
              <a:rPr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  <a:p>
            <a:pPr>
              <a:lnSpc>
                <a:spcPts val="2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aBC</a:t>
            </a:r>
          </a:p>
          <a:p>
            <a:pPr>
              <a:lnSpc>
                <a:spcPts val="2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adBC</a:t>
            </a:r>
          </a:p>
          <a:p>
            <a:pPr>
              <a:lnSpc>
                <a:spcPts val="2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adC</a:t>
            </a:r>
          </a:p>
        </p:txBody>
      </p:sp>
      <p:sp>
        <p:nvSpPr>
          <p:cNvPr id="18" name="矩形 17"/>
          <p:cNvSpPr/>
          <p:nvPr/>
        </p:nvSpPr>
        <p:spPr>
          <a:xfrm>
            <a:off x="827088" y="3081338"/>
            <a:ext cx="3835400" cy="3492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>
              <a:lnSpc>
                <a:spcPts val="2000"/>
              </a:lnSpc>
              <a:defRPr/>
            </a:pPr>
            <a:r>
              <a:rPr lang="zh-CN" altLang="en-US" b="1" dirty="0">
                <a:solidFill>
                  <a:srgbClr val="000000"/>
                </a:solidFill>
                <a:latin typeface="+mn-ea"/>
                <a:ea typeface="+mn-ea"/>
              </a:rPr>
              <a:t>可以紧跟 </a:t>
            </a:r>
            <a:r>
              <a:rPr lang="en-US" altLang="zh-CN" b="1" i="1" dirty="0">
                <a:solidFill>
                  <a:srgbClr val="000000"/>
                </a:solidFill>
                <a:latin typeface="+mn-ea"/>
                <a:ea typeface="+mn-ea"/>
              </a:rPr>
              <a:t>B</a:t>
            </a:r>
            <a:r>
              <a:rPr lang="zh-CN" altLang="en-US" b="1" dirty="0">
                <a:solidFill>
                  <a:srgbClr val="000000"/>
                </a:solidFill>
                <a:latin typeface="+mn-ea"/>
                <a:ea typeface="+mn-ea"/>
              </a:rPr>
              <a:t>后面出现的终结符：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endParaRPr lang="zh-CN" altLang="en-US" sz="2800" b="1" i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7362" name="灯片编号占位符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0BCE5A3-87DC-4EC8-BA42-DD10A68D347B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37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79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79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79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3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3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3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106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106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10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37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37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7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106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7106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10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7106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7106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10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71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71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71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71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71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71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33796" grpId="0" build="p" animBg="1"/>
      <p:bldP spid="710663" grpId="0" animBg="1"/>
      <p:bldP spid="710664" grpId="0" animBg="1"/>
      <p:bldP spid="710665" grpId="0" animBg="1"/>
      <p:bldP spid="4" grpId="0"/>
      <p:bldP spid="19" grpId="0" animBg="1"/>
      <p:bldP spid="20" grpId="0" animBg="1"/>
      <p:bldP spid="21" grpId="0" animBg="1"/>
      <p:bldP spid="1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584200"/>
            <a:ext cx="8543925" cy="3284538"/>
          </a:xfrm>
        </p:spPr>
        <p:txBody>
          <a:bodyPr/>
          <a:lstStyle/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非终结符</a:t>
            </a:r>
            <a:r>
              <a:rPr lang="en-US" altLang="zh-CN" sz="2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的后继符号集</a:t>
            </a:r>
            <a:endParaRPr lang="en-US" altLang="zh-CN" sz="28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000000"/>
                </a:solidFill>
                <a:cs typeface="Times New Roman" panose="02020603050405020304" pitchFamily="18" charset="0"/>
              </a:rPr>
              <a:t>可能在某个句型中紧跟在</a:t>
            </a:r>
            <a:r>
              <a:rPr lang="en-US" altLang="zh-CN" sz="2000" b="1" dirty="0">
                <a:solidFill>
                  <a:srgbClr val="000000"/>
                </a:solidFill>
                <a:cs typeface="Times New Roman" panose="02020603050405020304" pitchFamily="18" charset="0"/>
              </a:rPr>
              <a:t>A</a:t>
            </a:r>
            <a:r>
              <a:rPr lang="zh-CN" altLang="en-US" sz="2000" b="1" dirty="0">
                <a:solidFill>
                  <a:srgbClr val="000000"/>
                </a:solidFill>
                <a:cs typeface="Times New Roman" panose="02020603050405020304" pitchFamily="18" charset="0"/>
              </a:rPr>
              <a:t>后边的终结符</a:t>
            </a:r>
            <a:r>
              <a:rPr lang="en-US" altLang="zh-CN" sz="2000" b="1" dirty="0">
                <a:solidFill>
                  <a:srgbClr val="000000"/>
                </a:solidFill>
                <a:cs typeface="Times New Roman" panose="02020603050405020304" pitchFamily="18" charset="0"/>
              </a:rPr>
              <a:t>a</a:t>
            </a:r>
            <a:r>
              <a:rPr lang="zh-CN" altLang="en-US" sz="2000" b="1" dirty="0">
                <a:solidFill>
                  <a:srgbClr val="000000"/>
                </a:solidFill>
                <a:cs typeface="Times New Roman" panose="02020603050405020304" pitchFamily="18" charset="0"/>
              </a:rPr>
              <a:t>的集合，记为</a:t>
            </a:r>
            <a:r>
              <a:rPr lang="en-US" altLang="zh-CN" sz="2000" b="1" i="1" dirty="0">
                <a:solidFill>
                  <a:srgbClr val="2D83F4"/>
                </a:solidFill>
                <a:cs typeface="Times New Roman" panose="02020603050405020304" pitchFamily="18" charset="0"/>
              </a:rPr>
              <a:t>FOLLOW</a:t>
            </a:r>
            <a:r>
              <a:rPr lang="en-US" altLang="zh-CN" sz="2000" b="1" dirty="0">
                <a:solidFill>
                  <a:srgbClr val="2D83F4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000" b="1" i="1" dirty="0">
                <a:solidFill>
                  <a:srgbClr val="2D83F4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000" b="1" dirty="0">
                <a:solidFill>
                  <a:srgbClr val="2D83F4"/>
                </a:solidFill>
                <a:cs typeface="Times New Roman" panose="02020603050405020304" pitchFamily="18" charset="0"/>
              </a:rPr>
              <a:t>)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Font typeface="Symbol" panose="05050102010706020507" pitchFamily="18" charset="2"/>
              <a:buNone/>
            </a:pPr>
            <a:r>
              <a:rPr lang="en-US" altLang="zh-CN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	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FOLLOW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)={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|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S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000" b="1" baseline="300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*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αA</a:t>
            </a:r>
            <a:r>
              <a:rPr lang="en-US" altLang="zh-CN" sz="2000" b="1" i="1" dirty="0">
                <a:solidFill>
                  <a:srgbClr val="2D83F4"/>
                </a:solidFill>
                <a:ea typeface="楷体_GB2312"/>
                <a:cs typeface="Times New Roman" panose="02020603050405020304" pitchFamily="18" charset="0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β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, </a:t>
            </a:r>
            <a:r>
              <a:rPr lang="en-US" altLang="zh-CN" sz="2000" b="1" i="1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a</a:t>
            </a:r>
            <a:r>
              <a:rPr lang="en-US" altLang="zh-CN" sz="2000" b="1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∈</a:t>
            </a:r>
            <a:r>
              <a:rPr lang="en-US" altLang="zh-CN" sz="2000" b="1" i="1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V</a:t>
            </a:r>
            <a:r>
              <a:rPr lang="en-US" altLang="zh-CN" sz="2000" b="1" i="1" baseline="-25000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T</a:t>
            </a:r>
            <a:r>
              <a:rPr lang="zh-CN" altLang="en-US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，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α,β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∈(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V</a:t>
            </a:r>
            <a:r>
              <a:rPr lang="en-US" altLang="zh-CN" sz="2000" b="1" i="1" baseline="-250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∪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V</a:t>
            </a:r>
            <a:r>
              <a:rPr lang="en-US" altLang="zh-CN" sz="2000" b="1" i="1" baseline="-250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N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)</a:t>
            </a:r>
            <a:r>
              <a:rPr lang="en-US" altLang="zh-CN" sz="2000" b="1" baseline="300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*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}</a:t>
            </a:r>
          </a:p>
          <a:p>
            <a:pPr lvl="1" eaLnBrk="1" hangingPunct="1">
              <a:lnSpc>
                <a:spcPts val="2000"/>
              </a:lnSpc>
              <a:buFont typeface="Symbol" panose="05050102010706020507" pitchFamily="18" charset="2"/>
              <a:buNone/>
            </a:pPr>
            <a:r>
              <a:rPr lang="zh-CN" altLang="en-US" b="1" dirty="0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例</a:t>
            </a:r>
            <a:endParaRPr lang="en-US" altLang="zh-CN" b="1" dirty="0">
              <a:solidFill>
                <a:schemeClr val="tx1"/>
              </a:solidFill>
              <a:latin typeface="楷体" panose="02010609060101010101" pitchFamily="49" charset="-122"/>
              <a:cs typeface="Times New Roman" panose="02020603050405020304" pitchFamily="18" charset="0"/>
            </a:endParaRPr>
          </a:p>
          <a:p>
            <a:pPr marL="627063" lvl="2" indent="0" eaLnBrk="1" hangingPunct="1">
              <a:lnSpc>
                <a:spcPts val="2800"/>
              </a:lnSpc>
              <a:buFont typeface="Symbol" panose="05050102010706020507" pitchFamily="18" charset="2"/>
              <a:buNone/>
            </a:pP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(1) </a:t>
            </a: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 </a:t>
            </a: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→ </a:t>
            </a:r>
            <a:r>
              <a:rPr lang="en-US" altLang="zh-CN" sz="2200" b="1" i="1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aBC</a:t>
            </a:r>
            <a:endParaRPr lang="en-US" altLang="zh-CN" sz="2200" b="1" i="1" dirty="0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  <a:p>
            <a:pPr marL="627063" lvl="2" indent="0" eaLnBrk="1" hangingPunct="1">
              <a:lnSpc>
                <a:spcPts val="2800"/>
              </a:lnSpc>
              <a:buFont typeface="Symbol" panose="05050102010706020507" pitchFamily="18" charset="2"/>
              <a:buNone/>
            </a:pP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(2) </a:t>
            </a: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B </a:t>
            </a: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→ </a:t>
            </a:r>
            <a:r>
              <a:rPr lang="en-US" altLang="zh-CN" sz="2200" b="1" i="1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bC</a:t>
            </a:r>
            <a:endParaRPr lang="en-US" altLang="zh-CN" sz="2200" b="1" i="1" dirty="0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  <a:p>
            <a:pPr marL="627063" lvl="2" indent="0" eaLnBrk="1" hangingPunct="1">
              <a:lnSpc>
                <a:spcPts val="2800"/>
              </a:lnSpc>
              <a:buFont typeface="Symbol" panose="05050102010706020507" pitchFamily="18" charset="2"/>
              <a:buNone/>
            </a:pP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(3) </a:t>
            </a: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B </a:t>
            </a: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→ </a:t>
            </a: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dB</a:t>
            </a:r>
          </a:p>
          <a:p>
            <a:pPr marL="627063" lvl="2" indent="0" eaLnBrk="1" hangingPunct="1">
              <a:lnSpc>
                <a:spcPts val="2800"/>
              </a:lnSpc>
              <a:buFont typeface="Symbol" panose="05050102010706020507" pitchFamily="18" charset="2"/>
              <a:buNone/>
            </a:pP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(4) </a:t>
            </a: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B </a:t>
            </a: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→ </a:t>
            </a: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ε</a:t>
            </a:r>
          </a:p>
          <a:p>
            <a:pPr marL="627063" lvl="2" indent="0" eaLnBrk="1" hangingPunct="1">
              <a:lnSpc>
                <a:spcPts val="2800"/>
              </a:lnSpc>
              <a:buFont typeface="Symbol" panose="05050102010706020507" pitchFamily="18" charset="2"/>
              <a:buNone/>
            </a:pP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(5) </a:t>
            </a: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C </a:t>
            </a: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→ </a:t>
            </a: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c</a:t>
            </a:r>
          </a:p>
          <a:p>
            <a:pPr marL="627063" lvl="2" indent="0" eaLnBrk="1" hangingPunct="1">
              <a:lnSpc>
                <a:spcPts val="2800"/>
              </a:lnSpc>
              <a:buFont typeface="Symbol" panose="05050102010706020507" pitchFamily="18" charset="2"/>
              <a:buNone/>
            </a:pP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(6) </a:t>
            </a: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C </a:t>
            </a: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→ </a:t>
            </a: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a</a:t>
            </a:r>
          </a:p>
          <a:p>
            <a:pPr eaLnBrk="1" hangingPunct="1">
              <a:lnSpc>
                <a:spcPts val="2800"/>
              </a:lnSpc>
              <a:buFont typeface="Wingdings" panose="05000000000000000000" pitchFamily="2" charset="2"/>
              <a:buNone/>
            </a:pP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		</a:t>
            </a: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FOLLOW</a:t>
            </a: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</a:t>
            </a: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) = {</a:t>
            </a:r>
            <a:r>
              <a:rPr lang="en-US" altLang="zh-CN" sz="2200" b="1" i="1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a</a:t>
            </a:r>
            <a:r>
              <a:rPr lang="en-US" altLang="zh-CN" sz="2200" b="1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,</a:t>
            </a:r>
            <a:r>
              <a:rPr lang="en-US" altLang="zh-CN" sz="2200" b="1" i="1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c</a:t>
            </a: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}</a:t>
            </a:r>
            <a:endParaRPr lang="zh-CN" altLang="en-US" sz="2200" b="1" dirty="0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  <a:p>
            <a:pPr eaLnBrk="1" hangingPunct="1"/>
            <a:endParaRPr lang="zh-CN" altLang="en-US" sz="2200" dirty="0">
              <a:cs typeface="Times New Roman" panose="02020603050405020304" pitchFamily="18" charset="0"/>
            </a:endParaRPr>
          </a:p>
        </p:txBody>
      </p:sp>
      <p:grpSp>
        <p:nvGrpSpPr>
          <p:cNvPr id="2" name="组合 9"/>
          <p:cNvGrpSpPr>
            <a:grpSpLocks/>
          </p:cNvGrpSpPr>
          <p:nvPr/>
        </p:nvGrpSpPr>
        <p:grpSpPr bwMode="auto">
          <a:xfrm>
            <a:off x="2536577" y="2284413"/>
            <a:ext cx="1595718" cy="1584325"/>
            <a:chOff x="3610053" y="4108709"/>
            <a:chExt cx="1595537" cy="2114221"/>
          </a:xfrm>
        </p:grpSpPr>
        <p:sp>
          <p:nvSpPr>
            <p:cNvPr id="38918" name="Rectangle 8"/>
            <p:cNvSpPr>
              <a:spLocks noChangeArrowheads="1"/>
            </p:cNvSpPr>
            <p:nvPr/>
          </p:nvSpPr>
          <p:spPr bwMode="auto">
            <a:xfrm>
              <a:off x="4251610" y="4108709"/>
              <a:ext cx="953980" cy="2114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22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+mn-ea"/>
                  <a:ea typeface="+mn-ea"/>
                  <a:cs typeface="Times New Roman" pitchFamily="18" charset="0"/>
                </a:rPr>
                <a:t>输入</a:t>
              </a:r>
            </a:p>
            <a:p>
              <a:pPr eaLnBrk="1" hangingPunct="1">
                <a:lnSpc>
                  <a:spcPts val="3000"/>
                </a:lnSpc>
                <a:defRPr/>
              </a:pPr>
              <a:r>
                <a:rPr lang="en-US" altLang="zh-CN" sz="22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/>
                  <a:cs typeface="Times New Roman" pitchFamily="18" charset="0"/>
                </a:rPr>
                <a:t>b</a:t>
              </a:r>
            </a:p>
            <a:p>
              <a:pPr eaLnBrk="1" hangingPunct="1">
                <a:lnSpc>
                  <a:spcPts val="3000"/>
                </a:lnSpc>
                <a:defRPr/>
              </a:pPr>
              <a:r>
                <a:rPr lang="en-US" altLang="zh-CN" sz="22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/>
                  <a:cs typeface="Times New Roman" pitchFamily="18" charset="0"/>
                </a:rPr>
                <a:t>d</a:t>
              </a:r>
            </a:p>
            <a:p>
              <a:pPr eaLnBrk="1" hangingPunct="1">
                <a:lnSpc>
                  <a:spcPts val="3000"/>
                </a:lnSpc>
                <a:defRPr/>
              </a:pPr>
              <a:r>
                <a:rPr lang="en-US" altLang="zh-CN" sz="22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/>
                  <a:cs typeface="Times New Roman" pitchFamily="18" charset="0"/>
                </a:rPr>
                <a:t>{ </a:t>
              </a:r>
              <a:r>
                <a:rPr lang="en-US" altLang="zh-CN" sz="22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/>
                  <a:cs typeface="Times New Roman" pitchFamily="18" charset="0"/>
                </a:rPr>
                <a:t>a</a:t>
              </a:r>
              <a:r>
                <a:rPr lang="en-US" altLang="zh-CN" sz="22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/>
                  <a:cs typeface="Times New Roman" pitchFamily="18" charset="0"/>
                </a:rPr>
                <a:t>, </a:t>
              </a:r>
              <a:r>
                <a:rPr lang="en-US" altLang="zh-CN" sz="2200" b="1" i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/>
                  <a:cs typeface="Times New Roman" pitchFamily="18" charset="0"/>
                </a:rPr>
                <a:t>c</a:t>
              </a:r>
              <a:r>
                <a:rPr lang="en-US" altLang="zh-CN" sz="22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ea typeface="楷体_GB2312"/>
                  <a:cs typeface="Times New Roman" pitchFamily="18" charset="0"/>
                </a:rPr>
                <a:t> }</a:t>
              </a:r>
            </a:p>
          </p:txBody>
        </p:sp>
        <p:sp>
          <p:nvSpPr>
            <p:cNvPr id="38919" name="Line 9"/>
            <p:cNvSpPr>
              <a:spLocks noChangeShapeType="1"/>
            </p:cNvSpPr>
            <p:nvPr/>
          </p:nvSpPr>
          <p:spPr bwMode="auto">
            <a:xfrm flipH="1">
              <a:off x="3611640" y="4870228"/>
              <a:ext cx="649214" cy="0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8920" name="Line 10"/>
            <p:cNvSpPr>
              <a:spLocks noChangeShapeType="1"/>
            </p:cNvSpPr>
            <p:nvPr/>
          </p:nvSpPr>
          <p:spPr bwMode="auto">
            <a:xfrm flipH="1" flipV="1">
              <a:off x="3611640" y="5442211"/>
              <a:ext cx="647626" cy="0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8921" name="Line 11"/>
            <p:cNvSpPr>
              <a:spLocks noChangeShapeType="1"/>
            </p:cNvSpPr>
            <p:nvPr/>
          </p:nvSpPr>
          <p:spPr bwMode="auto">
            <a:xfrm flipH="1" flipV="1">
              <a:off x="3610053" y="5918865"/>
              <a:ext cx="649213" cy="0"/>
            </a:xfrm>
            <a:prstGeom prst="line">
              <a:avLst/>
            </a:prstGeom>
            <a:noFill/>
            <a:ln w="12700">
              <a:solidFill>
                <a:schemeClr val="tx2">
                  <a:lumMod val="60000"/>
                  <a:lumOff val="40000"/>
                </a:schemeClr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4" name="矩形 3"/>
          <p:cNvSpPr/>
          <p:nvPr/>
        </p:nvSpPr>
        <p:spPr>
          <a:xfrm>
            <a:off x="3891855" y="2373313"/>
            <a:ext cx="5000625" cy="8413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ts val="3000"/>
              </a:lnSpc>
              <a:defRPr/>
            </a:pPr>
            <a:r>
              <a:rPr lang="zh-CN" altLang="en-US" sz="22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如果 </a:t>
            </a:r>
            <a:r>
              <a:rPr lang="en-US" altLang="zh-CN" sz="22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en-US" sz="22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是某个句型的最右符号，</a:t>
            </a:r>
            <a:endParaRPr lang="en-US" altLang="zh-CN" sz="22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defRPr/>
            </a:pPr>
            <a:r>
              <a:rPr lang="zh-CN" altLang="en-US" sz="22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则将结束符“</a:t>
            </a:r>
            <a:r>
              <a:rPr lang="en-US" altLang="zh-CN" sz="22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$</a:t>
            </a:r>
            <a:r>
              <a:rPr lang="zh-CN" altLang="en-US" sz="22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”添加到</a:t>
            </a:r>
            <a:r>
              <a:rPr lang="en-US" altLang="zh-CN" sz="22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FOLLOW</a:t>
            </a:r>
            <a:r>
              <a:rPr lang="en-US" altLang="zh-CN" sz="22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sz="22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lang="en-US" altLang="zh-CN" sz="22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22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</a:t>
            </a:r>
            <a:endParaRPr lang="zh-CN" altLang="en-US" sz="2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9398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31CC6F1-87AD-452D-B886-3032FA2FEBC5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38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3"/>
          <p:cNvSpPr>
            <a:spLocks noGrp="1" noChangeArrowheads="1"/>
          </p:cNvSpPr>
          <p:nvPr>
            <p:ph idx="1"/>
          </p:nvPr>
        </p:nvSpPr>
        <p:spPr>
          <a:xfrm>
            <a:off x="428625" y="917575"/>
            <a:ext cx="8486775" cy="3225800"/>
          </a:xfrm>
        </p:spPr>
        <p:txBody>
          <a:bodyPr/>
          <a:lstStyle/>
          <a:p>
            <a:pPr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产生式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→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β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的可选集是指可以选用该产生式进行推导时对应的输入符号的集合，记为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SELECT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(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→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β 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SELECT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( 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5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→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β 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) = {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a 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}</a:t>
            </a:r>
          </a:p>
          <a:p>
            <a:pPr lvl="1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SELECT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( 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5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→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ε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)=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zh-CN" sz="2000" b="1" dirty="0">
              <a:cs typeface="Times New Roman" panose="02020603050405020304" pitchFamily="18" charset="0"/>
            </a:endParaRPr>
          </a:p>
        </p:txBody>
      </p:sp>
      <p:sp>
        <p:nvSpPr>
          <p:cNvPr id="39939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产生式的可选集</a:t>
            </a:r>
          </a:p>
        </p:txBody>
      </p:sp>
      <p:sp>
        <p:nvSpPr>
          <p:cNvPr id="61445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86C141A-836F-4F2B-A44D-B7DBCF41530E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39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CA209E3-3F96-4BBC-97BC-C9BC87654D44}"/>
              </a:ext>
            </a:extLst>
          </p:cNvPr>
          <p:cNvSpPr txBox="1"/>
          <p:nvPr/>
        </p:nvSpPr>
        <p:spPr>
          <a:xfrm>
            <a:off x="3533775" y="2291948"/>
            <a:ext cx="4572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FOLLOW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 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2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2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2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29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29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29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3754438" y="1379538"/>
            <a:ext cx="4103687" cy="16208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33796" name="Rectangle 4"/>
          <p:cNvSpPr>
            <a:spLocks noGrp="1" noChangeArrowheads="1"/>
          </p:cNvSpPr>
          <p:nvPr>
            <p:ph sz="half" idx="4294967295"/>
          </p:nvPr>
        </p:nvSpPr>
        <p:spPr>
          <a:xfrm>
            <a:off x="3754438" y="714375"/>
            <a:ext cx="4103687" cy="665163"/>
          </a:xfr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/>
          <a:lstStyle/>
          <a:p>
            <a:pPr eaLnBrk="1" hangingPunct="1"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输入</a:t>
            </a:r>
            <a:r>
              <a:rPr lang="en-US" altLang="zh-CN" dirty="0">
                <a:latin typeface="Times New Roman" pitchFamily="18" charset="0"/>
                <a:ea typeface="楷体_GB2312"/>
                <a:cs typeface="Times New Roman" pitchFamily="18" charset="0"/>
              </a:rPr>
              <a:t>	    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a d a</a:t>
            </a:r>
          </a:p>
          <a:p>
            <a:pPr eaLnBrk="1" hangingPunct="1">
              <a:defRPr/>
            </a:pPr>
            <a:endParaRPr lang="en-US" altLang="zh-CN" dirty="0">
              <a:latin typeface="Times New Roman" pitchFamily="18" charset="0"/>
              <a:ea typeface="楷体_GB2312"/>
              <a:cs typeface="Times New Roman" pitchFamily="18" charset="0"/>
            </a:endParaRPr>
          </a:p>
          <a:p>
            <a:pPr eaLnBrk="1" hangingPunct="1"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推导</a:t>
            </a:r>
            <a:endParaRPr lang="en-US" altLang="zh-CN" sz="2500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eaLnBrk="1" hangingPunct="1">
              <a:defRPr/>
            </a:pPr>
            <a:endParaRPr lang="zh-CN" altLang="en-US" i="1" dirty="0">
              <a:latin typeface="Times New Roman" pitchFamily="18" charset="0"/>
              <a:ea typeface="楷体_GB2312"/>
              <a:cs typeface="Times New Roman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42963" y="714375"/>
            <a:ext cx="2928937" cy="2286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710659" name="Rectangle 3"/>
          <p:cNvSpPr>
            <a:spLocks noGrp="1" noChangeArrowheads="1"/>
          </p:cNvSpPr>
          <p:nvPr>
            <p:ph idx="1"/>
          </p:nvPr>
        </p:nvSpPr>
        <p:spPr>
          <a:xfrm>
            <a:off x="785813" y="714375"/>
            <a:ext cx="7643812" cy="3225800"/>
          </a:xfrm>
        </p:spPr>
        <p:txBody>
          <a:bodyPr/>
          <a:lstStyle/>
          <a:p>
            <a:pPr eaLnBrk="1" hangingPunct="1"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文法</a:t>
            </a:r>
            <a:endParaRPr lang="en-US" altLang="zh-CN" sz="2500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eaLnBrk="1" hangingPunct="1">
              <a:buFont typeface="Symbol" panose="05050102010706020507" pitchFamily="18" charset="2"/>
              <a:buNone/>
              <a:defRPr/>
            </a:pPr>
            <a:endParaRPr lang="en-US" altLang="zh-CN" b="1" dirty="0">
              <a:ea typeface="楷体" pitchFamily="49" charset="-122"/>
              <a:cs typeface="Times New Roman" pitchFamily="18" charset="0"/>
            </a:endParaRPr>
          </a:p>
          <a:p>
            <a:pPr eaLnBrk="1" hangingPunct="1">
              <a:buFont typeface="Symbol" panose="05050102010706020507" pitchFamily="18" charset="2"/>
              <a:buNone/>
              <a:defRPr/>
            </a:pPr>
            <a:endParaRPr lang="en-US" altLang="zh-CN" b="1" dirty="0">
              <a:ea typeface="楷体" pitchFamily="49" charset="-122"/>
              <a:cs typeface="Times New Roman" pitchFamily="18" charset="0"/>
            </a:endParaRPr>
          </a:p>
          <a:p>
            <a:pPr eaLnBrk="1" hangingPunct="1">
              <a:lnSpc>
                <a:spcPts val="3500"/>
              </a:lnSpc>
              <a:defRPr/>
            </a:pPr>
            <a:endParaRPr lang="en-US" altLang="zh-CN" b="1" dirty="0">
              <a:ea typeface="楷体" pitchFamily="49" charset="-122"/>
              <a:cs typeface="Times New Roman" pitchFamily="18" charset="0"/>
            </a:endParaRPr>
          </a:p>
          <a:p>
            <a:pPr eaLnBrk="1" hangingPunct="1">
              <a:lnSpc>
                <a:spcPts val="3000"/>
              </a:lnSpc>
              <a:defRPr/>
            </a:pPr>
            <a:endParaRPr lang="en-US" altLang="zh-CN" b="1" dirty="0">
              <a:ea typeface="楷体" pitchFamily="49" charset="-122"/>
              <a:cs typeface="Times New Roman" pitchFamily="18" charset="0"/>
            </a:endParaRPr>
          </a:p>
          <a:p>
            <a:pPr eaLnBrk="1" hangingPunct="1">
              <a:lnSpc>
                <a:spcPts val="3000"/>
              </a:lnSpc>
              <a:buClrTx/>
              <a:buFont typeface="Wingdings" pitchFamily="2" charset="2"/>
              <a:buChar char="Ø"/>
              <a:defRPr/>
            </a:pPr>
            <a:endParaRPr lang="en-US" altLang="zh-CN" sz="600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eaLnBrk="1" hangingPunct="1">
              <a:lnSpc>
                <a:spcPts val="28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什么时候使用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ε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产生式？</a:t>
            </a:r>
            <a:endParaRPr lang="en-US" altLang="zh-CN" sz="2500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lvl="1" eaLnBrk="1" hangingPunct="1">
              <a:lnSpc>
                <a:spcPts val="28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如果当前某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cs typeface="Times New Roman" pitchFamily="18" charset="0"/>
              </a:rPr>
              <a:t>非终结符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A</a:t>
            </a:r>
            <a:r>
              <a:rPr lang="zh-CN" altLang="en-US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与当前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cs typeface="Times New Roman" pitchFamily="18" charset="0"/>
              </a:rPr>
              <a:t>输入符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a</a:t>
            </a:r>
            <a:r>
              <a:rPr lang="zh-CN" altLang="en-US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不匹配时，若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cs typeface="Times New Roman" pitchFamily="18" charset="0"/>
              </a:rPr>
              <a:t>存在</a:t>
            </a:r>
            <a:r>
              <a:rPr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A</a:t>
            </a:r>
            <a:r>
              <a:rPr lang="en-US" altLang="zh-CN" b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→</a:t>
            </a:r>
            <a:r>
              <a:rPr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ε</a:t>
            </a:r>
            <a:r>
              <a:rPr lang="zh-CN" altLang="en-US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，可以通过检查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zh-CN" altLang="en-US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是否可以出现在 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A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cs typeface="Times New Roman" pitchFamily="18" charset="0"/>
              </a:rPr>
              <a:t>的后面</a:t>
            </a:r>
            <a:r>
              <a:rPr lang="zh-CN" altLang="en-US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，来决定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cs typeface="Times New Roman" pitchFamily="18" charset="0"/>
              </a:rPr>
              <a:t>是否使用产生式 </a:t>
            </a:r>
            <a:r>
              <a:rPr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A</a:t>
            </a:r>
            <a:r>
              <a:rPr lang="en-US" altLang="zh-CN" b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→</a:t>
            </a:r>
            <a:r>
              <a:rPr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ε</a:t>
            </a:r>
            <a:r>
              <a:rPr lang="zh-CN" altLang="en-US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（若文法中无 </a:t>
            </a:r>
            <a:r>
              <a:rPr lang="en-US" altLang="zh-CN" b="1" i="1" dirty="0" err="1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altLang="zh-CN" b="1" dirty="0" err="1">
                <a:solidFill>
                  <a:schemeClr val="tx1"/>
                </a:solidFill>
                <a:cs typeface="Times New Roman" pitchFamily="18" charset="0"/>
              </a:rPr>
              <a:t>→</a:t>
            </a:r>
            <a:r>
              <a:rPr lang="en-US" altLang="zh-CN" b="1" i="1" dirty="0" err="1">
                <a:solidFill>
                  <a:schemeClr val="tx1"/>
                </a:solidFill>
                <a:cs typeface="Times New Roman" pitchFamily="18" charset="0"/>
              </a:rPr>
              <a:t>ε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，则应报错）</a:t>
            </a:r>
          </a:p>
        </p:txBody>
      </p:sp>
      <p:sp>
        <p:nvSpPr>
          <p:cNvPr id="5735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</a:p>
        </p:txBody>
      </p:sp>
      <p:sp>
        <p:nvSpPr>
          <p:cNvPr id="710663" name="Line 7"/>
          <p:cNvSpPr>
            <a:spLocks noChangeShapeType="1"/>
          </p:cNvSpPr>
          <p:nvPr/>
        </p:nvSpPr>
        <p:spPr bwMode="auto">
          <a:xfrm flipV="1">
            <a:off x="5122863" y="1108075"/>
            <a:ext cx="0" cy="163513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0664" name="Line 8"/>
          <p:cNvSpPr>
            <a:spLocks noChangeShapeType="1"/>
          </p:cNvSpPr>
          <p:nvPr/>
        </p:nvSpPr>
        <p:spPr bwMode="auto">
          <a:xfrm flipV="1">
            <a:off x="5338763" y="1108075"/>
            <a:ext cx="0" cy="161925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0665" name="Line 9"/>
          <p:cNvSpPr>
            <a:spLocks noChangeShapeType="1"/>
          </p:cNvSpPr>
          <p:nvPr/>
        </p:nvSpPr>
        <p:spPr bwMode="auto">
          <a:xfrm flipV="1">
            <a:off x="5572125" y="1108075"/>
            <a:ext cx="0" cy="161925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54" name="矩形 2"/>
          <p:cNvSpPr>
            <a:spLocks noChangeArrowheads="1"/>
          </p:cNvSpPr>
          <p:nvPr/>
        </p:nvSpPr>
        <p:spPr bwMode="auto">
          <a:xfrm>
            <a:off x="1825625" y="714375"/>
            <a:ext cx="1728788" cy="2316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500"/>
              </a:lnSpc>
              <a:buFont typeface="宋体" panose="02010600030101010101" pitchFamily="2" charset="-122"/>
              <a:buAutoNum type="circleNumDbPlain"/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 → 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aBC</a:t>
            </a:r>
            <a:endParaRPr lang="en-US" altLang="zh-CN" sz="2000" b="1" i="1" dirty="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lnSpc>
                <a:spcPts val="2500"/>
              </a:lnSpc>
              <a:buFont typeface="宋体" panose="02010600030101010101" pitchFamily="2" charset="-122"/>
              <a:buAutoNum type="circleNumDbPlain"/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 → 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bC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</a:t>
            </a:r>
          </a:p>
          <a:p>
            <a:pPr eaLnBrk="1" hangingPunct="1">
              <a:lnSpc>
                <a:spcPts val="2500"/>
              </a:lnSpc>
              <a:buFont typeface="宋体" panose="02010600030101010101" pitchFamily="2" charset="-122"/>
              <a:buAutoNum type="circleNumDbPlain"/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 → dB </a:t>
            </a:r>
          </a:p>
          <a:p>
            <a:pPr eaLnBrk="1" hangingPunct="1">
              <a:lnSpc>
                <a:spcPts val="2500"/>
              </a:lnSpc>
              <a:buFont typeface="宋体" panose="02010600030101010101" pitchFamily="2" charset="-122"/>
              <a:buAutoNum type="circleNumDbPlain"/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 → </a:t>
            </a:r>
            <a:r>
              <a:rPr lang="en-US" altLang="zh-CN" sz="20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ε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</a:t>
            </a:r>
          </a:p>
          <a:p>
            <a:pPr eaLnBrk="1" hangingPunct="1">
              <a:lnSpc>
                <a:spcPts val="2500"/>
              </a:lnSpc>
              <a:buFont typeface="宋体" panose="02010600030101010101" pitchFamily="2" charset="-122"/>
              <a:buAutoNum type="circleNumDbPlain"/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C → c</a:t>
            </a:r>
          </a:p>
          <a:p>
            <a:pPr eaLnBrk="1" hangingPunct="1">
              <a:lnSpc>
                <a:spcPts val="2500"/>
              </a:lnSpc>
              <a:buFont typeface="宋体" panose="02010600030101010101" pitchFamily="2" charset="-122"/>
              <a:buAutoNum type="circleNumDbPlain"/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C → a</a:t>
            </a:r>
          </a:p>
          <a:p>
            <a:pPr eaLnBrk="1" hangingPunct="1">
              <a:lnSpc>
                <a:spcPts val="2500"/>
              </a:lnSpc>
              <a:buFont typeface="宋体" panose="02010600030101010101" pitchFamily="2" charset="-122"/>
              <a:buAutoNum type="circleNumDbPlain"/>
            </a:pPr>
            <a:r>
              <a:rPr lang="en-US" altLang="zh-CN" sz="2000" b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D → e</a:t>
            </a:r>
          </a:p>
        </p:txBody>
      </p:sp>
      <p:sp>
        <p:nvSpPr>
          <p:cNvPr id="13" name="Rectangle 4"/>
          <p:cNvSpPr txBox="1">
            <a:spLocks noChangeArrowheads="1"/>
          </p:cNvSpPr>
          <p:nvPr/>
        </p:nvSpPr>
        <p:spPr bwMode="auto">
          <a:xfrm>
            <a:off x="4929188" y="1400175"/>
            <a:ext cx="1727200" cy="1243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 i="1" dirty="0">
                <a:latin typeface="Times New Roman" panose="02020603050405020304" pitchFamily="18" charset="0"/>
              </a:rPr>
              <a:t>     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  <a:p>
            <a:pPr>
              <a:lnSpc>
                <a:spcPts val="2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endParaRPr lang="en-US" altLang="zh-CN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adBC</a:t>
            </a:r>
            <a:endParaRPr lang="en-US" altLang="zh-CN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adC</a:t>
            </a:r>
            <a:endParaRPr lang="en-US" altLang="zh-CN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</a:t>
            </a:r>
            <a:endParaRPr lang="zh-CN" altLang="en-US" sz="2000" b="1" dirty="0"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6508750" y="714375"/>
            <a:ext cx="808038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en-US" altLang="zh-CN" sz="2500" b="1" i="1">
                <a:latin typeface="Times New Roman" panose="02020603050405020304" pitchFamily="18" charset="0"/>
              </a:rPr>
              <a:t>a d e</a:t>
            </a:r>
            <a:endParaRPr lang="zh-CN" altLang="en-US" sz="2500" b="1" i="1">
              <a:latin typeface="Times New Roman" panose="02020603050405020304" pitchFamily="18" charset="0"/>
            </a:endParaRPr>
          </a:p>
        </p:txBody>
      </p:sp>
      <p:sp>
        <p:nvSpPr>
          <p:cNvPr id="19" name="Line 7"/>
          <p:cNvSpPr>
            <a:spLocks noChangeShapeType="1"/>
          </p:cNvSpPr>
          <p:nvPr/>
        </p:nvSpPr>
        <p:spPr bwMode="auto">
          <a:xfrm flipV="1">
            <a:off x="6683375" y="1125538"/>
            <a:ext cx="0" cy="163512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8"/>
          <p:cNvSpPr>
            <a:spLocks noChangeShapeType="1"/>
          </p:cNvSpPr>
          <p:nvPr/>
        </p:nvSpPr>
        <p:spPr bwMode="auto">
          <a:xfrm flipV="1">
            <a:off x="6899275" y="1127125"/>
            <a:ext cx="0" cy="161925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Line 9"/>
          <p:cNvSpPr>
            <a:spLocks noChangeShapeType="1"/>
          </p:cNvSpPr>
          <p:nvPr/>
        </p:nvSpPr>
        <p:spPr bwMode="auto">
          <a:xfrm flipV="1">
            <a:off x="7143750" y="1127125"/>
            <a:ext cx="0" cy="161925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Rectangle 4"/>
          <p:cNvSpPr txBox="1">
            <a:spLocks noChangeArrowheads="1"/>
          </p:cNvSpPr>
          <p:nvPr/>
        </p:nvSpPr>
        <p:spPr bwMode="auto">
          <a:xfrm>
            <a:off x="6489700" y="1400175"/>
            <a:ext cx="1154113" cy="1243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i="1">
                <a:latin typeface="Times New Roman" panose="02020603050405020304" pitchFamily="18" charset="0"/>
              </a:rPr>
              <a:t>     </a:t>
            </a:r>
            <a:r>
              <a:rPr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  <a:p>
            <a:pPr>
              <a:lnSpc>
                <a:spcPts val="2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aBC</a:t>
            </a:r>
          </a:p>
          <a:p>
            <a:pPr>
              <a:lnSpc>
                <a:spcPts val="2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adBC</a:t>
            </a:r>
          </a:p>
          <a:p>
            <a:pPr>
              <a:lnSpc>
                <a:spcPts val="2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adC</a:t>
            </a:r>
          </a:p>
        </p:txBody>
      </p:sp>
      <p:sp>
        <p:nvSpPr>
          <p:cNvPr id="18" name="矩形 17"/>
          <p:cNvSpPr/>
          <p:nvPr/>
        </p:nvSpPr>
        <p:spPr>
          <a:xfrm>
            <a:off x="827088" y="3081338"/>
            <a:ext cx="3835400" cy="3492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SimSun" panose="02010600030101010101" pitchFamily="2" charset="-122"/>
              </a:defRPr>
            </a:lvl9pPr>
          </a:lstStyle>
          <a:p>
            <a:pPr>
              <a:lnSpc>
                <a:spcPts val="2000"/>
              </a:lnSpc>
              <a:defRPr/>
            </a:pPr>
            <a:r>
              <a:rPr lang="zh-CN" altLang="en-US" b="1" dirty="0">
                <a:solidFill>
                  <a:srgbClr val="000000"/>
                </a:solidFill>
                <a:latin typeface="+mn-ea"/>
                <a:ea typeface="+mn-ea"/>
              </a:rPr>
              <a:t>可以紧跟 </a:t>
            </a:r>
            <a:r>
              <a:rPr lang="en-US" altLang="zh-CN" b="1" i="1" dirty="0">
                <a:solidFill>
                  <a:srgbClr val="000000"/>
                </a:solidFill>
                <a:latin typeface="+mn-ea"/>
                <a:ea typeface="+mn-ea"/>
              </a:rPr>
              <a:t>B</a:t>
            </a:r>
            <a:r>
              <a:rPr lang="zh-CN" altLang="en-US" b="1" dirty="0">
                <a:solidFill>
                  <a:srgbClr val="000000"/>
                </a:solidFill>
                <a:latin typeface="+mn-ea"/>
                <a:ea typeface="+mn-ea"/>
              </a:rPr>
              <a:t>后面出现的终结符：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endParaRPr lang="zh-CN" altLang="en-US" sz="2800" b="1" i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7362" name="灯片编号占位符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0BCE5A3-87DC-4EC8-BA42-DD10A68D347B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40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5378098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3"/>
          <p:cNvSpPr>
            <a:spLocks noGrp="1" noChangeArrowheads="1"/>
          </p:cNvSpPr>
          <p:nvPr>
            <p:ph idx="1"/>
          </p:nvPr>
        </p:nvSpPr>
        <p:spPr>
          <a:xfrm>
            <a:off x="428625" y="917575"/>
            <a:ext cx="8486775" cy="3225800"/>
          </a:xfrm>
        </p:spPr>
        <p:txBody>
          <a:bodyPr/>
          <a:lstStyle/>
          <a:p>
            <a:pPr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产生式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→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β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的可选集是指可以选用该产生式进行推导时对应的输入符号的集合，记为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SELECT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(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→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β 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SELECT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( 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5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→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β 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) = {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a 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}</a:t>
            </a:r>
          </a:p>
          <a:p>
            <a:pPr lvl="1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SELECT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( 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5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→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ε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)=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FOLLOW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(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A 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) </a:t>
            </a:r>
          </a:p>
          <a:p>
            <a:pPr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q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_</a:t>
            </a:r>
            <a:r>
              <a:rPr lang="zh-CN" altLang="en-US" sz="25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文法</a:t>
            </a:r>
            <a:endParaRPr lang="en-US" altLang="zh-CN" sz="2500" b="1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每个产生式的右部或为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ε</a:t>
            </a:r>
            <a:r>
              <a:rPr lang="en-US" altLang="zh-CN" sz="2500" b="1" i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5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，或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以终结符开始</a:t>
            </a:r>
          </a:p>
          <a:p>
            <a:pPr lvl="1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具有相同左部的产生式有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不相交的可选集</a:t>
            </a:r>
            <a:endParaRPr lang="en-US" altLang="zh-CN" sz="2500" b="1" dirty="0">
              <a:solidFill>
                <a:schemeClr val="tx2">
                  <a:lumMod val="60000"/>
                  <a:lumOff val="4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zh-CN" sz="2000" b="1" dirty="0">
              <a:cs typeface="Times New Roman" panose="02020603050405020304" pitchFamily="18" charset="0"/>
            </a:endParaRPr>
          </a:p>
        </p:txBody>
      </p:sp>
      <p:sp>
        <p:nvSpPr>
          <p:cNvPr id="39939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产生式的可选集</a:t>
            </a:r>
          </a:p>
        </p:txBody>
      </p:sp>
      <p:sp>
        <p:nvSpPr>
          <p:cNvPr id="5" name="线形标注 2 4"/>
          <p:cNvSpPr/>
          <p:nvPr/>
        </p:nvSpPr>
        <p:spPr>
          <a:xfrm>
            <a:off x="2428875" y="4298950"/>
            <a:ext cx="6103938" cy="487363"/>
          </a:xfrm>
          <a:prstGeom prst="borderCallout2">
            <a:avLst>
              <a:gd name="adj1" fmla="val 18750"/>
              <a:gd name="adj2" fmla="val -2697"/>
              <a:gd name="adj3" fmla="val 12794"/>
              <a:gd name="adj4" fmla="val -10657"/>
              <a:gd name="adj5" fmla="val -23306"/>
              <a:gd name="adj6" fmla="val -13591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sz="25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zh-CN" sz="25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_</a:t>
            </a:r>
            <a:r>
              <a:rPr lang="zh-CN" altLang="en-US" sz="25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文法不含右部以</a:t>
            </a:r>
            <a:r>
              <a:rPr lang="zh-CN" altLang="en-US" sz="2500" b="1" dirty="0">
                <a:solidFill>
                  <a:srgbClr val="3333FF"/>
                </a:solidFill>
                <a:latin typeface="楷体" pitchFamily="49" charset="-122"/>
                <a:ea typeface="楷体" pitchFamily="49" charset="-122"/>
              </a:rPr>
              <a:t>非终结符</a:t>
            </a:r>
            <a:r>
              <a:rPr lang="zh-CN" altLang="en-US" sz="25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打头的产生式</a:t>
            </a:r>
            <a:endParaRPr lang="zh-CN" altLang="en-US" sz="2500" dirty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61445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86C141A-836F-4F2B-A44D-B7DBCF41530E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41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641005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29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29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29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29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29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29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29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29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29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内容占位符 2"/>
          <p:cNvSpPr>
            <a:spLocks noGrp="1"/>
          </p:cNvSpPr>
          <p:nvPr>
            <p:ph idx="1"/>
          </p:nvPr>
        </p:nvSpPr>
        <p:spPr>
          <a:xfrm>
            <a:off x="142875" y="714375"/>
            <a:ext cx="9015413" cy="3822700"/>
          </a:xfrm>
        </p:spPr>
        <p:txBody>
          <a:bodyPr/>
          <a:lstStyle/>
          <a:p>
            <a:pPr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</a:rPr>
              <a:t> </a:t>
            </a:r>
            <a:r>
              <a:rPr lang="zh-CN" altLang="en-US" sz="2500" b="1" dirty="0">
                <a:solidFill>
                  <a:srgbClr val="FF0000"/>
                </a:solidFill>
              </a:rPr>
              <a:t>串首终结符</a:t>
            </a:r>
            <a:endParaRPr lang="en-US" altLang="zh-CN" sz="2500" b="1" dirty="0">
              <a:solidFill>
                <a:srgbClr val="FF0000"/>
              </a:solidFill>
            </a:endParaRPr>
          </a:p>
          <a:p>
            <a:pPr lvl="1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chemeClr val="tx1"/>
                </a:solidFill>
              </a:rPr>
              <a:t>串首第一个符号，并且是终结符。简称首终结符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给定一个文法符号串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α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α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</a:t>
            </a:r>
            <a:r>
              <a:rPr lang="zh-CN" altLang="en-US" sz="2500" b="1" dirty="0">
                <a:solidFill>
                  <a:srgbClr val="FF0000"/>
                </a:solidFill>
                <a:cs typeface="Times New Roman" panose="02020603050405020304" pitchFamily="18" charset="0"/>
              </a:rPr>
              <a:t>串首终结符集</a:t>
            </a:r>
            <a:r>
              <a:rPr lang="en-US" altLang="zh-CN" sz="2500" b="1" i="1" dirty="0">
                <a:solidFill>
                  <a:srgbClr val="FF0000"/>
                </a:solidFill>
                <a:cs typeface="Times New Roman" panose="02020603050405020304" pitchFamily="18" charset="0"/>
              </a:rPr>
              <a:t>FIRST</a:t>
            </a:r>
            <a:r>
              <a:rPr lang="en-US" altLang="zh-CN" sz="2500" b="1" dirty="0">
                <a:solidFill>
                  <a:srgbClr val="FF0000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500" b="1" i="1" dirty="0">
                <a:solidFill>
                  <a:srgbClr val="FF0000"/>
                </a:solidFill>
                <a:cs typeface="Times New Roman" panose="02020603050405020304" pitchFamily="18" charset="0"/>
              </a:rPr>
              <a:t>α</a:t>
            </a:r>
            <a:r>
              <a:rPr lang="en-US" altLang="zh-CN" sz="2500" b="1" dirty="0">
                <a:solidFill>
                  <a:srgbClr val="FF0000"/>
                </a:solidFill>
                <a:cs typeface="Times New Roman" panose="02020603050405020304" pitchFamily="18" charset="0"/>
              </a:rPr>
              <a:t>)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被定义为可以从</a:t>
            </a:r>
            <a:r>
              <a:rPr lang="el-GR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α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推导出的所有</a:t>
            </a:r>
            <a:r>
              <a:rPr lang="zh-CN" altLang="en-US" sz="2500" b="1" dirty="0">
                <a:solidFill>
                  <a:srgbClr val="2D83F4"/>
                </a:solidFill>
                <a:cs typeface="Times New Roman" panose="02020603050405020304" pitchFamily="18" charset="0"/>
              </a:rPr>
              <a:t>串首终结符</a:t>
            </a:r>
            <a:r>
              <a:rPr lang="zh-CN" altLang="en-US" sz="2500" b="1" dirty="0">
                <a:solidFill>
                  <a:schemeClr val="tx1"/>
                </a:solidFill>
              </a:rPr>
              <a:t>构成的集合。</a:t>
            </a:r>
            <a:r>
              <a:rPr lang="zh-CN" altLang="en-US" sz="2500" b="1" dirty="0">
                <a:solidFill>
                  <a:srgbClr val="2D83F4"/>
                </a:solidFill>
              </a:rPr>
              <a:t>如果</a:t>
            </a:r>
            <a:r>
              <a:rPr lang="en-US" altLang="zh-CN" sz="2500" b="1" i="1" dirty="0">
                <a:solidFill>
                  <a:srgbClr val="2D83F4"/>
                </a:solidFill>
                <a:ea typeface="楷体_GB2312"/>
                <a:cs typeface="楷体_GB2312"/>
              </a:rPr>
              <a:t>α </a:t>
            </a:r>
            <a:r>
              <a:rPr lang="en-US" altLang="zh-CN" sz="2500" b="1" dirty="0">
                <a:solidFill>
                  <a:srgbClr val="2D83F4"/>
                </a:solidFill>
                <a:ea typeface="楷体_GB2312"/>
                <a:cs typeface="楷体_GB2312"/>
                <a:sym typeface="Symbol" panose="05050102010706020507" pitchFamily="18" charset="2"/>
              </a:rPr>
              <a:t></a:t>
            </a:r>
            <a:r>
              <a:rPr lang="en-US" altLang="zh-CN" sz="2500" b="1" baseline="30000" dirty="0">
                <a:solidFill>
                  <a:srgbClr val="2D83F4"/>
                </a:solidFill>
                <a:ea typeface="楷体_GB2312"/>
                <a:cs typeface="楷体_GB2312"/>
              </a:rPr>
              <a:t>*</a:t>
            </a:r>
            <a:r>
              <a:rPr lang="en-US" altLang="zh-CN" sz="2500" b="1" dirty="0">
                <a:solidFill>
                  <a:srgbClr val="2D83F4"/>
                </a:solidFill>
                <a:ea typeface="楷体_GB2312"/>
                <a:cs typeface="楷体_GB2312"/>
              </a:rPr>
              <a:t> </a:t>
            </a:r>
            <a:r>
              <a:rPr lang="en-US" altLang="zh-CN" sz="2500" b="1" i="1" dirty="0">
                <a:solidFill>
                  <a:srgbClr val="2D83F4"/>
                </a:solidFill>
                <a:ea typeface="楷体_GB2312"/>
                <a:cs typeface="楷体_GB2312"/>
              </a:rPr>
              <a:t>ε</a:t>
            </a:r>
            <a:r>
              <a:rPr lang="zh-CN" altLang="en-US" sz="2500" b="1" dirty="0">
                <a:solidFill>
                  <a:srgbClr val="2D83F4"/>
                </a:solidFill>
              </a:rPr>
              <a:t>，那么</a:t>
            </a:r>
            <a:r>
              <a:rPr lang="en-US" altLang="zh-CN" sz="2500" b="1" i="1" dirty="0">
                <a:solidFill>
                  <a:srgbClr val="2D83F4"/>
                </a:solidFill>
                <a:ea typeface="楷体_GB2312"/>
                <a:cs typeface="楷体_GB2312"/>
              </a:rPr>
              <a:t>ε</a:t>
            </a:r>
            <a:r>
              <a:rPr lang="zh-CN" altLang="en-US" sz="2500" b="1" dirty="0">
                <a:solidFill>
                  <a:srgbClr val="2D83F4"/>
                </a:solidFill>
              </a:rPr>
              <a:t>也在</a:t>
            </a:r>
            <a:r>
              <a:rPr lang="en-US" altLang="zh-CN" sz="2500" b="1" i="1" dirty="0">
                <a:solidFill>
                  <a:srgbClr val="2D83F4"/>
                </a:solidFill>
              </a:rPr>
              <a:t>FIRST</a:t>
            </a:r>
            <a:r>
              <a:rPr lang="en-US" altLang="zh-CN" sz="2500" b="1" dirty="0">
                <a:solidFill>
                  <a:srgbClr val="2D83F4"/>
                </a:solidFill>
              </a:rPr>
              <a:t>(</a:t>
            </a:r>
            <a:r>
              <a:rPr lang="en-US" altLang="zh-CN" sz="2500" b="1" i="1" dirty="0">
                <a:solidFill>
                  <a:srgbClr val="2D83F4"/>
                </a:solidFill>
              </a:rPr>
              <a:t>α</a:t>
            </a:r>
            <a:r>
              <a:rPr lang="en-US" altLang="zh-CN" sz="2500" b="1" dirty="0">
                <a:solidFill>
                  <a:srgbClr val="2D83F4"/>
                </a:solidFill>
              </a:rPr>
              <a:t>)</a:t>
            </a:r>
            <a:r>
              <a:rPr lang="zh-CN" altLang="en-US" sz="2500" b="1" dirty="0">
                <a:solidFill>
                  <a:srgbClr val="2D83F4"/>
                </a:solidFill>
              </a:rPr>
              <a:t>中</a:t>
            </a:r>
            <a:endParaRPr lang="en-US" altLang="zh-CN" sz="2500" b="1" dirty="0">
              <a:solidFill>
                <a:srgbClr val="2D83F4"/>
              </a:solidFill>
            </a:endParaRPr>
          </a:p>
          <a:p>
            <a:pPr lvl="1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chemeClr val="tx1"/>
                </a:solidFill>
                <a:latin typeface="楷体" panose="02010609060101010101" pitchFamily="49" charset="-122"/>
                <a:sym typeface="Symbol" panose="05050102010706020507" pitchFamily="18" charset="2"/>
              </a:rPr>
              <a:t>对于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  <a:sym typeface="Symbol" panose="05050102010706020507" pitchFamily="18" charset="2"/>
              </a:rPr>
              <a:t> </a:t>
            </a:r>
            <a:r>
              <a:rPr lang="zh-CN" altLang="en-US" sz="2000" b="1" dirty="0">
                <a:solidFill>
                  <a:schemeClr val="tx1"/>
                </a:solidFill>
                <a:ea typeface="楷体_GB2312"/>
                <a:cs typeface="楷体_GB2312"/>
                <a:sym typeface="Symbol" panose="05050102010706020507" pitchFamily="18" charset="2"/>
              </a:rPr>
              <a:t>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α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∈(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V</a:t>
            </a:r>
            <a:r>
              <a:rPr lang="en-US" altLang="zh-CN" sz="2000" b="1" i="1" baseline="-25000" dirty="0">
                <a:solidFill>
                  <a:schemeClr val="tx1"/>
                </a:solidFill>
                <a:ea typeface="楷体_GB2312"/>
                <a:cs typeface="楷体_GB2312"/>
              </a:rPr>
              <a:t>T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∪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V </a:t>
            </a:r>
            <a:r>
              <a:rPr lang="en-US" altLang="zh-CN" sz="2000" b="1" i="1" baseline="-25000" dirty="0">
                <a:solidFill>
                  <a:schemeClr val="tx1"/>
                </a:solidFill>
                <a:ea typeface="楷体_GB2312"/>
                <a:cs typeface="楷体_GB2312"/>
              </a:rPr>
              <a:t>N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)</a:t>
            </a:r>
            <a:r>
              <a:rPr lang="en-US" altLang="zh-CN" sz="2000" b="1" baseline="30000" dirty="0">
                <a:solidFill>
                  <a:schemeClr val="tx1"/>
                </a:solidFill>
                <a:ea typeface="楷体_GB2312"/>
                <a:cs typeface="楷体_GB2312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, 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FIRST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α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)={ 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a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 | 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α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  <a:sym typeface="Symbol" panose="05050102010706020507" pitchFamily="18" charset="2"/>
              </a:rPr>
              <a:t></a:t>
            </a:r>
            <a:r>
              <a:rPr lang="en-US" altLang="zh-CN" sz="2000" b="1" baseline="30000" dirty="0">
                <a:solidFill>
                  <a:schemeClr val="tx1"/>
                </a:solidFill>
                <a:ea typeface="楷体_GB2312"/>
                <a:cs typeface="楷体_GB2312"/>
              </a:rPr>
              <a:t>*</a:t>
            </a:r>
            <a:r>
              <a:rPr lang="en-US" altLang="zh-CN" sz="2000" b="1" dirty="0">
                <a:solidFill>
                  <a:srgbClr val="FF0000"/>
                </a:solidFill>
                <a:ea typeface="楷体_GB2312"/>
                <a:cs typeface="楷体_GB2312"/>
              </a:rPr>
              <a:t> 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aβ</a:t>
            </a:r>
            <a:r>
              <a:rPr lang="zh-CN" altLang="en-US" sz="2000" b="1" dirty="0">
                <a:solidFill>
                  <a:schemeClr val="tx1"/>
                </a:solidFill>
                <a:ea typeface="楷体_GB2312"/>
                <a:cs typeface="楷体_GB2312"/>
              </a:rPr>
              <a:t>，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a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∈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 V</a:t>
            </a:r>
            <a:r>
              <a:rPr lang="en-US" altLang="zh-CN" sz="2000" b="1" i="1" baseline="-25000" dirty="0">
                <a:solidFill>
                  <a:schemeClr val="tx1"/>
                </a:solidFill>
                <a:ea typeface="楷体_GB2312"/>
                <a:cs typeface="楷体_GB2312"/>
              </a:rPr>
              <a:t>T</a:t>
            </a:r>
            <a:r>
              <a:rPr lang="zh-CN" altLang="en-US" sz="2000" b="1" dirty="0">
                <a:solidFill>
                  <a:schemeClr val="tx1"/>
                </a:solidFill>
                <a:ea typeface="楷体_GB2312"/>
                <a:cs typeface="楷体_GB2312"/>
              </a:rPr>
              <a:t>，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β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∈(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V </a:t>
            </a:r>
            <a:r>
              <a:rPr lang="en-US" altLang="zh-CN" sz="2000" b="1" i="1" baseline="-25000" dirty="0">
                <a:solidFill>
                  <a:schemeClr val="tx1"/>
                </a:solidFill>
                <a:ea typeface="楷体_GB2312"/>
                <a:cs typeface="楷体_GB2312"/>
              </a:rPr>
              <a:t>T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∪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 V </a:t>
            </a:r>
            <a:r>
              <a:rPr lang="en-US" altLang="zh-CN" sz="2000" b="1" i="1" baseline="-25000" dirty="0">
                <a:solidFill>
                  <a:schemeClr val="tx1"/>
                </a:solidFill>
                <a:ea typeface="楷体_GB2312"/>
                <a:cs typeface="楷体_GB2312"/>
              </a:rPr>
              <a:t>N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)</a:t>
            </a:r>
            <a:r>
              <a:rPr lang="en-US" altLang="zh-CN" sz="2000" b="1" baseline="30000" dirty="0">
                <a:solidFill>
                  <a:schemeClr val="tx1"/>
                </a:solidFill>
                <a:ea typeface="楷体_GB2312"/>
                <a:cs typeface="楷体_GB2312"/>
              </a:rPr>
              <a:t>*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}</a:t>
            </a:r>
            <a:r>
              <a:rPr lang="zh-CN" altLang="en-US" sz="2000" b="1" dirty="0">
                <a:solidFill>
                  <a:schemeClr val="tx1"/>
                </a:solidFill>
                <a:ea typeface="楷体_GB2312"/>
                <a:cs typeface="楷体_GB2312"/>
              </a:rPr>
              <a:t>；</a:t>
            </a:r>
            <a:endParaRPr lang="en-US" altLang="zh-CN" sz="2000" b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lvl="1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chemeClr val="tx1"/>
                </a:solidFill>
                <a:latin typeface="楷体" panose="02010609060101010101" pitchFamily="49" charset="-122"/>
              </a:rPr>
              <a:t>如果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α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  <a:sym typeface="Symbol" panose="05050102010706020507" pitchFamily="18" charset="2"/>
              </a:rPr>
              <a:t></a:t>
            </a:r>
            <a:r>
              <a:rPr lang="en-US" altLang="zh-CN" sz="2000" b="1" baseline="30000" dirty="0">
                <a:solidFill>
                  <a:schemeClr val="tx1"/>
                </a:solidFill>
                <a:ea typeface="楷体_GB2312"/>
                <a:cs typeface="楷体_GB2312"/>
              </a:rPr>
              <a:t>*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r>
              <a:rPr lang="zh-CN" altLang="en-US" sz="2000" b="1" dirty="0">
                <a:solidFill>
                  <a:schemeClr val="tx1"/>
                </a:solidFill>
                <a:ea typeface="楷体_GB2312"/>
                <a:cs typeface="楷体_GB2312"/>
              </a:rPr>
              <a:t>，</a:t>
            </a:r>
            <a:r>
              <a:rPr lang="zh-CN" altLang="en-US" sz="2000" b="1" dirty="0">
                <a:solidFill>
                  <a:schemeClr val="tx1"/>
                </a:solidFill>
                <a:latin typeface="楷体" panose="02010609060101010101" pitchFamily="49" charset="-122"/>
              </a:rPr>
              <a:t>那么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sz="2000" b="1" i="1" dirty="0" err="1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r>
              <a:rPr lang="en-US" altLang="zh-CN" sz="2000" b="1" dirty="0" err="1">
                <a:solidFill>
                  <a:schemeClr val="tx1"/>
                </a:solidFill>
                <a:ea typeface="楷体_GB2312"/>
                <a:cs typeface="楷体_GB2312"/>
              </a:rPr>
              <a:t>∈</a:t>
            </a:r>
            <a:r>
              <a:rPr lang="en-US" altLang="zh-CN" sz="2000" b="1" i="1" dirty="0" err="1">
                <a:solidFill>
                  <a:schemeClr val="tx1"/>
                </a:solidFill>
                <a:ea typeface="楷体_GB2312"/>
                <a:cs typeface="楷体_GB2312"/>
              </a:rPr>
              <a:t>FIRST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α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)</a:t>
            </a:r>
            <a:endParaRPr lang="zh-CN" altLang="en-US" sz="2000" b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</a:rPr>
              <a:t>产生式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楷体_GB2312"/>
              </a:rPr>
              <a:t>A→α</a:t>
            </a:r>
            <a:r>
              <a:rPr lang="zh-CN" altLang="en-US" sz="2500" b="1" dirty="0">
                <a:solidFill>
                  <a:schemeClr val="tx1"/>
                </a:solidFill>
              </a:rPr>
              <a:t>的可选集</a:t>
            </a:r>
            <a:r>
              <a:rPr lang="en-US" altLang="zh-CN" sz="2500" b="1" i="1" dirty="0">
                <a:solidFill>
                  <a:schemeClr val="tx1"/>
                </a:solidFill>
              </a:rPr>
              <a:t>SELECT</a:t>
            </a:r>
          </a:p>
          <a:p>
            <a:pPr lvl="1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chemeClr val="tx1"/>
                </a:solidFill>
                <a:latin typeface="楷体" panose="02010609060101010101" pitchFamily="49" charset="-122"/>
              </a:rPr>
              <a:t>如果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sz="2000" b="1" i="1" dirty="0" err="1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r>
              <a:rPr lang="en-US" altLang="zh-CN" sz="2000" b="1" dirty="0" err="1">
                <a:solidFill>
                  <a:schemeClr val="tx1"/>
                </a:solidFill>
                <a:ea typeface="楷体_GB2312"/>
                <a:cs typeface="楷体_GB2312"/>
                <a:sym typeface="Symbol" panose="05050102010706020507" pitchFamily="18" charset="2"/>
              </a:rPr>
              <a:t></a:t>
            </a:r>
            <a:r>
              <a:rPr lang="en-US" altLang="zh-CN" sz="2000" b="1" i="1" dirty="0" err="1">
                <a:solidFill>
                  <a:schemeClr val="tx1"/>
                </a:solidFill>
                <a:ea typeface="楷体_GB2312"/>
                <a:cs typeface="楷体_GB2312"/>
              </a:rPr>
              <a:t>FIRST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α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), </a:t>
            </a:r>
            <a:r>
              <a:rPr lang="zh-CN" altLang="en-US" sz="2000" b="1" dirty="0">
                <a:solidFill>
                  <a:schemeClr val="tx1"/>
                </a:solidFill>
              </a:rPr>
              <a:t> 那么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SELECT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A→α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)= 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FIRST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α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)</a:t>
            </a:r>
          </a:p>
          <a:p>
            <a:pPr lvl="1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chemeClr val="tx1"/>
                </a:solidFill>
                <a:latin typeface="楷体" panose="02010609060101010101" pitchFamily="49" charset="-122"/>
              </a:rPr>
              <a:t>如果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 </a:t>
            </a:r>
            <a:r>
              <a:rPr lang="en-US" altLang="zh-CN" sz="2000" b="1" i="1" dirty="0" err="1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r>
              <a:rPr lang="en-US" altLang="zh-CN" sz="2000" b="1" dirty="0" err="1">
                <a:solidFill>
                  <a:schemeClr val="tx1"/>
                </a:solidFill>
                <a:ea typeface="楷体_GB2312"/>
                <a:cs typeface="楷体_GB2312"/>
              </a:rPr>
              <a:t>∈</a:t>
            </a:r>
            <a:r>
              <a:rPr lang="en-US" altLang="zh-CN" sz="2000" b="1" i="1" dirty="0" err="1">
                <a:solidFill>
                  <a:schemeClr val="tx1"/>
                </a:solidFill>
                <a:ea typeface="楷体_GB2312"/>
                <a:cs typeface="楷体_GB2312"/>
              </a:rPr>
              <a:t>FIRST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α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), </a:t>
            </a:r>
            <a:r>
              <a:rPr lang="zh-CN" altLang="en-US" sz="2000" b="1" dirty="0">
                <a:solidFill>
                  <a:schemeClr val="tx1"/>
                </a:solidFill>
                <a:latin typeface="楷体" panose="02010609060101010101" pitchFamily="49" charset="-122"/>
              </a:rPr>
              <a:t>那么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SELECT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A→α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)=( 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FIRST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α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)-{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ε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} )∪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FOLLOW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楷体_GB2312"/>
              </a:rPr>
              <a:t>A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楷体_GB2312"/>
              </a:rPr>
              <a:t>)</a:t>
            </a:r>
          </a:p>
          <a:p>
            <a:pPr eaLnBrk="1" hangingPunct="1">
              <a:lnSpc>
                <a:spcPts val="3200"/>
              </a:lnSpc>
            </a:pPr>
            <a:endParaRPr lang="en-US" altLang="zh-CN" sz="2500" b="1" dirty="0">
              <a:solidFill>
                <a:schemeClr val="tx1"/>
              </a:solidFill>
              <a:ea typeface="楷体_GB2312"/>
              <a:cs typeface="楷体_GB2312"/>
            </a:endParaRPr>
          </a:p>
          <a:p>
            <a:pPr eaLnBrk="1" hangingPunct="1"/>
            <a:endParaRPr lang="zh-CN" altLang="en-US" sz="2500" dirty="0">
              <a:solidFill>
                <a:schemeClr val="tx1"/>
              </a:solidFill>
            </a:endParaRPr>
          </a:p>
        </p:txBody>
      </p:sp>
      <p:sp>
        <p:nvSpPr>
          <p:cNvPr id="40963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串首终结符集</a:t>
            </a:r>
          </a:p>
        </p:txBody>
      </p:sp>
      <p:sp>
        <p:nvSpPr>
          <p:cNvPr id="63492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AE8BF3D-F314-4CC3-AFB7-4D133B70F71A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42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内容占位符 2"/>
          <p:cNvSpPr>
            <a:spLocks noGrp="1"/>
          </p:cNvSpPr>
          <p:nvPr>
            <p:ph idx="1"/>
          </p:nvPr>
        </p:nvSpPr>
        <p:spPr>
          <a:xfrm>
            <a:off x="285750" y="774700"/>
            <a:ext cx="8572500" cy="3225800"/>
          </a:xfrm>
        </p:spPr>
        <p:txBody>
          <a:bodyPr/>
          <a:lstStyle/>
          <a:p>
            <a:pPr eaLnBrk="1" hangingPunct="1">
              <a:lnSpc>
                <a:spcPts val="33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文法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G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是</a:t>
            </a:r>
            <a:r>
              <a:rPr lang="en-US" altLang="zh-CN" sz="2500" b="1" i="1" dirty="0">
                <a:solidFill>
                  <a:srgbClr val="FF0000"/>
                </a:solidFill>
                <a:cs typeface="Times New Roman" pitchFamily="18" charset="0"/>
              </a:rPr>
              <a:t>LL</a:t>
            </a:r>
            <a:r>
              <a:rPr lang="en-US" altLang="zh-CN" sz="2500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(1)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的，当且仅当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G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的任意两个具有相同左部的产生式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 → α | β 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满足下面的条件：</a:t>
            </a:r>
          </a:p>
          <a:p>
            <a:pPr lvl="1" eaLnBrk="1" hangingPunct="1">
              <a:lnSpc>
                <a:spcPts val="33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不存在终结符</a:t>
            </a:r>
            <a:r>
              <a:rPr lang="en-US" altLang="zh-CN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a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使得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α 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和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β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都能够推导出以</a:t>
            </a:r>
            <a:r>
              <a:rPr lang="en-US" altLang="zh-CN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a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开头的串</a:t>
            </a:r>
            <a:endParaRPr lang="en-US" altLang="zh-CN" sz="2500" b="1" dirty="0">
              <a:solidFill>
                <a:schemeClr val="tx1"/>
              </a:solidFill>
              <a:cs typeface="Times New Roman" pitchFamily="18" charset="0"/>
            </a:endParaRPr>
          </a:p>
          <a:p>
            <a:pPr lvl="1" eaLnBrk="1" hangingPunct="1">
              <a:lnSpc>
                <a:spcPts val="33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α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楷体_GB2312"/>
              </a:rPr>
              <a:t>和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β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楷体_GB2312"/>
              </a:rPr>
              <a:t>至多有一个能推导出</a:t>
            </a:r>
            <a:r>
              <a:rPr lang="en-US" altLang="zh-CN" sz="2500" b="1" i="1" dirty="0">
                <a:solidFill>
                  <a:schemeClr val="tx1"/>
                </a:solidFill>
                <a:latin typeface="+mn-ea"/>
                <a:cs typeface="楷体_GB2312"/>
              </a:rPr>
              <a:t>ε </a:t>
            </a:r>
            <a:endParaRPr lang="en-US" altLang="zh-CN" sz="2500" b="1" dirty="0">
              <a:solidFill>
                <a:schemeClr val="tx1"/>
              </a:solidFill>
              <a:latin typeface="+mn-ea"/>
            </a:endParaRPr>
          </a:p>
          <a:p>
            <a:pPr lvl="1" eaLnBrk="1" hangingPunct="1">
              <a:lnSpc>
                <a:spcPts val="33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如果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β 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</a:t>
            </a:r>
            <a:r>
              <a:rPr lang="en-US" altLang="zh-CN" sz="2500" b="1" baseline="30000" dirty="0">
                <a:solidFill>
                  <a:schemeClr val="tx1"/>
                </a:solidFill>
                <a:cs typeface="Times New Roman" pitchFamily="18" charset="0"/>
              </a:rPr>
              <a:t>*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ε</a:t>
            </a:r>
            <a:r>
              <a:rPr lang="zh-CN" altLang="el-GR" sz="2500" b="1" dirty="0">
                <a:solidFill>
                  <a:schemeClr val="tx1"/>
                </a:solidFill>
                <a:latin typeface="+mn-ea"/>
              </a:rPr>
              <a:t>，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则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FIRST 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α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)∩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FOLLOW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) =</a:t>
            </a:r>
            <a:r>
              <a:rPr lang="el-GR" altLang="zh-CN" sz="2500" b="1" dirty="0">
                <a:solidFill>
                  <a:schemeClr val="tx1"/>
                </a:solidFill>
                <a:cs typeface="Times New Roman" pitchFamily="18" charset="0"/>
              </a:rPr>
              <a:t>Φ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楷体_GB2312"/>
              </a:rPr>
              <a:t>；</a:t>
            </a:r>
            <a:endParaRPr lang="en-US" altLang="zh-CN" sz="2500" b="1" dirty="0">
              <a:solidFill>
                <a:schemeClr val="tx1"/>
              </a:solidFill>
              <a:latin typeface="+mn-ea"/>
              <a:cs typeface="楷体_GB2312"/>
            </a:endParaRPr>
          </a:p>
          <a:p>
            <a:pPr lvl="1" eaLnBrk="1" hangingPunct="1">
              <a:lnSpc>
                <a:spcPts val="33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2500" b="1" dirty="0">
                <a:solidFill>
                  <a:schemeClr val="tx1"/>
                </a:solidFill>
                <a:latin typeface="+mn-ea"/>
              </a:rPr>
              <a:t>   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如果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α 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</a:t>
            </a:r>
            <a:r>
              <a:rPr lang="en-US" altLang="zh-CN" sz="2500" b="1" baseline="30000" dirty="0">
                <a:solidFill>
                  <a:schemeClr val="tx1"/>
                </a:solidFill>
                <a:cs typeface="Times New Roman" pitchFamily="18" charset="0"/>
              </a:rPr>
              <a:t>*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ε</a:t>
            </a:r>
            <a:r>
              <a:rPr lang="zh-CN" altLang="el-GR" sz="2500" b="1" dirty="0">
                <a:solidFill>
                  <a:schemeClr val="tx1"/>
                </a:solidFill>
                <a:latin typeface="+mn-ea"/>
              </a:rPr>
              <a:t>，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则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FIRST 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β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)∩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FOLLOW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) =</a:t>
            </a:r>
            <a:r>
              <a:rPr lang="el-GR" altLang="zh-CN" sz="2500" b="1" dirty="0">
                <a:solidFill>
                  <a:schemeClr val="tx1"/>
                </a:solidFill>
                <a:cs typeface="Times New Roman" pitchFamily="18" charset="0"/>
              </a:rPr>
              <a:t>Φ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楷体_GB2312"/>
              </a:rPr>
              <a:t>；</a:t>
            </a:r>
            <a:endParaRPr lang="en-US" altLang="zh-CN" sz="2500" b="1" dirty="0">
              <a:solidFill>
                <a:schemeClr val="tx1"/>
              </a:solidFill>
              <a:latin typeface="+mn-ea"/>
              <a:cs typeface="楷体_GB2312"/>
            </a:endParaRPr>
          </a:p>
          <a:p>
            <a:pPr lvl="1" eaLnBrk="1" hangingPunct="1">
              <a:defRPr/>
            </a:pPr>
            <a:endParaRPr lang="en-US" altLang="zh-CN" sz="2500" b="1" dirty="0">
              <a:solidFill>
                <a:schemeClr val="tx1"/>
              </a:solidFill>
              <a:latin typeface="+mn-ea"/>
              <a:cs typeface="楷体_GB2312"/>
            </a:endParaRPr>
          </a:p>
        </p:txBody>
      </p:sp>
      <p:sp>
        <p:nvSpPr>
          <p:cNvPr id="41987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en-US" altLang="zh-CN" sz="3000" i="1" spc="300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LL</a:t>
            </a:r>
            <a:r>
              <a:rPr lang="en-US" altLang="zh-CN" sz="3000" spc="300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(1)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文法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4"/>
          <p:cNvSpPr>
            <a:spLocks noChangeArrowheads="1"/>
          </p:cNvSpPr>
          <p:nvPr/>
        </p:nvSpPr>
        <p:spPr bwMode="auto">
          <a:xfrm>
            <a:off x="1406525" y="3810000"/>
            <a:ext cx="6665913" cy="4762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lvl="1">
              <a:spcBef>
                <a:spcPct val="30000"/>
              </a:spcBef>
              <a:defRPr/>
            </a:pPr>
            <a:r>
              <a:rPr lang="zh-CN" altLang="en-US" sz="25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同一非终结符的各个产生式的</a:t>
            </a:r>
            <a:r>
              <a:rPr lang="zh-CN" altLang="en-US" sz="2500" b="1" dirty="0">
                <a:solidFill>
                  <a:srgbClr val="3333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可选集互不相交</a:t>
            </a:r>
          </a:p>
        </p:txBody>
      </p:sp>
      <p:sp>
        <p:nvSpPr>
          <p:cNvPr id="5" name="矩形 1"/>
          <p:cNvSpPr>
            <a:spLocks noChangeArrowheads="1"/>
          </p:cNvSpPr>
          <p:nvPr/>
        </p:nvSpPr>
        <p:spPr bwMode="auto">
          <a:xfrm>
            <a:off x="2214563" y="4429125"/>
            <a:ext cx="4924425" cy="47783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5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可以为</a:t>
            </a:r>
            <a:r>
              <a:rPr lang="en-US" altLang="zh-CN" sz="25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LL</a:t>
            </a:r>
            <a:r>
              <a:rPr lang="en-US" altLang="zh-CN" sz="25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(1)</a:t>
            </a:r>
            <a:r>
              <a:rPr lang="zh-CN" altLang="en-US" sz="25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文法构造预测分析器</a:t>
            </a:r>
          </a:p>
        </p:txBody>
      </p:sp>
      <p:sp>
        <p:nvSpPr>
          <p:cNvPr id="65542" name="灯片编号占位符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7865B91-5BB5-4F4D-9CF9-396E9C92CCAC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43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5" grpId="0" animBg="1"/>
      <p:bldP spid="5" grpId="1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4"/>
          <p:cNvSpPr>
            <a:spLocks noChangeArrowheads="1"/>
          </p:cNvSpPr>
          <p:nvPr/>
        </p:nvSpPr>
        <p:spPr bwMode="auto">
          <a:xfrm>
            <a:off x="100013" y="3749675"/>
            <a:ext cx="8929687" cy="12461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285750" indent="-285750" eaLnBrk="1" hangingPunct="1">
              <a:lnSpc>
                <a:spcPts val="3000"/>
              </a:lnSpc>
              <a:buFont typeface="Wingdings" pitchFamily="2" charset="2"/>
              <a:buChar char="Ø"/>
              <a:defRPr/>
            </a:pPr>
            <a:r>
              <a:rPr lang="zh-CN" altLang="en-US" sz="22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第一个“</a:t>
            </a:r>
            <a:r>
              <a:rPr lang="en-US" altLang="zh-CN" sz="22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L</a:t>
            </a: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”</a:t>
            </a:r>
            <a:r>
              <a:rPr lang="zh-CN" altLang="en-US" sz="22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表示</a:t>
            </a:r>
            <a:r>
              <a:rPr lang="zh-CN" altLang="en-US" sz="2200" b="1" dirty="0">
                <a:solidFill>
                  <a:srgbClr val="3333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从左</a:t>
            </a:r>
            <a:r>
              <a:rPr lang="zh-CN" altLang="en-US" sz="22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向右扫描输入</a:t>
            </a:r>
          </a:p>
          <a:p>
            <a:pPr marL="285750" indent="-285750" eaLnBrk="1" hangingPunct="1">
              <a:lnSpc>
                <a:spcPts val="3000"/>
              </a:lnSpc>
              <a:buFont typeface="Wingdings" pitchFamily="2" charset="2"/>
              <a:buChar char="Ø"/>
              <a:defRPr/>
            </a:pPr>
            <a:r>
              <a:rPr lang="zh-CN" altLang="en-US" sz="22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第二个“ </a:t>
            </a:r>
            <a:r>
              <a:rPr lang="en-US" altLang="zh-CN" sz="2200" b="1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L</a:t>
            </a: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”</a:t>
            </a:r>
            <a:r>
              <a:rPr lang="zh-CN" altLang="en-US" sz="22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表示产生</a:t>
            </a:r>
            <a:r>
              <a:rPr lang="zh-CN" altLang="en-US" sz="2200" b="1" dirty="0">
                <a:solidFill>
                  <a:srgbClr val="3333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最左</a:t>
            </a:r>
            <a:r>
              <a:rPr lang="zh-CN" altLang="en-US" sz="22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推导</a:t>
            </a:r>
          </a:p>
          <a:p>
            <a:pPr marL="285750" indent="-285750" eaLnBrk="1" hangingPunct="1">
              <a:lnSpc>
                <a:spcPts val="3000"/>
              </a:lnSpc>
              <a:buFont typeface="Wingdings" pitchFamily="2" charset="2"/>
              <a:buChar char="Ø"/>
              <a:defRPr/>
            </a:pPr>
            <a:r>
              <a:rPr lang="zh-CN" altLang="en-US" sz="22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“</a:t>
            </a:r>
            <a:r>
              <a:rPr lang="en-US" altLang="zh-CN" sz="22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1”</a:t>
            </a:r>
            <a:r>
              <a:rPr lang="zh-CN" altLang="en-US" sz="22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表示在每一步中只需要向前看</a:t>
            </a:r>
            <a:r>
              <a:rPr lang="zh-CN" altLang="en-US" sz="2200" b="1" dirty="0">
                <a:solidFill>
                  <a:srgbClr val="3333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一个</a:t>
            </a:r>
            <a:r>
              <a:rPr lang="zh-CN" altLang="en-US" sz="22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输入符号来决定语法分析动作</a:t>
            </a:r>
          </a:p>
        </p:txBody>
      </p:sp>
      <p:sp>
        <p:nvSpPr>
          <p:cNvPr id="7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>
              <a:defRPr/>
            </a:pPr>
            <a:r>
              <a:rPr lang="en-US" altLang="zh-CN" sz="3000" i="1" spc="300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LL</a:t>
            </a:r>
            <a:r>
              <a:rPr lang="en-US" altLang="zh-CN" sz="3000" spc="300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(1)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文法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285750" y="774700"/>
            <a:ext cx="8572500" cy="3225800"/>
          </a:xfrm>
        </p:spPr>
        <p:txBody>
          <a:bodyPr/>
          <a:lstStyle/>
          <a:p>
            <a:pPr eaLnBrk="1" hangingPunct="1">
              <a:lnSpc>
                <a:spcPts val="33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文法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G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是</a:t>
            </a:r>
            <a:r>
              <a:rPr lang="en-US" altLang="zh-CN" sz="2500" b="1" i="1" dirty="0">
                <a:solidFill>
                  <a:srgbClr val="FF0000"/>
                </a:solidFill>
                <a:cs typeface="Times New Roman" pitchFamily="18" charset="0"/>
              </a:rPr>
              <a:t>LL</a:t>
            </a:r>
            <a:r>
              <a:rPr lang="en-US" altLang="zh-CN" sz="2500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(1)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的，当且仅当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G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的任意两个具有相同左部的产生式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 → α | β 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满足下面的条件：</a:t>
            </a:r>
          </a:p>
          <a:p>
            <a:pPr lvl="1" eaLnBrk="1" hangingPunct="1">
              <a:lnSpc>
                <a:spcPts val="33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prstClr val="black"/>
                </a:solidFill>
                <a:latin typeface="华文楷体" panose="02010600040101010101" pitchFamily="2" charset="-122"/>
                <a:cs typeface="Times New Roman" pitchFamily="18" charset="0"/>
              </a:rPr>
              <a:t>不存在终结符</a:t>
            </a:r>
            <a:r>
              <a:rPr lang="en-US" altLang="zh-CN" sz="2500" b="1" dirty="0">
                <a:solidFill>
                  <a:prstClr val="black"/>
                </a:solidFill>
                <a:latin typeface="华文楷体" panose="02010600040101010101" pitchFamily="2" charset="-122"/>
                <a:cs typeface="Times New Roman" pitchFamily="18" charset="0"/>
              </a:rPr>
              <a:t>a</a:t>
            </a:r>
            <a:r>
              <a:rPr lang="zh-CN" altLang="en-US" sz="2500" b="1" dirty="0">
                <a:solidFill>
                  <a:prstClr val="black"/>
                </a:solidFill>
                <a:latin typeface="华文楷体" panose="02010600040101010101" pitchFamily="2" charset="-122"/>
                <a:cs typeface="Times New Roman" pitchFamily="18" charset="0"/>
              </a:rPr>
              <a:t>使得</a:t>
            </a:r>
            <a:r>
              <a:rPr lang="en-US" altLang="zh-CN" sz="2500" b="1" i="1" dirty="0">
                <a:solidFill>
                  <a:prstClr val="black"/>
                </a:solidFill>
                <a:cs typeface="Times New Roman" pitchFamily="18" charset="0"/>
              </a:rPr>
              <a:t>α </a:t>
            </a:r>
            <a:r>
              <a:rPr lang="zh-CN" altLang="en-US" sz="2500" b="1" dirty="0">
                <a:solidFill>
                  <a:prstClr val="black"/>
                </a:solidFill>
                <a:latin typeface="华文楷体" panose="02010600040101010101" pitchFamily="2" charset="-122"/>
                <a:cs typeface="Times New Roman" pitchFamily="18" charset="0"/>
              </a:rPr>
              <a:t>和</a:t>
            </a:r>
            <a:r>
              <a:rPr lang="en-US" altLang="zh-CN" sz="2500" b="1" i="1" dirty="0">
                <a:solidFill>
                  <a:prstClr val="black"/>
                </a:solidFill>
                <a:cs typeface="Times New Roman" pitchFamily="18" charset="0"/>
              </a:rPr>
              <a:t>β</a:t>
            </a:r>
            <a:r>
              <a:rPr lang="zh-CN" altLang="en-US" sz="2500" b="1" dirty="0">
                <a:solidFill>
                  <a:prstClr val="black"/>
                </a:solidFill>
                <a:latin typeface="华文楷体" panose="02010600040101010101" pitchFamily="2" charset="-122"/>
                <a:cs typeface="Times New Roman" pitchFamily="18" charset="0"/>
              </a:rPr>
              <a:t>都能够推导出以</a:t>
            </a:r>
            <a:r>
              <a:rPr lang="en-US" altLang="zh-CN" sz="2500" b="1" dirty="0">
                <a:solidFill>
                  <a:prstClr val="black"/>
                </a:solidFill>
                <a:latin typeface="华文楷体" panose="02010600040101010101" pitchFamily="2" charset="-122"/>
                <a:cs typeface="Times New Roman" pitchFamily="18" charset="0"/>
              </a:rPr>
              <a:t>a</a:t>
            </a:r>
            <a:r>
              <a:rPr lang="zh-CN" altLang="en-US" sz="2500" b="1" dirty="0">
                <a:solidFill>
                  <a:prstClr val="black"/>
                </a:solidFill>
                <a:latin typeface="华文楷体" panose="02010600040101010101" pitchFamily="2" charset="-122"/>
                <a:cs typeface="Times New Roman" pitchFamily="18" charset="0"/>
              </a:rPr>
              <a:t>开头的串</a:t>
            </a:r>
            <a:endParaRPr lang="en-US" altLang="zh-CN" sz="2500" b="1" dirty="0">
              <a:solidFill>
                <a:schemeClr val="tx1"/>
              </a:solidFill>
              <a:cs typeface="Times New Roman" pitchFamily="18" charset="0"/>
            </a:endParaRPr>
          </a:p>
          <a:p>
            <a:pPr lvl="1" eaLnBrk="1" hangingPunct="1">
              <a:lnSpc>
                <a:spcPts val="33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α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楷体_GB2312"/>
              </a:rPr>
              <a:t>和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β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楷体_GB2312"/>
              </a:rPr>
              <a:t>至多有一个能推导出</a:t>
            </a:r>
            <a:r>
              <a:rPr lang="en-US" altLang="zh-CN" sz="2500" b="1" i="1" dirty="0">
                <a:solidFill>
                  <a:schemeClr val="tx1"/>
                </a:solidFill>
                <a:latin typeface="+mn-ea"/>
                <a:cs typeface="楷体_GB2312"/>
              </a:rPr>
              <a:t>ε </a:t>
            </a:r>
            <a:endParaRPr lang="en-US" altLang="zh-CN" sz="2500" b="1" dirty="0">
              <a:solidFill>
                <a:schemeClr val="tx1"/>
              </a:solidFill>
              <a:latin typeface="+mn-ea"/>
            </a:endParaRPr>
          </a:p>
          <a:p>
            <a:pPr lvl="1" eaLnBrk="1" hangingPunct="1">
              <a:lnSpc>
                <a:spcPts val="33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如果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β 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</a:t>
            </a:r>
            <a:r>
              <a:rPr lang="en-US" altLang="zh-CN" sz="2500" b="1" baseline="30000" dirty="0">
                <a:solidFill>
                  <a:schemeClr val="tx1"/>
                </a:solidFill>
                <a:cs typeface="Times New Roman" pitchFamily="18" charset="0"/>
              </a:rPr>
              <a:t>*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ε</a:t>
            </a:r>
            <a:r>
              <a:rPr lang="zh-CN" altLang="el-GR" sz="2500" b="1" dirty="0">
                <a:solidFill>
                  <a:schemeClr val="tx1"/>
                </a:solidFill>
                <a:latin typeface="+mn-ea"/>
              </a:rPr>
              <a:t>，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则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FIRST 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α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)∩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FOLLOW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) =</a:t>
            </a:r>
            <a:r>
              <a:rPr lang="el-GR" altLang="zh-CN" sz="2500" b="1" dirty="0">
                <a:solidFill>
                  <a:schemeClr val="tx1"/>
                </a:solidFill>
                <a:cs typeface="Times New Roman" pitchFamily="18" charset="0"/>
              </a:rPr>
              <a:t>Φ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楷体_GB2312"/>
              </a:rPr>
              <a:t>；</a:t>
            </a:r>
            <a:endParaRPr lang="en-US" altLang="zh-CN" sz="2500" b="1" dirty="0">
              <a:solidFill>
                <a:schemeClr val="tx1"/>
              </a:solidFill>
              <a:latin typeface="+mn-ea"/>
              <a:cs typeface="楷体_GB2312"/>
            </a:endParaRPr>
          </a:p>
          <a:p>
            <a:pPr lvl="1" eaLnBrk="1" hangingPunct="1">
              <a:lnSpc>
                <a:spcPts val="33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2500" b="1" dirty="0">
                <a:solidFill>
                  <a:schemeClr val="tx1"/>
                </a:solidFill>
                <a:latin typeface="+mn-ea"/>
              </a:rPr>
              <a:t>   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如果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α 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</a:t>
            </a:r>
            <a:r>
              <a:rPr lang="en-US" altLang="zh-CN" sz="2500" b="1" baseline="30000" dirty="0">
                <a:solidFill>
                  <a:schemeClr val="tx1"/>
                </a:solidFill>
                <a:cs typeface="Times New Roman" pitchFamily="18" charset="0"/>
              </a:rPr>
              <a:t>*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ε</a:t>
            </a:r>
            <a:r>
              <a:rPr lang="zh-CN" altLang="el-GR" sz="2500" b="1" dirty="0">
                <a:solidFill>
                  <a:schemeClr val="tx1"/>
                </a:solidFill>
                <a:latin typeface="+mn-ea"/>
              </a:rPr>
              <a:t>，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则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FIRST 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β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)∩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FOLLOW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) =</a:t>
            </a:r>
            <a:r>
              <a:rPr lang="el-GR" altLang="zh-CN" sz="2500" b="1" dirty="0">
                <a:solidFill>
                  <a:schemeClr val="tx1"/>
                </a:solidFill>
                <a:cs typeface="Times New Roman" pitchFamily="18" charset="0"/>
              </a:rPr>
              <a:t>Φ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  <a:cs typeface="楷体_GB2312"/>
              </a:rPr>
              <a:t>；</a:t>
            </a:r>
            <a:endParaRPr lang="en-US" altLang="zh-CN" sz="2500" b="1" dirty="0">
              <a:solidFill>
                <a:schemeClr val="tx1"/>
              </a:solidFill>
              <a:latin typeface="+mn-ea"/>
              <a:cs typeface="楷体_GB2312"/>
            </a:endParaRPr>
          </a:p>
          <a:p>
            <a:pPr lvl="1" eaLnBrk="1" hangingPunct="1">
              <a:defRPr/>
            </a:pPr>
            <a:endParaRPr lang="en-US" altLang="zh-CN" sz="2500" b="1" dirty="0">
              <a:solidFill>
                <a:schemeClr val="tx1"/>
              </a:solidFill>
              <a:latin typeface="+mn-ea"/>
              <a:cs typeface="楷体_GB2312"/>
            </a:endParaRPr>
          </a:p>
        </p:txBody>
      </p:sp>
      <p:sp>
        <p:nvSpPr>
          <p:cNvPr id="67589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FD696A1-5FA7-49AF-BD95-EACFB3D97A48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44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总结</a:t>
            </a:r>
          </a:p>
        </p:txBody>
      </p:sp>
      <p:sp>
        <p:nvSpPr>
          <p:cNvPr id="6144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计算机实现自顶向下分析</a:t>
            </a:r>
            <a:r>
              <a:rPr lang="en-US" altLang="zh-CN" dirty="0"/>
              <a:t> </a:t>
            </a:r>
            <a:r>
              <a:rPr lang="zh-CN" altLang="en-US" dirty="0"/>
              <a:t>？</a:t>
            </a:r>
            <a:endParaRPr lang="en-US" altLang="zh-CN" dirty="0"/>
          </a:p>
          <a:p>
            <a:r>
              <a:rPr lang="zh-CN" altLang="en-US" dirty="0"/>
              <a:t>递归下降分析法</a:t>
            </a:r>
            <a:endParaRPr lang="en-US" altLang="zh-CN" dirty="0"/>
          </a:p>
          <a:p>
            <a:r>
              <a:rPr lang="en-US" altLang="zh-CN" dirty="0"/>
              <a:t>2. </a:t>
            </a:r>
            <a:r>
              <a:rPr lang="zh-CN" altLang="en-US" dirty="0"/>
              <a:t>文法转换：</a:t>
            </a:r>
            <a:endParaRPr lang="en-US" altLang="zh-CN" dirty="0"/>
          </a:p>
          <a:p>
            <a:r>
              <a:rPr lang="zh-CN" altLang="en-US" dirty="0"/>
              <a:t>提取左公因子和 消除左递归</a:t>
            </a:r>
            <a:endParaRPr lang="en-US" altLang="zh-CN" dirty="0"/>
          </a:p>
          <a:p>
            <a:r>
              <a:rPr lang="en-US" altLang="zh-CN" dirty="0"/>
              <a:t>3. LL(1)</a:t>
            </a:r>
            <a:r>
              <a:rPr lang="zh-CN" altLang="en-US" dirty="0"/>
              <a:t>文法的</a:t>
            </a:r>
            <a:r>
              <a:rPr lang="en-US" altLang="zh-CN" dirty="0"/>
              <a:t>First</a:t>
            </a:r>
            <a:r>
              <a:rPr lang="zh-CN" altLang="en-US" dirty="0"/>
              <a:t>集和</a:t>
            </a:r>
            <a:r>
              <a:rPr lang="en-US" altLang="zh-CN" dirty="0"/>
              <a:t>Select</a:t>
            </a:r>
            <a:r>
              <a:rPr lang="zh-CN" altLang="en-US" dirty="0"/>
              <a:t>集</a:t>
            </a:r>
          </a:p>
        </p:txBody>
      </p:sp>
      <p:sp>
        <p:nvSpPr>
          <p:cNvPr id="6963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F045C2B-561B-4D0E-9A44-4843B958345B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45</a:t>
            </a:fld>
            <a:endParaRPr lang="en-US" altLang="zh-CN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7D33A16A-5849-FCDA-7E8B-F25A56B9A811}"/>
              </a:ext>
            </a:extLst>
          </p:cNvPr>
          <p:cNvSpPr/>
          <p:nvPr/>
        </p:nvSpPr>
        <p:spPr>
          <a:xfrm>
            <a:off x="355600" y="1239838"/>
            <a:ext cx="6811963" cy="17541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宋体" panose="02010600030101010101" pitchFamily="2" charset="-122"/>
                <a:cs typeface="+mn-cs"/>
              </a:rPr>
              <a:t>识别单词的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宋体" panose="02010600030101010101" pitchFamily="2" charset="-122"/>
                <a:cs typeface="+mn-cs"/>
              </a:rPr>
              <a:t>DFA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华文楷体" panose="02010600040101010101" pitchFamily="2" charset="-122"/>
                <a:ea typeface="宋体" panose="02010600030101010101" pitchFamily="2" charset="-122"/>
                <a:cs typeface="+mn-cs"/>
              </a:rPr>
              <a:t>词法分析器的实现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华文楷体" panose="02010600040101010101" pitchFamily="2" charset="-122"/>
              <a:ea typeface="宋体" panose="02010600030101010101" pitchFamily="2" charset="-122"/>
              <a:cs typeface="+mn-cs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华文楷体" panose="02010600040101010101" pitchFamily="2" charset="-122"/>
                <a:ea typeface="宋体" panose="02010600030101010101" pitchFamily="2" charset="-122"/>
                <a:cs typeface="+mn-cs"/>
              </a:rPr>
              <a:t>词法分析器自动生成工具：</a:t>
            </a:r>
            <a:r>
              <a:rPr kumimoji="0" lang="en-US" altLang="zh-CN" sz="36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lex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29" name="Rectangle 2">
            <a:extLst>
              <a:ext uri="{FF2B5EF4-FFF2-40B4-BE49-F238E27FC236}">
                <a16:creationId xmlns:a16="http://schemas.microsoft.com/office/drawing/2014/main" id="{F532DF7D-CE58-E0CF-E811-236908585A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内容回顾</a:t>
            </a:r>
          </a:p>
        </p:txBody>
      </p:sp>
      <p:grpSp>
        <p:nvGrpSpPr>
          <p:cNvPr id="16388" name="组合 29">
            <a:extLst>
              <a:ext uri="{FF2B5EF4-FFF2-40B4-BE49-F238E27FC236}">
                <a16:creationId xmlns:a16="http://schemas.microsoft.com/office/drawing/2014/main" id="{81E70EBD-47C8-E19F-3D0E-C1CF2315B56D}"/>
              </a:ext>
            </a:extLst>
          </p:cNvPr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31" name="五边形 30">
              <a:extLst>
                <a:ext uri="{FF2B5EF4-FFF2-40B4-BE49-F238E27FC236}">
                  <a16:creationId xmlns:a16="http://schemas.microsoft.com/office/drawing/2014/main" id="{0F945131-6D0B-FD87-94BB-1DA81806F245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" name="五边形 33">
              <a:extLst>
                <a:ext uri="{FF2B5EF4-FFF2-40B4-BE49-F238E27FC236}">
                  <a16:creationId xmlns:a16="http://schemas.microsoft.com/office/drawing/2014/main" id="{B99C765F-65A4-EF1A-488A-677E2E762174}"/>
                </a:ext>
              </a:extLst>
            </p:cNvPr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6389" name="灯片编号占位符 2">
            <a:extLst>
              <a:ext uri="{FF2B5EF4-FFF2-40B4-BE49-F238E27FC236}">
                <a16:creationId xmlns:a16="http://schemas.microsoft.com/office/drawing/2014/main" id="{A8C5403D-DCAA-D5FC-5607-466276F3A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1DFFE4D-DBBA-4616-A64D-E48F7105E04F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  <a:cs typeface="楷体_GB2312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049690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内容占位符 1"/>
          <p:cNvSpPr>
            <a:spLocks noGrp="1"/>
          </p:cNvSpPr>
          <p:nvPr>
            <p:ph idx="1"/>
          </p:nvPr>
        </p:nvSpPr>
        <p:spPr>
          <a:xfrm>
            <a:off x="2916238" y="1779588"/>
            <a:ext cx="2879725" cy="1223962"/>
          </a:xfrm>
        </p:spPr>
        <p:txBody>
          <a:bodyPr/>
          <a:lstStyle/>
          <a:p>
            <a:pPr marL="0" indent="0">
              <a:buFont typeface="Symbol" panose="05050102010706020507" pitchFamily="18" charset="2"/>
              <a:buNone/>
            </a:pPr>
            <a:r>
              <a:rPr lang="en-US" altLang="zh-CN" sz="4800"/>
              <a:t>The End</a:t>
            </a:r>
            <a:endParaRPr lang="zh-CN" altLang="en-US" sz="4800"/>
          </a:p>
        </p:txBody>
      </p:sp>
      <p:sp>
        <p:nvSpPr>
          <p:cNvPr id="70659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0660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AED0FBD-AB1C-4BDF-8DDE-2B11F50F34E4}" type="slidenum">
              <a:rPr lang="zh-CN" altLang="en-US" smtClean="0">
                <a:solidFill>
                  <a:srgbClr val="073E87"/>
                </a:solidFill>
                <a:ea typeface="楷体_GB2312"/>
              </a:rPr>
              <a:pPr/>
              <a:t>47</a:t>
            </a:fld>
            <a:endParaRPr lang="en-US" altLang="zh-CN">
              <a:solidFill>
                <a:srgbClr val="073E87"/>
              </a:solidFill>
              <a:ea typeface="楷体_GB2312"/>
            </a:endParaRPr>
          </a:p>
        </p:txBody>
      </p:sp>
    </p:spTree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主题1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>
    <a:lnDef>
      <a:spPr bwMode="auto"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3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>
    <a:lnDef>
      <a:spPr bwMode="auto"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4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31389</TotalTime>
  <Words>4491</Words>
  <Application>Microsoft Office PowerPoint</Application>
  <PresentationFormat>全屏显示(16:9)</PresentationFormat>
  <Paragraphs>664</Paragraphs>
  <Slides>47</Slides>
  <Notes>47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47</vt:i4>
      </vt:variant>
    </vt:vector>
  </HeadingPairs>
  <TitlesOfParts>
    <vt:vector size="65" baseType="lpstr">
      <vt:lpstr>华文楷体</vt:lpstr>
      <vt:lpstr>楷体</vt:lpstr>
      <vt:lpstr>楷体_GB2312</vt:lpstr>
      <vt:lpstr>宋体</vt:lpstr>
      <vt:lpstr>微软雅黑</vt:lpstr>
      <vt:lpstr>Arial</vt:lpstr>
      <vt:lpstr>Calibri</vt:lpstr>
      <vt:lpstr>Candara</vt:lpstr>
      <vt:lpstr>Symbol</vt:lpstr>
      <vt:lpstr>Tahoma</vt:lpstr>
      <vt:lpstr>Times New Roman</vt:lpstr>
      <vt:lpstr>Wingdings</vt:lpstr>
      <vt:lpstr>自定义设计方案</vt:lpstr>
      <vt:lpstr>主题1</vt:lpstr>
      <vt:lpstr>1_波形</vt:lpstr>
      <vt:lpstr>2_波形</vt:lpstr>
      <vt:lpstr>3_波形</vt:lpstr>
      <vt:lpstr>4_波形</vt:lpstr>
      <vt:lpstr>PowerPoint 演示文稿</vt:lpstr>
      <vt:lpstr>PowerPoint 演示文稿</vt:lpstr>
      <vt:lpstr>PowerPoint 演示文稿</vt:lpstr>
      <vt:lpstr>Lex源程序的写法</vt:lpstr>
      <vt:lpstr>3.10 Lex词法分析器自动生成工具</vt:lpstr>
      <vt:lpstr>3.10 Lex词法分析器自动生成工具</vt:lpstr>
      <vt:lpstr>3.10 Lex词法分析器自动生成工具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主要内容</vt:lpstr>
      <vt:lpstr>1. 自顶向下的分析(Top-Down Parsing)</vt:lpstr>
      <vt:lpstr>1. 自顶向下的分析(Top-Down Parsing)</vt:lpstr>
      <vt:lpstr>最左推导(Left-most Derivation)</vt:lpstr>
      <vt:lpstr>PowerPoint 演示文稿</vt:lpstr>
      <vt:lpstr>最左推导和最右推导的唯一性</vt:lpstr>
      <vt:lpstr>自顶向下的语法分析采用最左推导方式</vt:lpstr>
      <vt:lpstr>例</vt:lpstr>
      <vt:lpstr>自顶向下语法分析的通用形式</vt:lpstr>
      <vt:lpstr>预测分析法/LL(1)分析法 (Predictive Parsing)</vt:lpstr>
      <vt:lpstr>2. 预测分析法首先要文法转换 </vt:lpstr>
      <vt:lpstr>解决方法：提取左公因子(Left Factoring )</vt:lpstr>
      <vt:lpstr>提取左公因子算法</vt:lpstr>
      <vt:lpstr>PowerPoint 演示文稿</vt:lpstr>
      <vt:lpstr>消除直接左递归</vt:lpstr>
      <vt:lpstr>消除直接左递归的一般形式</vt:lpstr>
      <vt:lpstr>消除间接左递归</vt:lpstr>
      <vt:lpstr>消除间接左递归</vt:lpstr>
      <vt:lpstr>消除间接左递归</vt:lpstr>
      <vt:lpstr>消除左递归算法 蓝书P124/电子书P135 图4-11</vt:lpstr>
      <vt:lpstr>PowerPoint 演示文稿</vt:lpstr>
      <vt:lpstr>PowerPoint 演示文稿</vt:lpstr>
      <vt:lpstr>3. LL(1)文法</vt:lpstr>
      <vt:lpstr>例</vt:lpstr>
      <vt:lpstr>PowerPoint 演示文稿</vt:lpstr>
      <vt:lpstr>产生式的可选集</vt:lpstr>
      <vt:lpstr>例</vt:lpstr>
      <vt:lpstr>产生式的可选集</vt:lpstr>
      <vt:lpstr>串首终结符集</vt:lpstr>
      <vt:lpstr>LL(1)文法</vt:lpstr>
      <vt:lpstr>LL(1)文法</vt:lpstr>
      <vt:lpstr>总结</vt:lpstr>
      <vt:lpstr>内容回顾</vt:lpstr>
      <vt:lpstr>PowerPoint 演示文稿</vt:lpstr>
    </vt:vector>
  </TitlesOfParts>
  <Company>HIT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编译原理</dc:title>
  <dc:creator>jsx</dc:creator>
  <cp:lastModifiedBy>妙根 凌</cp:lastModifiedBy>
  <cp:revision>1692</cp:revision>
  <cp:lastPrinted>2019-03-03T08:55:32Z</cp:lastPrinted>
  <dcterms:created xsi:type="dcterms:W3CDTF">2003-07-09T14:46:46Z</dcterms:created>
  <dcterms:modified xsi:type="dcterms:W3CDTF">2025-10-11T07:23:21Z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5</vt:i4>
  </property>
</Properties>
</file>