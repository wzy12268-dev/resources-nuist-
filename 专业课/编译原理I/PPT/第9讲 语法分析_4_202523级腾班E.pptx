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5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  <p:sldMasterId id="2147487643" r:id="rId2"/>
    <p:sldMasterId id="2147488877" r:id="rId3"/>
    <p:sldMasterId id="2147488975" r:id="rId4"/>
    <p:sldMasterId id="2147489203" r:id="rId5"/>
    <p:sldMasterId id="2147489430" r:id="rId6"/>
  </p:sldMasterIdLst>
  <p:notesMasterIdLst>
    <p:notesMasterId r:id="rId80"/>
  </p:notesMasterIdLst>
  <p:handoutMasterIdLst>
    <p:handoutMasterId r:id="rId81"/>
  </p:handoutMasterIdLst>
  <p:sldIdLst>
    <p:sldId id="1205" r:id="rId7"/>
    <p:sldId id="1204" r:id="rId8"/>
    <p:sldId id="1245" r:id="rId9"/>
    <p:sldId id="1247" r:id="rId10"/>
    <p:sldId id="1260" r:id="rId11"/>
    <p:sldId id="1249" r:id="rId12"/>
    <p:sldId id="1250" r:id="rId13"/>
    <p:sldId id="1251" r:id="rId14"/>
    <p:sldId id="1252" r:id="rId15"/>
    <p:sldId id="1253" r:id="rId16"/>
    <p:sldId id="1254" r:id="rId17"/>
    <p:sldId id="1255" r:id="rId18"/>
    <p:sldId id="1256" r:id="rId19"/>
    <p:sldId id="1257" r:id="rId20"/>
    <p:sldId id="1258" r:id="rId21"/>
    <p:sldId id="1259" r:id="rId22"/>
    <p:sldId id="1179" r:id="rId23"/>
    <p:sldId id="1180" r:id="rId24"/>
    <p:sldId id="1181" r:id="rId25"/>
    <p:sldId id="1182" r:id="rId26"/>
    <p:sldId id="1183" r:id="rId27"/>
    <p:sldId id="1184" r:id="rId28"/>
    <p:sldId id="1185" r:id="rId29"/>
    <p:sldId id="1186" r:id="rId30"/>
    <p:sldId id="1187" r:id="rId31"/>
    <p:sldId id="1188" r:id="rId32"/>
    <p:sldId id="1189" r:id="rId33"/>
    <p:sldId id="1190" r:id="rId34"/>
    <p:sldId id="1191" r:id="rId35"/>
    <p:sldId id="1192" r:id="rId36"/>
    <p:sldId id="1193" r:id="rId37"/>
    <p:sldId id="1194" r:id="rId38"/>
    <p:sldId id="1222" r:id="rId39"/>
    <p:sldId id="1223" r:id="rId40"/>
    <p:sldId id="1243" r:id="rId41"/>
    <p:sldId id="1224" r:id="rId42"/>
    <p:sldId id="1225" r:id="rId43"/>
    <p:sldId id="1226" r:id="rId44"/>
    <p:sldId id="1227" r:id="rId45"/>
    <p:sldId id="1244" r:id="rId46"/>
    <p:sldId id="1228" r:id="rId47"/>
    <p:sldId id="1229" r:id="rId48"/>
    <p:sldId id="1230" r:id="rId49"/>
    <p:sldId id="1231" r:id="rId50"/>
    <p:sldId id="1232" r:id="rId51"/>
    <p:sldId id="1233" r:id="rId52"/>
    <p:sldId id="1234" r:id="rId53"/>
    <p:sldId id="1235" r:id="rId54"/>
    <p:sldId id="1236" r:id="rId55"/>
    <p:sldId id="1237" r:id="rId56"/>
    <p:sldId id="1238" r:id="rId57"/>
    <p:sldId id="1239" r:id="rId58"/>
    <p:sldId id="1240" r:id="rId59"/>
    <p:sldId id="1241" r:id="rId60"/>
    <p:sldId id="1242" r:id="rId61"/>
    <p:sldId id="1221" r:id="rId62"/>
    <p:sldId id="1103" r:id="rId63"/>
    <p:sldId id="1153" r:id="rId64"/>
    <p:sldId id="1154" r:id="rId65"/>
    <p:sldId id="1155" r:id="rId66"/>
    <p:sldId id="1156" r:id="rId67"/>
    <p:sldId id="1157" r:id="rId68"/>
    <p:sldId id="1158" r:id="rId69"/>
    <p:sldId id="1159" r:id="rId70"/>
    <p:sldId id="1160" r:id="rId71"/>
    <p:sldId id="1161" r:id="rId72"/>
    <p:sldId id="1162" r:id="rId73"/>
    <p:sldId id="1163" r:id="rId74"/>
    <p:sldId id="1164" r:id="rId75"/>
    <p:sldId id="1165" r:id="rId76"/>
    <p:sldId id="1166" r:id="rId77"/>
    <p:sldId id="1246" r:id="rId78"/>
    <p:sldId id="1248" r:id="rId79"/>
  </p:sldIdLst>
  <p:sldSz cx="9144000" cy="5143500" type="screen16x9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0000FF"/>
    <a:srgbClr val="FF00FF"/>
    <a:srgbClr val="008000"/>
    <a:srgbClr val="FFCCCC"/>
    <a:srgbClr val="FF6600"/>
    <a:srgbClr val="00AB7E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5" autoAdjust="0"/>
    <p:restoredTop sz="72229" autoAdjust="0"/>
  </p:normalViewPr>
  <p:slideViewPr>
    <p:cSldViewPr>
      <p:cViewPr varScale="1">
        <p:scale>
          <a:sx n="123" d="100"/>
          <a:sy n="123" d="100"/>
        </p:scale>
        <p:origin x="1122" y="9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1292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84" Type="http://schemas.openxmlformats.org/officeDocument/2006/relationships/theme" Target="theme/theme1.xml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slide" Target="slides/slide68.xml"/><Relationship Id="rId79" Type="http://schemas.openxmlformats.org/officeDocument/2006/relationships/slide" Target="slides/slide73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openxmlformats.org/officeDocument/2006/relationships/slide" Target="slides/slide7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80" Type="http://schemas.openxmlformats.org/officeDocument/2006/relationships/notesMaster" Target="notesMasters/notesMaster1.xml"/><Relationship Id="rId85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Relationship Id="rId61" Type="http://schemas.openxmlformats.org/officeDocument/2006/relationships/slide" Target="slides/slide55.xml"/><Relationship Id="rId8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14" tIns="45708" rIns="91414" bIns="45708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87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14" tIns="45708" rIns="91414" bIns="45708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F041D90-71BE-4C3D-8C65-200EE860632A}" type="datetimeFigureOut">
              <a:rPr lang="zh-CN" altLang="en-US"/>
              <a:pPr>
                <a:defRPr/>
              </a:pPr>
              <a:t>2025/11/5</a:t>
            </a:fld>
            <a:endParaRPr lang="en-US" altLang="zh-CN"/>
          </a:p>
        </p:txBody>
      </p:sp>
      <p:sp>
        <p:nvSpPr>
          <p:cNvPr id="387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14" tIns="45708" rIns="91414" bIns="45708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7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14" tIns="45708" rIns="91414" bIns="45708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C227297-4595-4ABF-A277-7DF1CF4C6B5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44669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19" tIns="49510" rIns="99019" bIns="49510" numCol="1" anchor="t" anchorCtr="0" compatLnSpc="1">
            <a:prstTxWarp prst="textNoShape">
              <a:avLst/>
            </a:prstTxWarp>
          </a:bodyPr>
          <a:lstStyle>
            <a:lvl1pPr defTabSz="988409" eaLnBrk="1" hangingPunct="1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276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19" tIns="49510" rIns="99019" bIns="49510" numCol="1" anchor="t" anchorCtr="0" compatLnSpc="1">
            <a:prstTxWarp prst="textNoShape">
              <a:avLst/>
            </a:prstTxWarp>
          </a:bodyPr>
          <a:lstStyle>
            <a:lvl1pPr algn="r" defTabSz="988409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21488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6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>
            <a:noFill/>
          </a:ln>
        </p:spPr>
        <p:txBody>
          <a:bodyPr vert="horz" wrap="square" lIns="99019" tIns="49510" rIns="99019" bIns="495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276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19" tIns="49510" rIns="99019" bIns="49510" numCol="1" anchor="b" anchorCtr="0" compatLnSpc="1">
            <a:prstTxWarp prst="textNoShape">
              <a:avLst/>
            </a:prstTxWarp>
          </a:bodyPr>
          <a:lstStyle>
            <a:lvl1pPr defTabSz="988409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276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19" tIns="49510" rIns="99019" bIns="49510" numCol="1" anchor="b" anchorCtr="0" compatLnSpc="1">
            <a:prstTxWarp prst="textNoShape">
              <a:avLst/>
            </a:prstTxWarp>
          </a:bodyPr>
          <a:lstStyle>
            <a:lvl1pPr algn="r" defTabSz="988409" eaLnBrk="1" hangingPunct="1">
              <a:defRPr sz="1300"/>
            </a:lvl1pPr>
          </a:lstStyle>
          <a:p>
            <a:pPr>
              <a:defRPr/>
            </a:pPr>
            <a:fld id="{AC6B82F6-DB38-41D3-B211-3766B006424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43943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68EA5EE-7B9E-4F11-8FFF-4A8C055CC509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rPr>
              <a:pPr/>
              <a:t>1</a:t>
            </a:fld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909294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D68AFD6-11BD-43DD-8497-4E5BDB7ACE2A}" type="slidenum">
              <a:rPr lang="zh-CN" altLang="en-US" smtClean="0">
                <a:solidFill>
                  <a:srgbClr val="000000"/>
                </a:solidFill>
              </a:rPr>
              <a:pPr/>
              <a:t>2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1472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D68AFD6-11BD-43DD-8497-4E5BDB7ACE2A}" type="slidenum">
              <a:rPr lang="zh-CN" altLang="en-US" smtClean="0">
                <a:solidFill>
                  <a:srgbClr val="000000"/>
                </a:solidFill>
              </a:rPr>
              <a:pPr/>
              <a:t>3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32780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F3994FF-13ED-4A28-BABF-D60EC81BF2FE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93312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40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7B5CCED-D589-45C6-AD95-30233D91DD7D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40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17782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40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4AF984-9395-42E7-B838-E3E4709A833A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40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79300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40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691CBBD-D9C4-40C8-86C0-783A1F2EA613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40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45694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40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A3FD0B-249E-448E-8AC8-B8C45AB93C55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40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44286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40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29C83F1-AE42-4DC5-AB01-801F4F1B0E1B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40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1289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40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99D27E6-6F7A-4A49-AF32-D9ED06758C5F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40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77843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40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75C857B-9EFF-4C75-89C9-2F94B5D4DA69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40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40429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B0FE3F-6DD5-4FE6-A1CD-62259FAF96B2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182844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A51D8E3-4C1C-4061-8290-F959E6B852E2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586931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2FA47F3-AA0C-4997-B31D-F039CC119BD0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76235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6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21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BAEEA7-2CB2-48AC-AE69-2B17EDD0C4D4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01580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421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42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8FFD85B-8E79-4814-91CC-9765242E4FC7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17251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72D4F21-0301-42BA-8C87-79D56E71237B}" type="slidenum">
              <a:rPr lang="zh-CN" altLang="en-US" smtClean="0">
                <a:solidFill>
                  <a:srgbClr val="000000"/>
                </a:solidFill>
              </a:rPr>
              <a:pPr/>
              <a:t>17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96536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C754F9F-FB27-4763-B834-F848FD3974DE}" type="slidenum">
              <a:rPr lang="zh-CN" altLang="en-US" smtClean="0">
                <a:solidFill>
                  <a:srgbClr val="000000"/>
                </a:solidFill>
              </a:rPr>
              <a:pPr/>
              <a:t>18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36212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7574212-7C01-43C1-8F16-43B8F92E4C72}" type="slidenum">
              <a:rPr lang="zh-CN" altLang="en-US" smtClean="0">
                <a:solidFill>
                  <a:srgbClr val="000000"/>
                </a:solidFill>
              </a:rPr>
              <a:pPr/>
              <a:t>19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22954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C8C4C74-6CCA-4C2D-8D37-476EF4BA3D34}" type="slidenum">
              <a:rPr lang="zh-CN" altLang="en-US" smtClean="0">
                <a:solidFill>
                  <a:srgbClr val="000000"/>
                </a:solidFill>
              </a:rPr>
              <a:pPr/>
              <a:t>20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48828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80241E6-CB0E-4168-99A6-CDC4FFCF4ACA}" type="slidenum">
              <a:rPr lang="zh-CN" altLang="en-US" smtClean="0">
                <a:solidFill>
                  <a:srgbClr val="000000"/>
                </a:solidFill>
              </a:rPr>
              <a:pPr/>
              <a:t>21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54311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FF53081-3938-4FED-975D-51AA8D12F1F9}" type="slidenum">
              <a:rPr lang="zh-CN" altLang="en-US" smtClean="0">
                <a:solidFill>
                  <a:srgbClr val="000000"/>
                </a:solidFill>
              </a:rPr>
              <a:pPr/>
              <a:t>22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30448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7642174-C854-44AF-81A7-D6079BDA0CCB}" type="slidenum">
              <a:rPr lang="zh-CN" altLang="en-US" smtClean="0">
                <a:solidFill>
                  <a:srgbClr val="000000"/>
                </a:solidFill>
              </a:rPr>
              <a:pPr/>
              <a:t>23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999539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endParaRPr lang="zh-CN" altLang="en-US" dirty="0"/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53256D4-D395-4D92-B511-637DF30F15ED}" type="slidenum">
              <a:rPr lang="zh-CN" altLang="en-US" smtClean="0">
                <a:solidFill>
                  <a:srgbClr val="000000"/>
                </a:solidFill>
              </a:rPr>
              <a:pPr/>
              <a:t>24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19105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523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endParaRPr lang="zh-CN" altLang="en-US" dirty="0"/>
          </a:p>
        </p:txBody>
      </p:sp>
      <p:sp>
        <p:nvSpPr>
          <p:cNvPr id="952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F9DB61E-DEF7-4BC2-ABE4-BD530F6013BE}" type="slidenum">
              <a:rPr lang="zh-CN" altLang="en-US" smtClean="0">
                <a:solidFill>
                  <a:srgbClr val="000000"/>
                </a:solidFill>
              </a:rPr>
              <a:pPr/>
              <a:t>25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2922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endParaRPr lang="zh-CN" altLang="en-US" dirty="0"/>
          </a:p>
        </p:txBody>
      </p:sp>
      <p:sp>
        <p:nvSpPr>
          <p:cNvPr id="972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C86C101-FF45-4B4A-A602-07D98D52D5B4}" type="slidenum">
              <a:rPr lang="zh-CN" altLang="en-US" smtClean="0">
                <a:solidFill>
                  <a:srgbClr val="000000"/>
                </a:solidFill>
              </a:rPr>
              <a:pPr/>
              <a:t>26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04920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933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93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2330F2E-B682-4991-A16B-9C80586686F0}" type="slidenum">
              <a:rPr lang="zh-CN" altLang="en-US" smtClean="0">
                <a:solidFill>
                  <a:srgbClr val="000000"/>
                </a:solidFill>
              </a:rPr>
              <a:pPr/>
              <a:t>27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9915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137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138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2B9344F-C83E-49F3-BAFE-AB6B80E1242F}" type="slidenum">
              <a:rPr lang="zh-CN" altLang="en-US" smtClean="0">
                <a:solidFill>
                  <a:srgbClr val="000000"/>
                </a:solidFill>
              </a:rPr>
              <a:pPr/>
              <a:t>28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2978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34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34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10A45BD-208C-43C2-86DA-4EFB73FA858D}" type="slidenum">
              <a:rPr lang="zh-CN" altLang="en-US" smtClean="0">
                <a:solidFill>
                  <a:srgbClr val="000000"/>
                </a:solidFill>
              </a:rPr>
              <a:pPr/>
              <a:t>29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451631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547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54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89E13AD-1911-4F2F-A4AD-68D749060A15}" type="slidenum">
              <a:rPr lang="zh-CN" altLang="en-US" smtClean="0">
                <a:solidFill>
                  <a:srgbClr val="000000"/>
                </a:solidFill>
              </a:rPr>
              <a:pPr/>
              <a:t>30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812290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93C6665-65B8-4E72-8187-E8607E01B785}" type="slidenum">
              <a:rPr lang="zh-CN" altLang="en-US" smtClean="0">
                <a:solidFill>
                  <a:srgbClr val="000000"/>
                </a:solidFill>
              </a:rPr>
              <a:pPr/>
              <a:t>31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48695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957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95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F921B22-DDDB-49C0-93CA-04BD1F6799B9}" type="slidenum">
              <a:rPr lang="zh-CN" altLang="en-US" smtClean="0">
                <a:solidFill>
                  <a:srgbClr val="000000"/>
                </a:solidFill>
              </a:rPr>
              <a:pPr/>
              <a:t>32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74590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8371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58372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74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74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74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74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74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74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74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74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4EB8C4F-3DA0-401D-917C-BCE1950342A7}" type="slidenum">
              <a:rPr lang="zh-CN" altLang="en-US" sz="1300" smtClean="0">
                <a:solidFill>
                  <a:srgbClr val="000000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33</a:t>
            </a:fld>
            <a:endParaRPr lang="zh-CN" altLang="en-US" sz="13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42002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AA49EB3-21BA-4EA6-958B-F4A1A7742159}" type="slidenum">
              <a:rPr lang="zh-CN" altLang="en-US" sz="1300" smtClean="0">
                <a:solidFill>
                  <a:srgbClr val="000000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34</a:t>
            </a:fld>
            <a:endParaRPr lang="zh-CN" altLang="en-US" sz="13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256269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93C6665-65B8-4E72-8187-E8607E01B785}" type="slidenum">
              <a:rPr lang="zh-CN" altLang="en-US" smtClean="0">
                <a:solidFill>
                  <a:srgbClr val="000000"/>
                </a:solidFill>
              </a:rPr>
              <a:pPr/>
              <a:t>35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848373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2467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2468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74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74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74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74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74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74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74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74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000FCE1-0611-4641-B0ED-FF01E56FB1CD}" type="slidenum">
              <a:rPr lang="zh-CN" altLang="en-US" sz="1300" smtClean="0">
                <a:solidFill>
                  <a:srgbClr val="000000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36</a:t>
            </a:fld>
            <a:endParaRPr lang="zh-CN" altLang="en-US" sz="13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32526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4515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4516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85AD1AB-70C9-44C3-A00B-26D8923F0A7E}" type="slidenum">
              <a:rPr lang="zh-CN" altLang="en-US" sz="1300" smtClean="0">
                <a:solidFill>
                  <a:srgbClr val="000000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37</a:t>
            </a:fld>
            <a:endParaRPr lang="zh-CN" altLang="en-US" sz="13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4968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656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66564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5541853-8D68-4D2A-8884-EE7409392596}" type="slidenum">
              <a:rPr lang="zh-CN" altLang="en-US" sz="1300" smtClean="0">
                <a:solidFill>
                  <a:srgbClr val="000000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38</a:t>
            </a:fld>
            <a:endParaRPr lang="zh-CN" altLang="en-US" sz="13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65997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D15CBCB-6FF6-4EE2-8824-A4E33E192AB1}" type="slidenum">
              <a:rPr lang="zh-CN" altLang="en-US" sz="1300" smtClean="0">
                <a:solidFill>
                  <a:srgbClr val="000000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39</a:t>
            </a:fld>
            <a:endParaRPr lang="zh-CN" altLang="en-US" sz="13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20000"/>
              </a:lnSpc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106161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8BD8781-C1F3-4C3C-8580-9B286A3B0A2B}" type="slidenum">
              <a:rPr lang="zh-CN" altLang="en-US" sz="1300" smtClean="0">
                <a:solidFill>
                  <a:srgbClr val="000000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41</a:t>
            </a:fld>
            <a:endParaRPr lang="zh-CN" altLang="en-US" sz="13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277439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727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E70896D-527E-4463-958A-EEF01454FDBD}" type="slidenum">
              <a:rPr lang="zh-CN" altLang="en-US" smtClean="0">
                <a:solidFill>
                  <a:srgbClr val="000000"/>
                </a:solidFill>
              </a:rPr>
              <a:pPr/>
              <a:t>42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04145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4755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endParaRPr lang="zh-CN" altLang="en-US" dirty="0"/>
          </a:p>
        </p:txBody>
      </p:sp>
      <p:sp>
        <p:nvSpPr>
          <p:cNvPr id="74756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8CF1150-90C9-4E7E-BC46-D84248E40E48}" type="slidenum">
              <a:rPr lang="zh-CN" altLang="en-US" sz="1300" smtClean="0">
                <a:solidFill>
                  <a:srgbClr val="000000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43</a:t>
            </a:fld>
            <a:endParaRPr lang="zh-CN" altLang="en-US" sz="13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73468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27518BF-393A-4045-9EFE-6FB8AD9F8BD6}" type="slidenum">
              <a:rPr lang="zh-CN" altLang="en-US" sz="1300" smtClean="0">
                <a:solidFill>
                  <a:srgbClr val="000000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44</a:t>
            </a:fld>
            <a:endParaRPr lang="zh-CN" altLang="en-US" sz="13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83948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3E2BCA1-EAFF-42FD-B2D7-6AB3F2CBA703}" type="slidenum">
              <a:rPr lang="zh-CN" altLang="en-US" sz="1300" smtClean="0">
                <a:solidFill>
                  <a:srgbClr val="000000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45</a:t>
            </a:fld>
            <a:endParaRPr lang="zh-CN" altLang="en-US" sz="13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593831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0899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  <p:sp>
        <p:nvSpPr>
          <p:cNvPr id="80900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E9D1037-6DDA-4A74-B622-9D48612AC538}" type="slidenum">
              <a:rPr lang="zh-CN" altLang="en-US" sz="1300" smtClean="0">
                <a:solidFill>
                  <a:srgbClr val="000000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46</a:t>
            </a:fld>
            <a:endParaRPr lang="zh-CN" altLang="en-US" sz="13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29806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2947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82948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74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74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74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74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74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74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74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74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59ACF5E-B49E-4F24-816A-8470B846EAB9}" type="slidenum">
              <a:rPr lang="zh-CN" altLang="en-US" sz="1300" smtClean="0">
                <a:solidFill>
                  <a:srgbClr val="000000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47</a:t>
            </a:fld>
            <a:endParaRPr lang="zh-CN" altLang="en-US" sz="13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93984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4995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84996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A27F68C-79EC-47B6-A848-0BA793C09B4E}" type="slidenum">
              <a:rPr lang="zh-CN" altLang="en-US" sz="1300" smtClean="0">
                <a:solidFill>
                  <a:srgbClr val="000000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48</a:t>
            </a:fld>
            <a:endParaRPr lang="zh-CN" altLang="en-US" sz="13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30623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704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/>
          </a:p>
        </p:txBody>
      </p:sp>
      <p:sp>
        <p:nvSpPr>
          <p:cNvPr id="87044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7AF337A-0B55-481A-8824-0AD95354010B}" type="slidenum">
              <a:rPr lang="zh-CN" altLang="en-US" sz="1300" smtClean="0">
                <a:solidFill>
                  <a:srgbClr val="000000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49</a:t>
            </a:fld>
            <a:endParaRPr lang="zh-CN" altLang="en-US" sz="13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02360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9091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楷体" panose="02010609060101010101" pitchFamily="49" charset="-122"/>
            </a:endParaRPr>
          </a:p>
        </p:txBody>
      </p:sp>
      <p:sp>
        <p:nvSpPr>
          <p:cNvPr id="89092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88A2CCC-A356-4D61-9BD4-E2CEDD9F2CC7}" type="slidenum">
              <a:rPr lang="zh-CN" altLang="en-US" sz="1300" smtClean="0">
                <a:solidFill>
                  <a:srgbClr val="000000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50</a:t>
            </a:fld>
            <a:endParaRPr lang="zh-CN" altLang="en-US" sz="13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72102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1139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140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90F8570-12C3-4E31-8D60-65B35CE34591}" type="slidenum">
              <a:rPr lang="zh-CN" altLang="en-US" sz="1300" smtClean="0">
                <a:solidFill>
                  <a:srgbClr val="000000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51</a:t>
            </a:fld>
            <a:endParaRPr lang="zh-CN" altLang="en-US" sz="13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0552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3187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3188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FA7E908-187F-46CC-8745-26E97DC7A0C9}" type="slidenum">
              <a:rPr lang="zh-CN" altLang="en-US" sz="1300" smtClean="0">
                <a:solidFill>
                  <a:srgbClr val="000000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52</a:t>
            </a:fld>
            <a:endParaRPr lang="zh-CN" altLang="en-US" sz="13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46044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endParaRPr lang="zh-CN" altLang="en-US" b="1" noProof="1">
              <a:solidFill>
                <a:schemeClr val="folHlink"/>
              </a:solidFill>
              <a:effectLst>
                <a:outerShdw blurRad="38100" dist="38100" dir="2700000">
                  <a:srgbClr val="C0C0C0"/>
                </a:outerShdw>
              </a:effectLst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95236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A78AD37-1163-4D8E-91F8-B9B929372DFD}" type="slidenum">
              <a:rPr lang="zh-CN" altLang="en-US" sz="1300" smtClean="0">
                <a:solidFill>
                  <a:srgbClr val="000000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53</a:t>
            </a:fld>
            <a:endParaRPr lang="zh-CN" altLang="en-US" sz="13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63139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7283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7284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74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74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74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742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74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74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74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74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575AD32-D439-4374-8154-20E9B6DAEF30}" type="slidenum">
              <a:rPr lang="zh-CN" altLang="en-US" sz="1300" smtClean="0">
                <a:solidFill>
                  <a:srgbClr val="000000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54</a:t>
            </a:fld>
            <a:endParaRPr lang="zh-CN" altLang="en-US" sz="13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4090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9331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9332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525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525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525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525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D682061-335D-4934-B3C7-EDAAB4034576}" type="slidenum">
              <a:rPr lang="zh-CN" altLang="en-US" sz="1300" smtClean="0">
                <a:solidFill>
                  <a:srgbClr val="000000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55</a:t>
            </a:fld>
            <a:endParaRPr lang="zh-CN" altLang="en-US" sz="13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52202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39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239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6EB165B-7FE8-4AA3-9470-65182E6E7639}" type="slidenum">
              <a:rPr lang="zh-CN" altLang="en-US" smtClean="0"/>
              <a:pPr/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494724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17CEA15-E09C-45A7-85F3-A3D5E5CAD718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761744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F3994FF-13ED-4A28-BABF-D60EC81BF2FE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7349842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40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7B5CCED-D589-45C6-AD95-30233D91DD7D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40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4547585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40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4AF984-9395-42E7-B838-E3E4709A833A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40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774594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40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691CBBD-D9C4-40C8-86C0-783A1F2EA613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40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781777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40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A3FD0B-249E-448E-8AC8-B8C45AB93C55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40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494875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40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29C83F1-AE42-4DC5-AB01-801F4F1B0E1B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40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61831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40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99D27E6-6F7A-4A49-AF32-D9ED06758C5F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40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2411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40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75C857B-9EFF-4C75-89C9-2F94B5D4DA69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40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519007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B0FE3F-6DD5-4FE6-A1CD-62259FAF96B2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55193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A51D8E3-4C1C-4061-8290-F959E6B852E2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1" lang="en-US" altLang="zh-CN" b="1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8317225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2FA47F3-AA0C-4997-B31D-F039CC119BD0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706722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6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21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BAEEA7-2CB2-48AC-AE69-2B17EDD0C4D4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262439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421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8FFD85B-8E79-4814-91CC-9765242E4FC7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541498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17CEA15-E09C-45A7-85F3-A3D5E5CAD718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0745397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40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7B5CCED-D589-45C6-AD95-30233D91DD7D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40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70544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5DC970-B27B-4972-ABF7-F2006C0B4F4E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67257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62BFD5-024F-4183-AAC1-ECA3AC3C7FBE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0053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38CD95-1ECD-4D25-9847-A4776D35BE1F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00355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D3E7B1-1255-4355-B449-904085BB64F4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87024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6A70AA-A119-44D4-8AD3-AEE81A0AA823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90060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ED683D-CBDB-40DF-BF7E-3F15B1A2D45B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04727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20CBA2-449F-4936-A4C6-70267B25D218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04891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D1714D-406E-427B-B3D3-B341A5B44104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80278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1CB1F4-7843-4276-990B-A984D00F22DB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54323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95DA2D-0719-406E-A0EC-99C47DFF6928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0960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DC878E-6A0B-4D09-B5B1-48F6EE1B7243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400842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4E4C0E78-0175-4CB9-8639-C7DF1ED239C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22116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/>
          <p:cNvGrpSpPr>
            <a:grpSpLocks/>
          </p:cNvGrpSpPr>
          <p:nvPr userDrawn="1"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" name="五边形 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24750" y="311150"/>
            <a:ext cx="1162050" cy="273050"/>
          </a:xfrm>
        </p:spPr>
        <p:txBody>
          <a:bodyPr/>
          <a:lstStyle>
            <a:lvl1pPr>
              <a:defRPr sz="1400"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A2F978C4-461D-413F-AD5E-91DA04F37DD6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35597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B81EFB4B-7D99-4E5A-A06A-B45A5A82697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76688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/>
          <p:cNvGrpSpPr>
            <a:grpSpLocks/>
          </p:cNvGrpSpPr>
          <p:nvPr userDrawn="1"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" name="五边形 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34B26A20-FDE5-400C-BAB3-D40B472D3D9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5474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EB50BE5A-0ACB-4A46-8616-20217041D4A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43125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/>
          <p:cNvGrpSpPr>
            <a:grpSpLocks/>
          </p:cNvGrpSpPr>
          <p:nvPr userDrawn="1"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" name="五边形 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7625" y="195263"/>
            <a:ext cx="1162050" cy="273050"/>
          </a:xfrm>
        </p:spPr>
        <p:txBody>
          <a:bodyPr/>
          <a:lstStyle>
            <a:lvl1pPr>
              <a:defRPr sz="1400"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1833EF3D-3E6E-4689-B217-5B356785B3DB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771211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noProof="1"/>
              <a:t>单击此处编辑母版副标题样式</a:t>
            </a:r>
            <a:endParaRPr lang="en-US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1D45FD04-33D4-473A-A226-A245687C28D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06798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/>
          <p:cNvGrpSpPr>
            <a:grpSpLocks/>
          </p:cNvGrpSpPr>
          <p:nvPr userDrawn="1"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 panose="02010609030101010101" pitchFamily="49" charset="-122"/>
                <a:cs typeface="楷体_GB2312" panose="02010609030101010101" pitchFamily="49" charset="-122"/>
              </a:endParaRPr>
            </a:p>
          </p:txBody>
        </p:sp>
        <p:sp>
          <p:nvSpPr>
            <p:cNvPr id="6" name="五边形 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 panose="02010609030101010101" pitchFamily="49" charset="-122"/>
                <a:cs typeface="楷体_GB2312" panose="02010609030101010101" pitchFamily="49" charset="-122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0030101010101" pitchFamily="49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8344" y="227648"/>
            <a:ext cx="1162050" cy="273050"/>
          </a:xfrm>
        </p:spPr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56D62707-59F8-49EA-B377-A91BC073AE3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51742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970B9078-8BA7-48FB-A6E0-75A1BDBD55A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62878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/>
          <p:cNvGrpSpPr>
            <a:grpSpLocks/>
          </p:cNvGrpSpPr>
          <p:nvPr userDrawn="1"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" name="五边形 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785FA8B6-F97A-4BD9-81BF-2092464FAC6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1733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178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178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1786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16688" y="206375"/>
            <a:ext cx="21336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48B5B3F-FB6F-4178-A1B7-D0677545DDDA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9408" r:id="rId1"/>
    <p:sldLayoutId id="2147489409" r:id="rId2"/>
    <p:sldLayoutId id="2147489410" r:id="rId3"/>
    <p:sldLayoutId id="2147489411" r:id="rId4"/>
    <p:sldLayoutId id="2147489412" r:id="rId5"/>
    <p:sldLayoutId id="2147489413" r:id="rId6"/>
    <p:sldLayoutId id="2147489414" r:id="rId7"/>
    <p:sldLayoutId id="2147489415" r:id="rId8"/>
    <p:sldLayoutId id="2147489416" r:id="rId9"/>
    <p:sldLayoutId id="2147489417" r:id="rId10"/>
    <p:sldLayoutId id="2147489418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宋体" panose="0201060003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宋体" panose="0201060003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EB169F62-413D-4990-B625-6CA92D62344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05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9420" r:id="rId1"/>
    <p:sldLayoutId id="2147489421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0D1A7D72-CF33-458A-9DF1-F5C0C62B363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07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9422" r:id="rId1"/>
    <p:sldLayoutId id="2147489423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073E87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073E87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63FD1D9A-9080-4B60-9BC9-C5C3FC75416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10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9424" r:id="rId1"/>
    <p:sldLayoutId id="2147489425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Tx/>
              <a:buNone/>
              <a:defRPr sz="1000">
                <a:solidFill>
                  <a:srgbClr val="073E87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Tx/>
              <a:buNone/>
              <a:defRPr sz="1000">
                <a:solidFill>
                  <a:srgbClr val="073E87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DBC62623-ADC2-4F57-9963-54AF6023948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150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9428" r:id="rId1"/>
    <p:sldLayoutId id="2147489429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003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003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003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003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003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073E87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073E87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F2607F91-C4FA-4FA3-89DF-D7E514A445F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1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988975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9431" r:id="rId1"/>
    <p:sldLayoutId id="214748943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13" y="0"/>
            <a:ext cx="8407400" cy="515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6300788" y="1744663"/>
            <a:ext cx="4446587" cy="939800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endParaRPr lang="zh-CN" altLang="en-US" sz="3600" spc="3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436" name="Rectangle 2"/>
          <p:cNvSpPr txBox="1">
            <a:spLocks noChangeArrowheads="1"/>
          </p:cNvSpPr>
          <p:nvPr/>
        </p:nvSpPr>
        <p:spPr bwMode="auto">
          <a:xfrm>
            <a:off x="5651500" y="2038350"/>
            <a:ext cx="3590925" cy="161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500" b="1" dirty="0">
                <a:solidFill>
                  <a:srgbClr val="FFFFFF"/>
                </a:solidFill>
                <a:latin typeface="Candara" panose="020E0502030303020204" pitchFamily="34" charset="0"/>
                <a:ea typeface="楷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rgbClr val="FFFFFF"/>
                </a:solidFill>
                <a:latin typeface="Candara" panose="020E0502030303020204" pitchFamily="34" charset="0"/>
                <a:ea typeface="楷体" panose="02010609060101010101" pitchFamily="49" charset="-122"/>
              </a:rPr>
              <a:t>南信大计软院</a:t>
            </a:r>
            <a:endParaRPr lang="en-US" altLang="zh-CN" sz="2800" b="1" dirty="0">
              <a:solidFill>
                <a:srgbClr val="FFFFFF"/>
              </a:solidFill>
              <a:latin typeface="Candara" panose="020E0502030303020204" pitchFamily="34" charset="0"/>
              <a:ea typeface="楷体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FFFFFF"/>
                </a:solidFill>
                <a:latin typeface="Candara" panose="020E0502030303020204" pitchFamily="34" charset="0"/>
                <a:ea typeface="楷体" panose="02010609060101010101" pitchFamily="49" charset="-122"/>
              </a:rPr>
              <a:t>      </a:t>
            </a:r>
            <a:r>
              <a:rPr lang="zh-CN" altLang="en-US" sz="2400" b="1" dirty="0">
                <a:solidFill>
                  <a:srgbClr val="FFFFFF"/>
                </a:solidFill>
                <a:latin typeface="Candara" panose="020E0502030303020204" pitchFamily="34" charset="0"/>
                <a:ea typeface="楷体" panose="02010609060101010101" pitchFamily="49" charset="-122"/>
              </a:rPr>
              <a:t>  凌妙根</a:t>
            </a:r>
            <a:endParaRPr lang="en-US" altLang="zh-CN" sz="2400" b="1" dirty="0">
              <a:solidFill>
                <a:srgbClr val="FFFFFF"/>
              </a:solidFill>
              <a:latin typeface="Candara" panose="020E0502030303020204" pitchFamily="34" charset="0"/>
              <a:ea typeface="楷体" panose="02010609060101010101" pitchFamily="49" charset="-122"/>
            </a:endParaRPr>
          </a:p>
          <a:p>
            <a:r>
              <a:rPr lang="en-US" altLang="zh-CN" sz="2400" b="1" dirty="0">
                <a:solidFill>
                  <a:srgbClr val="FFFFFF"/>
                </a:solidFill>
                <a:latin typeface="Candara" panose="020E0502030303020204" pitchFamily="34" charset="0"/>
                <a:ea typeface="楷体" panose="02010609060101010101" pitchFamily="49" charset="-122"/>
              </a:rPr>
              <a:t>      </a:t>
            </a:r>
            <a:r>
              <a:rPr lang="en-US" altLang="zh-CN" sz="2800" b="1" dirty="0">
                <a:solidFill>
                  <a:srgbClr val="FFFFFF"/>
                </a:solidFill>
                <a:latin typeface="Candara" panose="020E0502030303020204" pitchFamily="34" charset="0"/>
                <a:ea typeface="楷体" panose="02010609060101010101" pitchFamily="49" charset="-122"/>
              </a:rPr>
              <a:t>2025</a:t>
            </a:r>
            <a:r>
              <a:rPr lang="zh-CN" altLang="en-US" sz="2800" b="1" dirty="0">
                <a:solidFill>
                  <a:srgbClr val="FFFFFF"/>
                </a:solidFill>
                <a:latin typeface="Candara" panose="020E0502030303020204" pitchFamily="34" charset="0"/>
                <a:ea typeface="楷体" panose="02010609060101010101" pitchFamily="49" charset="-122"/>
              </a:rPr>
              <a:t>年秋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900113" y="1008063"/>
            <a:ext cx="5829300" cy="1157287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600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3600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3600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章 语法分析</a:t>
            </a:r>
            <a:r>
              <a:rPr lang="en-US" altLang="zh-CN" sz="3600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3600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en-US" altLang="zh-CN" sz="3600" spc="3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600" spc="3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        自底向上语法分析</a:t>
            </a:r>
          </a:p>
          <a:p>
            <a:pPr fontAlgn="auto">
              <a:spcAft>
                <a:spcPts val="0"/>
              </a:spcAft>
              <a:defRPr/>
            </a:pPr>
            <a:endParaRPr lang="zh-CN" altLang="en-US" sz="3600" spc="3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438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498B243-267A-4F1F-B64E-873565103CC3}" type="slidenum">
              <a:rPr lang="zh-CN" altLang="en-US" sz="1000" smtClean="0">
                <a:solidFill>
                  <a:srgbClr val="073E87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zh-CN" sz="1000">
              <a:solidFill>
                <a:srgbClr val="073E87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809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8707" y="915566"/>
            <a:ext cx="8229600" cy="3394075"/>
          </a:xfrm>
        </p:spPr>
        <p:txBody>
          <a:bodyPr/>
          <a:lstStyle/>
          <a:p>
            <a:pPr marL="273050" indent="-273050" eaLnBrk="1" hangingPunct="1">
              <a:lnSpc>
                <a:spcPts val="3200"/>
              </a:lnSpc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/>
              <a:t>非递归的预测分析（</a:t>
            </a:r>
            <a:r>
              <a:rPr lang="en-US" altLang="zh-CN" sz="2800" dirty="0"/>
              <a:t>LL(1)</a:t>
            </a:r>
            <a:r>
              <a:rPr lang="zh-CN" altLang="en-US" sz="2800" dirty="0"/>
              <a:t>分析）：</a:t>
            </a:r>
            <a:endParaRPr lang="en-US" altLang="zh-CN" sz="2800" dirty="0"/>
          </a:p>
          <a:p>
            <a:pPr marL="0" indent="0" eaLnBrk="1" hangingPunct="1">
              <a:lnSpc>
                <a:spcPts val="3200"/>
              </a:lnSpc>
              <a:buSzPct val="100000"/>
              <a:buNone/>
              <a:defRPr/>
            </a:pPr>
            <a:r>
              <a:rPr lang="en-US" altLang="zh-CN" sz="2800" dirty="0"/>
              <a:t>   </a:t>
            </a:r>
            <a:r>
              <a:rPr lang="en-US" altLang="zh-CN" sz="2400" dirty="0"/>
              <a:t>E$    </a:t>
            </a:r>
            <a:r>
              <a:rPr lang="zh-CN" altLang="en-US" sz="2400" dirty="0"/>
              <a:t>剩余输入串  输出产生式</a:t>
            </a:r>
            <a:endParaRPr lang="en-US" altLang="zh-CN" sz="2400" dirty="0"/>
          </a:p>
          <a:p>
            <a:pPr marL="0" indent="0" eaLnBrk="1" hangingPunct="1">
              <a:lnSpc>
                <a:spcPts val="3200"/>
              </a:lnSpc>
              <a:buSzPct val="100000"/>
              <a:buNone/>
              <a:defRPr/>
            </a:pPr>
            <a:r>
              <a:rPr lang="en-US" altLang="zh-CN" sz="2400" dirty="0"/>
              <a:t>   </a:t>
            </a:r>
            <a:r>
              <a:rPr lang="zh-CN" altLang="en-US" sz="2800" dirty="0">
                <a:latin typeface="华文行楷" panose="02010800040101010101" pitchFamily="2" charset="-122"/>
                <a:ea typeface="华文行楷" panose="02010800040101010101" pitchFamily="2" charset="-122"/>
              </a:rPr>
              <a:t>利用预测分析表，每次对最左进行替换</a:t>
            </a:r>
            <a:endParaRPr lang="en-US" altLang="zh-CN" sz="28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marL="273050" indent="-273050" eaLnBrk="1" hangingPunct="1">
              <a:lnSpc>
                <a:spcPts val="3200"/>
              </a:lnSpc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/>
              <a:t>预测分析遇到错误时，如何进行处理？</a:t>
            </a:r>
            <a:endParaRPr lang="en-US" altLang="zh-CN" sz="2800" dirty="0"/>
          </a:p>
          <a:p>
            <a:pPr marL="0" indent="0" eaLnBrk="1" hangingPunct="1">
              <a:lnSpc>
                <a:spcPts val="3200"/>
              </a:lnSpc>
              <a:buSzPct val="100000"/>
              <a:buNone/>
              <a:defRPr/>
            </a:pPr>
            <a:r>
              <a:rPr lang="zh-CN" altLang="en-US" sz="2800" b="1" kern="1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</a:t>
            </a:r>
            <a:r>
              <a:rPr lang="zh-CN" altLang="en-US" sz="2800" dirty="0">
                <a:latin typeface="华文行楷" panose="02010800040101010101" pitchFamily="2" charset="-122"/>
                <a:ea typeface="华文行楷" panose="02010800040101010101" pitchFamily="2" charset="-122"/>
              </a:rPr>
              <a:t>引入同步词法单元</a:t>
            </a:r>
            <a:endParaRPr lang="en-US" altLang="zh-CN" sz="2400" dirty="0"/>
          </a:p>
          <a:p>
            <a:pPr marL="0" indent="0" eaLnBrk="1" hangingPunct="1">
              <a:lnSpc>
                <a:spcPts val="3200"/>
              </a:lnSpc>
              <a:buSzPct val="100000"/>
              <a:buFontTx/>
              <a:buNone/>
              <a:defRPr/>
            </a:pPr>
            <a:r>
              <a:rPr lang="en-US" altLang="zh-CN" sz="2800" dirty="0"/>
              <a:t>   </a:t>
            </a:r>
            <a:r>
              <a:rPr lang="zh-CN" altLang="en-US" sz="2800" dirty="0">
                <a:latin typeface="华文行楷" panose="02010800040101010101" pitchFamily="2" charset="-122"/>
                <a:ea typeface="华文行楷" panose="02010800040101010101" pitchFamily="2" charset="-122"/>
              </a:rPr>
              <a:t>恐慌模式，跳过输入符号或者是当前非终结符</a:t>
            </a:r>
            <a:endParaRPr lang="en-US" altLang="zh-CN" sz="28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eaLnBrk="1" hangingPunct="1">
              <a:lnSpc>
                <a:spcPts val="3200"/>
              </a:lnSpc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/>
              <a:t>移入规约分析？存在的问题？</a:t>
            </a:r>
            <a:endParaRPr lang="en-US" altLang="zh-CN" sz="2800" dirty="0"/>
          </a:p>
          <a:p>
            <a:pPr marL="0" indent="0" eaLnBrk="1" hangingPunct="1">
              <a:lnSpc>
                <a:spcPts val="3200"/>
              </a:lnSpc>
              <a:buSzPct val="100000"/>
              <a:buNone/>
              <a:defRPr/>
            </a:pPr>
            <a:r>
              <a:rPr lang="en-US" altLang="zh-CN" sz="2800" dirty="0"/>
              <a:t>    $ E    </a:t>
            </a:r>
            <a:r>
              <a:rPr lang="zh-CN" altLang="en-US" sz="2800" dirty="0"/>
              <a:t>剩余输入串  移入或规约动作</a:t>
            </a:r>
          </a:p>
          <a:p>
            <a:pPr marL="273050" indent="-273050" eaLnBrk="1" hangingPunct="1">
              <a:lnSpc>
                <a:spcPts val="3200"/>
              </a:lnSpc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500" b="1" kern="1200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lvl="1" indent="-342900">
              <a:buFontTx/>
              <a:buChar char="•"/>
              <a:defRPr/>
            </a:pPr>
            <a:endParaRPr lang="en-US" altLang="zh-CN" b="1" dirty="0">
              <a:cs typeface="Times New Roman" panose="02020603050405020304" pitchFamily="18" charset="0"/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2150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C1AC96B-4E00-42A1-947F-FCD4DFF85788}" type="slidenum">
              <a:rPr lang="zh-CN" altLang="en-US" sz="1400" smtClean="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400">
              <a:solidFill>
                <a:srgbClr val="000000"/>
              </a:solidFill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755650" y="268288"/>
            <a:ext cx="793115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FF"/>
                </a:solidFill>
                <a:latin typeface="Candar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FF"/>
                </a:solidFill>
                <a:latin typeface="Candar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FF"/>
                </a:solidFill>
                <a:latin typeface="Candar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FF"/>
                </a:solidFill>
                <a:latin typeface="Candara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>
              <a:defRPr/>
            </a:pPr>
            <a:r>
              <a:rPr lang="zh-CN" altLang="en-US" sz="3600" spc="30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内容回顾</a:t>
            </a:r>
            <a:r>
              <a:rPr lang="en-US" altLang="zh-CN" sz="3600" spc="30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3600" spc="30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1509" name="组合 2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1" name="五边形 10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rgbClr val="C6E7FC">
                <a:lumMod val="5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2" name="五边形 11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/>
            </a:prstGeom>
            <a:solidFill>
              <a:sysClr val="window" lastClr="FFFFFF">
                <a:alpha val="30000"/>
              </a:sys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8707" y="915566"/>
            <a:ext cx="8229600" cy="3394075"/>
          </a:xfrm>
        </p:spPr>
        <p:txBody>
          <a:bodyPr/>
          <a:lstStyle/>
          <a:p>
            <a:pPr marL="273050" indent="-273050" eaLnBrk="1" hangingPunct="1">
              <a:lnSpc>
                <a:spcPts val="3200"/>
              </a:lnSpc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/>
              <a:t>？引入</a:t>
            </a:r>
            <a:r>
              <a:rPr lang="en-US" altLang="zh-CN" sz="2800" dirty="0"/>
              <a:t>LR</a:t>
            </a:r>
            <a:r>
              <a:rPr lang="zh-CN" altLang="en-US" sz="2800" dirty="0"/>
              <a:t>分析</a:t>
            </a:r>
            <a:endParaRPr lang="en-US" altLang="zh-CN" sz="2800" dirty="0"/>
          </a:p>
          <a:p>
            <a:pPr marL="273050" indent="-273050" eaLnBrk="1" hangingPunct="1">
              <a:lnSpc>
                <a:spcPts val="3200"/>
              </a:lnSpc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800" dirty="0"/>
              <a:t>LR</a:t>
            </a:r>
            <a:r>
              <a:rPr lang="zh-CN" altLang="en-US" sz="2800" dirty="0"/>
              <a:t>分析表由</a:t>
            </a:r>
            <a:r>
              <a:rPr lang="en-US" altLang="zh-CN" sz="2800" dirty="0"/>
              <a:t>——</a:t>
            </a:r>
            <a:r>
              <a:rPr lang="zh-CN" altLang="en-US" sz="2800" dirty="0"/>
              <a:t>表和</a:t>
            </a:r>
            <a:r>
              <a:rPr lang="en-US" altLang="zh-CN" sz="2800" dirty="0"/>
              <a:t>——</a:t>
            </a:r>
            <a:r>
              <a:rPr lang="zh-CN" altLang="en-US" sz="2800" dirty="0"/>
              <a:t>表组成。</a:t>
            </a:r>
            <a:endParaRPr lang="en-US" altLang="zh-CN" sz="2800" dirty="0"/>
          </a:p>
          <a:p>
            <a:pPr marL="273050" indent="-273050" eaLnBrk="1" hangingPunct="1">
              <a:lnSpc>
                <a:spcPts val="3200"/>
              </a:lnSpc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/>
              <a:t>句柄的识别状态：</a:t>
            </a:r>
            <a:r>
              <a:rPr lang="en-US" altLang="zh-CN" sz="2800" dirty="0"/>
              <a:t>S-&gt;</a:t>
            </a:r>
            <a:r>
              <a:rPr lang="en-US" altLang="zh-CN" sz="2800" dirty="0" err="1"/>
              <a:t>bBB</a:t>
            </a:r>
            <a:r>
              <a:rPr lang="zh-CN" altLang="en-US" sz="2800" dirty="0"/>
              <a:t>为例</a:t>
            </a:r>
            <a:endParaRPr lang="en-US" altLang="zh-CN" sz="2800" dirty="0"/>
          </a:p>
          <a:p>
            <a:pPr marL="273050" indent="-273050" eaLnBrk="1" hangingPunct="1">
              <a:lnSpc>
                <a:spcPts val="3200"/>
              </a:lnSpc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500" b="1" kern="1200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lvl="1" indent="-342900">
              <a:buFontTx/>
              <a:buChar char="•"/>
              <a:defRPr/>
            </a:pPr>
            <a:endParaRPr lang="en-US" altLang="zh-CN" b="1" dirty="0">
              <a:cs typeface="Times New Roman" panose="02020603050405020304" pitchFamily="18" charset="0"/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2150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C1AC96B-4E00-42A1-947F-FCD4DFF85788}" type="slidenum">
              <a:rPr lang="zh-CN" altLang="en-US" sz="1400" smtClean="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400">
              <a:solidFill>
                <a:srgbClr val="000000"/>
              </a:solidFill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755650" y="268288"/>
            <a:ext cx="793115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FF"/>
                </a:solidFill>
                <a:latin typeface="Candar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FF"/>
                </a:solidFill>
                <a:latin typeface="Candar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FF"/>
                </a:solidFill>
                <a:latin typeface="Candar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FF"/>
                </a:solidFill>
                <a:latin typeface="Candara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>
              <a:defRPr/>
            </a:pPr>
            <a:r>
              <a:rPr lang="zh-CN" altLang="en-US" sz="3600" spc="30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内容回顾</a:t>
            </a:r>
            <a:r>
              <a:rPr lang="en-US" altLang="zh-CN" sz="3600" spc="30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3600" spc="30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1509" name="组合 2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1" name="五边形 10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rgbClr val="C6E7FC">
                <a:lumMod val="5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2" name="五边形 11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/>
            </a:prstGeom>
            <a:solidFill>
              <a:sysClr val="window" lastClr="FFFFFF">
                <a:alpha val="30000"/>
              </a:sys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5503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63" name="Rectangle 3"/>
          <p:cNvSpPr>
            <a:spLocks noGrp="1" noChangeArrowheads="1"/>
          </p:cNvSpPr>
          <p:nvPr>
            <p:ph idx="1"/>
          </p:nvPr>
        </p:nvSpPr>
        <p:spPr>
          <a:xfrm>
            <a:off x="412750" y="785813"/>
            <a:ext cx="8302625" cy="3225800"/>
          </a:xfrm>
        </p:spPr>
        <p:txBody>
          <a:bodyPr/>
          <a:lstStyle/>
          <a:p>
            <a:pPr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cs typeface="楷体_GB2312"/>
              </a:rPr>
              <a:t>自底向上分析的关键问题是什么？</a:t>
            </a: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楷体" panose="02010609060101010101" pitchFamily="49" charset="-122"/>
                <a:cs typeface="楷体_GB2312"/>
              </a:rPr>
              <a:t>如何正确地识别句柄</a:t>
            </a:r>
          </a:p>
          <a:p>
            <a:pPr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cs typeface="楷体_GB2312"/>
              </a:rPr>
              <a:t>句柄是逐步形成的，用“状态”表示句柄识别的进展程度</a:t>
            </a: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例：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sz="25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bBB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</a:p>
          <a:p>
            <a:pPr lvl="2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→ ·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bBB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</a:p>
          <a:p>
            <a:pPr lvl="2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sz="25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5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·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BB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</a:p>
          <a:p>
            <a:pPr lvl="2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sz="25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bB</a:t>
            </a:r>
            <a:r>
              <a:rPr lang="en-US" altLang="zh-CN" sz="25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·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</a:t>
            </a:r>
          </a:p>
          <a:p>
            <a:pPr lvl="2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sz="25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bBB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· </a:t>
            </a: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LR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分析法的基本原理</a:t>
            </a:r>
            <a:endParaRPr lang="en-US" altLang="zh-CN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808965" name="Rectangle 5"/>
          <p:cNvSpPr>
            <a:spLocks noChangeArrowheads="1"/>
          </p:cNvSpPr>
          <p:nvPr/>
        </p:nvSpPr>
        <p:spPr bwMode="auto">
          <a:xfrm>
            <a:off x="3438525" y="4587875"/>
            <a:ext cx="27368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归约状态</a:t>
            </a:r>
          </a:p>
        </p:txBody>
      </p:sp>
      <p:sp>
        <p:nvSpPr>
          <p:cNvPr id="808967" name="Rectangle 7"/>
          <p:cNvSpPr>
            <a:spLocks noChangeArrowheads="1"/>
          </p:cNvSpPr>
          <p:nvPr/>
        </p:nvSpPr>
        <p:spPr bwMode="auto">
          <a:xfrm>
            <a:off x="3419475" y="3143250"/>
            <a:ext cx="23050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移进状态</a:t>
            </a:r>
          </a:p>
        </p:txBody>
      </p:sp>
      <p:sp>
        <p:nvSpPr>
          <p:cNvPr id="808968" name="Rectangle 8"/>
          <p:cNvSpPr>
            <a:spLocks noChangeArrowheads="1"/>
          </p:cNvSpPr>
          <p:nvPr/>
        </p:nvSpPr>
        <p:spPr bwMode="auto">
          <a:xfrm>
            <a:off x="3419475" y="3867150"/>
            <a:ext cx="1376363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待约状态</a:t>
            </a:r>
          </a:p>
        </p:txBody>
      </p:sp>
      <p:sp>
        <p:nvSpPr>
          <p:cNvPr id="808969" name="AutoShape 9"/>
          <p:cNvSpPr>
            <a:spLocks/>
          </p:cNvSpPr>
          <p:nvPr/>
        </p:nvSpPr>
        <p:spPr bwMode="auto">
          <a:xfrm>
            <a:off x="2843213" y="3789363"/>
            <a:ext cx="508000" cy="711200"/>
          </a:xfrm>
          <a:prstGeom prst="rightBrace">
            <a:avLst>
              <a:gd name="adj1" fmla="val 19526"/>
              <a:gd name="adj2" fmla="val 50000"/>
            </a:avLst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808970" name="Line 10"/>
          <p:cNvSpPr>
            <a:spLocks noChangeShapeType="1"/>
          </p:cNvSpPr>
          <p:nvPr/>
        </p:nvSpPr>
        <p:spPr bwMode="auto">
          <a:xfrm flipH="1">
            <a:off x="2843213" y="4803775"/>
            <a:ext cx="576262" cy="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08971" name="Line 11"/>
          <p:cNvSpPr>
            <a:spLocks noChangeShapeType="1"/>
          </p:cNvSpPr>
          <p:nvPr/>
        </p:nvSpPr>
        <p:spPr bwMode="auto">
          <a:xfrm flipH="1">
            <a:off x="2843213" y="3357563"/>
            <a:ext cx="576262" cy="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787900" y="3665538"/>
            <a:ext cx="4221163" cy="8302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LR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分析器基于这样一些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状态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来构造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自动机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进行句柄的识别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itchFamily="2" charset="-122"/>
              <a:ea typeface="华文楷体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0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0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0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0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0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0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0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0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0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0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0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0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0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0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0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08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08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08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08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08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08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08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08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08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089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089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08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089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089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08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8089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8089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08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8089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8089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808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8089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8089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808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8089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8089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08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65" grpId="0"/>
      <p:bldP spid="808967" grpId="0"/>
      <p:bldP spid="808968" grpId="0"/>
      <p:bldP spid="808969" grpId="0" animBg="1"/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分析器（自动机）的总体结构</a:t>
            </a:r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2857500" y="1143000"/>
            <a:ext cx="3786188" cy="6429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40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  …   </a:t>
            </a:r>
            <a:r>
              <a:rPr kumimoji="1" lang="en-US" altLang="zh-CN" sz="3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40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  …   a</a:t>
            </a:r>
            <a:r>
              <a:rPr kumimoji="1" lang="en-US" altLang="zh-CN" sz="40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$</a:t>
            </a:r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3359150" y="2352675"/>
            <a:ext cx="2797175" cy="1076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46038" rIns="92075" bIns="46038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LR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主控程序</a:t>
            </a:r>
          </a:p>
        </p:txBody>
      </p:sp>
      <p:sp>
        <p:nvSpPr>
          <p:cNvPr id="43013" name="Rectangle 5"/>
          <p:cNvSpPr>
            <a:spLocks noChangeArrowheads="1"/>
          </p:cNvSpPr>
          <p:nvPr/>
        </p:nvSpPr>
        <p:spPr bwMode="auto">
          <a:xfrm>
            <a:off x="2844800" y="4208463"/>
            <a:ext cx="1943100" cy="6762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/>
          <a:lstStyle/>
          <a:p>
            <a:pPr marL="0" marR="0" lvl="0" indent="0" algn="ctr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动作表</a:t>
            </a:r>
          </a:p>
          <a:p>
            <a:pPr marL="0" marR="0" lvl="0" indent="0" algn="ctr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ACTION</a:t>
            </a:r>
          </a:p>
        </p:txBody>
      </p:sp>
      <p:sp>
        <p:nvSpPr>
          <p:cNvPr id="43014" name="Rectangle 6"/>
          <p:cNvSpPr>
            <a:spLocks noChangeArrowheads="1"/>
          </p:cNvSpPr>
          <p:nvPr/>
        </p:nvSpPr>
        <p:spPr bwMode="auto">
          <a:xfrm>
            <a:off x="4805363" y="4208463"/>
            <a:ext cx="1927225" cy="6762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/>
          <a:lstStyle/>
          <a:p>
            <a:pPr marL="0" marR="0" lvl="0" indent="0" algn="ctr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转移表</a:t>
            </a:r>
          </a:p>
          <a:p>
            <a:pPr marL="0" marR="0" lvl="0" indent="0" algn="ctr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GOTO</a:t>
            </a:r>
          </a:p>
        </p:txBody>
      </p:sp>
      <p:sp>
        <p:nvSpPr>
          <p:cNvPr id="70663" name="Rectangle 7"/>
          <p:cNvSpPr>
            <a:spLocks noChangeArrowheads="1"/>
          </p:cNvSpPr>
          <p:nvPr/>
        </p:nvSpPr>
        <p:spPr bwMode="auto">
          <a:xfrm>
            <a:off x="7092950" y="2476500"/>
            <a:ext cx="19796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产生式序列</a:t>
            </a:r>
          </a:p>
        </p:txBody>
      </p:sp>
      <p:sp>
        <p:nvSpPr>
          <p:cNvPr id="70664" name="Rectangle 8"/>
          <p:cNvSpPr>
            <a:spLocks noChangeArrowheads="1"/>
          </p:cNvSpPr>
          <p:nvPr/>
        </p:nvSpPr>
        <p:spPr bwMode="auto">
          <a:xfrm>
            <a:off x="284163" y="1733550"/>
            <a:ext cx="21272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状态/符号栈</a:t>
            </a:r>
          </a:p>
        </p:txBody>
      </p:sp>
      <p:sp>
        <p:nvSpPr>
          <p:cNvPr id="70665" name="Rectangle 9"/>
          <p:cNvSpPr>
            <a:spLocks noChangeArrowheads="1"/>
          </p:cNvSpPr>
          <p:nvPr/>
        </p:nvSpPr>
        <p:spPr bwMode="auto">
          <a:xfrm>
            <a:off x="3643313" y="642938"/>
            <a:ext cx="2216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 (正文)"/>
                <a:ea typeface="楷体" panose="02010609060101010101" pitchFamily="49" charset="-122"/>
                <a:cs typeface="+mn-cs"/>
              </a:rPr>
              <a:t>输入缓冲区</a:t>
            </a:r>
          </a:p>
        </p:txBody>
      </p:sp>
      <p:sp>
        <p:nvSpPr>
          <p:cNvPr id="70666" name="Rectangle 11"/>
          <p:cNvSpPr>
            <a:spLocks noChangeArrowheads="1"/>
          </p:cNvSpPr>
          <p:nvPr/>
        </p:nvSpPr>
        <p:spPr bwMode="auto">
          <a:xfrm>
            <a:off x="2643188" y="4071938"/>
            <a:ext cx="4286250" cy="9286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667" name="Rectangle 12"/>
          <p:cNvSpPr>
            <a:spLocks noChangeArrowheads="1"/>
          </p:cNvSpPr>
          <p:nvPr/>
        </p:nvSpPr>
        <p:spPr bwMode="auto">
          <a:xfrm>
            <a:off x="7072313" y="4262438"/>
            <a:ext cx="1492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分析表</a:t>
            </a:r>
          </a:p>
        </p:txBody>
      </p:sp>
      <p:sp>
        <p:nvSpPr>
          <p:cNvPr id="43020" name="Rectangle 13"/>
          <p:cNvSpPr>
            <a:spLocks noChangeArrowheads="1"/>
          </p:cNvSpPr>
          <p:nvPr/>
        </p:nvSpPr>
        <p:spPr bwMode="auto">
          <a:xfrm>
            <a:off x="152400" y="2171700"/>
            <a:ext cx="977900" cy="26765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32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m</a:t>
            </a:r>
            <a:endParaRPr kumimoji="1" lang="en-US" altLang="zh-CN" sz="2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32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3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-1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…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…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…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1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32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sp>
        <p:nvSpPr>
          <p:cNvPr id="410638" name="Rectangle 14"/>
          <p:cNvSpPr>
            <a:spLocks noChangeArrowheads="1"/>
          </p:cNvSpPr>
          <p:nvPr/>
        </p:nvSpPr>
        <p:spPr bwMode="auto">
          <a:xfrm>
            <a:off x="1149350" y="2171700"/>
            <a:ext cx="977900" cy="26812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2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endParaRPr kumimoji="1" lang="en-US" altLang="zh-CN" sz="2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2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3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-1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$</a:t>
            </a:r>
          </a:p>
        </p:txBody>
      </p:sp>
      <p:sp>
        <p:nvSpPr>
          <p:cNvPr id="43022" name="AutoShape 15"/>
          <p:cNvSpPr>
            <a:spLocks noChangeArrowheads="1"/>
          </p:cNvSpPr>
          <p:nvPr/>
        </p:nvSpPr>
        <p:spPr bwMode="auto">
          <a:xfrm rot="10800000">
            <a:off x="2162175" y="2571750"/>
            <a:ext cx="1143000" cy="28575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23" name="AutoShape 16"/>
          <p:cNvSpPr>
            <a:spLocks noChangeArrowheads="1"/>
          </p:cNvSpPr>
          <p:nvPr/>
        </p:nvSpPr>
        <p:spPr bwMode="auto">
          <a:xfrm rot="10800000">
            <a:off x="4505325" y="1843088"/>
            <a:ext cx="381000" cy="457200"/>
          </a:xfrm>
          <a:prstGeom prst="downArrow">
            <a:avLst>
              <a:gd name="adj1" fmla="val 50000"/>
              <a:gd name="adj2" fmla="val 40000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24" name="AutoShape 17"/>
          <p:cNvSpPr>
            <a:spLocks noChangeArrowheads="1"/>
          </p:cNvSpPr>
          <p:nvPr/>
        </p:nvSpPr>
        <p:spPr bwMode="auto">
          <a:xfrm>
            <a:off x="3643313" y="3457575"/>
            <a:ext cx="304800" cy="542925"/>
          </a:xfrm>
          <a:prstGeom prst="upArrow">
            <a:avLst>
              <a:gd name="adj1" fmla="val 50000"/>
              <a:gd name="adj2" fmla="val 75000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26" name="AutoShape 19"/>
          <p:cNvSpPr>
            <a:spLocks noChangeArrowheads="1"/>
          </p:cNvSpPr>
          <p:nvPr/>
        </p:nvSpPr>
        <p:spPr bwMode="auto">
          <a:xfrm>
            <a:off x="6227763" y="2571750"/>
            <a:ext cx="915987" cy="285750"/>
          </a:xfrm>
          <a:prstGeom prst="rightArrow">
            <a:avLst>
              <a:gd name="adj1" fmla="val 50000"/>
              <a:gd name="adj2" fmla="val 85007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AutoShape 17"/>
          <p:cNvSpPr>
            <a:spLocks noChangeArrowheads="1"/>
          </p:cNvSpPr>
          <p:nvPr/>
        </p:nvSpPr>
        <p:spPr bwMode="auto">
          <a:xfrm>
            <a:off x="5624513" y="3457575"/>
            <a:ext cx="304800" cy="542925"/>
          </a:xfrm>
          <a:prstGeom prst="upArrow">
            <a:avLst>
              <a:gd name="adj1" fmla="val 50000"/>
              <a:gd name="adj2" fmla="val 75000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9519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19"/>
          <p:cNvSpPr txBox="1">
            <a:spLocks noChangeArrowheads="1"/>
          </p:cNvSpPr>
          <p:nvPr/>
        </p:nvSpPr>
        <p:spPr bwMode="auto">
          <a:xfrm>
            <a:off x="539750" y="2571750"/>
            <a:ext cx="2743200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72707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分析表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的结构</a:t>
            </a:r>
          </a:p>
        </p:txBody>
      </p:sp>
      <p:sp>
        <p:nvSpPr>
          <p:cNvPr id="72708" name="Rectangle 21"/>
          <p:cNvSpPr txBox="1">
            <a:spLocks noChangeArrowheads="1"/>
          </p:cNvSpPr>
          <p:nvPr/>
        </p:nvSpPr>
        <p:spPr bwMode="auto">
          <a:xfrm>
            <a:off x="400050" y="857250"/>
            <a:ext cx="3314700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endParaRPr kumimoji="0" lang="en-US" altLang="zh-CN" sz="25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文法</a:t>
            </a:r>
            <a:endParaRPr kumimoji="0" lang="en-US" altLang="zh-CN" sz="25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_GB2312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50000"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①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BB</a:t>
            </a: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50000"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 panose="02010600030101010101" pitchFamily="2" charset="-122"/>
                <a:ea typeface="Simsun" panose="02010600030101010101" pitchFamily="2" charset="-122"/>
                <a:cs typeface="+mn-cs"/>
              </a:rPr>
              <a:t>②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aB</a:t>
            </a: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50000"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③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80FF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25606" name="AutoShape 20"/>
          <p:cNvSpPr>
            <a:spLocks noChangeArrowheads="1"/>
          </p:cNvSpPr>
          <p:nvPr/>
        </p:nvSpPr>
        <p:spPr bwMode="auto">
          <a:xfrm>
            <a:off x="411163" y="3857625"/>
            <a:ext cx="3517900" cy="785813"/>
          </a:xfrm>
          <a:prstGeom prst="wedgeRoundRectCallout">
            <a:avLst>
              <a:gd name="adj1" fmla="val 44086"/>
              <a:gd name="adj2" fmla="val -83935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sn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：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Times New Roman" pitchFamily="18" charset="0"/>
              </a:rPr>
              <a:t>将符号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a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Times New Roman" pitchFamily="18" charset="0"/>
              </a:rPr>
              <a:t>、状态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n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Times New Roman" pitchFamily="18" charset="0"/>
              </a:rPr>
              <a:t>压入栈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rn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：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Times New Roman" pitchFamily="18" charset="0"/>
              </a:rPr>
              <a:t>用第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n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Times New Roman" pitchFamily="18" charset="0"/>
              </a:rPr>
              <a:t>个产生式进行归约</a:t>
            </a:r>
          </a:p>
        </p:txBody>
      </p:sp>
      <p:graphicFrame>
        <p:nvGraphicFramePr>
          <p:cNvPr id="22" name="Group 18"/>
          <p:cNvGraphicFramePr>
            <a:graphicFrameLocks noGrp="1"/>
          </p:cNvGraphicFramePr>
          <p:nvPr/>
        </p:nvGraphicFramePr>
        <p:xfrm>
          <a:off x="4214813" y="123825"/>
          <a:ext cx="4318000" cy="3603666"/>
        </p:xfrm>
        <a:graphic>
          <a:graphicData uri="http://schemas.openxmlformats.org/drawingml/2006/table">
            <a:tbl>
              <a:tblPr/>
              <a:tblGrid>
                <a:gridCol w="928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1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  <a:cs typeface="Times New Roman" pitchFamily="18" charset="0"/>
                        </a:rPr>
                        <a:t>状态</a:t>
                      </a:r>
                    </a:p>
                  </a:txBody>
                  <a:tcPr marL="91447" marR="91447" marT="34257" marB="3425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ACTION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GOTO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78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$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S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ext Box 19"/>
          <p:cNvSpPr txBox="1">
            <a:spLocks noChangeArrowheads="1"/>
          </p:cNvSpPr>
          <p:nvPr/>
        </p:nvSpPr>
        <p:spPr bwMode="auto">
          <a:xfrm>
            <a:off x="539750" y="2571750"/>
            <a:ext cx="2743200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74755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分析表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的结构</a:t>
            </a:r>
          </a:p>
        </p:txBody>
      </p:sp>
      <p:sp>
        <p:nvSpPr>
          <p:cNvPr id="74756" name="Rectangle 21"/>
          <p:cNvSpPr txBox="1">
            <a:spLocks noChangeArrowheads="1"/>
          </p:cNvSpPr>
          <p:nvPr/>
        </p:nvSpPr>
        <p:spPr bwMode="auto">
          <a:xfrm>
            <a:off x="400050" y="857250"/>
            <a:ext cx="3314700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endParaRPr kumimoji="0" lang="en-US" altLang="zh-CN" sz="25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文法</a:t>
            </a:r>
            <a:endParaRPr kumimoji="0" lang="en-US" altLang="zh-CN" sz="25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_GB2312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50000"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①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BB</a:t>
            </a: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50000"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 panose="02010600030101010101" pitchFamily="2" charset="-122"/>
                <a:ea typeface="Simsun" panose="02010600030101010101" pitchFamily="2" charset="-122"/>
                <a:cs typeface="+mn-cs"/>
              </a:rPr>
              <a:t>②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aB</a:t>
            </a: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50000"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③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80FF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graphicFrame>
        <p:nvGraphicFramePr>
          <p:cNvPr id="22" name="Group 18"/>
          <p:cNvGraphicFramePr>
            <a:graphicFrameLocks noGrp="1"/>
          </p:cNvGraphicFramePr>
          <p:nvPr/>
        </p:nvGraphicFramePr>
        <p:xfrm>
          <a:off x="4214813" y="123825"/>
          <a:ext cx="4318000" cy="3603666"/>
        </p:xfrm>
        <a:graphic>
          <a:graphicData uri="http://schemas.openxmlformats.org/drawingml/2006/table">
            <a:tbl>
              <a:tblPr/>
              <a:tblGrid>
                <a:gridCol w="928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1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  <a:cs typeface="Times New Roman" pitchFamily="18" charset="0"/>
                        </a:rPr>
                        <a:t>状态</a:t>
                      </a:r>
                    </a:p>
                  </a:txBody>
                  <a:tcPr marL="91447" marR="91447" marT="34257" marB="3425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ACTION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GOTO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78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$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S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4211638" y="3721100"/>
            <a:ext cx="3671887" cy="1082675"/>
          </a:xfrm>
        </p:spPr>
        <p:txBody>
          <a:bodyPr lIns="92075" tIns="46038" rIns="92075" bIns="46038"/>
          <a:lstStyle/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lang="zh-CN" altLang="en-US" sz="3000" b="1">
                <a:solidFill>
                  <a:srgbClr val="2D83F4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栈    剩余输入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$</a:t>
            </a:r>
            <a:r>
              <a:rPr lang="zh-CN" altLang="en-US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</a:t>
            </a:r>
            <a:r>
              <a:rPr lang="en-US" altLang="zh-CN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  </a:t>
            </a:r>
            <a:r>
              <a:rPr lang="en-US" altLang="zh-CN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$</a:t>
            </a:r>
            <a:endParaRPr lang="en-US" altLang="zh-CN" b="1" i="1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600"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600"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4427538" y="4164013"/>
            <a:ext cx="374650" cy="4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273050" marR="0" lvl="0" indent="-27305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</a:t>
            </a:r>
            <a:r>
              <a:rPr kumimoji="0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5813425" y="4443413"/>
            <a:ext cx="3381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5630863" y="4443413"/>
            <a:ext cx="33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5437188" y="4443413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4411663" y="4443413"/>
            <a:ext cx="390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842963" y="4543425"/>
            <a:ext cx="2033587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输入 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b  a   b</a:t>
            </a:r>
            <a:endParaRPr kumimoji="0" lang="en-US" altLang="zh-CN" sz="25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2" name="Group 78"/>
          <p:cNvGrpSpPr>
            <a:grpSpLocks/>
          </p:cNvGrpSpPr>
          <p:nvPr/>
        </p:nvGrpSpPr>
        <p:grpSpPr bwMode="auto">
          <a:xfrm>
            <a:off x="1835150" y="3994150"/>
            <a:ext cx="357188" cy="557213"/>
            <a:chOff x="975" y="3041"/>
            <a:chExt cx="225" cy="741"/>
          </a:xfrm>
        </p:grpSpPr>
        <p:sp>
          <p:nvSpPr>
            <p:cNvPr id="74833" name="Line 79"/>
            <p:cNvSpPr>
              <a:spLocks noChangeShapeType="1"/>
            </p:cNvSpPr>
            <p:nvPr/>
          </p:nvSpPr>
          <p:spPr bwMode="auto">
            <a:xfrm flipH="1" flipV="1">
              <a:off x="1066" y="3543"/>
              <a:ext cx="0" cy="2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834" name="Rectangle 80"/>
            <p:cNvSpPr>
              <a:spLocks noChangeArrowheads="1"/>
            </p:cNvSpPr>
            <p:nvPr/>
          </p:nvSpPr>
          <p:spPr bwMode="auto">
            <a:xfrm>
              <a:off x="975" y="3041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  <a:buFont typeface="Monotype Sorts"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5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1.97531E-6 L -0.11389 -0.00586 " pathEditMode="relative" rAng="0" ptsTypes="AA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694" y="-3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/>
      <p:bldP spid="8" grpId="1"/>
      <p:bldP spid="9" grpId="0"/>
      <p:bldP spid="10" grpId="0"/>
      <p:bldP spid="11" grpId="0"/>
      <p:bldP spid="11" grpId="1"/>
      <p:bldP spid="11" grpId="2"/>
      <p:bldP spid="12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ext Box 19"/>
          <p:cNvSpPr txBox="1">
            <a:spLocks noChangeArrowheads="1"/>
          </p:cNvSpPr>
          <p:nvPr/>
        </p:nvSpPr>
        <p:spPr bwMode="auto">
          <a:xfrm>
            <a:off x="539750" y="2571750"/>
            <a:ext cx="2743200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76803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分析表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的结构</a:t>
            </a:r>
          </a:p>
        </p:txBody>
      </p:sp>
      <p:sp>
        <p:nvSpPr>
          <p:cNvPr id="76804" name="Rectangle 21"/>
          <p:cNvSpPr txBox="1">
            <a:spLocks noChangeArrowheads="1"/>
          </p:cNvSpPr>
          <p:nvPr/>
        </p:nvSpPr>
        <p:spPr bwMode="auto">
          <a:xfrm>
            <a:off x="400050" y="857250"/>
            <a:ext cx="3314700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endParaRPr kumimoji="0" lang="en-US" altLang="zh-CN" sz="25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文法</a:t>
            </a:r>
            <a:endParaRPr kumimoji="0" lang="en-US" altLang="zh-CN" sz="25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_GB2312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50000"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①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BB</a:t>
            </a: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50000"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 panose="02010600030101010101" pitchFamily="2" charset="-122"/>
                <a:ea typeface="Simsun" panose="02010600030101010101" pitchFamily="2" charset="-122"/>
                <a:cs typeface="+mn-cs"/>
              </a:rPr>
              <a:t>②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aB</a:t>
            </a: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50000"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③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80FF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76805" name="Rectangle 3"/>
          <p:cNvSpPr>
            <a:spLocks noGrp="1" noChangeArrowheads="1"/>
          </p:cNvSpPr>
          <p:nvPr>
            <p:ph idx="1"/>
          </p:nvPr>
        </p:nvSpPr>
        <p:spPr>
          <a:xfrm>
            <a:off x="4211638" y="3721100"/>
            <a:ext cx="3671887" cy="1082675"/>
          </a:xfrm>
        </p:spPr>
        <p:txBody>
          <a:bodyPr lIns="92075" tIns="46038" rIns="92075" bIns="46038"/>
          <a:lstStyle/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lang="zh-CN" altLang="en-US" sz="3000" b="1">
                <a:solidFill>
                  <a:srgbClr val="2D83F4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栈    剩余输入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$</a:t>
            </a:r>
            <a:r>
              <a:rPr lang="zh-CN" altLang="en-US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</a:t>
            </a:r>
            <a:r>
              <a:rPr lang="en-US" altLang="zh-CN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  </a:t>
            </a:r>
            <a:r>
              <a:rPr lang="en-US" altLang="zh-CN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$</a:t>
            </a:r>
            <a:endParaRPr lang="en-US" altLang="zh-CN" b="1" i="1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600"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600"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5813425" y="4443413"/>
            <a:ext cx="3381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5630863" y="4443413"/>
            <a:ext cx="33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76808" name="矩形 11"/>
          <p:cNvSpPr>
            <a:spLocks noChangeArrowheads="1"/>
          </p:cNvSpPr>
          <p:nvPr/>
        </p:nvSpPr>
        <p:spPr bwMode="auto">
          <a:xfrm>
            <a:off x="4411663" y="4443413"/>
            <a:ext cx="390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4427538" y="4125913"/>
            <a:ext cx="33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4665663" y="4125913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4881563" y="4125913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17" name="Group 18"/>
          <p:cNvGraphicFramePr>
            <a:graphicFrameLocks noGrp="1"/>
          </p:cNvGraphicFramePr>
          <p:nvPr/>
        </p:nvGraphicFramePr>
        <p:xfrm>
          <a:off x="4214813" y="123825"/>
          <a:ext cx="4318000" cy="3603666"/>
        </p:xfrm>
        <a:graphic>
          <a:graphicData uri="http://schemas.openxmlformats.org/drawingml/2006/table">
            <a:tbl>
              <a:tblPr/>
              <a:tblGrid>
                <a:gridCol w="928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1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  <a:cs typeface="Times New Roman" pitchFamily="18" charset="0"/>
                        </a:rPr>
                        <a:t>状态</a:t>
                      </a:r>
                    </a:p>
                  </a:txBody>
                  <a:tcPr marL="91447" marR="91447" marT="34257" marB="3425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ACTION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GOTO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78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$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S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6880" name="矩形 15"/>
          <p:cNvSpPr>
            <a:spLocks noChangeArrowheads="1"/>
          </p:cNvSpPr>
          <p:nvPr/>
        </p:nvSpPr>
        <p:spPr bwMode="auto">
          <a:xfrm>
            <a:off x="842963" y="4543425"/>
            <a:ext cx="2033587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输入 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b  a   b</a:t>
            </a:r>
            <a:endParaRPr kumimoji="0" lang="en-US" altLang="zh-CN" sz="25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76881" name="Group 78"/>
          <p:cNvGrpSpPr>
            <a:grpSpLocks/>
          </p:cNvGrpSpPr>
          <p:nvPr/>
        </p:nvGrpSpPr>
        <p:grpSpPr bwMode="auto">
          <a:xfrm>
            <a:off x="1835150" y="3994150"/>
            <a:ext cx="357188" cy="557213"/>
            <a:chOff x="975" y="3041"/>
            <a:chExt cx="225" cy="741"/>
          </a:xfrm>
        </p:grpSpPr>
        <p:sp>
          <p:nvSpPr>
            <p:cNvPr id="76882" name="Line 79"/>
            <p:cNvSpPr>
              <a:spLocks noChangeShapeType="1"/>
            </p:cNvSpPr>
            <p:nvPr/>
          </p:nvSpPr>
          <p:spPr bwMode="auto">
            <a:xfrm flipH="1" flipV="1">
              <a:off x="1066" y="3543"/>
              <a:ext cx="0" cy="2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6883" name="Rectangle 80"/>
            <p:cNvSpPr>
              <a:spLocks noChangeArrowheads="1"/>
            </p:cNvSpPr>
            <p:nvPr/>
          </p:nvSpPr>
          <p:spPr bwMode="auto">
            <a:xfrm>
              <a:off x="975" y="3041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  <a:buFont typeface="Monotype Sorts"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1.97531E-6 L -0.10921 -0.00278 " pathEditMode="relative" rAng="0" ptsTypes="AA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69" y="-1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97531E-6 L -0.10695 -0.00278 " pathEditMode="relative" rAng="0" ptsTypes="AA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47" y="-1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/>
      <p:bldP spid="13" grpId="0"/>
      <p:bldP spid="14" grpId="0"/>
      <p:bldP spid="15" grpId="0"/>
      <p:bldP spid="15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ext Box 19"/>
          <p:cNvSpPr txBox="1">
            <a:spLocks noChangeArrowheads="1"/>
          </p:cNvSpPr>
          <p:nvPr/>
        </p:nvSpPr>
        <p:spPr bwMode="auto">
          <a:xfrm>
            <a:off x="539750" y="2571750"/>
            <a:ext cx="2743200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7885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分析表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的结构</a:t>
            </a:r>
          </a:p>
        </p:txBody>
      </p:sp>
      <p:sp>
        <p:nvSpPr>
          <p:cNvPr id="78852" name="Rectangle 21"/>
          <p:cNvSpPr txBox="1">
            <a:spLocks noChangeArrowheads="1"/>
          </p:cNvSpPr>
          <p:nvPr/>
        </p:nvSpPr>
        <p:spPr bwMode="auto">
          <a:xfrm>
            <a:off x="400050" y="857250"/>
            <a:ext cx="3314700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endParaRPr kumimoji="0" lang="en-US" altLang="zh-CN" sz="25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文法</a:t>
            </a:r>
            <a:endParaRPr kumimoji="0" lang="en-US" altLang="zh-CN" sz="25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_GB2312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50000"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①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BB</a:t>
            </a: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50000"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 panose="02010600030101010101" pitchFamily="2" charset="-122"/>
                <a:ea typeface="Simsun" panose="02010600030101010101" pitchFamily="2" charset="-122"/>
                <a:cs typeface="+mn-cs"/>
              </a:rPr>
              <a:t>②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aB</a:t>
            </a: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50000"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③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80FF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78853" name="Rectangle 3"/>
          <p:cNvSpPr>
            <a:spLocks noGrp="1" noChangeArrowheads="1"/>
          </p:cNvSpPr>
          <p:nvPr>
            <p:ph idx="1"/>
          </p:nvPr>
        </p:nvSpPr>
        <p:spPr>
          <a:xfrm>
            <a:off x="4211638" y="3721100"/>
            <a:ext cx="3671887" cy="1082675"/>
          </a:xfrm>
        </p:spPr>
        <p:txBody>
          <a:bodyPr lIns="92075" tIns="46038" rIns="92075" bIns="46038"/>
          <a:lstStyle/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lang="zh-CN" altLang="en-US" sz="3000" b="1">
                <a:solidFill>
                  <a:srgbClr val="2D83F4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栈    剩余输入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$</a:t>
            </a:r>
            <a:r>
              <a:rPr lang="zh-CN" altLang="en-US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</a:t>
            </a:r>
            <a:r>
              <a:rPr lang="en-US" altLang="zh-CN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  </a:t>
            </a:r>
            <a:r>
              <a:rPr lang="en-US" altLang="zh-CN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$</a:t>
            </a:r>
            <a:endParaRPr lang="en-US" altLang="zh-CN" b="1" i="1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600"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600"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4859338" y="4443413"/>
            <a:ext cx="390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4643438" y="4443413"/>
            <a:ext cx="33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78856" name="矩形 11"/>
          <p:cNvSpPr>
            <a:spLocks noChangeArrowheads="1"/>
          </p:cNvSpPr>
          <p:nvPr/>
        </p:nvSpPr>
        <p:spPr bwMode="auto">
          <a:xfrm>
            <a:off x="4411663" y="4443413"/>
            <a:ext cx="390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78857" name="矩形 12"/>
          <p:cNvSpPr>
            <a:spLocks noChangeArrowheads="1"/>
          </p:cNvSpPr>
          <p:nvPr/>
        </p:nvSpPr>
        <p:spPr bwMode="auto">
          <a:xfrm>
            <a:off x="4427538" y="4125913"/>
            <a:ext cx="33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4665663" y="4125913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4881563" y="4125913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6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18" name="Group 18"/>
          <p:cNvGraphicFramePr>
            <a:graphicFrameLocks noGrp="1"/>
          </p:cNvGraphicFramePr>
          <p:nvPr/>
        </p:nvGraphicFramePr>
        <p:xfrm>
          <a:off x="4214813" y="123825"/>
          <a:ext cx="4318000" cy="3603666"/>
        </p:xfrm>
        <a:graphic>
          <a:graphicData uri="http://schemas.openxmlformats.org/drawingml/2006/table">
            <a:tbl>
              <a:tblPr/>
              <a:tblGrid>
                <a:gridCol w="928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1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  <a:cs typeface="Times New Roman" pitchFamily="18" charset="0"/>
                        </a:rPr>
                        <a:t>状态</a:t>
                      </a:r>
                    </a:p>
                  </a:txBody>
                  <a:tcPr marL="91447" marR="91447" marT="34257" marB="3425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ACTION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GOTO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78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$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S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8928" name="矩形 12"/>
          <p:cNvSpPr>
            <a:spLocks noChangeArrowheads="1"/>
          </p:cNvSpPr>
          <p:nvPr/>
        </p:nvSpPr>
        <p:spPr bwMode="auto">
          <a:xfrm>
            <a:off x="842963" y="4543425"/>
            <a:ext cx="2033587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输入 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b  a   b</a:t>
            </a:r>
            <a:endParaRPr kumimoji="0" lang="en-US" altLang="zh-CN" sz="25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78929" name="Group 78"/>
          <p:cNvGrpSpPr>
            <a:grpSpLocks/>
          </p:cNvGrpSpPr>
          <p:nvPr/>
        </p:nvGrpSpPr>
        <p:grpSpPr bwMode="auto">
          <a:xfrm>
            <a:off x="1835150" y="3994150"/>
            <a:ext cx="357188" cy="557213"/>
            <a:chOff x="975" y="3041"/>
            <a:chExt cx="225" cy="741"/>
          </a:xfrm>
        </p:grpSpPr>
        <p:sp>
          <p:nvSpPr>
            <p:cNvPr id="78933" name="Line 79"/>
            <p:cNvSpPr>
              <a:spLocks noChangeShapeType="1"/>
            </p:cNvSpPr>
            <p:nvPr/>
          </p:nvSpPr>
          <p:spPr bwMode="auto">
            <a:xfrm flipH="1" flipV="1">
              <a:off x="1066" y="3543"/>
              <a:ext cx="0" cy="2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934" name="Rectangle 80"/>
            <p:cNvSpPr>
              <a:spLocks noChangeArrowheads="1"/>
            </p:cNvSpPr>
            <p:nvPr/>
          </p:nvSpPr>
          <p:spPr bwMode="auto">
            <a:xfrm>
              <a:off x="975" y="3041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  <a:buFont typeface="Monotype Sorts"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</p:grpSp>
      <p:grpSp>
        <p:nvGrpSpPr>
          <p:cNvPr id="3" name="Group 78"/>
          <p:cNvGrpSpPr>
            <a:grpSpLocks/>
          </p:cNvGrpSpPr>
          <p:nvPr/>
        </p:nvGrpSpPr>
        <p:grpSpPr bwMode="auto">
          <a:xfrm>
            <a:off x="2555875" y="4032250"/>
            <a:ext cx="357188" cy="555625"/>
            <a:chOff x="975" y="3041"/>
            <a:chExt cx="225" cy="741"/>
          </a:xfrm>
        </p:grpSpPr>
        <p:sp>
          <p:nvSpPr>
            <p:cNvPr id="78931" name="Line 79"/>
            <p:cNvSpPr>
              <a:spLocks noChangeShapeType="1"/>
            </p:cNvSpPr>
            <p:nvPr/>
          </p:nvSpPr>
          <p:spPr bwMode="auto">
            <a:xfrm flipH="1" flipV="1">
              <a:off x="1066" y="3543"/>
              <a:ext cx="0" cy="2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932" name="Rectangle 80"/>
            <p:cNvSpPr>
              <a:spLocks noChangeArrowheads="1"/>
            </p:cNvSpPr>
            <p:nvPr/>
          </p:nvSpPr>
          <p:spPr bwMode="auto">
            <a:xfrm>
              <a:off x="975" y="3041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  <a:buFont typeface="Monotype Sorts"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/>
      <p:bldP spid="14" grpId="0"/>
      <p:bldP spid="16" grpId="0"/>
      <p:bldP spid="16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ext Box 19"/>
          <p:cNvSpPr txBox="1">
            <a:spLocks noChangeArrowheads="1"/>
          </p:cNvSpPr>
          <p:nvPr/>
        </p:nvSpPr>
        <p:spPr bwMode="auto">
          <a:xfrm>
            <a:off x="539750" y="2571750"/>
            <a:ext cx="2743200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80899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分析表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的结构</a:t>
            </a:r>
          </a:p>
        </p:txBody>
      </p:sp>
      <p:sp>
        <p:nvSpPr>
          <p:cNvPr id="80900" name="Rectangle 21"/>
          <p:cNvSpPr txBox="1">
            <a:spLocks noChangeArrowheads="1"/>
          </p:cNvSpPr>
          <p:nvPr/>
        </p:nvSpPr>
        <p:spPr bwMode="auto">
          <a:xfrm>
            <a:off x="400050" y="857250"/>
            <a:ext cx="3314700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endParaRPr kumimoji="0" lang="en-US" altLang="zh-CN" sz="25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文法</a:t>
            </a:r>
            <a:endParaRPr kumimoji="0" lang="en-US" altLang="zh-CN" sz="25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_GB2312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50000"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①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BB</a:t>
            </a: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50000"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 panose="02010600030101010101" pitchFamily="2" charset="-122"/>
                <a:ea typeface="Simsun" panose="02010600030101010101" pitchFamily="2" charset="-122"/>
                <a:cs typeface="+mn-cs"/>
              </a:rPr>
              <a:t>②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aB</a:t>
            </a: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50000"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③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80FF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80901" name="Rectangle 3"/>
          <p:cNvSpPr>
            <a:spLocks noGrp="1" noChangeArrowheads="1"/>
          </p:cNvSpPr>
          <p:nvPr>
            <p:ph idx="1"/>
          </p:nvPr>
        </p:nvSpPr>
        <p:spPr>
          <a:xfrm>
            <a:off x="4211638" y="3721100"/>
            <a:ext cx="3671887" cy="1082675"/>
          </a:xfrm>
        </p:spPr>
        <p:txBody>
          <a:bodyPr lIns="92075" tIns="46038" rIns="92075" bIns="46038"/>
          <a:lstStyle/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lang="zh-CN" altLang="en-US" sz="3000" b="1">
                <a:solidFill>
                  <a:srgbClr val="2D83F4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栈    剩余输入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$</a:t>
            </a:r>
            <a:r>
              <a:rPr lang="zh-CN" altLang="en-US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</a:t>
            </a:r>
            <a:r>
              <a:rPr lang="en-US" altLang="zh-CN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  </a:t>
            </a:r>
            <a:r>
              <a:rPr lang="en-US" altLang="zh-CN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$</a:t>
            </a:r>
            <a:endParaRPr lang="en-US" altLang="zh-CN" b="1" i="1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600"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600"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4686300" y="4443413"/>
            <a:ext cx="390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4411663" y="4443413"/>
            <a:ext cx="390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4427538" y="4125913"/>
            <a:ext cx="33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4706938" y="4125913"/>
            <a:ext cx="33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5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17" name="Group 18"/>
          <p:cNvGraphicFramePr>
            <a:graphicFrameLocks noGrp="1"/>
          </p:cNvGraphicFramePr>
          <p:nvPr/>
        </p:nvGraphicFramePr>
        <p:xfrm>
          <a:off x="4214813" y="123825"/>
          <a:ext cx="4318000" cy="3603666"/>
        </p:xfrm>
        <a:graphic>
          <a:graphicData uri="http://schemas.openxmlformats.org/drawingml/2006/table">
            <a:tbl>
              <a:tblPr/>
              <a:tblGrid>
                <a:gridCol w="928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1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  <a:cs typeface="Times New Roman" pitchFamily="18" charset="0"/>
                        </a:rPr>
                        <a:t>状态</a:t>
                      </a:r>
                    </a:p>
                  </a:txBody>
                  <a:tcPr marL="91447" marR="91447" marT="34257" marB="3425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ACTION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GOTO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78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$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S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0974" name="矩形 10"/>
          <p:cNvSpPr>
            <a:spLocks noChangeArrowheads="1"/>
          </p:cNvSpPr>
          <p:nvPr/>
        </p:nvSpPr>
        <p:spPr bwMode="auto">
          <a:xfrm>
            <a:off x="842963" y="4543425"/>
            <a:ext cx="2033587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输入 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b  a   b</a:t>
            </a:r>
            <a:endParaRPr kumimoji="0" lang="en-US" altLang="zh-CN" sz="25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80975" name="Group 78"/>
          <p:cNvGrpSpPr>
            <a:grpSpLocks/>
          </p:cNvGrpSpPr>
          <p:nvPr/>
        </p:nvGrpSpPr>
        <p:grpSpPr bwMode="auto">
          <a:xfrm>
            <a:off x="1835150" y="3994150"/>
            <a:ext cx="357188" cy="557213"/>
            <a:chOff x="975" y="3041"/>
            <a:chExt cx="225" cy="741"/>
          </a:xfrm>
        </p:grpSpPr>
        <p:sp>
          <p:nvSpPr>
            <p:cNvPr id="80983" name="Line 79"/>
            <p:cNvSpPr>
              <a:spLocks noChangeShapeType="1"/>
            </p:cNvSpPr>
            <p:nvPr/>
          </p:nvSpPr>
          <p:spPr bwMode="auto">
            <a:xfrm flipH="1" flipV="1">
              <a:off x="1066" y="3543"/>
              <a:ext cx="0" cy="2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0984" name="Rectangle 80"/>
            <p:cNvSpPr>
              <a:spLocks noChangeArrowheads="1"/>
            </p:cNvSpPr>
            <p:nvPr/>
          </p:nvSpPr>
          <p:spPr bwMode="auto">
            <a:xfrm>
              <a:off x="975" y="3041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  <a:buFont typeface="Monotype Sorts"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</p:grpSp>
      <p:grpSp>
        <p:nvGrpSpPr>
          <p:cNvPr id="80976" name="Group 78"/>
          <p:cNvGrpSpPr>
            <a:grpSpLocks/>
          </p:cNvGrpSpPr>
          <p:nvPr/>
        </p:nvGrpSpPr>
        <p:grpSpPr bwMode="auto">
          <a:xfrm>
            <a:off x="2555875" y="4032250"/>
            <a:ext cx="357188" cy="555625"/>
            <a:chOff x="975" y="3041"/>
            <a:chExt cx="225" cy="741"/>
          </a:xfrm>
        </p:grpSpPr>
        <p:sp>
          <p:nvSpPr>
            <p:cNvPr id="80981" name="Line 79"/>
            <p:cNvSpPr>
              <a:spLocks noChangeShapeType="1"/>
            </p:cNvSpPr>
            <p:nvPr/>
          </p:nvSpPr>
          <p:spPr bwMode="auto">
            <a:xfrm flipH="1" flipV="1">
              <a:off x="1066" y="3543"/>
              <a:ext cx="0" cy="2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0982" name="Rectangle 80"/>
            <p:cNvSpPr>
              <a:spLocks noChangeArrowheads="1"/>
            </p:cNvSpPr>
            <p:nvPr/>
          </p:nvSpPr>
          <p:spPr bwMode="auto">
            <a:xfrm>
              <a:off x="975" y="3041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  <a:buFont typeface="Monotype Sorts"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</p:grpSp>
      <p:grpSp>
        <p:nvGrpSpPr>
          <p:cNvPr id="4" name="Group 84"/>
          <p:cNvGrpSpPr>
            <a:grpSpLocks/>
          </p:cNvGrpSpPr>
          <p:nvPr/>
        </p:nvGrpSpPr>
        <p:grpSpPr bwMode="auto">
          <a:xfrm>
            <a:off x="2174875" y="3524250"/>
            <a:ext cx="525463" cy="1063625"/>
            <a:chOff x="1292" y="2662"/>
            <a:chExt cx="331" cy="1417"/>
          </a:xfrm>
        </p:grpSpPr>
        <p:sp>
          <p:nvSpPr>
            <p:cNvPr id="80978" name="Line 68"/>
            <p:cNvSpPr>
              <a:spLocks noChangeShapeType="1"/>
            </p:cNvSpPr>
            <p:nvPr/>
          </p:nvSpPr>
          <p:spPr bwMode="auto">
            <a:xfrm flipH="1" flipV="1">
              <a:off x="1404" y="3123"/>
              <a:ext cx="219" cy="2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0979" name="Line 69"/>
            <p:cNvSpPr>
              <a:spLocks noChangeShapeType="1"/>
            </p:cNvSpPr>
            <p:nvPr/>
          </p:nvSpPr>
          <p:spPr bwMode="auto">
            <a:xfrm flipH="1" flipV="1">
              <a:off x="1374" y="3184"/>
              <a:ext cx="8" cy="89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0980" name="Rectangle 71"/>
            <p:cNvSpPr>
              <a:spLocks noChangeArrowheads="1"/>
            </p:cNvSpPr>
            <p:nvPr/>
          </p:nvSpPr>
          <p:spPr bwMode="auto">
            <a:xfrm>
              <a:off x="1292" y="2662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  <a:buFont typeface="Monotype Sorts"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2" grpId="0"/>
      <p:bldP spid="13" grpId="0"/>
      <p:bldP spid="16" grpId="0"/>
      <p:bldP spid="16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ext Box 19"/>
          <p:cNvSpPr txBox="1">
            <a:spLocks noChangeArrowheads="1"/>
          </p:cNvSpPr>
          <p:nvPr/>
        </p:nvSpPr>
        <p:spPr bwMode="auto">
          <a:xfrm>
            <a:off x="539750" y="2571750"/>
            <a:ext cx="2743200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82947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分析表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的结构</a:t>
            </a:r>
          </a:p>
        </p:txBody>
      </p:sp>
      <p:sp>
        <p:nvSpPr>
          <p:cNvPr id="82948" name="Rectangle 21"/>
          <p:cNvSpPr txBox="1">
            <a:spLocks noChangeArrowheads="1"/>
          </p:cNvSpPr>
          <p:nvPr/>
        </p:nvSpPr>
        <p:spPr bwMode="auto">
          <a:xfrm>
            <a:off x="400050" y="857250"/>
            <a:ext cx="3314700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endParaRPr kumimoji="0" lang="en-US" altLang="zh-CN" sz="25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文法</a:t>
            </a:r>
            <a:endParaRPr kumimoji="0" lang="en-US" altLang="zh-CN" sz="25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_GB2312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50000"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①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BB</a:t>
            </a: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50000"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 panose="02010600030101010101" pitchFamily="2" charset="-122"/>
                <a:ea typeface="Simsun" panose="02010600030101010101" pitchFamily="2" charset="-122"/>
                <a:cs typeface="+mn-cs"/>
              </a:rPr>
              <a:t>②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aB</a:t>
            </a: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50000"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③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80FF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82949" name="Rectangle 3"/>
          <p:cNvSpPr>
            <a:spLocks noGrp="1" noChangeArrowheads="1"/>
          </p:cNvSpPr>
          <p:nvPr>
            <p:ph idx="1"/>
          </p:nvPr>
        </p:nvSpPr>
        <p:spPr>
          <a:xfrm>
            <a:off x="4211638" y="3721100"/>
            <a:ext cx="3671887" cy="1082675"/>
          </a:xfrm>
        </p:spPr>
        <p:txBody>
          <a:bodyPr lIns="92075" tIns="46038" rIns="92075" bIns="46038"/>
          <a:lstStyle/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lang="zh-CN" altLang="en-US" sz="3000" b="1">
                <a:solidFill>
                  <a:srgbClr val="2D83F4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栈    剩余输入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$</a:t>
            </a:r>
            <a:r>
              <a:rPr lang="zh-CN" altLang="en-US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</a:t>
            </a:r>
            <a:r>
              <a:rPr lang="en-US" altLang="zh-CN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  </a:t>
            </a:r>
            <a:r>
              <a:rPr lang="en-US" altLang="zh-CN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$</a:t>
            </a:r>
            <a:endParaRPr lang="en-US" altLang="zh-CN" b="1" i="1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600"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600"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4427538" y="4443413"/>
            <a:ext cx="3571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4449763" y="4125913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14" name="Group 18"/>
          <p:cNvGraphicFramePr>
            <a:graphicFrameLocks noGrp="1"/>
          </p:cNvGraphicFramePr>
          <p:nvPr/>
        </p:nvGraphicFramePr>
        <p:xfrm>
          <a:off x="4214813" y="123825"/>
          <a:ext cx="4318000" cy="3603666"/>
        </p:xfrm>
        <a:graphic>
          <a:graphicData uri="http://schemas.openxmlformats.org/drawingml/2006/table">
            <a:tbl>
              <a:tblPr/>
              <a:tblGrid>
                <a:gridCol w="928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1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  <a:cs typeface="Times New Roman" pitchFamily="18" charset="0"/>
                        </a:rPr>
                        <a:t>状态</a:t>
                      </a:r>
                    </a:p>
                  </a:txBody>
                  <a:tcPr marL="91447" marR="91447" marT="34257" marB="3425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ACTION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GOTO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78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$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S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3020" name="矩形 9"/>
          <p:cNvSpPr>
            <a:spLocks noChangeArrowheads="1"/>
          </p:cNvSpPr>
          <p:nvPr/>
        </p:nvSpPr>
        <p:spPr bwMode="auto">
          <a:xfrm>
            <a:off x="842963" y="4543425"/>
            <a:ext cx="2033587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输入 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b  a   b</a:t>
            </a:r>
            <a:endParaRPr kumimoji="0" lang="en-US" altLang="zh-CN" sz="25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83021" name="Group 78"/>
          <p:cNvGrpSpPr>
            <a:grpSpLocks/>
          </p:cNvGrpSpPr>
          <p:nvPr/>
        </p:nvGrpSpPr>
        <p:grpSpPr bwMode="auto">
          <a:xfrm>
            <a:off x="1835150" y="3994150"/>
            <a:ext cx="357188" cy="557213"/>
            <a:chOff x="975" y="3041"/>
            <a:chExt cx="225" cy="741"/>
          </a:xfrm>
        </p:grpSpPr>
        <p:sp>
          <p:nvSpPr>
            <p:cNvPr id="83033" name="Line 79"/>
            <p:cNvSpPr>
              <a:spLocks noChangeShapeType="1"/>
            </p:cNvSpPr>
            <p:nvPr/>
          </p:nvSpPr>
          <p:spPr bwMode="auto">
            <a:xfrm flipH="1" flipV="1">
              <a:off x="1066" y="3543"/>
              <a:ext cx="0" cy="2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034" name="Rectangle 80"/>
            <p:cNvSpPr>
              <a:spLocks noChangeArrowheads="1"/>
            </p:cNvSpPr>
            <p:nvPr/>
          </p:nvSpPr>
          <p:spPr bwMode="auto">
            <a:xfrm>
              <a:off x="975" y="3041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  <a:buFont typeface="Monotype Sorts"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</p:grpSp>
      <p:grpSp>
        <p:nvGrpSpPr>
          <p:cNvPr id="83022" name="Group 78"/>
          <p:cNvGrpSpPr>
            <a:grpSpLocks/>
          </p:cNvGrpSpPr>
          <p:nvPr/>
        </p:nvGrpSpPr>
        <p:grpSpPr bwMode="auto">
          <a:xfrm>
            <a:off x="2555875" y="4032250"/>
            <a:ext cx="357188" cy="555625"/>
            <a:chOff x="975" y="3041"/>
            <a:chExt cx="225" cy="741"/>
          </a:xfrm>
        </p:grpSpPr>
        <p:sp>
          <p:nvSpPr>
            <p:cNvPr id="83031" name="Line 79"/>
            <p:cNvSpPr>
              <a:spLocks noChangeShapeType="1"/>
            </p:cNvSpPr>
            <p:nvPr/>
          </p:nvSpPr>
          <p:spPr bwMode="auto">
            <a:xfrm flipH="1" flipV="1">
              <a:off x="1066" y="3543"/>
              <a:ext cx="0" cy="2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032" name="Rectangle 80"/>
            <p:cNvSpPr>
              <a:spLocks noChangeArrowheads="1"/>
            </p:cNvSpPr>
            <p:nvPr/>
          </p:nvSpPr>
          <p:spPr bwMode="auto">
            <a:xfrm>
              <a:off x="975" y="3041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  <a:buFont typeface="Monotype Sorts"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</p:grpSp>
      <p:grpSp>
        <p:nvGrpSpPr>
          <p:cNvPr id="83023" name="Group 84"/>
          <p:cNvGrpSpPr>
            <a:grpSpLocks/>
          </p:cNvGrpSpPr>
          <p:nvPr/>
        </p:nvGrpSpPr>
        <p:grpSpPr bwMode="auto">
          <a:xfrm>
            <a:off x="2174875" y="3524250"/>
            <a:ext cx="525463" cy="1063625"/>
            <a:chOff x="1292" y="2662"/>
            <a:chExt cx="331" cy="1417"/>
          </a:xfrm>
        </p:grpSpPr>
        <p:sp>
          <p:nvSpPr>
            <p:cNvPr id="83028" name="Line 68"/>
            <p:cNvSpPr>
              <a:spLocks noChangeShapeType="1"/>
            </p:cNvSpPr>
            <p:nvPr/>
          </p:nvSpPr>
          <p:spPr bwMode="auto">
            <a:xfrm flipH="1" flipV="1">
              <a:off x="1404" y="3123"/>
              <a:ext cx="219" cy="2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029" name="Line 69"/>
            <p:cNvSpPr>
              <a:spLocks noChangeShapeType="1"/>
            </p:cNvSpPr>
            <p:nvPr/>
          </p:nvSpPr>
          <p:spPr bwMode="auto">
            <a:xfrm flipH="1" flipV="1">
              <a:off x="1374" y="3184"/>
              <a:ext cx="8" cy="89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030" name="Rectangle 71"/>
            <p:cNvSpPr>
              <a:spLocks noChangeArrowheads="1"/>
            </p:cNvSpPr>
            <p:nvPr/>
          </p:nvSpPr>
          <p:spPr bwMode="auto">
            <a:xfrm>
              <a:off x="1292" y="2662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  <a:buFont typeface="Monotype Sorts"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</p:grpSp>
      <p:grpSp>
        <p:nvGrpSpPr>
          <p:cNvPr id="5" name="Group 84"/>
          <p:cNvGrpSpPr>
            <a:grpSpLocks/>
          </p:cNvGrpSpPr>
          <p:nvPr/>
        </p:nvGrpSpPr>
        <p:grpSpPr bwMode="auto">
          <a:xfrm>
            <a:off x="1906588" y="3076575"/>
            <a:ext cx="328612" cy="857250"/>
            <a:chOff x="1292" y="2662"/>
            <a:chExt cx="207" cy="1142"/>
          </a:xfrm>
        </p:grpSpPr>
        <p:sp>
          <p:nvSpPr>
            <p:cNvPr id="83025" name="Line 68"/>
            <p:cNvSpPr>
              <a:spLocks noChangeShapeType="1"/>
            </p:cNvSpPr>
            <p:nvPr/>
          </p:nvSpPr>
          <p:spPr bwMode="auto">
            <a:xfrm flipH="1" flipV="1">
              <a:off x="1404" y="3123"/>
              <a:ext cx="95" cy="1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026" name="Line 69"/>
            <p:cNvSpPr>
              <a:spLocks noChangeShapeType="1"/>
            </p:cNvSpPr>
            <p:nvPr/>
          </p:nvSpPr>
          <p:spPr bwMode="auto">
            <a:xfrm flipV="1">
              <a:off x="1347" y="3184"/>
              <a:ext cx="27" cy="6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027" name="Rectangle 71"/>
            <p:cNvSpPr>
              <a:spLocks noChangeArrowheads="1"/>
            </p:cNvSpPr>
            <p:nvPr/>
          </p:nvSpPr>
          <p:spPr bwMode="auto">
            <a:xfrm>
              <a:off x="1292" y="2662"/>
              <a:ext cx="207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  <a:buFont typeface="Monotype Sorts"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分析器的工作过程</a:t>
            </a:r>
            <a:endParaRPr lang="zh-CN" altLang="en-US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/>
            </a:endParaRP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590550" y="2928938"/>
            <a:ext cx="7267575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①</a:t>
            </a:r>
            <a:r>
              <a:rPr kumimoji="1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如果</a:t>
            </a:r>
            <a:r>
              <a:rPr kumimoji="1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ACTION [</a:t>
            </a:r>
            <a:r>
              <a:rPr kumimoji="1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5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 </a:t>
            </a:r>
            <a:r>
              <a:rPr kumimoji="1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5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]= s</a:t>
            </a:r>
            <a:r>
              <a:rPr kumimoji="1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</a:t>
            </a:r>
            <a:r>
              <a:rPr kumimoji="1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那么格局变为：</a:t>
            </a:r>
          </a:p>
        </p:txBody>
      </p:sp>
      <p:sp>
        <p:nvSpPr>
          <p:cNvPr id="5" name="矩形 4"/>
          <p:cNvSpPr/>
          <p:nvPr/>
        </p:nvSpPr>
        <p:spPr>
          <a:xfrm>
            <a:off x="2686050" y="3378200"/>
            <a:ext cx="3757613" cy="8112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 </a:t>
            </a:r>
            <a:r>
              <a:rPr kumimoji="1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5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endParaRPr kumimoji="1" lang="en-US" altLang="zh-CN" sz="25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$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</a:t>
            </a:r>
            <a:r>
              <a:rPr kumimoji="1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5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5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 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i+</a:t>
            </a:r>
            <a:r>
              <a:rPr kumimoji="1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…a</a:t>
            </a:r>
            <a:r>
              <a:rPr kumimoji="1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$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428625" y="798513"/>
            <a:ext cx="8001000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初始化</a:t>
            </a: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466725" y="1643063"/>
            <a:ext cx="8534400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一般情况下</a:t>
            </a:r>
          </a:p>
        </p:txBody>
      </p:sp>
      <p:sp>
        <p:nvSpPr>
          <p:cNvPr id="15" name="矩形 14"/>
          <p:cNvSpPr/>
          <p:nvPr/>
        </p:nvSpPr>
        <p:spPr>
          <a:xfrm>
            <a:off x="2686050" y="1022350"/>
            <a:ext cx="3757613" cy="685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$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                         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…a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$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686050" y="1885950"/>
            <a:ext cx="3757613" cy="685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 </a:t>
            </a:r>
            <a:r>
              <a:rPr kumimoji="1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4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endParaRPr kumimoji="1" lang="en-US" altLang="zh-CN" sz="800" b="1" i="1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$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</a:t>
            </a:r>
            <a:r>
              <a:rPr kumimoji="1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4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  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i+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…a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$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allAtOnce" autoUpdateAnimBg="0"/>
      <p:bldP spid="5" grpId="0" animBg="1"/>
      <p:bldP spid="5" grpId="1" animBg="1"/>
      <p:bldP spid="13" grpId="0"/>
      <p:bldP spid="14" grpId="0"/>
      <p:bldP spid="15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262" name="Text Box 6"/>
          <p:cNvSpPr txBox="1">
            <a:spLocks noChangeArrowheads="1"/>
          </p:cNvSpPr>
          <p:nvPr/>
        </p:nvSpPr>
        <p:spPr bwMode="auto">
          <a:xfrm>
            <a:off x="684213" y="2643188"/>
            <a:ext cx="8316912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②</a:t>
            </a:r>
            <a:r>
              <a:rPr kumimoji="1" lang="zh-CN" altLang="en-US" sz="2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如果</a:t>
            </a:r>
            <a:r>
              <a:rPr kumimoji="1" lang="en-US" altLang="zh-CN" sz="2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ACTION</a:t>
            </a:r>
            <a:r>
              <a:rPr kumimoji="1" lang="en-US" altLang="zh-CN" sz="2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1" lang="en-US" altLang="zh-CN" sz="23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3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 </a:t>
            </a:r>
            <a:r>
              <a:rPr kumimoji="1" lang="en-US" altLang="zh-CN" sz="2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 </a:t>
            </a:r>
            <a:r>
              <a:rPr kumimoji="1" lang="en-US" altLang="zh-CN" sz="23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3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]= rx </a:t>
            </a:r>
            <a:r>
              <a:rPr kumimoji="1" lang="zh-CN" altLang="en-US" sz="2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表示用第</a:t>
            </a:r>
            <a:r>
              <a:rPr kumimoji="1" lang="en-US" altLang="zh-CN" sz="23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x</a:t>
            </a:r>
            <a:r>
              <a:rPr kumimoji="1" lang="zh-CN" altLang="en-US" sz="2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个产生式</a:t>
            </a:r>
            <a:r>
              <a:rPr kumimoji="1" lang="en-US" altLang="zh-CN" sz="23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A</a:t>
            </a:r>
            <a:r>
              <a:rPr kumimoji="1" lang="en-US" altLang="zh-CN" sz="2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1" lang="en-US" altLang="zh-CN" sz="23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X</a:t>
            </a:r>
            <a:r>
              <a:rPr kumimoji="1" lang="en-US" altLang="zh-CN" sz="23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m</a:t>
            </a:r>
            <a:r>
              <a:rPr kumimoji="1" lang="en-US" altLang="zh-CN" sz="23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-(</a:t>
            </a:r>
            <a:r>
              <a:rPr kumimoji="1" lang="en-US" altLang="zh-CN" sz="23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k</a:t>
            </a:r>
            <a:r>
              <a:rPr kumimoji="1" lang="en-US" altLang="zh-CN" sz="23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-1)</a:t>
            </a:r>
            <a:r>
              <a:rPr kumimoji="1" lang="en-US" altLang="zh-CN" sz="2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…</a:t>
            </a:r>
            <a:r>
              <a:rPr kumimoji="1" lang="en-US" altLang="zh-CN" sz="23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X</a:t>
            </a:r>
            <a:r>
              <a:rPr kumimoji="1" lang="en-US" altLang="zh-CN" sz="23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m    </a:t>
            </a:r>
            <a:r>
              <a:rPr kumimoji="1" lang="en-US" altLang="zh-CN" sz="23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3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   </a:t>
            </a:r>
            <a:r>
              <a:rPr kumimoji="1" lang="zh-CN" altLang="en-US" sz="2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进行归约，那么格局变为：</a:t>
            </a:r>
            <a:endParaRPr kumimoji="1" lang="zh-CN" altLang="en-US" sz="2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864263" name="Text Box 7"/>
          <p:cNvSpPr txBox="1">
            <a:spLocks noChangeArrowheads="1"/>
          </p:cNvSpPr>
          <p:nvPr/>
        </p:nvSpPr>
        <p:spPr bwMode="auto">
          <a:xfrm>
            <a:off x="4937125" y="3160713"/>
            <a:ext cx="3757613" cy="6937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1" lang="zh-CN" altLang="en-US" sz="25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 </a:t>
            </a:r>
            <a:r>
              <a:rPr kumimoji="1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5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-k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$ 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</a:t>
            </a:r>
            <a:r>
              <a:rPr kumimoji="1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5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-k 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1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5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zh-CN" altLang="en-US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i+</a:t>
            </a:r>
            <a:r>
              <a:rPr kumimoji="1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…a</a:t>
            </a:r>
            <a:r>
              <a:rPr kumimoji="1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$</a:t>
            </a:r>
            <a:endParaRPr kumimoji="1" lang="en-US" altLang="zh-CN" sz="25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4264" name="Text Box 8"/>
          <p:cNvSpPr txBox="1">
            <a:spLocks noChangeArrowheads="1"/>
          </p:cNvSpPr>
          <p:nvPr/>
        </p:nvSpPr>
        <p:spPr bwMode="auto">
          <a:xfrm>
            <a:off x="938213" y="3940175"/>
            <a:ext cx="8818562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zh-CN" altLang="en-US" sz="2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如果</a:t>
            </a:r>
            <a:r>
              <a:rPr kumimoji="1" lang="en-US" altLang="zh-CN" sz="2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GOTO[</a:t>
            </a:r>
            <a:r>
              <a:rPr kumimoji="1" lang="en-US" altLang="zh-CN" sz="23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3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kumimoji="1" lang="en-US" altLang="zh-CN" sz="23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en-US" altLang="zh-CN" sz="23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 </a:t>
            </a:r>
            <a:r>
              <a:rPr kumimoji="1" lang="en-US" altLang="zh-CN" sz="2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sz="23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]=</a:t>
            </a:r>
            <a:r>
              <a:rPr kumimoji="1" lang="en-US" altLang="zh-CN" sz="23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kumimoji="1" lang="zh-CN" altLang="en-US" sz="2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，那么格局变为：</a:t>
            </a:r>
            <a:endParaRPr kumimoji="1" lang="en-US" altLang="zh-CN" sz="2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704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分析器的工作过程</a:t>
            </a:r>
            <a:endParaRPr lang="zh-CN" altLang="en-US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/>
            </a:endParaRPr>
          </a:p>
        </p:txBody>
      </p:sp>
      <p:sp>
        <p:nvSpPr>
          <p:cNvPr id="87046" name="Text Box 3"/>
          <p:cNvSpPr txBox="1">
            <a:spLocks noChangeArrowheads="1"/>
          </p:cNvSpPr>
          <p:nvPr/>
        </p:nvSpPr>
        <p:spPr bwMode="auto">
          <a:xfrm>
            <a:off x="428625" y="798513"/>
            <a:ext cx="8001000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初始化</a:t>
            </a:r>
          </a:p>
        </p:txBody>
      </p:sp>
      <p:sp>
        <p:nvSpPr>
          <p:cNvPr id="87047" name="Text Box 4"/>
          <p:cNvSpPr txBox="1">
            <a:spLocks noChangeArrowheads="1"/>
          </p:cNvSpPr>
          <p:nvPr/>
        </p:nvSpPr>
        <p:spPr bwMode="auto">
          <a:xfrm>
            <a:off x="466725" y="1643063"/>
            <a:ext cx="8534400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一般情况下</a:t>
            </a:r>
          </a:p>
        </p:txBody>
      </p:sp>
      <p:sp>
        <p:nvSpPr>
          <p:cNvPr id="2" name="矩形 1"/>
          <p:cNvSpPr/>
          <p:nvPr/>
        </p:nvSpPr>
        <p:spPr>
          <a:xfrm>
            <a:off x="2686050" y="1022350"/>
            <a:ext cx="3757613" cy="685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$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                         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…a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$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686050" y="1885950"/>
            <a:ext cx="3757613" cy="685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 </a:t>
            </a:r>
            <a:r>
              <a:rPr kumimoji="1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4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endParaRPr kumimoji="1" lang="en-US" altLang="zh-CN" sz="800" b="1" i="1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$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</a:t>
            </a:r>
            <a:r>
              <a:rPr kumimoji="1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4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  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i+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…a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$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937125" y="4427538"/>
            <a:ext cx="3757613" cy="6826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5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… </a:t>
            </a:r>
            <a:r>
              <a:rPr kumimoji="1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5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kumimoji="1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-k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y</a:t>
            </a:r>
            <a:r>
              <a:rPr kumimoji="1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$ 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kumimoji="1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5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kumimoji="1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-k 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kumimoji="1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5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i+</a:t>
            </a:r>
            <a:r>
              <a:rPr kumimoji="1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…a</a:t>
            </a:r>
            <a:r>
              <a:rPr kumimoji="1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$</a:t>
            </a:r>
            <a:endParaRPr kumimoji="1" lang="en-US" altLang="zh-CN" sz="25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64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64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64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642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642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64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642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642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64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864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864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8642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8642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8642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8642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4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8642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8642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8642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4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4262" grpId="0"/>
      <p:bldP spid="864262" grpId="1"/>
      <p:bldP spid="864263" grpId="0" animBg="1"/>
      <p:bldP spid="864263" grpId="1" animBg="1"/>
      <p:bldP spid="864264" grpId="0"/>
      <p:bldP spid="864264" grpId="1"/>
      <p:bldP spid="4" grpId="0" animBg="1"/>
      <p:bldP spid="4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360" name="Rectangle 8"/>
          <p:cNvSpPr>
            <a:spLocks noGrp="1" noChangeArrowheads="1"/>
          </p:cNvSpPr>
          <p:nvPr>
            <p:ph idx="1"/>
          </p:nvPr>
        </p:nvSpPr>
        <p:spPr>
          <a:xfrm>
            <a:off x="657225" y="2928938"/>
            <a:ext cx="7772400" cy="1433512"/>
          </a:xfrm>
        </p:spPr>
        <p:txBody>
          <a:bodyPr/>
          <a:lstStyle/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kumimoji="1" lang="en-US" altLang="zh-CN" sz="25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③</a:t>
            </a:r>
            <a:r>
              <a:rPr kumimoji="1" lang="zh-CN" altLang="en-US" sz="2500" b="1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如果</a:t>
            </a:r>
            <a:r>
              <a:rPr kumimoji="1" lang="en-US" altLang="zh-CN" sz="2300" b="1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ACTION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kumimoji="1" lang="en-US" altLang="zh-CN" sz="2500" b="1" i="1" baseline="-25000">
                <a:solidFill>
                  <a:schemeClr val="tx1"/>
                </a:solidFill>
                <a:cs typeface="Times New Roman" panose="02020603050405020304" pitchFamily="18" charset="0"/>
              </a:rPr>
              <a:t>m 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, 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a</a:t>
            </a:r>
            <a:r>
              <a:rPr kumimoji="1" lang="en-US" altLang="zh-CN" sz="2500" b="1" i="1" baseline="-25000">
                <a:solidFill>
                  <a:schemeClr val="tx1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]=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acc</a:t>
            </a:r>
            <a:r>
              <a:rPr lang="zh-CN" altLang="en-US" sz="25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1" lang="zh-CN" altLang="en-US" sz="2500" b="1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那么分析成功</a:t>
            </a:r>
          </a:p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kumimoji="1" lang="en-US" altLang="zh-CN" sz="2500" b="1">
                <a:solidFill>
                  <a:schemeClr val="tx1"/>
                </a:solidFill>
                <a:cs typeface="Times New Roman" panose="02020603050405020304" pitchFamily="18" charset="0"/>
              </a:rPr>
              <a:t>④</a:t>
            </a:r>
            <a:r>
              <a:rPr kumimoji="1" lang="zh-CN" altLang="en-US" sz="2500" b="1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如果</a:t>
            </a:r>
            <a:r>
              <a:rPr kumimoji="1" lang="en-US" altLang="zh-CN" sz="2300" b="1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ACTION</a:t>
            </a:r>
            <a:r>
              <a:rPr lang="en-US" altLang="zh-CN" sz="2500" b="1">
                <a:solidFill>
                  <a:schemeClr val="tx1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kumimoji="1" lang="en-US" altLang="zh-CN" sz="2500" b="1" i="1" baseline="-25000">
                <a:solidFill>
                  <a:schemeClr val="tx1"/>
                </a:solidFill>
                <a:cs typeface="Times New Roman" panose="02020603050405020304" pitchFamily="18" charset="0"/>
              </a:rPr>
              <a:t>m </a:t>
            </a:r>
            <a:r>
              <a:rPr lang="en-US" altLang="zh-CN" sz="2500" b="1">
                <a:solidFill>
                  <a:schemeClr val="tx1"/>
                </a:solidFill>
                <a:cs typeface="Times New Roman" panose="02020603050405020304" pitchFamily="18" charset="0"/>
              </a:rPr>
              <a:t>, 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kumimoji="1" lang="en-US" altLang="zh-CN" sz="2500" b="1" i="1" baseline="-25000">
                <a:solidFill>
                  <a:schemeClr val="tx1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500" b="1">
                <a:solidFill>
                  <a:schemeClr val="tx1"/>
                </a:solidFill>
                <a:cs typeface="Times New Roman" panose="02020603050405020304" pitchFamily="18" charset="0"/>
              </a:rPr>
              <a:t>]=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err</a:t>
            </a:r>
            <a:r>
              <a:rPr lang="zh-CN" altLang="en-US" sz="25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 ，</a:t>
            </a:r>
            <a:r>
              <a:rPr kumimoji="1" lang="zh-CN" altLang="en-US" sz="2500" b="1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那么出现语法错误</a:t>
            </a:r>
            <a:endParaRPr kumimoji="1" lang="en-US" altLang="zh-CN" sz="2500" b="1">
              <a:solidFill>
                <a:schemeClr val="tx1"/>
              </a:solidFill>
              <a:latin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9091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分析器的工作过程</a:t>
            </a:r>
            <a:endParaRPr lang="zh-CN" altLang="en-US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/>
            </a:endParaRPr>
          </a:p>
        </p:txBody>
      </p:sp>
      <p:sp>
        <p:nvSpPr>
          <p:cNvPr id="89092" name="Text Box 3"/>
          <p:cNvSpPr txBox="1">
            <a:spLocks noChangeArrowheads="1"/>
          </p:cNvSpPr>
          <p:nvPr/>
        </p:nvSpPr>
        <p:spPr bwMode="auto">
          <a:xfrm>
            <a:off x="428625" y="798513"/>
            <a:ext cx="8001000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初始化</a:t>
            </a:r>
          </a:p>
        </p:txBody>
      </p:sp>
      <p:sp>
        <p:nvSpPr>
          <p:cNvPr id="89093" name="Text Box 4"/>
          <p:cNvSpPr txBox="1">
            <a:spLocks noChangeArrowheads="1"/>
          </p:cNvSpPr>
          <p:nvPr/>
        </p:nvSpPr>
        <p:spPr bwMode="auto">
          <a:xfrm>
            <a:off x="466725" y="1643063"/>
            <a:ext cx="8534400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一般情况下</a:t>
            </a:r>
          </a:p>
        </p:txBody>
      </p:sp>
      <p:sp>
        <p:nvSpPr>
          <p:cNvPr id="8" name="矩形 7"/>
          <p:cNvSpPr/>
          <p:nvPr/>
        </p:nvSpPr>
        <p:spPr>
          <a:xfrm>
            <a:off x="2686050" y="1022350"/>
            <a:ext cx="3757613" cy="685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$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                         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…a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$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686050" y="1885950"/>
            <a:ext cx="3757613" cy="685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 </a:t>
            </a:r>
            <a:r>
              <a:rPr kumimoji="1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4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endParaRPr kumimoji="1" lang="en-US" altLang="zh-CN" sz="800" b="1" i="1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$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</a:t>
            </a:r>
            <a:r>
              <a:rPr kumimoji="1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4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  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i+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…a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$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68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68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68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683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683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683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8360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内容占位符 2"/>
          <p:cNvSpPr>
            <a:spLocks noGrp="1"/>
          </p:cNvSpPr>
          <p:nvPr>
            <p:ph idx="1"/>
          </p:nvPr>
        </p:nvSpPr>
        <p:spPr>
          <a:xfrm>
            <a:off x="-57150" y="714375"/>
            <a:ext cx="9129713" cy="1714500"/>
          </a:xfrm>
        </p:spPr>
        <p:txBody>
          <a:bodyPr/>
          <a:lstStyle/>
          <a:p>
            <a:pPr eaLnBrk="1" hangingPunct="1">
              <a:lnSpc>
                <a:spcPts val="2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1600" b="1">
                <a:solidFill>
                  <a:schemeClr val="tx1"/>
                </a:solidFill>
              </a:rPr>
              <a:t>输入：串</a:t>
            </a:r>
            <a:r>
              <a:rPr lang="en-US" altLang="zh-CN" sz="1600" b="1" i="1">
                <a:solidFill>
                  <a:schemeClr val="tx1"/>
                </a:solidFill>
              </a:rPr>
              <a:t>w</a:t>
            </a:r>
            <a:r>
              <a:rPr lang="zh-CN" altLang="en-US" sz="1600" b="1">
                <a:solidFill>
                  <a:schemeClr val="tx1"/>
                </a:solidFill>
              </a:rPr>
              <a:t>和</a:t>
            </a:r>
            <a:r>
              <a:rPr lang="en-US" altLang="zh-CN" sz="1600" b="1" i="1">
                <a:solidFill>
                  <a:schemeClr val="tx1"/>
                </a:solidFill>
              </a:rPr>
              <a:t>LR</a:t>
            </a:r>
            <a:r>
              <a:rPr lang="zh-CN" altLang="en-US" sz="1600" b="1">
                <a:solidFill>
                  <a:schemeClr val="tx1"/>
                </a:solidFill>
              </a:rPr>
              <a:t>语法分析表，该表描述了文法</a:t>
            </a:r>
            <a:r>
              <a:rPr lang="en-US" altLang="zh-CN" sz="1600" b="1" i="1">
                <a:solidFill>
                  <a:schemeClr val="tx1"/>
                </a:solidFill>
              </a:rPr>
              <a:t>G</a:t>
            </a:r>
            <a:r>
              <a:rPr lang="zh-CN" altLang="en-US" sz="1600" b="1">
                <a:solidFill>
                  <a:schemeClr val="tx1"/>
                </a:solidFill>
              </a:rPr>
              <a:t>的</a:t>
            </a:r>
            <a:r>
              <a:rPr lang="en-US" altLang="zh-CN" sz="1600" b="1">
                <a:solidFill>
                  <a:schemeClr val="tx1"/>
                </a:solidFill>
              </a:rPr>
              <a:t>ACTION</a:t>
            </a:r>
            <a:r>
              <a:rPr lang="zh-CN" altLang="en-US" sz="1600" b="1">
                <a:solidFill>
                  <a:schemeClr val="tx1"/>
                </a:solidFill>
              </a:rPr>
              <a:t>函数和</a:t>
            </a:r>
            <a:r>
              <a:rPr lang="en-US" altLang="zh-CN" sz="1600" b="1">
                <a:solidFill>
                  <a:schemeClr val="tx1"/>
                </a:solidFill>
              </a:rPr>
              <a:t>GOTO</a:t>
            </a:r>
            <a:r>
              <a:rPr lang="zh-CN" altLang="en-US" sz="1600" b="1">
                <a:solidFill>
                  <a:schemeClr val="tx1"/>
                </a:solidFill>
              </a:rPr>
              <a:t>函数。</a:t>
            </a:r>
            <a:r>
              <a:rPr lang="en-US" altLang="zh-CN" sz="1600" b="1">
                <a:solidFill>
                  <a:schemeClr val="tx1"/>
                </a:solidFill>
              </a:rPr>
              <a:t> </a:t>
            </a:r>
          </a:p>
          <a:p>
            <a:pPr eaLnBrk="1" hangingPunct="1">
              <a:lnSpc>
                <a:spcPts val="2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1600" b="1">
                <a:solidFill>
                  <a:schemeClr val="tx1"/>
                </a:solidFill>
              </a:rPr>
              <a:t>输出：如果</a:t>
            </a:r>
            <a:r>
              <a:rPr lang="en-US" altLang="zh-CN" sz="1600" b="1" i="1">
                <a:solidFill>
                  <a:schemeClr val="tx1"/>
                </a:solidFill>
              </a:rPr>
              <a:t>w</a:t>
            </a:r>
            <a:r>
              <a:rPr lang="zh-CN" altLang="en-US" sz="1600" b="1">
                <a:solidFill>
                  <a:schemeClr val="tx1"/>
                </a:solidFill>
              </a:rPr>
              <a:t>在</a:t>
            </a:r>
            <a:r>
              <a:rPr lang="en-US" altLang="zh-CN" sz="1600" b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L</a:t>
            </a:r>
            <a:r>
              <a:rPr lang="en-US" altLang="zh-CN" sz="1600" b="1">
                <a:solidFill>
                  <a:schemeClr val="tx1"/>
                </a:solidFill>
              </a:rPr>
              <a:t>(</a:t>
            </a:r>
            <a:r>
              <a:rPr lang="en-US" altLang="zh-CN" sz="1600" b="1" i="1">
                <a:solidFill>
                  <a:schemeClr val="tx1"/>
                </a:solidFill>
              </a:rPr>
              <a:t>G</a:t>
            </a:r>
            <a:r>
              <a:rPr lang="en-US" altLang="zh-CN" sz="1600" b="1">
                <a:solidFill>
                  <a:schemeClr val="tx1"/>
                </a:solidFill>
              </a:rPr>
              <a:t>)</a:t>
            </a:r>
            <a:r>
              <a:rPr lang="zh-CN" altLang="en-US" sz="1600" b="1">
                <a:solidFill>
                  <a:schemeClr val="tx1"/>
                </a:solidFill>
              </a:rPr>
              <a:t>中，则输出</a:t>
            </a:r>
            <a:r>
              <a:rPr lang="en-US" altLang="zh-CN" sz="1600" b="1" i="1">
                <a:solidFill>
                  <a:schemeClr val="tx1"/>
                </a:solidFill>
              </a:rPr>
              <a:t>w</a:t>
            </a:r>
            <a:r>
              <a:rPr lang="zh-CN" altLang="en-US" sz="1600" b="1">
                <a:solidFill>
                  <a:schemeClr val="tx1"/>
                </a:solidFill>
              </a:rPr>
              <a:t>的自底向上语法分析过程中的归约步骤；否则给出一个错误指示。</a:t>
            </a:r>
            <a:endParaRPr lang="en-US" altLang="zh-CN" sz="1600" b="1">
              <a:solidFill>
                <a:schemeClr val="tx1"/>
              </a:solidFill>
            </a:endParaRPr>
          </a:p>
          <a:p>
            <a:pPr eaLnBrk="1" hangingPunct="1">
              <a:lnSpc>
                <a:spcPts val="2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1600" b="1">
                <a:solidFill>
                  <a:schemeClr val="tx1"/>
                </a:solidFill>
              </a:rPr>
              <a:t>方法：初始时，语法分析器栈中的内容为初始状态</a:t>
            </a:r>
            <a:r>
              <a:rPr lang="en-US" altLang="zh-CN" sz="1600" b="1" i="1">
                <a:solidFill>
                  <a:schemeClr val="tx1"/>
                </a:solidFill>
              </a:rPr>
              <a:t>s</a:t>
            </a:r>
            <a:r>
              <a:rPr lang="en-US" altLang="zh-CN" sz="1600" b="1" baseline="-25000">
                <a:solidFill>
                  <a:schemeClr val="tx1"/>
                </a:solidFill>
              </a:rPr>
              <a:t>0</a:t>
            </a:r>
            <a:r>
              <a:rPr lang="zh-CN" altLang="en-US" sz="1600" b="1">
                <a:solidFill>
                  <a:schemeClr val="tx1"/>
                </a:solidFill>
              </a:rPr>
              <a:t>，输入缓冲区中的内容为</a:t>
            </a:r>
            <a:r>
              <a:rPr lang="en-US" altLang="zh-CN" sz="1600" b="1" i="1">
                <a:solidFill>
                  <a:schemeClr val="tx1"/>
                </a:solidFill>
              </a:rPr>
              <a:t>w</a:t>
            </a:r>
            <a:r>
              <a:rPr lang="en-US" altLang="zh-CN" sz="1600" b="1">
                <a:solidFill>
                  <a:schemeClr val="tx1"/>
                </a:solidFill>
              </a:rPr>
              <a:t>$</a:t>
            </a:r>
            <a:r>
              <a:rPr lang="zh-CN" altLang="en-US" sz="1600" b="1">
                <a:solidFill>
                  <a:schemeClr val="tx1"/>
                </a:solidFill>
              </a:rPr>
              <a:t>。然后，语法分析器执行下面的程序：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LR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分析算法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楷体_GB2312"/>
            </a:endParaRPr>
          </a:p>
        </p:txBody>
      </p:sp>
      <p:sp>
        <p:nvSpPr>
          <p:cNvPr id="8" name="内容占位符 1"/>
          <p:cNvSpPr txBox="1">
            <a:spLocks/>
          </p:cNvSpPr>
          <p:nvPr/>
        </p:nvSpPr>
        <p:spPr bwMode="auto">
          <a:xfrm>
            <a:off x="2500313" y="1714500"/>
            <a:ext cx="6072187" cy="32988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令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a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为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w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$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的第一个符号；</a:t>
            </a: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itchFamily="2" charset="-122"/>
              <a:ea typeface="华文楷体" pitchFamily="2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el-GR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while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(1) { /*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永远重复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*/ </a:t>
            </a: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         令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s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是栈顶的状态；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          if ( ACTION [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s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，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a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]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=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st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) {</a:t>
            </a: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                    将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t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压入栈中；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                   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令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a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为下一个输入符号；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          } else  if (ACTION [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s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，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a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]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=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归约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A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→</a:t>
            </a:r>
            <a:r>
              <a:rPr kumimoji="0" lang="el-GR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β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) {</a:t>
            </a: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                    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从栈中弹出│ </a:t>
            </a:r>
            <a:r>
              <a:rPr kumimoji="0" lang="el-GR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β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│个符号；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华文楷体" pitchFamily="2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                    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将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GOTO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[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t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，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A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]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压入栈中；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                   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输出产生式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A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→</a:t>
            </a:r>
            <a:r>
              <a:rPr kumimoji="0" lang="el-GR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β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；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华文楷体" pitchFamily="2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          } else  if (ACTION [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s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，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a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]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=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接受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) break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；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/*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语法分析完成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*/</a:t>
            </a: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          else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调用错误恢复例程；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</a:t>
            </a: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      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063" y="857250"/>
            <a:ext cx="5927725" cy="3225800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000" b="1" i="1">
                <a:solidFill>
                  <a:schemeClr val="tx1"/>
                </a:solidFill>
                <a:cs typeface="Times New Roman" pitchFamily="18" charset="0"/>
              </a:rPr>
              <a:t>LR</a:t>
            </a:r>
            <a:r>
              <a:rPr lang="en-US" altLang="zh-CN" sz="3000" b="1">
                <a:solidFill>
                  <a:schemeClr val="tx1"/>
                </a:solidFill>
                <a:cs typeface="Times New Roman" pitchFamily="18" charset="0"/>
              </a:rPr>
              <a:t>(0)</a:t>
            </a:r>
            <a:r>
              <a:rPr lang="zh-CN" altLang="en-US" sz="3000" b="1">
                <a:solidFill>
                  <a:schemeClr val="tx1"/>
                </a:solidFill>
                <a:cs typeface="Times New Roman" pitchFamily="18" charset="0"/>
              </a:rPr>
              <a:t>分析</a:t>
            </a:r>
            <a:endParaRPr lang="en-US" altLang="zh-CN" sz="3000" b="1">
              <a:solidFill>
                <a:schemeClr val="tx1"/>
              </a:solidFill>
              <a:cs typeface="Times New Roman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000" b="1" i="1">
                <a:solidFill>
                  <a:schemeClr val="tx1"/>
                </a:solidFill>
                <a:cs typeface="Times New Roman" pitchFamily="18" charset="0"/>
              </a:rPr>
              <a:t>SLR</a:t>
            </a:r>
            <a:r>
              <a:rPr lang="zh-CN" altLang="en-US" sz="3000" b="1">
                <a:solidFill>
                  <a:schemeClr val="tx1"/>
                </a:solidFill>
                <a:cs typeface="Times New Roman" pitchFamily="18" charset="0"/>
              </a:rPr>
              <a:t>分析</a:t>
            </a:r>
            <a:endParaRPr lang="zh-CN" altLang="zh-CN" sz="3000" b="1">
              <a:solidFill>
                <a:schemeClr val="tx1"/>
              </a:solidFill>
              <a:cs typeface="Times New Roman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000" b="1" i="1">
                <a:solidFill>
                  <a:schemeClr val="tx1"/>
                </a:solidFill>
                <a:cs typeface="Times New Roman" pitchFamily="18" charset="0"/>
              </a:rPr>
              <a:t>LR</a:t>
            </a:r>
            <a:r>
              <a:rPr lang="en-US" altLang="zh-CN" sz="3000" b="1">
                <a:solidFill>
                  <a:schemeClr val="tx1"/>
                </a:solidFill>
                <a:cs typeface="Times New Roman" pitchFamily="18" charset="0"/>
              </a:rPr>
              <a:t>(1)</a:t>
            </a:r>
            <a:r>
              <a:rPr lang="zh-CN" altLang="en-US" sz="3000" b="1">
                <a:solidFill>
                  <a:schemeClr val="tx1"/>
                </a:solidFill>
                <a:cs typeface="Times New Roman" pitchFamily="18" charset="0"/>
              </a:rPr>
              <a:t>分析</a:t>
            </a:r>
            <a:endParaRPr lang="zh-CN" altLang="zh-CN" sz="3000" b="1">
              <a:solidFill>
                <a:schemeClr val="tx1"/>
              </a:solidFill>
              <a:cs typeface="Times New Roman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000" b="1" i="1">
                <a:solidFill>
                  <a:schemeClr val="tx1"/>
                </a:solidFill>
                <a:cs typeface="Times New Roman" pitchFamily="18" charset="0"/>
              </a:rPr>
              <a:t>LALR</a:t>
            </a:r>
            <a:r>
              <a:rPr lang="zh-CN" altLang="en-US" sz="3000" b="1">
                <a:solidFill>
                  <a:schemeClr val="tx1"/>
                </a:solidFill>
                <a:cs typeface="Times New Roman" pitchFamily="18" charset="0"/>
              </a:rPr>
              <a:t>分析</a:t>
            </a:r>
            <a:endParaRPr lang="zh-CN" altLang="zh-CN" sz="3000" b="1">
              <a:solidFill>
                <a:schemeClr val="tx1"/>
              </a:solidFill>
              <a:cs typeface="Times New Roman" pitchFamily="18" charset="0"/>
            </a:endParaRPr>
          </a:p>
          <a:p>
            <a:pPr eaLnBrk="1" hangingPunct="1">
              <a:lnSpc>
                <a:spcPts val="4000"/>
              </a:lnSpc>
              <a:defRPr/>
            </a:pPr>
            <a:endParaRPr lang="zh-CN" altLang="en-US" sz="2800"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/>
              <a:cs typeface="Times New Roman" pitchFamily="18" charset="0"/>
            </a:endParaRPr>
          </a:p>
        </p:txBody>
      </p:sp>
      <p:sp>
        <p:nvSpPr>
          <p:cNvPr id="93187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如何构造给定文法的</a:t>
            </a:r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分析表？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1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146175"/>
            <a:ext cx="8307387" cy="3225800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</a:rPr>
              <a:t>右部某位置标有圆点的产生式称为相应文法的一个</a:t>
            </a:r>
            <a:r>
              <a:rPr lang="en-US" altLang="zh-CN" sz="2500" b="1" i="1" dirty="0">
                <a:solidFill>
                  <a:srgbClr val="FF0000"/>
                </a:solidFill>
              </a:rPr>
              <a:t>LR</a:t>
            </a:r>
            <a:r>
              <a:rPr lang="en-US" altLang="zh-CN" sz="2500" b="1" dirty="0">
                <a:solidFill>
                  <a:srgbClr val="FF0000"/>
                </a:solidFill>
              </a:rPr>
              <a:t>(0)</a:t>
            </a:r>
            <a:r>
              <a:rPr lang="zh-CN" altLang="en-US" sz="2500" b="1" dirty="0">
                <a:solidFill>
                  <a:srgbClr val="FF0000"/>
                </a:solidFill>
              </a:rPr>
              <a:t>项目</a:t>
            </a:r>
            <a:r>
              <a:rPr lang="zh-CN" altLang="en-US" sz="2500" b="1" dirty="0">
                <a:solidFill>
                  <a:schemeClr val="tx1"/>
                </a:solidFill>
              </a:rPr>
              <a:t>（简称为项目）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2500"/>
              </a:lnSpc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				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→ 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α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1</a:t>
            </a:r>
            <a:r>
              <a:rPr lang="en-US" altLang="zh-CN" sz="2500" b="1" dirty="0"/>
              <a:t>·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α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2</a:t>
            </a:r>
            <a:endParaRPr lang="en-US" altLang="zh-CN" sz="2500" b="1" dirty="0">
              <a:solidFill>
                <a:schemeClr val="tx1"/>
              </a:solidFill>
              <a:latin typeface="楷体" panose="02010609060101010101" pitchFamily="49" charset="-122"/>
            </a:endParaRPr>
          </a:p>
          <a:p>
            <a:pPr lvl="1" eaLnBrk="1" hangingPunct="1">
              <a:lnSpc>
                <a:spcPts val="2500"/>
              </a:lnSpc>
              <a:buFont typeface="Symbol" panose="05050102010706020507" pitchFamily="18" charset="2"/>
              <a:buNone/>
            </a:pPr>
            <a:r>
              <a:rPr lang="zh-CN" altLang="en-US" sz="2500" b="1" dirty="0">
                <a:solidFill>
                  <a:schemeClr val="tx1"/>
                </a:solidFill>
                <a:latin typeface="楷体" panose="02010609060101010101" pitchFamily="49" charset="-122"/>
              </a:rPr>
              <a:t>例：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S</a:t>
            </a:r>
            <a:r>
              <a:rPr lang="en-US" altLang="zh-CN" sz="2500" b="1" dirty="0" err="1">
                <a:solidFill>
                  <a:schemeClr val="tx1"/>
                </a:solidFill>
              </a:rPr>
              <a:t>→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bBB</a:t>
            </a:r>
            <a:r>
              <a:rPr lang="en-US" altLang="zh-CN" sz="2500" b="1" dirty="0">
                <a:solidFill>
                  <a:schemeClr val="tx1"/>
                </a:solidFill>
              </a:rPr>
              <a:t> </a:t>
            </a:r>
            <a:endParaRPr lang="en-US" altLang="zh-CN" sz="2500" b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3200"/>
              </a:lnSpc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			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3200"/>
              </a:lnSpc>
              <a:buFont typeface="Wingdings" panose="05000000000000000000" pitchFamily="2" charset="2"/>
              <a:buNone/>
            </a:pPr>
            <a:endParaRPr lang="en-US" altLang="zh-CN" sz="25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3200"/>
              </a:lnSpc>
              <a:buFont typeface="Wingdings" panose="05000000000000000000" pitchFamily="2" charset="2"/>
              <a:buNone/>
            </a:pPr>
            <a:endParaRPr lang="en-US" altLang="zh-CN" sz="2500" b="1" dirty="0">
              <a:solidFill>
                <a:schemeClr val="tx1"/>
              </a:solidFill>
            </a:endParaRPr>
          </a:p>
        </p:txBody>
      </p:sp>
      <p:sp>
        <p:nvSpPr>
          <p:cNvPr id="77827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600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3. LR</a:t>
            </a:r>
            <a:r>
              <a:rPr lang="en-US" altLang="zh-CN" sz="360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(0)</a:t>
            </a:r>
            <a:r>
              <a:rPr lang="zh-CN" altLang="en-US" sz="3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分析</a:t>
            </a:r>
          </a:p>
        </p:txBody>
      </p:sp>
      <p:sp>
        <p:nvSpPr>
          <p:cNvPr id="421892" name="Rectangle 4"/>
          <p:cNvSpPr>
            <a:spLocks noChangeArrowheads="1"/>
          </p:cNvSpPr>
          <p:nvPr/>
        </p:nvSpPr>
        <p:spPr bwMode="auto">
          <a:xfrm>
            <a:off x="3492500" y="4156075"/>
            <a:ext cx="27368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500" b="1">
                <a:solidFill>
                  <a:srgbClr val="2D83F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归约项目</a:t>
            </a:r>
          </a:p>
        </p:txBody>
      </p:sp>
      <p:sp>
        <p:nvSpPr>
          <p:cNvPr id="421893" name="Rectangle 5"/>
          <p:cNvSpPr>
            <a:spLocks noChangeArrowheads="1"/>
          </p:cNvSpPr>
          <p:nvPr/>
        </p:nvSpPr>
        <p:spPr bwMode="auto">
          <a:xfrm>
            <a:off x="3492500" y="2859088"/>
            <a:ext cx="2447925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500" b="1">
                <a:solidFill>
                  <a:srgbClr val="2D83F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移进项目</a:t>
            </a:r>
          </a:p>
        </p:txBody>
      </p:sp>
      <p:sp>
        <p:nvSpPr>
          <p:cNvPr id="421894" name="Rectangle 6"/>
          <p:cNvSpPr>
            <a:spLocks noChangeArrowheads="1"/>
          </p:cNvSpPr>
          <p:nvPr/>
        </p:nvSpPr>
        <p:spPr bwMode="auto">
          <a:xfrm>
            <a:off x="3492500" y="3465513"/>
            <a:ext cx="1933575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500" b="1">
                <a:solidFill>
                  <a:srgbClr val="2D83F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待约项目</a:t>
            </a:r>
          </a:p>
        </p:txBody>
      </p:sp>
      <p:sp>
        <p:nvSpPr>
          <p:cNvPr id="421895" name="AutoShape 7"/>
          <p:cNvSpPr>
            <a:spLocks/>
          </p:cNvSpPr>
          <p:nvPr/>
        </p:nvSpPr>
        <p:spPr bwMode="auto">
          <a:xfrm>
            <a:off x="3052763" y="3475038"/>
            <a:ext cx="295275" cy="539750"/>
          </a:xfrm>
          <a:prstGeom prst="rightBrace">
            <a:avLst>
              <a:gd name="adj1" fmla="val 19479"/>
              <a:gd name="adj2" fmla="val 50000"/>
            </a:avLst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solidFill>
                <a:prstClr val="black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421896" name="Line 8"/>
          <p:cNvSpPr>
            <a:spLocks noChangeShapeType="1"/>
          </p:cNvSpPr>
          <p:nvPr/>
        </p:nvSpPr>
        <p:spPr bwMode="auto">
          <a:xfrm flipH="1">
            <a:off x="2998788" y="4371975"/>
            <a:ext cx="576262" cy="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>
              <a:defRPr/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21897" name="Line 9"/>
          <p:cNvSpPr>
            <a:spLocks noChangeShapeType="1"/>
          </p:cNvSpPr>
          <p:nvPr/>
        </p:nvSpPr>
        <p:spPr bwMode="auto">
          <a:xfrm flipH="1">
            <a:off x="2998788" y="3078163"/>
            <a:ext cx="576262" cy="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>
              <a:defRPr/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5546" name="矩形 1"/>
          <p:cNvSpPr>
            <a:spLocks noChangeArrowheads="1"/>
          </p:cNvSpPr>
          <p:nvPr/>
        </p:nvSpPr>
        <p:spPr bwMode="auto">
          <a:xfrm>
            <a:off x="1079500" y="2905125"/>
            <a:ext cx="4572000" cy="172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 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 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bBB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ts val="2500"/>
              </a:lnSpc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 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BB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</a:p>
          <a:p>
            <a:pPr eaLnBrk="1" hangingPunct="1">
              <a:lnSpc>
                <a:spcPts val="2500"/>
              </a:lnSpc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 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bB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</a:t>
            </a:r>
          </a:p>
          <a:p>
            <a:pPr eaLnBrk="1" hangingPunct="1">
              <a:lnSpc>
                <a:spcPts val="2500"/>
              </a:lnSpc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 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bBB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endParaRPr lang="en-US" altLang="zh-CN" sz="2500" b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11738" y="3622675"/>
            <a:ext cx="4064000" cy="4619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b="1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项目描述了</a:t>
            </a:r>
            <a:r>
              <a:rPr lang="zh-CN" altLang="en-US" sz="2400" b="1">
                <a:solidFill>
                  <a:srgbClr val="2D83F4"/>
                </a:solidFill>
                <a:latin typeface="华文楷体" pitchFamily="2" charset="-122"/>
                <a:ea typeface="华文楷体" pitchFamily="2" charset="-122"/>
              </a:rPr>
              <a:t>句柄识别的状态</a:t>
            </a:r>
            <a:endParaRPr lang="zh-CN" altLang="en-US" sz="3600" b="1">
              <a:solidFill>
                <a:srgbClr val="2D83F4"/>
              </a:solidFill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009775" y="4614863"/>
            <a:ext cx="4897438" cy="47783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5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产生式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A</a:t>
            </a:r>
            <a:r>
              <a:rPr lang="en-US" altLang="zh-CN" sz="25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ε</a:t>
            </a:r>
            <a:r>
              <a:rPr lang="en-US" altLang="zh-CN" sz="25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 </a:t>
            </a:r>
            <a:r>
              <a:rPr lang="zh-CN" altLang="en-US" sz="25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只生成一个项目</a:t>
            </a:r>
            <a:r>
              <a:rPr lang="en-US" altLang="zh-CN" sz="2500" b="1" i="1">
                <a:solidFill>
                  <a:srgbClr val="2D83F4"/>
                </a:solidFill>
                <a:latin typeface="Times New Roman" pitchFamily="18" charset="0"/>
                <a:ea typeface="华文楷体" pitchFamily="2" charset="-122"/>
              </a:rPr>
              <a:t>A</a:t>
            </a:r>
            <a:r>
              <a:rPr lang="en-US" altLang="zh-CN" sz="2500" b="1">
                <a:solidFill>
                  <a:srgbClr val="2D83F4"/>
                </a:solidFill>
                <a:latin typeface="Times New Roman" pitchFamily="18" charset="0"/>
                <a:ea typeface="华文楷体" pitchFamily="2" charset="-122"/>
              </a:rPr>
              <a:t>→ · </a:t>
            </a:r>
            <a:endParaRPr lang="zh-CN" altLang="en-US">
              <a:solidFill>
                <a:srgbClr val="2D83F4"/>
              </a:solidFill>
            </a:endParaRPr>
          </a:p>
        </p:txBody>
      </p:sp>
      <p:sp>
        <p:nvSpPr>
          <p:cNvPr id="77837" name="标题 1"/>
          <p:cNvSpPr txBox="1">
            <a:spLocks/>
          </p:cNvSpPr>
          <p:nvPr/>
        </p:nvSpPr>
        <p:spPr bwMode="auto">
          <a:xfrm>
            <a:off x="493713" y="768350"/>
            <a:ext cx="793115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576263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855663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1462088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1919288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376488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2833688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290888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0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LR</a:t>
            </a:r>
            <a:r>
              <a:rPr lang="en-US" altLang="zh-CN" sz="30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(0)</a:t>
            </a:r>
            <a:r>
              <a:rPr lang="zh-CN" altLang="en-US" sz="3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项目</a:t>
            </a:r>
          </a:p>
        </p:txBody>
      </p:sp>
      <p:sp>
        <p:nvSpPr>
          <p:cNvPr id="77838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849E827-3984-4F5D-9609-96C7CA20F358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17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785293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1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1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21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21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1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21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55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55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218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18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21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218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218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21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218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218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21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218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218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21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21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21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21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218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218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21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2" grpId="0"/>
      <p:bldP spid="421893" grpId="0"/>
      <p:bldP spid="421894" grpId="0"/>
      <p:bldP spid="421895" grpId="0" animBg="1"/>
      <p:bldP spid="65546" grpId="0"/>
      <p:bldP spid="3" grpId="0" animBg="1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内容占位符 2"/>
          <p:cNvSpPr>
            <a:spLocks noGrp="1"/>
          </p:cNvSpPr>
          <p:nvPr>
            <p:ph idx="1"/>
          </p:nvPr>
        </p:nvSpPr>
        <p:spPr>
          <a:xfrm>
            <a:off x="357188" y="785813"/>
            <a:ext cx="8664575" cy="3225800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如果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G</a:t>
            </a:r>
            <a:r>
              <a:rPr lang="en-US" altLang="zh-CN" sz="2500" b="1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是一个以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为开始符号的文法，则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G</a:t>
            </a: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sz="2500" b="1">
                <a:solidFill>
                  <a:srgbClr val="FF0000"/>
                </a:solidFill>
                <a:cs typeface="Times New Roman" panose="02020603050405020304" pitchFamily="18" charset="0"/>
              </a:rPr>
              <a:t>增广文法</a:t>
            </a:r>
            <a:r>
              <a:rPr lang="en-US" altLang="zh-CN" sz="2500" b="1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G'</a:t>
            </a:r>
            <a:r>
              <a:rPr lang="en-US" altLang="zh-CN" sz="2500" b="1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就是在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G</a:t>
            </a: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中加上新开始符号</a:t>
            </a:r>
            <a:r>
              <a:rPr lang="en-US" altLang="zh-CN" sz="2500" b="1" i="1">
                <a:solidFill>
                  <a:srgbClr val="2D83F4"/>
                </a:solidFill>
                <a:cs typeface="Times New Roman" panose="02020603050405020304" pitchFamily="18" charset="0"/>
              </a:rPr>
              <a:t>S'</a:t>
            </a:r>
            <a:r>
              <a:rPr lang="en-US" altLang="zh-CN" sz="2500" b="1">
                <a:solidFill>
                  <a:srgbClr val="2D83F4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和产生式</a:t>
            </a:r>
            <a:r>
              <a:rPr lang="en-US" altLang="zh-CN" sz="2500" b="1" i="1">
                <a:solidFill>
                  <a:srgbClr val="2D83F4"/>
                </a:solidFill>
                <a:cs typeface="Times New Roman" panose="02020603050405020304" pitchFamily="18" charset="0"/>
              </a:rPr>
              <a:t>S'</a:t>
            </a:r>
            <a:r>
              <a:rPr lang="en-US" altLang="zh-CN" sz="2500" b="1">
                <a:solidFill>
                  <a:srgbClr val="2D83F4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500" b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500" b="1">
                <a:solidFill>
                  <a:srgbClr val="2D83F4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500" b="1" i="1">
                <a:solidFill>
                  <a:srgbClr val="2D83F4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而得到的文法</a:t>
            </a:r>
            <a:endParaRPr lang="en-US" altLang="zh-CN" sz="25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</a:rPr>
              <a:t>例</a:t>
            </a:r>
            <a:endParaRPr lang="en-US" altLang="zh-CN" sz="2500" b="1">
              <a:solidFill>
                <a:schemeClr val="tx1"/>
              </a:solidFill>
            </a:endParaRPr>
          </a:p>
          <a:p>
            <a:pPr eaLnBrk="1" hangingPunct="1">
              <a:lnSpc>
                <a:spcPts val="3500"/>
              </a:lnSpc>
            </a:pPr>
            <a:endParaRPr lang="en-US" altLang="zh-CN" sz="2500" b="1">
              <a:solidFill>
                <a:schemeClr val="tx1"/>
              </a:solidFill>
            </a:endParaRPr>
          </a:p>
          <a:p>
            <a:pPr eaLnBrk="1" hangingPunct="1">
              <a:lnSpc>
                <a:spcPts val="3500"/>
              </a:lnSpc>
            </a:pPr>
            <a:endParaRPr lang="en-US" altLang="zh-CN" sz="2500" b="1">
              <a:solidFill>
                <a:schemeClr val="tx1"/>
              </a:solidFill>
            </a:endParaRPr>
          </a:p>
          <a:p>
            <a:pPr lvl="1" eaLnBrk="1" hangingPunct="1">
              <a:lnSpc>
                <a:spcPts val="3500"/>
              </a:lnSpc>
              <a:buFont typeface="Symbol" panose="05050102010706020507" pitchFamily="18" charset="2"/>
              <a:buNone/>
            </a:pPr>
            <a:endParaRPr lang="en-US" altLang="zh-CN" sz="100" b="1">
              <a:solidFill>
                <a:schemeClr val="tx1"/>
              </a:solidFill>
            </a:endParaRPr>
          </a:p>
          <a:p>
            <a:pPr lvl="1" eaLnBrk="1" hangingPunct="1">
              <a:lnSpc>
                <a:spcPts val="3500"/>
              </a:lnSpc>
              <a:buFont typeface="Symbol" panose="05050102010706020507" pitchFamily="18" charset="2"/>
              <a:buNone/>
            </a:pPr>
            <a:endParaRPr lang="en-US" altLang="zh-CN" sz="100" b="1">
              <a:solidFill>
                <a:schemeClr val="tx1"/>
              </a:solidFill>
            </a:endParaRPr>
          </a:p>
        </p:txBody>
      </p:sp>
      <p:sp>
        <p:nvSpPr>
          <p:cNvPr id="39939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增广文法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5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25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Augmented Grammar</a:t>
            </a:r>
            <a:r>
              <a:rPr lang="en-US" altLang="zh-CN" sz="25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)</a:t>
            </a:r>
            <a:endParaRPr lang="zh-CN" altLang="en-US" sz="2500" dirty="0">
              <a:solidFill>
                <a:schemeClr val="tx1"/>
              </a:solidFill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4213225" y="2571750"/>
            <a:ext cx="936625" cy="323850"/>
          </a:xfrm>
          <a:prstGeom prst="rightArrow">
            <a:avLst>
              <a:gd name="adj1" fmla="val 50000"/>
              <a:gd name="adj2" fmla="val 54228"/>
            </a:avLst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200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2195513" y="2117725"/>
            <a:ext cx="1816100" cy="19399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1)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E 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E + T</a:t>
            </a:r>
            <a:endParaRPr lang="en-US" altLang="zh-CN" sz="2000" b="1" dirty="0">
              <a:solidFill>
                <a:prstClr val="black"/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2)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E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→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T</a:t>
            </a:r>
          </a:p>
          <a:p>
            <a:pPr eaLnBrk="1" hangingPunct="1"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3)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T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→ </a:t>
            </a: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T </a:t>
            </a:r>
            <a:r>
              <a:rPr lang="de-DE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* </a:t>
            </a: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F </a:t>
            </a:r>
          </a:p>
          <a:p>
            <a:pPr eaLnBrk="1" hangingPunct="1"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4)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T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→ </a:t>
            </a: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F </a:t>
            </a:r>
          </a:p>
          <a:p>
            <a:pPr eaLnBrk="1" hangingPunct="1">
              <a:defRPr/>
            </a:pP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5</a:t>
            </a:r>
            <a:r>
              <a:rPr lang="de-DE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) </a:t>
            </a: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F  → </a:t>
            </a:r>
            <a:r>
              <a:rPr lang="de-DE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(</a:t>
            </a: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E </a:t>
            </a:r>
            <a:r>
              <a:rPr lang="de-DE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)</a:t>
            </a: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</a:p>
          <a:p>
            <a:pPr eaLnBrk="1" hangingPunct="1">
              <a:defRPr/>
            </a:pP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6</a:t>
            </a:r>
            <a:r>
              <a:rPr lang="de-DE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) </a:t>
            </a: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F  → </a:t>
            </a:r>
            <a:r>
              <a:rPr lang="de-DE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id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5270500" y="1733550"/>
            <a:ext cx="1814513" cy="23241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0)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E' 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E</a:t>
            </a:r>
            <a:endParaRPr lang="en-US" altLang="zh-CN" sz="2000" b="1" dirty="0">
              <a:solidFill>
                <a:prstClr val="black"/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1)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E 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E + T</a:t>
            </a:r>
            <a:endParaRPr lang="en-US" altLang="zh-CN" sz="2000" b="1" dirty="0">
              <a:solidFill>
                <a:prstClr val="black"/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2)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E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→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T</a:t>
            </a:r>
          </a:p>
          <a:p>
            <a:pPr eaLnBrk="1" hangingPunct="1"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3)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T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→ </a:t>
            </a: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T </a:t>
            </a:r>
            <a:r>
              <a:rPr lang="de-DE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* </a:t>
            </a: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F </a:t>
            </a:r>
          </a:p>
          <a:p>
            <a:pPr eaLnBrk="1" hangingPunct="1"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4)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T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→ </a:t>
            </a: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F </a:t>
            </a:r>
          </a:p>
          <a:p>
            <a:pPr eaLnBrk="1" hangingPunct="1">
              <a:defRPr/>
            </a:pP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5</a:t>
            </a:r>
            <a:r>
              <a:rPr lang="de-DE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) </a:t>
            </a: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F  → </a:t>
            </a:r>
            <a:r>
              <a:rPr lang="de-DE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(</a:t>
            </a: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E </a:t>
            </a:r>
            <a:r>
              <a:rPr lang="de-DE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)</a:t>
            </a: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</a:p>
          <a:p>
            <a:pPr eaLnBrk="1" hangingPunct="1">
              <a:defRPr/>
            </a:pP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6</a:t>
            </a:r>
            <a:r>
              <a:rPr lang="de-DE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) </a:t>
            </a: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F  → </a:t>
            </a:r>
            <a:r>
              <a:rPr lang="de-DE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id</a:t>
            </a:r>
          </a:p>
        </p:txBody>
      </p:sp>
      <p:sp>
        <p:nvSpPr>
          <p:cNvPr id="2" name="矩形 1"/>
          <p:cNvSpPr/>
          <p:nvPr/>
        </p:nvSpPr>
        <p:spPr>
          <a:xfrm>
            <a:off x="368300" y="4198938"/>
            <a:ext cx="8596313" cy="9128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303213" lvl="1" eaLnBrk="1" hangingPunct="1">
              <a:lnSpc>
                <a:spcPts val="3200"/>
              </a:lnSpc>
              <a:spcBef>
                <a:spcPct val="20000"/>
              </a:spcBef>
              <a:buSzPct val="100000"/>
              <a:defRPr/>
            </a:pP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引入这个</a:t>
            </a:r>
            <a:r>
              <a:rPr lang="zh-CN" altLang="en-US" sz="2400" b="1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</a:rPr>
              <a:t>新的开始产生式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的目的是使得</a:t>
            </a:r>
            <a:r>
              <a:rPr lang="zh-CN" altLang="en-US" sz="2400" b="1">
                <a:solidFill>
                  <a:srgbClr val="2D83F4"/>
                </a:solidFill>
                <a:latin typeface="Times New Roman" pitchFamily="18" charset="0"/>
                <a:ea typeface="华文楷体" pitchFamily="2" charset="-122"/>
              </a:rPr>
              <a:t>文法开始符号仅出现在一个产生式的左边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，从而使得</a:t>
            </a:r>
            <a:r>
              <a:rPr lang="zh-CN" altLang="en-US" sz="2400" b="1">
                <a:solidFill>
                  <a:srgbClr val="2D83F4"/>
                </a:solidFill>
                <a:latin typeface="Times New Roman" pitchFamily="18" charset="0"/>
                <a:ea typeface="华文楷体" pitchFamily="2" charset="-122"/>
              </a:rPr>
              <a:t>分析器只有一个接受状态</a:t>
            </a:r>
          </a:p>
        </p:txBody>
      </p:sp>
      <p:sp>
        <p:nvSpPr>
          <p:cNvPr id="79880" name="灯片编号占位符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885E13E-8816-4D8B-A107-DC6810407812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18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5" name="Rectangle 15"/>
          <p:cNvSpPr>
            <a:spLocks noChangeArrowheads="1"/>
          </p:cNvSpPr>
          <p:nvPr/>
        </p:nvSpPr>
        <p:spPr bwMode="auto">
          <a:xfrm>
            <a:off x="388938" y="1036638"/>
            <a:ext cx="8326437" cy="3762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273050" indent="-273050" eaLnBrk="1" hangingPunct="1">
              <a:lnSpc>
                <a:spcPct val="90000"/>
              </a:lnSpc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2500" b="1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① 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S'</a:t>
            </a:r>
            <a:r>
              <a:rPr lang="en-US" altLang="zh-CN" sz="25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  </a:t>
            </a:r>
            <a:r>
              <a:rPr lang="en-US" altLang="zh-CN" sz="25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</a:t>
            </a:r>
            <a:r>
              <a:rPr lang="en-US" altLang="zh-CN" sz="2500" b="1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② 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CN" sz="25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→v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5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25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altLang="zh-CN" sz="2500" b="1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③ 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5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5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,i      </a:t>
            </a:r>
            <a:r>
              <a:rPr lang="en-US" altLang="zh-CN" sz="2500" b="1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④ 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5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→i      </a:t>
            </a:r>
            <a:r>
              <a:rPr lang="en-US" altLang="zh-CN" sz="2500" b="1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⑤ 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25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→r</a:t>
            </a:r>
          </a:p>
        </p:txBody>
      </p:sp>
      <p:sp>
        <p:nvSpPr>
          <p:cNvPr id="8192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文法中的项目</a:t>
            </a:r>
          </a:p>
        </p:txBody>
      </p:sp>
      <p:sp>
        <p:nvSpPr>
          <p:cNvPr id="594948" name="Rectangle 4"/>
          <p:cNvSpPr>
            <a:spLocks noChangeArrowheads="1"/>
          </p:cNvSpPr>
          <p:nvPr/>
        </p:nvSpPr>
        <p:spPr bwMode="auto">
          <a:xfrm>
            <a:off x="395288" y="2368550"/>
            <a:ext cx="14398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(0)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S'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S'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</a:t>
            </a:r>
          </a:p>
        </p:txBody>
      </p:sp>
      <p:sp>
        <p:nvSpPr>
          <p:cNvPr id="594949" name="Rectangle 5"/>
          <p:cNvSpPr>
            <a:spLocks noChangeArrowheads="1"/>
          </p:cNvSpPr>
          <p:nvPr/>
        </p:nvSpPr>
        <p:spPr bwMode="auto">
          <a:xfrm>
            <a:off x="2051050" y="1465263"/>
            <a:ext cx="1781175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(2)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: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(3)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→v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(4)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→v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(5)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→v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(6)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→v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</a:p>
        </p:txBody>
      </p:sp>
      <p:sp>
        <p:nvSpPr>
          <p:cNvPr id="594950" name="Rectangle 6"/>
          <p:cNvSpPr>
            <a:spLocks noChangeArrowheads="1"/>
          </p:cNvSpPr>
          <p:nvPr/>
        </p:nvSpPr>
        <p:spPr bwMode="auto">
          <a:xfrm>
            <a:off x="3995738" y="1752600"/>
            <a:ext cx="1493837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(7) 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,i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(8) 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,i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(9)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(10)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,i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endParaRPr lang="en-US" altLang="zh-CN" sz="2000" b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594951" name="Rectangle 7"/>
          <p:cNvSpPr>
            <a:spLocks noChangeArrowheads="1"/>
          </p:cNvSpPr>
          <p:nvPr/>
        </p:nvSpPr>
        <p:spPr bwMode="auto">
          <a:xfrm>
            <a:off x="5795963" y="2368550"/>
            <a:ext cx="14938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(11)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(12)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→i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endParaRPr lang="en-US" altLang="zh-CN" sz="2000" b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594952" name="Rectangle 8"/>
          <p:cNvSpPr>
            <a:spLocks noChangeArrowheads="1"/>
          </p:cNvSpPr>
          <p:nvPr/>
        </p:nvSpPr>
        <p:spPr bwMode="auto">
          <a:xfrm>
            <a:off x="7235825" y="2368550"/>
            <a:ext cx="14414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(13)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r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(14)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→r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endParaRPr lang="en-US" altLang="zh-CN" sz="2000" b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594954" name="Rectangle 10"/>
          <p:cNvSpPr>
            <a:spLocks noChangeArrowheads="1"/>
          </p:cNvSpPr>
          <p:nvPr/>
        </p:nvSpPr>
        <p:spPr bwMode="auto">
          <a:xfrm>
            <a:off x="428625" y="2738438"/>
            <a:ext cx="8072438" cy="265112"/>
          </a:xfrm>
          <a:prstGeom prst="rect">
            <a:avLst/>
          </a:prstGeom>
          <a:noFill/>
          <a:ln w="25400">
            <a:solidFill>
              <a:srgbClr val="FF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94955" name="AutoShape 11"/>
          <p:cNvSpPr>
            <a:spLocks/>
          </p:cNvSpPr>
          <p:nvPr/>
        </p:nvSpPr>
        <p:spPr bwMode="auto">
          <a:xfrm>
            <a:off x="1331913" y="3108325"/>
            <a:ext cx="1239837" cy="284163"/>
          </a:xfrm>
          <a:prstGeom prst="borderCallout2">
            <a:avLst>
              <a:gd name="adj1" fmla="val 34616"/>
              <a:gd name="adj2" fmla="val -6241"/>
              <a:gd name="adj3" fmla="val 34616"/>
              <a:gd name="adj4" fmla="val -22889"/>
              <a:gd name="adj5" fmla="val -94162"/>
              <a:gd name="adj6" fmla="val -28662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zh-CN" altLang="en-US" sz="2000" b="1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归约项目</a:t>
            </a:r>
          </a:p>
        </p:txBody>
      </p:sp>
      <p:sp>
        <p:nvSpPr>
          <p:cNvPr id="594956" name="AutoShape 12"/>
          <p:cNvSpPr>
            <a:spLocks/>
          </p:cNvSpPr>
          <p:nvPr/>
        </p:nvSpPr>
        <p:spPr bwMode="auto">
          <a:xfrm>
            <a:off x="900113" y="3536950"/>
            <a:ext cx="1243012" cy="258763"/>
          </a:xfrm>
          <a:prstGeom prst="borderCallout2">
            <a:avLst>
              <a:gd name="adj1" fmla="val 34616"/>
              <a:gd name="adj2" fmla="val -6241"/>
              <a:gd name="adj3" fmla="val 34616"/>
              <a:gd name="adj4" fmla="val -7412"/>
              <a:gd name="adj5" fmla="val -245664"/>
              <a:gd name="adj6" fmla="val -21587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sz="20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接收项目</a:t>
            </a:r>
          </a:p>
        </p:txBody>
      </p:sp>
      <p:sp>
        <p:nvSpPr>
          <p:cNvPr id="594957" name="AutoShape 13"/>
          <p:cNvSpPr>
            <a:spLocks/>
          </p:cNvSpPr>
          <p:nvPr/>
        </p:nvSpPr>
        <p:spPr bwMode="auto">
          <a:xfrm>
            <a:off x="828675" y="1651000"/>
            <a:ext cx="1243013" cy="314325"/>
          </a:xfrm>
          <a:prstGeom prst="borderCallout2">
            <a:avLst>
              <a:gd name="adj1" fmla="val 34616"/>
              <a:gd name="adj2" fmla="val -6241"/>
              <a:gd name="adj3" fmla="val 34616"/>
              <a:gd name="adj4" fmla="val -11963"/>
              <a:gd name="adj5" fmla="val 213944"/>
              <a:gd name="adj6" fmla="val -17944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sz="2000" b="1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初始项目</a:t>
            </a:r>
          </a:p>
        </p:txBody>
      </p:sp>
      <p:sp>
        <p:nvSpPr>
          <p:cNvPr id="81933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84F8531-9004-44BE-96FB-6C74029416D7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19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9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9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94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94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94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949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949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949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94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94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94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949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949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949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949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949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949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949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949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949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949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949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949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949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949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949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949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949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949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949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949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949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949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949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949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949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949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949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949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949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949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949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949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949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949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949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949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949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949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94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949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949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94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949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5949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94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5949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5949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94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5949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5949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5949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5949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5949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5949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5949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5949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5949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5949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5949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5949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75" grpId="0" animBg="1"/>
      <p:bldP spid="594948" grpId="0" build="allAtOnce"/>
      <p:bldP spid="594949" grpId="0" build="allAtOnce"/>
      <p:bldP spid="594950" grpId="0" build="allAtOnce"/>
      <p:bldP spid="594951" grpId="0" build="allAtOnce"/>
      <p:bldP spid="594952" grpId="0" build="allAtOnce"/>
      <p:bldP spid="594954" grpId="0" animBg="1"/>
      <p:bldP spid="594954" grpId="1" animBg="1"/>
      <p:bldP spid="594955" grpId="0" animBg="1"/>
      <p:bldP spid="594955" grpId="1" animBg="1"/>
      <p:bldP spid="594956" grpId="0" animBg="1"/>
      <p:bldP spid="594956" grpId="1" animBg="1"/>
      <p:bldP spid="594957" grpId="0" animBg="1"/>
      <p:bldP spid="594957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5" name="Rectangle 15"/>
          <p:cNvSpPr>
            <a:spLocks noChangeArrowheads="1"/>
          </p:cNvSpPr>
          <p:nvPr/>
        </p:nvSpPr>
        <p:spPr bwMode="auto">
          <a:xfrm>
            <a:off x="388938" y="1036638"/>
            <a:ext cx="8326437" cy="3762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273050" indent="-273050" eaLnBrk="1" hangingPunct="1">
              <a:lnSpc>
                <a:spcPct val="90000"/>
              </a:lnSpc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2500" b="1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① 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S'</a:t>
            </a:r>
            <a:r>
              <a:rPr lang="en-US" altLang="zh-CN" sz="25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  </a:t>
            </a:r>
            <a:r>
              <a:rPr lang="en-US" altLang="zh-CN" sz="25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</a:t>
            </a:r>
            <a:r>
              <a:rPr lang="en-US" altLang="zh-CN" sz="2500" b="1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② 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CN" sz="25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→v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5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25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altLang="zh-CN" sz="2500" b="1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③ 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5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5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,i      </a:t>
            </a:r>
            <a:r>
              <a:rPr lang="en-US" altLang="zh-CN" sz="2500" b="1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④ 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5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→i      </a:t>
            </a:r>
            <a:r>
              <a:rPr lang="en-US" altLang="zh-CN" sz="2500" b="1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⑤ 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25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→r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>
          <a:xfrm>
            <a:off x="465138" y="1214438"/>
            <a:ext cx="8915400" cy="3225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83972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文法中的项目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95288" y="3197225"/>
            <a:ext cx="8320087" cy="154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576263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rgbClr val="000000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后继项目</a:t>
            </a:r>
            <a:r>
              <a:rPr lang="zh-CN" altLang="en-US" sz="1600" b="1" dirty="0">
                <a:solidFill>
                  <a:srgbClr val="000000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（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Successive Item</a:t>
            </a:r>
            <a:r>
              <a:rPr lang="en-US" altLang="zh-CN" sz="1600" b="1" dirty="0">
                <a:solidFill>
                  <a:srgbClr val="000000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）</a:t>
            </a:r>
            <a:endParaRPr lang="zh-CN" altLang="en-US" sz="1600" b="1" dirty="0">
              <a:solidFill>
                <a:srgbClr val="000000"/>
              </a:solidFill>
              <a:latin typeface="楷体" panose="02010609060101010101" pitchFamily="49" charset="-122"/>
              <a:ea typeface="华文楷体" panose="02010600040101010101" pitchFamily="2" charset="-122"/>
            </a:endParaRPr>
          </a:p>
          <a:p>
            <a:pPr lvl="1" eaLnBrk="1" hangingPunct="1">
              <a:lnSpc>
                <a:spcPct val="9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0000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同属于一个产生式的项目，但圆点的位置只相差一个符号，</a:t>
            </a:r>
            <a:endParaRPr lang="en-US" altLang="zh-CN" b="1" dirty="0">
              <a:solidFill>
                <a:srgbClr val="000000"/>
              </a:solidFill>
              <a:latin typeface="楷体" panose="02010609060101010101" pitchFamily="49" charset="-122"/>
              <a:ea typeface="华文楷体" panose="02010600040101010101" pitchFamily="2" charset="-122"/>
            </a:endParaRPr>
          </a:p>
          <a:p>
            <a:pPr lvl="1" eaLnBrk="1" hangingPunct="1">
              <a:lnSpc>
                <a:spcPct val="90000"/>
              </a:lnSpc>
              <a:buClrTx/>
              <a:buFontTx/>
              <a:buNone/>
            </a:pPr>
            <a:r>
              <a:rPr lang="en-US" altLang="zh-CN" b="1" dirty="0">
                <a:solidFill>
                  <a:srgbClr val="000000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  </a:t>
            </a:r>
            <a:r>
              <a:rPr lang="zh-CN" altLang="en-US" b="1" dirty="0">
                <a:solidFill>
                  <a:srgbClr val="000000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则称后者是前者的后继项目</a:t>
            </a:r>
          </a:p>
          <a:p>
            <a:pPr lvl="1" eaLnBrk="1" hangingPunct="1">
              <a:lnSpc>
                <a:spcPct val="9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→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α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Xβ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的后继项目是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→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αX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β</a:t>
            </a:r>
            <a:endParaRPr lang="zh-CN" altLang="en-US" b="1" i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83974" name="Rectangle 4"/>
          <p:cNvSpPr>
            <a:spLocks noChangeArrowheads="1"/>
          </p:cNvSpPr>
          <p:nvPr/>
        </p:nvSpPr>
        <p:spPr bwMode="auto">
          <a:xfrm>
            <a:off x="395288" y="2368550"/>
            <a:ext cx="14398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(0)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S'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S'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</a:p>
        </p:txBody>
      </p:sp>
      <p:sp>
        <p:nvSpPr>
          <p:cNvPr id="83975" name="Rectangle 5"/>
          <p:cNvSpPr>
            <a:spLocks noChangeArrowheads="1"/>
          </p:cNvSpPr>
          <p:nvPr/>
        </p:nvSpPr>
        <p:spPr bwMode="auto">
          <a:xfrm>
            <a:off x="2051050" y="1465263"/>
            <a:ext cx="1781175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(2)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: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(3)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→v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(4)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→v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(5)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→v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(6)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→v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</a:p>
        </p:txBody>
      </p:sp>
      <p:sp>
        <p:nvSpPr>
          <p:cNvPr id="83976" name="Rectangle 6"/>
          <p:cNvSpPr>
            <a:spLocks noChangeArrowheads="1"/>
          </p:cNvSpPr>
          <p:nvPr/>
        </p:nvSpPr>
        <p:spPr bwMode="auto">
          <a:xfrm>
            <a:off x="3995738" y="1752600"/>
            <a:ext cx="1493837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(7) 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,i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(8) 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,i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(9)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(10)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,i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endParaRPr lang="en-US" altLang="zh-CN" sz="2000" b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83977" name="Rectangle 7"/>
          <p:cNvSpPr>
            <a:spLocks noChangeArrowheads="1"/>
          </p:cNvSpPr>
          <p:nvPr/>
        </p:nvSpPr>
        <p:spPr bwMode="auto">
          <a:xfrm>
            <a:off x="5795963" y="2368550"/>
            <a:ext cx="14938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(11)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(12)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→i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endParaRPr lang="en-US" altLang="zh-CN" sz="2000" b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83978" name="Rectangle 8"/>
          <p:cNvSpPr>
            <a:spLocks noChangeArrowheads="1"/>
          </p:cNvSpPr>
          <p:nvPr/>
        </p:nvSpPr>
        <p:spPr bwMode="auto">
          <a:xfrm>
            <a:off x="7235825" y="2368550"/>
            <a:ext cx="14414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(13)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r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(14)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→r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endParaRPr lang="en-US" altLang="zh-CN" sz="2000" b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83979" name="灯片编号占位符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854797C-D46F-4FF7-885B-1A59FD4A51A5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20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5" name="Rectangle 15"/>
          <p:cNvSpPr>
            <a:spLocks noChangeArrowheads="1"/>
          </p:cNvSpPr>
          <p:nvPr/>
        </p:nvSpPr>
        <p:spPr bwMode="auto">
          <a:xfrm>
            <a:off x="388938" y="1036638"/>
            <a:ext cx="8326437" cy="3762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273050" indent="-273050" eaLnBrk="1" hangingPunct="1">
              <a:lnSpc>
                <a:spcPct val="90000"/>
              </a:lnSpc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2500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① 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S'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→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  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</a:t>
            </a:r>
            <a:r>
              <a:rPr lang="en-US" altLang="zh-CN" sz="2500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② </a:t>
            </a:r>
            <a:r>
              <a:rPr lang="en-US" altLang="zh-CN" sz="25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CN" sz="25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→v</a:t>
            </a:r>
            <a:r>
              <a:rPr lang="en-US" altLang="zh-CN" sz="25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5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altLang="zh-CN" sz="25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altLang="zh-CN" sz="2500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③ </a:t>
            </a:r>
            <a:r>
              <a:rPr lang="en-US" altLang="zh-CN" sz="25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5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zh-CN" sz="25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5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,i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altLang="zh-CN" sz="2500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④ </a:t>
            </a:r>
            <a:r>
              <a:rPr lang="en-US" altLang="zh-CN" sz="25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5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→i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altLang="zh-CN" sz="2500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⑤ 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→r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>
          <a:xfrm>
            <a:off x="465138" y="1214438"/>
            <a:ext cx="8915400" cy="3225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dirty="0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dirty="0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dirty="0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dirty="0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dirty="0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dirty="0"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8602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文法中的项目</a:t>
            </a:r>
          </a:p>
        </p:txBody>
      </p:sp>
      <p:sp>
        <p:nvSpPr>
          <p:cNvPr id="594958" name="AutoShape 14"/>
          <p:cNvSpPr>
            <a:spLocks noChangeArrowheads="1"/>
          </p:cNvSpPr>
          <p:nvPr/>
        </p:nvSpPr>
        <p:spPr bwMode="auto">
          <a:xfrm>
            <a:off x="3491880" y="2993562"/>
            <a:ext cx="4969669" cy="1323974"/>
          </a:xfrm>
          <a:prstGeom prst="cloudCallout">
            <a:avLst>
              <a:gd name="adj1" fmla="val -51169"/>
              <a:gd name="adj2" fmla="val -55586"/>
            </a:avLst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2000" b="1" dirty="0">
                <a:solidFill>
                  <a:prstClr val="white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这</a:t>
            </a:r>
            <a:r>
              <a:rPr lang="en-US" altLang="zh-CN" sz="2000" b="1" dirty="0">
                <a:solidFill>
                  <a:prstClr val="white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15</a:t>
            </a:r>
            <a:r>
              <a:rPr lang="zh-CN" altLang="en-US" sz="2000" b="1" dirty="0">
                <a:solidFill>
                  <a:prstClr val="white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个项目中是否会有某些项目可以表示同样的状态</a:t>
            </a:r>
            <a:r>
              <a:rPr lang="zh-CN" altLang="en-US" sz="2000" b="1" dirty="0">
                <a:solidFill>
                  <a:schemeClr val="bg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的，</a:t>
            </a:r>
            <a:r>
              <a:rPr lang="zh-CN" altLang="en-US" sz="2000" b="1" dirty="0">
                <a:solidFill>
                  <a:srgbClr val="FFC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是否可以合并</a:t>
            </a:r>
            <a:r>
              <a:rPr lang="zh-CN" altLang="en-US" sz="2000" b="1" dirty="0">
                <a:solidFill>
                  <a:prstClr val="white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？</a:t>
            </a:r>
          </a:p>
        </p:txBody>
      </p:sp>
      <p:sp>
        <p:nvSpPr>
          <p:cNvPr id="2" name="矩形 1"/>
          <p:cNvSpPr/>
          <p:nvPr/>
        </p:nvSpPr>
        <p:spPr>
          <a:xfrm>
            <a:off x="121097" y="4202113"/>
            <a:ext cx="8915399" cy="83099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30000"/>
              </a:spcBef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可以把表示同样状态的项目组成一个项目集</a:t>
            </a:r>
            <a:r>
              <a:rPr lang="en-US" altLang="zh-CN" sz="2400" b="1" dirty="0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(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I </a:t>
            </a:r>
            <a:r>
              <a:rPr lang="en-US" altLang="zh-CN" sz="2400" b="1" dirty="0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 ，称为</a:t>
            </a:r>
            <a:r>
              <a:rPr lang="zh-CN" altLang="en-US" sz="2400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项目集闭包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(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Closure of Item Sets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，每个项目集闭包对应着</a:t>
            </a:r>
            <a:r>
              <a:rPr lang="zh-CN" altLang="en-US" sz="2400" b="1" dirty="0">
                <a:solidFill>
                  <a:srgbClr val="2D83F4"/>
                </a:solidFill>
                <a:latin typeface="华文楷体" pitchFamily="2" charset="-122"/>
                <a:ea typeface="华文楷体" pitchFamily="2" charset="-122"/>
              </a:rPr>
              <a:t>自动机</a:t>
            </a:r>
            <a:r>
              <a:rPr lang="zh-CN" altLang="en-US" sz="2400" b="1" dirty="0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的一个</a:t>
            </a:r>
            <a:r>
              <a:rPr lang="zh-CN" altLang="en-US" sz="2400" b="1" dirty="0">
                <a:solidFill>
                  <a:srgbClr val="2D83F4"/>
                </a:solidFill>
                <a:latin typeface="华文楷体" pitchFamily="2" charset="-122"/>
                <a:ea typeface="华文楷体" pitchFamily="2" charset="-122"/>
              </a:rPr>
              <a:t>状态</a:t>
            </a:r>
            <a:endParaRPr lang="en-US" altLang="zh-CN" sz="2400" b="1" dirty="0">
              <a:solidFill>
                <a:srgbClr val="2D83F4"/>
              </a:solidFill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395288" y="2368550"/>
            <a:ext cx="14398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(0)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S'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S'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051050" y="1465263"/>
            <a:ext cx="1781175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(2)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: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(3)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→v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(4)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→v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(5)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→v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(6)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→v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3995738" y="1752600"/>
            <a:ext cx="1493837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(7) 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,i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(8) 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,i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(9)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(10)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,i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endParaRPr lang="en-US" altLang="zh-CN" sz="2000" b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5795963" y="2368550"/>
            <a:ext cx="14938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(11)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(12)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→i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endParaRPr lang="en-US" altLang="zh-CN" sz="2000" b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7235825" y="2368550"/>
            <a:ext cx="14414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(13)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r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(14)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→r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endParaRPr lang="en-US" altLang="zh-CN" sz="2000" b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86028" name="灯片编号占位符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4390A2A-A591-4CBE-B8C5-D8BEBE313942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21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49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49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94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66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66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66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66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66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958" grpId="0" animBg="1"/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3162300" y="3900488"/>
            <a:ext cx="1000125" cy="10779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60713" y="1677988"/>
            <a:ext cx="1001712" cy="12223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25987" name="Rectangle 3"/>
          <p:cNvSpPr>
            <a:spLocks noGrp="1" noChangeArrowheads="1"/>
          </p:cNvSpPr>
          <p:nvPr>
            <p:ph idx="1"/>
          </p:nvPr>
        </p:nvSpPr>
        <p:spPr>
          <a:xfrm>
            <a:off x="1671638" y="731838"/>
            <a:ext cx="1073150" cy="1465262"/>
          </a:xfr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</a:t>
            </a:r>
            <a:r>
              <a:rPr lang="en-US" altLang="zh-CN" sz="2000" b="1" i="1" baseline="-2500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0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: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b="1" i="1">
                <a:solidFill>
                  <a:srgbClr val="000000"/>
                </a:solidFill>
                <a:ea typeface="楷体_GB2312" pitchFamily="49" charset="-122"/>
                <a:cs typeface="Times New Roman" pitchFamily="18" charset="0"/>
              </a:rPr>
              <a:t>' 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→</a:t>
            </a:r>
            <a:r>
              <a:rPr lang="en-US" altLang="zh-CN" sz="2000" b="1">
                <a:solidFill>
                  <a:schemeClr val="tx1"/>
                </a:solidFill>
                <a:cs typeface="Times New Roman" pitchFamily="18" charset="0"/>
              </a:rPr>
              <a:t>·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→</a:t>
            </a:r>
            <a:r>
              <a:rPr lang="en-US" altLang="zh-CN" sz="2000" b="1">
                <a:solidFill>
                  <a:schemeClr val="tx1"/>
                </a:solidFill>
              </a:rPr>
              <a:t>·</a:t>
            </a: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BB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B</a:t>
            </a:r>
            <a:r>
              <a:rPr lang="en-US" altLang="zh-CN" sz="20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→</a:t>
            </a:r>
            <a:r>
              <a:rPr lang="en-US" altLang="zh-CN" sz="2000" b="1">
                <a:solidFill>
                  <a:schemeClr val="tx1"/>
                </a:solidFill>
              </a:rPr>
              <a:t>·</a:t>
            </a: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aB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B</a:t>
            </a:r>
            <a:r>
              <a:rPr lang="en-US" altLang="zh-CN" sz="20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→</a:t>
            </a:r>
            <a:r>
              <a:rPr lang="en-US" altLang="zh-CN" sz="2000" b="1">
                <a:solidFill>
                  <a:schemeClr val="tx1"/>
                </a:solidFill>
              </a:rPr>
              <a:t>·</a:t>
            </a: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b</a:t>
            </a:r>
            <a:r>
              <a:rPr lang="en-US" altLang="zh-CN" sz="20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	</a:t>
            </a:r>
            <a:endParaRPr lang="en-US" altLang="zh-CN" b="1">
              <a:solidFill>
                <a:schemeClr val="tx1"/>
              </a:solidFill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425988" name="Rectangle 4"/>
          <p:cNvSpPr>
            <a:spLocks noChangeArrowheads="1"/>
          </p:cNvSpPr>
          <p:nvPr/>
        </p:nvSpPr>
        <p:spPr bwMode="auto">
          <a:xfrm>
            <a:off x="3160713" y="757238"/>
            <a:ext cx="1001712" cy="7080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609600" indent="-609600"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609600" indent="-609600"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' 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endParaRPr kumimoji="1" lang="en-US" altLang="zh-CN" sz="20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5989" name="Line 5"/>
          <p:cNvSpPr>
            <a:spLocks noChangeShapeType="1"/>
          </p:cNvSpPr>
          <p:nvPr/>
        </p:nvSpPr>
        <p:spPr bwMode="auto">
          <a:xfrm>
            <a:off x="2744788" y="1112838"/>
            <a:ext cx="420687" cy="15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990" name="Text Box 6"/>
          <p:cNvSpPr txBox="1">
            <a:spLocks noChangeArrowheads="1"/>
          </p:cNvSpPr>
          <p:nvPr/>
        </p:nvSpPr>
        <p:spPr bwMode="auto">
          <a:xfrm>
            <a:off x="2698750" y="714375"/>
            <a:ext cx="53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25991" name="Line 7"/>
          <p:cNvSpPr>
            <a:spLocks noChangeShapeType="1"/>
          </p:cNvSpPr>
          <p:nvPr/>
        </p:nvSpPr>
        <p:spPr bwMode="auto">
          <a:xfrm>
            <a:off x="2744788" y="1755775"/>
            <a:ext cx="417512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992" name="Text Box 8"/>
          <p:cNvSpPr txBox="1">
            <a:spLocks noChangeArrowheads="1"/>
          </p:cNvSpPr>
          <p:nvPr/>
        </p:nvSpPr>
        <p:spPr bwMode="auto">
          <a:xfrm>
            <a:off x="2716213" y="1347788"/>
            <a:ext cx="53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25993" name="Rectangle 9"/>
          <p:cNvSpPr>
            <a:spLocks noChangeArrowheads="1"/>
          </p:cNvSpPr>
          <p:nvPr/>
        </p:nvSpPr>
        <p:spPr bwMode="auto">
          <a:xfrm>
            <a:off x="3154363" y="1627188"/>
            <a:ext cx="1295400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609600" indent="-609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</a:p>
          <a:p>
            <a:pPr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→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</a:p>
          <a:p>
            <a:pPr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aB</a:t>
            </a:r>
          </a:p>
          <a:p>
            <a:pPr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5994" name="Freeform 10"/>
          <p:cNvSpPr>
            <a:spLocks/>
          </p:cNvSpPr>
          <p:nvPr/>
        </p:nvSpPr>
        <p:spPr bwMode="auto">
          <a:xfrm>
            <a:off x="2024063" y="2208213"/>
            <a:ext cx="1141412" cy="2343150"/>
          </a:xfrm>
          <a:custGeom>
            <a:avLst/>
            <a:gdLst>
              <a:gd name="T0" fmla="*/ 0 w 816"/>
              <a:gd name="T1" fmla="*/ 0 h 1344"/>
              <a:gd name="T2" fmla="*/ 2147483646 w 816"/>
              <a:gd name="T3" fmla="*/ 2147483646 h 1344"/>
              <a:gd name="T4" fmla="*/ 2147483646 w 816"/>
              <a:gd name="T5" fmla="*/ 2147483646 h 1344"/>
              <a:gd name="T6" fmla="*/ 2147483646 w 816"/>
              <a:gd name="T7" fmla="*/ 2147483646 h 1344"/>
              <a:gd name="T8" fmla="*/ 0 60000 65536"/>
              <a:gd name="T9" fmla="*/ 0 60000 65536"/>
              <a:gd name="T10" fmla="*/ 0 60000 65536"/>
              <a:gd name="T11" fmla="*/ 0 60000 65536"/>
              <a:gd name="T12" fmla="*/ 0 w 816"/>
              <a:gd name="T13" fmla="*/ 0 h 1344"/>
              <a:gd name="T14" fmla="*/ 816 w 816"/>
              <a:gd name="T15" fmla="*/ 1344 h 13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16" h="1344">
                <a:moveTo>
                  <a:pt x="0" y="0"/>
                </a:moveTo>
                <a:cubicBezTo>
                  <a:pt x="0" y="312"/>
                  <a:pt x="0" y="624"/>
                  <a:pt x="48" y="816"/>
                </a:cubicBezTo>
                <a:cubicBezTo>
                  <a:pt x="96" y="1008"/>
                  <a:pt x="160" y="1064"/>
                  <a:pt x="288" y="1152"/>
                </a:cubicBezTo>
                <a:cubicBezTo>
                  <a:pt x="416" y="1240"/>
                  <a:pt x="720" y="1304"/>
                  <a:pt x="816" y="1344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995" name="Text Box 11"/>
          <p:cNvSpPr txBox="1">
            <a:spLocks noChangeArrowheads="1"/>
          </p:cNvSpPr>
          <p:nvPr/>
        </p:nvSpPr>
        <p:spPr bwMode="auto">
          <a:xfrm>
            <a:off x="1701800" y="2471738"/>
            <a:ext cx="457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425996" name="Rectangle 12"/>
          <p:cNvSpPr>
            <a:spLocks noChangeArrowheads="1"/>
          </p:cNvSpPr>
          <p:nvPr/>
        </p:nvSpPr>
        <p:spPr bwMode="auto">
          <a:xfrm>
            <a:off x="3162300" y="3863975"/>
            <a:ext cx="1295400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609600" indent="-609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000" b="1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</a:p>
          <a:p>
            <a:pPr>
              <a:lnSpc>
                <a:spcPct val="90000"/>
              </a:lnSpc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→</a:t>
            </a:r>
            <a:r>
              <a:rPr kumimoji="1"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kumimoji="1"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endParaRPr kumimoji="1" lang="en-US" altLang="zh-CN" sz="2000" b="1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kumimoji="1"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aB</a:t>
            </a:r>
            <a:endParaRPr kumimoji="1" lang="en-US" altLang="zh-CN" sz="2000" b="1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kumimoji="1"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</a:p>
        </p:txBody>
      </p:sp>
      <p:sp>
        <p:nvSpPr>
          <p:cNvPr id="425997" name="Freeform 13"/>
          <p:cNvSpPr>
            <a:spLocks/>
          </p:cNvSpPr>
          <p:nvPr/>
        </p:nvSpPr>
        <p:spPr bwMode="auto">
          <a:xfrm>
            <a:off x="2444750" y="2212975"/>
            <a:ext cx="715963" cy="1243013"/>
          </a:xfrm>
          <a:custGeom>
            <a:avLst/>
            <a:gdLst>
              <a:gd name="T0" fmla="*/ 0 w 1680"/>
              <a:gd name="T1" fmla="*/ 0 h 1056"/>
              <a:gd name="T2" fmla="*/ 2147483646 w 1680"/>
              <a:gd name="T3" fmla="*/ 2147483646 h 1056"/>
              <a:gd name="T4" fmla="*/ 2147483646 w 1680"/>
              <a:gd name="T5" fmla="*/ 2147483646 h 1056"/>
              <a:gd name="T6" fmla="*/ 2147483646 w 1680"/>
              <a:gd name="T7" fmla="*/ 2147483646 h 1056"/>
              <a:gd name="T8" fmla="*/ 2147483646 w 1680"/>
              <a:gd name="T9" fmla="*/ 2147483646 h 10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80"/>
              <a:gd name="T16" fmla="*/ 0 h 1056"/>
              <a:gd name="T17" fmla="*/ 1680 w 1680"/>
              <a:gd name="T18" fmla="*/ 1056 h 10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80" h="1056">
                <a:moveTo>
                  <a:pt x="0" y="0"/>
                </a:moveTo>
                <a:cubicBezTo>
                  <a:pt x="4" y="240"/>
                  <a:pt x="8" y="480"/>
                  <a:pt x="48" y="624"/>
                </a:cubicBezTo>
                <a:cubicBezTo>
                  <a:pt x="88" y="768"/>
                  <a:pt x="128" y="800"/>
                  <a:pt x="240" y="864"/>
                </a:cubicBezTo>
                <a:cubicBezTo>
                  <a:pt x="352" y="928"/>
                  <a:pt x="480" y="976"/>
                  <a:pt x="720" y="1008"/>
                </a:cubicBezTo>
                <a:cubicBezTo>
                  <a:pt x="960" y="1040"/>
                  <a:pt x="1528" y="1056"/>
                  <a:pt x="1680" y="1056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998" name="Text Box 14"/>
          <p:cNvSpPr txBox="1">
            <a:spLocks noChangeArrowheads="1"/>
          </p:cNvSpPr>
          <p:nvPr/>
        </p:nvSpPr>
        <p:spPr bwMode="auto">
          <a:xfrm>
            <a:off x="2459038" y="2500313"/>
            <a:ext cx="457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25999" name="Rectangle 15"/>
          <p:cNvSpPr>
            <a:spLocks noChangeArrowheads="1"/>
          </p:cNvSpPr>
          <p:nvPr/>
        </p:nvSpPr>
        <p:spPr bwMode="auto">
          <a:xfrm>
            <a:off x="3162300" y="2971800"/>
            <a:ext cx="1000125" cy="5715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609600" indent="-609600">
              <a:lnSpc>
                <a:spcPct val="90000"/>
              </a:lnSpc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609600" indent="-609600">
              <a:lnSpc>
                <a:spcPct val="90000"/>
              </a:lnSpc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kumimoji="1" lang="en-US" altLang="zh-CN" sz="2000" b="1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kumimoji="1" lang="en-US" altLang="zh-CN" sz="2000" b="1" i="1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 </a:t>
            </a:r>
            <a:r>
              <a:rPr kumimoji="1" lang="en-US" altLang="zh-CN" sz="20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endParaRPr kumimoji="1" lang="en-US" altLang="zh-CN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6000" name="Line 16"/>
          <p:cNvSpPr>
            <a:spLocks noChangeShapeType="1"/>
          </p:cNvSpPr>
          <p:nvPr/>
        </p:nvSpPr>
        <p:spPr bwMode="auto">
          <a:xfrm>
            <a:off x="4162425" y="1763713"/>
            <a:ext cx="382588" cy="79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01" name="Text Box 17"/>
          <p:cNvSpPr txBox="1">
            <a:spLocks noChangeArrowheads="1"/>
          </p:cNvSpPr>
          <p:nvPr/>
        </p:nvSpPr>
        <p:spPr bwMode="auto">
          <a:xfrm>
            <a:off x="4113213" y="1357313"/>
            <a:ext cx="53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26002" name="Rectangle 18"/>
          <p:cNvSpPr>
            <a:spLocks noChangeArrowheads="1"/>
          </p:cNvSpPr>
          <p:nvPr/>
        </p:nvSpPr>
        <p:spPr bwMode="auto">
          <a:xfrm>
            <a:off x="4545013" y="1557338"/>
            <a:ext cx="1035050" cy="7207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609600" indent="-609600"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609600" indent="-609600"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BB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endParaRPr kumimoji="1" lang="en-US" altLang="zh-CN" sz="20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6003" name="Freeform 19"/>
          <p:cNvSpPr>
            <a:spLocks/>
          </p:cNvSpPr>
          <p:nvPr/>
        </p:nvSpPr>
        <p:spPr bwMode="auto">
          <a:xfrm>
            <a:off x="4162425" y="2278063"/>
            <a:ext cx="793750" cy="1781175"/>
          </a:xfrm>
          <a:custGeom>
            <a:avLst/>
            <a:gdLst>
              <a:gd name="T0" fmla="*/ 0 w 1424"/>
              <a:gd name="T1" fmla="*/ 0 h 1968"/>
              <a:gd name="T2" fmla="*/ 2147483646 w 1424"/>
              <a:gd name="T3" fmla="*/ 2147483646 h 1968"/>
              <a:gd name="T4" fmla="*/ 2147483646 w 1424"/>
              <a:gd name="T5" fmla="*/ 2147483646 h 1968"/>
              <a:gd name="T6" fmla="*/ 2147483646 w 1424"/>
              <a:gd name="T7" fmla="*/ 2147483646 h 1968"/>
              <a:gd name="T8" fmla="*/ 0 60000 65536"/>
              <a:gd name="T9" fmla="*/ 0 60000 65536"/>
              <a:gd name="T10" fmla="*/ 0 60000 65536"/>
              <a:gd name="T11" fmla="*/ 0 60000 65536"/>
              <a:gd name="T12" fmla="*/ 0 w 1424"/>
              <a:gd name="T13" fmla="*/ 0 h 1968"/>
              <a:gd name="T14" fmla="*/ 1424 w 1424"/>
              <a:gd name="T15" fmla="*/ 1968 h 196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24" h="1968">
                <a:moveTo>
                  <a:pt x="0" y="0"/>
                </a:moveTo>
                <a:cubicBezTo>
                  <a:pt x="448" y="112"/>
                  <a:pt x="896" y="224"/>
                  <a:pt x="1104" y="432"/>
                </a:cubicBezTo>
                <a:cubicBezTo>
                  <a:pt x="1312" y="640"/>
                  <a:pt x="1424" y="992"/>
                  <a:pt x="1248" y="1248"/>
                </a:cubicBezTo>
                <a:cubicBezTo>
                  <a:pt x="1072" y="1504"/>
                  <a:pt x="248" y="1848"/>
                  <a:pt x="48" y="196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04" name="Text Box 20"/>
          <p:cNvSpPr txBox="1">
            <a:spLocks noChangeArrowheads="1"/>
          </p:cNvSpPr>
          <p:nvPr/>
        </p:nvSpPr>
        <p:spPr bwMode="auto">
          <a:xfrm>
            <a:off x="4924425" y="2857500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426005" name="Freeform 21"/>
          <p:cNvSpPr>
            <a:spLocks/>
          </p:cNvSpPr>
          <p:nvPr/>
        </p:nvSpPr>
        <p:spPr bwMode="auto">
          <a:xfrm>
            <a:off x="4162425" y="2735263"/>
            <a:ext cx="317500" cy="514350"/>
          </a:xfrm>
          <a:custGeom>
            <a:avLst/>
            <a:gdLst>
              <a:gd name="T0" fmla="*/ 0 w 200"/>
              <a:gd name="T1" fmla="*/ 0 h 432"/>
              <a:gd name="T2" fmla="*/ 2147483646 w 200"/>
              <a:gd name="T3" fmla="*/ 2147483646 h 432"/>
              <a:gd name="T4" fmla="*/ 2147483646 w 200"/>
              <a:gd name="T5" fmla="*/ 2147483646 h 432"/>
              <a:gd name="T6" fmla="*/ 0 60000 65536"/>
              <a:gd name="T7" fmla="*/ 0 60000 65536"/>
              <a:gd name="T8" fmla="*/ 0 60000 65536"/>
              <a:gd name="T9" fmla="*/ 0 w 200"/>
              <a:gd name="T10" fmla="*/ 0 h 432"/>
              <a:gd name="T11" fmla="*/ 200 w 200"/>
              <a:gd name="T12" fmla="*/ 432 h 4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" h="432">
                <a:moveTo>
                  <a:pt x="0" y="0"/>
                </a:moveTo>
                <a:cubicBezTo>
                  <a:pt x="92" y="60"/>
                  <a:pt x="184" y="120"/>
                  <a:pt x="192" y="192"/>
                </a:cubicBezTo>
                <a:cubicBezTo>
                  <a:pt x="200" y="264"/>
                  <a:pt x="124" y="348"/>
                  <a:pt x="48" y="432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06" name="Text Box 22"/>
          <p:cNvSpPr txBox="1">
            <a:spLocks noChangeArrowheads="1"/>
          </p:cNvSpPr>
          <p:nvPr/>
        </p:nvSpPr>
        <p:spPr bwMode="auto">
          <a:xfrm>
            <a:off x="4448175" y="2849563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26007" name="Line 23"/>
          <p:cNvSpPr>
            <a:spLocks noChangeShapeType="1"/>
          </p:cNvSpPr>
          <p:nvPr/>
        </p:nvSpPr>
        <p:spPr bwMode="auto">
          <a:xfrm flipV="1">
            <a:off x="4162425" y="4324350"/>
            <a:ext cx="382588" cy="12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08" name="Text Box 24"/>
          <p:cNvSpPr txBox="1">
            <a:spLocks noChangeArrowheads="1"/>
          </p:cNvSpPr>
          <p:nvPr/>
        </p:nvSpPr>
        <p:spPr bwMode="auto">
          <a:xfrm>
            <a:off x="4233863" y="3971925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26009" name="Rectangle 25"/>
          <p:cNvSpPr>
            <a:spLocks noChangeArrowheads="1"/>
          </p:cNvSpPr>
          <p:nvPr/>
        </p:nvSpPr>
        <p:spPr bwMode="auto">
          <a:xfrm>
            <a:off x="4545013" y="3867150"/>
            <a:ext cx="1001712" cy="685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609600" indent="-609600"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609600" indent="-609600"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kumimoji="1" lang="en-US" altLang="zh-CN" sz="2000" b="1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kumimoji="1" lang="en-US" altLang="zh-CN" sz="2000" b="1" i="1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endParaRPr kumimoji="1" lang="en-US" altLang="zh-CN" sz="28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6010" name="Freeform 26"/>
          <p:cNvSpPr>
            <a:spLocks/>
          </p:cNvSpPr>
          <p:nvPr/>
        </p:nvSpPr>
        <p:spPr bwMode="auto">
          <a:xfrm>
            <a:off x="4162425" y="4508500"/>
            <a:ext cx="457200" cy="342900"/>
          </a:xfrm>
          <a:custGeom>
            <a:avLst/>
            <a:gdLst>
              <a:gd name="T0" fmla="*/ 0 w 288"/>
              <a:gd name="T1" fmla="*/ 0 h 288"/>
              <a:gd name="T2" fmla="*/ 2147483646 w 288"/>
              <a:gd name="T3" fmla="*/ 2147483646 h 288"/>
              <a:gd name="T4" fmla="*/ 0 w 288"/>
              <a:gd name="T5" fmla="*/ 2147483646 h 288"/>
              <a:gd name="T6" fmla="*/ 0 60000 65536"/>
              <a:gd name="T7" fmla="*/ 0 60000 65536"/>
              <a:gd name="T8" fmla="*/ 0 60000 65536"/>
              <a:gd name="T9" fmla="*/ 0 w 288"/>
              <a:gd name="T10" fmla="*/ 0 h 288"/>
              <a:gd name="T11" fmla="*/ 288 w 288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288">
                <a:moveTo>
                  <a:pt x="0" y="0"/>
                </a:moveTo>
                <a:cubicBezTo>
                  <a:pt x="144" y="48"/>
                  <a:pt x="288" y="96"/>
                  <a:pt x="288" y="144"/>
                </a:cubicBezTo>
                <a:cubicBezTo>
                  <a:pt x="288" y="192"/>
                  <a:pt x="144" y="240"/>
                  <a:pt x="0" y="28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11" name="Text Box 27"/>
          <p:cNvSpPr txBox="1">
            <a:spLocks noChangeArrowheads="1"/>
          </p:cNvSpPr>
          <p:nvPr/>
        </p:nvSpPr>
        <p:spPr bwMode="auto">
          <a:xfrm>
            <a:off x="4662488" y="4459288"/>
            <a:ext cx="457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426012" name="Line 28"/>
          <p:cNvSpPr>
            <a:spLocks noChangeShapeType="1"/>
          </p:cNvSpPr>
          <p:nvPr/>
        </p:nvSpPr>
        <p:spPr bwMode="auto">
          <a:xfrm flipV="1">
            <a:off x="3733800" y="3614738"/>
            <a:ext cx="0" cy="285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13" name="Text Box 29"/>
          <p:cNvSpPr txBox="1">
            <a:spLocks noChangeArrowheads="1"/>
          </p:cNvSpPr>
          <p:nvPr/>
        </p:nvSpPr>
        <p:spPr bwMode="auto">
          <a:xfrm>
            <a:off x="3805238" y="3543300"/>
            <a:ext cx="53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8809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例：</a:t>
            </a:r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</a:t>
            </a:r>
            <a:r>
              <a:rPr lang="en-US" altLang="zh-CN" sz="300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(0)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自动机</a:t>
            </a:r>
            <a:endParaRPr lang="zh-CN" altLang="en-US" sz="3000" i="1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96838" y="1104900"/>
            <a:ext cx="1379537" cy="16827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文法</a:t>
            </a:r>
            <a:endParaRPr lang="en-US" altLang="zh-CN" b="1" dirty="0">
              <a:solidFill>
                <a:prstClr val="black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(0)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S' 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S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</a:p>
          <a:p>
            <a:pPr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(1)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S 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BB</a:t>
            </a:r>
            <a:endParaRPr lang="en-US" altLang="zh-CN" b="1" dirty="0">
              <a:solidFill>
                <a:prstClr val="black"/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(2)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B 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lang="en-US" altLang="zh-CN" b="1" i="1" dirty="0" err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aB</a:t>
            </a:r>
            <a:endParaRPr lang="en-US" altLang="zh-CN" b="1" dirty="0">
              <a:solidFill>
                <a:prstClr val="black"/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(3)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B 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b</a:t>
            </a:r>
            <a:endParaRPr lang="zh-CN" altLang="en-US" b="1" dirty="0">
              <a:solidFill>
                <a:prstClr val="black"/>
              </a:solidFill>
              <a:ea typeface="楷体_GB2312"/>
              <a:cs typeface="Times New Roman" pitchFamily="18" charset="0"/>
            </a:endParaRPr>
          </a:p>
        </p:txBody>
      </p:sp>
      <p:graphicFrame>
        <p:nvGraphicFramePr>
          <p:cNvPr id="34" name="Group 18"/>
          <p:cNvGraphicFramePr>
            <a:graphicFrameLocks noGrp="1"/>
          </p:cNvGraphicFramePr>
          <p:nvPr/>
        </p:nvGraphicFramePr>
        <p:xfrm>
          <a:off x="5799138" y="1131888"/>
          <a:ext cx="3236912" cy="3657597"/>
        </p:xfrm>
        <a:graphic>
          <a:graphicData uri="http://schemas.openxmlformats.org/drawingml/2006/table">
            <a:tbl>
              <a:tblPr/>
              <a:tblGrid>
                <a:gridCol w="357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7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  <a:cs typeface="Times New Roman" pitchFamily="18" charset="0"/>
                        </a:rPr>
                        <a:t>状态</a:t>
                      </a:r>
                    </a:p>
                  </a:txBody>
                  <a:tcPr marL="91420" marR="91420" marT="34277" marB="3427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ACTION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GOTO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$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S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518275" y="700088"/>
            <a:ext cx="18002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i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LR</a:t>
            </a:r>
            <a:r>
              <a:rPr lang="en-US" altLang="zh-CN" sz="24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(0)</a:t>
            </a:r>
            <a:r>
              <a:rPr lang="zh-CN" altLang="en-US" sz="24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分析表</a:t>
            </a:r>
          </a:p>
        </p:txBody>
      </p:sp>
      <p:sp>
        <p:nvSpPr>
          <p:cNvPr id="88166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737636C-38D6-43B5-AD7E-A9212C050285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22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598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598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2598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25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5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25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25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25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25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25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25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5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25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25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25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25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25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25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259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259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25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259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259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25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259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259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25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259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259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25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259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259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25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259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259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259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259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259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259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259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259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259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259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259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259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259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4259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25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259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259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25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259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259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25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4259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4259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25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4259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4259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25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425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425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25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425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425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25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4259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4259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4259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4259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4259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4259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4260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4260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26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4260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4260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42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4260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4260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426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4260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4260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426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4260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4260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426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4260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4260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426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4260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4260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426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4260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4260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426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4260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4260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426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4260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4260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426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 nodeType="clickPar">
                      <p:stCondLst>
                        <p:cond delay="indefinite"/>
                      </p:stCondLst>
                      <p:childTnLst>
                        <p:par>
                          <p:cTn id="2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4260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4260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426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4260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4260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426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 nodeType="clickPar">
                      <p:stCondLst>
                        <p:cond delay="indefinite"/>
                      </p:stCondLst>
                      <p:childTnLst>
                        <p:par>
                          <p:cTn id="2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4260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500" fill="hold"/>
                                        <p:tgtEl>
                                          <p:spTgt spid="4260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426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4" dur="500" fill="hold"/>
                                        <p:tgtEl>
                                          <p:spTgt spid="4260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4260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426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 nodeType="clickPar">
                      <p:stCondLst>
                        <p:cond delay="indefinite"/>
                      </p:stCondLst>
                      <p:childTnLst>
                        <p:par>
                          <p:cTn id="2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" grpId="0" animBg="1"/>
      <p:bldP spid="425987" grpId="0" build="p" animBg="1"/>
      <p:bldP spid="425988" grpId="0" animBg="1"/>
      <p:bldP spid="425989" grpId="0" animBg="1"/>
      <p:bldP spid="425990" grpId="0"/>
      <p:bldP spid="425991" grpId="0" animBg="1"/>
      <p:bldP spid="425992" grpId="0"/>
      <p:bldP spid="425994" grpId="0" animBg="1"/>
      <p:bldP spid="425995" grpId="0"/>
      <p:bldP spid="425997" grpId="0" animBg="1"/>
      <p:bldP spid="425998" grpId="0"/>
      <p:bldP spid="425999" grpId="0" animBg="1"/>
      <p:bldP spid="426000" grpId="0" animBg="1"/>
      <p:bldP spid="426001" grpId="0"/>
      <p:bldP spid="426002" grpId="0" animBg="1"/>
      <p:bldP spid="426003" grpId="0" animBg="1"/>
      <p:bldP spid="426004" grpId="0"/>
      <p:bldP spid="426005" grpId="0" animBg="1"/>
      <p:bldP spid="426006" grpId="0"/>
      <p:bldP spid="426007" grpId="0" animBg="1"/>
      <p:bldP spid="426008" grpId="0"/>
      <p:bldP spid="426009" grpId="0" animBg="1"/>
      <p:bldP spid="426010" grpId="0" animBg="1"/>
      <p:bldP spid="426011" grpId="0"/>
      <p:bldP spid="426012" grpId="0" animBg="1"/>
      <p:bldP spid="426013" grpId="0"/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3162300" y="3900488"/>
            <a:ext cx="1000125" cy="10779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60713" y="1677988"/>
            <a:ext cx="1001712" cy="12223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25987" name="Rectangle 3"/>
          <p:cNvSpPr>
            <a:spLocks noGrp="1" noChangeArrowheads="1"/>
          </p:cNvSpPr>
          <p:nvPr>
            <p:ph idx="1"/>
          </p:nvPr>
        </p:nvSpPr>
        <p:spPr>
          <a:xfrm>
            <a:off x="1671638" y="731838"/>
            <a:ext cx="1073150" cy="1465262"/>
          </a:xfr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lang="en-US" altLang="zh-CN" sz="2000" b="1" i="1" baseline="-25000">
                <a:solidFill>
                  <a:schemeClr val="tx1"/>
                </a:solidFill>
                <a:ea typeface="楷体_GB2312"/>
                <a:cs typeface="Times New Roman" pitchFamily="18" charset="0"/>
              </a:rPr>
              <a:t>0</a:t>
            </a:r>
            <a:r>
              <a:rPr lang="en-US" altLang="zh-CN" sz="2000" b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: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S</a:t>
            </a:r>
            <a:r>
              <a:rPr lang="en-US" altLang="zh-CN" sz="2000" b="1" i="1">
                <a:solidFill>
                  <a:srgbClr val="000000"/>
                </a:solidFill>
                <a:ea typeface="楷体_GB2312"/>
                <a:cs typeface="Times New Roman" pitchFamily="18" charset="0"/>
              </a:rPr>
              <a:t>' </a:t>
            </a:r>
            <a:r>
              <a:rPr lang="en-US" altLang="zh-CN" sz="2000" b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→</a:t>
            </a:r>
            <a:r>
              <a:rPr lang="en-US" altLang="zh-CN" sz="2000" b="1">
                <a:solidFill>
                  <a:schemeClr val="tx1"/>
                </a:solidFill>
                <a:cs typeface="Times New Roman" pitchFamily="18" charset="0"/>
              </a:rPr>
              <a:t>·</a:t>
            </a:r>
            <a:r>
              <a:rPr lang="en-US" altLang="zh-CN" sz="2000" b="1" i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S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S</a:t>
            </a:r>
            <a:r>
              <a:rPr lang="en-US" altLang="zh-CN" sz="2000" b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→</a:t>
            </a:r>
            <a:r>
              <a:rPr lang="en-US" altLang="zh-CN" sz="2000" b="1">
                <a:solidFill>
                  <a:schemeClr val="tx1"/>
                </a:solidFill>
              </a:rPr>
              <a:t>·</a:t>
            </a: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BB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B</a:t>
            </a:r>
            <a:r>
              <a:rPr lang="en-US" altLang="zh-CN" sz="20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→</a:t>
            </a:r>
            <a:r>
              <a:rPr lang="en-US" altLang="zh-CN" sz="2000" b="1">
                <a:solidFill>
                  <a:schemeClr val="tx1"/>
                </a:solidFill>
              </a:rPr>
              <a:t>·</a:t>
            </a: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aB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B</a:t>
            </a:r>
            <a:r>
              <a:rPr lang="en-US" altLang="zh-CN" sz="20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→</a:t>
            </a:r>
            <a:r>
              <a:rPr lang="en-US" altLang="zh-CN" sz="2000" b="1">
                <a:solidFill>
                  <a:schemeClr val="tx1"/>
                </a:solidFill>
              </a:rPr>
              <a:t>·</a:t>
            </a: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b</a:t>
            </a:r>
            <a:r>
              <a:rPr lang="en-US" altLang="zh-CN" sz="20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	</a:t>
            </a:r>
            <a:endParaRPr lang="en-US" altLang="zh-CN" b="1">
              <a:solidFill>
                <a:schemeClr val="tx1"/>
              </a:solidFill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425988" name="Rectangle 4"/>
          <p:cNvSpPr>
            <a:spLocks noChangeArrowheads="1"/>
          </p:cNvSpPr>
          <p:nvPr/>
        </p:nvSpPr>
        <p:spPr bwMode="auto">
          <a:xfrm>
            <a:off x="3160713" y="757238"/>
            <a:ext cx="1001712" cy="7080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609600" indent="-609600"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609600" indent="-609600"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' 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endParaRPr kumimoji="1" lang="en-US" altLang="zh-CN" sz="20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0118" name="Line 5"/>
          <p:cNvSpPr>
            <a:spLocks noChangeShapeType="1"/>
          </p:cNvSpPr>
          <p:nvPr/>
        </p:nvSpPr>
        <p:spPr bwMode="auto">
          <a:xfrm>
            <a:off x="2744788" y="1112838"/>
            <a:ext cx="420687" cy="15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19" name="Text Box 6"/>
          <p:cNvSpPr txBox="1">
            <a:spLocks noChangeArrowheads="1"/>
          </p:cNvSpPr>
          <p:nvPr/>
        </p:nvSpPr>
        <p:spPr bwMode="auto">
          <a:xfrm>
            <a:off x="2698750" y="714375"/>
            <a:ext cx="53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90120" name="Line 7"/>
          <p:cNvSpPr>
            <a:spLocks noChangeShapeType="1"/>
          </p:cNvSpPr>
          <p:nvPr/>
        </p:nvSpPr>
        <p:spPr bwMode="auto">
          <a:xfrm>
            <a:off x="2744788" y="1755775"/>
            <a:ext cx="417512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21" name="Text Box 8"/>
          <p:cNvSpPr txBox="1">
            <a:spLocks noChangeArrowheads="1"/>
          </p:cNvSpPr>
          <p:nvPr/>
        </p:nvSpPr>
        <p:spPr bwMode="auto">
          <a:xfrm>
            <a:off x="2716213" y="1347788"/>
            <a:ext cx="53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90122" name="Rectangle 9"/>
          <p:cNvSpPr>
            <a:spLocks noChangeArrowheads="1"/>
          </p:cNvSpPr>
          <p:nvPr/>
        </p:nvSpPr>
        <p:spPr bwMode="auto">
          <a:xfrm>
            <a:off x="3154363" y="1627188"/>
            <a:ext cx="1295400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609600" indent="-609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</a:p>
          <a:p>
            <a:pPr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→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</a:p>
          <a:p>
            <a:pPr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aB</a:t>
            </a:r>
          </a:p>
          <a:p>
            <a:pPr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123" name="Freeform 10"/>
          <p:cNvSpPr>
            <a:spLocks/>
          </p:cNvSpPr>
          <p:nvPr/>
        </p:nvSpPr>
        <p:spPr bwMode="auto">
          <a:xfrm>
            <a:off x="2024063" y="2208213"/>
            <a:ext cx="1141412" cy="2343150"/>
          </a:xfrm>
          <a:custGeom>
            <a:avLst/>
            <a:gdLst>
              <a:gd name="T0" fmla="*/ 0 w 816"/>
              <a:gd name="T1" fmla="*/ 0 h 1344"/>
              <a:gd name="T2" fmla="*/ 2147483646 w 816"/>
              <a:gd name="T3" fmla="*/ 2147483646 h 1344"/>
              <a:gd name="T4" fmla="*/ 2147483646 w 816"/>
              <a:gd name="T5" fmla="*/ 2147483646 h 1344"/>
              <a:gd name="T6" fmla="*/ 2147483646 w 816"/>
              <a:gd name="T7" fmla="*/ 2147483646 h 1344"/>
              <a:gd name="T8" fmla="*/ 0 60000 65536"/>
              <a:gd name="T9" fmla="*/ 0 60000 65536"/>
              <a:gd name="T10" fmla="*/ 0 60000 65536"/>
              <a:gd name="T11" fmla="*/ 0 60000 65536"/>
              <a:gd name="T12" fmla="*/ 0 w 816"/>
              <a:gd name="T13" fmla="*/ 0 h 1344"/>
              <a:gd name="T14" fmla="*/ 816 w 816"/>
              <a:gd name="T15" fmla="*/ 1344 h 13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16" h="1344">
                <a:moveTo>
                  <a:pt x="0" y="0"/>
                </a:moveTo>
                <a:cubicBezTo>
                  <a:pt x="0" y="312"/>
                  <a:pt x="0" y="624"/>
                  <a:pt x="48" y="816"/>
                </a:cubicBezTo>
                <a:cubicBezTo>
                  <a:pt x="96" y="1008"/>
                  <a:pt x="160" y="1064"/>
                  <a:pt x="288" y="1152"/>
                </a:cubicBezTo>
                <a:cubicBezTo>
                  <a:pt x="416" y="1240"/>
                  <a:pt x="720" y="1304"/>
                  <a:pt x="816" y="1344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24" name="Text Box 11"/>
          <p:cNvSpPr txBox="1">
            <a:spLocks noChangeArrowheads="1"/>
          </p:cNvSpPr>
          <p:nvPr/>
        </p:nvSpPr>
        <p:spPr bwMode="auto">
          <a:xfrm>
            <a:off x="1701800" y="2471738"/>
            <a:ext cx="457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90125" name="Rectangle 12"/>
          <p:cNvSpPr>
            <a:spLocks noChangeArrowheads="1"/>
          </p:cNvSpPr>
          <p:nvPr/>
        </p:nvSpPr>
        <p:spPr bwMode="auto">
          <a:xfrm>
            <a:off x="3162300" y="3863975"/>
            <a:ext cx="1295400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609600" indent="-609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</a:p>
          <a:p>
            <a:pPr>
              <a:lnSpc>
                <a:spcPct val="90000"/>
              </a:lnSpc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→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</a:p>
          <a:p>
            <a:pPr>
              <a:lnSpc>
                <a:spcPct val="90000"/>
              </a:lnSpc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aB</a:t>
            </a:r>
          </a:p>
          <a:p>
            <a:pPr>
              <a:lnSpc>
                <a:spcPct val="90000"/>
              </a:lnSpc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</a:p>
        </p:txBody>
      </p:sp>
      <p:sp>
        <p:nvSpPr>
          <p:cNvPr id="90126" name="Freeform 13"/>
          <p:cNvSpPr>
            <a:spLocks/>
          </p:cNvSpPr>
          <p:nvPr/>
        </p:nvSpPr>
        <p:spPr bwMode="auto">
          <a:xfrm>
            <a:off x="2444750" y="2212975"/>
            <a:ext cx="715963" cy="1243013"/>
          </a:xfrm>
          <a:custGeom>
            <a:avLst/>
            <a:gdLst>
              <a:gd name="T0" fmla="*/ 0 w 1680"/>
              <a:gd name="T1" fmla="*/ 0 h 1056"/>
              <a:gd name="T2" fmla="*/ 2147483646 w 1680"/>
              <a:gd name="T3" fmla="*/ 2147483646 h 1056"/>
              <a:gd name="T4" fmla="*/ 2147483646 w 1680"/>
              <a:gd name="T5" fmla="*/ 2147483646 h 1056"/>
              <a:gd name="T6" fmla="*/ 2147483646 w 1680"/>
              <a:gd name="T7" fmla="*/ 2147483646 h 1056"/>
              <a:gd name="T8" fmla="*/ 2147483646 w 1680"/>
              <a:gd name="T9" fmla="*/ 2147483646 h 10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80"/>
              <a:gd name="T16" fmla="*/ 0 h 1056"/>
              <a:gd name="T17" fmla="*/ 1680 w 1680"/>
              <a:gd name="T18" fmla="*/ 1056 h 10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80" h="1056">
                <a:moveTo>
                  <a:pt x="0" y="0"/>
                </a:moveTo>
                <a:cubicBezTo>
                  <a:pt x="4" y="240"/>
                  <a:pt x="8" y="480"/>
                  <a:pt x="48" y="624"/>
                </a:cubicBezTo>
                <a:cubicBezTo>
                  <a:pt x="88" y="768"/>
                  <a:pt x="128" y="800"/>
                  <a:pt x="240" y="864"/>
                </a:cubicBezTo>
                <a:cubicBezTo>
                  <a:pt x="352" y="928"/>
                  <a:pt x="480" y="976"/>
                  <a:pt x="720" y="1008"/>
                </a:cubicBezTo>
                <a:cubicBezTo>
                  <a:pt x="960" y="1040"/>
                  <a:pt x="1528" y="1056"/>
                  <a:pt x="1680" y="1056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27" name="Text Box 14"/>
          <p:cNvSpPr txBox="1">
            <a:spLocks noChangeArrowheads="1"/>
          </p:cNvSpPr>
          <p:nvPr/>
        </p:nvSpPr>
        <p:spPr bwMode="auto">
          <a:xfrm>
            <a:off x="2459038" y="2500313"/>
            <a:ext cx="457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25999" name="Rectangle 15"/>
          <p:cNvSpPr>
            <a:spLocks noChangeArrowheads="1"/>
          </p:cNvSpPr>
          <p:nvPr/>
        </p:nvSpPr>
        <p:spPr bwMode="auto">
          <a:xfrm>
            <a:off x="3162300" y="2971800"/>
            <a:ext cx="1000125" cy="5715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609600" indent="-609600">
              <a:lnSpc>
                <a:spcPct val="90000"/>
              </a:lnSpc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609600" indent="-609600">
              <a:lnSpc>
                <a:spcPct val="90000"/>
              </a:lnSpc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kumimoji="1" lang="en-US" altLang="zh-CN" sz="2000" b="1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kumimoji="1" lang="en-US" altLang="zh-CN" sz="2000" b="1" i="1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 </a:t>
            </a:r>
            <a:r>
              <a:rPr kumimoji="1" lang="en-US" altLang="zh-CN" sz="20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endParaRPr kumimoji="1" lang="en-US" altLang="zh-CN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0129" name="Line 16"/>
          <p:cNvSpPr>
            <a:spLocks noChangeShapeType="1"/>
          </p:cNvSpPr>
          <p:nvPr/>
        </p:nvSpPr>
        <p:spPr bwMode="auto">
          <a:xfrm>
            <a:off x="4162425" y="1763713"/>
            <a:ext cx="382588" cy="79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30" name="Text Box 17"/>
          <p:cNvSpPr txBox="1">
            <a:spLocks noChangeArrowheads="1"/>
          </p:cNvSpPr>
          <p:nvPr/>
        </p:nvSpPr>
        <p:spPr bwMode="auto">
          <a:xfrm>
            <a:off x="4113213" y="1357313"/>
            <a:ext cx="53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26002" name="Rectangle 18"/>
          <p:cNvSpPr>
            <a:spLocks noChangeArrowheads="1"/>
          </p:cNvSpPr>
          <p:nvPr/>
        </p:nvSpPr>
        <p:spPr bwMode="auto">
          <a:xfrm>
            <a:off x="4545013" y="1557338"/>
            <a:ext cx="1035050" cy="7207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609600" indent="-609600"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609600" indent="-609600"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BB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endParaRPr kumimoji="1" lang="en-US" altLang="zh-CN" sz="20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0132" name="Freeform 19"/>
          <p:cNvSpPr>
            <a:spLocks/>
          </p:cNvSpPr>
          <p:nvPr/>
        </p:nvSpPr>
        <p:spPr bwMode="auto">
          <a:xfrm>
            <a:off x="4162425" y="2278063"/>
            <a:ext cx="793750" cy="1781175"/>
          </a:xfrm>
          <a:custGeom>
            <a:avLst/>
            <a:gdLst>
              <a:gd name="T0" fmla="*/ 0 w 1424"/>
              <a:gd name="T1" fmla="*/ 0 h 1968"/>
              <a:gd name="T2" fmla="*/ 2147483646 w 1424"/>
              <a:gd name="T3" fmla="*/ 2147483646 h 1968"/>
              <a:gd name="T4" fmla="*/ 2147483646 w 1424"/>
              <a:gd name="T5" fmla="*/ 2147483646 h 1968"/>
              <a:gd name="T6" fmla="*/ 2147483646 w 1424"/>
              <a:gd name="T7" fmla="*/ 2147483646 h 1968"/>
              <a:gd name="T8" fmla="*/ 0 60000 65536"/>
              <a:gd name="T9" fmla="*/ 0 60000 65536"/>
              <a:gd name="T10" fmla="*/ 0 60000 65536"/>
              <a:gd name="T11" fmla="*/ 0 60000 65536"/>
              <a:gd name="T12" fmla="*/ 0 w 1424"/>
              <a:gd name="T13" fmla="*/ 0 h 1968"/>
              <a:gd name="T14" fmla="*/ 1424 w 1424"/>
              <a:gd name="T15" fmla="*/ 1968 h 196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24" h="1968">
                <a:moveTo>
                  <a:pt x="0" y="0"/>
                </a:moveTo>
                <a:cubicBezTo>
                  <a:pt x="448" y="112"/>
                  <a:pt x="896" y="224"/>
                  <a:pt x="1104" y="432"/>
                </a:cubicBezTo>
                <a:cubicBezTo>
                  <a:pt x="1312" y="640"/>
                  <a:pt x="1424" y="992"/>
                  <a:pt x="1248" y="1248"/>
                </a:cubicBezTo>
                <a:cubicBezTo>
                  <a:pt x="1072" y="1504"/>
                  <a:pt x="248" y="1848"/>
                  <a:pt x="48" y="196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33" name="Text Box 20"/>
          <p:cNvSpPr txBox="1">
            <a:spLocks noChangeArrowheads="1"/>
          </p:cNvSpPr>
          <p:nvPr/>
        </p:nvSpPr>
        <p:spPr bwMode="auto">
          <a:xfrm>
            <a:off x="4924425" y="2857500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90134" name="Freeform 21"/>
          <p:cNvSpPr>
            <a:spLocks/>
          </p:cNvSpPr>
          <p:nvPr/>
        </p:nvSpPr>
        <p:spPr bwMode="auto">
          <a:xfrm>
            <a:off x="4162425" y="2735263"/>
            <a:ext cx="317500" cy="514350"/>
          </a:xfrm>
          <a:custGeom>
            <a:avLst/>
            <a:gdLst>
              <a:gd name="T0" fmla="*/ 0 w 200"/>
              <a:gd name="T1" fmla="*/ 0 h 432"/>
              <a:gd name="T2" fmla="*/ 2147483646 w 200"/>
              <a:gd name="T3" fmla="*/ 2147483646 h 432"/>
              <a:gd name="T4" fmla="*/ 2147483646 w 200"/>
              <a:gd name="T5" fmla="*/ 2147483646 h 432"/>
              <a:gd name="T6" fmla="*/ 0 60000 65536"/>
              <a:gd name="T7" fmla="*/ 0 60000 65536"/>
              <a:gd name="T8" fmla="*/ 0 60000 65536"/>
              <a:gd name="T9" fmla="*/ 0 w 200"/>
              <a:gd name="T10" fmla="*/ 0 h 432"/>
              <a:gd name="T11" fmla="*/ 200 w 200"/>
              <a:gd name="T12" fmla="*/ 432 h 4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" h="432">
                <a:moveTo>
                  <a:pt x="0" y="0"/>
                </a:moveTo>
                <a:cubicBezTo>
                  <a:pt x="92" y="60"/>
                  <a:pt x="184" y="120"/>
                  <a:pt x="192" y="192"/>
                </a:cubicBezTo>
                <a:cubicBezTo>
                  <a:pt x="200" y="264"/>
                  <a:pt x="124" y="348"/>
                  <a:pt x="48" y="432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35" name="Text Box 22"/>
          <p:cNvSpPr txBox="1">
            <a:spLocks noChangeArrowheads="1"/>
          </p:cNvSpPr>
          <p:nvPr/>
        </p:nvSpPr>
        <p:spPr bwMode="auto">
          <a:xfrm>
            <a:off x="4448175" y="2849563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90136" name="Line 23"/>
          <p:cNvSpPr>
            <a:spLocks noChangeShapeType="1"/>
          </p:cNvSpPr>
          <p:nvPr/>
        </p:nvSpPr>
        <p:spPr bwMode="auto">
          <a:xfrm flipV="1">
            <a:off x="4162425" y="4324350"/>
            <a:ext cx="382588" cy="12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37" name="Text Box 24"/>
          <p:cNvSpPr txBox="1">
            <a:spLocks noChangeArrowheads="1"/>
          </p:cNvSpPr>
          <p:nvPr/>
        </p:nvSpPr>
        <p:spPr bwMode="auto">
          <a:xfrm>
            <a:off x="4233863" y="3971925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26009" name="Rectangle 25"/>
          <p:cNvSpPr>
            <a:spLocks noChangeArrowheads="1"/>
          </p:cNvSpPr>
          <p:nvPr/>
        </p:nvSpPr>
        <p:spPr bwMode="auto">
          <a:xfrm>
            <a:off x="4545013" y="3867150"/>
            <a:ext cx="1001712" cy="685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609600" indent="-609600"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609600" indent="-609600"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000" b="1" i="1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kumimoji="1" lang="en-US" altLang="zh-CN" sz="2000" b="1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kumimoji="1" lang="en-US" altLang="zh-CN" sz="2000" b="1" i="1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endParaRPr kumimoji="1" lang="en-US" altLang="zh-CN" sz="28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0139" name="Freeform 26"/>
          <p:cNvSpPr>
            <a:spLocks/>
          </p:cNvSpPr>
          <p:nvPr/>
        </p:nvSpPr>
        <p:spPr bwMode="auto">
          <a:xfrm>
            <a:off x="4162425" y="4508500"/>
            <a:ext cx="457200" cy="342900"/>
          </a:xfrm>
          <a:custGeom>
            <a:avLst/>
            <a:gdLst>
              <a:gd name="T0" fmla="*/ 0 w 288"/>
              <a:gd name="T1" fmla="*/ 0 h 288"/>
              <a:gd name="T2" fmla="*/ 2147483646 w 288"/>
              <a:gd name="T3" fmla="*/ 2147483646 h 288"/>
              <a:gd name="T4" fmla="*/ 0 w 288"/>
              <a:gd name="T5" fmla="*/ 2147483646 h 288"/>
              <a:gd name="T6" fmla="*/ 0 60000 65536"/>
              <a:gd name="T7" fmla="*/ 0 60000 65536"/>
              <a:gd name="T8" fmla="*/ 0 60000 65536"/>
              <a:gd name="T9" fmla="*/ 0 w 288"/>
              <a:gd name="T10" fmla="*/ 0 h 288"/>
              <a:gd name="T11" fmla="*/ 288 w 288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288">
                <a:moveTo>
                  <a:pt x="0" y="0"/>
                </a:moveTo>
                <a:cubicBezTo>
                  <a:pt x="144" y="48"/>
                  <a:pt x="288" y="96"/>
                  <a:pt x="288" y="144"/>
                </a:cubicBezTo>
                <a:cubicBezTo>
                  <a:pt x="288" y="192"/>
                  <a:pt x="144" y="240"/>
                  <a:pt x="0" y="28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40" name="Text Box 27"/>
          <p:cNvSpPr txBox="1">
            <a:spLocks noChangeArrowheads="1"/>
          </p:cNvSpPr>
          <p:nvPr/>
        </p:nvSpPr>
        <p:spPr bwMode="auto">
          <a:xfrm>
            <a:off x="4662488" y="4459288"/>
            <a:ext cx="457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90141" name="Line 28"/>
          <p:cNvSpPr>
            <a:spLocks noChangeShapeType="1"/>
          </p:cNvSpPr>
          <p:nvPr/>
        </p:nvSpPr>
        <p:spPr bwMode="auto">
          <a:xfrm flipV="1">
            <a:off x="3733800" y="3614738"/>
            <a:ext cx="0" cy="285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42" name="Text Box 29"/>
          <p:cNvSpPr txBox="1">
            <a:spLocks noChangeArrowheads="1"/>
          </p:cNvSpPr>
          <p:nvPr/>
        </p:nvSpPr>
        <p:spPr bwMode="auto">
          <a:xfrm>
            <a:off x="3805238" y="3543300"/>
            <a:ext cx="53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9014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例：</a:t>
            </a:r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</a:t>
            </a:r>
            <a:r>
              <a:rPr lang="en-US" altLang="zh-CN" sz="300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(0)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自动机</a:t>
            </a:r>
            <a:endParaRPr lang="zh-CN" altLang="en-US" sz="3000" i="1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015" name="内容占位符 2"/>
          <p:cNvSpPr txBox="1">
            <a:spLocks/>
          </p:cNvSpPr>
          <p:nvPr/>
        </p:nvSpPr>
        <p:spPr bwMode="auto">
          <a:xfrm>
            <a:off x="96838" y="1104900"/>
            <a:ext cx="1379537" cy="16827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文法</a:t>
            </a:r>
            <a:endParaRPr lang="en-US" altLang="zh-CN" b="1" dirty="0">
              <a:solidFill>
                <a:prstClr val="black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(0)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S' 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S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</a:p>
          <a:p>
            <a:pPr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(1)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S 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BB</a:t>
            </a:r>
            <a:endParaRPr lang="en-US" altLang="zh-CN" b="1" dirty="0">
              <a:solidFill>
                <a:prstClr val="black"/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(2)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B 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lang="en-US" altLang="zh-CN" b="1" i="1" dirty="0" err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aB</a:t>
            </a:r>
            <a:endParaRPr lang="en-US" altLang="zh-CN" b="1" dirty="0">
              <a:solidFill>
                <a:prstClr val="black"/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(3)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B 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b</a:t>
            </a:r>
            <a:endParaRPr lang="zh-CN" altLang="en-US" b="1" dirty="0">
              <a:solidFill>
                <a:prstClr val="black"/>
              </a:solidFill>
              <a:ea typeface="楷体_GB2312"/>
              <a:cs typeface="Times New Roman" pitchFamily="18" charset="0"/>
            </a:endParaRPr>
          </a:p>
        </p:txBody>
      </p:sp>
      <p:graphicFrame>
        <p:nvGraphicFramePr>
          <p:cNvPr id="34" name="Group 18"/>
          <p:cNvGraphicFramePr>
            <a:graphicFrameLocks noGrp="1"/>
          </p:cNvGraphicFramePr>
          <p:nvPr/>
        </p:nvGraphicFramePr>
        <p:xfrm>
          <a:off x="5799138" y="1131888"/>
          <a:ext cx="3236912" cy="3657597"/>
        </p:xfrm>
        <a:graphic>
          <a:graphicData uri="http://schemas.openxmlformats.org/drawingml/2006/table">
            <a:tbl>
              <a:tblPr/>
              <a:tblGrid>
                <a:gridCol w="357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7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  <a:cs typeface="Times New Roman" pitchFamily="18" charset="0"/>
                        </a:rPr>
                        <a:t>状态</a:t>
                      </a:r>
                    </a:p>
                  </a:txBody>
                  <a:tcPr marL="91420" marR="91420" marT="34277" marB="3427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ACTION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GOTO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$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S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0213" name="矩形 1"/>
          <p:cNvSpPr>
            <a:spLocks noChangeArrowheads="1"/>
          </p:cNvSpPr>
          <p:nvPr/>
        </p:nvSpPr>
        <p:spPr bwMode="auto">
          <a:xfrm>
            <a:off x="6518275" y="700088"/>
            <a:ext cx="18002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i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LR</a:t>
            </a:r>
            <a:r>
              <a:rPr lang="en-US" altLang="zh-CN" sz="24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(0)</a:t>
            </a:r>
            <a:r>
              <a:rPr lang="zh-CN" altLang="en-US" sz="24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分析表</a:t>
            </a:r>
          </a:p>
        </p:txBody>
      </p:sp>
      <p:sp>
        <p:nvSpPr>
          <p:cNvPr id="90214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9AC748D-0F62-4925-A37C-123F6F3714D5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23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标题 1"/>
          <p:cNvSpPr>
            <a:spLocks noGrp="1"/>
          </p:cNvSpPr>
          <p:nvPr>
            <p:ph type="title"/>
          </p:nvPr>
        </p:nvSpPr>
        <p:spPr>
          <a:xfrm>
            <a:off x="684213" y="779463"/>
            <a:ext cx="7931150" cy="358775"/>
          </a:xfrm>
        </p:spPr>
        <p:txBody>
          <a:bodyPr/>
          <a:lstStyle/>
          <a:p>
            <a:r>
              <a:rPr lang="en-US" altLang="zh-CN" sz="3000">
                <a:solidFill>
                  <a:schemeClr val="tx1"/>
                </a:solidFill>
              </a:rPr>
              <a:t>CLOSURE( )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563563" y="1852613"/>
            <a:ext cx="8315325" cy="431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 sz="2200" b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CLOSURE</a:t>
            </a:r>
            <a:r>
              <a:rPr lang="en-US" altLang="zh-CN" sz="2200" b="1" spc="300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(</a:t>
            </a:r>
            <a:r>
              <a:rPr lang="en-US" altLang="zh-CN" sz="2200" b="1" i="1" spc="300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I</a:t>
            </a:r>
            <a:r>
              <a:rPr lang="en-US" altLang="zh-CN" sz="2200" b="1" spc="300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) </a:t>
            </a:r>
            <a:r>
              <a:rPr lang="en-US" altLang="zh-CN" sz="2200" b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= 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I</a:t>
            </a:r>
            <a:r>
              <a:rPr lang="en-US" altLang="zh-CN" sz="2200" b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∪{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B</a:t>
            </a:r>
            <a:r>
              <a:rPr lang="en-US" altLang="zh-CN" sz="2200" b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lang="en-US" altLang="zh-CN" sz="22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·</a:t>
            </a:r>
            <a:r>
              <a:rPr lang="en-US" altLang="zh-CN" sz="2200" b="1" i="1" dirty="0">
                <a:solidFill>
                  <a:srgbClr val="2D83F4"/>
                </a:solidFill>
                <a:ea typeface="楷体_GB2312"/>
                <a:cs typeface="楷体_GB2312"/>
              </a:rPr>
              <a:t> 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γ </a:t>
            </a:r>
            <a:r>
              <a:rPr lang="en-US" altLang="zh-CN" sz="2200" b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| 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A</a:t>
            </a:r>
            <a:r>
              <a:rPr lang="en-US" altLang="zh-CN" sz="2200" b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→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α</a:t>
            </a:r>
            <a:r>
              <a:rPr lang="en-US" altLang="zh-CN" sz="2200" b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·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Bβ</a:t>
            </a:r>
            <a:r>
              <a:rPr lang="en-US" altLang="zh-CN" sz="2200" b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∈CLOSURE</a:t>
            </a:r>
            <a:r>
              <a:rPr lang="en-US" altLang="zh-CN" sz="2200" b="1" spc="300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(</a:t>
            </a:r>
            <a:r>
              <a:rPr lang="en-US" altLang="zh-CN" sz="2200" b="1" i="1" spc="300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I</a:t>
            </a:r>
            <a:r>
              <a:rPr lang="en-US" altLang="zh-CN" sz="2200" b="1" spc="300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)</a:t>
            </a:r>
            <a:r>
              <a:rPr lang="en-US" altLang="zh-CN" sz="2200" b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, </a:t>
            </a:r>
            <a:r>
              <a:rPr lang="en-US" altLang="zh-CN" sz="2200" b="1" i="1" dirty="0" err="1">
                <a:solidFill>
                  <a:srgbClr val="00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B</a:t>
            </a:r>
            <a:r>
              <a:rPr lang="en-US" altLang="zh-CN" sz="2200" b="1" dirty="0" err="1">
                <a:solidFill>
                  <a:srgbClr val="00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→</a:t>
            </a:r>
            <a:r>
              <a:rPr lang="en-US" altLang="zh-CN" sz="2200" b="1" i="1" dirty="0" err="1">
                <a:solidFill>
                  <a:srgbClr val="00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γ</a:t>
            </a:r>
            <a:r>
              <a:rPr lang="en-US" altLang="zh-CN" sz="2200" b="1" dirty="0" err="1">
                <a:solidFill>
                  <a:srgbClr val="00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∈</a:t>
            </a:r>
            <a:r>
              <a:rPr lang="en-US" altLang="zh-CN" sz="2200" b="1" i="1" dirty="0" err="1">
                <a:solidFill>
                  <a:srgbClr val="00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P</a:t>
            </a:r>
            <a:r>
              <a:rPr lang="en-US" altLang="zh-CN" sz="2200" b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}</a:t>
            </a:r>
            <a:endParaRPr lang="zh-CN" altLang="en-US" sz="2200" b="1" dirty="0">
              <a:solidFill>
                <a:prstClr val="black"/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563563" y="1204913"/>
            <a:ext cx="7032625" cy="51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lnSpc>
                <a:spcPts val="3300"/>
              </a:lnSpc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计算给定项目集</a:t>
            </a:r>
            <a:r>
              <a:rPr lang="en-US" altLang="zh-CN" sz="30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的闭包</a:t>
            </a:r>
          </a:p>
        </p:txBody>
      </p:sp>
      <p:sp>
        <p:nvSpPr>
          <p:cNvPr id="92165" name="标题 1"/>
          <p:cNvSpPr txBox="1">
            <a:spLocks/>
          </p:cNvSpPr>
          <p:nvPr/>
        </p:nvSpPr>
        <p:spPr bwMode="auto">
          <a:xfrm>
            <a:off x="790575" y="174625"/>
            <a:ext cx="793115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576263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855663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1462088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1919288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376488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2833688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290888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4. LR(0)</a:t>
            </a:r>
            <a:r>
              <a:rPr lang="zh-CN" altLang="en-US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分析表的构造算法</a:t>
            </a:r>
          </a:p>
        </p:txBody>
      </p:sp>
      <p:sp>
        <p:nvSpPr>
          <p:cNvPr id="92166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F382BC3-1ACD-4246-925C-69A0513FC146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24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en-US" altLang="zh-CN" sz="3000">
                <a:solidFill>
                  <a:schemeClr val="tx1"/>
                </a:solidFill>
              </a:rPr>
              <a:t>CLOSURE( )</a:t>
            </a:r>
            <a:r>
              <a:rPr lang="zh-CN" altLang="en-US" sz="3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zh-CN" altLang="en-US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内容占位符 1"/>
          <p:cNvSpPr txBox="1">
            <a:spLocks/>
          </p:cNvSpPr>
          <p:nvPr/>
        </p:nvSpPr>
        <p:spPr bwMode="auto">
          <a:xfrm>
            <a:off x="785813" y="785813"/>
            <a:ext cx="7632700" cy="41036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marL="273050" indent="-273050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en-US" altLang="zh-CN" sz="2500" b="1" dirty="0" err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SetOfltems</a:t>
            </a:r>
            <a:r>
              <a:rPr lang="zh-CN" altLang="en-US" sz="2500" b="1" dirty="0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CLOSURE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(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I 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) {</a:t>
            </a:r>
            <a:endParaRPr kumimoji="1" lang="en-US" altLang="zh-CN" sz="2500" b="1" dirty="0">
              <a:solidFill>
                <a:srgbClr val="000000"/>
              </a:solidFill>
              <a:latin typeface="Times New Roman" pitchFamily="18" charset="0"/>
              <a:ea typeface="华文楷体" pitchFamily="2" charset="-122"/>
              <a:cs typeface="Times New Roman" pitchFamily="18" charset="0"/>
            </a:endParaRPr>
          </a:p>
          <a:p>
            <a:pPr marL="273050" indent="-273050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zh-CN" altLang="en-US" sz="2500" b="1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       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J</a:t>
            </a:r>
            <a:r>
              <a:rPr lang="zh-CN" altLang="en-US" sz="2500" b="1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=</a:t>
            </a:r>
            <a:r>
              <a:rPr lang="zh-CN" altLang="en-US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lang="zh-CN" altLang="en-US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；</a:t>
            </a:r>
            <a:endParaRPr lang="en-US" altLang="zh-CN" sz="2500" b="1" dirty="0">
              <a:solidFill>
                <a:srgbClr val="000000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273050" indent="-273050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       repeat</a:t>
            </a:r>
            <a:endParaRPr lang="zh-CN" altLang="en-US" sz="2500" b="1" dirty="0">
              <a:solidFill>
                <a:srgbClr val="000000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273050" indent="-273050" eaLnBrk="1" hangingPunct="1">
              <a:lnSpc>
                <a:spcPts val="2500"/>
              </a:lnSpc>
              <a:spcBef>
                <a:spcPct val="20000"/>
              </a:spcBef>
              <a:buSzPct val="100000"/>
              <a:defRPr/>
            </a:pPr>
            <a:r>
              <a:rPr lang="zh-CN" altLang="en-US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                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for ( 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J</a:t>
            </a:r>
            <a:r>
              <a:rPr lang="zh-CN" altLang="en-US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中的每个项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A →</a:t>
            </a:r>
            <a:r>
              <a:rPr lang="el-GR" altLang="zh-CN" sz="2500" b="1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α</a:t>
            </a:r>
            <a:r>
              <a:rPr lang="zh-CN" altLang="en-US" sz="2500" b="1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∙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B</a:t>
            </a:r>
            <a:r>
              <a:rPr lang="el-GR" altLang="zh-CN" sz="2500" b="1" i="1" dirty="0">
                <a:solidFill>
                  <a:srgbClr val="000000"/>
                </a:solidFill>
                <a:latin typeface="Times New Roman" pitchFamily="18" charset="0"/>
              </a:rPr>
              <a:t>β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 ) </a:t>
            </a:r>
          </a:p>
          <a:p>
            <a:pPr marL="273050" indent="-273050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zh-CN" altLang="en-US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                            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for ( 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G</a:t>
            </a:r>
            <a:r>
              <a:rPr lang="zh-CN" altLang="en-US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的每个产生式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B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</a:rPr>
              <a:t> →</a:t>
            </a:r>
            <a:r>
              <a:rPr lang="zh-CN" altLang="en-US" sz="2500" b="1" i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γ</a:t>
            </a:r>
            <a:r>
              <a:rPr lang="zh-CN" altLang="en-US" sz="2500" b="1" i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) </a:t>
            </a:r>
            <a:endParaRPr lang="zh-CN" altLang="en-US" sz="2500" b="1" dirty="0">
              <a:solidFill>
                <a:srgbClr val="000000"/>
              </a:solidFill>
              <a:latin typeface="Times New Roman" pitchFamily="18" charset="0"/>
              <a:ea typeface="楷体" pitchFamily="49" charset="-122"/>
            </a:endParaRPr>
          </a:p>
          <a:p>
            <a:pPr marL="273050" indent="-273050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zh-CN" altLang="en-US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                                      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if (</a:t>
            </a:r>
            <a:r>
              <a:rPr lang="zh-CN" altLang="en-US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 项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B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</a:rPr>
              <a:t> →</a:t>
            </a:r>
            <a:r>
              <a:rPr lang="zh-CN" altLang="en-US" sz="2500" b="1" i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zh-CN" altLang="en-US" sz="2500" b="1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∙ 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γ</a:t>
            </a:r>
            <a:r>
              <a:rPr lang="zh-CN" altLang="en-US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不在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J</a:t>
            </a:r>
            <a:r>
              <a:rPr lang="zh-CN" altLang="en-US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中</a:t>
            </a:r>
            <a:r>
              <a:rPr lang="zh-CN" altLang="en-US" sz="2500" b="1" i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) </a:t>
            </a:r>
            <a:endParaRPr lang="zh-CN" altLang="en-US" sz="2500" b="1" dirty="0">
              <a:solidFill>
                <a:srgbClr val="000000"/>
              </a:solidFill>
              <a:latin typeface="Times New Roman" pitchFamily="18" charset="0"/>
              <a:ea typeface="楷体" pitchFamily="49" charset="-122"/>
            </a:endParaRPr>
          </a:p>
          <a:p>
            <a:pPr marL="273050" indent="-273050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zh-CN" altLang="en-US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                                             将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B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</a:rPr>
              <a:t> →</a:t>
            </a:r>
            <a:r>
              <a:rPr lang="zh-CN" altLang="en-US" sz="2500" b="1" i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zh-CN" altLang="en-US" sz="2500" b="1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∙ 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γ</a:t>
            </a:r>
            <a:r>
              <a:rPr lang="zh-CN" altLang="en-US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加入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J</a:t>
            </a:r>
            <a:r>
              <a:rPr lang="zh-CN" altLang="en-US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中；</a:t>
            </a:r>
          </a:p>
          <a:p>
            <a:pPr marL="273050" indent="-273050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zh-CN" altLang="en-US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          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until</a:t>
            </a:r>
            <a:r>
              <a:rPr lang="zh-CN" altLang="en-US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 在某一轮中没有新的项被加入到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J</a:t>
            </a:r>
            <a:r>
              <a:rPr lang="zh-CN" altLang="en-US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中；</a:t>
            </a:r>
          </a:p>
          <a:p>
            <a:pPr marL="273050" indent="-273050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zh-CN" altLang="en-US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          </a:t>
            </a: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return 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J</a:t>
            </a:r>
            <a:r>
              <a:rPr lang="zh-CN" altLang="en-US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；</a:t>
            </a:r>
          </a:p>
          <a:p>
            <a:pPr marL="273050" indent="-273050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en-US" altLang="zh-CN" sz="25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</a:rPr>
              <a:t>}</a:t>
            </a:r>
          </a:p>
        </p:txBody>
      </p:sp>
      <p:sp>
        <p:nvSpPr>
          <p:cNvPr id="94212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651C29E-E095-4EB8-B69E-98909F8E147F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25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en-US" altLang="zh-CN" sz="3000">
                <a:solidFill>
                  <a:srgbClr val="000000"/>
                </a:solidFill>
              </a:rPr>
              <a:t>GOTO ( )</a:t>
            </a:r>
            <a:r>
              <a:rPr lang="zh-CN" altLang="en-US" sz="3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zh-CN" altLang="en-US"/>
          </a:p>
        </p:txBody>
      </p:sp>
      <p:sp>
        <p:nvSpPr>
          <p:cNvPr id="4" name="内容占位符 1"/>
          <p:cNvSpPr txBox="1">
            <a:spLocks/>
          </p:cNvSpPr>
          <p:nvPr/>
        </p:nvSpPr>
        <p:spPr bwMode="auto">
          <a:xfrm>
            <a:off x="1000125" y="2236788"/>
            <a:ext cx="7127875" cy="24495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marL="273050" indent="-273050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en-US" altLang="zh-CN" sz="2500" b="1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</a:rPr>
              <a:t>SetOfltems</a:t>
            </a:r>
            <a:r>
              <a:rPr lang="zh-CN" altLang="en-US" sz="2500" b="1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</a:rPr>
              <a:t> </a:t>
            </a:r>
            <a:r>
              <a:rPr lang="en-US" altLang="zh-CN" sz="2500" b="1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</a:rPr>
              <a:t>GOTO</a:t>
            </a:r>
            <a:r>
              <a:rPr lang="en-US" altLang="zh-CN" sz="25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(</a:t>
            </a:r>
            <a:r>
              <a:rPr lang="en-US" altLang="zh-CN" sz="2500" b="1" i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I</a:t>
            </a:r>
            <a:r>
              <a:rPr lang="zh-CN" altLang="en-US" sz="25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，</a:t>
            </a:r>
            <a:r>
              <a:rPr lang="en-US" altLang="zh-CN" sz="2500" b="1" i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X </a:t>
            </a:r>
            <a:r>
              <a:rPr lang="en-US" altLang="zh-CN" sz="25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) {</a:t>
            </a:r>
          </a:p>
          <a:p>
            <a:pPr marL="273050" indent="-273050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en-US" altLang="zh-CN" sz="25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         </a:t>
            </a:r>
            <a:r>
              <a:rPr lang="zh-CN" altLang="en-US" sz="25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将</a:t>
            </a:r>
            <a:r>
              <a:rPr lang="en-US" altLang="zh-CN" sz="2500" b="1" i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J</a:t>
            </a:r>
            <a:r>
              <a:rPr lang="zh-CN" altLang="en-US" sz="2500" b="1" i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</a:t>
            </a:r>
            <a:r>
              <a:rPr lang="zh-CN" altLang="en-US" sz="25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初始化为空集；                   </a:t>
            </a:r>
          </a:p>
          <a:p>
            <a:pPr marL="273050" indent="-273050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zh-CN" altLang="en-US" sz="25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         </a:t>
            </a:r>
            <a:r>
              <a:rPr lang="en-US" altLang="zh-CN" sz="25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for ( </a:t>
            </a:r>
            <a:r>
              <a:rPr lang="en-US" altLang="zh-CN" sz="2500" b="1" i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I</a:t>
            </a:r>
            <a:r>
              <a:rPr lang="zh-CN" altLang="en-US" sz="2500" b="1" i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</a:t>
            </a:r>
            <a:r>
              <a:rPr lang="zh-CN" altLang="en-US" sz="25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中的每个项</a:t>
            </a:r>
            <a:r>
              <a:rPr lang="en-US" altLang="zh-CN" sz="2500" b="1" i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A</a:t>
            </a:r>
            <a:r>
              <a:rPr lang="en-US" altLang="zh-CN" sz="2500" b="1" i="1">
                <a:solidFill>
                  <a:prstClr val="black"/>
                </a:solidFill>
                <a:latin typeface="Times New Roman" pitchFamily="18" charset="0"/>
              </a:rPr>
              <a:t> →</a:t>
            </a:r>
            <a:r>
              <a:rPr lang="el-GR" altLang="zh-CN" sz="2500" b="1" i="1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α</a:t>
            </a:r>
            <a:r>
              <a:rPr lang="zh-CN" altLang="en-US" sz="2500" b="1" i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∙</a:t>
            </a:r>
            <a:r>
              <a:rPr lang="en-US" altLang="zh-CN" sz="2500" b="1" i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X</a:t>
            </a:r>
            <a:r>
              <a:rPr lang="el-GR" altLang="zh-CN" sz="2500" b="1" i="1">
                <a:solidFill>
                  <a:prstClr val="black"/>
                </a:solidFill>
                <a:latin typeface="Times New Roman" pitchFamily="18" charset="0"/>
              </a:rPr>
              <a:t>β</a:t>
            </a:r>
            <a:r>
              <a:rPr lang="en-US" altLang="zh-CN" sz="2500" b="1" i="1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sz="25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) </a:t>
            </a:r>
          </a:p>
          <a:p>
            <a:pPr marL="273050" indent="-273050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zh-CN" altLang="en-US" sz="25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                     将项</a:t>
            </a:r>
            <a:r>
              <a:rPr lang="en-US" altLang="zh-CN" sz="25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</a:t>
            </a:r>
            <a:r>
              <a:rPr lang="en-US" altLang="zh-CN" sz="2500" b="1" i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A</a:t>
            </a:r>
            <a:r>
              <a:rPr lang="zh-CN" altLang="en-US" sz="2500" b="1" i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</a:t>
            </a:r>
            <a:r>
              <a:rPr lang="en-US" altLang="zh-CN" sz="2500" b="1" i="1">
                <a:solidFill>
                  <a:prstClr val="black"/>
                </a:solidFill>
                <a:latin typeface="Times New Roman" pitchFamily="18" charset="0"/>
              </a:rPr>
              <a:t>→</a:t>
            </a:r>
            <a:r>
              <a:rPr lang="zh-CN" altLang="en-US" sz="2500" b="1" i="1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α</a:t>
            </a:r>
            <a:r>
              <a:rPr lang="en-US" altLang="zh-CN" sz="2500" b="1" i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X</a:t>
            </a:r>
            <a:r>
              <a:rPr lang="zh-CN" altLang="en-US" sz="2500" b="1" i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∙</a:t>
            </a:r>
            <a:r>
              <a:rPr lang="el-GR" altLang="zh-CN" sz="2500" b="1" i="1">
                <a:solidFill>
                  <a:prstClr val="black"/>
                </a:solidFill>
                <a:latin typeface="Times New Roman" pitchFamily="18" charset="0"/>
              </a:rPr>
              <a:t>β</a:t>
            </a:r>
            <a:r>
              <a:rPr lang="en-US" altLang="zh-CN" sz="2500" b="1" i="1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zh-CN" altLang="en-US" sz="25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加入到集合</a:t>
            </a:r>
            <a:r>
              <a:rPr lang="en-US" altLang="zh-CN" sz="2500" b="1" i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J</a:t>
            </a:r>
            <a:r>
              <a:rPr lang="zh-CN" altLang="en-US" sz="2500" b="1" i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</a:t>
            </a:r>
            <a:r>
              <a:rPr lang="zh-CN" altLang="en-US" sz="25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中；</a:t>
            </a:r>
          </a:p>
          <a:p>
            <a:pPr marL="273050" indent="-273050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zh-CN" altLang="en-US" sz="25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         </a:t>
            </a:r>
            <a:r>
              <a:rPr lang="en-US" altLang="zh-CN" sz="25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return</a:t>
            </a:r>
            <a:r>
              <a:rPr lang="zh-CN" altLang="en-US" sz="25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</a:t>
            </a:r>
            <a:r>
              <a:rPr lang="en-US" altLang="zh-CN" sz="25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CLOSURE (</a:t>
            </a:r>
            <a:r>
              <a:rPr lang="en-US" altLang="zh-CN" sz="2500" b="1" i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J</a:t>
            </a:r>
            <a:r>
              <a:rPr lang="zh-CN" altLang="en-US" sz="2500" b="1" i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</a:t>
            </a:r>
            <a:r>
              <a:rPr lang="en-US" altLang="zh-CN" sz="25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)</a:t>
            </a:r>
            <a:r>
              <a:rPr lang="zh-CN" altLang="en-US" sz="25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；</a:t>
            </a:r>
          </a:p>
          <a:p>
            <a:pPr marL="273050" indent="-273050"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en-US" altLang="zh-CN" sz="25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}</a:t>
            </a:r>
          </a:p>
        </p:txBody>
      </p:sp>
      <p:sp>
        <p:nvSpPr>
          <p:cNvPr id="96260" name="矩形 4"/>
          <p:cNvSpPr>
            <a:spLocks noChangeArrowheads="1"/>
          </p:cNvSpPr>
          <p:nvPr/>
        </p:nvSpPr>
        <p:spPr bwMode="auto">
          <a:xfrm>
            <a:off x="568325" y="1498600"/>
            <a:ext cx="8208963" cy="5222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GOTO(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X</a:t>
            </a:r>
            <a:r>
              <a:rPr lang="zh-CN" altLang="en-US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)=CLOSURE({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A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αX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·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β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|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A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α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·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Xβ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∈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zh-CN" altLang="en-US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})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6261" name="矩形 1"/>
          <p:cNvSpPr>
            <a:spLocks noChangeArrowheads="1"/>
          </p:cNvSpPr>
          <p:nvPr/>
        </p:nvSpPr>
        <p:spPr bwMode="auto">
          <a:xfrm>
            <a:off x="357188" y="928688"/>
            <a:ext cx="8642350" cy="51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lnSpc>
                <a:spcPts val="3300"/>
              </a:lnSpc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返回项目集</a:t>
            </a:r>
            <a:r>
              <a:rPr lang="en-US" altLang="zh-CN" sz="30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对应于文法符号</a:t>
            </a:r>
            <a:r>
              <a:rPr lang="en-US" altLang="zh-CN" sz="30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的后继项目集闭包</a:t>
            </a:r>
          </a:p>
        </p:txBody>
      </p:sp>
      <p:sp>
        <p:nvSpPr>
          <p:cNvPr id="96262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26252EE-2EDE-499F-ADD6-E594B9C4FB82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26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内容占位符 2"/>
          <p:cNvSpPr>
            <a:spLocks noGrp="1"/>
          </p:cNvSpPr>
          <p:nvPr>
            <p:ph idx="1"/>
          </p:nvPr>
        </p:nvSpPr>
        <p:spPr>
          <a:xfrm>
            <a:off x="685800" y="928688"/>
            <a:ext cx="8458200" cy="3225800"/>
          </a:xfrm>
        </p:spPr>
        <p:txBody>
          <a:bodyPr/>
          <a:lstStyle/>
          <a:p>
            <a:pPr eaLnBrk="1" hangingPunct="1">
              <a:lnSpc>
                <a:spcPts val="3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3000" b="1">
                <a:solidFill>
                  <a:schemeClr val="tx1"/>
                </a:solidFill>
                <a:cs typeface="Times New Roman" panose="02020603050405020304" pitchFamily="18" charset="0"/>
              </a:rPr>
              <a:t>规范</a:t>
            </a:r>
            <a:r>
              <a:rPr lang="en-US" altLang="zh-CN" sz="3000" b="1" i="1">
                <a:solidFill>
                  <a:schemeClr val="tx1"/>
                </a:solidFill>
                <a:cs typeface="Times New Roman" panose="02020603050405020304" pitchFamily="18" charset="0"/>
              </a:rPr>
              <a:t>LR</a:t>
            </a:r>
            <a:r>
              <a:rPr lang="en-US" altLang="zh-CN" sz="3000" b="1">
                <a:solidFill>
                  <a:schemeClr val="tx1"/>
                </a:solidFill>
                <a:cs typeface="Times New Roman" panose="02020603050405020304" pitchFamily="18" charset="0"/>
              </a:rPr>
              <a:t>(0) </a:t>
            </a:r>
            <a:r>
              <a:rPr lang="zh-CN" altLang="en-US" sz="3000" b="1">
                <a:solidFill>
                  <a:schemeClr val="tx1"/>
                </a:solidFill>
                <a:cs typeface="Times New Roman" panose="02020603050405020304" pitchFamily="18" charset="0"/>
              </a:rPr>
              <a:t>项集族</a:t>
            </a:r>
            <a:r>
              <a:rPr lang="en-US" altLang="zh-CN" sz="2500" b="1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500" b="1" i="1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Canonical LR</a:t>
            </a:r>
            <a:r>
              <a:rPr lang="en-US" altLang="zh-CN" sz="2500" b="1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(0) </a:t>
            </a:r>
            <a:r>
              <a:rPr lang="en-US" altLang="zh-CN" sz="2500" b="1" i="1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Collection</a:t>
            </a:r>
            <a:r>
              <a:rPr lang="en-US" altLang="zh-CN" sz="2500" b="1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en-US" altLang="zh-CN" sz="30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altLang="zh-CN" sz="22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altLang="zh-CN" sz="22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altLang="zh-CN" sz="22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altLang="zh-CN" sz="22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altLang="zh-CN" sz="22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altLang="zh-CN" sz="22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zh-CN" altLang="en-US" sz="2200" b="1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98307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</a:pP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</a:t>
            </a:r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</a:t>
            </a:r>
            <a:r>
              <a:rPr lang="en-US" altLang="zh-CN" sz="300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(0)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自动机的状态集</a:t>
            </a:r>
            <a:endParaRPr lang="en-US" altLang="zh-CN" sz="2500">
              <a:solidFill>
                <a:schemeClr val="tx1"/>
              </a:solidFill>
            </a:endParaRPr>
          </a:p>
        </p:txBody>
      </p:sp>
      <p:sp>
        <p:nvSpPr>
          <p:cNvPr id="7" name="内容占位符 1"/>
          <p:cNvSpPr txBox="1">
            <a:spLocks/>
          </p:cNvSpPr>
          <p:nvPr/>
        </p:nvSpPr>
        <p:spPr bwMode="auto">
          <a:xfrm>
            <a:off x="1285875" y="2143125"/>
            <a:ext cx="6481763" cy="2644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273050" indent="-273050" eaLnBrk="1" hangingPunct="1">
              <a:lnSpc>
                <a:spcPts val="18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en-US" altLang="zh-CN" sz="2000" b="1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</a:rPr>
              <a:t>void</a:t>
            </a:r>
            <a:r>
              <a:rPr lang="zh-CN" altLang="en-US" sz="2000" b="1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</a:rPr>
              <a:t> </a:t>
            </a:r>
            <a:r>
              <a:rPr lang="en-US" altLang="zh-CN" sz="2000" b="1" i="1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</a:rPr>
              <a:t>items</a:t>
            </a:r>
            <a:r>
              <a:rPr lang="en-US" altLang="zh-CN" sz="20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( </a:t>
            </a:r>
            <a:r>
              <a:rPr lang="en-US" altLang="zh-CN" sz="2000" b="1" i="1">
                <a:solidFill>
                  <a:prstClr val="black"/>
                </a:solidFill>
                <a:latin typeface="Times New Roman" pitchFamily="18" charset="0"/>
              </a:rPr>
              <a:t>G</a:t>
            </a:r>
            <a:r>
              <a:rPr lang="en-US" altLang="zh-CN" sz="2000" b="1" i="1">
                <a:solidFill>
                  <a:srgbClr val="00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' </a:t>
            </a:r>
            <a:r>
              <a:rPr lang="en-US" altLang="zh-CN" sz="20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) {</a:t>
            </a:r>
            <a:endParaRPr lang="zh-CN" altLang="en-US" sz="2000" b="1">
              <a:solidFill>
                <a:prstClr val="black"/>
              </a:solidFill>
              <a:latin typeface="Times New Roman" pitchFamily="18" charset="0"/>
              <a:ea typeface="楷体" pitchFamily="49" charset="-122"/>
            </a:endParaRPr>
          </a:p>
          <a:p>
            <a:pPr marL="273050" indent="-273050" eaLnBrk="1" hangingPunct="1">
              <a:lnSpc>
                <a:spcPts val="1800"/>
              </a:lnSpc>
              <a:spcBef>
                <a:spcPct val="20000"/>
              </a:spcBef>
              <a:buSzPct val="100000"/>
              <a:defRPr/>
            </a:pPr>
            <a:r>
              <a:rPr lang="zh-CN" altLang="en-US" sz="2000" b="1" i="1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</a:rPr>
              <a:t>         </a:t>
            </a:r>
            <a:r>
              <a:rPr lang="en-US" altLang="zh-CN" sz="2000" b="1" i="1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</a:rPr>
              <a:t>C</a:t>
            </a:r>
            <a:r>
              <a:rPr lang="zh-CN" altLang="en-US" sz="2000" b="1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</a:rPr>
              <a:t>＝</a:t>
            </a:r>
            <a:r>
              <a:rPr lang="en-US" altLang="zh-CN" sz="20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{ CLOSURE ({[</a:t>
            </a:r>
            <a:r>
              <a:rPr lang="zh-CN" altLang="en-US" sz="20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</a:t>
            </a:r>
            <a:r>
              <a:rPr lang="en-US" altLang="zh-CN" sz="2000" b="1" i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S</a:t>
            </a:r>
            <a:r>
              <a:rPr lang="en-US" altLang="zh-CN" sz="2000" b="1" i="1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'</a:t>
            </a:r>
            <a:r>
              <a:rPr lang="en-US" altLang="zh-CN" sz="2000" b="1" i="1">
                <a:solidFill>
                  <a:prstClr val="black"/>
                </a:solidFill>
                <a:latin typeface="Times New Roman" pitchFamily="18" charset="0"/>
              </a:rPr>
              <a:t>→ </a:t>
            </a:r>
            <a:r>
              <a:rPr lang="en-US" altLang="zh-CN" sz="2000" b="1">
                <a:solidFill>
                  <a:srgbClr val="000000"/>
                </a:solidFill>
                <a:latin typeface="Times New Roman" pitchFamily="18" charset="0"/>
              </a:rPr>
              <a:t>·</a:t>
            </a:r>
            <a:r>
              <a:rPr lang="en-US" altLang="zh-CN" sz="2000" b="1" i="1">
                <a:solidFill>
                  <a:srgbClr val="000000"/>
                </a:solidFill>
                <a:latin typeface="Times New Roman" pitchFamily="18" charset="0"/>
              </a:rPr>
              <a:t>S</a:t>
            </a:r>
            <a:r>
              <a:rPr lang="zh-CN" altLang="en-US" sz="2000" b="1" i="1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 </a:t>
            </a:r>
            <a:r>
              <a:rPr lang="en-US" altLang="zh-CN" sz="20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] } ) }</a:t>
            </a:r>
            <a:r>
              <a:rPr lang="zh-CN" altLang="en-US" sz="20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；</a:t>
            </a:r>
            <a:r>
              <a:rPr lang="en-US" altLang="zh-CN" sz="20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</a:t>
            </a:r>
          </a:p>
          <a:p>
            <a:pPr marL="273050" indent="-273050" eaLnBrk="1" hangingPunct="1">
              <a:lnSpc>
                <a:spcPts val="18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zh-CN" altLang="en-US" sz="20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        </a:t>
            </a:r>
            <a:r>
              <a:rPr lang="en-US" altLang="zh-CN" sz="20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repeat</a:t>
            </a:r>
            <a:endParaRPr lang="zh-CN" altLang="en-US" sz="2000" b="1">
              <a:solidFill>
                <a:prstClr val="black"/>
              </a:solidFill>
              <a:latin typeface="Times New Roman" pitchFamily="18" charset="0"/>
              <a:ea typeface="楷体" pitchFamily="49" charset="-122"/>
            </a:endParaRPr>
          </a:p>
          <a:p>
            <a:pPr marL="273050" indent="-273050" eaLnBrk="1" hangingPunct="1">
              <a:lnSpc>
                <a:spcPts val="18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zh-CN" altLang="en-US" sz="20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                  </a:t>
            </a:r>
            <a:r>
              <a:rPr lang="en-US" altLang="zh-CN" sz="20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f</a:t>
            </a:r>
            <a:r>
              <a:rPr lang="en-US" altLang="zh-CN" sz="2000" b="1">
                <a:solidFill>
                  <a:prstClr val="black"/>
                </a:solidFill>
                <a:latin typeface="Times New Roman" pitchFamily="18" charset="0"/>
              </a:rPr>
              <a:t>o</a:t>
            </a:r>
            <a:r>
              <a:rPr lang="en-US" altLang="zh-CN" sz="20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r</a:t>
            </a:r>
            <a:r>
              <a:rPr lang="zh-CN" altLang="en-US" sz="20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</a:t>
            </a:r>
            <a:r>
              <a:rPr lang="en-US" altLang="zh-CN" sz="20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(</a:t>
            </a:r>
            <a:r>
              <a:rPr lang="en-US" altLang="zh-CN" sz="2000" b="1" i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C</a:t>
            </a:r>
            <a:r>
              <a:rPr lang="zh-CN" altLang="en-US" sz="2000" b="1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</a:rPr>
              <a:t>中的每个项集 </a:t>
            </a:r>
            <a:r>
              <a:rPr lang="en-US" altLang="zh-CN" sz="2000" b="1" i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I</a:t>
            </a:r>
            <a:r>
              <a:rPr lang="zh-CN" altLang="en-US" sz="2000" b="1" i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</a:t>
            </a:r>
            <a:r>
              <a:rPr lang="en-US" altLang="zh-CN" sz="20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)</a:t>
            </a:r>
            <a:endParaRPr lang="zh-CN" altLang="en-US" sz="2000" b="1">
              <a:solidFill>
                <a:prstClr val="black"/>
              </a:solidFill>
              <a:latin typeface="Times New Roman" pitchFamily="18" charset="0"/>
              <a:ea typeface="楷体" pitchFamily="49" charset="-122"/>
            </a:endParaRPr>
          </a:p>
          <a:p>
            <a:pPr marL="273050" indent="-273050" eaLnBrk="1" hangingPunct="1">
              <a:lnSpc>
                <a:spcPts val="1800"/>
              </a:lnSpc>
              <a:spcBef>
                <a:spcPct val="20000"/>
              </a:spcBef>
              <a:buSzPct val="100000"/>
              <a:defRPr/>
            </a:pPr>
            <a:r>
              <a:rPr lang="zh-CN" altLang="en-US" sz="20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                             </a:t>
            </a:r>
            <a:r>
              <a:rPr lang="en-US" altLang="zh-CN" sz="20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for(</a:t>
            </a:r>
            <a:r>
              <a:rPr lang="zh-CN" altLang="en-US" sz="2000" b="1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</a:rPr>
              <a:t>每个文法符号</a:t>
            </a:r>
            <a:r>
              <a:rPr lang="en-US" altLang="zh-CN" sz="2000" b="1" i="1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</a:rPr>
              <a:t>X</a:t>
            </a:r>
            <a:r>
              <a:rPr lang="zh-CN" altLang="en-US" sz="2000" b="1" i="1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</a:rPr>
              <a:t> </a:t>
            </a:r>
            <a:r>
              <a:rPr lang="en-US" altLang="zh-CN" sz="20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)</a:t>
            </a:r>
            <a:endParaRPr lang="zh-CN" altLang="en-US" sz="2000" b="1">
              <a:solidFill>
                <a:prstClr val="black"/>
              </a:solidFill>
              <a:latin typeface="Times New Roman" pitchFamily="18" charset="0"/>
              <a:ea typeface="楷体" pitchFamily="49" charset="-122"/>
            </a:endParaRPr>
          </a:p>
          <a:p>
            <a:pPr marL="273050" indent="-273050" eaLnBrk="1" hangingPunct="1">
              <a:lnSpc>
                <a:spcPts val="1800"/>
              </a:lnSpc>
              <a:spcBef>
                <a:spcPct val="20000"/>
              </a:spcBef>
              <a:buSzPct val="100000"/>
              <a:defRPr/>
            </a:pPr>
            <a:r>
              <a:rPr lang="zh-CN" altLang="en-US" sz="20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                                     </a:t>
            </a:r>
            <a:r>
              <a:rPr lang="en-US" altLang="zh-CN" sz="20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if</a:t>
            </a:r>
            <a:r>
              <a:rPr lang="en-US" altLang="zh-CN" sz="2000" b="1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</a:rPr>
              <a:t> </a:t>
            </a:r>
            <a:r>
              <a:rPr lang="en-US" altLang="zh-CN" sz="20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( </a:t>
            </a:r>
            <a:r>
              <a:rPr lang="en-US" altLang="zh-CN" sz="2000" b="1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</a:rPr>
              <a:t>GOTO</a:t>
            </a:r>
            <a:r>
              <a:rPr lang="en-US" altLang="zh-CN" sz="20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( </a:t>
            </a:r>
            <a:r>
              <a:rPr lang="en-US" altLang="zh-CN" sz="2000" b="1" i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I</a:t>
            </a:r>
            <a:r>
              <a:rPr lang="zh-CN" altLang="en-US" sz="20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，</a:t>
            </a:r>
            <a:r>
              <a:rPr lang="en-US" altLang="zh-CN" sz="2000" b="1" i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X</a:t>
            </a:r>
            <a:r>
              <a:rPr lang="zh-CN" altLang="en-US" sz="2000" b="1" i="1">
                <a:solidFill>
                  <a:prstClr val="black"/>
                </a:solidFill>
                <a:latin typeface="华文楷体" pitchFamily="2" charset="-122"/>
              </a:rPr>
              <a:t> </a:t>
            </a:r>
            <a:r>
              <a:rPr lang="en-US" altLang="zh-CN" sz="20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)</a:t>
            </a:r>
            <a:r>
              <a:rPr lang="zh-CN" altLang="en-US" sz="2000" b="1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</a:rPr>
              <a:t>非空且不在</a:t>
            </a:r>
            <a:r>
              <a:rPr lang="en-US" altLang="zh-CN" sz="2000" b="1" i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C</a:t>
            </a:r>
            <a:r>
              <a:rPr lang="zh-CN" altLang="en-US" sz="2000" b="1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</a:rPr>
              <a:t>中</a:t>
            </a:r>
            <a:r>
              <a:rPr lang="en-US" altLang="zh-CN" sz="20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)</a:t>
            </a:r>
            <a:endParaRPr lang="zh-CN" altLang="en-US" sz="2000" b="1">
              <a:solidFill>
                <a:prstClr val="black"/>
              </a:solidFill>
              <a:latin typeface="Times New Roman" pitchFamily="18" charset="0"/>
              <a:ea typeface="楷体" pitchFamily="49" charset="-122"/>
            </a:endParaRPr>
          </a:p>
          <a:p>
            <a:pPr marL="273050" indent="-273050" eaLnBrk="1" hangingPunct="1">
              <a:lnSpc>
                <a:spcPts val="18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zh-CN" altLang="en-US" sz="2000" b="1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</a:rPr>
              <a:t>                                             将</a:t>
            </a:r>
            <a:r>
              <a:rPr lang="en-US" altLang="zh-CN" sz="2000" b="1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</a:rPr>
              <a:t>GOTO</a:t>
            </a:r>
            <a:r>
              <a:rPr lang="en-US" altLang="zh-CN" sz="20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( </a:t>
            </a:r>
            <a:r>
              <a:rPr lang="en-US" altLang="zh-CN" sz="2000" b="1" i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I</a:t>
            </a:r>
            <a:r>
              <a:rPr lang="zh-CN" altLang="en-US" sz="20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，</a:t>
            </a:r>
            <a:r>
              <a:rPr lang="en-US" altLang="zh-CN" sz="2000" b="1" i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X</a:t>
            </a:r>
            <a:r>
              <a:rPr lang="zh-CN" altLang="en-US" sz="2000" b="1" i="1">
                <a:solidFill>
                  <a:prstClr val="black"/>
                </a:solidFill>
                <a:latin typeface="华文楷体" pitchFamily="2" charset="-122"/>
              </a:rPr>
              <a:t> </a:t>
            </a:r>
            <a:r>
              <a:rPr lang="en-US" altLang="zh-CN" sz="20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)</a:t>
            </a:r>
            <a:r>
              <a:rPr lang="zh-CN" altLang="en-US" sz="2000" b="1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</a:rPr>
              <a:t>加入</a:t>
            </a:r>
            <a:r>
              <a:rPr lang="en-US" altLang="zh-CN" sz="2000" b="1" i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C</a:t>
            </a:r>
            <a:r>
              <a:rPr lang="zh-CN" altLang="en-US" sz="2000" b="1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</a:rPr>
              <a:t>中</a:t>
            </a:r>
            <a:r>
              <a:rPr lang="zh-CN" altLang="en-US" sz="20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；</a:t>
            </a:r>
          </a:p>
          <a:p>
            <a:pPr marL="273050" indent="-273050" eaLnBrk="1" hangingPunct="1">
              <a:lnSpc>
                <a:spcPts val="18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zh-CN" altLang="en-US" sz="2000" b="1">
                <a:solidFill>
                  <a:prstClr val="black"/>
                </a:solidFill>
                <a:latin typeface="Times New Roman" pitchFamily="18" charset="0"/>
              </a:rPr>
              <a:t>         </a:t>
            </a:r>
            <a:r>
              <a:rPr lang="en-US" altLang="zh-CN" sz="2000" b="1">
                <a:solidFill>
                  <a:prstClr val="black"/>
                </a:solidFill>
                <a:latin typeface="Times New Roman" pitchFamily="18" charset="0"/>
              </a:rPr>
              <a:t>until</a:t>
            </a:r>
            <a:r>
              <a:rPr lang="zh-CN" altLang="en-US" sz="2000" b="1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</a:rPr>
              <a:t>在某一轮中没有新的项集被加入到</a:t>
            </a:r>
            <a:r>
              <a:rPr lang="en-US" altLang="zh-CN" sz="2000" b="1" i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C</a:t>
            </a:r>
            <a:r>
              <a:rPr lang="zh-CN" altLang="en-US" sz="2000" b="1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</a:rPr>
              <a:t>中；</a:t>
            </a:r>
            <a:endParaRPr lang="en-US" altLang="zh-CN" sz="2000" b="1">
              <a:solidFill>
                <a:prstClr val="black"/>
              </a:solidFill>
              <a:latin typeface="华文楷体" pitchFamily="2" charset="-122"/>
              <a:ea typeface="华文楷体" pitchFamily="2" charset="-122"/>
            </a:endParaRPr>
          </a:p>
          <a:p>
            <a:pPr marL="273050" indent="-273050" eaLnBrk="1" hangingPunct="1">
              <a:lnSpc>
                <a:spcPts val="18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en-US" altLang="zh-CN" sz="20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}</a:t>
            </a:r>
          </a:p>
        </p:txBody>
      </p:sp>
      <p:sp>
        <p:nvSpPr>
          <p:cNvPr id="98309" name="矩形 1"/>
          <p:cNvSpPr>
            <a:spLocks noChangeArrowheads="1"/>
          </p:cNvSpPr>
          <p:nvPr/>
        </p:nvSpPr>
        <p:spPr bwMode="auto">
          <a:xfrm>
            <a:off x="1244600" y="1519238"/>
            <a:ext cx="6481763" cy="4762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3032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lnSpc>
                <a:spcPts val="3000"/>
              </a:lnSpc>
              <a:spcBef>
                <a:spcPct val="20000"/>
              </a:spcBef>
              <a:buClr>
                <a:srgbClr val="000000"/>
              </a:buClr>
              <a:buSzPct val="100000"/>
            </a:pP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C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={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2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}∪{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 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| 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J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∈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C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 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X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∈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22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∪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22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zh-CN" altLang="en-US" sz="22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 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GOTO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J</a:t>
            </a:r>
            <a:r>
              <a:rPr lang="zh-CN" altLang="en-US" sz="22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</a:t>
            </a:r>
            <a:r>
              <a:rPr lang="zh-CN" altLang="en-US" sz="22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X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 }</a:t>
            </a:r>
            <a:endParaRPr lang="en-US" altLang="zh-CN" sz="22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8310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E210CEA-1D73-4B46-8C8E-1116443771F2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27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内容占位符 2"/>
          <p:cNvSpPr>
            <a:spLocks noGrp="1"/>
          </p:cNvSpPr>
          <p:nvPr>
            <p:ph idx="1"/>
          </p:nvPr>
        </p:nvSpPr>
        <p:spPr>
          <a:xfrm>
            <a:off x="285750" y="857250"/>
            <a:ext cx="8699500" cy="3225800"/>
          </a:xfrm>
        </p:spPr>
        <p:txBody>
          <a:bodyPr/>
          <a:lstStyle/>
          <a:p>
            <a:pPr eaLnBrk="1" hangingPunct="1">
              <a:lnSpc>
                <a:spcPts val="33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构造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G'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的规范</a:t>
            </a:r>
            <a:r>
              <a:rPr lang="en-US" altLang="zh-CN" sz="2500" b="1" i="1" dirty="0">
                <a:solidFill>
                  <a:srgbClr val="2D83F4"/>
                </a:solidFill>
                <a:cs typeface="楷体_GB2312"/>
              </a:rPr>
              <a:t>LR</a:t>
            </a:r>
            <a:r>
              <a:rPr lang="en-US" altLang="zh-CN" sz="2500" b="1" dirty="0">
                <a:solidFill>
                  <a:srgbClr val="2D83F4"/>
                </a:solidFill>
                <a:cs typeface="楷体_GB2312"/>
              </a:rPr>
              <a:t>(0)</a:t>
            </a:r>
            <a:r>
              <a:rPr lang="zh-CN" altLang="en-US" sz="2500" b="1" dirty="0">
                <a:solidFill>
                  <a:schemeClr val="tx1"/>
                </a:solidFill>
                <a:cs typeface="楷体_GB2312"/>
              </a:rPr>
              <a:t>项集族</a:t>
            </a:r>
            <a:r>
              <a:rPr lang="en-US" altLang="zh-CN" sz="2500" b="1" i="1" dirty="0">
                <a:solidFill>
                  <a:schemeClr val="tx1"/>
                </a:solidFill>
                <a:cs typeface="楷体_GB2312"/>
              </a:rPr>
              <a:t>C </a:t>
            </a:r>
            <a:r>
              <a:rPr lang="en-US" altLang="zh-CN" sz="2500" b="1" dirty="0">
                <a:solidFill>
                  <a:schemeClr val="tx1"/>
                </a:solidFill>
                <a:cs typeface="楷体_GB2312"/>
              </a:rPr>
              <a:t>= { </a:t>
            </a:r>
            <a:r>
              <a:rPr lang="en-US" altLang="zh-CN" sz="2500" b="1" i="1" dirty="0">
                <a:solidFill>
                  <a:schemeClr val="tx1"/>
                </a:solidFill>
                <a:cs typeface="楷体_GB2312"/>
              </a:rPr>
              <a:t>I</a:t>
            </a:r>
            <a:r>
              <a:rPr lang="en-US" altLang="zh-CN" sz="2500" b="1" baseline="-25000" dirty="0">
                <a:solidFill>
                  <a:schemeClr val="tx1"/>
                </a:solidFill>
                <a:cs typeface="楷体_GB2312"/>
              </a:rPr>
              <a:t>0</a:t>
            </a:r>
            <a:r>
              <a:rPr lang="en-US" altLang="zh-CN" sz="2500" b="1" dirty="0">
                <a:solidFill>
                  <a:schemeClr val="tx1"/>
                </a:solidFill>
                <a:cs typeface="楷体_GB2312"/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  <a:cs typeface="楷体_GB2312"/>
              </a:rPr>
              <a:t>I</a:t>
            </a:r>
            <a:r>
              <a:rPr lang="en-US" altLang="zh-CN" sz="2500" b="1" baseline="-25000" dirty="0">
                <a:solidFill>
                  <a:schemeClr val="tx1"/>
                </a:solidFill>
                <a:cs typeface="楷体_GB2312"/>
              </a:rPr>
              <a:t>1</a:t>
            </a:r>
            <a:r>
              <a:rPr lang="en-US" altLang="zh-CN" sz="2500" b="1" dirty="0">
                <a:solidFill>
                  <a:schemeClr val="tx1"/>
                </a:solidFill>
                <a:cs typeface="楷体_GB2312"/>
              </a:rPr>
              <a:t>, … , </a:t>
            </a:r>
            <a:r>
              <a:rPr lang="en-US" altLang="zh-CN" sz="2500" b="1" i="1" dirty="0">
                <a:solidFill>
                  <a:schemeClr val="tx1"/>
                </a:solidFill>
                <a:cs typeface="楷体_GB2312"/>
              </a:rPr>
              <a:t>I</a:t>
            </a:r>
            <a:r>
              <a:rPr lang="en-US" altLang="zh-CN" sz="2500" b="1" i="1" baseline="-25000" dirty="0">
                <a:solidFill>
                  <a:schemeClr val="tx1"/>
                </a:solidFill>
                <a:cs typeface="楷体_GB2312"/>
              </a:rPr>
              <a:t>n</a:t>
            </a:r>
            <a:r>
              <a:rPr lang="en-US" altLang="zh-CN" sz="2500" b="1" dirty="0">
                <a:solidFill>
                  <a:schemeClr val="tx1"/>
                </a:solidFill>
                <a:cs typeface="楷体_GB2312"/>
              </a:rPr>
              <a:t>}</a:t>
            </a:r>
          </a:p>
          <a:p>
            <a:pPr eaLnBrk="1" hangingPunct="1">
              <a:lnSpc>
                <a:spcPts val="33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cs typeface="楷体_GB2312"/>
              </a:rPr>
              <a:t>令</a:t>
            </a:r>
            <a:r>
              <a:rPr lang="en-US" altLang="zh-CN" sz="2500" b="1" i="1" dirty="0">
                <a:solidFill>
                  <a:schemeClr val="tx1"/>
                </a:solidFill>
                <a:cs typeface="楷体_GB2312"/>
              </a:rPr>
              <a:t>I</a:t>
            </a:r>
            <a:r>
              <a:rPr lang="en-US" altLang="zh-CN" sz="2500" b="1" i="1" baseline="-25000" dirty="0">
                <a:solidFill>
                  <a:schemeClr val="tx1"/>
                </a:solidFill>
                <a:cs typeface="楷体_GB2312"/>
              </a:rPr>
              <a:t>i</a:t>
            </a:r>
            <a:r>
              <a:rPr lang="zh-CN" altLang="en-US" sz="2500" b="1" dirty="0">
                <a:solidFill>
                  <a:schemeClr val="tx1"/>
                </a:solidFill>
                <a:cs typeface="楷体_GB2312"/>
              </a:rPr>
              <a:t>对应状态</a:t>
            </a:r>
            <a:r>
              <a:rPr lang="en-US" altLang="zh-CN" sz="2500" b="1" i="1" dirty="0" err="1">
                <a:solidFill>
                  <a:schemeClr val="tx1"/>
                </a:solidFill>
                <a:cs typeface="楷体_GB2312"/>
              </a:rPr>
              <a:t>i</a:t>
            </a:r>
            <a:r>
              <a:rPr lang="zh-CN" altLang="en-US" sz="2500" b="1" dirty="0">
                <a:solidFill>
                  <a:schemeClr val="tx1"/>
                </a:solidFill>
                <a:cs typeface="楷体_GB2312"/>
              </a:rPr>
              <a:t>。状态</a:t>
            </a:r>
            <a:r>
              <a:rPr lang="en-US" altLang="zh-CN" sz="2500" b="1" i="1" dirty="0" err="1">
                <a:solidFill>
                  <a:schemeClr val="tx1"/>
                </a:solidFill>
                <a:cs typeface="楷体_GB2312"/>
              </a:rPr>
              <a:t>i</a:t>
            </a:r>
            <a:r>
              <a:rPr lang="zh-CN" altLang="en-US" sz="2500" b="1" dirty="0">
                <a:solidFill>
                  <a:schemeClr val="tx1"/>
                </a:solidFill>
                <a:cs typeface="楷体_GB2312"/>
              </a:rPr>
              <a:t>的语法分析动作按照下面的方法决定：</a:t>
            </a:r>
            <a:endParaRPr lang="en-US" altLang="zh-CN" sz="2500" b="1" dirty="0">
              <a:solidFill>
                <a:schemeClr val="tx1"/>
              </a:solidFill>
              <a:cs typeface="楷体_GB2312"/>
            </a:endParaRPr>
          </a:p>
          <a:p>
            <a:pPr lvl="1" eaLnBrk="1" hangingPunct="1">
              <a:lnSpc>
                <a:spcPts val="33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b="1" i="1" dirty="0">
                <a:solidFill>
                  <a:srgbClr val="2D83F4"/>
                </a:solidFill>
                <a:cs typeface="楷体_GB2312"/>
              </a:rPr>
              <a:t> if </a:t>
            </a:r>
            <a:r>
              <a:rPr lang="en-US" altLang="zh-CN" b="1" i="1" dirty="0">
                <a:solidFill>
                  <a:schemeClr val="tx1"/>
                </a:solidFill>
                <a:cs typeface="楷体_GB231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cs typeface="楷体_GB2312"/>
              </a:rPr>
              <a:t>→</a:t>
            </a:r>
            <a:r>
              <a:rPr lang="en-US" altLang="zh-CN" b="1" i="1" dirty="0">
                <a:solidFill>
                  <a:schemeClr val="tx1"/>
                </a:solidFill>
                <a:cs typeface="楷体_GB2312"/>
              </a:rPr>
              <a:t>α</a:t>
            </a:r>
            <a:r>
              <a:rPr lang="en-US" altLang="zh-CN" b="1" dirty="0">
                <a:solidFill>
                  <a:schemeClr val="tx1"/>
                </a:solidFill>
                <a:cs typeface="楷体_GB2312"/>
              </a:rPr>
              <a:t>·a</a:t>
            </a:r>
            <a:r>
              <a:rPr lang="en-US" altLang="zh-CN" b="1" i="1" dirty="0">
                <a:solidFill>
                  <a:schemeClr val="tx1"/>
                </a:solidFill>
                <a:cs typeface="楷体_GB2312"/>
              </a:rPr>
              <a:t>β</a:t>
            </a:r>
            <a:r>
              <a:rPr lang="en-US" altLang="zh-CN" b="1" dirty="0">
                <a:solidFill>
                  <a:schemeClr val="tx1"/>
                </a:solidFill>
                <a:cs typeface="楷体_GB2312"/>
              </a:rPr>
              <a:t>∈</a:t>
            </a:r>
            <a:r>
              <a:rPr lang="en-US" altLang="zh-CN" b="1" i="1" dirty="0">
                <a:solidFill>
                  <a:schemeClr val="tx1"/>
                </a:solidFill>
                <a:cs typeface="楷体_GB2312"/>
              </a:rPr>
              <a:t>I</a:t>
            </a:r>
            <a:r>
              <a:rPr lang="en-US" altLang="zh-CN" b="1" i="1" baseline="-25000" dirty="0">
                <a:solidFill>
                  <a:schemeClr val="tx1"/>
                </a:solidFill>
                <a:cs typeface="楷体_GB2312"/>
              </a:rPr>
              <a:t>i</a:t>
            </a:r>
            <a:r>
              <a:rPr lang="en-US" altLang="zh-CN" b="1" baseline="-25000" dirty="0">
                <a:solidFill>
                  <a:schemeClr val="tx1"/>
                </a:solidFill>
                <a:cs typeface="楷体_GB231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楷体_GB2312"/>
              </a:rPr>
              <a:t>and GOTO</a:t>
            </a:r>
            <a:r>
              <a:rPr lang="en-US" altLang="zh-CN" b="1" dirty="0">
                <a:solidFill>
                  <a:schemeClr val="tx1"/>
                </a:solidFill>
                <a:cs typeface="楷体_GB2312"/>
              </a:rPr>
              <a:t>( </a:t>
            </a:r>
            <a:r>
              <a:rPr lang="en-US" altLang="zh-CN" b="1" i="1" dirty="0">
                <a:solidFill>
                  <a:schemeClr val="tx1"/>
                </a:solidFill>
                <a:cs typeface="楷体_GB2312"/>
              </a:rPr>
              <a:t>I</a:t>
            </a:r>
            <a:r>
              <a:rPr lang="en-US" altLang="zh-CN" b="1" i="1" baseline="-25000" dirty="0">
                <a:solidFill>
                  <a:schemeClr val="tx1"/>
                </a:solidFill>
                <a:cs typeface="楷体_GB2312"/>
              </a:rPr>
              <a:t>i</a:t>
            </a:r>
            <a:r>
              <a:rPr lang="zh-CN" altLang="en-US" b="1" i="1" baseline="-25000" dirty="0">
                <a:solidFill>
                  <a:schemeClr val="tx1"/>
                </a:solidFill>
                <a:cs typeface="楷体_GB231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楷体_GB2312"/>
              </a:rPr>
              <a:t>, a )=</a:t>
            </a:r>
            <a:r>
              <a:rPr lang="en-US" altLang="zh-CN" b="1" i="1" dirty="0" err="1">
                <a:solidFill>
                  <a:schemeClr val="tx1"/>
                </a:solidFill>
                <a:cs typeface="楷体_GB2312"/>
              </a:rPr>
              <a:t>I</a:t>
            </a:r>
            <a:r>
              <a:rPr lang="en-US" altLang="zh-CN" b="1" i="1" baseline="-25000" dirty="0" err="1">
                <a:solidFill>
                  <a:schemeClr val="tx1"/>
                </a:solidFill>
                <a:cs typeface="楷体_GB2312"/>
              </a:rPr>
              <a:t>j</a:t>
            </a:r>
            <a:r>
              <a:rPr lang="en-US" altLang="zh-CN" b="1" baseline="-25000" dirty="0">
                <a:solidFill>
                  <a:schemeClr val="tx1"/>
                </a:solidFill>
                <a:cs typeface="楷体_GB2312"/>
              </a:rPr>
              <a:t> </a:t>
            </a:r>
            <a:r>
              <a:rPr lang="en-US" altLang="zh-CN" b="1" i="1" dirty="0">
                <a:solidFill>
                  <a:srgbClr val="2D83F4"/>
                </a:solidFill>
                <a:cs typeface="楷体_GB2312"/>
              </a:rPr>
              <a:t>then </a:t>
            </a:r>
            <a:r>
              <a:rPr lang="en-US" altLang="zh-CN" b="1" i="1" dirty="0">
                <a:solidFill>
                  <a:schemeClr val="tx1"/>
                </a:solidFill>
                <a:cs typeface="楷体_GB2312"/>
              </a:rPr>
              <a:t>ACTION</a:t>
            </a:r>
            <a:r>
              <a:rPr lang="en-US" altLang="zh-CN" b="1" dirty="0">
                <a:solidFill>
                  <a:schemeClr val="tx1"/>
                </a:solidFill>
                <a:cs typeface="楷体_GB2312"/>
              </a:rPr>
              <a:t>[ </a:t>
            </a:r>
            <a:r>
              <a:rPr lang="en-US" altLang="zh-CN" b="1" i="1" dirty="0" err="1">
                <a:solidFill>
                  <a:schemeClr val="tx1"/>
                </a:solidFill>
                <a:cs typeface="楷体_GB2312"/>
              </a:rPr>
              <a:t>i</a:t>
            </a:r>
            <a:r>
              <a:rPr lang="en-US" altLang="zh-CN" b="1" dirty="0">
                <a:solidFill>
                  <a:schemeClr val="tx1"/>
                </a:solidFill>
                <a:cs typeface="楷体_GB2312"/>
              </a:rPr>
              <a:t>, a ]=</a:t>
            </a:r>
            <a:r>
              <a:rPr lang="en-US" altLang="zh-CN" b="1" dirty="0" err="1">
                <a:solidFill>
                  <a:schemeClr val="tx1"/>
                </a:solidFill>
                <a:cs typeface="楷体_GB2312"/>
              </a:rPr>
              <a:t>sj</a:t>
            </a:r>
            <a:r>
              <a:rPr lang="en-US" altLang="zh-CN" b="1" baseline="-25000" dirty="0">
                <a:solidFill>
                  <a:schemeClr val="tx1"/>
                </a:solidFill>
                <a:cs typeface="楷体_GB2312"/>
              </a:rPr>
              <a:t> </a:t>
            </a:r>
            <a:endParaRPr lang="en-US" altLang="zh-CN" b="1" dirty="0">
              <a:solidFill>
                <a:schemeClr val="tx1"/>
              </a:solidFill>
              <a:cs typeface="楷体_GB2312"/>
            </a:endParaRPr>
          </a:p>
          <a:p>
            <a:pPr lvl="1" eaLnBrk="1" hangingPunct="1">
              <a:lnSpc>
                <a:spcPts val="33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b="1" i="1" dirty="0">
                <a:solidFill>
                  <a:srgbClr val="2D83F4"/>
                </a:solidFill>
                <a:cs typeface="楷体_GB2312"/>
              </a:rPr>
              <a:t> </a:t>
            </a:r>
            <a:r>
              <a:rPr lang="en-US" altLang="zh-CN" b="1" i="1" dirty="0">
                <a:solidFill>
                  <a:srgbClr val="2D83F4"/>
                </a:solidFill>
                <a:ea typeface="楷体_GB2312"/>
                <a:cs typeface="楷体_GB2312"/>
              </a:rPr>
              <a:t>if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→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α</a:t>
            </a:r>
            <a:r>
              <a:rPr lang="en-US" altLang="zh-CN" b="1" dirty="0">
                <a:solidFill>
                  <a:schemeClr val="tx1"/>
                </a:solidFill>
                <a:cs typeface="楷体_GB2312"/>
              </a:rPr>
              <a:t>·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Bβ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∈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and GOTO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(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zh-CN" altLang="en-US" b="1" i="1" baseline="-25000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B 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)=</a:t>
            </a:r>
            <a:r>
              <a:rPr lang="en-US" altLang="zh-CN" b="1" i="1" dirty="0" err="1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b="1" i="1" baseline="-25000" dirty="0" err="1">
                <a:solidFill>
                  <a:schemeClr val="tx1"/>
                </a:solidFill>
                <a:ea typeface="楷体_GB2312"/>
                <a:cs typeface="楷体_GB2312"/>
              </a:rPr>
              <a:t>j</a:t>
            </a:r>
            <a:r>
              <a:rPr lang="en-US" altLang="zh-CN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b="1" i="1" dirty="0">
                <a:solidFill>
                  <a:srgbClr val="2D83F4"/>
                </a:solidFill>
                <a:ea typeface="楷体_GB2312"/>
                <a:cs typeface="楷体_GB2312"/>
              </a:rPr>
              <a:t>then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 GOTO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[ </a:t>
            </a:r>
            <a:r>
              <a:rPr lang="en-US" altLang="zh-CN" b="1" i="1" dirty="0" err="1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B 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]=j</a:t>
            </a:r>
            <a:r>
              <a:rPr lang="en-US" altLang="zh-CN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endParaRPr lang="en-US" altLang="zh-CN" b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33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b="1" i="1" dirty="0">
                <a:solidFill>
                  <a:srgbClr val="2D83F4"/>
                </a:solidFill>
              </a:rPr>
              <a:t> if</a:t>
            </a:r>
            <a:r>
              <a:rPr lang="en-US" altLang="zh-CN" b="1" dirty="0">
                <a:solidFill>
                  <a:srgbClr val="2D83F4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b="1" dirty="0">
                <a:solidFill>
                  <a:schemeClr val="tx1"/>
                </a:solidFill>
              </a:rPr>
              <a:t>→</a:t>
            </a:r>
            <a:r>
              <a:rPr lang="en-US" altLang="zh-CN" b="1" i="1" dirty="0">
                <a:solidFill>
                  <a:schemeClr val="tx1"/>
                </a:solidFill>
              </a:rPr>
              <a:t>α</a:t>
            </a:r>
            <a:r>
              <a:rPr lang="en-US" altLang="zh-CN" b="1" dirty="0">
                <a:solidFill>
                  <a:schemeClr val="tx1"/>
                </a:solidFill>
              </a:rPr>
              <a:t>·∈</a:t>
            </a:r>
            <a:r>
              <a:rPr lang="en-US" altLang="zh-CN" b="1" i="1" dirty="0">
                <a:solidFill>
                  <a:schemeClr val="tx1"/>
                </a:solidFill>
              </a:rPr>
              <a:t>I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i</a:t>
            </a:r>
            <a:r>
              <a:rPr lang="en-US" altLang="zh-CN" b="1" dirty="0">
                <a:solidFill>
                  <a:schemeClr val="tx1"/>
                </a:solidFill>
              </a:rPr>
              <a:t> </a:t>
            </a:r>
            <a:r>
              <a:rPr lang="zh-CN" altLang="en-US" sz="2500" b="1" dirty="0">
                <a:solidFill>
                  <a:schemeClr val="tx1"/>
                </a:solidFill>
              </a:rPr>
              <a:t>且</a:t>
            </a:r>
            <a:r>
              <a:rPr lang="en-US" altLang="zh-CN" b="1" i="1" dirty="0">
                <a:solidFill>
                  <a:schemeClr val="tx1"/>
                </a:solidFill>
              </a:rPr>
              <a:t>A </a:t>
            </a:r>
            <a:r>
              <a:rPr lang="en-US" altLang="zh-CN" b="1" dirty="0">
                <a:solidFill>
                  <a:schemeClr val="tx1"/>
                </a:solidFill>
              </a:rPr>
              <a:t>≠ </a:t>
            </a:r>
            <a:r>
              <a:rPr lang="en-US" altLang="zh-CN" b="1" i="1" dirty="0">
                <a:solidFill>
                  <a:schemeClr val="tx1"/>
                </a:solidFill>
              </a:rPr>
              <a:t>S' </a:t>
            </a:r>
            <a:r>
              <a:rPr lang="en-US" altLang="zh-CN" b="1" i="1" dirty="0">
                <a:solidFill>
                  <a:srgbClr val="2D83F4"/>
                </a:solidFill>
              </a:rPr>
              <a:t>then</a:t>
            </a:r>
            <a:r>
              <a:rPr lang="en-US" altLang="zh-CN" b="1" i="1" dirty="0">
                <a:solidFill>
                  <a:schemeClr val="tx1"/>
                </a:solidFill>
              </a:rPr>
              <a:t> for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</a:t>
            </a:r>
            <a:r>
              <a:rPr lang="en-US" altLang="zh-CN" b="1" dirty="0" err="1">
                <a:solidFill>
                  <a:schemeClr val="tx1"/>
                </a:solidFill>
              </a:rPr>
              <a:t>a∈</a:t>
            </a:r>
            <a:r>
              <a:rPr lang="en-US" altLang="zh-CN" b="1" i="1" dirty="0" err="1">
                <a:solidFill>
                  <a:schemeClr val="tx1"/>
                </a:solidFill>
              </a:rPr>
              <a:t>V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T</a:t>
            </a:r>
            <a:r>
              <a:rPr lang="en-US" altLang="zh-CN" b="1" dirty="0">
                <a:solidFill>
                  <a:schemeClr val="tx1"/>
                </a:solidFill>
              </a:rPr>
              <a:t>∪{</a:t>
            </a:r>
            <a:r>
              <a:rPr lang="en-US" altLang="zh-CN" b="1" dirty="0">
                <a:solidFill>
                  <a:schemeClr val="tx1"/>
                </a:solidFill>
                <a:latin typeface="华文楷体" panose="02010600040101010101" pitchFamily="2" charset="-122"/>
              </a:rPr>
              <a:t>$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}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do ACTION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[ </a:t>
            </a:r>
            <a:r>
              <a:rPr lang="en-US" altLang="zh-CN" b="1" i="1" dirty="0" err="1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, a ]=</a:t>
            </a:r>
            <a:r>
              <a:rPr lang="en-US" altLang="zh-CN" b="1" dirty="0" err="1">
                <a:solidFill>
                  <a:schemeClr val="tx1"/>
                </a:solidFill>
                <a:ea typeface="楷体_GB2312"/>
                <a:cs typeface="楷体_GB2312"/>
              </a:rPr>
              <a:t>rj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楷体_GB2312"/>
                <a:cs typeface="楷体_GB2312"/>
              </a:rPr>
              <a:t>（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j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pitchFamily="2" charset="-122"/>
              </a:rPr>
              <a:t>是产生式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→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α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pitchFamily="2" charset="-122"/>
              </a:rPr>
              <a:t>的编号</a:t>
            </a:r>
            <a:r>
              <a:rPr lang="zh-CN" altLang="en-US" b="1" dirty="0">
                <a:solidFill>
                  <a:schemeClr val="tx1"/>
                </a:solidFill>
                <a:ea typeface="楷体_GB2312"/>
                <a:cs typeface="楷体_GB2312"/>
              </a:rPr>
              <a:t>）</a:t>
            </a:r>
            <a:endParaRPr lang="en-US" altLang="zh-CN" b="1" i="1" dirty="0">
              <a:solidFill>
                <a:srgbClr val="2D83F4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33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b="1" i="1" dirty="0">
                <a:solidFill>
                  <a:srgbClr val="2D83F4"/>
                </a:solidFill>
                <a:ea typeface="楷体_GB2312"/>
                <a:cs typeface="楷体_GB2312"/>
              </a:rPr>
              <a:t>if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S'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→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S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· ∈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b="1" i="1" dirty="0">
                <a:solidFill>
                  <a:srgbClr val="2D83F4"/>
                </a:solidFill>
                <a:ea typeface="楷体_GB2312"/>
                <a:cs typeface="楷体_GB2312"/>
              </a:rPr>
              <a:t>then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ACTION 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[ </a:t>
            </a:r>
            <a:r>
              <a:rPr lang="en-US" altLang="zh-CN" b="1" i="1" dirty="0" err="1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, </a:t>
            </a:r>
            <a:r>
              <a:rPr lang="en-US" altLang="zh-CN" b="1" dirty="0">
                <a:solidFill>
                  <a:schemeClr val="tx1"/>
                </a:solidFill>
                <a:latin typeface="华文楷体" panose="02010600040101010101" pitchFamily="2" charset="-122"/>
              </a:rPr>
              <a:t>$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 ]=</a:t>
            </a:r>
            <a:r>
              <a:rPr lang="en-US" altLang="zh-CN" b="1" i="1" dirty="0" err="1">
                <a:solidFill>
                  <a:schemeClr val="tx1"/>
                </a:solidFill>
                <a:ea typeface="楷体_GB2312"/>
                <a:cs typeface="楷体_GB2312"/>
              </a:rPr>
              <a:t>acc</a:t>
            </a:r>
            <a:endParaRPr lang="en-US" altLang="zh-CN" b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eaLnBrk="1" hangingPunct="1">
              <a:lnSpc>
                <a:spcPts val="33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</a:rPr>
              <a:t>没有定义的所有条目都设置为</a:t>
            </a:r>
            <a:r>
              <a:rPr lang="en-US" altLang="zh-CN" sz="2500" b="1" dirty="0">
                <a:solidFill>
                  <a:schemeClr val="tx1"/>
                </a:solidFill>
              </a:rPr>
              <a:t>“</a:t>
            </a:r>
            <a:r>
              <a:rPr lang="en-US" altLang="zh-CN" sz="2500" b="1" i="1" dirty="0">
                <a:solidFill>
                  <a:schemeClr val="tx1"/>
                </a:solidFill>
              </a:rPr>
              <a:t>error</a:t>
            </a:r>
            <a:r>
              <a:rPr lang="en-US" altLang="zh-CN" sz="2500" b="1" dirty="0">
                <a:solidFill>
                  <a:schemeClr val="tx1"/>
                </a:solidFill>
              </a:rPr>
              <a:t>”</a:t>
            </a:r>
            <a:endParaRPr lang="en-US" altLang="zh-CN" sz="2500" b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eaLnBrk="1" hangingPunct="1">
              <a:lnSpc>
                <a:spcPts val="3300"/>
              </a:lnSpc>
            </a:pPr>
            <a:endParaRPr lang="zh-CN" altLang="en-US" sz="2000" dirty="0"/>
          </a:p>
        </p:txBody>
      </p:sp>
      <p:sp>
        <p:nvSpPr>
          <p:cNvPr id="100355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 dirty="0">
                <a:solidFill>
                  <a:schemeClr val="tx1"/>
                </a:solidFill>
              </a:rPr>
              <a:t>LR</a:t>
            </a:r>
            <a:r>
              <a:rPr lang="en-US" altLang="zh-CN" sz="3000" dirty="0">
                <a:solidFill>
                  <a:schemeClr val="tx1"/>
                </a:solidFill>
              </a:rPr>
              <a:t>(0)</a:t>
            </a:r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分析表构造算法</a:t>
            </a:r>
          </a:p>
        </p:txBody>
      </p:sp>
      <p:sp>
        <p:nvSpPr>
          <p:cNvPr id="100356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4CDC533-1028-42E1-BC39-28C7C0A0F29E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28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内容占位符 2"/>
          <p:cNvSpPr>
            <a:spLocks noGrp="1"/>
          </p:cNvSpPr>
          <p:nvPr>
            <p:ph idx="1"/>
          </p:nvPr>
        </p:nvSpPr>
        <p:spPr>
          <a:xfrm>
            <a:off x="0" y="785813"/>
            <a:ext cx="8807450" cy="3225800"/>
          </a:xfrm>
        </p:spPr>
        <p:txBody>
          <a:bodyPr/>
          <a:lstStyle/>
          <a:p>
            <a:pPr lvl="1" eaLnBrk="1" hangingPunct="1">
              <a:lnSpc>
                <a:spcPts val="4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3000" b="1">
                <a:solidFill>
                  <a:schemeClr val="tx1"/>
                </a:solidFill>
                <a:cs typeface="Times New Roman" panose="02020603050405020304" pitchFamily="18" charset="0"/>
              </a:rPr>
              <a:t>文法</a:t>
            </a:r>
            <a:endParaRPr lang="en-US" altLang="zh-CN" sz="30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ctr"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lang="en-US" altLang="zh-CN" sz="3000" b="1" i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G </a:t>
            </a:r>
            <a:r>
              <a:rPr lang="en-US" altLang="zh-CN" sz="3000" b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= ( </a:t>
            </a:r>
            <a:r>
              <a:rPr lang="en-US" altLang="zh-CN" sz="3000" b="1" i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3000" b="1" i="1" baseline="-2500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3000" b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 , </a:t>
            </a:r>
            <a:r>
              <a:rPr lang="en-US" altLang="zh-CN" sz="3000" b="1" i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3000" b="1" i="1" baseline="-2500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3000" b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 , </a:t>
            </a:r>
            <a:r>
              <a:rPr lang="en-US" altLang="zh-CN" sz="3000" b="1" i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P</a:t>
            </a:r>
            <a:r>
              <a:rPr lang="en-US" altLang="zh-CN" sz="3000" b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 , </a:t>
            </a:r>
            <a:r>
              <a:rPr lang="en-US" altLang="zh-CN" sz="3000" b="1" i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3000" b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 )</a:t>
            </a:r>
          </a:p>
          <a:p>
            <a:pPr lvl="1" eaLnBrk="1" hangingPunct="1">
              <a:lnSpc>
                <a:spcPts val="4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3000" b="1" i="1">
                <a:solidFill>
                  <a:schemeClr val="tx1"/>
                </a:solidFill>
                <a:cs typeface="Times New Roman" panose="02020603050405020304" pitchFamily="18" charset="0"/>
              </a:rPr>
              <a:t>LR</a:t>
            </a:r>
            <a:r>
              <a:rPr lang="en-US" altLang="zh-CN" sz="3000" b="1">
                <a:solidFill>
                  <a:schemeClr val="tx1"/>
                </a:solidFill>
                <a:cs typeface="Times New Roman" panose="02020603050405020304" pitchFamily="18" charset="0"/>
              </a:rPr>
              <a:t>(0)</a:t>
            </a:r>
            <a:r>
              <a:rPr lang="zh-CN" altLang="en-US" sz="3000" b="1">
                <a:solidFill>
                  <a:schemeClr val="tx1"/>
                </a:solidFill>
                <a:cs typeface="Times New Roman" panose="02020603050405020304" pitchFamily="18" charset="0"/>
              </a:rPr>
              <a:t>自动机</a:t>
            </a:r>
            <a:endParaRPr lang="en-US" altLang="zh-CN" sz="3000" b="1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ts val="4000"/>
              </a:lnSpc>
              <a:buFont typeface="Wingdings" panose="05000000000000000000" pitchFamily="2" charset="2"/>
              <a:buNone/>
            </a:pPr>
            <a:r>
              <a:rPr lang="en-US" altLang="zh-CN" sz="3000" b="1" i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M </a:t>
            </a:r>
            <a:r>
              <a:rPr lang="en-US" altLang="zh-CN" sz="3000" b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= ( </a:t>
            </a:r>
            <a:r>
              <a:rPr lang="en-US" altLang="zh-CN" sz="3000" b="1" i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C</a:t>
            </a:r>
            <a:r>
              <a:rPr lang="en-US" altLang="zh-CN" sz="3000" b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, </a:t>
            </a:r>
            <a:r>
              <a:rPr lang="en-US" altLang="zh-CN" sz="3000" b="1" i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3000" b="1" i="1" baseline="-2500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3000" b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∪</a:t>
            </a:r>
            <a:r>
              <a:rPr lang="en-US" altLang="zh-CN" sz="3000" b="1" i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3000" b="1" i="1" baseline="-2500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T </a:t>
            </a:r>
            <a:r>
              <a:rPr lang="en-US" altLang="zh-CN" sz="3000" b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, </a:t>
            </a:r>
            <a:r>
              <a:rPr lang="en-US" altLang="zh-CN" sz="3000" b="1" i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GOTO</a:t>
            </a:r>
            <a:r>
              <a:rPr lang="en-US" altLang="zh-CN" sz="3000" b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, </a:t>
            </a:r>
            <a:r>
              <a:rPr lang="en-US" altLang="zh-CN" sz="3000" b="1" i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3000" b="1" i="1" baseline="-2500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0 </a:t>
            </a:r>
            <a:r>
              <a:rPr lang="en-US" altLang="zh-CN" sz="3000" b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, </a:t>
            </a:r>
            <a:r>
              <a:rPr lang="en-US" altLang="zh-CN" sz="3000" b="1" i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F</a:t>
            </a:r>
            <a:r>
              <a:rPr lang="en-US" altLang="zh-CN" sz="3000" b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 )</a:t>
            </a:r>
          </a:p>
          <a:p>
            <a:pPr lvl="2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C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={</a:t>
            </a:r>
            <a:r>
              <a:rPr lang="en-US" altLang="zh-CN" sz="28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0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}∪{</a:t>
            </a:r>
            <a:r>
              <a:rPr lang="en-US" altLang="zh-CN" sz="28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 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| 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8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J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∈</a:t>
            </a:r>
            <a:r>
              <a:rPr lang="en-US" altLang="zh-CN" sz="28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C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, </a:t>
            </a:r>
            <a:r>
              <a:rPr lang="en-US" altLang="zh-CN" sz="28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∈</a:t>
            </a:r>
            <a:r>
              <a:rPr lang="en-US" altLang="zh-CN" sz="28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2800" b="1" i="1" baseline="-2500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∪</a:t>
            </a:r>
            <a:r>
              <a:rPr lang="en-US" altLang="zh-CN" sz="28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2800" b="1" i="1" baseline="-2500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, </a:t>
            </a:r>
            <a:r>
              <a:rPr lang="en-US" altLang="zh-CN" sz="28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=</a:t>
            </a:r>
            <a:r>
              <a:rPr lang="en-US" altLang="zh-CN" sz="28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GOTO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J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,</a:t>
            </a:r>
            <a:r>
              <a:rPr lang="en-US" altLang="zh-CN" sz="28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X 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) }</a:t>
            </a:r>
          </a:p>
          <a:p>
            <a:pPr lvl="2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0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=</a:t>
            </a:r>
            <a:r>
              <a:rPr lang="en-US" altLang="zh-CN" sz="28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CLOSURE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({</a:t>
            </a:r>
            <a:r>
              <a:rPr lang="en-US" altLang="zh-CN" sz="28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800" b="1" i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en-US" altLang="zh-CN" sz="2800" b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→.</a:t>
            </a:r>
            <a:r>
              <a:rPr lang="en-US" altLang="zh-CN" sz="28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 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})</a:t>
            </a:r>
          </a:p>
          <a:p>
            <a:pPr lvl="2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F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={ </a:t>
            </a:r>
            <a:r>
              <a:rPr lang="en-US" altLang="zh-CN" sz="28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CLOSURE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({</a:t>
            </a:r>
            <a:r>
              <a:rPr kumimoji="1" lang="en-US" altLang="zh-CN" sz="2800" b="1" i="1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sz="2800" b="1" i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′ </a:t>
            </a:r>
            <a:r>
              <a:rPr kumimoji="1" lang="en-US" altLang="zh-CN" sz="2800" b="1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kumimoji="1" lang="en-US" altLang="zh-CN" sz="2800" b="1" i="1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kumimoji="1" lang="en-US" altLang="zh-CN" sz="2800" b="1">
                <a:solidFill>
                  <a:schemeClr val="tx1"/>
                </a:solidFill>
                <a:cs typeface="Times New Roman" panose="02020603050405020304" pitchFamily="18" charset="0"/>
              </a:rPr>
              <a:t>.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}) }</a:t>
            </a:r>
            <a:endParaRPr lang="en-US" altLang="zh-CN" sz="2800" b="1">
              <a:solidFill>
                <a:schemeClr val="tx1"/>
              </a:solidFill>
            </a:endParaRPr>
          </a:p>
        </p:txBody>
      </p:sp>
      <p:sp>
        <p:nvSpPr>
          <p:cNvPr id="102403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</a:rPr>
              <a:t>LR</a:t>
            </a:r>
            <a:r>
              <a:rPr lang="en-US" altLang="zh-CN" sz="3000">
                <a:solidFill>
                  <a:schemeClr val="tx1"/>
                </a:solidFill>
              </a:rPr>
              <a:t>(0)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自动机的形式化定义</a:t>
            </a:r>
          </a:p>
        </p:txBody>
      </p:sp>
      <p:sp>
        <p:nvSpPr>
          <p:cNvPr id="102404" name="灯片编号占位符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9887C09-A20B-416D-86C8-F87C9C74B6D4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29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内容占位符 2"/>
          <p:cNvSpPr>
            <a:spLocks noGrp="1"/>
          </p:cNvSpPr>
          <p:nvPr>
            <p:ph idx="1"/>
          </p:nvPr>
        </p:nvSpPr>
        <p:spPr>
          <a:xfrm>
            <a:off x="442913" y="849313"/>
            <a:ext cx="1628775" cy="2701925"/>
          </a:xfr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anchor="ctr"/>
          <a:lstStyle/>
          <a:p>
            <a:pPr marL="0" indent="0" eaLnBrk="1" hangingPunct="1">
              <a:lnSpc>
                <a:spcPts val="2000"/>
              </a:lnSpc>
              <a:buClrTx/>
              <a:buFont typeface="Symbol" panose="05050102010706020507" pitchFamily="18" charset="2"/>
              <a:buNone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文法</a:t>
            </a:r>
            <a:endParaRPr lang="en-US" altLang="zh-CN" b="1" dirty="0">
              <a:solidFill>
                <a:schemeClr val="tx1"/>
              </a:solidFill>
              <a:cs typeface="Times New Roman" pitchFamily="18" charset="0"/>
            </a:endParaRPr>
          </a:p>
          <a:p>
            <a:pPr marL="0" indent="0" eaLnBrk="1" hangingPunct="1">
              <a:lnSpc>
                <a:spcPts val="2000"/>
              </a:lnSpc>
              <a:buClrTx/>
              <a:buFont typeface="Symbol" panose="05050102010706020507" pitchFamily="18" charset="2"/>
              <a:buNone/>
              <a:defRPr/>
            </a:pPr>
            <a:r>
              <a:rPr kumimoji="1"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(0)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E</a:t>
            </a:r>
            <a:r>
              <a:rPr lang="en-US" altLang="zh-CN" sz="2000" b="1" i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2000" b="1" i="1" dirty="0">
                <a:ea typeface="楷体" pitchFamily="49" charset="-122"/>
                <a:cs typeface="Times New Roman" pitchFamily="18" charset="0"/>
              </a:rPr>
              <a:t> 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→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E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 </a:t>
            </a:r>
          </a:p>
          <a:p>
            <a:pPr marL="0" indent="0" eaLnBrk="1" hangingPunct="1">
              <a:lnSpc>
                <a:spcPts val="2000"/>
              </a:lnSpc>
              <a:buClrTx/>
              <a:buFont typeface="Symbol" panose="05050102010706020507" pitchFamily="18" charset="2"/>
              <a:buNone/>
              <a:defRPr/>
            </a:pPr>
            <a:r>
              <a:rPr kumimoji="1" lang="en-US" altLang="zh-CN" sz="2000" b="1" dirty="0">
                <a:solidFill>
                  <a:schemeClr val="tx1"/>
                </a:solidFill>
              </a:rPr>
              <a:t>(1)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E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 →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E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+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T</a:t>
            </a:r>
          </a:p>
          <a:p>
            <a:pPr marL="0" indent="0" eaLnBrk="1" hangingPunct="1">
              <a:lnSpc>
                <a:spcPts val="2000"/>
              </a:lnSpc>
              <a:buClrTx/>
              <a:buFont typeface="Symbol" panose="05050102010706020507" pitchFamily="18" charset="2"/>
              <a:buNone/>
              <a:defRPr/>
            </a:pPr>
            <a:r>
              <a:rPr kumimoji="1" lang="en-US" altLang="zh-CN" sz="2000" b="1" dirty="0">
                <a:solidFill>
                  <a:schemeClr val="tx1"/>
                </a:solidFill>
              </a:rPr>
              <a:t>(2)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E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 →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T</a:t>
            </a:r>
          </a:p>
          <a:p>
            <a:pPr marL="0" indent="0" eaLnBrk="1" hangingPunct="1">
              <a:lnSpc>
                <a:spcPts val="2000"/>
              </a:lnSpc>
              <a:buClrTx/>
              <a:buFont typeface="Symbol" panose="05050102010706020507" pitchFamily="18" charset="2"/>
              <a:buNone/>
              <a:defRPr/>
            </a:pPr>
            <a:r>
              <a:rPr kumimoji="1" lang="en-US" altLang="zh-CN" sz="2000" b="1" dirty="0">
                <a:solidFill>
                  <a:schemeClr val="tx1"/>
                </a:solidFill>
              </a:rPr>
              <a:t>(3)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T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 →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T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*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F</a:t>
            </a:r>
          </a:p>
          <a:p>
            <a:pPr marL="0" indent="0" eaLnBrk="1" hangingPunct="1">
              <a:lnSpc>
                <a:spcPts val="2000"/>
              </a:lnSpc>
              <a:buClrTx/>
              <a:buFont typeface="Symbol" panose="05050102010706020507" pitchFamily="18" charset="2"/>
              <a:buNone/>
              <a:defRPr/>
            </a:pPr>
            <a:r>
              <a:rPr kumimoji="1" lang="en-US" altLang="zh-CN" sz="2000" b="1" dirty="0">
                <a:solidFill>
                  <a:schemeClr val="tx1"/>
                </a:solidFill>
              </a:rPr>
              <a:t>(4)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T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 →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F</a:t>
            </a:r>
          </a:p>
          <a:p>
            <a:pPr marL="0" indent="0" eaLnBrk="1" hangingPunct="1">
              <a:lnSpc>
                <a:spcPts val="2000"/>
              </a:lnSpc>
              <a:buClrTx/>
              <a:buFont typeface="Symbol" panose="05050102010706020507" pitchFamily="18" charset="2"/>
              <a:buNone/>
              <a:defRPr/>
            </a:pPr>
            <a:r>
              <a:rPr kumimoji="1" lang="en-US" altLang="zh-CN" sz="2000" b="1" dirty="0">
                <a:solidFill>
                  <a:schemeClr val="tx1"/>
                </a:solidFill>
              </a:rPr>
              <a:t>(5)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F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 → (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E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)</a:t>
            </a:r>
          </a:p>
          <a:p>
            <a:pPr marL="0" indent="0" eaLnBrk="1" hangingPunct="1">
              <a:lnSpc>
                <a:spcPts val="2000"/>
              </a:lnSpc>
              <a:buClrTx/>
              <a:buFont typeface="Symbol" panose="05050102010706020507" pitchFamily="18" charset="2"/>
              <a:buNone/>
              <a:defRPr/>
            </a:pPr>
            <a:r>
              <a:rPr kumimoji="1" lang="en-US" altLang="zh-CN" sz="2000" b="1" dirty="0">
                <a:solidFill>
                  <a:schemeClr val="tx1"/>
                </a:solidFill>
              </a:rPr>
              <a:t>(6)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F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 → id</a:t>
            </a:r>
          </a:p>
        </p:txBody>
      </p:sp>
      <p:sp>
        <p:nvSpPr>
          <p:cNvPr id="104451" name="标题 1"/>
          <p:cNvSpPr txBox="1">
            <a:spLocks/>
          </p:cNvSpPr>
          <p:nvPr/>
        </p:nvSpPr>
        <p:spPr bwMode="auto">
          <a:xfrm>
            <a:off x="690563" y="844550"/>
            <a:ext cx="793115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452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467360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</a:rPr>
              <a:t>LR</a:t>
            </a:r>
            <a:r>
              <a:rPr lang="en-US" altLang="zh-CN" sz="3000">
                <a:solidFill>
                  <a:schemeClr val="tx1"/>
                </a:solidFill>
              </a:rPr>
              <a:t>(0)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分析过程中的冲突</a:t>
            </a:r>
          </a:p>
        </p:txBody>
      </p:sp>
      <p:sp>
        <p:nvSpPr>
          <p:cNvPr id="63" name="矩形 62"/>
          <p:cNvSpPr>
            <a:spLocks noChangeArrowheads="1"/>
          </p:cNvSpPr>
          <p:nvPr/>
        </p:nvSpPr>
        <p:spPr bwMode="auto">
          <a:xfrm>
            <a:off x="214313" y="4357688"/>
            <a:ext cx="2357437" cy="461962"/>
          </a:xfrm>
          <a:prstGeom prst="rect">
            <a:avLst/>
          </a:prstGeom>
          <a:solidFill>
            <a:srgbClr val="FFCC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3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移进</a:t>
            </a:r>
            <a:r>
              <a:rPr lang="en-US" altLang="zh-CN" sz="23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/</a:t>
            </a:r>
            <a:r>
              <a:rPr lang="zh-CN" altLang="en-US" sz="23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归约冲突</a:t>
            </a:r>
          </a:p>
        </p:txBody>
      </p:sp>
      <p:sp>
        <p:nvSpPr>
          <p:cNvPr id="64" name="任意多边形 63"/>
          <p:cNvSpPr/>
          <p:nvPr/>
        </p:nvSpPr>
        <p:spPr>
          <a:xfrm>
            <a:off x="2571750" y="966788"/>
            <a:ext cx="6288088" cy="4117975"/>
          </a:xfrm>
          <a:custGeom>
            <a:avLst/>
            <a:gdLst>
              <a:gd name="connsiteX0" fmla="*/ 5697416 w 8383465"/>
              <a:gd name="connsiteY0" fmla="*/ 2930 h 5489330"/>
              <a:gd name="connsiteX1" fmla="*/ 6770077 w 8383465"/>
              <a:gd name="connsiteY1" fmla="*/ 20515 h 5489330"/>
              <a:gd name="connsiteX2" fmla="*/ 7429500 w 8383465"/>
              <a:gd name="connsiteY2" fmla="*/ 126023 h 5489330"/>
              <a:gd name="connsiteX3" fmla="*/ 8018585 w 8383465"/>
              <a:gd name="connsiteY3" fmla="*/ 574430 h 5489330"/>
              <a:gd name="connsiteX4" fmla="*/ 8326316 w 8383465"/>
              <a:gd name="connsiteY4" fmla="*/ 1471246 h 5489330"/>
              <a:gd name="connsiteX5" fmla="*/ 8317523 w 8383465"/>
              <a:gd name="connsiteY5" fmla="*/ 3968261 h 5489330"/>
              <a:gd name="connsiteX6" fmla="*/ 7930662 w 8383465"/>
              <a:gd name="connsiteY6" fmla="*/ 5146430 h 5489330"/>
              <a:gd name="connsiteX7" fmla="*/ 6761285 w 8383465"/>
              <a:gd name="connsiteY7" fmla="*/ 5427784 h 5489330"/>
              <a:gd name="connsiteX8" fmla="*/ 2233246 w 8383465"/>
              <a:gd name="connsiteY8" fmla="*/ 5462953 h 5489330"/>
              <a:gd name="connsiteX9" fmla="*/ 826477 w 8383465"/>
              <a:gd name="connsiteY9" fmla="*/ 5269523 h 5489330"/>
              <a:gd name="connsiteX10" fmla="*/ 0 w 8383465"/>
              <a:gd name="connsiteY10" fmla="*/ 4205653 h 5489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383465" h="5489330">
                <a:moveTo>
                  <a:pt x="5697416" y="2930"/>
                </a:moveTo>
                <a:cubicBezTo>
                  <a:pt x="6089406" y="1465"/>
                  <a:pt x="6481396" y="0"/>
                  <a:pt x="6770077" y="20515"/>
                </a:cubicBezTo>
                <a:cubicBezTo>
                  <a:pt x="7058758" y="41031"/>
                  <a:pt x="7221415" y="33704"/>
                  <a:pt x="7429500" y="126023"/>
                </a:cubicBezTo>
                <a:cubicBezTo>
                  <a:pt x="7637585" y="218342"/>
                  <a:pt x="7869116" y="350226"/>
                  <a:pt x="8018585" y="574430"/>
                </a:cubicBezTo>
                <a:cubicBezTo>
                  <a:pt x="8168054" y="798634"/>
                  <a:pt x="8276493" y="905607"/>
                  <a:pt x="8326316" y="1471246"/>
                </a:cubicBezTo>
                <a:cubicBezTo>
                  <a:pt x="8376139" y="2036885"/>
                  <a:pt x="8383465" y="3355730"/>
                  <a:pt x="8317523" y="3968261"/>
                </a:cubicBezTo>
                <a:cubicBezTo>
                  <a:pt x="8251581" y="4580792"/>
                  <a:pt x="8190035" y="4903176"/>
                  <a:pt x="7930662" y="5146430"/>
                </a:cubicBezTo>
                <a:cubicBezTo>
                  <a:pt x="7671289" y="5389684"/>
                  <a:pt x="7710854" y="5375030"/>
                  <a:pt x="6761285" y="5427784"/>
                </a:cubicBezTo>
                <a:cubicBezTo>
                  <a:pt x="5811716" y="5480538"/>
                  <a:pt x="3222381" y="5489330"/>
                  <a:pt x="2233246" y="5462953"/>
                </a:cubicBezTo>
                <a:cubicBezTo>
                  <a:pt x="1244111" y="5436576"/>
                  <a:pt x="1198685" y="5479073"/>
                  <a:pt x="826477" y="5269523"/>
                </a:cubicBezTo>
                <a:cubicBezTo>
                  <a:pt x="454269" y="5059973"/>
                  <a:pt x="227134" y="4632813"/>
                  <a:pt x="0" y="4205653"/>
                </a:cubicBezTo>
              </a:path>
            </a:pathLst>
          </a:cu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black"/>
              </a:solidFill>
            </a:endParaRPr>
          </a:p>
        </p:txBody>
      </p:sp>
      <p:grpSp>
        <p:nvGrpSpPr>
          <p:cNvPr id="104455" name="组合 1"/>
          <p:cNvGrpSpPr>
            <a:grpSpLocks/>
          </p:cNvGrpSpPr>
          <p:nvPr/>
        </p:nvGrpSpPr>
        <p:grpSpPr bwMode="auto">
          <a:xfrm>
            <a:off x="2205038" y="628650"/>
            <a:ext cx="6470650" cy="4287838"/>
            <a:chOff x="2204642" y="642490"/>
            <a:chExt cx="6471793" cy="4286713"/>
          </a:xfrm>
        </p:grpSpPr>
        <p:sp>
          <p:nvSpPr>
            <p:cNvPr id="104457" name="Freeform 27"/>
            <p:cNvSpPr>
              <a:spLocks/>
            </p:cNvSpPr>
            <p:nvPr/>
          </p:nvSpPr>
          <p:spPr bwMode="auto">
            <a:xfrm>
              <a:off x="4807592" y="2144636"/>
              <a:ext cx="373618" cy="1070076"/>
            </a:xfrm>
            <a:custGeom>
              <a:avLst/>
              <a:gdLst>
                <a:gd name="T0" fmla="*/ 0 w 160"/>
                <a:gd name="T1" fmla="*/ 2147483646 h 1008"/>
                <a:gd name="T2" fmla="*/ 2147483646 w 160"/>
                <a:gd name="T3" fmla="*/ 2147483646 h 1008"/>
                <a:gd name="T4" fmla="*/ 2147483646 w 160"/>
                <a:gd name="T5" fmla="*/ 2147483646 h 1008"/>
                <a:gd name="T6" fmla="*/ 0 w 160"/>
                <a:gd name="T7" fmla="*/ 0 h 10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0"/>
                <a:gd name="T13" fmla="*/ 0 h 1008"/>
                <a:gd name="T14" fmla="*/ 160 w 160"/>
                <a:gd name="T15" fmla="*/ 1008 h 10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0" h="1008">
                  <a:moveTo>
                    <a:pt x="0" y="1008"/>
                  </a:moveTo>
                  <a:cubicBezTo>
                    <a:pt x="36" y="988"/>
                    <a:pt x="72" y="968"/>
                    <a:pt x="96" y="864"/>
                  </a:cubicBezTo>
                  <a:cubicBezTo>
                    <a:pt x="120" y="760"/>
                    <a:pt x="160" y="528"/>
                    <a:pt x="144" y="384"/>
                  </a:cubicBezTo>
                  <a:cubicBezTo>
                    <a:pt x="128" y="240"/>
                    <a:pt x="64" y="120"/>
                    <a:pt x="0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58" name="Line 35"/>
            <p:cNvSpPr>
              <a:spLocks noChangeShapeType="1"/>
            </p:cNvSpPr>
            <p:nvPr/>
          </p:nvSpPr>
          <p:spPr bwMode="auto">
            <a:xfrm flipV="1">
              <a:off x="6713523" y="1714531"/>
              <a:ext cx="457235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59" name="Line 43"/>
            <p:cNvSpPr>
              <a:spLocks noChangeShapeType="1"/>
            </p:cNvSpPr>
            <p:nvPr/>
          </p:nvSpPr>
          <p:spPr bwMode="auto">
            <a:xfrm>
              <a:off x="6673134" y="2786090"/>
              <a:ext cx="50409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60" name="Line 9"/>
            <p:cNvSpPr>
              <a:spLocks noChangeShapeType="1"/>
            </p:cNvSpPr>
            <p:nvPr/>
          </p:nvSpPr>
          <p:spPr bwMode="auto">
            <a:xfrm flipV="1">
              <a:off x="3242074" y="2500681"/>
              <a:ext cx="52898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61" name="Line 3"/>
            <p:cNvSpPr>
              <a:spLocks noChangeShapeType="1"/>
            </p:cNvSpPr>
            <p:nvPr/>
          </p:nvSpPr>
          <p:spPr bwMode="auto">
            <a:xfrm flipV="1">
              <a:off x="3180236" y="1060348"/>
              <a:ext cx="5908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62" name="Freeform 55"/>
            <p:cNvSpPr>
              <a:spLocks/>
            </p:cNvSpPr>
            <p:nvPr/>
          </p:nvSpPr>
          <p:spPr bwMode="auto">
            <a:xfrm>
              <a:off x="2857505" y="3487227"/>
              <a:ext cx="3429023" cy="1441976"/>
            </a:xfrm>
            <a:custGeom>
              <a:avLst/>
              <a:gdLst>
                <a:gd name="T0" fmla="*/ 2147483646 w 2912"/>
                <a:gd name="T1" fmla="*/ 0 h 1760"/>
                <a:gd name="T2" fmla="*/ 2147483646 w 2912"/>
                <a:gd name="T3" fmla="*/ 2147483646 h 1760"/>
                <a:gd name="T4" fmla="*/ 2147483646 w 2912"/>
                <a:gd name="T5" fmla="*/ 2147483646 h 1760"/>
                <a:gd name="T6" fmla="*/ 2147483646 w 2912"/>
                <a:gd name="T7" fmla="*/ 2147483646 h 1760"/>
                <a:gd name="T8" fmla="*/ 2147483646 w 2912"/>
                <a:gd name="T9" fmla="*/ 2147483646 h 1760"/>
                <a:gd name="T10" fmla="*/ 2147483646 w 2912"/>
                <a:gd name="T11" fmla="*/ 2147483646 h 1760"/>
                <a:gd name="T12" fmla="*/ 2147483646 w 2912"/>
                <a:gd name="T13" fmla="*/ 2147483646 h 1760"/>
                <a:gd name="T14" fmla="*/ 0 w 2912"/>
                <a:gd name="T15" fmla="*/ 2147483646 h 17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912"/>
                <a:gd name="T25" fmla="*/ 0 h 1760"/>
                <a:gd name="T26" fmla="*/ 2912 w 2912"/>
                <a:gd name="T27" fmla="*/ 1760 h 176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912" h="1760">
                  <a:moveTo>
                    <a:pt x="2880" y="0"/>
                  </a:moveTo>
                  <a:cubicBezTo>
                    <a:pt x="2896" y="280"/>
                    <a:pt x="2912" y="560"/>
                    <a:pt x="2832" y="816"/>
                  </a:cubicBezTo>
                  <a:cubicBezTo>
                    <a:pt x="2752" y="1072"/>
                    <a:pt x="2544" y="1384"/>
                    <a:pt x="2400" y="1536"/>
                  </a:cubicBezTo>
                  <a:cubicBezTo>
                    <a:pt x="2256" y="1688"/>
                    <a:pt x="2232" y="1696"/>
                    <a:pt x="1968" y="1728"/>
                  </a:cubicBezTo>
                  <a:cubicBezTo>
                    <a:pt x="1704" y="1760"/>
                    <a:pt x="1064" y="1752"/>
                    <a:pt x="816" y="1728"/>
                  </a:cubicBezTo>
                  <a:cubicBezTo>
                    <a:pt x="568" y="1704"/>
                    <a:pt x="592" y="1672"/>
                    <a:pt x="480" y="1584"/>
                  </a:cubicBezTo>
                  <a:cubicBezTo>
                    <a:pt x="368" y="1496"/>
                    <a:pt x="224" y="1336"/>
                    <a:pt x="144" y="1200"/>
                  </a:cubicBezTo>
                  <a:cubicBezTo>
                    <a:pt x="64" y="1064"/>
                    <a:pt x="8" y="856"/>
                    <a:pt x="0" y="76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63" name="Line 53"/>
            <p:cNvSpPr>
              <a:spLocks noChangeShapeType="1"/>
            </p:cNvSpPr>
            <p:nvPr/>
          </p:nvSpPr>
          <p:spPr bwMode="auto">
            <a:xfrm>
              <a:off x="7928628" y="3728389"/>
              <a:ext cx="0" cy="57155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64" name="Line 15"/>
            <p:cNvSpPr>
              <a:spLocks noChangeShapeType="1"/>
            </p:cNvSpPr>
            <p:nvPr/>
          </p:nvSpPr>
          <p:spPr bwMode="auto">
            <a:xfrm flipH="1">
              <a:off x="2518141" y="2888271"/>
              <a:ext cx="0" cy="6451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65" name="Line 6"/>
            <p:cNvSpPr>
              <a:spLocks noChangeShapeType="1"/>
            </p:cNvSpPr>
            <p:nvPr/>
          </p:nvSpPr>
          <p:spPr bwMode="auto">
            <a:xfrm>
              <a:off x="3170645" y="1780514"/>
              <a:ext cx="60041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Text Box 2"/>
            <p:cNvSpPr txBox="1">
              <a:spLocks noChangeArrowheads="1"/>
            </p:cNvSpPr>
            <p:nvPr/>
          </p:nvSpPr>
          <p:spPr bwMode="auto">
            <a:xfrm>
              <a:off x="2214169" y="837702"/>
              <a:ext cx="1051111" cy="20425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ts val="192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1600" b="1" baseline="-25000" dirty="0">
                  <a:solidFill>
                    <a:prstClr val="black"/>
                  </a:solidFill>
                  <a:latin typeface="Times New Roman" pitchFamily="18" charset="0"/>
                </a:rPr>
                <a:t>0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lnSpc>
                  <a:spcPts val="192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</a:t>
              </a:r>
              <a:r>
                <a:rPr lang="en-US" altLang="zh-CN" sz="1600" b="1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 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→</a:t>
              </a:r>
              <a:r>
                <a:rPr lang="en-US" altLang="zh-CN" sz="1600" b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 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 </a:t>
              </a:r>
            </a:p>
            <a:p>
              <a:pPr>
                <a:lnSpc>
                  <a:spcPts val="192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E→ 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 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E+T</a:t>
              </a:r>
            </a:p>
            <a:p>
              <a:pPr>
                <a:lnSpc>
                  <a:spcPts val="192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E→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</a:p>
            <a:p>
              <a:pPr>
                <a:lnSpc>
                  <a:spcPts val="192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T→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T*F</a:t>
              </a:r>
            </a:p>
            <a:p>
              <a:pPr>
                <a:lnSpc>
                  <a:spcPts val="192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T→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F</a:t>
              </a:r>
            </a:p>
            <a:p>
              <a:pPr>
                <a:lnSpc>
                  <a:spcPts val="192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F→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(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)</a:t>
              </a:r>
            </a:p>
            <a:p>
              <a:pPr>
                <a:lnSpc>
                  <a:spcPts val="192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F→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id</a:t>
              </a:r>
            </a:p>
          </p:txBody>
        </p:sp>
        <p:sp>
          <p:nvSpPr>
            <p:cNvPr id="104467" name="Text Box 4"/>
            <p:cNvSpPr txBox="1">
              <a:spLocks noChangeArrowheads="1"/>
            </p:cNvSpPr>
            <p:nvPr/>
          </p:nvSpPr>
          <p:spPr bwMode="auto">
            <a:xfrm>
              <a:off x="3289631" y="713014"/>
              <a:ext cx="3810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82" name="Text Box 5"/>
            <p:cNvSpPr txBox="1">
              <a:spLocks noChangeArrowheads="1"/>
            </p:cNvSpPr>
            <p:nvPr/>
          </p:nvSpPr>
          <p:spPr bwMode="auto">
            <a:xfrm>
              <a:off x="3770193" y="817069"/>
              <a:ext cx="1035233" cy="74751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1600" b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</a:t>
              </a:r>
              <a:r>
                <a:rPr lang="en-US" altLang="zh-CN" sz="1600" b="1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 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→E</a:t>
              </a:r>
              <a:r>
                <a:rPr lang="en-US" altLang="zh-CN" sz="1600" b="1" i="1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endPara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E→E</a:t>
              </a:r>
              <a:r>
                <a:rPr lang="en-US" altLang="zh-CN" sz="1600" b="1" i="1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· 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+T</a:t>
              </a:r>
            </a:p>
          </p:txBody>
        </p:sp>
        <p:sp>
          <p:nvSpPr>
            <p:cNvPr id="104469" name="Text Box 7"/>
            <p:cNvSpPr txBox="1">
              <a:spLocks noChangeArrowheads="1"/>
            </p:cNvSpPr>
            <p:nvPr/>
          </p:nvSpPr>
          <p:spPr bwMode="auto">
            <a:xfrm>
              <a:off x="3289630" y="1417174"/>
              <a:ext cx="3810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85" name="Text Box 8"/>
            <p:cNvSpPr txBox="1">
              <a:spLocks noChangeArrowheads="1"/>
            </p:cNvSpPr>
            <p:nvPr/>
          </p:nvSpPr>
          <p:spPr bwMode="auto">
            <a:xfrm>
              <a:off x="3770193" y="1609024"/>
              <a:ext cx="1025706" cy="74751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1600" b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srgbClr val="FF0000"/>
                  </a:solidFill>
                  <a:latin typeface="Times New Roman" pitchFamily="18" charset="0"/>
                </a:rPr>
                <a:t>E→T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zh-CN" sz="1600" b="1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·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endParaRPr kumimoji="1" lang="en-US" altLang="zh-CN" sz="1600" b="1" i="1" dirty="0">
                <a:solidFill>
                  <a:srgbClr val="FF0000"/>
                </a:solidFill>
                <a:latin typeface="Times New Roman" pitchFamily="18" charset="0"/>
              </a:endParaRPr>
            </a:p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srgbClr val="FF0000"/>
                  </a:solidFill>
                  <a:latin typeface="Times New Roman" pitchFamily="18" charset="0"/>
                </a:rPr>
                <a:t>T→T </a:t>
              </a:r>
              <a:r>
                <a:rPr lang="en-US" altLang="zh-CN" sz="1600" b="1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·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Times New Roman" pitchFamily="18" charset="0"/>
                </a:rPr>
                <a:t>*</a:t>
              </a:r>
              <a:r>
                <a:rPr kumimoji="1" lang="en-US" altLang="zh-CN" sz="1600" b="1" i="1" dirty="0">
                  <a:solidFill>
                    <a:srgbClr val="FF0000"/>
                  </a:solidFill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104471" name="Text Box 10"/>
            <p:cNvSpPr txBox="1">
              <a:spLocks noChangeArrowheads="1"/>
            </p:cNvSpPr>
            <p:nvPr/>
          </p:nvSpPr>
          <p:spPr bwMode="auto">
            <a:xfrm>
              <a:off x="3470593" y="2715766"/>
              <a:ext cx="3810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88" name="Text Box 11"/>
            <p:cNvSpPr txBox="1">
              <a:spLocks noChangeArrowheads="1"/>
            </p:cNvSpPr>
            <p:nvPr/>
          </p:nvSpPr>
          <p:spPr bwMode="auto">
            <a:xfrm>
              <a:off x="3770193" y="2405740"/>
              <a:ext cx="1035233" cy="52691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1600" b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T→F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endPara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104473" name="Freeform 12"/>
            <p:cNvSpPr>
              <a:spLocks/>
            </p:cNvSpPr>
            <p:nvPr/>
          </p:nvSpPr>
          <p:spPr bwMode="auto">
            <a:xfrm>
              <a:off x="3051271" y="2914464"/>
              <a:ext cx="699242" cy="577250"/>
            </a:xfrm>
            <a:custGeom>
              <a:avLst/>
              <a:gdLst>
                <a:gd name="T0" fmla="*/ 2147483646 w 736"/>
                <a:gd name="T1" fmla="*/ 0 h 768"/>
                <a:gd name="T2" fmla="*/ 2147483646 w 736"/>
                <a:gd name="T3" fmla="*/ 2147483646 h 768"/>
                <a:gd name="T4" fmla="*/ 2147483646 w 736"/>
                <a:gd name="T5" fmla="*/ 2147483646 h 768"/>
                <a:gd name="T6" fmla="*/ 2147483646 w 736"/>
                <a:gd name="T7" fmla="*/ 2147483646 h 768"/>
                <a:gd name="T8" fmla="*/ 2147483646 w 736"/>
                <a:gd name="T9" fmla="*/ 2147483646 h 7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36"/>
                <a:gd name="T16" fmla="*/ 0 h 768"/>
                <a:gd name="T17" fmla="*/ 736 w 736"/>
                <a:gd name="T18" fmla="*/ 768 h 7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36" h="768">
                  <a:moveTo>
                    <a:pt x="16" y="0"/>
                  </a:moveTo>
                  <a:cubicBezTo>
                    <a:pt x="8" y="144"/>
                    <a:pt x="0" y="288"/>
                    <a:pt x="16" y="384"/>
                  </a:cubicBezTo>
                  <a:cubicBezTo>
                    <a:pt x="32" y="480"/>
                    <a:pt x="64" y="528"/>
                    <a:pt x="112" y="576"/>
                  </a:cubicBezTo>
                  <a:cubicBezTo>
                    <a:pt x="160" y="624"/>
                    <a:pt x="200" y="640"/>
                    <a:pt x="304" y="672"/>
                  </a:cubicBezTo>
                  <a:cubicBezTo>
                    <a:pt x="408" y="704"/>
                    <a:pt x="572" y="736"/>
                    <a:pt x="736" y="76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74" name="Text Box 13"/>
            <p:cNvSpPr txBox="1">
              <a:spLocks noChangeArrowheads="1"/>
            </p:cNvSpPr>
            <p:nvPr/>
          </p:nvSpPr>
          <p:spPr bwMode="auto">
            <a:xfrm>
              <a:off x="3052238" y="2844940"/>
              <a:ext cx="30482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</a:p>
          </p:txBody>
        </p:sp>
        <p:sp>
          <p:nvSpPr>
            <p:cNvPr id="93" name="Text Box 14"/>
            <p:cNvSpPr txBox="1">
              <a:spLocks noChangeArrowheads="1"/>
            </p:cNvSpPr>
            <p:nvPr/>
          </p:nvSpPr>
          <p:spPr bwMode="auto">
            <a:xfrm>
              <a:off x="3770193" y="2999309"/>
              <a:ext cx="1078102" cy="183625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1600" b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F→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(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 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 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)</a:t>
              </a:r>
            </a:p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E→ 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 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E+T</a:t>
              </a:r>
            </a:p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E→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</a:p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T→ 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 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T*F</a:t>
              </a:r>
            </a:p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T→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F</a:t>
              </a:r>
            </a:p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F→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(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)</a:t>
              </a:r>
            </a:p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F→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id</a:t>
              </a:r>
            </a:p>
          </p:txBody>
        </p:sp>
        <p:sp>
          <p:nvSpPr>
            <p:cNvPr id="104476" name="Text Box 16"/>
            <p:cNvSpPr txBox="1">
              <a:spLocks noChangeArrowheads="1"/>
            </p:cNvSpPr>
            <p:nvPr/>
          </p:nvSpPr>
          <p:spPr bwMode="auto">
            <a:xfrm>
              <a:off x="2504953" y="2964957"/>
              <a:ext cx="53344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95" name="Text Box 17"/>
            <p:cNvSpPr txBox="1">
              <a:spLocks noChangeArrowheads="1"/>
            </p:cNvSpPr>
            <p:nvPr/>
          </p:nvSpPr>
          <p:spPr bwMode="auto">
            <a:xfrm>
              <a:off x="2204642" y="3537330"/>
              <a:ext cx="800241" cy="58563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1600" b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F→ 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id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 </a:t>
              </a:r>
              <a:endPara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104478" name="Line 18"/>
            <p:cNvSpPr>
              <a:spLocks noChangeShapeType="1"/>
            </p:cNvSpPr>
            <p:nvPr/>
          </p:nvSpPr>
          <p:spPr bwMode="auto">
            <a:xfrm>
              <a:off x="4813903" y="1071552"/>
              <a:ext cx="8382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79" name="Text Box 19"/>
            <p:cNvSpPr txBox="1">
              <a:spLocks noChangeArrowheads="1"/>
            </p:cNvSpPr>
            <p:nvPr/>
          </p:nvSpPr>
          <p:spPr bwMode="auto">
            <a:xfrm>
              <a:off x="4793132" y="724992"/>
              <a:ext cx="3810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98" name="Text Box 20"/>
            <p:cNvSpPr txBox="1">
              <a:spLocks noChangeArrowheads="1"/>
            </p:cNvSpPr>
            <p:nvPr/>
          </p:nvSpPr>
          <p:spPr bwMode="auto">
            <a:xfrm>
              <a:off x="5651713" y="785328"/>
              <a:ext cx="1200362" cy="15696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1600" b="1" baseline="-25000" dirty="0">
                  <a:solidFill>
                    <a:prstClr val="black"/>
                  </a:solidFill>
                  <a:latin typeface="Times New Roman" pitchFamily="18" charset="0"/>
                </a:rPr>
                <a:t>6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E→ E+ 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 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T→ 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 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T*F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T→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F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F→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(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)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F→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id</a:t>
              </a:r>
            </a:p>
          </p:txBody>
        </p:sp>
        <p:sp>
          <p:nvSpPr>
            <p:cNvPr id="104481" name="Line 21"/>
            <p:cNvSpPr>
              <a:spLocks noChangeShapeType="1"/>
            </p:cNvSpPr>
            <p:nvPr/>
          </p:nvSpPr>
          <p:spPr bwMode="auto">
            <a:xfrm>
              <a:off x="4814062" y="1957352"/>
              <a:ext cx="838264" cy="685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82" name="Text Box 22"/>
            <p:cNvSpPr txBox="1">
              <a:spLocks noChangeArrowheads="1"/>
            </p:cNvSpPr>
            <p:nvPr/>
          </p:nvSpPr>
          <p:spPr bwMode="auto">
            <a:xfrm>
              <a:off x="4715769" y="1707654"/>
              <a:ext cx="3810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101" name="Text Box 23"/>
            <p:cNvSpPr txBox="1">
              <a:spLocks noChangeArrowheads="1"/>
            </p:cNvSpPr>
            <p:nvPr/>
          </p:nvSpPr>
          <p:spPr bwMode="auto">
            <a:xfrm>
              <a:off x="5651713" y="2483507"/>
              <a:ext cx="1051111" cy="107604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1600" b="1" baseline="-25000" dirty="0">
                  <a:solidFill>
                    <a:prstClr val="black"/>
                  </a:solidFill>
                  <a:latin typeface="Times New Roman" pitchFamily="18" charset="0"/>
                </a:rPr>
                <a:t>7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T→T* 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 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F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F→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(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)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F→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id</a:t>
              </a:r>
            </a:p>
          </p:txBody>
        </p:sp>
        <p:sp>
          <p:nvSpPr>
            <p:cNvPr id="104484" name="Line 24"/>
            <p:cNvSpPr>
              <a:spLocks noChangeShapeType="1"/>
            </p:cNvSpPr>
            <p:nvPr/>
          </p:nvSpPr>
          <p:spPr bwMode="auto">
            <a:xfrm flipV="1">
              <a:off x="4860887" y="3929118"/>
              <a:ext cx="2280978" cy="107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85" name="Text Box 25"/>
            <p:cNvSpPr txBox="1">
              <a:spLocks noChangeArrowheads="1"/>
            </p:cNvSpPr>
            <p:nvPr/>
          </p:nvSpPr>
          <p:spPr bwMode="auto">
            <a:xfrm>
              <a:off x="4814062" y="3578775"/>
              <a:ext cx="3810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05" name="Text Box 26"/>
            <p:cNvSpPr txBox="1">
              <a:spLocks noChangeArrowheads="1"/>
            </p:cNvSpPr>
            <p:nvPr/>
          </p:nvSpPr>
          <p:spPr bwMode="auto">
            <a:xfrm>
              <a:off x="7182333" y="3219914"/>
              <a:ext cx="1141615" cy="83163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1600" b="1" baseline="-25000" dirty="0">
                  <a:solidFill>
                    <a:prstClr val="black"/>
                  </a:solidFill>
                  <a:latin typeface="Times New Roman" pitchFamily="18" charset="0"/>
                </a:rPr>
                <a:t>8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F→ 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(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)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E→E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+T</a:t>
              </a:r>
            </a:p>
          </p:txBody>
        </p:sp>
        <p:sp>
          <p:nvSpPr>
            <p:cNvPr id="104487" name="Text Box 28"/>
            <p:cNvSpPr txBox="1">
              <a:spLocks noChangeArrowheads="1"/>
            </p:cNvSpPr>
            <p:nvPr/>
          </p:nvSpPr>
          <p:spPr bwMode="auto">
            <a:xfrm>
              <a:off x="4766814" y="2819735"/>
              <a:ext cx="3810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04488" name="Freeform 29"/>
            <p:cNvSpPr>
              <a:spLocks/>
            </p:cNvSpPr>
            <p:nvPr/>
          </p:nvSpPr>
          <p:spPr bwMode="auto">
            <a:xfrm>
              <a:off x="3426747" y="2649294"/>
              <a:ext cx="344314" cy="571553"/>
            </a:xfrm>
            <a:custGeom>
              <a:avLst/>
              <a:gdLst>
                <a:gd name="T0" fmla="*/ 2147483646 w 112"/>
                <a:gd name="T1" fmla="*/ 2147483646 h 480"/>
                <a:gd name="T2" fmla="*/ 2147483646 w 112"/>
                <a:gd name="T3" fmla="*/ 2147483646 h 480"/>
                <a:gd name="T4" fmla="*/ 2147483646 w 112"/>
                <a:gd name="T5" fmla="*/ 2147483646 h 480"/>
                <a:gd name="T6" fmla="*/ 2147483646 w 112"/>
                <a:gd name="T7" fmla="*/ 0 h 4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2"/>
                <a:gd name="T13" fmla="*/ 0 h 480"/>
                <a:gd name="T14" fmla="*/ 112 w 112"/>
                <a:gd name="T15" fmla="*/ 480 h 4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2" h="480">
                  <a:moveTo>
                    <a:pt x="112" y="480"/>
                  </a:moveTo>
                  <a:cubicBezTo>
                    <a:pt x="72" y="436"/>
                    <a:pt x="32" y="392"/>
                    <a:pt x="16" y="336"/>
                  </a:cubicBezTo>
                  <a:cubicBezTo>
                    <a:pt x="0" y="280"/>
                    <a:pt x="0" y="200"/>
                    <a:pt x="16" y="144"/>
                  </a:cubicBezTo>
                  <a:cubicBezTo>
                    <a:pt x="32" y="88"/>
                    <a:pt x="72" y="44"/>
                    <a:pt x="112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89" name="Text Box 30"/>
            <p:cNvSpPr txBox="1">
              <a:spLocks noChangeArrowheads="1"/>
            </p:cNvSpPr>
            <p:nvPr/>
          </p:nvSpPr>
          <p:spPr bwMode="auto">
            <a:xfrm>
              <a:off x="3242074" y="2143157"/>
              <a:ext cx="30482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04490" name="Freeform 31"/>
            <p:cNvSpPr>
              <a:spLocks/>
            </p:cNvSpPr>
            <p:nvPr/>
          </p:nvSpPr>
          <p:spPr bwMode="auto">
            <a:xfrm>
              <a:off x="3466237" y="4173623"/>
              <a:ext cx="330225" cy="571553"/>
            </a:xfrm>
            <a:custGeom>
              <a:avLst/>
              <a:gdLst>
                <a:gd name="T0" fmla="*/ 2147483646 w 208"/>
                <a:gd name="T1" fmla="*/ 2147483646 h 480"/>
                <a:gd name="T2" fmla="*/ 0 w 208"/>
                <a:gd name="T3" fmla="*/ 2147483646 h 480"/>
                <a:gd name="T4" fmla="*/ 2147483646 w 208"/>
                <a:gd name="T5" fmla="*/ 0 h 480"/>
                <a:gd name="T6" fmla="*/ 0 60000 65536"/>
                <a:gd name="T7" fmla="*/ 0 60000 65536"/>
                <a:gd name="T8" fmla="*/ 0 60000 65536"/>
                <a:gd name="T9" fmla="*/ 0 w 208"/>
                <a:gd name="T10" fmla="*/ 0 h 480"/>
                <a:gd name="T11" fmla="*/ 208 w 208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8" h="480">
                  <a:moveTo>
                    <a:pt x="192" y="480"/>
                  </a:moveTo>
                  <a:cubicBezTo>
                    <a:pt x="96" y="400"/>
                    <a:pt x="0" y="320"/>
                    <a:pt x="0" y="240"/>
                  </a:cubicBezTo>
                  <a:cubicBezTo>
                    <a:pt x="0" y="160"/>
                    <a:pt x="208" y="40"/>
                    <a:pt x="192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91" name="Text Box 32"/>
            <p:cNvSpPr txBox="1">
              <a:spLocks noChangeArrowheads="1"/>
            </p:cNvSpPr>
            <p:nvPr/>
          </p:nvSpPr>
          <p:spPr bwMode="auto">
            <a:xfrm>
              <a:off x="3513111" y="4273058"/>
              <a:ext cx="30482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</a:p>
          </p:txBody>
        </p:sp>
        <p:sp>
          <p:nvSpPr>
            <p:cNvPr id="104492" name="Line 33"/>
            <p:cNvSpPr>
              <a:spLocks noChangeShapeType="1"/>
            </p:cNvSpPr>
            <p:nvPr/>
          </p:nvSpPr>
          <p:spPr bwMode="auto">
            <a:xfrm flipH="1">
              <a:off x="3015899" y="3953088"/>
              <a:ext cx="75516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93" name="Text Box 34"/>
            <p:cNvSpPr txBox="1">
              <a:spLocks noChangeArrowheads="1"/>
            </p:cNvSpPr>
            <p:nvPr/>
          </p:nvSpPr>
          <p:spPr bwMode="auto">
            <a:xfrm>
              <a:off x="3466399" y="3624986"/>
              <a:ext cx="45723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104494" name="Text Box 36"/>
            <p:cNvSpPr txBox="1">
              <a:spLocks noChangeArrowheads="1"/>
            </p:cNvSpPr>
            <p:nvPr/>
          </p:nvSpPr>
          <p:spPr bwMode="auto">
            <a:xfrm>
              <a:off x="6834944" y="1367438"/>
              <a:ext cx="45723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16" name="Text Box 37"/>
            <p:cNvSpPr txBox="1">
              <a:spLocks noChangeArrowheads="1"/>
            </p:cNvSpPr>
            <p:nvPr/>
          </p:nvSpPr>
          <p:spPr bwMode="auto">
            <a:xfrm>
              <a:off x="7166455" y="1404290"/>
              <a:ext cx="1019355" cy="83163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1600" b="1" baseline="-25000" dirty="0">
                  <a:solidFill>
                    <a:prstClr val="black"/>
                  </a:solidFill>
                  <a:latin typeface="Times New Roman" pitchFamily="18" charset="0"/>
                </a:rPr>
                <a:t>9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srgbClr val="FF0000"/>
                  </a:solidFill>
                  <a:latin typeface="Times New Roman" pitchFamily="18" charset="0"/>
                </a:rPr>
                <a:t>E→E+T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zh-CN" sz="1600" b="1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·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endParaRPr kumimoji="1" lang="en-US" altLang="zh-CN" sz="1600" b="1" i="1" dirty="0">
                <a:solidFill>
                  <a:srgbClr val="FF0000"/>
                </a:solidFill>
                <a:latin typeface="Times New Roman" pitchFamily="18" charset="0"/>
              </a:endParaRP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srgbClr val="FF0000"/>
                  </a:solidFill>
                  <a:latin typeface="Times New Roman" pitchFamily="18" charset="0"/>
                </a:rPr>
                <a:t>T→T</a:t>
              </a:r>
              <a:r>
                <a:rPr lang="en-US" altLang="zh-CN" sz="1600" b="1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·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Times New Roman" pitchFamily="18" charset="0"/>
                </a:rPr>
                <a:t>*</a:t>
              </a:r>
              <a:r>
                <a:rPr kumimoji="1" lang="en-US" altLang="zh-CN" sz="1600" b="1" i="1" dirty="0">
                  <a:solidFill>
                    <a:srgbClr val="FF0000"/>
                  </a:solidFill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104496" name="Freeform 38"/>
            <p:cNvSpPr>
              <a:spLocks/>
            </p:cNvSpPr>
            <p:nvPr/>
          </p:nvSpPr>
          <p:spPr bwMode="auto">
            <a:xfrm>
              <a:off x="4814062" y="1214473"/>
              <a:ext cx="838264" cy="1543193"/>
            </a:xfrm>
            <a:custGeom>
              <a:avLst/>
              <a:gdLst>
                <a:gd name="T0" fmla="*/ 2147483646 w 528"/>
                <a:gd name="T1" fmla="*/ 0 h 1296"/>
                <a:gd name="T2" fmla="*/ 2147483646 w 528"/>
                <a:gd name="T3" fmla="*/ 2147483646 h 1296"/>
                <a:gd name="T4" fmla="*/ 2147483646 w 528"/>
                <a:gd name="T5" fmla="*/ 2147483646 h 1296"/>
                <a:gd name="T6" fmla="*/ 0 w 528"/>
                <a:gd name="T7" fmla="*/ 2147483646 h 12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8"/>
                <a:gd name="T13" fmla="*/ 0 h 1296"/>
                <a:gd name="T14" fmla="*/ 528 w 528"/>
                <a:gd name="T15" fmla="*/ 1296 h 12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8" h="1296">
                  <a:moveTo>
                    <a:pt x="528" y="0"/>
                  </a:moveTo>
                  <a:cubicBezTo>
                    <a:pt x="464" y="36"/>
                    <a:pt x="400" y="72"/>
                    <a:pt x="336" y="240"/>
                  </a:cubicBezTo>
                  <a:cubicBezTo>
                    <a:pt x="272" y="408"/>
                    <a:pt x="200" y="832"/>
                    <a:pt x="144" y="1008"/>
                  </a:cubicBezTo>
                  <a:cubicBezTo>
                    <a:pt x="88" y="1184"/>
                    <a:pt x="44" y="1240"/>
                    <a:pt x="0" y="1296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97" name="Text Box 39"/>
            <p:cNvSpPr txBox="1">
              <a:spLocks noChangeArrowheads="1"/>
            </p:cNvSpPr>
            <p:nvPr/>
          </p:nvSpPr>
          <p:spPr bwMode="auto">
            <a:xfrm>
              <a:off x="5377818" y="1254578"/>
              <a:ext cx="45723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04498" name="Freeform 40"/>
            <p:cNvSpPr>
              <a:spLocks/>
            </p:cNvSpPr>
            <p:nvPr/>
          </p:nvSpPr>
          <p:spPr bwMode="auto">
            <a:xfrm>
              <a:off x="4858589" y="1714531"/>
              <a:ext cx="793737" cy="1857367"/>
            </a:xfrm>
            <a:custGeom>
              <a:avLst/>
              <a:gdLst>
                <a:gd name="T0" fmla="*/ 2147483646 w 528"/>
                <a:gd name="T1" fmla="*/ 0 h 1488"/>
                <a:gd name="T2" fmla="*/ 2147483646 w 528"/>
                <a:gd name="T3" fmla="*/ 2147483646 h 1488"/>
                <a:gd name="T4" fmla="*/ 2147483646 w 528"/>
                <a:gd name="T5" fmla="*/ 2147483646 h 1488"/>
                <a:gd name="T6" fmla="*/ 0 w 528"/>
                <a:gd name="T7" fmla="*/ 2147483646 h 14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8"/>
                <a:gd name="T13" fmla="*/ 0 h 1488"/>
                <a:gd name="T14" fmla="*/ 528 w 528"/>
                <a:gd name="T15" fmla="*/ 1488 h 14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8" h="1488">
                  <a:moveTo>
                    <a:pt x="528" y="0"/>
                  </a:moveTo>
                  <a:cubicBezTo>
                    <a:pt x="504" y="48"/>
                    <a:pt x="480" y="96"/>
                    <a:pt x="432" y="288"/>
                  </a:cubicBezTo>
                  <a:cubicBezTo>
                    <a:pt x="384" y="480"/>
                    <a:pt x="312" y="952"/>
                    <a:pt x="240" y="1152"/>
                  </a:cubicBezTo>
                  <a:cubicBezTo>
                    <a:pt x="168" y="1352"/>
                    <a:pt x="84" y="1420"/>
                    <a:pt x="0" y="148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99" name="Text Box 41"/>
            <p:cNvSpPr txBox="1">
              <a:spLocks noChangeArrowheads="1"/>
            </p:cNvSpPr>
            <p:nvPr/>
          </p:nvSpPr>
          <p:spPr bwMode="auto">
            <a:xfrm>
              <a:off x="5431268" y="1950088"/>
              <a:ext cx="3810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</a:p>
          </p:txBody>
        </p:sp>
        <p:sp>
          <p:nvSpPr>
            <p:cNvPr id="104500" name="Text Box 42"/>
            <p:cNvSpPr txBox="1">
              <a:spLocks noChangeArrowheads="1"/>
            </p:cNvSpPr>
            <p:nvPr/>
          </p:nvSpPr>
          <p:spPr bwMode="auto">
            <a:xfrm>
              <a:off x="6250830" y="3498857"/>
              <a:ext cx="45723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104501" name="Text Box 44"/>
            <p:cNvSpPr txBox="1">
              <a:spLocks noChangeArrowheads="1"/>
            </p:cNvSpPr>
            <p:nvPr/>
          </p:nvSpPr>
          <p:spPr bwMode="auto">
            <a:xfrm>
              <a:off x="6749802" y="2418173"/>
              <a:ext cx="3810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24" name="Text Box 45"/>
            <p:cNvSpPr txBox="1">
              <a:spLocks noChangeArrowheads="1"/>
            </p:cNvSpPr>
            <p:nvPr/>
          </p:nvSpPr>
          <p:spPr bwMode="auto">
            <a:xfrm>
              <a:off x="7166455" y="2345431"/>
              <a:ext cx="1019355" cy="58404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1600" b="1" baseline="-25000" dirty="0">
                  <a:solidFill>
                    <a:prstClr val="black"/>
                  </a:solidFill>
                  <a:latin typeface="Times New Roman" pitchFamily="18" charset="0"/>
                </a:rPr>
                <a:t>10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T→T*F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endPara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104503" name="Text Box 46"/>
            <p:cNvSpPr txBox="1">
              <a:spLocks noChangeArrowheads="1"/>
            </p:cNvSpPr>
            <p:nvPr/>
          </p:nvSpPr>
          <p:spPr bwMode="auto">
            <a:xfrm>
              <a:off x="5822385" y="3473203"/>
              <a:ext cx="45723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</a:p>
          </p:txBody>
        </p:sp>
        <p:sp>
          <p:nvSpPr>
            <p:cNvPr id="104504" name="Text Box 47"/>
            <p:cNvSpPr txBox="1">
              <a:spLocks noChangeArrowheads="1"/>
            </p:cNvSpPr>
            <p:nvPr/>
          </p:nvSpPr>
          <p:spPr bwMode="auto">
            <a:xfrm>
              <a:off x="7575292" y="3958397"/>
              <a:ext cx="3810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27" name="Text Box 48"/>
            <p:cNvSpPr txBox="1">
              <a:spLocks noChangeArrowheads="1"/>
            </p:cNvSpPr>
            <p:nvPr/>
          </p:nvSpPr>
          <p:spPr bwMode="auto">
            <a:xfrm>
              <a:off x="7174395" y="4300718"/>
              <a:ext cx="1000302" cy="58404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1600" b="1" baseline="-25000" dirty="0">
                  <a:solidFill>
                    <a:prstClr val="black"/>
                  </a:solidFill>
                  <a:latin typeface="Times New Roman" pitchFamily="18" charset="0"/>
                </a:rPr>
                <a:t>11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F→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(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)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endPara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104506" name="Text Box 49"/>
            <p:cNvSpPr txBox="1">
              <a:spLocks noChangeArrowheads="1"/>
            </p:cNvSpPr>
            <p:nvPr/>
          </p:nvSpPr>
          <p:spPr bwMode="auto">
            <a:xfrm>
              <a:off x="8295406" y="3291830"/>
              <a:ext cx="38102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04507" name="Line 50"/>
            <p:cNvSpPr>
              <a:spLocks noChangeShapeType="1"/>
            </p:cNvSpPr>
            <p:nvPr/>
          </p:nvSpPr>
          <p:spPr bwMode="auto">
            <a:xfrm flipH="1">
              <a:off x="6725936" y="2000301"/>
              <a:ext cx="439904" cy="6251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08" name="Text Box 51"/>
            <p:cNvSpPr txBox="1">
              <a:spLocks noChangeArrowheads="1"/>
            </p:cNvSpPr>
            <p:nvPr/>
          </p:nvSpPr>
          <p:spPr bwMode="auto">
            <a:xfrm>
              <a:off x="6902213" y="1773195"/>
              <a:ext cx="45723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104509" name="Freeform 52"/>
            <p:cNvSpPr>
              <a:spLocks/>
            </p:cNvSpPr>
            <p:nvPr/>
          </p:nvSpPr>
          <p:spPr bwMode="auto">
            <a:xfrm>
              <a:off x="6862433" y="1166909"/>
              <a:ext cx="1759255" cy="2285989"/>
            </a:xfrm>
            <a:custGeom>
              <a:avLst/>
              <a:gdLst>
                <a:gd name="T0" fmla="*/ 2147483646 w 1712"/>
                <a:gd name="T1" fmla="*/ 2147483646 h 2352"/>
                <a:gd name="T2" fmla="*/ 2147483646 w 1712"/>
                <a:gd name="T3" fmla="*/ 2147483646 h 2352"/>
                <a:gd name="T4" fmla="*/ 2147483646 w 1712"/>
                <a:gd name="T5" fmla="*/ 2147483646 h 2352"/>
                <a:gd name="T6" fmla="*/ 2147483646 w 1712"/>
                <a:gd name="T7" fmla="*/ 2147483646 h 2352"/>
                <a:gd name="T8" fmla="*/ 2147483646 w 1712"/>
                <a:gd name="T9" fmla="*/ 2147483646 h 2352"/>
                <a:gd name="T10" fmla="*/ 0 w 1712"/>
                <a:gd name="T11" fmla="*/ 0 h 235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12"/>
                <a:gd name="T19" fmla="*/ 0 h 2352"/>
                <a:gd name="T20" fmla="*/ 1712 w 1712"/>
                <a:gd name="T21" fmla="*/ 2352 h 235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12" h="2352">
                  <a:moveTo>
                    <a:pt x="1440" y="2352"/>
                  </a:moveTo>
                  <a:cubicBezTo>
                    <a:pt x="1516" y="2060"/>
                    <a:pt x="1592" y="1768"/>
                    <a:pt x="1632" y="1488"/>
                  </a:cubicBezTo>
                  <a:cubicBezTo>
                    <a:pt x="1672" y="1208"/>
                    <a:pt x="1712" y="888"/>
                    <a:pt x="1680" y="672"/>
                  </a:cubicBezTo>
                  <a:cubicBezTo>
                    <a:pt x="1648" y="456"/>
                    <a:pt x="1536" y="296"/>
                    <a:pt x="1440" y="192"/>
                  </a:cubicBezTo>
                  <a:cubicBezTo>
                    <a:pt x="1344" y="88"/>
                    <a:pt x="1344" y="80"/>
                    <a:pt x="1104" y="48"/>
                  </a:cubicBezTo>
                  <a:cubicBezTo>
                    <a:pt x="864" y="16"/>
                    <a:pt x="152" y="0"/>
                    <a:pt x="0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10" name="Freeform 54"/>
            <p:cNvSpPr>
              <a:spLocks/>
            </p:cNvSpPr>
            <p:nvPr/>
          </p:nvSpPr>
          <p:spPr bwMode="auto">
            <a:xfrm>
              <a:off x="4878000" y="3546021"/>
              <a:ext cx="971549" cy="844978"/>
            </a:xfrm>
            <a:custGeom>
              <a:avLst/>
              <a:gdLst>
                <a:gd name="T0" fmla="*/ 2147483646 w 640"/>
                <a:gd name="T1" fmla="*/ 0 h 1104"/>
                <a:gd name="T2" fmla="*/ 2147483646 w 640"/>
                <a:gd name="T3" fmla="*/ 2147483646 h 1104"/>
                <a:gd name="T4" fmla="*/ 2147483646 w 640"/>
                <a:gd name="T5" fmla="*/ 2147483646 h 1104"/>
                <a:gd name="T6" fmla="*/ 0 w 640"/>
                <a:gd name="T7" fmla="*/ 2147483646 h 110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0"/>
                <a:gd name="T13" fmla="*/ 0 h 1104"/>
                <a:gd name="T14" fmla="*/ 640 w 640"/>
                <a:gd name="T15" fmla="*/ 1104 h 110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0" h="1104">
                  <a:moveTo>
                    <a:pt x="624" y="0"/>
                  </a:moveTo>
                  <a:cubicBezTo>
                    <a:pt x="632" y="144"/>
                    <a:pt x="640" y="288"/>
                    <a:pt x="624" y="384"/>
                  </a:cubicBezTo>
                  <a:cubicBezTo>
                    <a:pt x="608" y="480"/>
                    <a:pt x="632" y="456"/>
                    <a:pt x="528" y="576"/>
                  </a:cubicBezTo>
                  <a:cubicBezTo>
                    <a:pt x="424" y="696"/>
                    <a:pt x="212" y="900"/>
                    <a:pt x="0" y="1104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11" name="Text Box 56"/>
            <p:cNvSpPr txBox="1">
              <a:spLocks noChangeArrowheads="1"/>
            </p:cNvSpPr>
            <p:nvPr/>
          </p:nvSpPr>
          <p:spPr bwMode="auto">
            <a:xfrm>
              <a:off x="6894170" y="642490"/>
              <a:ext cx="45723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</p:grpSp>
      <p:sp>
        <p:nvSpPr>
          <p:cNvPr id="104456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D0CE3AF-5D31-4674-B633-CEC93D438B82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30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8208963" cy="358775"/>
          </a:xfrm>
        </p:spPr>
        <p:txBody>
          <a:bodyPr/>
          <a:lstStyle/>
          <a:p>
            <a:pPr eaLnBrk="1" hangingPunct="1"/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表达式文法的</a:t>
            </a:r>
            <a:r>
              <a:rPr lang="en-US" altLang="zh-CN" sz="2800" i="1">
                <a:solidFill>
                  <a:schemeClr val="tx1"/>
                </a:solidFill>
              </a:rPr>
              <a:t>LR</a:t>
            </a:r>
            <a:r>
              <a:rPr lang="en-US" altLang="zh-CN" sz="2800">
                <a:solidFill>
                  <a:schemeClr val="tx1"/>
                </a:solidFill>
              </a:rPr>
              <a:t>(0)</a:t>
            </a: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分析表含有</a:t>
            </a:r>
            <a:r>
              <a:rPr lang="zh-CN" altLang="en-US" sz="280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移进</a:t>
            </a:r>
            <a:r>
              <a:rPr lang="en-US" altLang="zh-CN" sz="280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归约</a:t>
            </a: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冲突</a:t>
            </a:r>
            <a:endParaRPr lang="zh-CN" altLang="zh-CN" sz="2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Group 18"/>
          <p:cNvGraphicFramePr>
            <a:graphicFrameLocks noGrp="1"/>
          </p:cNvGraphicFramePr>
          <p:nvPr/>
        </p:nvGraphicFramePr>
        <p:xfrm>
          <a:off x="755650" y="700088"/>
          <a:ext cx="7777163" cy="4408493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5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1273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  <a:cs typeface="Times New Roman" pitchFamily="18" charset="0"/>
                        </a:rPr>
                        <a:t>状态</a:t>
                      </a:r>
                    </a:p>
                  </a:txBody>
                  <a:tcPr marL="91442" marR="91442" marT="34283" marB="342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ACTION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GOTO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id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</a:rPr>
                        <a:t>＋</a:t>
                      </a: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*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（</a:t>
                      </a: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）</a:t>
                      </a: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  <a:cs typeface="Times New Roman" pitchFamily="18" charset="0"/>
                        </a:rPr>
                        <a:t>$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E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T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s5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</a:t>
                      </a:r>
                      <a:r>
                        <a:rPr kumimoji="1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8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s6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itchFamily="34" charset="0"/>
                        <a:ea typeface="华文楷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itchFamily="34" charset="0"/>
                        <a:ea typeface="华文楷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itchFamily="34" charset="0"/>
                        <a:ea typeface="华文楷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r2/s7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s5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r6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r6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r6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r6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r6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r6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s5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s5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s6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s11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r1/s7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r5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r5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r5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r5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r5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r5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06658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71759C4-4955-4FBE-960E-5E2862B8EA83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31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</a:t>
            </a:r>
            <a:r>
              <a:rPr lang="zh-CN" altLang="en-US" sz="300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移进</a:t>
            </a:r>
            <a:r>
              <a:rPr lang="en-US" altLang="zh-CN" sz="300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00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归约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冲突和</a:t>
            </a:r>
            <a:r>
              <a:rPr lang="zh-CN" altLang="en-US" sz="300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归约</a:t>
            </a:r>
            <a:r>
              <a:rPr lang="en-US" altLang="zh-CN" sz="300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00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归约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冲突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22263" y="4529138"/>
            <a:ext cx="8607425" cy="4000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 sz="2000" b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不是所有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CFG</a:t>
            </a:r>
            <a:r>
              <a:rPr kumimoji="1" lang="zh-CN" altLang="en-US" sz="2000" b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都能用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LR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(0)</a:t>
            </a:r>
            <a:r>
              <a:rPr kumimoji="1" lang="zh-CN" altLang="en-US" sz="2000" b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方法进行分析，也就是说，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CFG</a:t>
            </a:r>
            <a:r>
              <a:rPr kumimoji="1" lang="zh-CN" altLang="en-US" sz="2000" b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不总是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LR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(0)</a:t>
            </a:r>
            <a:r>
              <a:rPr kumimoji="1" lang="zh-CN" altLang="en-US" sz="2000" b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文法</a:t>
            </a:r>
          </a:p>
        </p:txBody>
      </p:sp>
      <p:sp>
        <p:nvSpPr>
          <p:cNvPr id="7" name="矩形 6"/>
          <p:cNvSpPr/>
          <p:nvPr/>
        </p:nvSpPr>
        <p:spPr>
          <a:xfrm>
            <a:off x="765175" y="3076575"/>
            <a:ext cx="2520950" cy="13239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000" b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如果</a:t>
            </a:r>
            <a:r>
              <a:rPr lang="en-US" altLang="zh-CN" sz="2000" b="1" i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LR</a:t>
            </a:r>
            <a:r>
              <a:rPr lang="en-US" altLang="zh-CN" sz="2000" b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(0)</a:t>
            </a:r>
            <a:r>
              <a:rPr lang="zh-CN" altLang="en-US" sz="20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分析表中</a:t>
            </a:r>
            <a:r>
              <a:rPr lang="zh-CN" altLang="en-US" sz="2000" b="1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没有</a:t>
            </a:r>
            <a:r>
              <a:rPr lang="zh-CN" altLang="en-US" sz="2000" b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语法分析动作</a:t>
            </a:r>
            <a:r>
              <a:rPr lang="zh-CN" altLang="en-US" sz="2000" b="1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冲突</a:t>
            </a:r>
            <a:r>
              <a:rPr lang="zh-CN" altLang="en-US" sz="2000" b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，那么给定的文法就称为</a:t>
            </a:r>
            <a:r>
              <a:rPr lang="en-US" altLang="zh-CN" sz="2000" b="1" i="1">
                <a:solidFill>
                  <a:srgbClr val="FF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LR</a:t>
            </a:r>
            <a:r>
              <a:rPr lang="en-US" altLang="zh-CN" sz="2000" b="1">
                <a:solidFill>
                  <a:srgbClr val="FF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(0)</a:t>
            </a:r>
            <a:r>
              <a:rPr lang="zh-CN" altLang="en-US" sz="2000" b="1">
                <a:solidFill>
                  <a:srgbClr val="FF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文法</a:t>
            </a:r>
          </a:p>
        </p:txBody>
      </p:sp>
      <p:sp>
        <p:nvSpPr>
          <p:cNvPr id="114694" name="矩形 7"/>
          <p:cNvSpPr>
            <a:spLocks noChangeArrowheads="1"/>
          </p:cNvSpPr>
          <p:nvPr/>
        </p:nvSpPr>
        <p:spPr bwMode="auto">
          <a:xfrm>
            <a:off x="785813" y="928688"/>
            <a:ext cx="1530350" cy="20002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文法</a:t>
            </a:r>
            <a:endParaRPr lang="en-US" altLang="zh-CN" sz="2400" b="1" dirty="0">
              <a:solidFill>
                <a:prstClr val="black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(0)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S′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→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b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</a:b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(1)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→ </a:t>
            </a:r>
            <a:r>
              <a:rPr lang="en-US" altLang="zh-CN" sz="2000" b="1" i="1" dirty="0" err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aBd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</a:p>
          <a:p>
            <a:pPr eaLnBrk="1" hangingPunct="1"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(2)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→ 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ε</a:t>
            </a:r>
            <a:b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</a:b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(3)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→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Tb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</a:p>
          <a:p>
            <a:pPr eaLnBrk="1" hangingPunct="1"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(4)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→ 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ε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endParaRPr lang="zh-CN" altLang="en-US" sz="2000" b="1" dirty="0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grpSp>
        <p:nvGrpSpPr>
          <p:cNvPr id="2" name="组合 29"/>
          <p:cNvGrpSpPr>
            <a:grpSpLocks/>
          </p:cNvGrpSpPr>
          <p:nvPr/>
        </p:nvGrpSpPr>
        <p:grpSpPr bwMode="auto">
          <a:xfrm>
            <a:off x="3429000" y="928688"/>
            <a:ext cx="5191125" cy="3511550"/>
            <a:chOff x="3586436" y="889635"/>
            <a:chExt cx="5190781" cy="3510628"/>
          </a:xfrm>
        </p:grpSpPr>
        <p:sp>
          <p:nvSpPr>
            <p:cNvPr id="8" name="Text Box 14"/>
            <p:cNvSpPr txBox="1">
              <a:spLocks noChangeArrowheads="1"/>
            </p:cNvSpPr>
            <p:nvPr/>
          </p:nvSpPr>
          <p:spPr bwMode="auto">
            <a:xfrm>
              <a:off x="3586436" y="889635"/>
              <a:ext cx="1285790" cy="132362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2000" b="1" i="1" baseline="-25000" dirty="0">
                  <a:solidFill>
                    <a:prstClr val="black"/>
                  </a:solidFill>
                  <a:latin typeface="Times New Roman" pitchFamily="18" charset="0"/>
                </a:rPr>
                <a:t>0</a:t>
              </a:r>
              <a:r>
                <a:rPr kumimoji="1" lang="en-US" altLang="zh-CN" sz="20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S</a:t>
              </a:r>
              <a:r>
                <a:rPr lang="en-US" altLang="zh-CN" sz="2000" b="1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</a:t>
              </a:r>
              <a:r>
                <a:rPr kumimoji="1" lang="en-US" altLang="zh-CN" sz="2000" b="1" i="1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itchFamily="18" charset="0"/>
                </a:rPr>
                <a:t>  </a:t>
              </a: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→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 </a:t>
              </a: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T→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2000" b="1" i="1" dirty="0" err="1">
                  <a:solidFill>
                    <a:prstClr val="black"/>
                  </a:solidFill>
                  <a:latin typeface="Times New Roman" pitchFamily="18" charset="0"/>
                </a:rPr>
                <a:t>aBd</a:t>
              </a:r>
              <a:endPara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T →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endPara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9" name="Text Box 14"/>
            <p:cNvSpPr txBox="1">
              <a:spLocks noChangeArrowheads="1"/>
            </p:cNvSpPr>
            <p:nvPr/>
          </p:nvSpPr>
          <p:spPr bwMode="auto">
            <a:xfrm>
              <a:off x="3586436" y="2460847"/>
              <a:ext cx="1285790" cy="193941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2000" b="1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kumimoji="1" lang="en-US" altLang="zh-CN" sz="20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2000" b="1" i="1" dirty="0" err="1">
                  <a:solidFill>
                    <a:prstClr val="black"/>
                  </a:solidFill>
                  <a:latin typeface="Times New Roman" pitchFamily="18" charset="0"/>
                </a:rPr>
                <a:t>T→a</a:t>
              </a: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</a:t>
              </a: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kumimoji="1" lang="en-US" altLang="zh-CN" sz="2000" b="1" i="1" dirty="0" err="1">
                  <a:solidFill>
                    <a:prstClr val="black"/>
                  </a:solidFill>
                  <a:latin typeface="Times New Roman" pitchFamily="18" charset="0"/>
                </a:rPr>
                <a:t>Bd</a:t>
              </a:r>
              <a:endPara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B →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 </a:t>
              </a: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Tb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B →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</a:t>
              </a:r>
              <a:endPara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T→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2000" b="1" i="1" dirty="0" err="1">
                  <a:solidFill>
                    <a:prstClr val="black"/>
                  </a:solidFill>
                  <a:latin typeface="Times New Roman" pitchFamily="18" charset="0"/>
                </a:rPr>
                <a:t>aBd</a:t>
              </a:r>
              <a:endPara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T →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</a:t>
              </a:r>
              <a:endPara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10" name="Text Box 14"/>
            <p:cNvSpPr txBox="1">
              <a:spLocks noChangeArrowheads="1"/>
            </p:cNvSpPr>
            <p:nvPr/>
          </p:nvSpPr>
          <p:spPr bwMode="auto">
            <a:xfrm>
              <a:off x="5657987" y="1324496"/>
              <a:ext cx="1261978" cy="70783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2000" b="1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kumimoji="1" lang="en-US" altLang="zh-CN" sz="20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S</a:t>
              </a:r>
              <a:r>
                <a:rPr lang="en-US" altLang="zh-CN" sz="2000" b="1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</a:t>
              </a:r>
              <a:r>
                <a:rPr kumimoji="1" lang="en-US" altLang="zh-CN" sz="2000" b="1" i="1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itchFamily="18" charset="0"/>
                </a:rPr>
                <a:t> </a:t>
              </a: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→ T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 </a:t>
              </a:r>
              <a:endPara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11" name="Text Box 14"/>
            <p:cNvSpPr txBox="1">
              <a:spLocks noChangeArrowheads="1"/>
            </p:cNvSpPr>
            <p:nvPr/>
          </p:nvSpPr>
          <p:spPr bwMode="auto">
            <a:xfrm>
              <a:off x="5657987" y="2610033"/>
              <a:ext cx="1285790" cy="70783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2000" b="1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kumimoji="1" lang="en-US" altLang="zh-CN" sz="20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2000" b="1" i="1" dirty="0" err="1">
                  <a:solidFill>
                    <a:prstClr val="black"/>
                  </a:solidFill>
                  <a:latin typeface="Times New Roman" pitchFamily="18" charset="0"/>
                </a:rPr>
                <a:t>T→aB</a:t>
              </a: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</a:t>
              </a: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 d</a:t>
              </a:r>
            </a:p>
          </p:txBody>
        </p:sp>
        <p:sp>
          <p:nvSpPr>
            <p:cNvPr id="12" name="Text Box 14"/>
            <p:cNvSpPr txBox="1">
              <a:spLocks noChangeArrowheads="1"/>
            </p:cNvSpPr>
            <p:nvPr/>
          </p:nvSpPr>
          <p:spPr bwMode="auto">
            <a:xfrm>
              <a:off x="5657987" y="3540064"/>
              <a:ext cx="1285790" cy="70783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2000" b="1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kumimoji="1" lang="en-US" altLang="zh-CN" sz="20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B→T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 </a:t>
              </a: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3" name="Text Box 14"/>
            <p:cNvSpPr txBox="1">
              <a:spLocks noChangeArrowheads="1"/>
            </p:cNvSpPr>
            <p:nvPr/>
          </p:nvSpPr>
          <p:spPr bwMode="auto">
            <a:xfrm>
              <a:off x="7586671" y="2610033"/>
              <a:ext cx="1190546" cy="70783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2000" b="1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kumimoji="1" lang="en-US" altLang="zh-CN" sz="20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 err="1">
                  <a:solidFill>
                    <a:prstClr val="black"/>
                  </a:solidFill>
                  <a:latin typeface="Times New Roman" pitchFamily="18" charset="0"/>
                </a:rPr>
                <a:t>T→aBd</a:t>
              </a: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</a:t>
              </a:r>
              <a:endPara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7586671" y="3540064"/>
              <a:ext cx="1190546" cy="70783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2000" b="1" i="1" baseline="-25000" dirty="0">
                  <a:solidFill>
                    <a:prstClr val="black"/>
                  </a:solidFill>
                  <a:latin typeface="Times New Roman" pitchFamily="18" charset="0"/>
                </a:rPr>
                <a:t>6</a:t>
              </a:r>
              <a:r>
                <a:rPr kumimoji="1" lang="en-US" altLang="zh-CN" sz="20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 err="1">
                  <a:solidFill>
                    <a:prstClr val="black"/>
                  </a:solidFill>
                  <a:latin typeface="Times New Roman" pitchFamily="18" charset="0"/>
                </a:rPr>
                <a:t>B→Tb</a:t>
              </a: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</a:t>
              </a:r>
              <a:endPara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108560" name="Line 18"/>
            <p:cNvSpPr>
              <a:spLocks noChangeShapeType="1"/>
            </p:cNvSpPr>
            <p:nvPr/>
          </p:nvSpPr>
          <p:spPr bwMode="auto">
            <a:xfrm>
              <a:off x="4872320" y="1675453"/>
              <a:ext cx="79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561" name="Line 18"/>
            <p:cNvSpPr>
              <a:spLocks noChangeShapeType="1"/>
            </p:cNvSpPr>
            <p:nvPr/>
          </p:nvSpPr>
          <p:spPr bwMode="auto">
            <a:xfrm>
              <a:off x="4872320" y="2961337"/>
              <a:ext cx="79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562" name="Line 18"/>
            <p:cNvSpPr>
              <a:spLocks noChangeShapeType="1"/>
            </p:cNvSpPr>
            <p:nvPr/>
          </p:nvSpPr>
          <p:spPr bwMode="auto">
            <a:xfrm>
              <a:off x="4872320" y="3890031"/>
              <a:ext cx="79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563" name="Line 18"/>
            <p:cNvSpPr>
              <a:spLocks noChangeShapeType="1"/>
            </p:cNvSpPr>
            <p:nvPr/>
          </p:nvSpPr>
          <p:spPr bwMode="auto">
            <a:xfrm>
              <a:off x="6944022" y="3890031"/>
              <a:ext cx="648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564" name="Line 18"/>
            <p:cNvSpPr>
              <a:spLocks noChangeShapeType="1"/>
            </p:cNvSpPr>
            <p:nvPr/>
          </p:nvSpPr>
          <p:spPr bwMode="auto">
            <a:xfrm>
              <a:off x="6944022" y="2961337"/>
              <a:ext cx="648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565" name="Line 18"/>
            <p:cNvSpPr>
              <a:spLocks noChangeShapeType="1"/>
            </p:cNvSpPr>
            <p:nvPr/>
          </p:nvSpPr>
          <p:spPr bwMode="auto">
            <a:xfrm flipH="1">
              <a:off x="4229378" y="2227273"/>
              <a:ext cx="0" cy="216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任意多边形 21"/>
            <p:cNvSpPr/>
            <p:nvPr/>
          </p:nvSpPr>
          <p:spPr>
            <a:xfrm>
              <a:off x="4710312" y="2298965"/>
              <a:ext cx="357164" cy="376138"/>
            </a:xfrm>
            <a:custGeom>
              <a:avLst/>
              <a:gdLst>
                <a:gd name="connsiteX0" fmla="*/ 231006 w 495701"/>
                <a:gd name="connsiteY0" fmla="*/ 519764 h 519764"/>
                <a:gd name="connsiteX1" fmla="*/ 442762 w 495701"/>
                <a:gd name="connsiteY1" fmla="*/ 423511 h 519764"/>
                <a:gd name="connsiteX2" fmla="*/ 490888 w 495701"/>
                <a:gd name="connsiteY2" fmla="*/ 202130 h 519764"/>
                <a:gd name="connsiteX3" fmla="*/ 413886 w 495701"/>
                <a:gd name="connsiteY3" fmla="*/ 48126 h 519764"/>
                <a:gd name="connsiteX4" fmla="*/ 221381 w 495701"/>
                <a:gd name="connsiteY4" fmla="*/ 0 h 519764"/>
                <a:gd name="connsiteX5" fmla="*/ 77002 w 495701"/>
                <a:gd name="connsiteY5" fmla="*/ 48126 h 519764"/>
                <a:gd name="connsiteX6" fmla="*/ 0 w 495701"/>
                <a:gd name="connsiteY6" fmla="*/ 211756 h 519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5701" h="519764">
                  <a:moveTo>
                    <a:pt x="231006" y="519764"/>
                  </a:moveTo>
                  <a:cubicBezTo>
                    <a:pt x="315227" y="498107"/>
                    <a:pt x="399448" y="476450"/>
                    <a:pt x="442762" y="423511"/>
                  </a:cubicBezTo>
                  <a:cubicBezTo>
                    <a:pt x="486076" y="370572"/>
                    <a:pt x="495701" y="264694"/>
                    <a:pt x="490888" y="202130"/>
                  </a:cubicBezTo>
                  <a:cubicBezTo>
                    <a:pt x="486075" y="139566"/>
                    <a:pt x="458804" y="81814"/>
                    <a:pt x="413886" y="48126"/>
                  </a:cubicBezTo>
                  <a:cubicBezTo>
                    <a:pt x="368968" y="14438"/>
                    <a:pt x="277528" y="0"/>
                    <a:pt x="221381" y="0"/>
                  </a:cubicBezTo>
                  <a:cubicBezTo>
                    <a:pt x="165234" y="0"/>
                    <a:pt x="113899" y="12833"/>
                    <a:pt x="77002" y="48126"/>
                  </a:cubicBezTo>
                  <a:cubicBezTo>
                    <a:pt x="40105" y="83419"/>
                    <a:pt x="20052" y="147587"/>
                    <a:pt x="0" y="211756"/>
                  </a:cubicBezTo>
                </a:path>
              </a:pathLst>
            </a:cu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8567" name="Text Box 4"/>
            <p:cNvSpPr txBox="1">
              <a:spLocks noChangeArrowheads="1"/>
            </p:cNvSpPr>
            <p:nvPr/>
          </p:nvSpPr>
          <p:spPr bwMode="auto">
            <a:xfrm>
              <a:off x="5086634" y="1318263"/>
              <a:ext cx="38106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08568" name="Text Box 4"/>
            <p:cNvSpPr txBox="1">
              <a:spLocks noChangeArrowheads="1"/>
            </p:cNvSpPr>
            <p:nvPr/>
          </p:nvSpPr>
          <p:spPr bwMode="auto">
            <a:xfrm>
              <a:off x="5086634" y="3532841"/>
              <a:ext cx="38106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08569" name="Text Box 4"/>
            <p:cNvSpPr txBox="1">
              <a:spLocks noChangeArrowheads="1"/>
            </p:cNvSpPr>
            <p:nvPr/>
          </p:nvSpPr>
          <p:spPr bwMode="auto">
            <a:xfrm>
              <a:off x="5086634" y="2561287"/>
              <a:ext cx="38106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08570" name="Text Box 4"/>
            <p:cNvSpPr txBox="1">
              <a:spLocks noChangeArrowheads="1"/>
            </p:cNvSpPr>
            <p:nvPr/>
          </p:nvSpPr>
          <p:spPr bwMode="auto">
            <a:xfrm>
              <a:off x="5015196" y="2061221"/>
              <a:ext cx="38106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08571" name="Text Box 4"/>
            <p:cNvSpPr txBox="1">
              <a:spLocks noChangeArrowheads="1"/>
            </p:cNvSpPr>
            <p:nvPr/>
          </p:nvSpPr>
          <p:spPr bwMode="auto">
            <a:xfrm>
              <a:off x="3903128" y="2120366"/>
              <a:ext cx="38106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08572" name="Text Box 4"/>
            <p:cNvSpPr txBox="1">
              <a:spLocks noChangeArrowheads="1"/>
            </p:cNvSpPr>
            <p:nvPr/>
          </p:nvSpPr>
          <p:spPr bwMode="auto">
            <a:xfrm>
              <a:off x="7086898" y="2604147"/>
              <a:ext cx="38106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08573" name="Text Box 4"/>
            <p:cNvSpPr txBox="1">
              <a:spLocks noChangeArrowheads="1"/>
            </p:cNvSpPr>
            <p:nvPr/>
          </p:nvSpPr>
          <p:spPr bwMode="auto">
            <a:xfrm>
              <a:off x="7086898" y="3532841"/>
              <a:ext cx="38106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</p:grpSp>
      <p:sp>
        <p:nvSpPr>
          <p:cNvPr id="28" name="AutoShape 58"/>
          <p:cNvSpPr>
            <a:spLocks noChangeArrowheads="1"/>
          </p:cNvSpPr>
          <p:nvPr/>
        </p:nvSpPr>
        <p:spPr bwMode="auto">
          <a:xfrm>
            <a:off x="6858000" y="857250"/>
            <a:ext cx="2197100" cy="1133475"/>
          </a:xfrm>
          <a:prstGeom prst="cloudCallout">
            <a:avLst>
              <a:gd name="adj1" fmla="val -44381"/>
              <a:gd name="adj2" fmla="val 78759"/>
            </a:avLst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lIns="46800" rIns="46800"/>
          <a:lstStyle/>
          <a:p>
            <a:pPr algn="ctr">
              <a:spcBef>
                <a:spcPct val="20000"/>
              </a:spcBef>
              <a:buClr>
                <a:srgbClr val="333399"/>
              </a:buClr>
              <a:buSzPct val="75000"/>
              <a:buFont typeface="Monotype Sorts"/>
              <a:buNone/>
              <a:defRPr/>
            </a:pPr>
            <a:r>
              <a:rPr lang="zh-CN" altLang="en-US" sz="2500" b="1" dirty="0">
                <a:solidFill>
                  <a:prstClr val="white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如何消解冲突？</a:t>
            </a:r>
          </a:p>
        </p:txBody>
      </p:sp>
      <p:sp>
        <p:nvSpPr>
          <p:cNvPr id="108552" name="灯片编号占位符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1B05E0A-6589-47FB-B38D-CEBCA175C8E1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32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内容占位符 2"/>
          <p:cNvSpPr>
            <a:spLocks noGrp="1"/>
          </p:cNvSpPr>
          <p:nvPr>
            <p:ph idx="1"/>
          </p:nvPr>
        </p:nvSpPr>
        <p:spPr>
          <a:xfrm>
            <a:off x="550863" y="714375"/>
            <a:ext cx="1628775" cy="2701925"/>
          </a:xfr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anchor="ctr"/>
          <a:lstStyle/>
          <a:p>
            <a:pPr marL="0" indent="0" eaLnBrk="1" hangingPunct="1">
              <a:lnSpc>
                <a:spcPts val="2000"/>
              </a:lnSpc>
              <a:buClrTx/>
              <a:buFont typeface="Symbol" panose="05050102010706020507" pitchFamily="18" charset="2"/>
              <a:buNone/>
              <a:defRPr/>
            </a:pPr>
            <a:r>
              <a:rPr lang="zh-CN" altLang="en-US" sz="2500" b="1">
                <a:solidFill>
                  <a:schemeClr val="tx1"/>
                </a:solidFill>
                <a:ea typeface="宋体" pitchFamily="2" charset="-122"/>
              </a:rPr>
              <a:t>文法：</a:t>
            </a:r>
            <a:endParaRPr lang="en-US" altLang="zh-CN" b="1">
              <a:solidFill>
                <a:schemeClr val="tx1"/>
              </a:solidFill>
              <a:ea typeface="宋体" pitchFamily="2" charset="-122"/>
              <a:cs typeface="Times New Roman" pitchFamily="18" charset="0"/>
            </a:endParaRPr>
          </a:p>
          <a:p>
            <a:pPr marL="0" indent="0" eaLnBrk="1" hangingPunct="1">
              <a:lnSpc>
                <a:spcPts val="20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20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(0) </a:t>
            </a: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</a:rPr>
              <a:t>E</a:t>
            </a: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′</a:t>
            </a:r>
            <a:r>
              <a:rPr lang="en-US" altLang="zh-CN" sz="2000" b="1" i="1">
                <a:ea typeface="宋体" pitchFamily="2" charset="-122"/>
                <a:cs typeface="Times New Roman" pitchFamily="18" charset="0"/>
              </a:rPr>
              <a:t> </a:t>
            </a:r>
            <a:r>
              <a:rPr lang="en-US" altLang="zh-CN" sz="2000" b="1">
                <a:solidFill>
                  <a:schemeClr val="tx1"/>
                </a:solidFill>
                <a:ea typeface="宋体" pitchFamily="2" charset="-122"/>
              </a:rPr>
              <a:t>→ </a:t>
            </a: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ea typeface="宋体" pitchFamily="2" charset="-122"/>
              </a:rPr>
              <a:t> </a:t>
            </a:r>
          </a:p>
          <a:p>
            <a:pPr marL="0" indent="0" eaLnBrk="1" hangingPunct="1">
              <a:lnSpc>
                <a:spcPts val="20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2000" b="1">
                <a:solidFill>
                  <a:schemeClr val="tx1"/>
                </a:solidFill>
                <a:ea typeface="宋体" pitchFamily="2" charset="-122"/>
              </a:rPr>
              <a:t>(1) </a:t>
            </a: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ea typeface="宋体" pitchFamily="2" charset="-122"/>
              </a:rPr>
              <a:t> → </a:t>
            </a: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ea typeface="宋体" pitchFamily="2" charset="-122"/>
              </a:rPr>
              <a:t>+</a:t>
            </a: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</a:rPr>
              <a:t>T</a:t>
            </a:r>
          </a:p>
          <a:p>
            <a:pPr marL="0" indent="0" eaLnBrk="1" hangingPunct="1">
              <a:lnSpc>
                <a:spcPts val="20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2000" b="1">
                <a:solidFill>
                  <a:schemeClr val="tx1"/>
                </a:solidFill>
                <a:ea typeface="宋体" pitchFamily="2" charset="-122"/>
              </a:rPr>
              <a:t>(2) </a:t>
            </a: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ea typeface="宋体" pitchFamily="2" charset="-122"/>
              </a:rPr>
              <a:t> → </a:t>
            </a: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</a:rPr>
              <a:t>T</a:t>
            </a:r>
          </a:p>
          <a:p>
            <a:pPr marL="0" indent="0" eaLnBrk="1" hangingPunct="1">
              <a:lnSpc>
                <a:spcPts val="20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2000" b="1">
                <a:solidFill>
                  <a:schemeClr val="tx1"/>
                </a:solidFill>
                <a:ea typeface="宋体" pitchFamily="2" charset="-122"/>
              </a:rPr>
              <a:t>(3) </a:t>
            </a: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</a:rPr>
              <a:t>T</a:t>
            </a:r>
            <a:r>
              <a:rPr lang="en-US" altLang="zh-CN" sz="2000" b="1">
                <a:solidFill>
                  <a:schemeClr val="tx1"/>
                </a:solidFill>
                <a:ea typeface="宋体" pitchFamily="2" charset="-122"/>
              </a:rPr>
              <a:t> → </a:t>
            </a: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</a:rPr>
              <a:t>T</a:t>
            </a:r>
            <a:r>
              <a:rPr lang="en-US" altLang="zh-CN" sz="2000" b="1">
                <a:solidFill>
                  <a:schemeClr val="tx1"/>
                </a:solidFill>
                <a:ea typeface="宋体" pitchFamily="2" charset="-122"/>
              </a:rPr>
              <a:t>*</a:t>
            </a: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</a:rPr>
              <a:t>F</a:t>
            </a:r>
          </a:p>
          <a:p>
            <a:pPr marL="0" indent="0" eaLnBrk="1" hangingPunct="1">
              <a:lnSpc>
                <a:spcPts val="20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2000" b="1">
                <a:solidFill>
                  <a:schemeClr val="tx1"/>
                </a:solidFill>
                <a:ea typeface="宋体" pitchFamily="2" charset="-122"/>
              </a:rPr>
              <a:t>(4) </a:t>
            </a: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</a:rPr>
              <a:t>T</a:t>
            </a:r>
            <a:r>
              <a:rPr lang="en-US" altLang="zh-CN" sz="2000" b="1">
                <a:solidFill>
                  <a:schemeClr val="tx1"/>
                </a:solidFill>
                <a:ea typeface="宋体" pitchFamily="2" charset="-122"/>
              </a:rPr>
              <a:t> → </a:t>
            </a: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</a:rPr>
              <a:t>F</a:t>
            </a:r>
          </a:p>
          <a:p>
            <a:pPr marL="0" indent="0" eaLnBrk="1" hangingPunct="1">
              <a:lnSpc>
                <a:spcPts val="20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2000" b="1">
                <a:solidFill>
                  <a:schemeClr val="tx1"/>
                </a:solidFill>
                <a:ea typeface="宋体" pitchFamily="2" charset="-122"/>
              </a:rPr>
              <a:t>(5) </a:t>
            </a: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</a:rPr>
              <a:t>F</a:t>
            </a:r>
            <a:r>
              <a:rPr lang="en-US" altLang="zh-CN" sz="2000" b="1">
                <a:solidFill>
                  <a:schemeClr val="tx1"/>
                </a:solidFill>
                <a:ea typeface="宋体" pitchFamily="2" charset="-122"/>
              </a:rPr>
              <a:t> → (</a:t>
            </a: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ea typeface="宋体" pitchFamily="2" charset="-122"/>
              </a:rPr>
              <a:t>)</a:t>
            </a:r>
          </a:p>
          <a:p>
            <a:pPr marL="0" indent="0" eaLnBrk="1" hangingPunct="1">
              <a:lnSpc>
                <a:spcPts val="20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2000" b="1">
                <a:solidFill>
                  <a:schemeClr val="tx1"/>
                </a:solidFill>
                <a:ea typeface="宋体" pitchFamily="2" charset="-122"/>
              </a:rPr>
              <a:t>(6) </a:t>
            </a: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</a:rPr>
              <a:t>F</a:t>
            </a:r>
            <a:r>
              <a:rPr lang="en-US" altLang="zh-CN" sz="2000" b="1">
                <a:solidFill>
                  <a:schemeClr val="tx1"/>
                </a:solidFill>
                <a:ea typeface="宋体" pitchFamily="2" charset="-122"/>
              </a:rPr>
              <a:t> → id</a:t>
            </a:r>
          </a:p>
        </p:txBody>
      </p:sp>
      <p:sp>
        <p:nvSpPr>
          <p:cNvPr id="57347" name="标题 1"/>
          <p:cNvSpPr txBox="1">
            <a:spLocks noChangeArrowheads="1"/>
          </p:cNvSpPr>
          <p:nvPr/>
        </p:nvSpPr>
        <p:spPr bwMode="auto">
          <a:xfrm>
            <a:off x="798513" y="787400"/>
            <a:ext cx="793115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8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348" name="标题 1"/>
          <p:cNvSpPr>
            <a:spLocks noGrp="1" noChangeArrowheads="1"/>
          </p:cNvSpPr>
          <p:nvPr>
            <p:ph type="title"/>
          </p:nvPr>
        </p:nvSpPr>
        <p:spPr>
          <a:xfrm>
            <a:off x="717550" y="203200"/>
            <a:ext cx="7921625" cy="358775"/>
          </a:xfrm>
        </p:spPr>
        <p:txBody>
          <a:bodyPr/>
          <a:lstStyle/>
          <a:p>
            <a:pPr eaLnBrk="1" hangingPunct="1"/>
            <a:r>
              <a:rPr lang="en-US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.SLR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   例</a:t>
            </a:r>
            <a:r>
              <a:rPr lang="zh-CN" altLang="en-US" sz="3000">
                <a:solidFill>
                  <a:schemeClr val="tx1"/>
                </a:solidFill>
                <a:ea typeface="黑体" panose="02010609060101010101" pitchFamily="49" charset="-122"/>
              </a:rPr>
              <a:t>：</a:t>
            </a:r>
            <a:r>
              <a:rPr lang="en-US" altLang="zh-CN" sz="3000" i="1">
                <a:solidFill>
                  <a:schemeClr val="tx1"/>
                </a:solidFill>
                <a:ea typeface="黑体" panose="02010609060101010101" pitchFamily="49" charset="-122"/>
              </a:rPr>
              <a:t>LR</a:t>
            </a:r>
            <a:r>
              <a:rPr lang="en-US" altLang="zh-CN" sz="3000">
                <a:solidFill>
                  <a:schemeClr val="tx1"/>
                </a:solidFill>
                <a:ea typeface="黑体" panose="02010609060101010101" pitchFamily="49" charset="-122"/>
              </a:rPr>
              <a:t>(0)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分析过程中的冲突</a:t>
            </a:r>
          </a:p>
        </p:txBody>
      </p:sp>
      <p:graphicFrame>
        <p:nvGraphicFramePr>
          <p:cNvPr id="64" name="Group 18"/>
          <p:cNvGraphicFramePr>
            <a:graphicFrameLocks noGrp="1"/>
          </p:cNvGraphicFramePr>
          <p:nvPr/>
        </p:nvGraphicFramePr>
        <p:xfrm>
          <a:off x="142875" y="3522663"/>
          <a:ext cx="2089150" cy="1493836"/>
        </p:xfrm>
        <a:graphic>
          <a:graphicData uri="http://schemas.openxmlformats.org/drawingml/2006/table">
            <a:tbl>
              <a:tblPr/>
              <a:tblGrid>
                <a:gridCol w="360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45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L="91546" marR="91546" marT="34322" marB="3432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98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FOLLOW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 )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91546" marR="91546" marT="34322" marB="3432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9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45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marL="91546" marR="91546" marT="34322" marB="3432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  ),  +, 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 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91546" marR="91546" marT="34322" marB="3432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45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</a:p>
                  </a:txBody>
                  <a:tcPr marL="91546" marR="91546" marT="34322" marB="3432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  ),  +, 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 ,  *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91546" marR="91546" marT="34322" marB="3432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45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marL="91546" marR="91546" marT="34322" marB="3432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  ),  +, 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 , *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91546" marR="91546" marT="34322" marB="3432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3" name="任意多边形 62"/>
          <p:cNvSpPr/>
          <p:nvPr/>
        </p:nvSpPr>
        <p:spPr>
          <a:xfrm>
            <a:off x="2679700" y="909638"/>
            <a:ext cx="6288088" cy="4106862"/>
          </a:xfrm>
          <a:custGeom>
            <a:avLst/>
            <a:gdLst>
              <a:gd name="connsiteX0" fmla="*/ 5697416 w 8383465"/>
              <a:gd name="connsiteY0" fmla="*/ 2930 h 5489330"/>
              <a:gd name="connsiteX1" fmla="*/ 6770077 w 8383465"/>
              <a:gd name="connsiteY1" fmla="*/ 20515 h 5489330"/>
              <a:gd name="connsiteX2" fmla="*/ 7429500 w 8383465"/>
              <a:gd name="connsiteY2" fmla="*/ 126023 h 5489330"/>
              <a:gd name="connsiteX3" fmla="*/ 8018585 w 8383465"/>
              <a:gd name="connsiteY3" fmla="*/ 574430 h 5489330"/>
              <a:gd name="connsiteX4" fmla="*/ 8326316 w 8383465"/>
              <a:gd name="connsiteY4" fmla="*/ 1471246 h 5489330"/>
              <a:gd name="connsiteX5" fmla="*/ 8317523 w 8383465"/>
              <a:gd name="connsiteY5" fmla="*/ 3968261 h 5489330"/>
              <a:gd name="connsiteX6" fmla="*/ 7930662 w 8383465"/>
              <a:gd name="connsiteY6" fmla="*/ 5146430 h 5489330"/>
              <a:gd name="connsiteX7" fmla="*/ 6761285 w 8383465"/>
              <a:gd name="connsiteY7" fmla="*/ 5427784 h 5489330"/>
              <a:gd name="connsiteX8" fmla="*/ 2233246 w 8383465"/>
              <a:gd name="connsiteY8" fmla="*/ 5462953 h 5489330"/>
              <a:gd name="connsiteX9" fmla="*/ 826477 w 8383465"/>
              <a:gd name="connsiteY9" fmla="*/ 5269523 h 5489330"/>
              <a:gd name="connsiteX10" fmla="*/ 0 w 8383465"/>
              <a:gd name="connsiteY10" fmla="*/ 4205653 h 5489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383465" h="5489330">
                <a:moveTo>
                  <a:pt x="5697416" y="2930"/>
                </a:moveTo>
                <a:cubicBezTo>
                  <a:pt x="6089406" y="1465"/>
                  <a:pt x="6481396" y="0"/>
                  <a:pt x="6770077" y="20515"/>
                </a:cubicBezTo>
                <a:cubicBezTo>
                  <a:pt x="7058758" y="41031"/>
                  <a:pt x="7221415" y="33704"/>
                  <a:pt x="7429500" y="126023"/>
                </a:cubicBezTo>
                <a:cubicBezTo>
                  <a:pt x="7637585" y="218342"/>
                  <a:pt x="7869116" y="350226"/>
                  <a:pt x="8018585" y="574430"/>
                </a:cubicBezTo>
                <a:cubicBezTo>
                  <a:pt x="8168054" y="798634"/>
                  <a:pt x="8276493" y="905607"/>
                  <a:pt x="8326316" y="1471246"/>
                </a:cubicBezTo>
                <a:cubicBezTo>
                  <a:pt x="8376139" y="2036885"/>
                  <a:pt x="8383465" y="3355730"/>
                  <a:pt x="8317523" y="3968261"/>
                </a:cubicBezTo>
                <a:cubicBezTo>
                  <a:pt x="8251581" y="4580792"/>
                  <a:pt x="8190035" y="4903176"/>
                  <a:pt x="7930662" y="5146430"/>
                </a:cubicBezTo>
                <a:cubicBezTo>
                  <a:pt x="7671289" y="5389684"/>
                  <a:pt x="7710854" y="5375030"/>
                  <a:pt x="6761285" y="5427784"/>
                </a:cubicBezTo>
                <a:cubicBezTo>
                  <a:pt x="5811716" y="5480538"/>
                  <a:pt x="3222381" y="5489330"/>
                  <a:pt x="2233246" y="5462953"/>
                </a:cubicBezTo>
                <a:cubicBezTo>
                  <a:pt x="1244111" y="5436576"/>
                  <a:pt x="1198685" y="5479073"/>
                  <a:pt x="826477" y="5269523"/>
                </a:cubicBezTo>
                <a:cubicBezTo>
                  <a:pt x="454269" y="5059973"/>
                  <a:pt x="227134" y="4632813"/>
                  <a:pt x="0" y="4205653"/>
                </a:cubicBezTo>
              </a:path>
            </a:pathLst>
          </a:cu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black"/>
              </a:solidFill>
            </a:endParaRPr>
          </a:p>
        </p:txBody>
      </p:sp>
      <p:grpSp>
        <p:nvGrpSpPr>
          <p:cNvPr id="57367" name="组合 1"/>
          <p:cNvGrpSpPr>
            <a:grpSpLocks/>
          </p:cNvGrpSpPr>
          <p:nvPr/>
        </p:nvGrpSpPr>
        <p:grpSpPr bwMode="auto">
          <a:xfrm>
            <a:off x="2312988" y="571500"/>
            <a:ext cx="6470650" cy="4287838"/>
            <a:chOff x="2204642" y="642490"/>
            <a:chExt cx="6471793" cy="4286713"/>
          </a:xfrm>
        </p:grpSpPr>
        <p:sp>
          <p:nvSpPr>
            <p:cNvPr id="57369" name="Freeform 27"/>
            <p:cNvSpPr>
              <a:spLocks noChangeArrowheads="1"/>
            </p:cNvSpPr>
            <p:nvPr/>
          </p:nvSpPr>
          <p:spPr bwMode="auto">
            <a:xfrm>
              <a:off x="4807592" y="2144636"/>
              <a:ext cx="373618" cy="1070076"/>
            </a:xfrm>
            <a:custGeom>
              <a:avLst/>
              <a:gdLst>
                <a:gd name="T0" fmla="*/ 0 w 160"/>
                <a:gd name="T1" fmla="*/ 2147483646 h 1008"/>
                <a:gd name="T2" fmla="*/ 2147483646 w 160"/>
                <a:gd name="T3" fmla="*/ 2147483646 h 1008"/>
                <a:gd name="T4" fmla="*/ 2147483646 w 160"/>
                <a:gd name="T5" fmla="*/ 2147483646 h 1008"/>
                <a:gd name="T6" fmla="*/ 0 w 160"/>
                <a:gd name="T7" fmla="*/ 0 h 10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0"/>
                <a:gd name="T13" fmla="*/ 0 h 1008"/>
                <a:gd name="T14" fmla="*/ 160 w 160"/>
                <a:gd name="T15" fmla="*/ 1008 h 10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0" h="1008">
                  <a:moveTo>
                    <a:pt x="0" y="1008"/>
                  </a:moveTo>
                  <a:cubicBezTo>
                    <a:pt x="36" y="988"/>
                    <a:pt x="72" y="968"/>
                    <a:pt x="96" y="864"/>
                  </a:cubicBezTo>
                  <a:cubicBezTo>
                    <a:pt x="120" y="760"/>
                    <a:pt x="160" y="528"/>
                    <a:pt x="144" y="384"/>
                  </a:cubicBezTo>
                  <a:cubicBezTo>
                    <a:pt x="128" y="240"/>
                    <a:pt x="64" y="120"/>
                    <a:pt x="0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0" name="Line 35"/>
            <p:cNvSpPr>
              <a:spLocks noChangeShapeType="1"/>
            </p:cNvSpPr>
            <p:nvPr/>
          </p:nvSpPr>
          <p:spPr bwMode="auto">
            <a:xfrm flipV="1">
              <a:off x="6713523" y="1714531"/>
              <a:ext cx="457235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1" name="Line 43"/>
            <p:cNvSpPr>
              <a:spLocks noChangeShapeType="1"/>
            </p:cNvSpPr>
            <p:nvPr/>
          </p:nvSpPr>
          <p:spPr bwMode="auto">
            <a:xfrm>
              <a:off x="6673134" y="2786090"/>
              <a:ext cx="50409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2" name="Line 9"/>
            <p:cNvSpPr>
              <a:spLocks noChangeShapeType="1"/>
            </p:cNvSpPr>
            <p:nvPr/>
          </p:nvSpPr>
          <p:spPr bwMode="auto">
            <a:xfrm flipV="1">
              <a:off x="3242074" y="2500681"/>
              <a:ext cx="52898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3" name="Line 3"/>
            <p:cNvSpPr>
              <a:spLocks noChangeShapeType="1"/>
            </p:cNvSpPr>
            <p:nvPr/>
          </p:nvSpPr>
          <p:spPr bwMode="auto">
            <a:xfrm flipV="1">
              <a:off x="3180236" y="1060348"/>
              <a:ext cx="5908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4" name="Freeform 55"/>
            <p:cNvSpPr>
              <a:spLocks noChangeArrowheads="1"/>
            </p:cNvSpPr>
            <p:nvPr/>
          </p:nvSpPr>
          <p:spPr bwMode="auto">
            <a:xfrm>
              <a:off x="2857505" y="3487227"/>
              <a:ext cx="3429023" cy="1441976"/>
            </a:xfrm>
            <a:custGeom>
              <a:avLst/>
              <a:gdLst>
                <a:gd name="T0" fmla="*/ 2147483646 w 2912"/>
                <a:gd name="T1" fmla="*/ 0 h 1760"/>
                <a:gd name="T2" fmla="*/ 2147483646 w 2912"/>
                <a:gd name="T3" fmla="*/ 2147483646 h 1760"/>
                <a:gd name="T4" fmla="*/ 2147483646 w 2912"/>
                <a:gd name="T5" fmla="*/ 2147483646 h 1760"/>
                <a:gd name="T6" fmla="*/ 2147483646 w 2912"/>
                <a:gd name="T7" fmla="*/ 2147483646 h 1760"/>
                <a:gd name="T8" fmla="*/ 2147483646 w 2912"/>
                <a:gd name="T9" fmla="*/ 2147483646 h 1760"/>
                <a:gd name="T10" fmla="*/ 2147483646 w 2912"/>
                <a:gd name="T11" fmla="*/ 2147483646 h 1760"/>
                <a:gd name="T12" fmla="*/ 2147483646 w 2912"/>
                <a:gd name="T13" fmla="*/ 2147483646 h 1760"/>
                <a:gd name="T14" fmla="*/ 0 w 2912"/>
                <a:gd name="T15" fmla="*/ 2147483646 h 17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912"/>
                <a:gd name="T25" fmla="*/ 0 h 1760"/>
                <a:gd name="T26" fmla="*/ 2912 w 2912"/>
                <a:gd name="T27" fmla="*/ 1760 h 176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912" h="1760">
                  <a:moveTo>
                    <a:pt x="2880" y="0"/>
                  </a:moveTo>
                  <a:cubicBezTo>
                    <a:pt x="2896" y="280"/>
                    <a:pt x="2912" y="560"/>
                    <a:pt x="2832" y="816"/>
                  </a:cubicBezTo>
                  <a:cubicBezTo>
                    <a:pt x="2752" y="1072"/>
                    <a:pt x="2544" y="1384"/>
                    <a:pt x="2400" y="1536"/>
                  </a:cubicBezTo>
                  <a:cubicBezTo>
                    <a:pt x="2256" y="1688"/>
                    <a:pt x="2232" y="1696"/>
                    <a:pt x="1968" y="1728"/>
                  </a:cubicBezTo>
                  <a:cubicBezTo>
                    <a:pt x="1704" y="1760"/>
                    <a:pt x="1064" y="1752"/>
                    <a:pt x="816" y="1728"/>
                  </a:cubicBezTo>
                  <a:cubicBezTo>
                    <a:pt x="568" y="1704"/>
                    <a:pt x="592" y="1672"/>
                    <a:pt x="480" y="1584"/>
                  </a:cubicBezTo>
                  <a:cubicBezTo>
                    <a:pt x="368" y="1496"/>
                    <a:pt x="224" y="1336"/>
                    <a:pt x="144" y="1200"/>
                  </a:cubicBezTo>
                  <a:cubicBezTo>
                    <a:pt x="64" y="1064"/>
                    <a:pt x="8" y="856"/>
                    <a:pt x="0" y="76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5" name="Line 53"/>
            <p:cNvSpPr>
              <a:spLocks noChangeShapeType="1"/>
            </p:cNvSpPr>
            <p:nvPr/>
          </p:nvSpPr>
          <p:spPr bwMode="auto">
            <a:xfrm>
              <a:off x="7928628" y="3728389"/>
              <a:ext cx="0" cy="57155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6" name="Line 15"/>
            <p:cNvSpPr>
              <a:spLocks noChangeShapeType="1"/>
            </p:cNvSpPr>
            <p:nvPr/>
          </p:nvSpPr>
          <p:spPr bwMode="auto">
            <a:xfrm flipH="1">
              <a:off x="2518141" y="2888271"/>
              <a:ext cx="0" cy="6451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7" name="Line 6"/>
            <p:cNvSpPr>
              <a:spLocks noChangeShapeType="1"/>
            </p:cNvSpPr>
            <p:nvPr/>
          </p:nvSpPr>
          <p:spPr bwMode="auto">
            <a:xfrm>
              <a:off x="3170645" y="1780514"/>
              <a:ext cx="60041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8" name="Text Box 2"/>
            <p:cNvSpPr txBox="1">
              <a:spLocks noChangeArrowheads="1"/>
            </p:cNvSpPr>
            <p:nvPr/>
          </p:nvSpPr>
          <p:spPr bwMode="auto">
            <a:xfrm>
              <a:off x="2214169" y="837702"/>
              <a:ext cx="1051111" cy="2042576"/>
            </a:xfrm>
            <a:prstGeom prst="rect">
              <a:avLst/>
            </a:prstGeom>
            <a:solidFill>
              <a:srgbClr val="B5CEED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lnSpc>
                  <a:spcPts val="1925"/>
                </a:lnSpc>
                <a:spcBef>
                  <a:spcPct val="0"/>
                </a:spcBef>
                <a:buClr>
                  <a:srgbClr val="073E87"/>
                </a:buClr>
                <a:buSzPct val="75000"/>
                <a:buFont typeface="Arial" panose="020B0604020202020204" pitchFamily="34" charset="0"/>
                <a:buNone/>
              </a:pP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16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lnSpc>
                  <a:spcPts val="1925"/>
                </a:lnSpc>
                <a:spcBef>
                  <a:spcPct val="0"/>
                </a:spcBef>
                <a:buClr>
                  <a:srgbClr val="073E87"/>
                </a:buClr>
                <a:buSzPct val="75000"/>
                <a:buFont typeface="Arial" panose="020B0604020202020204" pitchFamily="34" charset="0"/>
                <a:buNone/>
              </a:pP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′ </a:t>
              </a: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</a:t>
              </a:r>
              <a:r>
                <a:rPr lang="en-US" altLang="zh-CN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· E </a:t>
              </a:r>
            </a:p>
            <a:p>
              <a:pPr>
                <a:lnSpc>
                  <a:spcPts val="1925"/>
                </a:lnSpc>
                <a:spcBef>
                  <a:spcPct val="0"/>
                </a:spcBef>
                <a:buClr>
                  <a:srgbClr val="073E87"/>
                </a:buClr>
                <a:buSzPct val="75000"/>
                <a:buFont typeface="Arial" panose="020B0604020202020204" pitchFamily="34" charset="0"/>
                <a:buNone/>
              </a:pP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E→ · E+T</a:t>
              </a:r>
            </a:p>
            <a:p>
              <a:pPr>
                <a:lnSpc>
                  <a:spcPts val="1925"/>
                </a:lnSpc>
                <a:spcBef>
                  <a:spcPct val="0"/>
                </a:spcBef>
                <a:buClr>
                  <a:srgbClr val="073E87"/>
                </a:buClr>
                <a:buSzPct val="75000"/>
                <a:buFont typeface="Arial" panose="020B0604020202020204" pitchFamily="34" charset="0"/>
                <a:buNone/>
              </a:pP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E→ · T</a:t>
              </a:r>
            </a:p>
            <a:p>
              <a:pPr>
                <a:lnSpc>
                  <a:spcPts val="1925"/>
                </a:lnSpc>
                <a:spcBef>
                  <a:spcPct val="0"/>
                </a:spcBef>
                <a:buClr>
                  <a:srgbClr val="073E87"/>
                </a:buClr>
                <a:buSzPct val="75000"/>
                <a:buFont typeface="Arial" panose="020B0604020202020204" pitchFamily="34" charset="0"/>
                <a:buNone/>
              </a:pP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T→ · T*F</a:t>
              </a:r>
            </a:p>
            <a:p>
              <a:pPr>
                <a:lnSpc>
                  <a:spcPts val="1925"/>
                </a:lnSpc>
                <a:spcBef>
                  <a:spcPct val="0"/>
                </a:spcBef>
                <a:buClr>
                  <a:srgbClr val="073E87"/>
                </a:buClr>
                <a:buSzPct val="75000"/>
                <a:buFont typeface="Arial" panose="020B0604020202020204" pitchFamily="34" charset="0"/>
                <a:buNone/>
              </a:pP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T→ · F</a:t>
              </a:r>
            </a:p>
            <a:p>
              <a:pPr>
                <a:lnSpc>
                  <a:spcPts val="1925"/>
                </a:lnSpc>
                <a:spcBef>
                  <a:spcPct val="0"/>
                </a:spcBef>
                <a:buClr>
                  <a:srgbClr val="073E87"/>
                </a:buClr>
                <a:buSzPct val="75000"/>
                <a:buFont typeface="Arial" panose="020B0604020202020204" pitchFamily="34" charset="0"/>
                <a:buNone/>
              </a:pP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F→ · </a:t>
              </a:r>
              <a:r>
                <a:rPr lang="en-US" altLang="zh-CN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r>
                <a:rPr lang="en-US" altLang="zh-CN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)</a:t>
              </a:r>
            </a:p>
            <a:p>
              <a:pPr>
                <a:lnSpc>
                  <a:spcPts val="1925"/>
                </a:lnSpc>
                <a:spcBef>
                  <a:spcPct val="0"/>
                </a:spcBef>
                <a:buClr>
                  <a:srgbClr val="073E87"/>
                </a:buClr>
                <a:buSzPct val="75000"/>
                <a:buFont typeface="Arial" panose="020B0604020202020204" pitchFamily="34" charset="0"/>
                <a:buNone/>
              </a:pP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F→ · </a:t>
              </a:r>
              <a:r>
                <a:rPr lang="en-US" altLang="zh-CN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57379" name="Text Box 4"/>
            <p:cNvSpPr txBox="1">
              <a:spLocks noChangeArrowheads="1"/>
            </p:cNvSpPr>
            <p:nvPr/>
          </p:nvSpPr>
          <p:spPr bwMode="auto">
            <a:xfrm>
              <a:off x="3289631" y="713014"/>
              <a:ext cx="3810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57380" name="Text Box 5"/>
            <p:cNvSpPr txBox="1">
              <a:spLocks noChangeArrowheads="1"/>
            </p:cNvSpPr>
            <p:nvPr/>
          </p:nvSpPr>
          <p:spPr bwMode="auto">
            <a:xfrm>
              <a:off x="3770193" y="817069"/>
              <a:ext cx="1035233" cy="747517"/>
            </a:xfrm>
            <a:prstGeom prst="rect">
              <a:avLst/>
            </a:prstGeom>
            <a:solidFill>
              <a:srgbClr val="B5CEED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lnSpc>
                  <a:spcPts val="1700"/>
                </a:lnSpc>
                <a:spcBef>
                  <a:spcPct val="0"/>
                </a:spcBef>
                <a:buClr>
                  <a:srgbClr val="073E87"/>
                </a:buClr>
                <a:buSzPct val="75000"/>
                <a:buFont typeface="Arial" panose="020B0604020202020204" pitchFamily="34" charset="0"/>
                <a:buNone/>
              </a:pP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16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lnSpc>
                  <a:spcPts val="1700"/>
                </a:lnSpc>
                <a:spcBef>
                  <a:spcPct val="0"/>
                </a:spcBef>
                <a:buClr>
                  <a:srgbClr val="073E87"/>
                </a:buClr>
                <a:buSzPct val="75000"/>
                <a:buFont typeface="Arial" panose="020B0604020202020204" pitchFamily="34" charset="0"/>
                <a:buNone/>
              </a:pP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′ </a:t>
              </a: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→E · </a:t>
              </a:r>
            </a:p>
            <a:p>
              <a:pPr>
                <a:lnSpc>
                  <a:spcPts val="1700"/>
                </a:lnSpc>
                <a:spcBef>
                  <a:spcPct val="0"/>
                </a:spcBef>
                <a:buClr>
                  <a:srgbClr val="073E87"/>
                </a:buClr>
                <a:buSzPct val="75000"/>
                <a:buFont typeface="Arial" panose="020B0604020202020204" pitchFamily="34" charset="0"/>
                <a:buNone/>
              </a:pP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E→E· +T</a:t>
              </a:r>
            </a:p>
          </p:txBody>
        </p:sp>
        <p:sp>
          <p:nvSpPr>
            <p:cNvPr id="57381" name="Text Box 7"/>
            <p:cNvSpPr txBox="1">
              <a:spLocks noChangeArrowheads="1"/>
            </p:cNvSpPr>
            <p:nvPr/>
          </p:nvSpPr>
          <p:spPr bwMode="auto">
            <a:xfrm>
              <a:off x="3289630" y="1417174"/>
              <a:ext cx="3810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80" name="Text Box 8"/>
            <p:cNvSpPr txBox="1">
              <a:spLocks noChangeArrowheads="1"/>
            </p:cNvSpPr>
            <p:nvPr/>
          </p:nvSpPr>
          <p:spPr bwMode="auto">
            <a:xfrm>
              <a:off x="3770193" y="1609024"/>
              <a:ext cx="1025706" cy="74751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6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E→T</a:t>
              </a: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600" b="1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kumimoji="1" lang="en-US" altLang="zh-CN" sz="1600" b="1" i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T→T </a:t>
              </a:r>
              <a:r>
                <a:rPr lang="en-US" altLang="zh-CN" sz="1600" b="1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16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*</a:t>
              </a:r>
              <a:r>
                <a:rPr kumimoji="1" lang="en-US" altLang="zh-CN" sz="16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57383" name="Text Box 10"/>
            <p:cNvSpPr txBox="1">
              <a:spLocks noChangeArrowheads="1"/>
            </p:cNvSpPr>
            <p:nvPr/>
          </p:nvSpPr>
          <p:spPr bwMode="auto">
            <a:xfrm>
              <a:off x="3470593" y="2715766"/>
              <a:ext cx="3810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82" name="Text Box 11"/>
            <p:cNvSpPr txBox="1">
              <a:spLocks noChangeArrowheads="1"/>
            </p:cNvSpPr>
            <p:nvPr/>
          </p:nvSpPr>
          <p:spPr bwMode="auto">
            <a:xfrm>
              <a:off x="3770193" y="2405740"/>
              <a:ext cx="1035233" cy="52691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6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r>
                <a:rPr kumimoji="1" lang="en-US" altLang="zh-CN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T→F</a:t>
              </a: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endParaRPr kumimoji="1"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85" name="Freeform 12"/>
            <p:cNvSpPr>
              <a:spLocks noChangeArrowheads="1"/>
            </p:cNvSpPr>
            <p:nvPr/>
          </p:nvSpPr>
          <p:spPr bwMode="auto">
            <a:xfrm>
              <a:off x="3051271" y="2914464"/>
              <a:ext cx="699242" cy="577250"/>
            </a:xfrm>
            <a:custGeom>
              <a:avLst/>
              <a:gdLst>
                <a:gd name="T0" fmla="*/ 2147483646 w 736"/>
                <a:gd name="T1" fmla="*/ 0 h 768"/>
                <a:gd name="T2" fmla="*/ 2147483646 w 736"/>
                <a:gd name="T3" fmla="*/ 2147483646 h 768"/>
                <a:gd name="T4" fmla="*/ 2147483646 w 736"/>
                <a:gd name="T5" fmla="*/ 2147483646 h 768"/>
                <a:gd name="T6" fmla="*/ 2147483646 w 736"/>
                <a:gd name="T7" fmla="*/ 2147483646 h 768"/>
                <a:gd name="T8" fmla="*/ 2147483646 w 736"/>
                <a:gd name="T9" fmla="*/ 2147483646 h 7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36"/>
                <a:gd name="T16" fmla="*/ 0 h 768"/>
                <a:gd name="T17" fmla="*/ 736 w 736"/>
                <a:gd name="T18" fmla="*/ 768 h 7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36" h="768">
                  <a:moveTo>
                    <a:pt x="16" y="0"/>
                  </a:moveTo>
                  <a:cubicBezTo>
                    <a:pt x="8" y="144"/>
                    <a:pt x="0" y="288"/>
                    <a:pt x="16" y="384"/>
                  </a:cubicBezTo>
                  <a:cubicBezTo>
                    <a:pt x="32" y="480"/>
                    <a:pt x="64" y="528"/>
                    <a:pt x="112" y="576"/>
                  </a:cubicBezTo>
                  <a:cubicBezTo>
                    <a:pt x="160" y="624"/>
                    <a:pt x="200" y="640"/>
                    <a:pt x="304" y="672"/>
                  </a:cubicBezTo>
                  <a:cubicBezTo>
                    <a:pt x="408" y="704"/>
                    <a:pt x="572" y="736"/>
                    <a:pt x="736" y="76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6" name="Text Box 13"/>
            <p:cNvSpPr txBox="1">
              <a:spLocks noChangeArrowheads="1"/>
            </p:cNvSpPr>
            <p:nvPr/>
          </p:nvSpPr>
          <p:spPr bwMode="auto">
            <a:xfrm>
              <a:off x="3052238" y="2844940"/>
              <a:ext cx="30482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</a:p>
          </p:txBody>
        </p:sp>
        <p:sp>
          <p:nvSpPr>
            <p:cNvPr id="85" name="Text Box 14"/>
            <p:cNvSpPr txBox="1">
              <a:spLocks noChangeArrowheads="1"/>
            </p:cNvSpPr>
            <p:nvPr/>
          </p:nvSpPr>
          <p:spPr bwMode="auto">
            <a:xfrm>
              <a:off x="3770193" y="2999309"/>
              <a:ext cx="1078102" cy="183625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6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r>
                <a:rPr kumimoji="1" lang="en-US" altLang="zh-CN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F→</a:t>
              </a:r>
              <a:r>
                <a:rPr kumimoji="1" lang="en-US" altLang="zh-CN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 </a:t>
              </a: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 </a:t>
              </a:r>
              <a:r>
                <a:rPr kumimoji="1" lang="en-US" altLang="zh-CN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)</a:t>
              </a:r>
            </a:p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E→ </a:t>
              </a: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 </a:t>
              </a: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E+T</a:t>
              </a:r>
            </a:p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E→</a:t>
              </a: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T→ </a:t>
              </a: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 </a:t>
              </a: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T*F</a:t>
              </a:r>
            </a:p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T→</a:t>
              </a: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F→</a:t>
              </a: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r>
                <a:rPr kumimoji="1" lang="en-US" altLang="zh-CN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)</a:t>
              </a:r>
            </a:p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F→</a:t>
              </a: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57388" name="Text Box 16"/>
            <p:cNvSpPr txBox="1">
              <a:spLocks noChangeArrowheads="1"/>
            </p:cNvSpPr>
            <p:nvPr/>
          </p:nvSpPr>
          <p:spPr bwMode="auto">
            <a:xfrm>
              <a:off x="2504953" y="2964957"/>
              <a:ext cx="53344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87" name="Text Box 17"/>
            <p:cNvSpPr txBox="1">
              <a:spLocks noChangeArrowheads="1"/>
            </p:cNvSpPr>
            <p:nvPr/>
          </p:nvSpPr>
          <p:spPr bwMode="auto">
            <a:xfrm>
              <a:off x="2204642" y="3537330"/>
              <a:ext cx="800241" cy="58563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6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r>
                <a:rPr kumimoji="1" lang="en-US" altLang="zh-CN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F→ </a:t>
              </a:r>
              <a:r>
                <a:rPr kumimoji="1" lang="en-US" altLang="zh-CN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 </a:t>
              </a:r>
              <a:endParaRPr kumimoji="1"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90" name="Line 18"/>
            <p:cNvSpPr>
              <a:spLocks noChangeShapeType="1"/>
            </p:cNvSpPr>
            <p:nvPr/>
          </p:nvSpPr>
          <p:spPr bwMode="auto">
            <a:xfrm>
              <a:off x="4813903" y="1071552"/>
              <a:ext cx="8382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91" name="Text Box 19"/>
            <p:cNvSpPr txBox="1">
              <a:spLocks noChangeArrowheads="1"/>
            </p:cNvSpPr>
            <p:nvPr/>
          </p:nvSpPr>
          <p:spPr bwMode="auto">
            <a:xfrm>
              <a:off x="4793132" y="724992"/>
              <a:ext cx="3810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90" name="Text Box 20"/>
            <p:cNvSpPr txBox="1">
              <a:spLocks noChangeArrowheads="1"/>
            </p:cNvSpPr>
            <p:nvPr/>
          </p:nvSpPr>
          <p:spPr bwMode="auto">
            <a:xfrm>
              <a:off x="5651713" y="785328"/>
              <a:ext cx="1200362" cy="15696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6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r>
                <a:rPr kumimoji="1" lang="en-US" altLang="zh-CN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E→ E+ </a:t>
              </a: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 </a:t>
              </a: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T→ </a:t>
              </a: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 </a:t>
              </a: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T*F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T→</a:t>
              </a: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F→</a:t>
              </a: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r>
                <a:rPr kumimoji="1" lang="en-US" altLang="zh-CN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)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F→</a:t>
              </a: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57393" name="Line 21"/>
            <p:cNvSpPr>
              <a:spLocks noChangeShapeType="1"/>
            </p:cNvSpPr>
            <p:nvPr/>
          </p:nvSpPr>
          <p:spPr bwMode="auto">
            <a:xfrm>
              <a:off x="4814062" y="1957352"/>
              <a:ext cx="838264" cy="685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94" name="Text Box 22"/>
            <p:cNvSpPr txBox="1">
              <a:spLocks noChangeArrowheads="1"/>
            </p:cNvSpPr>
            <p:nvPr/>
          </p:nvSpPr>
          <p:spPr bwMode="auto">
            <a:xfrm>
              <a:off x="4715769" y="1707654"/>
              <a:ext cx="3810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93" name="Text Box 23"/>
            <p:cNvSpPr txBox="1">
              <a:spLocks noChangeArrowheads="1"/>
            </p:cNvSpPr>
            <p:nvPr/>
          </p:nvSpPr>
          <p:spPr bwMode="auto">
            <a:xfrm>
              <a:off x="5651713" y="2483507"/>
              <a:ext cx="1051111" cy="107604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6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7</a:t>
              </a:r>
              <a:r>
                <a:rPr kumimoji="1" lang="en-US" altLang="zh-CN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T→T* </a:t>
              </a: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 </a:t>
              </a: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F→</a:t>
              </a: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r>
                <a:rPr kumimoji="1" lang="en-US" altLang="zh-CN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)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F→</a:t>
              </a: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57396" name="Line 24"/>
            <p:cNvSpPr>
              <a:spLocks noChangeShapeType="1"/>
            </p:cNvSpPr>
            <p:nvPr/>
          </p:nvSpPr>
          <p:spPr bwMode="auto">
            <a:xfrm flipV="1">
              <a:off x="4860887" y="3929118"/>
              <a:ext cx="2280978" cy="107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97" name="Text Box 25"/>
            <p:cNvSpPr txBox="1">
              <a:spLocks noChangeArrowheads="1"/>
            </p:cNvSpPr>
            <p:nvPr/>
          </p:nvSpPr>
          <p:spPr bwMode="auto">
            <a:xfrm>
              <a:off x="4814062" y="3578775"/>
              <a:ext cx="3810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96" name="Text Box 26"/>
            <p:cNvSpPr txBox="1">
              <a:spLocks noChangeArrowheads="1"/>
            </p:cNvSpPr>
            <p:nvPr/>
          </p:nvSpPr>
          <p:spPr bwMode="auto">
            <a:xfrm>
              <a:off x="7182333" y="3219914"/>
              <a:ext cx="1141615" cy="83163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6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8</a:t>
              </a:r>
              <a:r>
                <a:rPr kumimoji="1" lang="en-US" altLang="zh-CN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F→ </a:t>
              </a:r>
              <a:r>
                <a:rPr kumimoji="1" lang="en-US" altLang="zh-CN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)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E→E</a:t>
              </a: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+T</a:t>
              </a:r>
            </a:p>
          </p:txBody>
        </p:sp>
        <p:sp>
          <p:nvSpPr>
            <p:cNvPr id="57399" name="Text Box 28"/>
            <p:cNvSpPr txBox="1">
              <a:spLocks noChangeArrowheads="1"/>
            </p:cNvSpPr>
            <p:nvPr/>
          </p:nvSpPr>
          <p:spPr bwMode="auto">
            <a:xfrm>
              <a:off x="4766814" y="2819735"/>
              <a:ext cx="3810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57400" name="Freeform 29"/>
            <p:cNvSpPr>
              <a:spLocks noChangeArrowheads="1"/>
            </p:cNvSpPr>
            <p:nvPr/>
          </p:nvSpPr>
          <p:spPr bwMode="auto">
            <a:xfrm>
              <a:off x="3426747" y="2649294"/>
              <a:ext cx="344314" cy="571553"/>
            </a:xfrm>
            <a:custGeom>
              <a:avLst/>
              <a:gdLst>
                <a:gd name="T0" fmla="*/ 2147483646 w 112"/>
                <a:gd name="T1" fmla="*/ 2147483646 h 480"/>
                <a:gd name="T2" fmla="*/ 2147483646 w 112"/>
                <a:gd name="T3" fmla="*/ 2147483646 h 480"/>
                <a:gd name="T4" fmla="*/ 2147483646 w 112"/>
                <a:gd name="T5" fmla="*/ 2147483646 h 480"/>
                <a:gd name="T6" fmla="*/ 2147483646 w 112"/>
                <a:gd name="T7" fmla="*/ 0 h 4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2"/>
                <a:gd name="T13" fmla="*/ 0 h 480"/>
                <a:gd name="T14" fmla="*/ 112 w 112"/>
                <a:gd name="T15" fmla="*/ 480 h 4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2" h="480">
                  <a:moveTo>
                    <a:pt x="112" y="480"/>
                  </a:moveTo>
                  <a:cubicBezTo>
                    <a:pt x="72" y="436"/>
                    <a:pt x="32" y="392"/>
                    <a:pt x="16" y="336"/>
                  </a:cubicBezTo>
                  <a:cubicBezTo>
                    <a:pt x="0" y="280"/>
                    <a:pt x="0" y="200"/>
                    <a:pt x="16" y="144"/>
                  </a:cubicBezTo>
                  <a:cubicBezTo>
                    <a:pt x="32" y="88"/>
                    <a:pt x="72" y="44"/>
                    <a:pt x="112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01" name="Text Box 30"/>
            <p:cNvSpPr txBox="1">
              <a:spLocks noChangeArrowheads="1"/>
            </p:cNvSpPr>
            <p:nvPr/>
          </p:nvSpPr>
          <p:spPr bwMode="auto">
            <a:xfrm>
              <a:off x="3242074" y="2143157"/>
              <a:ext cx="30482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57402" name="Freeform 31"/>
            <p:cNvSpPr>
              <a:spLocks noChangeArrowheads="1"/>
            </p:cNvSpPr>
            <p:nvPr/>
          </p:nvSpPr>
          <p:spPr bwMode="auto">
            <a:xfrm>
              <a:off x="3466237" y="4173623"/>
              <a:ext cx="330225" cy="571553"/>
            </a:xfrm>
            <a:custGeom>
              <a:avLst/>
              <a:gdLst>
                <a:gd name="T0" fmla="*/ 2147483646 w 208"/>
                <a:gd name="T1" fmla="*/ 2147483646 h 480"/>
                <a:gd name="T2" fmla="*/ 0 w 208"/>
                <a:gd name="T3" fmla="*/ 2147483646 h 480"/>
                <a:gd name="T4" fmla="*/ 2147483646 w 208"/>
                <a:gd name="T5" fmla="*/ 0 h 480"/>
                <a:gd name="T6" fmla="*/ 0 60000 65536"/>
                <a:gd name="T7" fmla="*/ 0 60000 65536"/>
                <a:gd name="T8" fmla="*/ 0 60000 65536"/>
                <a:gd name="T9" fmla="*/ 0 w 208"/>
                <a:gd name="T10" fmla="*/ 0 h 480"/>
                <a:gd name="T11" fmla="*/ 208 w 208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8" h="480">
                  <a:moveTo>
                    <a:pt x="192" y="480"/>
                  </a:moveTo>
                  <a:cubicBezTo>
                    <a:pt x="96" y="400"/>
                    <a:pt x="0" y="320"/>
                    <a:pt x="0" y="240"/>
                  </a:cubicBezTo>
                  <a:cubicBezTo>
                    <a:pt x="0" y="160"/>
                    <a:pt x="208" y="40"/>
                    <a:pt x="192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03" name="Text Box 32"/>
            <p:cNvSpPr txBox="1">
              <a:spLocks noChangeArrowheads="1"/>
            </p:cNvSpPr>
            <p:nvPr/>
          </p:nvSpPr>
          <p:spPr bwMode="auto">
            <a:xfrm>
              <a:off x="3513111" y="4273058"/>
              <a:ext cx="30482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</a:p>
          </p:txBody>
        </p:sp>
        <p:sp>
          <p:nvSpPr>
            <p:cNvPr id="57404" name="Line 33"/>
            <p:cNvSpPr>
              <a:spLocks noChangeShapeType="1"/>
            </p:cNvSpPr>
            <p:nvPr/>
          </p:nvSpPr>
          <p:spPr bwMode="auto">
            <a:xfrm flipH="1">
              <a:off x="3015899" y="3953088"/>
              <a:ext cx="75516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05" name="Text Box 34"/>
            <p:cNvSpPr txBox="1">
              <a:spLocks noChangeArrowheads="1"/>
            </p:cNvSpPr>
            <p:nvPr/>
          </p:nvSpPr>
          <p:spPr bwMode="auto">
            <a:xfrm>
              <a:off x="3392325" y="3570680"/>
              <a:ext cx="45723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57406" name="Text Box 36"/>
            <p:cNvSpPr txBox="1">
              <a:spLocks noChangeArrowheads="1"/>
            </p:cNvSpPr>
            <p:nvPr/>
          </p:nvSpPr>
          <p:spPr bwMode="auto">
            <a:xfrm>
              <a:off x="6834944" y="1367438"/>
              <a:ext cx="45723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05" name="Text Box 37"/>
            <p:cNvSpPr txBox="1">
              <a:spLocks noChangeArrowheads="1"/>
            </p:cNvSpPr>
            <p:nvPr/>
          </p:nvSpPr>
          <p:spPr bwMode="auto">
            <a:xfrm>
              <a:off x="7166455" y="1404290"/>
              <a:ext cx="1019355" cy="83163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6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9</a:t>
              </a:r>
              <a:r>
                <a:rPr kumimoji="1" lang="en-US" altLang="zh-CN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E→E+T</a:t>
              </a: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600" b="1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kumimoji="1" lang="en-US" altLang="zh-CN" sz="1600" b="1" i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T→T</a:t>
              </a:r>
              <a:r>
                <a:rPr lang="en-US" altLang="zh-CN" sz="1600" b="1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</a:t>
              </a:r>
              <a:r>
                <a:rPr kumimoji="1" lang="en-US" altLang="zh-CN" sz="16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*</a:t>
              </a:r>
              <a:r>
                <a:rPr kumimoji="1" lang="en-US" altLang="zh-CN" sz="16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57408" name="Freeform 38"/>
            <p:cNvSpPr>
              <a:spLocks noChangeArrowheads="1"/>
            </p:cNvSpPr>
            <p:nvPr/>
          </p:nvSpPr>
          <p:spPr bwMode="auto">
            <a:xfrm>
              <a:off x="4814062" y="1214473"/>
              <a:ext cx="838264" cy="1543193"/>
            </a:xfrm>
            <a:custGeom>
              <a:avLst/>
              <a:gdLst>
                <a:gd name="T0" fmla="*/ 2147483646 w 528"/>
                <a:gd name="T1" fmla="*/ 0 h 1296"/>
                <a:gd name="T2" fmla="*/ 2147483646 w 528"/>
                <a:gd name="T3" fmla="*/ 2147483646 h 1296"/>
                <a:gd name="T4" fmla="*/ 2147483646 w 528"/>
                <a:gd name="T5" fmla="*/ 2147483646 h 1296"/>
                <a:gd name="T6" fmla="*/ 0 w 528"/>
                <a:gd name="T7" fmla="*/ 2147483646 h 12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8"/>
                <a:gd name="T13" fmla="*/ 0 h 1296"/>
                <a:gd name="T14" fmla="*/ 528 w 528"/>
                <a:gd name="T15" fmla="*/ 1296 h 12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8" h="1296">
                  <a:moveTo>
                    <a:pt x="528" y="0"/>
                  </a:moveTo>
                  <a:cubicBezTo>
                    <a:pt x="464" y="36"/>
                    <a:pt x="400" y="72"/>
                    <a:pt x="336" y="240"/>
                  </a:cubicBezTo>
                  <a:cubicBezTo>
                    <a:pt x="272" y="408"/>
                    <a:pt x="200" y="832"/>
                    <a:pt x="144" y="1008"/>
                  </a:cubicBezTo>
                  <a:cubicBezTo>
                    <a:pt x="88" y="1184"/>
                    <a:pt x="44" y="1240"/>
                    <a:pt x="0" y="1296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09" name="Text Box 39"/>
            <p:cNvSpPr txBox="1">
              <a:spLocks noChangeArrowheads="1"/>
            </p:cNvSpPr>
            <p:nvPr/>
          </p:nvSpPr>
          <p:spPr bwMode="auto">
            <a:xfrm>
              <a:off x="5377818" y="1254578"/>
              <a:ext cx="45723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57410" name="Freeform 40"/>
            <p:cNvSpPr>
              <a:spLocks noChangeArrowheads="1"/>
            </p:cNvSpPr>
            <p:nvPr/>
          </p:nvSpPr>
          <p:spPr bwMode="auto">
            <a:xfrm>
              <a:off x="4858589" y="1714531"/>
              <a:ext cx="793737" cy="1857367"/>
            </a:xfrm>
            <a:custGeom>
              <a:avLst/>
              <a:gdLst>
                <a:gd name="T0" fmla="*/ 2147483646 w 528"/>
                <a:gd name="T1" fmla="*/ 0 h 1488"/>
                <a:gd name="T2" fmla="*/ 2147483646 w 528"/>
                <a:gd name="T3" fmla="*/ 2147483646 h 1488"/>
                <a:gd name="T4" fmla="*/ 2147483646 w 528"/>
                <a:gd name="T5" fmla="*/ 2147483646 h 1488"/>
                <a:gd name="T6" fmla="*/ 0 w 528"/>
                <a:gd name="T7" fmla="*/ 2147483646 h 14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8"/>
                <a:gd name="T13" fmla="*/ 0 h 1488"/>
                <a:gd name="T14" fmla="*/ 528 w 528"/>
                <a:gd name="T15" fmla="*/ 1488 h 14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8" h="1488">
                  <a:moveTo>
                    <a:pt x="528" y="0"/>
                  </a:moveTo>
                  <a:cubicBezTo>
                    <a:pt x="504" y="48"/>
                    <a:pt x="480" y="96"/>
                    <a:pt x="432" y="288"/>
                  </a:cubicBezTo>
                  <a:cubicBezTo>
                    <a:pt x="384" y="480"/>
                    <a:pt x="312" y="952"/>
                    <a:pt x="240" y="1152"/>
                  </a:cubicBezTo>
                  <a:cubicBezTo>
                    <a:pt x="168" y="1352"/>
                    <a:pt x="84" y="1420"/>
                    <a:pt x="0" y="148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11" name="Text Box 41"/>
            <p:cNvSpPr txBox="1">
              <a:spLocks noChangeArrowheads="1"/>
            </p:cNvSpPr>
            <p:nvPr/>
          </p:nvSpPr>
          <p:spPr bwMode="auto">
            <a:xfrm>
              <a:off x="5431268" y="1950088"/>
              <a:ext cx="3810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</a:p>
          </p:txBody>
        </p:sp>
        <p:sp>
          <p:nvSpPr>
            <p:cNvPr id="57412" name="Text Box 42"/>
            <p:cNvSpPr txBox="1">
              <a:spLocks noChangeArrowheads="1"/>
            </p:cNvSpPr>
            <p:nvPr/>
          </p:nvSpPr>
          <p:spPr bwMode="auto">
            <a:xfrm>
              <a:off x="6250830" y="3498857"/>
              <a:ext cx="45723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57413" name="Text Box 44"/>
            <p:cNvSpPr txBox="1">
              <a:spLocks noChangeArrowheads="1"/>
            </p:cNvSpPr>
            <p:nvPr/>
          </p:nvSpPr>
          <p:spPr bwMode="auto">
            <a:xfrm>
              <a:off x="6749802" y="2418173"/>
              <a:ext cx="3810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12" name="Text Box 45"/>
            <p:cNvSpPr txBox="1">
              <a:spLocks noChangeArrowheads="1"/>
            </p:cNvSpPr>
            <p:nvPr/>
          </p:nvSpPr>
          <p:spPr bwMode="auto">
            <a:xfrm>
              <a:off x="7166455" y="2345431"/>
              <a:ext cx="1019355" cy="58404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6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10</a:t>
              </a:r>
              <a:r>
                <a:rPr kumimoji="1" lang="en-US" altLang="zh-CN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T→T*F</a:t>
              </a: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endParaRPr kumimoji="1"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415" name="Text Box 46"/>
            <p:cNvSpPr txBox="1">
              <a:spLocks noChangeArrowheads="1"/>
            </p:cNvSpPr>
            <p:nvPr/>
          </p:nvSpPr>
          <p:spPr bwMode="auto">
            <a:xfrm>
              <a:off x="5822385" y="3473203"/>
              <a:ext cx="45723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</a:p>
          </p:txBody>
        </p:sp>
        <p:sp>
          <p:nvSpPr>
            <p:cNvPr id="57416" name="Text Box 47"/>
            <p:cNvSpPr txBox="1">
              <a:spLocks noChangeArrowheads="1"/>
            </p:cNvSpPr>
            <p:nvPr/>
          </p:nvSpPr>
          <p:spPr bwMode="auto">
            <a:xfrm>
              <a:off x="7575292" y="3958397"/>
              <a:ext cx="3810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8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15" name="Text Box 48"/>
            <p:cNvSpPr txBox="1">
              <a:spLocks noChangeArrowheads="1"/>
            </p:cNvSpPr>
            <p:nvPr/>
          </p:nvSpPr>
          <p:spPr bwMode="auto">
            <a:xfrm>
              <a:off x="7174395" y="4300718"/>
              <a:ext cx="1000302" cy="58404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6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11</a:t>
              </a:r>
              <a:r>
                <a:rPr kumimoji="1" lang="en-US" altLang="zh-CN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F→</a:t>
              </a:r>
              <a:r>
                <a:rPr kumimoji="1" lang="en-US" altLang="zh-CN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r>
                <a:rPr kumimoji="1" lang="en-US" altLang="zh-CN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)</a:t>
              </a:r>
              <a:r>
                <a:rPr lang="en-US" altLang="zh-CN" sz="16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endParaRPr kumimoji="1"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418" name="Text Box 49"/>
            <p:cNvSpPr txBox="1">
              <a:spLocks noChangeArrowheads="1"/>
            </p:cNvSpPr>
            <p:nvPr/>
          </p:nvSpPr>
          <p:spPr bwMode="auto">
            <a:xfrm>
              <a:off x="8295406" y="3291830"/>
              <a:ext cx="38102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57419" name="Line 50"/>
            <p:cNvSpPr>
              <a:spLocks noChangeShapeType="1"/>
            </p:cNvSpPr>
            <p:nvPr/>
          </p:nvSpPr>
          <p:spPr bwMode="auto">
            <a:xfrm flipH="1">
              <a:off x="6725936" y="2000301"/>
              <a:ext cx="439904" cy="6251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20" name="Text Box 51"/>
            <p:cNvSpPr txBox="1">
              <a:spLocks noChangeArrowheads="1"/>
            </p:cNvSpPr>
            <p:nvPr/>
          </p:nvSpPr>
          <p:spPr bwMode="auto">
            <a:xfrm>
              <a:off x="6902213" y="1773195"/>
              <a:ext cx="45723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57421" name="Freeform 52"/>
            <p:cNvSpPr>
              <a:spLocks noChangeArrowheads="1"/>
            </p:cNvSpPr>
            <p:nvPr/>
          </p:nvSpPr>
          <p:spPr bwMode="auto">
            <a:xfrm>
              <a:off x="6862433" y="1166909"/>
              <a:ext cx="1759255" cy="2285989"/>
            </a:xfrm>
            <a:custGeom>
              <a:avLst/>
              <a:gdLst>
                <a:gd name="T0" fmla="*/ 2147483646 w 1712"/>
                <a:gd name="T1" fmla="*/ 2147483646 h 2352"/>
                <a:gd name="T2" fmla="*/ 2147483646 w 1712"/>
                <a:gd name="T3" fmla="*/ 2147483646 h 2352"/>
                <a:gd name="T4" fmla="*/ 2147483646 w 1712"/>
                <a:gd name="T5" fmla="*/ 2147483646 h 2352"/>
                <a:gd name="T6" fmla="*/ 2147483646 w 1712"/>
                <a:gd name="T7" fmla="*/ 2147483646 h 2352"/>
                <a:gd name="T8" fmla="*/ 2147483646 w 1712"/>
                <a:gd name="T9" fmla="*/ 2147483646 h 2352"/>
                <a:gd name="T10" fmla="*/ 0 w 1712"/>
                <a:gd name="T11" fmla="*/ 0 h 235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12"/>
                <a:gd name="T19" fmla="*/ 0 h 2352"/>
                <a:gd name="T20" fmla="*/ 1712 w 1712"/>
                <a:gd name="T21" fmla="*/ 2352 h 235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12" h="2352">
                  <a:moveTo>
                    <a:pt x="1440" y="2352"/>
                  </a:moveTo>
                  <a:cubicBezTo>
                    <a:pt x="1516" y="2060"/>
                    <a:pt x="1592" y="1768"/>
                    <a:pt x="1632" y="1488"/>
                  </a:cubicBezTo>
                  <a:cubicBezTo>
                    <a:pt x="1672" y="1208"/>
                    <a:pt x="1712" y="888"/>
                    <a:pt x="1680" y="672"/>
                  </a:cubicBezTo>
                  <a:cubicBezTo>
                    <a:pt x="1648" y="456"/>
                    <a:pt x="1536" y="296"/>
                    <a:pt x="1440" y="192"/>
                  </a:cubicBezTo>
                  <a:cubicBezTo>
                    <a:pt x="1344" y="88"/>
                    <a:pt x="1344" y="80"/>
                    <a:pt x="1104" y="48"/>
                  </a:cubicBezTo>
                  <a:cubicBezTo>
                    <a:pt x="864" y="16"/>
                    <a:pt x="152" y="0"/>
                    <a:pt x="0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22" name="Freeform 54"/>
            <p:cNvSpPr>
              <a:spLocks noChangeArrowheads="1"/>
            </p:cNvSpPr>
            <p:nvPr/>
          </p:nvSpPr>
          <p:spPr bwMode="auto">
            <a:xfrm>
              <a:off x="4878000" y="3546021"/>
              <a:ext cx="971549" cy="844978"/>
            </a:xfrm>
            <a:custGeom>
              <a:avLst/>
              <a:gdLst>
                <a:gd name="T0" fmla="*/ 2147483646 w 640"/>
                <a:gd name="T1" fmla="*/ 0 h 1104"/>
                <a:gd name="T2" fmla="*/ 2147483646 w 640"/>
                <a:gd name="T3" fmla="*/ 2147483646 h 1104"/>
                <a:gd name="T4" fmla="*/ 2147483646 w 640"/>
                <a:gd name="T5" fmla="*/ 2147483646 h 1104"/>
                <a:gd name="T6" fmla="*/ 0 w 640"/>
                <a:gd name="T7" fmla="*/ 2147483646 h 110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0"/>
                <a:gd name="T13" fmla="*/ 0 h 1104"/>
                <a:gd name="T14" fmla="*/ 640 w 640"/>
                <a:gd name="T15" fmla="*/ 1104 h 110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0" h="1104">
                  <a:moveTo>
                    <a:pt x="624" y="0"/>
                  </a:moveTo>
                  <a:cubicBezTo>
                    <a:pt x="632" y="144"/>
                    <a:pt x="640" y="288"/>
                    <a:pt x="624" y="384"/>
                  </a:cubicBezTo>
                  <a:cubicBezTo>
                    <a:pt x="608" y="480"/>
                    <a:pt x="632" y="456"/>
                    <a:pt x="528" y="576"/>
                  </a:cubicBezTo>
                  <a:cubicBezTo>
                    <a:pt x="424" y="696"/>
                    <a:pt x="212" y="900"/>
                    <a:pt x="0" y="1104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23" name="Text Box 56"/>
            <p:cNvSpPr txBox="1">
              <a:spLocks noChangeArrowheads="1"/>
            </p:cNvSpPr>
            <p:nvPr/>
          </p:nvSpPr>
          <p:spPr bwMode="auto">
            <a:xfrm>
              <a:off x="6894170" y="642490"/>
              <a:ext cx="45723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</p:grpSp>
      <p:sp>
        <p:nvSpPr>
          <p:cNvPr id="57368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C1156CE-4F8C-4C2A-9283-1C74CD966C19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33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624601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79388" y="1347788"/>
            <a:ext cx="3881437" cy="36718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42875" y="914400"/>
            <a:ext cx="8664575" cy="3225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SLR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分析法的基本思想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i="1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SLR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</a:t>
            </a:r>
          </a:p>
        </p:txBody>
      </p:sp>
      <p:grpSp>
        <p:nvGrpSpPr>
          <p:cNvPr id="59397" name="Group 4"/>
          <p:cNvGrpSpPr>
            <a:grpSpLocks/>
          </p:cNvGrpSpPr>
          <p:nvPr/>
        </p:nvGrpSpPr>
        <p:grpSpPr bwMode="auto">
          <a:xfrm>
            <a:off x="2074863" y="1930400"/>
            <a:ext cx="1928812" cy="1428750"/>
            <a:chOff x="1519" y="1525"/>
            <a:chExt cx="831" cy="859"/>
          </a:xfrm>
        </p:grpSpPr>
        <p:sp>
          <p:nvSpPr>
            <p:cNvPr id="59406" name="AutoShape 5"/>
            <p:cNvSpPr>
              <a:spLocks/>
            </p:cNvSpPr>
            <p:nvPr/>
          </p:nvSpPr>
          <p:spPr bwMode="auto">
            <a:xfrm>
              <a:off x="1519" y="1525"/>
              <a:ext cx="136" cy="859"/>
            </a:xfrm>
            <a:prstGeom prst="rightBrace">
              <a:avLst>
                <a:gd name="adj1" fmla="val 36113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59407" name="Rectangle 6"/>
            <p:cNvSpPr>
              <a:spLocks noChangeArrowheads="1"/>
            </p:cNvSpPr>
            <p:nvPr/>
          </p:nvSpPr>
          <p:spPr bwMode="auto">
            <a:xfrm>
              <a:off x="1629" y="1816"/>
              <a:ext cx="721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个移进项目</a:t>
              </a:r>
            </a:p>
          </p:txBody>
        </p:sp>
      </p:grpSp>
      <p:grpSp>
        <p:nvGrpSpPr>
          <p:cNvPr id="59398" name="Group 7"/>
          <p:cNvGrpSpPr>
            <a:grpSpLocks/>
          </p:cNvGrpSpPr>
          <p:nvPr/>
        </p:nvGrpSpPr>
        <p:grpSpPr bwMode="auto">
          <a:xfrm>
            <a:off x="1360488" y="3573463"/>
            <a:ext cx="1908175" cy="1214437"/>
            <a:chOff x="1202" y="2132"/>
            <a:chExt cx="822" cy="663"/>
          </a:xfrm>
        </p:grpSpPr>
        <p:sp>
          <p:nvSpPr>
            <p:cNvPr id="59404" name="AutoShape 8"/>
            <p:cNvSpPr>
              <a:spLocks/>
            </p:cNvSpPr>
            <p:nvPr/>
          </p:nvSpPr>
          <p:spPr bwMode="auto">
            <a:xfrm>
              <a:off x="1202" y="2132"/>
              <a:ext cx="136" cy="663"/>
            </a:xfrm>
            <a:prstGeom prst="rightBrace">
              <a:avLst>
                <a:gd name="adj1" fmla="val 36134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59405" name="Rectangle 9"/>
            <p:cNvSpPr>
              <a:spLocks noChangeArrowheads="1"/>
            </p:cNvSpPr>
            <p:nvPr/>
          </p:nvSpPr>
          <p:spPr bwMode="auto">
            <a:xfrm>
              <a:off x="1327" y="2343"/>
              <a:ext cx="697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个归约项目</a:t>
              </a:r>
            </a:p>
          </p:txBody>
        </p:sp>
      </p:grpSp>
      <p:sp>
        <p:nvSpPr>
          <p:cNvPr id="59399" name="矩形 3"/>
          <p:cNvSpPr>
            <a:spLocks noChangeArrowheads="1"/>
          </p:cNvSpPr>
          <p:nvPr/>
        </p:nvSpPr>
        <p:spPr bwMode="auto">
          <a:xfrm>
            <a:off x="4178300" y="1354138"/>
            <a:ext cx="4786313" cy="3644900"/>
          </a:xfrm>
          <a:prstGeom prst="rect">
            <a:avLst/>
          </a:prstGeom>
          <a:solidFill>
            <a:srgbClr val="B5CEED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30321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lvl="1" eaLnBrk="1" hangingPunct="1">
              <a:lnSpc>
                <a:spcPts val="3000"/>
              </a:lnSpc>
              <a:buClrTx/>
              <a:buFont typeface="Arial" panose="020B0604020202020204" pitchFamily="34" charset="0"/>
              <a:buNone/>
            </a:pP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000"/>
              </a:lnSpc>
              <a:buClrTx/>
              <a:buFont typeface="Arial" panose="020B0604020202020204" pitchFamily="34" charset="0"/>
              <a:buNone/>
            </a:pP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000"/>
              </a:lnSpc>
              <a:buClrTx/>
              <a:buFont typeface="Arial" panose="020B0604020202020204" pitchFamily="34" charset="0"/>
              <a:buNone/>
            </a:pP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000"/>
              </a:lnSpc>
              <a:buClrTx/>
              <a:buFont typeface="Arial" panose="020B0604020202020204" pitchFamily="34" charset="0"/>
              <a:buNone/>
            </a:pP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000"/>
              </a:lnSpc>
              <a:buClrTx/>
              <a:buFont typeface="Arial" panose="020B0604020202020204" pitchFamily="34" charset="0"/>
              <a:buNone/>
            </a:pP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000"/>
              </a:lnSpc>
              <a:buClrTx/>
              <a:buFont typeface="Arial" panose="020B0604020202020204" pitchFamily="34" charset="0"/>
              <a:buNone/>
            </a:pP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000"/>
              </a:lnSpc>
              <a:buClrTx/>
              <a:buFont typeface="Arial" panose="020B0604020202020204" pitchFamily="34" charset="0"/>
              <a:buNone/>
            </a:pP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000"/>
              </a:lnSpc>
              <a:buClrTx/>
              <a:buFont typeface="Arial" panose="020B0604020202020204" pitchFamily="34" charset="0"/>
              <a:buNone/>
            </a:pP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400" name="矩形 5"/>
          <p:cNvSpPr>
            <a:spLocks noChangeArrowheads="1"/>
          </p:cNvSpPr>
          <p:nvPr/>
        </p:nvSpPr>
        <p:spPr bwMode="auto">
          <a:xfrm>
            <a:off x="-34925" y="1419225"/>
            <a:ext cx="4572000" cy="351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lnSpc>
                <a:spcPts val="2500"/>
              </a:lnSpc>
              <a:buClr>
                <a:srgbClr val="31B6FD"/>
              </a:buClr>
              <a:buFont typeface="Symbol" panose="05050102010706020507" pitchFamily="18" charset="2"/>
              <a:buNone/>
            </a:pPr>
            <a:r>
              <a:rPr lang="zh-CN" altLang="en-US" sz="22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已知项目集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2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：</a:t>
            </a:r>
            <a:endParaRPr lang="en-US" altLang="zh-CN" sz="22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ts val="2500"/>
              </a:lnSpc>
              <a:buClr>
                <a:srgbClr val="31B6FD"/>
              </a:buClr>
              <a:buFont typeface="Symbol" panose="05050102010706020507" pitchFamily="18" charset="2"/>
              <a:buNone/>
            </a:pP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2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</a:rPr>
              <a:t>α</a:t>
            </a:r>
            <a:r>
              <a:rPr lang="en-US" altLang="zh-CN" sz="22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.a</a:t>
            </a:r>
            <a:r>
              <a:rPr lang="en-US" altLang="zh-CN" sz="22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</a:rPr>
              <a:t>β</a:t>
            </a:r>
            <a:r>
              <a:rPr lang="en-US" altLang="zh-CN" sz="22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lnSpc>
                <a:spcPts val="2500"/>
              </a:lnSpc>
              <a:buClr>
                <a:srgbClr val="31B6FD"/>
              </a:buClr>
              <a:buFont typeface="Symbol" panose="05050102010706020507" pitchFamily="18" charset="2"/>
              <a:buNone/>
            </a:pP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2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</a:rPr>
              <a:t>α</a:t>
            </a:r>
            <a:r>
              <a:rPr lang="en-US" altLang="zh-CN" sz="22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.a</a:t>
            </a:r>
            <a:r>
              <a:rPr lang="en-US" altLang="zh-CN" sz="22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</a:rPr>
              <a:t>β</a:t>
            </a:r>
            <a:r>
              <a:rPr lang="en-US" altLang="zh-CN" sz="22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ts val="2500"/>
              </a:lnSpc>
              <a:buClr>
                <a:srgbClr val="31B6FD"/>
              </a:buClr>
              <a:buFont typeface="Symbol" panose="05050102010706020507" pitchFamily="18" charset="2"/>
              <a:buNone/>
            </a:pP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	…</a:t>
            </a:r>
          </a:p>
          <a:p>
            <a:pPr eaLnBrk="1" hangingPunct="1">
              <a:lnSpc>
                <a:spcPts val="2500"/>
              </a:lnSpc>
              <a:buClr>
                <a:srgbClr val="31B6FD"/>
              </a:buClr>
              <a:buFont typeface="Symbol" panose="05050102010706020507" pitchFamily="18" charset="2"/>
              <a:buNone/>
            </a:pP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200" b="1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</a:rPr>
              <a:t>α</a:t>
            </a:r>
            <a:r>
              <a:rPr lang="en-US" altLang="zh-CN" sz="2200" b="1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.a</a:t>
            </a:r>
            <a:r>
              <a:rPr lang="en-US" altLang="zh-CN" sz="22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</a:rPr>
              <a:t>β</a:t>
            </a:r>
            <a:r>
              <a:rPr lang="en-US" altLang="zh-CN" sz="2200" b="1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ts val="2500"/>
              </a:lnSpc>
              <a:buClr>
                <a:srgbClr val="31B6FD"/>
              </a:buClr>
              <a:buFont typeface="Symbol" panose="05050102010706020507" pitchFamily="18" charset="2"/>
              <a:buNone/>
            </a:pP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2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</a:rPr>
              <a:t>γ</a:t>
            </a:r>
            <a:r>
              <a:rPr lang="en-US" altLang="zh-CN" sz="22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ts val="2500"/>
              </a:lnSpc>
              <a:buClr>
                <a:srgbClr val="31B6FD"/>
              </a:buClr>
              <a:buFont typeface="Symbol" panose="05050102010706020507" pitchFamily="18" charset="2"/>
              <a:buNone/>
            </a:pP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2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</a:rPr>
              <a:t>γ</a:t>
            </a:r>
            <a:r>
              <a:rPr lang="en-US" altLang="zh-CN" sz="22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ts val="2500"/>
              </a:lnSpc>
              <a:buClr>
                <a:srgbClr val="31B6FD"/>
              </a:buClr>
              <a:buFont typeface="Symbol" panose="05050102010706020507" pitchFamily="18" charset="2"/>
              <a:buNone/>
            </a:pP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	…</a:t>
            </a:r>
          </a:p>
          <a:p>
            <a:pPr eaLnBrk="1" hangingPunct="1">
              <a:lnSpc>
                <a:spcPts val="2500"/>
              </a:lnSpc>
              <a:buClr>
                <a:srgbClr val="31B6FD"/>
              </a:buClr>
              <a:buFont typeface="Symbol" panose="05050102010706020507" pitchFamily="18" charset="2"/>
              <a:buNone/>
            </a:pP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200" b="1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</a:rPr>
              <a:t>γ</a:t>
            </a:r>
            <a:r>
              <a:rPr lang="en-US" altLang="zh-CN" sz="2200" b="1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59401" name="矩形 6"/>
          <p:cNvSpPr>
            <a:spLocks noChangeArrowheads="1"/>
          </p:cNvSpPr>
          <p:nvPr/>
        </p:nvSpPr>
        <p:spPr bwMode="auto">
          <a:xfrm>
            <a:off x="4178300" y="1393825"/>
            <a:ext cx="4572000" cy="377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lnSpc>
                <a:spcPts val="3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2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如果集合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{a</a:t>
            </a:r>
            <a:r>
              <a:rPr lang="en-US" altLang="zh-CN" sz="2200" b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</a:t>
            </a:r>
            <a:r>
              <a:rPr lang="en-US" altLang="zh-CN" sz="2200" b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…, a</a:t>
            </a:r>
            <a:r>
              <a:rPr lang="en-US" altLang="zh-CN" sz="2200" b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2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和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</a:rPr>
              <a:t>FOLLOW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2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2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 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</a:rPr>
              <a:t>FOLLOW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2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2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…</a:t>
            </a:r>
            <a:r>
              <a:rPr lang="zh-CN" altLang="en-US" sz="22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</a:rPr>
              <a:t>FOLLOW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200" b="1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2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两两不相交</a:t>
            </a:r>
            <a:r>
              <a:rPr lang="zh-CN" altLang="en-US" sz="22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，则项目   集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sz="22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中的冲突可以按以下原则解决： </a:t>
            </a:r>
            <a:endParaRPr lang="en-US" altLang="zh-CN" sz="22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ts val="3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     </a:t>
            </a:r>
            <a:r>
              <a:rPr lang="zh-CN" altLang="en-US" sz="22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设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2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是下</a:t>
            </a:r>
            <a:r>
              <a:rPr lang="zh-CN" altLang="en-US" sz="22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一个输入符号</a:t>
            </a:r>
            <a:endParaRPr lang="en-US" altLang="zh-CN" sz="2200" b="1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30000"/>
              </a:spcBef>
              <a:buClrTx/>
              <a:buSzTx/>
              <a:buFont typeface="Arial" panose="020B0604020202020204" pitchFamily="34" charset="0"/>
              <a:buNone/>
            </a:pPr>
            <a:endParaRPr lang="en-US" altLang="zh-CN" sz="22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30000"/>
              </a:spcBef>
              <a:buClrTx/>
              <a:buSzTx/>
              <a:buFont typeface="Arial" panose="020B0604020202020204" pitchFamily="34" charset="0"/>
              <a:buNone/>
            </a:pPr>
            <a:endParaRPr lang="en-US" altLang="zh-CN" sz="22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30000"/>
              </a:spcBef>
              <a:buClrTx/>
              <a:buSzTx/>
              <a:buFont typeface="Arial" panose="020B0604020202020204" pitchFamily="34" charset="0"/>
              <a:buNone/>
            </a:pPr>
            <a:endParaRPr lang="en-US" altLang="zh-CN" sz="22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30000"/>
              </a:spcBef>
              <a:buClrTx/>
              <a:buSzTx/>
              <a:buFont typeface="Arial" panose="020B0604020202020204" pitchFamily="34" charset="0"/>
              <a:buNone/>
            </a:pPr>
            <a:endParaRPr lang="en-US" altLang="zh-CN" sz="22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402" name="矩形 8"/>
          <p:cNvSpPr>
            <a:spLocks noChangeArrowheads="1"/>
          </p:cNvSpPr>
          <p:nvPr/>
        </p:nvSpPr>
        <p:spPr bwMode="auto">
          <a:xfrm>
            <a:off x="3924300" y="3252788"/>
            <a:ext cx="5060950" cy="176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576263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lvl="1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若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a∈{ a</a:t>
            </a:r>
            <a:r>
              <a:rPr lang="en-US" altLang="zh-CN" b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</a:t>
            </a:r>
            <a:r>
              <a:rPr lang="en-US" altLang="zh-CN" b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…, a</a:t>
            </a:r>
            <a:r>
              <a:rPr lang="en-US" altLang="zh-CN" b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，则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移进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</a:p>
          <a:p>
            <a:pPr lvl="1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若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a∈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FOLLOW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，则用产生式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γ</a:t>
            </a:r>
            <a:r>
              <a:rPr lang="en-US" altLang="zh-CN" b="1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归约</a:t>
            </a:r>
          </a:p>
          <a:p>
            <a:pPr lvl="1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此外，报错</a:t>
            </a:r>
          </a:p>
        </p:txBody>
      </p:sp>
      <p:sp>
        <p:nvSpPr>
          <p:cNvPr id="59403" name="灯片编号占位符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F5A08BF-BC6D-4456-B5CF-2CC176BEA2A3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34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8593689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8208963" cy="358775"/>
          </a:xfrm>
        </p:spPr>
        <p:txBody>
          <a:bodyPr/>
          <a:lstStyle/>
          <a:p>
            <a:pPr eaLnBrk="1" hangingPunct="1"/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表达式文法的</a:t>
            </a:r>
            <a:r>
              <a:rPr lang="en-US" altLang="zh-CN" sz="2800" i="1">
                <a:solidFill>
                  <a:schemeClr val="tx1"/>
                </a:solidFill>
              </a:rPr>
              <a:t>LR</a:t>
            </a:r>
            <a:r>
              <a:rPr lang="en-US" altLang="zh-CN" sz="2800">
                <a:solidFill>
                  <a:schemeClr val="tx1"/>
                </a:solidFill>
              </a:rPr>
              <a:t>(0)</a:t>
            </a: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分析表含有</a:t>
            </a:r>
            <a:r>
              <a:rPr lang="zh-CN" altLang="en-US" sz="280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移进</a:t>
            </a:r>
            <a:r>
              <a:rPr lang="en-US" altLang="zh-CN" sz="280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归约</a:t>
            </a: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冲突</a:t>
            </a:r>
            <a:endParaRPr lang="zh-CN" altLang="zh-CN" sz="2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Group 18"/>
          <p:cNvGraphicFramePr>
            <a:graphicFrameLocks noGrp="1"/>
          </p:cNvGraphicFramePr>
          <p:nvPr/>
        </p:nvGraphicFramePr>
        <p:xfrm>
          <a:off x="755650" y="700088"/>
          <a:ext cx="7777163" cy="4408493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5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1273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  <a:cs typeface="Times New Roman" pitchFamily="18" charset="0"/>
                        </a:rPr>
                        <a:t>状态</a:t>
                      </a:r>
                    </a:p>
                  </a:txBody>
                  <a:tcPr marL="91442" marR="91442" marT="34283" marB="342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ACTION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GOTO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id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</a:rPr>
                        <a:t>＋</a:t>
                      </a: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*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（</a:t>
                      </a: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）</a:t>
                      </a: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  <a:cs typeface="Times New Roman" pitchFamily="18" charset="0"/>
                        </a:rPr>
                        <a:t>$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E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T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s5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</a:t>
                      </a:r>
                      <a:r>
                        <a:rPr kumimoji="1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8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s6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itchFamily="34" charset="0"/>
                        <a:ea typeface="华文楷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itchFamily="34" charset="0"/>
                        <a:ea typeface="华文楷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itchFamily="34" charset="0"/>
                        <a:ea typeface="华文楷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r2/s7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r4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s5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r6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r6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r6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r6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r6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r6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s5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s5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s6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s11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r1/s7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r5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r5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r5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r5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r5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r5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06658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71759C4-4955-4FBE-960E-5E2862B8EA83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35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645840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4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lIns="92075" tIns="46038" rIns="92075" bIns="46038"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表达式文法的</a:t>
            </a:r>
            <a:r>
              <a:rPr lang="en-US" altLang="zh-CN" sz="3000" i="1">
                <a:solidFill>
                  <a:schemeClr val="tx1"/>
                </a:solidFill>
                <a:ea typeface="黑体" panose="02010609060101010101" pitchFamily="49" charset="-122"/>
              </a:rPr>
              <a:t>SLR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分析表</a:t>
            </a:r>
          </a:p>
        </p:txBody>
      </p:sp>
      <p:graphicFrame>
        <p:nvGraphicFramePr>
          <p:cNvPr id="51202" name="表格 51201"/>
          <p:cNvGraphicFramePr/>
          <p:nvPr/>
        </p:nvGraphicFramePr>
        <p:xfrm>
          <a:off x="1763713" y="700088"/>
          <a:ext cx="5616575" cy="4378325"/>
        </p:xfrm>
        <a:graphic>
          <a:graphicData uri="http://schemas.openxmlformats.org/drawingml/2006/table">
            <a:tbl>
              <a:tblPr/>
              <a:tblGrid>
                <a:gridCol w="681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9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3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12738">
                <a:tc rowSpan="2"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zh-CN" altLang="en-US" b="1">
                          <a:solidFill>
                            <a:srgbClr val="0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状态</a:t>
                      </a:r>
                    </a:p>
                  </a:txBody>
                  <a:tcPr marL="91438" marR="91438" marT="34288" marB="34288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6"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 i="1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ACTION</a:t>
                      </a:r>
                      <a:endParaRPr lang="zh-CN" altLang="en-US" sz="1600" b="1" i="1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 i="1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GOTO</a:t>
                      </a:r>
                      <a:endParaRPr lang="zh-CN" altLang="en-US" sz="1600" b="1" i="1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id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zh-CN" altLang="en-US" sz="1600" b="1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＋</a:t>
                      </a: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*</a:t>
                      </a:r>
                      <a:endParaRPr lang="zh-CN" altLang="en-US" sz="1600" b="1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zh-CN" altLang="en-US" sz="1600" b="1">
                          <a:latin typeface="Times New Roman" panose="02020603050405020304" pitchFamily="18" charset="0"/>
                          <a:ea typeface="华文楷体" panose="02010600040101010101" pitchFamily="2" charset="-122"/>
                        </a:rPr>
                        <a:t>（</a:t>
                      </a: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zh-CN" altLang="en-US" sz="1600" b="1">
                          <a:latin typeface="Times New Roman" panose="02020603050405020304" pitchFamily="18" charset="0"/>
                          <a:ea typeface="华文楷体" panose="02010600040101010101" pitchFamily="2" charset="-122"/>
                        </a:rPr>
                        <a:t>）</a:t>
                      </a: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latin typeface="华文楷体" panose="02010600040101010101" pitchFamily="2" charset="-122"/>
                          <a:ea typeface="Times New Roman" panose="02020603050405020304" pitchFamily="18" charset="0"/>
                        </a:rPr>
                        <a:t>$</a:t>
                      </a:r>
                      <a:r>
                        <a:rPr lang="en-US" altLang="zh-CN" sz="16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endParaRPr lang="zh-CN" altLang="en-US" sz="16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 i="1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E</a:t>
                      </a:r>
                      <a:endParaRPr lang="zh-CN" altLang="en-US" sz="1600" b="1" i="1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 i="1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T</a:t>
                      </a:r>
                      <a:endParaRPr lang="zh-CN" altLang="en-US" sz="1600" b="1" i="1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 i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lang="zh-CN" altLang="en-US" sz="1600" b="1" i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s5</a:t>
                      </a:r>
                      <a:r>
                        <a:rPr lang="en-US" altLang="zh-CN" sz="1600" b="1">
                          <a:solidFill>
                            <a:schemeClr val="folHlink"/>
                          </a:solidFill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 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s4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37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s6</a:t>
                      </a:r>
                      <a:endParaRPr lang="zh-CN" altLang="en-US" sz="16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acc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2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chemeClr val="folHlink"/>
                          </a:solidFill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 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2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r2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2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s7</a:t>
                      </a:r>
                      <a:endParaRPr lang="zh-CN" altLang="en-US" sz="16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2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2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r2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2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r2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2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2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2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7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chemeClr val="folHlink"/>
                          </a:solidFill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 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r4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r4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r4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r4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s5</a:t>
                      </a:r>
                      <a:r>
                        <a:rPr lang="en-US" altLang="zh-CN" sz="1600" b="1">
                          <a:solidFill>
                            <a:schemeClr val="folHlink"/>
                          </a:solidFill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 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s4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737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chemeClr val="folHlink"/>
                          </a:solidFill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 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r6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r6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r6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r6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s5</a:t>
                      </a:r>
                      <a:r>
                        <a:rPr lang="en-US" altLang="zh-CN" sz="1600" b="1">
                          <a:solidFill>
                            <a:schemeClr val="folHlink"/>
                          </a:solidFill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 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s4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2737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s5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s4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s6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s11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2737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2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2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r1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2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s7</a:t>
                      </a:r>
                      <a:endParaRPr lang="zh-CN" altLang="en-US" sz="16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2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2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r1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2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r1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2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2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2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r3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r3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r3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r3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2737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r5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r5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r5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r5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8" marR="91438" marT="34288" marB="3428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1602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274174E-1526-406D-AF21-A08E0FD5E0F4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36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5599127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3789363" y="500063"/>
            <a:ext cx="2425700" cy="9239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FOLLOW</a:t>
            </a:r>
            <a:r>
              <a:rPr lang="en-US" altLang="zh-CN" b="1">
                <a:solidFill>
                  <a:prstClr val="black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S′ </a:t>
            </a:r>
            <a:r>
              <a:rPr lang="en-US" altLang="zh-CN" b="1">
                <a:solidFill>
                  <a:prstClr val="black"/>
                </a:solidFill>
                <a:latin typeface="Times New Roman" panose="02020603050405020304" pitchFamily="18" charset="0"/>
              </a:rPr>
              <a:t>)={ </a:t>
            </a:r>
            <a:r>
              <a:rPr lang="en-US" altLang="zh-CN" b="1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$</a:t>
            </a:r>
            <a:r>
              <a:rPr lang="en-US" altLang="zh-CN" b="1">
                <a:solidFill>
                  <a:prstClr val="black"/>
                </a:solidFill>
                <a:latin typeface="Times New Roman" panose="02020603050405020304" pitchFamily="18" charset="0"/>
              </a:rPr>
              <a:t> }</a:t>
            </a:r>
          </a:p>
          <a:p>
            <a:pPr eaLnBrk="1" hangingPunct="1">
              <a:defRPr/>
            </a:pPr>
            <a:r>
              <a:rPr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FOLLOW</a:t>
            </a:r>
            <a:r>
              <a:rPr lang="en-US" altLang="zh-CN" b="1">
                <a:solidFill>
                  <a:prstClr val="black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="1">
                <a:solidFill>
                  <a:prstClr val="black"/>
                </a:solidFill>
                <a:latin typeface="Times New Roman" panose="02020603050405020304" pitchFamily="18" charset="0"/>
              </a:rPr>
              <a:t>)={ </a:t>
            </a:r>
            <a:r>
              <a:rPr lang="en-US" altLang="zh-CN" b="1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$</a:t>
            </a:r>
            <a:r>
              <a:rPr lang="en-US" altLang="zh-CN" b="1">
                <a:solidFill>
                  <a:prstClr val="black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b </a:t>
            </a:r>
            <a:r>
              <a:rPr lang="en-US" altLang="zh-CN" b="1">
                <a:solidFill>
                  <a:prstClr val="black"/>
                </a:solidFill>
                <a:latin typeface="Times New Roman" panose="02020603050405020304" pitchFamily="18" charset="0"/>
              </a:rPr>
              <a:t>} </a:t>
            </a:r>
            <a:br>
              <a:rPr lang="en-US" altLang="zh-CN" b="1">
                <a:solidFill>
                  <a:prstClr val="black"/>
                </a:solidFill>
                <a:latin typeface="Times New Roman" panose="02020603050405020304" pitchFamily="18" charset="0"/>
              </a:rPr>
            </a:br>
            <a:r>
              <a:rPr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FOLLOW</a:t>
            </a:r>
            <a:r>
              <a:rPr lang="en-US" altLang="zh-CN" b="1">
                <a:solidFill>
                  <a:prstClr val="black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>
                <a:solidFill>
                  <a:prstClr val="black"/>
                </a:solidFill>
                <a:latin typeface="Times New Roman" panose="02020603050405020304" pitchFamily="18" charset="0"/>
              </a:rPr>
              <a:t>)={ </a:t>
            </a:r>
            <a:r>
              <a:rPr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d </a:t>
            </a:r>
            <a:r>
              <a:rPr lang="en-US" altLang="zh-CN" b="1">
                <a:solidFill>
                  <a:prstClr val="black"/>
                </a:solidFill>
                <a:latin typeface="Times New Roman" panose="02020603050405020304" pitchFamily="18" charset="0"/>
              </a:rPr>
              <a:t>} </a:t>
            </a:r>
            <a:endParaRPr lang="zh-CN" altLang="en-US" b="1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93" name="矩形 7"/>
          <p:cNvSpPr>
            <a:spLocks noChangeArrowheads="1"/>
          </p:cNvSpPr>
          <p:nvPr/>
        </p:nvSpPr>
        <p:spPr bwMode="auto">
          <a:xfrm>
            <a:off x="2071688" y="214313"/>
            <a:ext cx="1441450" cy="17541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b="1" noProof="1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华文楷体" pitchFamily="2" charset="-122"/>
              </a:rPr>
              <a:t>文法</a:t>
            </a:r>
            <a:endParaRPr lang="zh-CN" altLang="zh-CN" b="1" noProof="1">
              <a:solidFill>
                <a:prstClr val="black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zh-CN" b="1" noProof="1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(0) </a:t>
            </a:r>
            <a:r>
              <a:rPr lang="en-US" altLang="zh-CN" b="1" i="1" noProof="1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S′</a:t>
            </a:r>
            <a:r>
              <a:rPr lang="en-US" altLang="zh-CN" b="1" noProof="1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→ </a:t>
            </a:r>
            <a:r>
              <a:rPr lang="en-US" altLang="zh-CN" b="1" i="1" noProof="1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T</a:t>
            </a:r>
            <a:r>
              <a:rPr lang="en-US" altLang="zh-CN" b="1" noProof="1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 </a:t>
            </a:r>
            <a:br>
              <a:rPr lang="en-US" altLang="zh-CN" b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zh-CN" b="1" noProof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(1) </a:t>
            </a:r>
            <a:r>
              <a:rPr lang="en-US" altLang="zh-CN" b="1" i="1" noProof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b="1" noProof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zh-CN" b="1" i="1" noProof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aBd</a:t>
            </a:r>
            <a:r>
              <a:rPr lang="en-US" altLang="zh-CN" b="1" noProof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b="1" noProof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(2) </a:t>
            </a:r>
            <a:r>
              <a:rPr lang="en-US" altLang="zh-CN" b="1" i="1" noProof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b="1" noProof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→  </a:t>
            </a:r>
            <a:r>
              <a:rPr lang="el-GR" altLang="zh-CN" b="1" i="1" noProof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ε</a:t>
            </a:r>
            <a:br>
              <a:rPr lang="en-US" altLang="zh-CN" b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zh-CN" b="1" noProof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(3) </a:t>
            </a:r>
            <a:r>
              <a:rPr lang="en-US" altLang="zh-CN" b="1" i="1" noProof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CN" b="1" noProof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→</a:t>
            </a:r>
            <a:r>
              <a:rPr lang="en-US" altLang="zh-CN" b="1" i="1" noProof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Tb</a:t>
            </a:r>
            <a:r>
              <a:rPr lang="en-US" altLang="zh-CN" b="1" noProof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b="1" noProof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(4) </a:t>
            </a:r>
            <a:r>
              <a:rPr lang="en-US" altLang="zh-CN" b="1" i="1" noProof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CN" b="1" noProof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→  </a:t>
            </a:r>
            <a:r>
              <a:rPr lang="el-GR" altLang="zh-CN" b="1" i="1" noProof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ε</a:t>
            </a:r>
            <a:r>
              <a:rPr lang="el-GR" altLang="zh-CN" b="1" noProof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l-GR" altLang="en-US" b="1" noProof="1">
              <a:solidFill>
                <a:prstClr val="black"/>
              </a:solidFill>
              <a:latin typeface="Times New Roman" pitchFamily="18" charset="0"/>
              <a:ea typeface="楷体" pitchFamily="49" charset="-122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6343650" y="1071563"/>
            <a:ext cx="22225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SLR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(1)</a:t>
            </a:r>
            <a:r>
              <a:rPr lang="zh-CN" altLang="zh-CN" sz="25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分析表</a:t>
            </a:r>
            <a:endParaRPr lang="zh-CN" altLang="en-US" sz="250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53253" name="表格 53252"/>
          <p:cNvGraphicFramePr/>
          <p:nvPr/>
        </p:nvGraphicFramePr>
        <p:xfrm>
          <a:off x="5500688" y="1547813"/>
          <a:ext cx="3262313" cy="3357563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3063">
                <a:tc rowSpan="2"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状态</a:t>
                      </a:r>
                    </a:p>
                  </a:txBody>
                  <a:tcPr marL="91478" marR="91478" marT="34283" marB="34283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4"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 i="1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ACTION</a:t>
                      </a:r>
                      <a:endParaRPr lang="zh-CN" altLang="en-US" sz="1800" b="1" i="1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 i="1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GOTO</a:t>
                      </a:r>
                      <a:endParaRPr lang="zh-CN" altLang="en-US" sz="1800" b="1" i="1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06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 i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lang="zh-CN" altLang="en-US" sz="1800" b="1" i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 i="1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b</a:t>
                      </a:r>
                      <a:endParaRPr lang="zh-CN" altLang="en-US" sz="1800" b="1" i="1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 i="1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d</a:t>
                      </a:r>
                      <a:endParaRPr lang="zh-CN" altLang="en-US" sz="1800" b="1" i="1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>
                          <a:latin typeface="华文楷体" panose="02010600040101010101" pitchFamily="2" charset="-122"/>
                          <a:ea typeface="Times New Roman" panose="02020603050405020304" pitchFamily="18" charset="0"/>
                        </a:rPr>
                        <a:t>$</a:t>
                      </a:r>
                      <a:r>
                        <a:rPr lang="en-US" altLang="zh-CN" sz="18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endParaRPr lang="zh-CN" altLang="en-US" sz="18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 i="1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T</a:t>
                      </a:r>
                      <a:endParaRPr lang="zh-CN" altLang="en-US" sz="1800" b="1" i="1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 i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lang="zh-CN" altLang="en-US" sz="1800" b="1" i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s2</a:t>
                      </a: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r2</a:t>
                      </a: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r2</a:t>
                      </a: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062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acc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s2</a:t>
                      </a:r>
                      <a:r>
                        <a:rPr lang="en-US" altLang="zh-CN" sz="1800" b="1">
                          <a:solidFill>
                            <a:schemeClr val="folHlink"/>
                          </a:solidFill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 </a:t>
                      </a: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r2</a:t>
                      </a:r>
                      <a:endParaRPr lang="zh-CN" altLang="en-US" sz="18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>
                          <a:solidFill>
                            <a:srgbClr val="2D83F4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r4</a:t>
                      </a:r>
                      <a:endParaRPr lang="zh-CN" altLang="en-US" sz="1800" b="1">
                        <a:solidFill>
                          <a:srgbClr val="2D83F4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r2</a:t>
                      </a:r>
                      <a:endParaRPr lang="zh-CN" altLang="en-US" sz="18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062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>
                          <a:solidFill>
                            <a:schemeClr val="folHlink"/>
                          </a:solidFill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 </a:t>
                      </a: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s5</a:t>
                      </a: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>
                          <a:solidFill>
                            <a:schemeClr val="folHlink"/>
                          </a:solidFill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 </a:t>
                      </a: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s6</a:t>
                      </a: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062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>
                          <a:solidFill>
                            <a:schemeClr val="folHlink"/>
                          </a:solidFill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 </a:t>
                      </a: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r1</a:t>
                      </a: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r1</a:t>
                      </a: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>
                          <a:solidFill>
                            <a:schemeClr val="folHlink"/>
                          </a:solidFill>
                          <a:latin typeface="宋体" panose="02010600030101010101" pitchFamily="2" charset="-122"/>
                          <a:ea typeface="Times New Roman" panose="02020603050405020304" pitchFamily="18" charset="0"/>
                        </a:rPr>
                        <a:t> </a:t>
                      </a: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r3</a:t>
                      </a: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78" marR="91478" marT="34283" marB="3428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63571" name="组合 29"/>
          <p:cNvGrpSpPr>
            <a:grpSpLocks/>
          </p:cNvGrpSpPr>
          <p:nvPr/>
        </p:nvGrpSpPr>
        <p:grpSpPr bwMode="auto">
          <a:xfrm>
            <a:off x="315913" y="1428750"/>
            <a:ext cx="4756150" cy="3500438"/>
            <a:chOff x="3586435" y="362157"/>
            <a:chExt cx="5349705" cy="4307728"/>
          </a:xfrm>
        </p:grpSpPr>
        <p:sp>
          <p:nvSpPr>
            <p:cNvPr id="63573" name="Line 18"/>
            <p:cNvSpPr>
              <a:spLocks noChangeShapeType="1"/>
            </p:cNvSpPr>
            <p:nvPr/>
          </p:nvSpPr>
          <p:spPr bwMode="auto">
            <a:xfrm>
              <a:off x="6944022" y="2961337"/>
              <a:ext cx="648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74" name="Line 18"/>
            <p:cNvSpPr>
              <a:spLocks noChangeShapeType="1"/>
            </p:cNvSpPr>
            <p:nvPr/>
          </p:nvSpPr>
          <p:spPr bwMode="auto">
            <a:xfrm>
              <a:off x="4872320" y="3890031"/>
              <a:ext cx="79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75" name="Line 18"/>
            <p:cNvSpPr>
              <a:spLocks noChangeShapeType="1"/>
            </p:cNvSpPr>
            <p:nvPr/>
          </p:nvSpPr>
          <p:spPr bwMode="auto">
            <a:xfrm>
              <a:off x="4872320" y="2961337"/>
              <a:ext cx="79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76" name="Line 18"/>
            <p:cNvSpPr>
              <a:spLocks noChangeShapeType="1"/>
            </p:cNvSpPr>
            <p:nvPr/>
          </p:nvSpPr>
          <p:spPr bwMode="auto">
            <a:xfrm>
              <a:off x="4872320" y="1675453"/>
              <a:ext cx="79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77" name="Text Box 14"/>
            <p:cNvSpPr txBox="1">
              <a:spLocks noChangeArrowheads="1"/>
            </p:cNvSpPr>
            <p:nvPr/>
          </p:nvSpPr>
          <p:spPr bwMode="auto">
            <a:xfrm>
              <a:off x="3586435" y="362157"/>
              <a:ext cx="1412422" cy="1629317"/>
            </a:xfrm>
            <a:prstGeom prst="rect">
              <a:avLst/>
            </a:prstGeom>
            <a:solidFill>
              <a:srgbClr val="B5CEED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>
                  <a:srgbClr val="073E87"/>
                </a:buClr>
                <a:buSzPct val="75000"/>
                <a:buFont typeface="Monotype Sorts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>
                  <a:srgbClr val="073E87"/>
                </a:buClr>
                <a:buSzPct val="75000"/>
                <a:buFont typeface="Monotype Sorts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′</a:t>
              </a:r>
              <a:r>
                <a:rPr lang="en-US" altLang="zh-CN" sz="2000" b="1" i="1">
                  <a:solidFill>
                    <a:srgbClr val="2D83F4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T</a:t>
              </a:r>
            </a:p>
            <a:p>
              <a:pPr>
                <a:spcBef>
                  <a:spcPct val="0"/>
                </a:spcBef>
                <a:buClr>
                  <a:srgbClr val="073E87"/>
                </a:buClr>
                <a:buSzPct val="75000"/>
                <a:buFont typeface="Monotype Sorts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T→ · aBd</a:t>
              </a:r>
            </a:p>
            <a:p>
              <a:pPr>
                <a:spcBef>
                  <a:spcPct val="0"/>
                </a:spcBef>
                <a:buClr>
                  <a:srgbClr val="073E87"/>
                </a:buClr>
                <a:buSzPct val="75000"/>
                <a:buFont typeface="Monotype Sorts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 → ·</a:t>
              </a:r>
            </a:p>
          </p:txBody>
        </p:sp>
        <p:sp>
          <p:nvSpPr>
            <p:cNvPr id="12" name="Text Box 14"/>
            <p:cNvSpPr txBox="1">
              <a:spLocks noChangeArrowheads="1"/>
            </p:cNvSpPr>
            <p:nvPr/>
          </p:nvSpPr>
          <p:spPr bwMode="auto">
            <a:xfrm>
              <a:off x="3586435" y="2284517"/>
              <a:ext cx="1412422" cy="238536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prstClr val="black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20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T→a 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 Bd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B → 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 </a:t>
              </a: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Tb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B → 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endPara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endParaRP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T→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aBd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T →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</a:t>
              </a:r>
              <a:endPara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579" name="Text Box 14"/>
            <p:cNvSpPr txBox="1">
              <a:spLocks noChangeArrowheads="1"/>
            </p:cNvSpPr>
            <p:nvPr/>
          </p:nvSpPr>
          <p:spPr bwMode="auto">
            <a:xfrm>
              <a:off x="5657749" y="1325291"/>
              <a:ext cx="1262430" cy="871314"/>
            </a:xfrm>
            <a:prstGeom prst="rect">
              <a:avLst/>
            </a:prstGeom>
            <a:solidFill>
              <a:srgbClr val="B5CEED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>
                  <a:srgbClr val="073E87"/>
                </a:buClr>
                <a:buSzPct val="75000"/>
                <a:buFont typeface="Monotype Sorts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>
                  <a:srgbClr val="073E87"/>
                </a:buClr>
                <a:buSzPct val="75000"/>
                <a:buFont typeface="Monotype Sorts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′</a:t>
              </a:r>
              <a:r>
                <a:rPr lang="en-US" altLang="zh-CN" sz="2000" b="1" i="1">
                  <a:solidFill>
                    <a:srgbClr val="2D83F4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 T ·</a:t>
              </a:r>
            </a:p>
          </p:txBody>
        </p:sp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5657749" y="2472064"/>
              <a:ext cx="1430278" cy="87131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prstClr val="black"/>
                  </a:solidFill>
                  <a:latin typeface="Times New Roman" panose="02020603050405020304" pitchFamily="18" charset="0"/>
                </a:rPr>
                <a:t>3</a:t>
              </a:r>
              <a:r>
                <a:rPr kumimoji="1" lang="en-US" altLang="zh-CN" sz="20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T→aB 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 d</a:t>
              </a:r>
            </a:p>
          </p:txBody>
        </p:sp>
        <p:sp>
          <p:nvSpPr>
            <p:cNvPr id="15" name="Text Box 14"/>
            <p:cNvSpPr txBox="1">
              <a:spLocks noChangeArrowheads="1"/>
            </p:cNvSpPr>
            <p:nvPr/>
          </p:nvSpPr>
          <p:spPr bwMode="auto">
            <a:xfrm>
              <a:off x="5657749" y="3614931"/>
              <a:ext cx="1285643" cy="87131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prstClr val="black"/>
                  </a:solidFill>
                  <a:latin typeface="Times New Roman" panose="02020603050405020304" pitchFamily="18" charset="0"/>
                </a:rPr>
                <a:t>4</a:t>
              </a:r>
              <a:r>
                <a:rPr kumimoji="1" lang="en-US" altLang="zh-CN" sz="20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B→T 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 </a:t>
              </a: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6" name="Text Box 14"/>
            <p:cNvSpPr txBox="1">
              <a:spLocks noChangeArrowheads="1"/>
            </p:cNvSpPr>
            <p:nvPr/>
          </p:nvSpPr>
          <p:spPr bwMode="auto">
            <a:xfrm>
              <a:off x="7586214" y="2472064"/>
              <a:ext cx="1349926" cy="87131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prstClr val="black"/>
                  </a:solidFill>
                  <a:latin typeface="Times New Roman" panose="02020603050405020304" pitchFamily="18" charset="0"/>
                </a:rPr>
                <a:t>6</a:t>
              </a:r>
              <a:r>
                <a:rPr kumimoji="1" lang="en-US" altLang="zh-CN" sz="20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T→aBd 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endPara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" name="Text Box 14"/>
            <p:cNvSpPr txBox="1">
              <a:spLocks noChangeArrowheads="1"/>
            </p:cNvSpPr>
            <p:nvPr/>
          </p:nvSpPr>
          <p:spPr bwMode="auto">
            <a:xfrm>
              <a:off x="7586214" y="3622746"/>
              <a:ext cx="1191005" cy="87131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prstClr val="black"/>
                  </a:solidFill>
                  <a:latin typeface="Times New Roman" panose="02020603050405020304" pitchFamily="18" charset="0"/>
                </a:rPr>
                <a:t>6</a:t>
              </a:r>
              <a:r>
                <a:rPr kumimoji="1" lang="en-US" altLang="zh-CN" sz="20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B→Tb 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endPara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584" name="Line 18"/>
            <p:cNvSpPr>
              <a:spLocks noChangeShapeType="1"/>
            </p:cNvSpPr>
            <p:nvPr/>
          </p:nvSpPr>
          <p:spPr bwMode="auto">
            <a:xfrm>
              <a:off x="6944022" y="3890031"/>
              <a:ext cx="648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85" name="Line 18"/>
            <p:cNvSpPr>
              <a:spLocks noChangeShapeType="1"/>
            </p:cNvSpPr>
            <p:nvPr/>
          </p:nvSpPr>
          <p:spPr bwMode="auto">
            <a:xfrm flipH="1">
              <a:off x="4356007" y="2032501"/>
              <a:ext cx="0" cy="216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任意多边形 21"/>
            <p:cNvSpPr/>
            <p:nvPr/>
          </p:nvSpPr>
          <p:spPr>
            <a:xfrm>
              <a:off x="4838151" y="2120413"/>
              <a:ext cx="357123" cy="377049"/>
            </a:xfrm>
            <a:custGeom>
              <a:avLst/>
              <a:gdLst>
                <a:gd name="connsiteX0" fmla="*/ 231006 w 495701"/>
                <a:gd name="connsiteY0" fmla="*/ 519764 h 519764"/>
                <a:gd name="connsiteX1" fmla="*/ 442762 w 495701"/>
                <a:gd name="connsiteY1" fmla="*/ 423511 h 519764"/>
                <a:gd name="connsiteX2" fmla="*/ 490888 w 495701"/>
                <a:gd name="connsiteY2" fmla="*/ 202130 h 519764"/>
                <a:gd name="connsiteX3" fmla="*/ 413886 w 495701"/>
                <a:gd name="connsiteY3" fmla="*/ 48126 h 519764"/>
                <a:gd name="connsiteX4" fmla="*/ 221381 w 495701"/>
                <a:gd name="connsiteY4" fmla="*/ 0 h 519764"/>
                <a:gd name="connsiteX5" fmla="*/ 77002 w 495701"/>
                <a:gd name="connsiteY5" fmla="*/ 48126 h 519764"/>
                <a:gd name="connsiteX6" fmla="*/ 0 w 495701"/>
                <a:gd name="connsiteY6" fmla="*/ 211756 h 519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5701" h="519764">
                  <a:moveTo>
                    <a:pt x="231006" y="519764"/>
                  </a:moveTo>
                  <a:cubicBezTo>
                    <a:pt x="315227" y="498107"/>
                    <a:pt x="399448" y="476450"/>
                    <a:pt x="442762" y="423511"/>
                  </a:cubicBezTo>
                  <a:cubicBezTo>
                    <a:pt x="486076" y="370572"/>
                    <a:pt x="495701" y="264694"/>
                    <a:pt x="490888" y="202130"/>
                  </a:cubicBezTo>
                  <a:cubicBezTo>
                    <a:pt x="486075" y="139566"/>
                    <a:pt x="458804" y="81814"/>
                    <a:pt x="413886" y="48126"/>
                  </a:cubicBezTo>
                  <a:cubicBezTo>
                    <a:pt x="368968" y="14438"/>
                    <a:pt x="277528" y="0"/>
                    <a:pt x="221381" y="0"/>
                  </a:cubicBezTo>
                  <a:cubicBezTo>
                    <a:pt x="165234" y="0"/>
                    <a:pt x="113899" y="12833"/>
                    <a:pt x="77002" y="48126"/>
                  </a:cubicBezTo>
                  <a:cubicBezTo>
                    <a:pt x="40105" y="83419"/>
                    <a:pt x="20052" y="147587"/>
                    <a:pt x="0" y="211756"/>
                  </a:cubicBezTo>
                </a:path>
              </a:pathLst>
            </a:cu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3587" name="Text Box 4"/>
            <p:cNvSpPr txBox="1">
              <a:spLocks noChangeArrowheads="1"/>
            </p:cNvSpPr>
            <p:nvPr/>
          </p:nvSpPr>
          <p:spPr bwMode="auto">
            <a:xfrm>
              <a:off x="5086634" y="1241285"/>
              <a:ext cx="38106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63588" name="Text Box 4"/>
            <p:cNvSpPr txBox="1">
              <a:spLocks noChangeArrowheads="1"/>
            </p:cNvSpPr>
            <p:nvPr/>
          </p:nvSpPr>
          <p:spPr bwMode="auto">
            <a:xfrm>
              <a:off x="5086634" y="3468592"/>
              <a:ext cx="38106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63589" name="Text Box 4"/>
            <p:cNvSpPr txBox="1">
              <a:spLocks noChangeArrowheads="1"/>
            </p:cNvSpPr>
            <p:nvPr/>
          </p:nvSpPr>
          <p:spPr bwMode="auto">
            <a:xfrm>
              <a:off x="5086634" y="2539589"/>
              <a:ext cx="38106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63590" name="Text Box 4"/>
            <p:cNvSpPr txBox="1">
              <a:spLocks noChangeArrowheads="1"/>
            </p:cNvSpPr>
            <p:nvPr/>
          </p:nvSpPr>
          <p:spPr bwMode="auto">
            <a:xfrm>
              <a:off x="5159539" y="1944588"/>
              <a:ext cx="38106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63591" name="Text Box 4"/>
            <p:cNvSpPr txBox="1">
              <a:spLocks noChangeArrowheads="1"/>
            </p:cNvSpPr>
            <p:nvPr/>
          </p:nvSpPr>
          <p:spPr bwMode="auto">
            <a:xfrm>
              <a:off x="3974940" y="1856675"/>
              <a:ext cx="38106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63592" name="Text Box 4"/>
            <p:cNvSpPr txBox="1">
              <a:spLocks noChangeArrowheads="1"/>
            </p:cNvSpPr>
            <p:nvPr/>
          </p:nvSpPr>
          <p:spPr bwMode="auto">
            <a:xfrm>
              <a:off x="7086898" y="2539589"/>
              <a:ext cx="38106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63593" name="Text Box 4"/>
            <p:cNvSpPr txBox="1">
              <a:spLocks noChangeArrowheads="1"/>
            </p:cNvSpPr>
            <p:nvPr/>
          </p:nvSpPr>
          <p:spPr bwMode="auto">
            <a:xfrm>
              <a:off x="7086898" y="3478619"/>
              <a:ext cx="38106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</p:grpSp>
      <p:sp>
        <p:nvSpPr>
          <p:cNvPr id="63572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DBF772B-891C-4EC6-BF9C-5183368387BC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37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861836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内容占位符 2"/>
          <p:cNvSpPr>
            <a:spLocks noGrp="1" noChangeArrowheads="1"/>
          </p:cNvSpPr>
          <p:nvPr>
            <p:ph idx="1"/>
          </p:nvPr>
        </p:nvSpPr>
        <p:spPr>
          <a:xfrm>
            <a:off x="336550" y="915988"/>
            <a:ext cx="8736013" cy="3225800"/>
          </a:xfrm>
        </p:spPr>
        <p:txBody>
          <a:bodyPr/>
          <a:lstStyle/>
          <a:p>
            <a:pPr eaLnBrk="1" hangingPunct="1">
              <a:lnSpc>
                <a:spcPts val="28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latin typeface="+mn-ea"/>
              </a:rPr>
              <a:t>构造</a:t>
            </a:r>
            <a:r>
              <a:rPr lang="en-US" altLang="zh-CN" sz="2200" b="1" i="1" dirty="0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G'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</a:rPr>
              <a:t>的规范</a:t>
            </a:r>
            <a:r>
              <a:rPr lang="en-US" altLang="zh-CN" sz="2200" b="1" i="1" dirty="0">
                <a:solidFill>
                  <a:srgbClr val="2D83F4"/>
                </a:solidFill>
                <a:ea typeface="楷体_GB2312" pitchFamily="49" charset="-122"/>
              </a:rPr>
              <a:t>LR</a:t>
            </a:r>
            <a:r>
              <a:rPr lang="en-US" altLang="zh-CN" sz="2200" b="1" dirty="0">
                <a:solidFill>
                  <a:srgbClr val="2D83F4"/>
                </a:solidFill>
                <a:ea typeface="楷体_GB2312" pitchFamily="49" charset="-122"/>
              </a:rPr>
              <a:t>(0)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</a:rPr>
              <a:t>项集族</a:t>
            </a:r>
            <a:r>
              <a:rPr lang="en-US" altLang="zh-CN" sz="2200" b="1" i="1" dirty="0">
                <a:solidFill>
                  <a:schemeClr val="tx1"/>
                </a:solidFill>
                <a:ea typeface="宋体" pitchFamily="2" charset="-122"/>
              </a:rPr>
              <a:t>C </a:t>
            </a:r>
            <a:r>
              <a:rPr lang="en-US" altLang="zh-CN" sz="2200" b="1" dirty="0">
                <a:solidFill>
                  <a:schemeClr val="tx1"/>
                </a:solidFill>
                <a:ea typeface="宋体" pitchFamily="2" charset="-122"/>
              </a:rPr>
              <a:t>= { </a:t>
            </a:r>
            <a:r>
              <a:rPr lang="en-US" altLang="zh-CN" sz="2200" b="1" i="1" dirty="0">
                <a:solidFill>
                  <a:schemeClr val="tx1"/>
                </a:solidFill>
                <a:ea typeface="楷体_GB2312" pitchFamily="49" charset="-122"/>
              </a:rPr>
              <a:t>I</a:t>
            </a:r>
            <a:r>
              <a:rPr lang="en-US" altLang="zh-CN" sz="2200" b="1" baseline="-25000" dirty="0">
                <a:solidFill>
                  <a:schemeClr val="tx1"/>
                </a:solidFill>
                <a:ea typeface="楷体_GB2312" pitchFamily="49" charset="-122"/>
              </a:rPr>
              <a:t>0</a:t>
            </a:r>
            <a:r>
              <a:rPr lang="en-US" altLang="zh-CN" sz="2200" b="1" dirty="0">
                <a:solidFill>
                  <a:schemeClr val="tx1"/>
                </a:solidFill>
                <a:ea typeface="楷体_GB2312" pitchFamily="49" charset="-122"/>
              </a:rPr>
              <a:t>, </a:t>
            </a:r>
            <a:r>
              <a:rPr lang="en-US" altLang="zh-CN" sz="2200" b="1" i="1" dirty="0">
                <a:solidFill>
                  <a:schemeClr val="tx1"/>
                </a:solidFill>
                <a:ea typeface="楷体_GB2312" pitchFamily="49" charset="-122"/>
              </a:rPr>
              <a:t>I</a:t>
            </a:r>
            <a:r>
              <a:rPr lang="en-US" altLang="zh-CN" sz="2200" b="1" baseline="-25000" dirty="0">
                <a:solidFill>
                  <a:schemeClr val="tx1"/>
                </a:solidFill>
                <a:ea typeface="楷体_GB2312" pitchFamily="49" charset="-122"/>
              </a:rPr>
              <a:t>1</a:t>
            </a:r>
            <a:r>
              <a:rPr lang="en-US" altLang="zh-CN" sz="2200" b="1" dirty="0">
                <a:solidFill>
                  <a:schemeClr val="tx1"/>
                </a:solidFill>
                <a:ea typeface="楷体_GB2312" pitchFamily="49" charset="-122"/>
              </a:rPr>
              <a:t>, … , </a:t>
            </a:r>
            <a:r>
              <a:rPr lang="en-US" altLang="zh-CN" sz="2200" b="1" i="1" dirty="0">
                <a:solidFill>
                  <a:schemeClr val="tx1"/>
                </a:solidFill>
                <a:ea typeface="楷体_GB2312" pitchFamily="49" charset="-122"/>
              </a:rPr>
              <a:t>I</a:t>
            </a:r>
            <a:r>
              <a:rPr lang="en-US" altLang="zh-CN" sz="2200" b="1" i="1" baseline="-25000" dirty="0">
                <a:solidFill>
                  <a:schemeClr val="tx1"/>
                </a:solidFill>
                <a:ea typeface="楷体_GB2312" pitchFamily="49" charset="-122"/>
              </a:rPr>
              <a:t>n</a:t>
            </a:r>
            <a:r>
              <a:rPr lang="en-US" altLang="zh-CN" sz="2200" b="1" dirty="0">
                <a:solidFill>
                  <a:schemeClr val="tx1"/>
                </a:solidFill>
                <a:ea typeface="楷体_GB2312" pitchFamily="49" charset="-122"/>
              </a:rPr>
              <a:t>}</a:t>
            </a:r>
            <a:r>
              <a:rPr lang="zh-CN" altLang="en-US" sz="2200" b="1" dirty="0">
                <a:solidFill>
                  <a:schemeClr val="tx1"/>
                </a:solidFill>
                <a:ea typeface="楷体_GB2312" pitchFamily="49" charset="-122"/>
              </a:rPr>
              <a:t>。</a:t>
            </a:r>
            <a:endParaRPr lang="en-US" altLang="zh-CN" sz="2200" b="1" dirty="0">
              <a:solidFill>
                <a:schemeClr val="tx1"/>
              </a:solidFill>
              <a:ea typeface="楷体_GB2312" pitchFamily="49" charset="-122"/>
            </a:endParaRPr>
          </a:p>
          <a:p>
            <a:pPr eaLnBrk="1" hangingPunct="1">
              <a:lnSpc>
                <a:spcPts val="28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latin typeface="+mn-ea"/>
              </a:rPr>
              <a:t>根据</a:t>
            </a:r>
            <a:r>
              <a:rPr lang="en-US" altLang="zh-CN" sz="2200" b="1" i="1" dirty="0">
                <a:solidFill>
                  <a:schemeClr val="tx1"/>
                </a:solidFill>
                <a:ea typeface="宋体" pitchFamily="2" charset="-122"/>
              </a:rPr>
              <a:t>I</a:t>
            </a:r>
            <a:r>
              <a:rPr lang="en-US" altLang="zh-CN" sz="2200" b="1" i="1" baseline="-25000" dirty="0">
                <a:solidFill>
                  <a:schemeClr val="tx1"/>
                </a:solidFill>
                <a:ea typeface="宋体" pitchFamily="2" charset="-122"/>
              </a:rPr>
              <a:t>i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</a:rPr>
              <a:t>构造得到状态</a:t>
            </a:r>
            <a:r>
              <a:rPr lang="en-US" altLang="zh-CN" sz="2200" b="1" i="1" dirty="0" err="1">
                <a:solidFill>
                  <a:schemeClr val="tx1"/>
                </a:solidFill>
                <a:ea typeface="宋体" pitchFamily="2" charset="-122"/>
              </a:rPr>
              <a:t>i</a:t>
            </a:r>
            <a:r>
              <a:rPr lang="zh-CN" altLang="en-US" sz="2200" b="1" dirty="0">
                <a:solidFill>
                  <a:schemeClr val="tx1"/>
                </a:solidFill>
                <a:ea typeface="宋体" pitchFamily="2" charset="-122"/>
              </a:rPr>
              <a:t>。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</a:rPr>
              <a:t>状态</a:t>
            </a:r>
            <a:r>
              <a:rPr lang="en-US" altLang="zh-CN" sz="2200" b="1" i="1" dirty="0" err="1">
                <a:solidFill>
                  <a:schemeClr val="tx1"/>
                </a:solidFill>
                <a:ea typeface="宋体" pitchFamily="2" charset="-122"/>
              </a:rPr>
              <a:t>i</a:t>
            </a:r>
            <a:r>
              <a:rPr lang="en-US" altLang="zh-CN" sz="2200" b="1" i="1" dirty="0">
                <a:solidFill>
                  <a:schemeClr val="tx1"/>
                </a:solidFill>
                <a:ea typeface="宋体" pitchFamily="2" charset="-122"/>
              </a:rPr>
              <a:t> 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</a:rPr>
              <a:t>的语法分析动作按照下面的方法决定：</a:t>
            </a:r>
            <a:endParaRPr lang="en-US" altLang="zh-CN" sz="2200" b="1" dirty="0">
              <a:solidFill>
                <a:schemeClr val="tx1"/>
              </a:solidFill>
              <a:latin typeface="+mn-ea"/>
            </a:endParaRPr>
          </a:p>
          <a:p>
            <a:pPr lvl="1" eaLnBrk="1" hangingPunct="1">
              <a:lnSpc>
                <a:spcPts val="28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altLang="zh-CN" b="1" i="1" dirty="0">
                <a:solidFill>
                  <a:srgbClr val="2D83F4"/>
                </a:solidFill>
                <a:ea typeface="楷体_GB2312" pitchFamily="49" charset="-122"/>
              </a:rPr>
              <a:t>if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楷体_GB2312" pitchFamily="49" charset="-122"/>
              </a:rPr>
              <a:t>A</a:t>
            </a:r>
            <a:r>
              <a:rPr lang="en-US" altLang="zh-CN" b="1" dirty="0" err="1">
                <a:solidFill>
                  <a:schemeClr val="tx1"/>
                </a:solidFill>
                <a:ea typeface="楷体_GB2312" pitchFamily="49" charset="-122"/>
              </a:rPr>
              <a:t>→</a:t>
            </a:r>
            <a:r>
              <a:rPr lang="en-US" altLang="zh-CN" b="1" i="1" dirty="0" err="1">
                <a:solidFill>
                  <a:schemeClr val="tx1"/>
                </a:solidFill>
                <a:ea typeface="楷体_GB2312" pitchFamily="49" charset="-122"/>
              </a:rPr>
              <a:t>α</a:t>
            </a:r>
            <a:r>
              <a:rPr lang="en-US" altLang="zh-CN" sz="2400" b="1" i="1" dirty="0" err="1">
                <a:solidFill>
                  <a:srgbClr val="000000"/>
                </a:solidFill>
                <a:ea typeface="宋体" pitchFamily="2" charset="-122"/>
              </a:rPr>
              <a:t>·</a:t>
            </a:r>
            <a:r>
              <a:rPr lang="en-US" altLang="zh-CN" b="1" dirty="0" err="1">
                <a:solidFill>
                  <a:schemeClr val="tx1"/>
                </a:solidFill>
                <a:ea typeface="楷体_GB2312" pitchFamily="49" charset="-122"/>
              </a:rPr>
              <a:t>a</a:t>
            </a:r>
            <a:r>
              <a:rPr lang="en-US" altLang="zh-CN" b="1" i="1" dirty="0" err="1">
                <a:solidFill>
                  <a:schemeClr val="tx1"/>
                </a:solidFill>
                <a:ea typeface="楷体_GB2312" pitchFamily="49" charset="-122"/>
              </a:rPr>
              <a:t>β</a:t>
            </a:r>
            <a:r>
              <a:rPr lang="en-US" altLang="zh-CN" b="1" dirty="0" err="1">
                <a:solidFill>
                  <a:schemeClr val="tx1"/>
                </a:solidFill>
                <a:ea typeface="楷体_GB2312" pitchFamily="49" charset="-122"/>
              </a:rPr>
              <a:t>∈</a:t>
            </a:r>
            <a:r>
              <a:rPr lang="en-US" altLang="zh-CN" b="1" i="1" dirty="0" err="1">
                <a:solidFill>
                  <a:schemeClr val="tx1"/>
                </a:solidFill>
                <a:ea typeface="楷体_GB2312" pitchFamily="49" charset="-122"/>
              </a:rPr>
              <a:t>I</a:t>
            </a:r>
            <a:r>
              <a:rPr lang="en-US" altLang="zh-CN" b="1" i="1" baseline="-25000" dirty="0" err="1">
                <a:solidFill>
                  <a:schemeClr val="tx1"/>
                </a:solidFill>
                <a:ea typeface="楷体_GB2312" pitchFamily="49" charset="-122"/>
              </a:rPr>
              <a:t>i</a:t>
            </a:r>
            <a:r>
              <a:rPr lang="en-US" altLang="zh-CN" b="1" baseline="-25000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and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GOTO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I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</a:rPr>
              <a:t>i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 a )=</a:t>
            </a:r>
            <a:r>
              <a:rPr lang="en-US" altLang="zh-CN" b="1" i="1" dirty="0" err="1">
                <a:solidFill>
                  <a:schemeClr val="tx1"/>
                </a:solidFill>
                <a:ea typeface="楷体_GB2312" pitchFamily="49" charset="-122"/>
              </a:rPr>
              <a:t>I</a:t>
            </a:r>
            <a:r>
              <a:rPr lang="en-US" altLang="zh-CN" b="1" i="1" baseline="-25000" dirty="0" err="1">
                <a:solidFill>
                  <a:schemeClr val="tx1"/>
                </a:solidFill>
                <a:ea typeface="楷体_GB2312" pitchFamily="49" charset="-122"/>
              </a:rPr>
              <a:t>j</a:t>
            </a:r>
            <a:r>
              <a:rPr lang="en-US" altLang="zh-CN" b="1" baseline="-25000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 dirty="0">
                <a:solidFill>
                  <a:srgbClr val="2D83F4"/>
                </a:solidFill>
                <a:ea typeface="楷体_GB2312" pitchFamily="49" charset="-122"/>
              </a:rPr>
              <a:t>then</a:t>
            </a:r>
            <a:r>
              <a:rPr lang="en-US" altLang="zh-CN" b="1" dirty="0">
                <a:solidFill>
                  <a:srgbClr val="2D83F4"/>
                </a:solidFill>
                <a:ea typeface="楷体_GB2312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ACTION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[ </a:t>
            </a:r>
            <a:r>
              <a:rPr lang="en-US" altLang="zh-CN" b="1" i="1" dirty="0" err="1">
                <a:solidFill>
                  <a:schemeClr val="tx1"/>
                </a:solidFill>
                <a:ea typeface="楷体_GB2312" pitchFamily="49" charset="-122"/>
              </a:rPr>
              <a:t>i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 a ]=</a:t>
            </a:r>
            <a:r>
              <a:rPr lang="en-US" altLang="zh-CN" b="1" dirty="0" err="1">
                <a:solidFill>
                  <a:schemeClr val="tx1"/>
                </a:solidFill>
                <a:ea typeface="楷体_GB2312" pitchFamily="49" charset="-122"/>
              </a:rPr>
              <a:t>sj</a:t>
            </a:r>
            <a:endParaRPr lang="en-US" altLang="zh-CN" b="1" baseline="-25000" dirty="0">
              <a:solidFill>
                <a:schemeClr val="tx1"/>
              </a:solidFill>
              <a:ea typeface="楷体_GB2312" pitchFamily="49" charset="-122"/>
            </a:endParaRPr>
          </a:p>
          <a:p>
            <a:pPr lvl="1" eaLnBrk="1" hangingPunct="1">
              <a:lnSpc>
                <a:spcPts val="28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altLang="zh-CN" b="1" i="1" dirty="0">
                <a:solidFill>
                  <a:srgbClr val="2D83F4"/>
                </a:solidFill>
                <a:ea typeface="楷体_GB2312"/>
                <a:cs typeface="楷体_GB2312"/>
              </a:rPr>
              <a:t>if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→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α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.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Bβ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∈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and GOTO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(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zh-CN" altLang="en-US" b="1" i="1" baseline="-25000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B 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)=</a:t>
            </a:r>
            <a:r>
              <a:rPr lang="en-US" altLang="zh-CN" b="1" i="1" dirty="0" err="1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b="1" i="1" baseline="-25000" dirty="0" err="1">
                <a:solidFill>
                  <a:schemeClr val="tx1"/>
                </a:solidFill>
                <a:ea typeface="楷体_GB2312"/>
                <a:cs typeface="楷体_GB2312"/>
              </a:rPr>
              <a:t>j</a:t>
            </a:r>
            <a:r>
              <a:rPr lang="en-US" altLang="zh-CN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b="1" i="1" dirty="0">
                <a:solidFill>
                  <a:srgbClr val="2D83F4"/>
                </a:solidFill>
                <a:ea typeface="楷体_GB2312"/>
                <a:cs typeface="楷体_GB2312"/>
              </a:rPr>
              <a:t>then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 GOTO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[ </a:t>
            </a:r>
            <a:r>
              <a:rPr lang="en-US" altLang="zh-CN" b="1" i="1" dirty="0" err="1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B 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]=j</a:t>
            </a:r>
            <a:r>
              <a:rPr lang="en-US" altLang="zh-CN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endParaRPr lang="en-US" altLang="zh-CN" b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28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altLang="zh-CN" b="1" i="1" dirty="0">
                <a:solidFill>
                  <a:srgbClr val="2D83F4"/>
                </a:solidFill>
                <a:ea typeface="楷体_GB2312" pitchFamily="49" charset="-122"/>
              </a:rPr>
              <a:t>if</a:t>
            </a:r>
            <a:r>
              <a:rPr lang="en-US" altLang="zh-CN" b="1" dirty="0">
                <a:solidFill>
                  <a:srgbClr val="2D83F4"/>
                </a:solidFill>
                <a:ea typeface="楷体_GB2312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→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α</a:t>
            </a:r>
            <a:r>
              <a:rPr lang="en-US" altLang="zh-CN" sz="2000" b="1" i="1" dirty="0">
                <a:solidFill>
                  <a:srgbClr val="000000"/>
                </a:solidFill>
                <a:ea typeface="宋体" pitchFamily="2" charset="-122"/>
              </a:rPr>
              <a:t>·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∈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I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</a:rPr>
              <a:t>i</a:t>
            </a:r>
            <a:r>
              <a:rPr lang="zh-CN" altLang="en-US" b="1" dirty="0">
                <a:solidFill>
                  <a:schemeClr val="tx1"/>
                </a:solidFill>
                <a:ea typeface="宋体" pitchFamily="2" charset="-122"/>
              </a:rPr>
              <a:t>且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A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≠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S' </a:t>
            </a:r>
            <a:r>
              <a:rPr lang="en-US" altLang="zh-CN" b="1" i="1" dirty="0">
                <a:solidFill>
                  <a:srgbClr val="2D83F4"/>
                </a:solidFill>
                <a:ea typeface="楷体_GB2312" pitchFamily="49" charset="-122"/>
              </a:rPr>
              <a:t>then</a:t>
            </a:r>
            <a:r>
              <a:rPr lang="en-US" altLang="zh-CN" b="1" dirty="0">
                <a:solidFill>
                  <a:srgbClr val="2D83F4"/>
                </a:solidFill>
                <a:ea typeface="楷体_GB2312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for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sym typeface="Symbol" pitchFamily="18" charset="2"/>
              </a:rPr>
              <a:t></a:t>
            </a:r>
            <a:r>
              <a:rPr lang="en-US" altLang="zh-CN" b="1" dirty="0" err="1">
                <a:solidFill>
                  <a:schemeClr val="tx1"/>
                </a:solidFill>
                <a:ea typeface="楷体_GB2312" pitchFamily="49" charset="-122"/>
              </a:rPr>
              <a:t>a∈</a:t>
            </a:r>
            <a:r>
              <a:rPr lang="en-US" altLang="zh-CN" b="1" i="1" dirty="0" err="1">
                <a:solidFill>
                  <a:srgbClr val="FF0000"/>
                </a:solidFill>
                <a:ea typeface="楷体_GB2312" pitchFamily="49" charset="-122"/>
              </a:rPr>
              <a:t>FOLLOW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ea typeface="楷体_GB2312" pitchFamily="49" charset="-122"/>
              </a:rPr>
              <a:t>A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 dirty="0">
                <a:solidFill>
                  <a:srgbClr val="2D83F4"/>
                </a:solidFill>
                <a:ea typeface="楷体_GB2312" pitchFamily="49" charset="-122"/>
              </a:rPr>
              <a:t>do</a:t>
            </a:r>
            <a:r>
              <a:rPr lang="en-US" altLang="zh-CN" b="1" dirty="0">
                <a:solidFill>
                  <a:srgbClr val="2D83F4"/>
                </a:solidFill>
                <a:ea typeface="楷体_GB2312" pitchFamily="49" charset="-122"/>
              </a:rPr>
              <a:t> </a:t>
            </a:r>
          </a:p>
          <a:p>
            <a:pPr lvl="1" eaLnBrk="1" hangingPunct="1">
              <a:lnSpc>
                <a:spcPts val="2800"/>
              </a:lnSpc>
              <a:buClr>
                <a:schemeClr val="tx1"/>
              </a:buClr>
              <a:buFont typeface="Symbol" panose="05050102010706020507" pitchFamily="18" charset="2"/>
              <a:buNone/>
              <a:defRPr/>
            </a:pPr>
            <a:r>
              <a:rPr lang="en-US" altLang="zh-CN" b="1" i="1" dirty="0">
                <a:solidFill>
                  <a:srgbClr val="2D83F4"/>
                </a:solidFill>
                <a:ea typeface="楷体_GB2312" pitchFamily="49" charset="-122"/>
              </a:rPr>
              <a:t>   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ACTION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[ </a:t>
            </a:r>
            <a:r>
              <a:rPr lang="en-US" altLang="zh-CN" b="1" i="1" dirty="0" err="1">
                <a:solidFill>
                  <a:schemeClr val="tx1"/>
                </a:solidFill>
                <a:ea typeface="楷体_GB2312" pitchFamily="49" charset="-122"/>
              </a:rPr>
              <a:t>i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 a ]=</a:t>
            </a:r>
            <a:r>
              <a:rPr lang="en-US" altLang="zh-CN" b="1" dirty="0" err="1">
                <a:solidFill>
                  <a:schemeClr val="tx1"/>
                </a:solidFill>
                <a:ea typeface="楷体_GB2312" pitchFamily="49" charset="-122"/>
              </a:rPr>
              <a:t>rj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（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j</a:t>
            </a:r>
            <a:r>
              <a:rPr lang="zh-CN" altLang="en-US" b="1" dirty="0">
                <a:solidFill>
                  <a:schemeClr val="tx1"/>
                </a:solidFill>
                <a:latin typeface="华文楷体" pitchFamily="2" charset="-122"/>
              </a:rPr>
              <a:t>是产生式</a:t>
            </a:r>
            <a:r>
              <a:rPr lang="en-US" altLang="zh-CN" b="1" i="1" dirty="0" err="1">
                <a:solidFill>
                  <a:schemeClr val="tx1"/>
                </a:solidFill>
                <a:ea typeface="楷体_GB2312" pitchFamily="49" charset="-122"/>
              </a:rPr>
              <a:t>A</a:t>
            </a:r>
            <a:r>
              <a:rPr lang="en-US" altLang="zh-CN" b="1" dirty="0" err="1">
                <a:solidFill>
                  <a:schemeClr val="tx1"/>
                </a:solidFill>
                <a:ea typeface="楷体_GB2312" pitchFamily="49" charset="-122"/>
              </a:rPr>
              <a:t>→</a:t>
            </a:r>
            <a:r>
              <a:rPr lang="en-US" altLang="zh-CN" b="1" i="1" dirty="0" err="1">
                <a:solidFill>
                  <a:schemeClr val="tx1"/>
                </a:solidFill>
                <a:ea typeface="楷体_GB2312" pitchFamily="49" charset="-122"/>
              </a:rPr>
              <a:t>α</a:t>
            </a:r>
            <a:r>
              <a:rPr lang="zh-CN" altLang="en-US" b="1" dirty="0">
                <a:solidFill>
                  <a:schemeClr val="tx1"/>
                </a:solidFill>
                <a:latin typeface="华文楷体" pitchFamily="2" charset="-122"/>
              </a:rPr>
              <a:t>的编号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）</a:t>
            </a:r>
            <a:endParaRPr lang="en-US" altLang="zh-CN" b="1" dirty="0">
              <a:solidFill>
                <a:schemeClr val="tx1"/>
              </a:solidFill>
              <a:ea typeface="楷体_GB2312" pitchFamily="49" charset="-122"/>
            </a:endParaRPr>
          </a:p>
          <a:p>
            <a:pPr lvl="1" eaLnBrk="1" hangingPunct="1">
              <a:lnSpc>
                <a:spcPts val="28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altLang="zh-CN" b="1" i="1" dirty="0">
                <a:solidFill>
                  <a:srgbClr val="2D83F4"/>
                </a:solidFill>
                <a:ea typeface="楷体_GB2312" pitchFamily="49" charset="-122"/>
              </a:rPr>
              <a:t>if</a:t>
            </a:r>
            <a:r>
              <a:rPr lang="en-US" altLang="zh-CN" b="1" dirty="0">
                <a:solidFill>
                  <a:srgbClr val="2D83F4"/>
                </a:solidFill>
                <a:ea typeface="楷体_GB2312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S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'→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S</a:t>
            </a:r>
            <a:r>
              <a:rPr lang="en-US" altLang="zh-CN" sz="2000" b="1" i="1" dirty="0">
                <a:solidFill>
                  <a:srgbClr val="000000"/>
                </a:solidFill>
                <a:ea typeface="宋体" pitchFamily="2" charset="-122"/>
              </a:rPr>
              <a:t>·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∈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I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</a:rPr>
              <a:t>i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 dirty="0">
                <a:solidFill>
                  <a:srgbClr val="2D83F4"/>
                </a:solidFill>
                <a:ea typeface="楷体_GB2312" pitchFamily="49" charset="-122"/>
              </a:rPr>
              <a:t>then</a:t>
            </a:r>
            <a:r>
              <a:rPr lang="en-US" altLang="zh-CN" b="1" dirty="0">
                <a:solidFill>
                  <a:srgbClr val="2D83F4"/>
                </a:solidFill>
                <a:ea typeface="楷体_GB2312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ACTION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[ </a:t>
            </a:r>
            <a:r>
              <a:rPr lang="en-US" altLang="zh-CN" b="1" i="1" dirty="0" err="1">
                <a:solidFill>
                  <a:schemeClr val="tx1"/>
                </a:solidFill>
                <a:ea typeface="楷体_GB2312" pitchFamily="49" charset="-122"/>
              </a:rPr>
              <a:t>i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, </a:t>
            </a:r>
            <a:r>
              <a:rPr lang="en-US" altLang="zh-CN" b="1" dirty="0">
                <a:solidFill>
                  <a:schemeClr val="tx1"/>
                </a:solidFill>
                <a:latin typeface="华文楷体" pitchFamily="2" charset="-122"/>
              </a:rPr>
              <a:t>$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]=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acc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;</a:t>
            </a:r>
          </a:p>
          <a:p>
            <a:pPr eaLnBrk="1" hangingPunct="1">
              <a:lnSpc>
                <a:spcPts val="28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latin typeface="+mn-ea"/>
              </a:rPr>
              <a:t>没有定义的所有条目都设置为</a:t>
            </a:r>
            <a:r>
              <a:rPr lang="en-US" altLang="zh-CN" sz="2200" b="1" dirty="0">
                <a:solidFill>
                  <a:schemeClr val="tx1"/>
                </a:solidFill>
                <a:ea typeface="宋体" pitchFamily="2" charset="-122"/>
              </a:rPr>
              <a:t>“</a:t>
            </a:r>
            <a:r>
              <a:rPr lang="en-US" altLang="zh-CN" sz="2200" b="1" i="1" dirty="0">
                <a:solidFill>
                  <a:schemeClr val="tx1"/>
                </a:solidFill>
                <a:ea typeface="宋体" pitchFamily="2" charset="-122"/>
              </a:rPr>
              <a:t>error</a:t>
            </a:r>
            <a:r>
              <a:rPr lang="en-US" altLang="zh-CN" sz="2200" b="1" dirty="0">
                <a:solidFill>
                  <a:schemeClr val="tx1"/>
                </a:solidFill>
                <a:ea typeface="宋体" pitchFamily="2" charset="-122"/>
              </a:rPr>
              <a:t>”</a:t>
            </a:r>
            <a:r>
              <a:rPr lang="zh-CN" altLang="en-US" sz="2200" b="1" dirty="0">
                <a:solidFill>
                  <a:schemeClr val="tx1"/>
                </a:solidFill>
                <a:ea typeface="宋体" pitchFamily="2" charset="-122"/>
              </a:rPr>
              <a:t>。</a:t>
            </a:r>
            <a:endParaRPr lang="en-US" altLang="zh-CN" sz="2200" b="1" dirty="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65539" name="标题 1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黑体" panose="02010609060101010101" pitchFamily="49" charset="-122"/>
              </a:rPr>
              <a:t>SLR</a:t>
            </a:r>
            <a:r>
              <a:rPr lang="zh-CN" altLang="en-US" sz="3000" i="1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分析表构造算法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827088" y="4371975"/>
            <a:ext cx="6192837" cy="708025"/>
          </a:xfrm>
          <a:prstGeom prst="rect">
            <a:avLst/>
          </a:prstGeom>
          <a:solidFill>
            <a:srgbClr val="B5CEED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如果给定文法的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SLR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分析表中不存在有冲突的动作，那么该文法称为</a:t>
            </a:r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</a:rPr>
              <a:t>SLR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文法</a:t>
            </a:r>
          </a:p>
        </p:txBody>
      </p:sp>
      <p:sp>
        <p:nvSpPr>
          <p:cNvPr id="65541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13C7BD7-A28D-4C21-8F56-A8D214541258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38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56843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6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i="1" dirty="0">
                <a:solidFill>
                  <a:srgbClr val="000000"/>
                </a:solidFill>
              </a:rPr>
              <a:t>SLR</a:t>
            </a:r>
            <a:r>
              <a:rPr lang="zh-CN" altLang="en-US" sz="3000" i="1" dirty="0">
                <a:solidFill>
                  <a:srgbClr val="000000"/>
                </a:solidFill>
              </a:rPr>
              <a:t> </a:t>
            </a:r>
            <a:r>
              <a:rPr lang="zh-CN" altLang="en-US" sz="3000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分析中的冲突</a:t>
            </a:r>
            <a:endParaRPr lang="zh-CN" altLang="en-US" sz="300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" name="Rectangle 37"/>
          <p:cNvSpPr>
            <a:spLocks noChangeArrowheads="1"/>
          </p:cNvSpPr>
          <p:nvPr/>
        </p:nvSpPr>
        <p:spPr bwMode="auto">
          <a:xfrm>
            <a:off x="357188" y="1500188"/>
            <a:ext cx="1520825" cy="23542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609600" indent="-609600" eaLnBrk="1" hangingPunct="1">
              <a:lnSpc>
                <a:spcPts val="25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zh-CN" altLang="zh-CN" sz="2200" b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0) </a:t>
            </a:r>
            <a:r>
              <a:rPr lang="en-US" altLang="zh-CN" sz="2200" b="1" i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S</a:t>
            </a:r>
            <a:r>
              <a:rPr lang="en-US" altLang="zh-CN" sz="2400" b="1" i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′</a:t>
            </a:r>
            <a:r>
              <a:rPr lang="en-US" altLang="zh-CN" sz="2200" b="1" i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→S</a:t>
            </a:r>
          </a:p>
          <a:p>
            <a:pPr marL="609600" indent="-609600" eaLnBrk="1" hangingPunct="1">
              <a:lnSpc>
                <a:spcPts val="25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sz="2200" b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1) </a:t>
            </a:r>
            <a:r>
              <a:rPr lang="en-US" altLang="zh-CN" sz="2200" b="1" i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S→L=R</a:t>
            </a:r>
          </a:p>
          <a:p>
            <a:pPr marL="609600" indent="-609600" eaLnBrk="1" hangingPunct="1">
              <a:lnSpc>
                <a:spcPts val="25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sz="2200" b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2) </a:t>
            </a:r>
            <a:r>
              <a:rPr lang="en-US" altLang="zh-CN" sz="2200" b="1" i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S→R</a:t>
            </a:r>
          </a:p>
          <a:p>
            <a:pPr marL="609600" indent="-609600" eaLnBrk="1" hangingPunct="1">
              <a:lnSpc>
                <a:spcPts val="25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sz="2200" b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3) </a:t>
            </a:r>
            <a:r>
              <a:rPr lang="en-US" altLang="zh-CN" sz="2200" b="1" i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L→*R</a:t>
            </a:r>
          </a:p>
          <a:p>
            <a:pPr marL="609600" indent="-609600" eaLnBrk="1" hangingPunct="1">
              <a:lnSpc>
                <a:spcPts val="25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sz="2200" b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4) </a:t>
            </a:r>
            <a:r>
              <a:rPr lang="en-US" altLang="zh-CN" sz="2200" b="1" i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L→</a:t>
            </a:r>
            <a:r>
              <a:rPr lang="en-US" altLang="zh-CN" sz="2200" b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id</a:t>
            </a:r>
          </a:p>
          <a:p>
            <a:pPr marL="609600" indent="-609600" eaLnBrk="1" hangingPunct="1">
              <a:lnSpc>
                <a:spcPts val="25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sz="2200" b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5) </a:t>
            </a:r>
            <a:r>
              <a:rPr lang="en-US" altLang="zh-CN" sz="2200" b="1" i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R→L</a:t>
            </a:r>
          </a:p>
        </p:txBody>
      </p:sp>
      <p:sp>
        <p:nvSpPr>
          <p:cNvPr id="130" name="Rectangle 45"/>
          <p:cNvSpPr>
            <a:spLocks noChangeArrowheads="1"/>
          </p:cNvSpPr>
          <p:nvPr/>
        </p:nvSpPr>
        <p:spPr bwMode="auto">
          <a:xfrm>
            <a:off x="311150" y="4457700"/>
            <a:ext cx="2636838" cy="4000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FOLLOW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) = { =,</a:t>
            </a:r>
            <a:r>
              <a:rPr lang="en-US" altLang="zh-CN" sz="20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$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}</a:t>
            </a:r>
            <a:endParaRPr lang="zh-CN" altLang="en-US" sz="2000" b="1" dirty="0">
              <a:solidFill>
                <a:prstClr val="black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3"/>
          <p:cNvGrpSpPr>
            <a:grpSpLocks/>
          </p:cNvGrpSpPr>
          <p:nvPr/>
        </p:nvGrpSpPr>
        <p:grpSpPr bwMode="auto">
          <a:xfrm>
            <a:off x="2155825" y="741363"/>
            <a:ext cx="6808788" cy="4351337"/>
            <a:chOff x="2155825" y="741363"/>
            <a:chExt cx="6808788" cy="4350667"/>
          </a:xfrm>
        </p:grpSpPr>
        <p:sp>
          <p:nvSpPr>
            <p:cNvPr id="67593" name="Text Box 2"/>
            <p:cNvSpPr txBox="1">
              <a:spLocks noChangeArrowheads="1"/>
            </p:cNvSpPr>
            <p:nvPr/>
          </p:nvSpPr>
          <p:spPr bwMode="auto">
            <a:xfrm>
              <a:off x="2155825" y="796916"/>
              <a:ext cx="1290638" cy="2153906"/>
            </a:xfrm>
            <a:prstGeom prst="rect">
              <a:avLst/>
            </a:prstGeom>
            <a:solidFill>
              <a:srgbClr val="B5CEED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′ 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S</a:t>
              </a:r>
            </a:p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S→ · L=R</a:t>
              </a:r>
            </a:p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S→ · R</a:t>
              </a:r>
            </a:p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L→ · *R</a:t>
              </a:r>
            </a:p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L→ · 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R→ · L</a:t>
              </a:r>
            </a:p>
          </p:txBody>
        </p:sp>
        <p:sp>
          <p:nvSpPr>
            <p:cNvPr id="67594" name="Text Box 3"/>
            <p:cNvSpPr txBox="1">
              <a:spLocks noChangeArrowheads="1"/>
            </p:cNvSpPr>
            <p:nvPr/>
          </p:nvSpPr>
          <p:spPr bwMode="auto">
            <a:xfrm>
              <a:off x="4041775" y="741363"/>
              <a:ext cx="1223963" cy="707916"/>
            </a:xfrm>
            <a:prstGeom prst="rect">
              <a:avLst/>
            </a:prstGeom>
            <a:solidFill>
              <a:srgbClr val="B5CEED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′ 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→S ·</a:t>
              </a:r>
            </a:p>
          </p:txBody>
        </p:sp>
        <p:sp>
          <p:nvSpPr>
            <p:cNvPr id="67595" name="Line 4"/>
            <p:cNvSpPr>
              <a:spLocks noChangeShapeType="1"/>
            </p:cNvSpPr>
            <p:nvPr/>
          </p:nvSpPr>
          <p:spPr bwMode="auto">
            <a:xfrm flipV="1">
              <a:off x="3492500" y="1211263"/>
              <a:ext cx="503238" cy="111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Text Box 5"/>
            <p:cNvSpPr txBox="1">
              <a:spLocks noChangeArrowheads="1"/>
            </p:cNvSpPr>
            <p:nvPr/>
          </p:nvSpPr>
          <p:spPr bwMode="auto">
            <a:xfrm>
              <a:off x="4029075" y="1509595"/>
              <a:ext cx="1223963" cy="101584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defRPr/>
              </a:pPr>
              <a:r>
                <a:rPr kumimoji="1" lang="en-US" altLang="zh-CN" sz="2000" b="1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S→L</a:t>
              </a:r>
              <a:r>
                <a:rPr lang="en-US" altLang="zh-CN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 </a:t>
              </a:r>
              <a:r>
                <a:rPr kumimoji="1" lang="en-US" altLang="zh-CN" sz="2000" b="1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=R</a:t>
              </a:r>
            </a:p>
            <a:p>
              <a:pPr>
                <a:defRPr/>
              </a:pPr>
              <a:r>
                <a:rPr kumimoji="1" lang="en-US" altLang="zh-CN" sz="2000" b="1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R→L</a:t>
              </a:r>
              <a:r>
                <a:rPr lang="en-US" altLang="zh-CN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endParaRPr kumimoji="1"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597" name="Line 6"/>
            <p:cNvSpPr>
              <a:spLocks noChangeShapeType="1"/>
            </p:cNvSpPr>
            <p:nvPr/>
          </p:nvSpPr>
          <p:spPr bwMode="auto">
            <a:xfrm flipV="1">
              <a:off x="3487738" y="2193925"/>
              <a:ext cx="508000" cy="158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598" name="Text Box 7"/>
            <p:cNvSpPr txBox="1">
              <a:spLocks noChangeArrowheads="1"/>
            </p:cNvSpPr>
            <p:nvPr/>
          </p:nvSpPr>
          <p:spPr bwMode="auto">
            <a:xfrm>
              <a:off x="3563938" y="1749425"/>
              <a:ext cx="503237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96" name="Text Box 8"/>
            <p:cNvSpPr txBox="1">
              <a:spLocks noChangeArrowheads="1"/>
            </p:cNvSpPr>
            <p:nvPr/>
          </p:nvSpPr>
          <p:spPr bwMode="auto">
            <a:xfrm>
              <a:off x="4027488" y="2574643"/>
              <a:ext cx="1223962" cy="70791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S→R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</a:t>
              </a:r>
              <a:endPara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600" name="Line 9"/>
            <p:cNvSpPr>
              <a:spLocks noChangeShapeType="1"/>
            </p:cNvSpPr>
            <p:nvPr/>
          </p:nvSpPr>
          <p:spPr bwMode="auto">
            <a:xfrm flipV="1">
              <a:off x="3492500" y="2841625"/>
              <a:ext cx="503238" cy="11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01" name="Text Box 10"/>
            <p:cNvSpPr txBox="1">
              <a:spLocks noChangeArrowheads="1"/>
            </p:cNvSpPr>
            <p:nvPr/>
          </p:nvSpPr>
          <p:spPr bwMode="auto">
            <a:xfrm>
              <a:off x="3530600" y="2427288"/>
              <a:ext cx="60960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99" name="Text Box 11"/>
            <p:cNvSpPr txBox="1">
              <a:spLocks noChangeArrowheads="1"/>
            </p:cNvSpPr>
            <p:nvPr/>
          </p:nvSpPr>
          <p:spPr bwMode="auto">
            <a:xfrm>
              <a:off x="4035425" y="3339700"/>
              <a:ext cx="1223963" cy="163169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L→*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</a:p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R→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</a:t>
              </a:r>
            </a:p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L→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*R</a:t>
              </a:r>
            </a:p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L→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100" name="Text Box 12"/>
            <p:cNvSpPr txBox="1">
              <a:spLocks noChangeArrowheads="1"/>
            </p:cNvSpPr>
            <p:nvPr/>
          </p:nvSpPr>
          <p:spPr bwMode="auto">
            <a:xfrm>
              <a:off x="5918200" y="4331735"/>
              <a:ext cx="1296988" cy="70632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L→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endPara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604" name="Text Box 13"/>
            <p:cNvSpPr txBox="1">
              <a:spLocks noChangeArrowheads="1"/>
            </p:cNvSpPr>
            <p:nvPr/>
          </p:nvSpPr>
          <p:spPr bwMode="auto">
            <a:xfrm>
              <a:off x="3203848" y="2973883"/>
              <a:ext cx="53340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67605" name="Text Box 15"/>
            <p:cNvSpPr txBox="1">
              <a:spLocks noChangeArrowheads="1"/>
            </p:cNvSpPr>
            <p:nvPr/>
          </p:nvSpPr>
          <p:spPr bwMode="auto">
            <a:xfrm>
              <a:off x="2483768" y="3003798"/>
              <a:ext cx="533400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67606" name="Freeform 16"/>
            <p:cNvSpPr>
              <a:spLocks noChangeArrowheads="1"/>
            </p:cNvSpPr>
            <p:nvPr/>
          </p:nvSpPr>
          <p:spPr bwMode="auto">
            <a:xfrm>
              <a:off x="3130550" y="3003550"/>
              <a:ext cx="865188" cy="647700"/>
            </a:xfrm>
            <a:custGeom>
              <a:avLst/>
              <a:gdLst>
                <a:gd name="T0" fmla="*/ 0 w 1152"/>
                <a:gd name="T1" fmla="*/ 0 h 1296"/>
                <a:gd name="T2" fmla="*/ 2147483646 w 1152"/>
                <a:gd name="T3" fmla="*/ 2147483646 h 1296"/>
                <a:gd name="T4" fmla="*/ 2147483646 w 1152"/>
                <a:gd name="T5" fmla="*/ 2147483646 h 1296"/>
                <a:gd name="T6" fmla="*/ 2147483646 w 1152"/>
                <a:gd name="T7" fmla="*/ 2147483646 h 12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52"/>
                <a:gd name="T13" fmla="*/ 0 h 1296"/>
                <a:gd name="T14" fmla="*/ 1152 w 1152"/>
                <a:gd name="T15" fmla="*/ 1296 h 12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52" h="1296">
                  <a:moveTo>
                    <a:pt x="0" y="0"/>
                  </a:moveTo>
                  <a:cubicBezTo>
                    <a:pt x="32" y="196"/>
                    <a:pt x="64" y="392"/>
                    <a:pt x="144" y="576"/>
                  </a:cubicBezTo>
                  <a:cubicBezTo>
                    <a:pt x="224" y="760"/>
                    <a:pt x="312" y="984"/>
                    <a:pt x="480" y="1104"/>
                  </a:cubicBezTo>
                  <a:cubicBezTo>
                    <a:pt x="648" y="1224"/>
                    <a:pt x="1048" y="1248"/>
                    <a:pt x="1152" y="1296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Text Box 17"/>
            <p:cNvSpPr txBox="1">
              <a:spLocks noChangeArrowheads="1"/>
            </p:cNvSpPr>
            <p:nvPr/>
          </p:nvSpPr>
          <p:spPr bwMode="auto">
            <a:xfrm>
              <a:off x="5910263" y="1028656"/>
              <a:ext cx="1296987" cy="163011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S→L=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</a:p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R→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 </a:t>
              </a:r>
            </a:p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L→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*R</a:t>
              </a:r>
            </a:p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L→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67608" name="Line 18"/>
            <p:cNvSpPr>
              <a:spLocks noChangeShapeType="1"/>
            </p:cNvSpPr>
            <p:nvPr/>
          </p:nvSpPr>
          <p:spPr bwMode="auto">
            <a:xfrm flipV="1">
              <a:off x="5265738" y="1708150"/>
              <a:ext cx="6477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09" name="Text Box 19"/>
            <p:cNvSpPr txBox="1">
              <a:spLocks noChangeArrowheads="1"/>
            </p:cNvSpPr>
            <p:nvPr/>
          </p:nvSpPr>
          <p:spPr bwMode="auto">
            <a:xfrm>
              <a:off x="5220072" y="1317699"/>
              <a:ext cx="45720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=</a:t>
              </a:r>
            </a:p>
          </p:txBody>
        </p:sp>
        <p:sp>
          <p:nvSpPr>
            <p:cNvPr id="107" name="Text Box 20"/>
            <p:cNvSpPr txBox="1">
              <a:spLocks noChangeArrowheads="1"/>
            </p:cNvSpPr>
            <p:nvPr/>
          </p:nvSpPr>
          <p:spPr bwMode="auto">
            <a:xfrm>
              <a:off x="5921375" y="2747654"/>
              <a:ext cx="1296988" cy="70791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7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L→*R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</a:t>
              </a:r>
              <a:endPara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611" name="Line 21"/>
            <p:cNvSpPr>
              <a:spLocks noChangeShapeType="1"/>
            </p:cNvSpPr>
            <p:nvPr/>
          </p:nvSpPr>
          <p:spPr bwMode="auto">
            <a:xfrm flipV="1">
              <a:off x="5272088" y="3189288"/>
              <a:ext cx="641350" cy="4889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12" name="Text Box 22"/>
            <p:cNvSpPr txBox="1">
              <a:spLocks noChangeArrowheads="1"/>
            </p:cNvSpPr>
            <p:nvPr/>
          </p:nvSpPr>
          <p:spPr bwMode="auto">
            <a:xfrm>
              <a:off x="5266928" y="3477940"/>
              <a:ext cx="45720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110" name="Text Box 23"/>
            <p:cNvSpPr txBox="1">
              <a:spLocks noChangeArrowheads="1"/>
            </p:cNvSpPr>
            <p:nvPr/>
          </p:nvSpPr>
          <p:spPr bwMode="auto">
            <a:xfrm>
              <a:off x="5921375" y="3539694"/>
              <a:ext cx="1296988" cy="70791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8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R→L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</a:t>
              </a:r>
              <a:endPara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614" name="Line 24"/>
            <p:cNvSpPr>
              <a:spLocks noChangeShapeType="1"/>
            </p:cNvSpPr>
            <p:nvPr/>
          </p:nvSpPr>
          <p:spPr bwMode="auto">
            <a:xfrm>
              <a:off x="5265738" y="4030663"/>
              <a:ext cx="6477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15" name="Text Box 25"/>
            <p:cNvSpPr txBox="1">
              <a:spLocks noChangeArrowheads="1"/>
            </p:cNvSpPr>
            <p:nvPr/>
          </p:nvSpPr>
          <p:spPr bwMode="auto">
            <a:xfrm>
              <a:off x="5220072" y="3983583"/>
              <a:ext cx="381000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113" name="Text Box 26"/>
            <p:cNvSpPr txBox="1">
              <a:spLocks noChangeArrowheads="1"/>
            </p:cNvSpPr>
            <p:nvPr/>
          </p:nvSpPr>
          <p:spPr bwMode="auto">
            <a:xfrm>
              <a:off x="7740650" y="1384201"/>
              <a:ext cx="1223963" cy="70632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9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S→L=R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</a:t>
              </a:r>
              <a:endPara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617" name="Line 27"/>
            <p:cNvSpPr>
              <a:spLocks noChangeShapeType="1"/>
            </p:cNvSpPr>
            <p:nvPr/>
          </p:nvSpPr>
          <p:spPr bwMode="auto">
            <a:xfrm flipV="1">
              <a:off x="7205663" y="1897063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18" name="Text Box 28"/>
            <p:cNvSpPr txBox="1">
              <a:spLocks noChangeArrowheads="1"/>
            </p:cNvSpPr>
            <p:nvPr/>
          </p:nvSpPr>
          <p:spPr bwMode="auto">
            <a:xfrm>
              <a:off x="7278688" y="1471613"/>
              <a:ext cx="53340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67619" name="Line 29"/>
            <p:cNvSpPr>
              <a:spLocks noChangeShapeType="1"/>
            </p:cNvSpPr>
            <p:nvPr/>
          </p:nvSpPr>
          <p:spPr bwMode="auto">
            <a:xfrm flipH="1">
              <a:off x="5286375" y="1995488"/>
              <a:ext cx="644525" cy="1473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20" name="Text Box 30"/>
            <p:cNvSpPr txBox="1">
              <a:spLocks noChangeArrowheads="1"/>
            </p:cNvSpPr>
            <p:nvPr/>
          </p:nvSpPr>
          <p:spPr bwMode="auto">
            <a:xfrm>
              <a:off x="5550768" y="1923678"/>
              <a:ext cx="53340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67621" name="Freeform 31"/>
            <p:cNvSpPr>
              <a:spLocks noChangeArrowheads="1"/>
            </p:cNvSpPr>
            <p:nvPr/>
          </p:nvSpPr>
          <p:spPr bwMode="auto">
            <a:xfrm>
              <a:off x="7194550" y="2192338"/>
              <a:ext cx="330200" cy="2000250"/>
            </a:xfrm>
            <a:custGeom>
              <a:avLst/>
              <a:gdLst>
                <a:gd name="T0" fmla="*/ 0 w 208"/>
                <a:gd name="T1" fmla="*/ 0 h 1680"/>
                <a:gd name="T2" fmla="*/ 2147483646 w 208"/>
                <a:gd name="T3" fmla="*/ 2147483646 h 1680"/>
                <a:gd name="T4" fmla="*/ 2147483646 w 208"/>
                <a:gd name="T5" fmla="*/ 2147483646 h 1680"/>
                <a:gd name="T6" fmla="*/ 2147483646 w 208"/>
                <a:gd name="T7" fmla="*/ 2147483646 h 16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8"/>
                <a:gd name="T13" fmla="*/ 0 h 1680"/>
                <a:gd name="T14" fmla="*/ 208 w 208"/>
                <a:gd name="T15" fmla="*/ 1680 h 16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8" h="1680">
                  <a:moveTo>
                    <a:pt x="0" y="0"/>
                  </a:moveTo>
                  <a:cubicBezTo>
                    <a:pt x="56" y="132"/>
                    <a:pt x="112" y="264"/>
                    <a:pt x="144" y="432"/>
                  </a:cubicBezTo>
                  <a:cubicBezTo>
                    <a:pt x="176" y="600"/>
                    <a:pt x="208" y="800"/>
                    <a:pt x="192" y="1008"/>
                  </a:cubicBezTo>
                  <a:cubicBezTo>
                    <a:pt x="176" y="1216"/>
                    <a:pt x="112" y="1448"/>
                    <a:pt x="48" y="168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22" name="Text Box 32"/>
            <p:cNvSpPr txBox="1">
              <a:spLocks noChangeArrowheads="1"/>
            </p:cNvSpPr>
            <p:nvPr/>
          </p:nvSpPr>
          <p:spPr bwMode="auto">
            <a:xfrm>
              <a:off x="7139136" y="2541835"/>
              <a:ext cx="45720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67623" name="Text Box 34"/>
            <p:cNvSpPr txBox="1">
              <a:spLocks noChangeArrowheads="1"/>
            </p:cNvSpPr>
            <p:nvPr/>
          </p:nvSpPr>
          <p:spPr bwMode="auto">
            <a:xfrm>
              <a:off x="7596336" y="2283718"/>
              <a:ext cx="68580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67624" name="Text Box 35"/>
            <p:cNvSpPr txBox="1">
              <a:spLocks noChangeArrowheads="1"/>
            </p:cNvSpPr>
            <p:nvPr/>
          </p:nvSpPr>
          <p:spPr bwMode="auto">
            <a:xfrm>
              <a:off x="3563938" y="814388"/>
              <a:ext cx="53340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67625" name="Line 38"/>
            <p:cNvSpPr>
              <a:spLocks noChangeShapeType="1"/>
            </p:cNvSpPr>
            <p:nvPr/>
          </p:nvSpPr>
          <p:spPr bwMode="auto">
            <a:xfrm>
              <a:off x="5265738" y="4732338"/>
              <a:ext cx="6477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26" name="Text Box 39"/>
            <p:cNvSpPr txBox="1">
              <a:spLocks noChangeArrowheads="1"/>
            </p:cNvSpPr>
            <p:nvPr/>
          </p:nvSpPr>
          <p:spPr bwMode="auto">
            <a:xfrm>
              <a:off x="5220072" y="4630068"/>
              <a:ext cx="53340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  <p:grpSp>
          <p:nvGrpSpPr>
            <p:cNvPr id="67627" name="Group 44"/>
            <p:cNvGrpSpPr>
              <a:grpSpLocks/>
            </p:cNvGrpSpPr>
            <p:nvPr/>
          </p:nvGrpSpPr>
          <p:grpSpPr bwMode="auto">
            <a:xfrm>
              <a:off x="3708400" y="3868738"/>
              <a:ext cx="290513" cy="268287"/>
              <a:chOff x="2335" y="3249"/>
              <a:chExt cx="183" cy="226"/>
            </a:xfrm>
          </p:grpSpPr>
          <p:sp>
            <p:nvSpPr>
              <p:cNvPr id="67631" name="Line 40"/>
              <p:cNvSpPr>
                <a:spLocks noChangeShapeType="1"/>
              </p:cNvSpPr>
              <p:nvPr/>
            </p:nvSpPr>
            <p:spPr bwMode="auto">
              <a:xfrm>
                <a:off x="2335" y="3249"/>
                <a:ext cx="18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32" name="Line 41"/>
              <p:cNvSpPr>
                <a:spLocks noChangeShapeType="1"/>
              </p:cNvSpPr>
              <p:nvPr/>
            </p:nvSpPr>
            <p:spPr bwMode="auto">
              <a:xfrm>
                <a:off x="2335" y="3249"/>
                <a:ext cx="0" cy="22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33" name="Line 42"/>
              <p:cNvSpPr>
                <a:spLocks noChangeShapeType="1"/>
              </p:cNvSpPr>
              <p:nvPr/>
            </p:nvSpPr>
            <p:spPr bwMode="auto">
              <a:xfrm>
                <a:off x="2336" y="3475"/>
                <a:ext cx="18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7628" name="Text Box 43"/>
            <p:cNvSpPr txBox="1">
              <a:spLocks noChangeArrowheads="1"/>
            </p:cNvSpPr>
            <p:nvPr/>
          </p:nvSpPr>
          <p:spPr bwMode="auto">
            <a:xfrm>
              <a:off x="3635375" y="3813175"/>
              <a:ext cx="53340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67629" name="Freeform 33"/>
            <p:cNvSpPr>
              <a:spLocks noChangeArrowheads="1"/>
            </p:cNvSpPr>
            <p:nvPr/>
          </p:nvSpPr>
          <p:spPr bwMode="auto">
            <a:xfrm rot="414497">
              <a:off x="7061200" y="2066925"/>
              <a:ext cx="746125" cy="2824163"/>
            </a:xfrm>
            <a:custGeom>
              <a:avLst/>
              <a:gdLst>
                <a:gd name="T0" fmla="*/ 0 w 656"/>
                <a:gd name="T1" fmla="*/ 0 h 2592"/>
                <a:gd name="T2" fmla="*/ 2147483646 w 656"/>
                <a:gd name="T3" fmla="*/ 2147483646 h 2592"/>
                <a:gd name="T4" fmla="*/ 2147483646 w 656"/>
                <a:gd name="T5" fmla="*/ 2147483646 h 2592"/>
                <a:gd name="T6" fmla="*/ 2147483646 w 656"/>
                <a:gd name="T7" fmla="*/ 2147483646 h 25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56"/>
                <a:gd name="T13" fmla="*/ 0 h 2592"/>
                <a:gd name="T14" fmla="*/ 656 w 656"/>
                <a:gd name="T15" fmla="*/ 2592 h 25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56" h="2592">
                  <a:moveTo>
                    <a:pt x="0" y="0"/>
                  </a:moveTo>
                  <a:cubicBezTo>
                    <a:pt x="212" y="224"/>
                    <a:pt x="424" y="448"/>
                    <a:pt x="528" y="720"/>
                  </a:cubicBezTo>
                  <a:cubicBezTo>
                    <a:pt x="632" y="992"/>
                    <a:pt x="656" y="1320"/>
                    <a:pt x="624" y="1632"/>
                  </a:cubicBezTo>
                  <a:cubicBezTo>
                    <a:pt x="592" y="1944"/>
                    <a:pt x="464" y="2268"/>
                    <a:pt x="336" y="2592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任意多边形 131"/>
            <p:cNvSpPr/>
            <p:nvPr/>
          </p:nvSpPr>
          <p:spPr>
            <a:xfrm>
              <a:off x="2500313" y="2966695"/>
              <a:ext cx="3400425" cy="2118986"/>
            </a:xfrm>
            <a:custGeom>
              <a:avLst/>
              <a:gdLst>
                <a:gd name="connsiteX0" fmla="*/ 49618 w 3452037"/>
                <a:gd name="connsiteY0" fmla="*/ 0 h 2119423"/>
                <a:gd name="connsiteX1" fmla="*/ 124046 w 3452037"/>
                <a:gd name="connsiteY1" fmla="*/ 882502 h 2119423"/>
                <a:gd name="connsiteX2" fmla="*/ 793897 w 3452037"/>
                <a:gd name="connsiteY2" fmla="*/ 1605516 h 2119423"/>
                <a:gd name="connsiteX3" fmla="*/ 1516911 w 3452037"/>
                <a:gd name="connsiteY3" fmla="*/ 2030818 h 2119423"/>
                <a:gd name="connsiteX4" fmla="*/ 2250558 w 3452037"/>
                <a:gd name="connsiteY4" fmla="*/ 2115879 h 2119423"/>
                <a:gd name="connsiteX5" fmla="*/ 3207488 w 3452037"/>
                <a:gd name="connsiteY5" fmla="*/ 2052083 h 2119423"/>
                <a:gd name="connsiteX6" fmla="*/ 3452037 w 3452037"/>
                <a:gd name="connsiteY6" fmla="*/ 2020186 h 2119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52037" h="2119423">
                  <a:moveTo>
                    <a:pt x="49618" y="0"/>
                  </a:moveTo>
                  <a:cubicBezTo>
                    <a:pt x="24809" y="307458"/>
                    <a:pt x="0" y="614916"/>
                    <a:pt x="124046" y="882502"/>
                  </a:cubicBezTo>
                  <a:cubicBezTo>
                    <a:pt x="248092" y="1150088"/>
                    <a:pt x="561753" y="1414130"/>
                    <a:pt x="793897" y="1605516"/>
                  </a:cubicBezTo>
                  <a:cubicBezTo>
                    <a:pt x="1026041" y="1796902"/>
                    <a:pt x="1274134" y="1945758"/>
                    <a:pt x="1516911" y="2030818"/>
                  </a:cubicBezTo>
                  <a:cubicBezTo>
                    <a:pt x="1759688" y="2115879"/>
                    <a:pt x="1968795" y="2112335"/>
                    <a:pt x="2250558" y="2115879"/>
                  </a:cubicBezTo>
                  <a:cubicBezTo>
                    <a:pt x="2532321" y="2119423"/>
                    <a:pt x="3007242" y="2068032"/>
                    <a:pt x="3207488" y="2052083"/>
                  </a:cubicBezTo>
                  <a:cubicBezTo>
                    <a:pt x="3407734" y="2036134"/>
                    <a:pt x="3429885" y="2028160"/>
                    <a:pt x="3452037" y="2020186"/>
                  </a:cubicBezTo>
                </a:path>
              </a:pathLst>
            </a:cu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282575" y="933450"/>
            <a:ext cx="836613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lnSpc>
                <a:spcPts val="28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例</a:t>
            </a:r>
            <a:endParaRPr lang="en-US" altLang="zh-CN" sz="3200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AutoShape 58"/>
          <p:cNvSpPr>
            <a:spLocks noChangeArrowheads="1"/>
          </p:cNvSpPr>
          <p:nvPr/>
        </p:nvSpPr>
        <p:spPr bwMode="auto">
          <a:xfrm>
            <a:off x="6856413" y="66675"/>
            <a:ext cx="2216150" cy="1076325"/>
          </a:xfrm>
          <a:prstGeom prst="cloudCallout">
            <a:avLst>
              <a:gd name="adj1" fmla="val -65982"/>
              <a:gd name="adj2" fmla="val 33843"/>
            </a:avLst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</p:spPr>
        <p:txBody>
          <a:bodyPr lIns="46800" rIns="46800"/>
          <a:lstStyle/>
          <a:p>
            <a:pPr algn="ctr">
              <a:spcBef>
                <a:spcPct val="20000"/>
              </a:spcBef>
              <a:buClr>
                <a:srgbClr val="333399"/>
              </a:buClr>
              <a:buSzPct val="75000"/>
              <a:buFont typeface="Monotype Sorts"/>
              <a:buNone/>
              <a:defRPr/>
            </a:pPr>
            <a:r>
              <a:rPr lang="zh-CN" altLang="en-US" sz="2500" b="1" dirty="0">
                <a:solidFill>
                  <a:prstClr val="white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如何消解冲突？</a:t>
            </a:r>
          </a:p>
        </p:txBody>
      </p:sp>
      <p:sp>
        <p:nvSpPr>
          <p:cNvPr id="67592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AB90790-1F19-4B00-B7D4-4F70775FC153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39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4073296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 animBg="1"/>
      <p:bldP spid="130" grpId="0" animBg="1"/>
      <p:bldP spid="3" grpId="0"/>
      <p:bldP spid="4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AF3DAC8-CDCE-5CA7-BB80-350C1FE3B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68425"/>
            <a:ext cx="7223720" cy="32258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4000" dirty="0"/>
              <a:t>作业：</a:t>
            </a:r>
            <a:endParaRPr lang="en-US" altLang="zh-CN" sz="4000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800" dirty="0"/>
              <a:t>蓝书 </a:t>
            </a:r>
            <a:r>
              <a:rPr lang="en-US" altLang="zh-CN" sz="2800" dirty="0"/>
              <a:t>4.6.2</a:t>
            </a:r>
            <a:r>
              <a:rPr lang="zh-CN" altLang="en-US" sz="2800" dirty="0"/>
              <a:t>、</a:t>
            </a:r>
            <a:r>
              <a:rPr lang="en-US" altLang="zh-CN" sz="2800" dirty="0"/>
              <a:t>4.6.4</a:t>
            </a:r>
            <a:r>
              <a:rPr lang="zh-CN" altLang="en-US" sz="2800" dirty="0"/>
              <a:t>的对于</a:t>
            </a:r>
            <a:r>
              <a:rPr lang="en-US" altLang="zh-CN" sz="2800" dirty="0"/>
              <a:t>4.2.2</a:t>
            </a:r>
            <a:r>
              <a:rPr lang="zh-CN" altLang="en-US" sz="2800" dirty="0"/>
              <a:t>（</a:t>
            </a:r>
            <a:r>
              <a:rPr lang="en-US" altLang="zh-CN" sz="2800" dirty="0"/>
              <a:t>3</a:t>
            </a:r>
            <a:r>
              <a:rPr lang="zh-CN" altLang="en-US" sz="2800" dirty="0"/>
              <a:t>）（</a:t>
            </a:r>
            <a:r>
              <a:rPr lang="en-US" altLang="zh-CN" sz="2800" dirty="0"/>
              <a:t>5</a:t>
            </a:r>
            <a:r>
              <a:rPr lang="zh-CN" altLang="en-US" sz="2800" dirty="0"/>
              <a:t>）的各个文法，完成</a:t>
            </a:r>
            <a:r>
              <a:rPr lang="en-US" altLang="zh-CN" sz="2800" dirty="0"/>
              <a:t>1</a:t>
            </a:r>
            <a:r>
              <a:rPr lang="zh-CN" altLang="en-US" sz="2800" dirty="0"/>
              <a:t>）、</a:t>
            </a:r>
            <a:r>
              <a:rPr lang="en-US" altLang="zh-CN" sz="2800" dirty="0"/>
              <a:t>2</a:t>
            </a:r>
            <a:r>
              <a:rPr lang="zh-CN" altLang="en-US" sz="2800" dirty="0"/>
              <a:t>）和</a:t>
            </a:r>
            <a:r>
              <a:rPr lang="en-US" altLang="zh-CN" sz="2800" dirty="0"/>
              <a:t>3</a:t>
            </a:r>
            <a:r>
              <a:rPr lang="zh-CN" altLang="en-US" sz="2800" dirty="0"/>
              <a:t>），还有</a:t>
            </a:r>
            <a:r>
              <a:rPr lang="en-US" altLang="zh-CN" sz="2800" dirty="0"/>
              <a:t>4.6.5</a:t>
            </a:r>
            <a:br>
              <a:rPr lang="zh-CN" altLang="en-US" sz="2400" dirty="0"/>
            </a:br>
            <a:br>
              <a:rPr lang="zh-CN" altLang="en-US" sz="3200" dirty="0"/>
            </a:br>
            <a:endParaRPr lang="zh-CN" altLang="en-US" sz="32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029436F-59CC-26E0-7B95-788C1774C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7C6A89-6955-9ABF-F46B-23C74946C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D62707-59F8-49EA-B377-A91BC073AE31}" type="slidenum">
              <a:rPr lang="zh-CN" altLang="en-US" smtClean="0"/>
              <a:pPr>
                <a:defRPr/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44587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923" name="Rectangle 3"/>
          <p:cNvSpPr>
            <a:spLocks noGrp="1" noChangeArrowheads="1"/>
          </p:cNvSpPr>
          <p:nvPr>
            <p:ph idx="1"/>
          </p:nvPr>
        </p:nvSpPr>
        <p:spPr>
          <a:xfrm>
            <a:off x="434975" y="842963"/>
            <a:ext cx="8313738" cy="322580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altLang="zh-CN" sz="2800" b="1" i="1" dirty="0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SLR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分析存在的问题</a:t>
            </a:r>
          </a:p>
          <a:p>
            <a:pPr lvl="1" eaLnBrk="1" hangingPunct="1">
              <a:lnSpc>
                <a:spcPct val="1300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SLR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只是简单地考察</a:t>
            </a:r>
            <a:r>
              <a:rPr lang="zh-CN" altLang="en-US" sz="2500" b="1" dirty="0">
                <a:solidFill>
                  <a:srgbClr val="2D83F4"/>
                </a:solidFill>
                <a:latin typeface="+mn-ea"/>
              </a:rPr>
              <a:t>下一个输入符号</a:t>
            </a:r>
            <a:r>
              <a:rPr lang="en-US" altLang="zh-CN" sz="2500" b="1" i="1" dirty="0">
                <a:solidFill>
                  <a:schemeClr val="tx1"/>
                </a:solidFill>
                <a:ea typeface="宋体" pitchFamily="2" charset="-122"/>
              </a:rPr>
              <a:t>b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是否属于与</a:t>
            </a:r>
            <a:r>
              <a:rPr lang="zh-CN" altLang="en-US" sz="2500" b="1" dirty="0">
                <a:solidFill>
                  <a:srgbClr val="2D83F4"/>
                </a:solidFill>
                <a:latin typeface="+mn-ea"/>
              </a:rPr>
              <a:t>归约项目</a:t>
            </a:r>
            <a:r>
              <a:rPr lang="en-US" altLang="zh-CN" sz="2500" b="1" i="1" dirty="0" err="1">
                <a:solidFill>
                  <a:schemeClr val="tx1"/>
                </a:solidFill>
                <a:ea typeface="宋体" pitchFamily="2" charset="-122"/>
              </a:rPr>
              <a:t>A</a:t>
            </a:r>
            <a:r>
              <a:rPr lang="en-US" altLang="zh-CN" sz="2500" b="1" dirty="0" err="1">
                <a:solidFill>
                  <a:schemeClr val="tx1"/>
                </a:solidFill>
                <a:ea typeface="宋体" pitchFamily="2" charset="-122"/>
              </a:rPr>
              <a:t>→</a:t>
            </a:r>
            <a:r>
              <a:rPr lang="en-US" altLang="zh-CN" sz="2500" b="1" i="1" dirty="0" err="1">
                <a:solidFill>
                  <a:schemeClr val="tx1"/>
                </a:solidFill>
                <a:ea typeface="宋体" pitchFamily="2" charset="-122"/>
              </a:rPr>
              <a:t>α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相关联的</a:t>
            </a:r>
            <a:r>
              <a:rPr lang="en-US" altLang="zh-CN" sz="2500" b="1" i="1" dirty="0">
                <a:solidFill>
                  <a:srgbClr val="2D83F4"/>
                </a:solidFill>
                <a:ea typeface="宋体" pitchFamily="2" charset="-122"/>
              </a:rPr>
              <a:t>FOLLOW</a:t>
            </a:r>
            <a:r>
              <a:rPr lang="en-US" altLang="zh-CN" sz="2500" b="1" dirty="0">
                <a:solidFill>
                  <a:srgbClr val="2D83F4"/>
                </a:solidFill>
                <a:ea typeface="宋体" pitchFamily="2" charset="-122"/>
              </a:rPr>
              <a:t>(</a:t>
            </a:r>
            <a:r>
              <a:rPr lang="en-US" altLang="zh-CN" sz="2500" b="1" i="1" dirty="0">
                <a:solidFill>
                  <a:srgbClr val="2D83F4"/>
                </a:solidFill>
                <a:ea typeface="宋体" pitchFamily="2" charset="-122"/>
              </a:rPr>
              <a:t>A</a:t>
            </a:r>
            <a:r>
              <a:rPr lang="en-US" altLang="zh-CN" sz="2500" b="1" dirty="0">
                <a:solidFill>
                  <a:srgbClr val="2D83F4"/>
                </a:solidFill>
                <a:ea typeface="宋体" pitchFamily="2" charset="-122"/>
              </a:rPr>
              <a:t>)</a:t>
            </a:r>
            <a:r>
              <a:rPr lang="zh-CN" altLang="en-US" sz="2500" b="1" dirty="0">
                <a:solidFill>
                  <a:schemeClr val="tx1"/>
                </a:solidFill>
                <a:ea typeface="宋体" pitchFamily="2" charset="-122"/>
              </a:rPr>
              <a:t>，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但</a:t>
            </a:r>
            <a:r>
              <a:rPr lang="en-US" altLang="zh-CN" sz="2500" b="1" i="1" dirty="0">
                <a:solidFill>
                  <a:schemeClr val="tx1"/>
                </a:solidFill>
                <a:ea typeface="宋体" pitchFamily="2" charset="-122"/>
              </a:rPr>
              <a:t>b</a:t>
            </a:r>
            <a:r>
              <a:rPr lang="zh-CN" altLang="en-US" sz="2500" b="1" dirty="0">
                <a:solidFill>
                  <a:schemeClr val="tx1"/>
                </a:solidFill>
                <a:ea typeface="宋体" pitchFamily="2" charset="-122"/>
              </a:rPr>
              <a:t>∈</a:t>
            </a:r>
            <a:r>
              <a:rPr lang="en-US" altLang="zh-CN" sz="2500" b="1" i="1" dirty="0">
                <a:solidFill>
                  <a:schemeClr val="tx1"/>
                </a:solidFill>
                <a:ea typeface="宋体" pitchFamily="2" charset="-122"/>
              </a:rPr>
              <a:t>FOLLOW</a:t>
            </a:r>
            <a:r>
              <a:rPr lang="en-US" altLang="zh-CN" sz="2500" b="1" dirty="0">
                <a:solidFill>
                  <a:schemeClr val="tx1"/>
                </a:solidFill>
                <a:ea typeface="宋体" pitchFamily="2" charset="-122"/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  <a:ea typeface="宋体" pitchFamily="2" charset="-122"/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  <a:ea typeface="宋体" pitchFamily="2" charset="-122"/>
              </a:rPr>
              <a:t>)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只是归约</a:t>
            </a:r>
            <a:r>
              <a:rPr lang="en-US" altLang="zh-CN" sz="2500" b="1" i="1" dirty="0">
                <a:solidFill>
                  <a:schemeClr val="tx1"/>
                </a:solidFill>
                <a:ea typeface="宋体" pitchFamily="2" charset="-122"/>
              </a:rPr>
              <a:t>α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的一个</a:t>
            </a:r>
            <a:r>
              <a:rPr lang="zh-CN" altLang="en-US" sz="2500" b="1" dirty="0">
                <a:solidFill>
                  <a:srgbClr val="2D83F4"/>
                </a:solidFill>
                <a:latin typeface="+mn-ea"/>
              </a:rPr>
              <a:t>必要条件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，而非</a:t>
            </a:r>
            <a:r>
              <a:rPr lang="zh-CN" altLang="en-US" sz="2500" b="1" dirty="0">
                <a:solidFill>
                  <a:srgbClr val="2D83F4"/>
                </a:solidFill>
                <a:latin typeface="+mn-ea"/>
              </a:rPr>
              <a:t>充分条件</a:t>
            </a:r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600" i="1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6. LR</a:t>
            </a:r>
            <a:r>
              <a:rPr lang="en-US" altLang="zh-CN" sz="360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(1)</a:t>
            </a:r>
            <a:r>
              <a:rPr lang="zh-CN" altLang="en-US" sz="3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分析法的提出</a:t>
            </a:r>
            <a:endParaRPr lang="zh-CN" altLang="en-US" sz="3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636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8CE04E8-AFFF-4C70-99B4-8A8C6A04BECF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41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980615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77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77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77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977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977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977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977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977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977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内容占位符 6"/>
          <p:cNvSpPr>
            <a:spLocks noGrp="1"/>
          </p:cNvSpPr>
          <p:nvPr>
            <p:ph idx="1"/>
          </p:nvPr>
        </p:nvSpPr>
        <p:spPr>
          <a:xfrm>
            <a:off x="506413" y="714375"/>
            <a:ext cx="7594600" cy="1779588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对于产生式</a:t>
            </a:r>
            <a:r>
              <a:rPr kumimoji="1" lang="zh-CN" altLang="en-US" sz="2800" b="1" i="1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kumimoji="1" lang="en-US" altLang="zh-CN" sz="2800" b="1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kumimoji="1" lang="en-US" altLang="zh-CN" sz="2800" b="1" i="1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kumimoji="1"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的归约，在</a:t>
            </a:r>
            <a:r>
              <a:rPr kumimoji="1" lang="zh-CN" altLang="en-US" sz="2800" b="1">
                <a:solidFill>
                  <a:srgbClr val="0000FF"/>
                </a:solidFill>
                <a:cs typeface="Times New Roman" panose="02020603050405020304" pitchFamily="18" charset="0"/>
              </a:rPr>
              <a:t>不同的使用位置</a:t>
            </a:r>
            <a:r>
              <a:rPr kumimoji="1"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kumimoji="1" lang="en-US" altLang="zh-CN" sz="2800" b="1" i="1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kumimoji="1"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会要求</a:t>
            </a:r>
            <a:r>
              <a:rPr kumimoji="1" lang="zh-CN" altLang="en-US" sz="2800" b="1">
                <a:solidFill>
                  <a:srgbClr val="0000FF"/>
                </a:solidFill>
                <a:cs typeface="Times New Roman" panose="02020603050405020304" pitchFamily="18" charset="0"/>
              </a:rPr>
              <a:t>不同的后继符号</a:t>
            </a:r>
            <a:endParaRPr lang="zh-CN" altLang="en-US" sz="2800" b="1">
              <a:solidFill>
                <a:srgbClr val="0000FF"/>
              </a:solidFill>
              <a:cs typeface="Times New Roman" panose="02020603050405020304" pitchFamily="18" charset="0"/>
            </a:endParaRPr>
          </a:p>
        </p:txBody>
      </p:sp>
      <p:sp>
        <p:nvSpPr>
          <p:cNvPr id="32771" name="标题 5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i="1" dirty="0">
                <a:solidFill>
                  <a:prstClr val="black"/>
                </a:solidFill>
                <a:ea typeface="楷体_GB2312"/>
                <a:cs typeface="Times New Roman" pitchFamily="18" charset="0"/>
              </a:rPr>
              <a:t>LR</a:t>
            </a:r>
            <a:r>
              <a:rPr lang="en-US" altLang="zh-CN" sz="3000" dirty="0">
                <a:solidFill>
                  <a:prstClr val="black"/>
                </a:solidFill>
                <a:ea typeface="楷体_GB2312"/>
                <a:cs typeface="Times New Roman" pitchFamily="18" charset="0"/>
              </a:rPr>
              <a:t>(1)</a:t>
            </a: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分析法的提出</a:t>
            </a:r>
            <a:endParaRPr lang="zh-CN" altLang="en-US" sz="2500" spc="300" dirty="0">
              <a:solidFill>
                <a:schemeClr val="tx1"/>
              </a:solidFill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506413" y="4424363"/>
            <a:ext cx="86375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在特定位置，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的后继符集合是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FOLLOW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kumimoji="1" lang="zh-CN" altLang="zh-CN" sz="2800" b="1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子集</a:t>
            </a:r>
            <a:endParaRPr lang="zh-CN" altLang="en-US" sz="2800" b="1">
              <a:solidFill>
                <a:srgbClr val="2D83F4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Rectangle 37"/>
          <p:cNvSpPr>
            <a:spLocks noChangeArrowheads="1"/>
          </p:cNvSpPr>
          <p:nvPr/>
        </p:nvSpPr>
        <p:spPr bwMode="auto">
          <a:xfrm>
            <a:off x="1106488" y="1924050"/>
            <a:ext cx="1520825" cy="23542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>
            <a:lvl1pPr marL="609600" indent="-609600">
              <a:defRPr>
                <a:solidFill>
                  <a:schemeClr val="tx1"/>
                </a:solidFill>
                <a:latin typeface="Tahoma" charset="0"/>
                <a:ea typeface="宋体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宋体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宋体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宋体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宋体" charset="0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20000"/>
              </a:spcBef>
              <a:buFont typeface="Wingdings" charset="2"/>
              <a:buNone/>
              <a:defRPr/>
            </a:pPr>
            <a:r>
              <a:rPr kumimoji="1" lang="en-US" altLang="zh-CN" sz="2000" b="1" dirty="0">
                <a:solidFill>
                  <a:prstClr val="black"/>
                </a:solidFill>
                <a:latin typeface="Times New Roman" charset="0"/>
                <a:ea typeface="楷体_GB2312" charset="0"/>
                <a:cs typeface="Times New Roman" charset="0"/>
              </a:rPr>
              <a:t>0) </a:t>
            </a:r>
            <a:r>
              <a:rPr kumimoji="1" lang="en-US" altLang="zh-CN" sz="2000" b="1" i="1" dirty="0">
                <a:solidFill>
                  <a:prstClr val="black"/>
                </a:solidFill>
                <a:latin typeface="Times New Roman" charset="0"/>
                <a:ea typeface="楷体_GB2312" charset="0"/>
                <a:cs typeface="Times New Roman" charset="0"/>
              </a:rPr>
              <a:t>S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r>
              <a:rPr kumimoji="1" lang="en-US" altLang="zh-CN" sz="2000" b="1" i="1" dirty="0">
                <a:solidFill>
                  <a:prstClr val="black"/>
                </a:solidFill>
                <a:latin typeface="Times New Roman" charset="0"/>
                <a:ea typeface="楷体_GB2312" charset="0"/>
                <a:cs typeface="Times New Roman" charset="0"/>
              </a:rPr>
              <a:t>→S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Font typeface="Wingdings" charset="2"/>
              <a:buNone/>
              <a:defRPr/>
            </a:pPr>
            <a:r>
              <a:rPr kumimoji="1" lang="en-US" altLang="zh-CN" sz="2000" b="1" dirty="0">
                <a:solidFill>
                  <a:prstClr val="black"/>
                </a:solidFill>
                <a:latin typeface="Times New Roman" charset="0"/>
                <a:ea typeface="楷体_GB2312" charset="0"/>
                <a:cs typeface="Times New Roman" charset="0"/>
              </a:rPr>
              <a:t>1) </a:t>
            </a:r>
            <a:r>
              <a:rPr kumimoji="1" lang="en-US" altLang="zh-CN" sz="2000" b="1" i="1" dirty="0">
                <a:solidFill>
                  <a:prstClr val="black"/>
                </a:solidFill>
                <a:latin typeface="Times New Roman" charset="0"/>
                <a:ea typeface="楷体_GB2312" charset="0"/>
                <a:cs typeface="Times New Roman" charset="0"/>
              </a:rPr>
              <a:t>S→L=R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Font typeface="Wingdings" charset="2"/>
              <a:buNone/>
              <a:defRPr/>
            </a:pPr>
            <a:r>
              <a:rPr kumimoji="1" lang="en-US" altLang="zh-CN" sz="2000" b="1" dirty="0">
                <a:solidFill>
                  <a:prstClr val="black"/>
                </a:solidFill>
                <a:latin typeface="Times New Roman" charset="0"/>
                <a:ea typeface="楷体_GB2312" charset="0"/>
                <a:cs typeface="Times New Roman" charset="0"/>
              </a:rPr>
              <a:t>2) </a:t>
            </a:r>
            <a:r>
              <a:rPr kumimoji="1" lang="en-US" altLang="zh-CN" sz="2000" b="1" i="1" dirty="0">
                <a:solidFill>
                  <a:prstClr val="black"/>
                </a:solidFill>
                <a:latin typeface="Times New Roman" charset="0"/>
                <a:ea typeface="楷体_GB2312" charset="0"/>
                <a:cs typeface="Times New Roman" charset="0"/>
              </a:rPr>
              <a:t>S→R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Font typeface="Wingdings" charset="2"/>
              <a:buNone/>
              <a:defRPr/>
            </a:pPr>
            <a:r>
              <a:rPr kumimoji="1" lang="en-US" altLang="zh-CN" sz="2000" b="1" dirty="0">
                <a:solidFill>
                  <a:prstClr val="black"/>
                </a:solidFill>
                <a:latin typeface="Times New Roman" charset="0"/>
                <a:ea typeface="楷体_GB2312" charset="0"/>
                <a:cs typeface="Times New Roman" charset="0"/>
              </a:rPr>
              <a:t>3) </a:t>
            </a:r>
            <a:r>
              <a:rPr kumimoji="1" lang="en-US" altLang="zh-CN" sz="2000" b="1" i="1" dirty="0">
                <a:solidFill>
                  <a:prstClr val="black"/>
                </a:solidFill>
                <a:latin typeface="Times New Roman" charset="0"/>
                <a:ea typeface="楷体_GB2312" charset="0"/>
                <a:cs typeface="Times New Roman" charset="0"/>
              </a:rPr>
              <a:t>L→*R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Font typeface="Wingdings" charset="2"/>
              <a:buNone/>
              <a:defRPr/>
            </a:pPr>
            <a:r>
              <a:rPr kumimoji="1" lang="en-US" altLang="zh-CN" sz="2000" b="1" dirty="0">
                <a:solidFill>
                  <a:prstClr val="black"/>
                </a:solidFill>
                <a:latin typeface="Times New Roman" charset="0"/>
                <a:ea typeface="楷体_GB2312" charset="0"/>
                <a:cs typeface="Times New Roman" charset="0"/>
              </a:rPr>
              <a:t>4) </a:t>
            </a:r>
            <a:r>
              <a:rPr kumimoji="1" lang="en-US" altLang="zh-CN" sz="2000" b="1" i="1" dirty="0" err="1">
                <a:solidFill>
                  <a:prstClr val="black"/>
                </a:solidFill>
                <a:latin typeface="Times New Roman" charset="0"/>
                <a:ea typeface="楷体_GB2312" charset="0"/>
                <a:cs typeface="Times New Roman" charset="0"/>
              </a:rPr>
              <a:t>L→</a:t>
            </a:r>
            <a:r>
              <a:rPr kumimoji="1" lang="en-US" altLang="zh-CN" sz="2000" b="1" dirty="0" err="1">
                <a:solidFill>
                  <a:prstClr val="black"/>
                </a:solidFill>
                <a:latin typeface="Times New Roman" charset="0"/>
                <a:ea typeface="楷体_GB2312" charset="0"/>
                <a:cs typeface="Times New Roman" charset="0"/>
              </a:rPr>
              <a:t>id</a:t>
            </a:r>
            <a:endParaRPr kumimoji="1" lang="en-US" altLang="zh-CN" sz="2000" b="1" dirty="0">
              <a:solidFill>
                <a:prstClr val="black"/>
              </a:solidFill>
              <a:latin typeface="Times New Roman" charset="0"/>
              <a:ea typeface="楷体_GB2312" charset="0"/>
              <a:cs typeface="Times New Roman" charset="0"/>
            </a:endParaRP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Font typeface="Wingdings" charset="2"/>
              <a:buNone/>
              <a:defRPr/>
            </a:pPr>
            <a:r>
              <a:rPr kumimoji="1" lang="en-US" altLang="zh-CN" sz="2000" b="1" dirty="0">
                <a:solidFill>
                  <a:prstClr val="black"/>
                </a:solidFill>
                <a:latin typeface="Times New Roman" charset="0"/>
                <a:ea typeface="楷体_GB2312" charset="0"/>
                <a:cs typeface="Times New Roman" charset="0"/>
              </a:rPr>
              <a:t>5) </a:t>
            </a:r>
            <a:r>
              <a:rPr kumimoji="1" lang="en-US" altLang="zh-CN" sz="2000" b="1" i="1" dirty="0">
                <a:solidFill>
                  <a:prstClr val="black"/>
                </a:solidFill>
                <a:latin typeface="Times New Roman" charset="0"/>
                <a:ea typeface="楷体_GB2312" charset="0"/>
                <a:cs typeface="Times New Roman" charset="0"/>
              </a:rPr>
              <a:t>R→L</a:t>
            </a:r>
          </a:p>
        </p:txBody>
      </p: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5503863" y="1944688"/>
            <a:ext cx="1889125" cy="2387600"/>
            <a:chOff x="6444604" y="439403"/>
            <a:chExt cx="1888175" cy="2387234"/>
          </a:xfrm>
        </p:grpSpPr>
        <p:sp>
          <p:nvSpPr>
            <p:cNvPr id="71712" name="Text Box 5"/>
            <p:cNvSpPr txBox="1">
              <a:spLocks noChangeArrowheads="1"/>
            </p:cNvSpPr>
            <p:nvPr/>
          </p:nvSpPr>
          <p:spPr bwMode="auto">
            <a:xfrm>
              <a:off x="7327551" y="439403"/>
              <a:ext cx="328724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71713" name="Text Box 6"/>
            <p:cNvSpPr txBox="1">
              <a:spLocks noChangeArrowheads="1"/>
            </p:cNvSpPr>
            <p:nvPr/>
          </p:nvSpPr>
          <p:spPr bwMode="auto">
            <a:xfrm>
              <a:off x="6755859" y="1087103"/>
              <a:ext cx="1494341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  =      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71714" name="Text Box 7"/>
            <p:cNvSpPr txBox="1">
              <a:spLocks noChangeArrowheads="1"/>
            </p:cNvSpPr>
            <p:nvPr/>
          </p:nvSpPr>
          <p:spPr bwMode="auto">
            <a:xfrm>
              <a:off x="6444604" y="1757028"/>
              <a:ext cx="14467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  <a:r>
                <a:rPr kumimoji="1" lang="zh-CN" altLang="en-US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   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      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71715" name="Text Box 8"/>
            <p:cNvSpPr txBox="1">
              <a:spLocks noChangeArrowheads="1"/>
            </p:cNvSpPr>
            <p:nvPr/>
          </p:nvSpPr>
          <p:spPr bwMode="auto">
            <a:xfrm>
              <a:off x="6939100" y="2426587"/>
              <a:ext cx="525639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 </a:t>
              </a:r>
            </a:p>
          </p:txBody>
        </p:sp>
        <p:sp>
          <p:nvSpPr>
            <p:cNvPr id="71716" name="Line 10"/>
            <p:cNvSpPr>
              <a:spLocks noChangeShapeType="1"/>
            </p:cNvSpPr>
            <p:nvPr/>
          </p:nvSpPr>
          <p:spPr bwMode="auto">
            <a:xfrm flipH="1">
              <a:off x="7503824" y="812465"/>
              <a:ext cx="0" cy="3079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17" name="Line 11"/>
            <p:cNvSpPr>
              <a:spLocks noChangeShapeType="1"/>
            </p:cNvSpPr>
            <p:nvPr/>
          </p:nvSpPr>
          <p:spPr bwMode="auto">
            <a:xfrm>
              <a:off x="7227506" y="2147553"/>
              <a:ext cx="0" cy="2809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18" name="Line 12"/>
            <p:cNvSpPr>
              <a:spLocks noChangeShapeType="1"/>
            </p:cNvSpPr>
            <p:nvPr/>
          </p:nvSpPr>
          <p:spPr bwMode="auto">
            <a:xfrm flipH="1">
              <a:off x="6995653" y="806115"/>
              <a:ext cx="508171" cy="2778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19" name="Line 13"/>
            <p:cNvSpPr>
              <a:spLocks noChangeShapeType="1"/>
            </p:cNvSpPr>
            <p:nvPr/>
          </p:nvSpPr>
          <p:spPr bwMode="auto">
            <a:xfrm>
              <a:off x="7503824" y="812465"/>
              <a:ext cx="481174" cy="2714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20" name="Line 12"/>
            <p:cNvSpPr>
              <a:spLocks noChangeShapeType="1"/>
            </p:cNvSpPr>
            <p:nvPr/>
          </p:nvSpPr>
          <p:spPr bwMode="auto">
            <a:xfrm flipH="1">
              <a:off x="6652637" y="1480803"/>
              <a:ext cx="262025" cy="2873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21" name="Line 13"/>
            <p:cNvSpPr>
              <a:spLocks noChangeShapeType="1"/>
            </p:cNvSpPr>
            <p:nvPr/>
          </p:nvSpPr>
          <p:spPr bwMode="auto">
            <a:xfrm>
              <a:off x="6914662" y="1487153"/>
              <a:ext cx="325548" cy="2809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22" name="Text Box 8"/>
            <p:cNvSpPr txBox="1">
              <a:spLocks noChangeArrowheads="1"/>
            </p:cNvSpPr>
            <p:nvPr/>
          </p:nvSpPr>
          <p:spPr bwMode="auto">
            <a:xfrm>
              <a:off x="7808727" y="1714537"/>
              <a:ext cx="524052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 </a:t>
              </a:r>
            </a:p>
          </p:txBody>
        </p:sp>
        <p:sp>
          <p:nvSpPr>
            <p:cNvPr id="71723" name="Line 11"/>
            <p:cNvSpPr>
              <a:spLocks noChangeShapeType="1"/>
            </p:cNvSpPr>
            <p:nvPr/>
          </p:nvSpPr>
          <p:spPr bwMode="auto">
            <a:xfrm>
              <a:off x="8070752" y="1433550"/>
              <a:ext cx="0" cy="2809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0740" name="矩形 4"/>
          <p:cNvSpPr>
            <a:spLocks noChangeArrowheads="1"/>
          </p:cNvSpPr>
          <p:nvPr/>
        </p:nvSpPr>
        <p:spPr bwMode="auto">
          <a:xfrm>
            <a:off x="6732588" y="1939925"/>
            <a:ext cx="3000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$</a:t>
            </a:r>
            <a:endParaRPr lang="zh-CN" altLang="en-US">
              <a:solidFill>
                <a:srgbClr val="000000"/>
              </a:solidFill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下弧形箭头 2"/>
          <p:cNvSpPr/>
          <p:nvPr/>
        </p:nvSpPr>
        <p:spPr bwMode="auto">
          <a:xfrm rot="17100000">
            <a:off x="6403976" y="3068637"/>
            <a:ext cx="730250" cy="288925"/>
          </a:xfrm>
          <a:prstGeom prst="curvedUp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4" name="下弧形箭头 33"/>
          <p:cNvSpPr/>
          <p:nvPr/>
        </p:nvSpPr>
        <p:spPr bwMode="auto">
          <a:xfrm rot="14820000">
            <a:off x="6884194" y="2202656"/>
            <a:ext cx="730250" cy="287338"/>
          </a:xfrm>
          <a:prstGeom prst="curvedUp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线形标注 1(无边框) 5"/>
          <p:cNvSpPr/>
          <p:nvPr/>
        </p:nvSpPr>
        <p:spPr>
          <a:xfrm>
            <a:off x="7512050" y="2762250"/>
            <a:ext cx="1381125" cy="381000"/>
          </a:xfrm>
          <a:prstGeom prst="callout1">
            <a:avLst>
              <a:gd name="adj1" fmla="val 58750"/>
              <a:gd name="adj2" fmla="val 7545"/>
              <a:gd name="adj3" fmla="val 17116"/>
              <a:gd name="adj4" fmla="val -20186"/>
            </a:avLst>
          </a:prstGeom>
          <a:noFill/>
          <a:ln>
            <a:solidFill>
              <a:srgbClr val="FF0000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R→L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 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, $</a:t>
            </a:r>
          </a:p>
        </p:txBody>
      </p:sp>
      <p:sp>
        <p:nvSpPr>
          <p:cNvPr id="26" name="线形标注 1(无边框) 25"/>
          <p:cNvSpPr/>
          <p:nvPr/>
        </p:nvSpPr>
        <p:spPr>
          <a:xfrm>
            <a:off x="6664325" y="3509963"/>
            <a:ext cx="1438275" cy="381000"/>
          </a:xfrm>
          <a:prstGeom prst="callout1">
            <a:avLst>
              <a:gd name="adj1" fmla="val 58750"/>
              <a:gd name="adj2" fmla="val 7545"/>
              <a:gd name="adj3" fmla="val 17116"/>
              <a:gd name="adj4" fmla="val -20186"/>
            </a:avLst>
          </a:prstGeom>
          <a:noFill/>
          <a:ln>
            <a:solidFill>
              <a:srgbClr val="FF0000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R→L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 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, =</a:t>
            </a:r>
          </a:p>
        </p:txBody>
      </p:sp>
      <p:sp>
        <p:nvSpPr>
          <p:cNvPr id="27" name="线形标注 1(无边框) 26"/>
          <p:cNvSpPr/>
          <p:nvPr/>
        </p:nvSpPr>
        <p:spPr>
          <a:xfrm>
            <a:off x="4672013" y="1835150"/>
            <a:ext cx="1498600" cy="381000"/>
          </a:xfrm>
          <a:prstGeom prst="callout1">
            <a:avLst>
              <a:gd name="adj1" fmla="val 52596"/>
              <a:gd name="adj2" fmla="val 91473"/>
              <a:gd name="adj3" fmla="val 81816"/>
              <a:gd name="adj4" fmla="val 115987"/>
            </a:avLst>
          </a:prstGeom>
          <a:noFill/>
          <a:ln>
            <a:solidFill>
              <a:srgbClr val="FF0000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S→L=R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 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, $</a:t>
            </a:r>
          </a:p>
        </p:txBody>
      </p:sp>
      <p:sp>
        <p:nvSpPr>
          <p:cNvPr id="28" name="线形标注 1(无边框) 27"/>
          <p:cNvSpPr/>
          <p:nvPr/>
        </p:nvSpPr>
        <p:spPr>
          <a:xfrm>
            <a:off x="4152900" y="2327275"/>
            <a:ext cx="1497013" cy="381000"/>
          </a:xfrm>
          <a:prstGeom prst="callout1">
            <a:avLst>
              <a:gd name="adj1" fmla="val 52596"/>
              <a:gd name="adj2" fmla="val 91473"/>
              <a:gd name="adj3" fmla="val 101542"/>
              <a:gd name="adj4" fmla="val 112642"/>
            </a:avLst>
          </a:prstGeom>
          <a:noFill/>
          <a:ln>
            <a:solidFill>
              <a:srgbClr val="FF0000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L→*R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 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, =</a:t>
            </a:r>
          </a:p>
        </p:txBody>
      </p:sp>
      <p:graphicFrame>
        <p:nvGraphicFramePr>
          <p:cNvPr id="29" name="Group 18"/>
          <p:cNvGraphicFramePr>
            <a:graphicFrameLocks noGrp="1"/>
          </p:cNvGraphicFramePr>
          <p:nvPr/>
        </p:nvGraphicFramePr>
        <p:xfrm>
          <a:off x="2855913" y="2786063"/>
          <a:ext cx="2089150" cy="1493836"/>
        </p:xfrm>
        <a:graphic>
          <a:graphicData uri="http://schemas.openxmlformats.org/drawingml/2006/table">
            <a:tbl>
              <a:tblPr/>
              <a:tblGrid>
                <a:gridCol w="360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45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L="91546" marR="91546" marT="34320" marB="3432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FOLLOW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 )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91546" marR="91546" marT="34320" marB="3432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45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</a:p>
                  </a:txBody>
                  <a:tcPr marL="91546" marR="91546" marT="34320" marB="3432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 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91546" marR="91546" marT="34320" marB="3432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45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L="91546" marR="91546" marT="34320" marB="3432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=, 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91546" marR="91546" marT="34320" marB="3432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45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</a:p>
                  </a:txBody>
                  <a:tcPr marL="91546" marR="91546" marT="34320" marB="3432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=, 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91546" marR="91546" marT="34320" marB="3432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1711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10B414B-28D0-4130-9817-3C627879CE0B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42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00743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07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07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7" grpId="0" animBg="1"/>
      <p:bldP spid="30740" grpId="0"/>
      <p:bldP spid="3" grpId="0" animBg="1"/>
      <p:bldP spid="34" grpId="0" animBg="1"/>
      <p:bldP spid="6" grpId="0" animBg="1"/>
      <p:bldP spid="26" grpId="0" animBg="1"/>
      <p:bldP spid="27" grpId="0" animBg="1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内容占位符 2"/>
          <p:cNvSpPr>
            <a:spLocks noGrp="1" noChangeArrowheads="1"/>
          </p:cNvSpPr>
          <p:nvPr>
            <p:ph idx="1"/>
          </p:nvPr>
        </p:nvSpPr>
        <p:spPr>
          <a:xfrm>
            <a:off x="88900" y="684213"/>
            <a:ext cx="8966200" cy="3673475"/>
          </a:xfrm>
        </p:spPr>
        <p:txBody>
          <a:bodyPr/>
          <a:lstStyle/>
          <a:p>
            <a:pPr eaLnBrk="1" hangingPunct="1">
              <a:lnSpc>
                <a:spcPts val="35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将一般形式为</a:t>
            </a:r>
            <a:r>
              <a:rPr lang="en-US" altLang="zh-CN" sz="25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ea typeface="宋体" pitchFamily="2" charset="-122"/>
              </a:rPr>
              <a:t>[</a:t>
            </a:r>
            <a:r>
              <a:rPr lang="en-US" altLang="zh-CN" sz="2500" b="1" i="1" dirty="0" err="1">
                <a:solidFill>
                  <a:schemeClr val="tx1"/>
                </a:solidFill>
                <a:ea typeface="宋体" pitchFamily="2" charset="-122"/>
              </a:rPr>
              <a:t>A</a:t>
            </a:r>
            <a:r>
              <a:rPr lang="en-US" altLang="zh-CN" sz="2500" b="1" dirty="0" err="1">
                <a:solidFill>
                  <a:schemeClr val="tx1"/>
                </a:solidFill>
                <a:ea typeface="宋体" pitchFamily="2" charset="-122"/>
              </a:rPr>
              <a:t>→</a:t>
            </a:r>
            <a:r>
              <a:rPr lang="en-US" altLang="zh-CN" sz="2500" b="1" i="1" dirty="0" err="1">
                <a:solidFill>
                  <a:schemeClr val="tx1"/>
                </a:solidFill>
                <a:ea typeface="宋体" pitchFamily="2" charset="-122"/>
              </a:rPr>
              <a:t>α</a:t>
            </a:r>
            <a:r>
              <a:rPr lang="en-US" altLang="zh-CN" sz="2800" b="1" i="1" dirty="0" err="1">
                <a:solidFill>
                  <a:srgbClr val="000000"/>
                </a:solidFill>
                <a:ea typeface="宋体" pitchFamily="2" charset="-122"/>
                <a:cs typeface="Times New Roman" pitchFamily="18" charset="0"/>
              </a:rPr>
              <a:t>·</a:t>
            </a:r>
            <a:r>
              <a:rPr lang="en-US" altLang="zh-CN" sz="2500" b="1" i="1" dirty="0" err="1">
                <a:solidFill>
                  <a:schemeClr val="tx1"/>
                </a:solidFill>
                <a:ea typeface="宋体" pitchFamily="2" charset="-122"/>
              </a:rPr>
              <a:t>β</a:t>
            </a:r>
            <a:r>
              <a:rPr lang="en-US" altLang="zh-CN" sz="2500" b="1" dirty="0">
                <a:solidFill>
                  <a:schemeClr val="tx1"/>
                </a:solidFill>
                <a:ea typeface="宋体" pitchFamily="2" charset="-122"/>
              </a:rPr>
              <a:t>, a]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的项称为</a:t>
            </a:r>
            <a:r>
              <a:rPr lang="en-US" altLang="zh-CN" sz="25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2500" b="1" i="1" dirty="0">
                <a:solidFill>
                  <a:srgbClr val="FF0000"/>
                </a:solidFill>
                <a:ea typeface="宋体" pitchFamily="2" charset="-122"/>
              </a:rPr>
              <a:t>LR</a:t>
            </a:r>
            <a:r>
              <a:rPr lang="en-US" altLang="zh-CN" sz="2500" b="1" dirty="0">
                <a:solidFill>
                  <a:srgbClr val="FF0000"/>
                </a:solidFill>
                <a:ea typeface="宋体" pitchFamily="2" charset="-122"/>
              </a:rPr>
              <a:t>(1)</a:t>
            </a:r>
            <a:r>
              <a:rPr lang="en-US" altLang="zh-CN" sz="2500" b="1" i="1" dirty="0">
                <a:solidFill>
                  <a:schemeClr val="tx1"/>
                </a:solidFill>
                <a:ea typeface="宋体" pitchFamily="2" charset="-122"/>
              </a:rPr>
              <a:t> </a:t>
            </a:r>
            <a:r>
              <a:rPr lang="zh-CN" altLang="en-US" sz="2500" b="1" dirty="0">
                <a:solidFill>
                  <a:srgbClr val="FF0000"/>
                </a:solidFill>
                <a:latin typeface="+mn-ea"/>
              </a:rPr>
              <a:t>项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，其中</a:t>
            </a:r>
            <a:r>
              <a:rPr lang="en-US" altLang="zh-CN" sz="2500" b="1" i="1" dirty="0" err="1">
                <a:solidFill>
                  <a:schemeClr val="tx1"/>
                </a:solidFill>
                <a:ea typeface="宋体" pitchFamily="2" charset="-122"/>
              </a:rPr>
              <a:t>A</a:t>
            </a:r>
            <a:r>
              <a:rPr lang="en-US" altLang="zh-CN" sz="2500" b="1" dirty="0" err="1">
                <a:solidFill>
                  <a:schemeClr val="tx1"/>
                </a:solidFill>
                <a:ea typeface="宋体" pitchFamily="2" charset="-122"/>
              </a:rPr>
              <a:t>→</a:t>
            </a:r>
            <a:r>
              <a:rPr lang="en-US" altLang="zh-CN" sz="2500" b="1" i="1" dirty="0" err="1">
                <a:solidFill>
                  <a:schemeClr val="tx1"/>
                </a:solidFill>
                <a:ea typeface="宋体" pitchFamily="2" charset="-122"/>
              </a:rPr>
              <a:t>αβ</a:t>
            </a:r>
            <a:r>
              <a:rPr lang="en-US" altLang="zh-CN" sz="2500" b="1" dirty="0">
                <a:solidFill>
                  <a:schemeClr val="tx1"/>
                </a:solidFill>
                <a:ea typeface="宋体" pitchFamily="2" charset="-122"/>
              </a:rPr>
              <a:t> 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是一个产生式，</a:t>
            </a:r>
            <a:r>
              <a:rPr lang="en-US" altLang="zh-CN" sz="2500" b="1" dirty="0">
                <a:solidFill>
                  <a:srgbClr val="2D83F4"/>
                </a:solidFill>
                <a:ea typeface="宋体" pitchFamily="2" charset="-122"/>
              </a:rPr>
              <a:t>a</a:t>
            </a:r>
            <a:r>
              <a:rPr lang="en-US" altLang="zh-CN" sz="2500" b="1" i="1" dirty="0">
                <a:solidFill>
                  <a:srgbClr val="2D83F4"/>
                </a:solidFill>
                <a:ea typeface="宋体" pitchFamily="2" charset="-122"/>
              </a:rPr>
              <a:t> 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是一个</a:t>
            </a:r>
            <a:r>
              <a:rPr lang="zh-CN" altLang="en-US" sz="2500" b="1" dirty="0">
                <a:solidFill>
                  <a:srgbClr val="2D83F4"/>
                </a:solidFill>
                <a:latin typeface="+mn-ea"/>
              </a:rPr>
              <a:t>终结符</a:t>
            </a:r>
            <a:r>
              <a:rPr lang="en-US" altLang="zh-CN" sz="25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这里将</a:t>
            </a:r>
            <a:r>
              <a:rPr lang="en-US" altLang="zh-CN" sz="2500" b="1" dirty="0">
                <a:solidFill>
                  <a:srgbClr val="2D83F4"/>
                </a:solidFill>
                <a:latin typeface="+mn-ea"/>
              </a:rPr>
              <a:t>$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视为一个特殊的终结符</a:t>
            </a:r>
            <a:r>
              <a:rPr lang="en-US" altLang="zh-CN" sz="2500" b="1" dirty="0">
                <a:solidFill>
                  <a:schemeClr val="tx1"/>
                </a:solidFill>
                <a:latin typeface="+mn-ea"/>
              </a:rPr>
              <a:t>)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它表示在当前状态下，</a:t>
            </a:r>
            <a:r>
              <a:rPr lang="en-US" altLang="zh-CN" sz="2500" b="1" i="1" dirty="0">
                <a:solidFill>
                  <a:schemeClr val="tx1"/>
                </a:solidFill>
                <a:ea typeface="宋体" pitchFamily="2" charset="-122"/>
              </a:rPr>
              <a:t>A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后面必须紧跟的终结符，称为该项的</a:t>
            </a:r>
            <a:r>
              <a:rPr lang="zh-CN" altLang="en-US" sz="2500" b="1" dirty="0">
                <a:solidFill>
                  <a:srgbClr val="FF0000"/>
                </a:solidFill>
                <a:latin typeface="+mn-ea"/>
              </a:rPr>
              <a:t>展望符</a:t>
            </a:r>
            <a:r>
              <a:rPr lang="en-US" altLang="zh-CN" sz="2000" b="1" dirty="0">
                <a:solidFill>
                  <a:schemeClr val="tx1"/>
                </a:solidFill>
                <a:ea typeface="宋体" pitchFamily="2" charset="-122"/>
              </a:rPr>
              <a:t>(</a:t>
            </a:r>
            <a:r>
              <a:rPr lang="en-US" altLang="zh-CN" sz="2000" b="1" i="1" dirty="0" err="1">
                <a:solidFill>
                  <a:schemeClr val="tx1"/>
                </a:solidFill>
                <a:ea typeface="宋体" pitchFamily="2" charset="-122"/>
              </a:rPr>
              <a:t>lookahead</a:t>
            </a:r>
            <a:r>
              <a:rPr lang="en-US" altLang="zh-CN" sz="2000" b="1" dirty="0">
                <a:solidFill>
                  <a:schemeClr val="tx1"/>
                </a:solidFill>
                <a:ea typeface="宋体" pitchFamily="2" charset="-122"/>
              </a:rPr>
              <a:t>)</a:t>
            </a:r>
            <a:endParaRPr lang="en-US" altLang="zh-CN" b="1" dirty="0">
              <a:solidFill>
                <a:schemeClr val="tx1"/>
              </a:solidFill>
              <a:ea typeface="宋体" pitchFamily="2" charset="-122"/>
            </a:endParaRPr>
          </a:p>
          <a:p>
            <a:pPr lvl="1" eaLnBrk="1" hangingPunct="1">
              <a:lnSpc>
                <a:spcPts val="35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altLang="zh-CN" b="1" i="1" dirty="0">
                <a:solidFill>
                  <a:schemeClr val="tx1"/>
                </a:solidFill>
                <a:ea typeface="宋体" pitchFamily="2" charset="-122"/>
              </a:rPr>
              <a:t>LR</a:t>
            </a:r>
            <a:r>
              <a:rPr lang="en-US" altLang="zh-CN" b="1" dirty="0">
                <a:solidFill>
                  <a:schemeClr val="tx1"/>
                </a:solidFill>
                <a:ea typeface="宋体" pitchFamily="2" charset="-122"/>
              </a:rPr>
              <a:t>(1) 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中的</a:t>
            </a:r>
            <a:r>
              <a:rPr lang="en-US" altLang="zh-CN" b="1" dirty="0">
                <a:solidFill>
                  <a:schemeClr val="tx1"/>
                </a:solidFill>
                <a:ea typeface="宋体" pitchFamily="2" charset="-122"/>
              </a:rPr>
              <a:t>1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指的是项的第二个分量的长度</a:t>
            </a:r>
            <a:endParaRPr lang="en-US" altLang="zh-CN" b="1" dirty="0">
              <a:solidFill>
                <a:schemeClr val="tx1"/>
              </a:solidFill>
              <a:latin typeface="+mn-ea"/>
            </a:endParaRPr>
          </a:p>
          <a:p>
            <a:pPr lvl="1" eaLnBrk="1" hangingPunct="1">
              <a:lnSpc>
                <a:spcPts val="35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latin typeface="+mn-ea"/>
              </a:rPr>
              <a:t>在形如</a:t>
            </a:r>
            <a:r>
              <a:rPr lang="en-US" altLang="zh-CN" b="1" dirty="0">
                <a:solidFill>
                  <a:schemeClr val="tx1"/>
                </a:solidFill>
                <a:ea typeface="宋体" pitchFamily="2" charset="-122"/>
              </a:rPr>
              <a:t>[</a:t>
            </a:r>
            <a:r>
              <a:rPr lang="en-US" altLang="zh-CN" b="1" i="1" dirty="0" err="1">
                <a:solidFill>
                  <a:schemeClr val="tx1"/>
                </a:solidFill>
                <a:ea typeface="宋体" pitchFamily="2" charset="-122"/>
              </a:rPr>
              <a:t>A</a:t>
            </a:r>
            <a:r>
              <a:rPr lang="en-US" altLang="zh-CN" b="1" dirty="0" err="1">
                <a:solidFill>
                  <a:schemeClr val="tx1"/>
                </a:solidFill>
                <a:ea typeface="宋体" pitchFamily="2" charset="-122"/>
              </a:rPr>
              <a:t>→</a:t>
            </a:r>
            <a:r>
              <a:rPr lang="en-US" altLang="zh-CN" b="1" i="1" dirty="0" err="1">
                <a:solidFill>
                  <a:schemeClr val="tx1"/>
                </a:solidFill>
                <a:ea typeface="宋体" pitchFamily="2" charset="-122"/>
              </a:rPr>
              <a:t>α</a:t>
            </a:r>
            <a:r>
              <a:rPr lang="en-US" altLang="zh-CN" sz="2400" b="1" i="1" dirty="0" err="1">
                <a:solidFill>
                  <a:srgbClr val="000000"/>
                </a:solidFill>
                <a:ea typeface="宋体" pitchFamily="2" charset="-122"/>
              </a:rPr>
              <a:t>·</a:t>
            </a:r>
            <a:r>
              <a:rPr lang="en-US" altLang="zh-CN" b="1" i="1" dirty="0" err="1">
                <a:solidFill>
                  <a:schemeClr val="tx1"/>
                </a:solidFill>
                <a:ea typeface="宋体" pitchFamily="2" charset="-122"/>
              </a:rPr>
              <a:t>β</a:t>
            </a:r>
            <a:r>
              <a:rPr lang="en-US" altLang="zh-CN" b="1" dirty="0">
                <a:solidFill>
                  <a:schemeClr val="tx1"/>
                </a:solidFill>
                <a:ea typeface="宋体" pitchFamily="2" charset="-122"/>
              </a:rPr>
              <a:t>, a]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且</a:t>
            </a:r>
            <a:r>
              <a:rPr lang="en-US" altLang="zh-CN" b="1" i="1" dirty="0">
                <a:solidFill>
                  <a:srgbClr val="2D83F4"/>
                </a:solidFill>
                <a:ea typeface="宋体" pitchFamily="2" charset="-122"/>
              </a:rPr>
              <a:t>β</a:t>
            </a:r>
            <a:r>
              <a:rPr lang="en-US" altLang="zh-CN" b="1" dirty="0">
                <a:solidFill>
                  <a:srgbClr val="2D83F4"/>
                </a:solidFill>
                <a:ea typeface="宋体" pitchFamily="2" charset="-122"/>
              </a:rPr>
              <a:t> ≠ ε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的项中，展望符</a:t>
            </a:r>
            <a:r>
              <a:rPr lang="en-US" altLang="zh-CN" b="1" dirty="0">
                <a:solidFill>
                  <a:schemeClr val="tx1"/>
                </a:solidFill>
                <a:ea typeface="宋体" pitchFamily="2" charset="-122"/>
              </a:rPr>
              <a:t>a</a:t>
            </a:r>
            <a:r>
              <a:rPr lang="zh-CN" altLang="en-US" b="1" dirty="0">
                <a:solidFill>
                  <a:srgbClr val="2D83F4"/>
                </a:solidFill>
                <a:latin typeface="+mn-ea"/>
              </a:rPr>
              <a:t>没有任何作用</a:t>
            </a:r>
            <a:endParaRPr lang="en-US" altLang="zh-CN" b="1" dirty="0">
              <a:solidFill>
                <a:srgbClr val="2D83F4"/>
              </a:solidFill>
              <a:latin typeface="+mn-ea"/>
            </a:endParaRPr>
          </a:p>
          <a:p>
            <a:pPr lvl="1" eaLnBrk="1" hangingPunct="1">
              <a:lnSpc>
                <a:spcPts val="35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latin typeface="+mn-ea"/>
              </a:rPr>
              <a:t>但是一个形如</a:t>
            </a:r>
            <a:r>
              <a:rPr lang="en-US" altLang="zh-CN" b="1" dirty="0">
                <a:solidFill>
                  <a:schemeClr val="tx1"/>
                </a:solidFill>
                <a:ea typeface="宋体" pitchFamily="2" charset="-122"/>
              </a:rPr>
              <a:t>[</a:t>
            </a:r>
            <a:r>
              <a:rPr lang="en-US" altLang="zh-CN" b="1" i="1" dirty="0" err="1">
                <a:solidFill>
                  <a:schemeClr val="tx1"/>
                </a:solidFill>
                <a:ea typeface="宋体" pitchFamily="2" charset="-122"/>
              </a:rPr>
              <a:t>A</a:t>
            </a:r>
            <a:r>
              <a:rPr lang="en-US" altLang="zh-CN" b="1" dirty="0" err="1">
                <a:solidFill>
                  <a:schemeClr val="tx1"/>
                </a:solidFill>
                <a:ea typeface="宋体" pitchFamily="2" charset="-122"/>
              </a:rPr>
              <a:t>→</a:t>
            </a:r>
            <a:r>
              <a:rPr lang="en-US" altLang="zh-CN" b="1" i="1" dirty="0" err="1">
                <a:solidFill>
                  <a:schemeClr val="tx1"/>
                </a:solidFill>
                <a:ea typeface="宋体" pitchFamily="2" charset="-122"/>
              </a:rPr>
              <a:t>α</a:t>
            </a:r>
            <a:r>
              <a:rPr lang="en-US" altLang="zh-CN" sz="2400" b="1" i="1" dirty="0">
                <a:solidFill>
                  <a:srgbClr val="000000"/>
                </a:solidFill>
                <a:ea typeface="宋体" pitchFamily="2" charset="-122"/>
              </a:rPr>
              <a:t>·</a:t>
            </a:r>
            <a:r>
              <a:rPr lang="en-US" altLang="zh-CN" b="1" dirty="0">
                <a:solidFill>
                  <a:schemeClr val="tx1"/>
                </a:solidFill>
                <a:ea typeface="宋体" pitchFamily="2" charset="-122"/>
              </a:rPr>
              <a:t>, a]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的项在</a:t>
            </a:r>
            <a:r>
              <a:rPr lang="zh-CN" altLang="en-US" b="1" dirty="0">
                <a:solidFill>
                  <a:srgbClr val="2D83F4"/>
                </a:solidFill>
                <a:latin typeface="+mn-ea"/>
              </a:rPr>
              <a:t>只有在下一个输入符号等于</a:t>
            </a:r>
            <a:r>
              <a:rPr lang="en-US" altLang="zh-CN" b="1" dirty="0">
                <a:solidFill>
                  <a:srgbClr val="2D83F4"/>
                </a:solidFill>
                <a:ea typeface="宋体" pitchFamily="2" charset="-122"/>
              </a:rPr>
              <a:t>a</a:t>
            </a:r>
            <a:r>
              <a:rPr lang="zh-CN" altLang="en-US" b="1" dirty="0">
                <a:solidFill>
                  <a:srgbClr val="2D83F4"/>
                </a:solidFill>
                <a:latin typeface="+mn-ea"/>
              </a:rPr>
              <a:t>时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才可以按照</a:t>
            </a:r>
            <a:r>
              <a:rPr lang="en-US" altLang="zh-CN" b="1" i="1" dirty="0" err="1">
                <a:solidFill>
                  <a:schemeClr val="tx1"/>
                </a:solidFill>
                <a:ea typeface="宋体" pitchFamily="2" charset="-122"/>
              </a:rPr>
              <a:t>A</a:t>
            </a:r>
            <a:r>
              <a:rPr lang="en-US" altLang="zh-CN" b="1" dirty="0" err="1">
                <a:solidFill>
                  <a:schemeClr val="tx1"/>
                </a:solidFill>
                <a:ea typeface="宋体" pitchFamily="2" charset="-122"/>
              </a:rPr>
              <a:t>→</a:t>
            </a:r>
            <a:r>
              <a:rPr lang="en-US" altLang="zh-CN" b="1" i="1" dirty="0" err="1">
                <a:solidFill>
                  <a:schemeClr val="tx1"/>
                </a:solidFill>
                <a:ea typeface="宋体" pitchFamily="2" charset="-122"/>
              </a:rPr>
              <a:t>α</a:t>
            </a:r>
            <a:r>
              <a:rPr lang="en-US" altLang="zh-CN" b="1" dirty="0">
                <a:solidFill>
                  <a:schemeClr val="tx1"/>
                </a:solidFill>
                <a:ea typeface="宋体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进行归约</a:t>
            </a:r>
            <a:endParaRPr lang="en-US" altLang="zh-CN" b="1" dirty="0">
              <a:solidFill>
                <a:schemeClr val="tx1"/>
              </a:solidFill>
              <a:latin typeface="+mn-ea"/>
            </a:endParaRPr>
          </a:p>
          <a:p>
            <a:pPr lvl="2" eaLnBrk="1" hangingPunct="1">
              <a:lnSpc>
                <a:spcPts val="35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latin typeface="+mn-ea"/>
              </a:rPr>
              <a:t>这样的</a:t>
            </a:r>
            <a:r>
              <a:rPr lang="en-US" altLang="zh-CN" b="1" dirty="0">
                <a:solidFill>
                  <a:srgbClr val="2D83F4"/>
                </a:solidFill>
                <a:ea typeface="宋体" pitchFamily="2" charset="-122"/>
              </a:rPr>
              <a:t>a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的集合总是</a:t>
            </a:r>
            <a:r>
              <a:rPr lang="en-US" altLang="zh-CN" b="1" i="1" dirty="0">
                <a:solidFill>
                  <a:schemeClr val="tx1"/>
                </a:solidFill>
                <a:ea typeface="宋体" pitchFamily="2" charset="-122"/>
              </a:rPr>
              <a:t>FOLLOW</a:t>
            </a:r>
            <a:r>
              <a:rPr lang="en-US" altLang="zh-CN" b="1" dirty="0">
                <a:solidFill>
                  <a:schemeClr val="tx1"/>
                </a:solidFill>
                <a:ea typeface="宋体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itchFamily="2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宋体" pitchFamily="2" charset="-122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的</a:t>
            </a:r>
            <a:r>
              <a:rPr lang="zh-CN" altLang="en-US" b="1" dirty="0">
                <a:solidFill>
                  <a:srgbClr val="2D83F4"/>
                </a:solidFill>
                <a:latin typeface="+mn-ea"/>
              </a:rPr>
              <a:t>子集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，而且它通常是一个真子集</a:t>
            </a:r>
          </a:p>
        </p:txBody>
      </p:sp>
      <p:sp>
        <p:nvSpPr>
          <p:cNvPr id="73731" name="标题 1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规范</a:t>
            </a:r>
            <a:r>
              <a:rPr lang="en-US" altLang="zh-CN" sz="3000" i="1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LR</a:t>
            </a:r>
            <a:r>
              <a:rPr lang="en-US" altLang="zh-CN" sz="300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(1)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</a:p>
        </p:txBody>
      </p:sp>
      <p:sp>
        <p:nvSpPr>
          <p:cNvPr id="73732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E647FAF-DC7C-4482-9631-CA5132337A3D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43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988799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4067175" y="2565400"/>
            <a:ext cx="4937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？</a:t>
            </a:r>
          </a:p>
        </p:txBody>
      </p:sp>
      <p:sp>
        <p:nvSpPr>
          <p:cNvPr id="75779" name="Rectangle 16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等价</a:t>
            </a:r>
            <a:r>
              <a:rPr lang="en-US" altLang="zh-CN" sz="3000" i="1">
                <a:solidFill>
                  <a:schemeClr val="tx1"/>
                </a:solidFill>
                <a:ea typeface="黑体" panose="02010609060101010101" pitchFamily="49" charset="-122"/>
              </a:rPr>
              <a:t>LR</a:t>
            </a:r>
            <a:r>
              <a:rPr lang="en-US" altLang="zh-CN" sz="3000">
                <a:solidFill>
                  <a:schemeClr val="tx1"/>
                </a:solidFill>
                <a:ea typeface="黑体" panose="02010609060101010101" pitchFamily="49" charset="-122"/>
              </a:rPr>
              <a:t>(1)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</a:p>
        </p:txBody>
      </p:sp>
      <p:sp>
        <p:nvSpPr>
          <p:cNvPr id="38916" name="矩形 2"/>
          <p:cNvSpPr>
            <a:spLocks noChangeArrowheads="1"/>
          </p:cNvSpPr>
          <p:nvPr/>
        </p:nvSpPr>
        <p:spPr bwMode="auto">
          <a:xfrm>
            <a:off x="3246438" y="960438"/>
            <a:ext cx="20589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Bβ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5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sz="2500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上下箭头 7"/>
          <p:cNvSpPr/>
          <p:nvPr/>
        </p:nvSpPr>
        <p:spPr>
          <a:xfrm>
            <a:off x="3998913" y="1482725"/>
            <a:ext cx="576262" cy="947738"/>
          </a:xfrm>
          <a:prstGeom prst="upDownArrow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240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6"/>
          <p:cNvSpPr>
            <a:spLocks noChangeArrowheads="1"/>
          </p:cNvSpPr>
          <p:nvPr/>
        </p:nvSpPr>
        <p:spPr bwMode="auto">
          <a:xfrm>
            <a:off x="2630488" y="1708150"/>
            <a:ext cx="1498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l-GR" altLang="zh-CN" sz="25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l-GR" altLang="zh-CN" sz="25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∈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zh-CN" altLang="en-US" sz="2500" b="1" i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783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ACFC4DF-27CB-4912-A5B3-4595AD344532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44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794323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8" grpId="0" animBg="1"/>
      <p:bldP spid="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16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等价</a:t>
            </a:r>
            <a:r>
              <a:rPr lang="en-US" altLang="zh-CN" sz="3000" i="1">
                <a:solidFill>
                  <a:schemeClr val="tx1"/>
                </a:solidFill>
                <a:ea typeface="黑体" panose="02010609060101010101" pitchFamily="49" charset="-122"/>
              </a:rPr>
              <a:t>LR</a:t>
            </a:r>
            <a:r>
              <a:rPr lang="en-US" altLang="zh-CN" sz="3000">
                <a:solidFill>
                  <a:schemeClr val="tx1"/>
                </a:solidFill>
                <a:ea typeface="黑体" panose="02010609060101010101" pitchFamily="49" charset="-122"/>
              </a:rPr>
              <a:t>(1)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</a:p>
        </p:txBody>
      </p:sp>
      <p:sp>
        <p:nvSpPr>
          <p:cNvPr id="121870" name="矩形 2"/>
          <p:cNvSpPr>
            <a:spLocks noChangeArrowheads="1"/>
          </p:cNvSpPr>
          <p:nvPr/>
        </p:nvSpPr>
        <p:spPr bwMode="auto">
          <a:xfrm>
            <a:off x="1500188" y="3511550"/>
            <a:ext cx="5892800" cy="989013"/>
          </a:xfrm>
          <a:prstGeom prst="rect">
            <a:avLst/>
          </a:prstGeom>
          <a:solidFill>
            <a:srgbClr val="B5CEED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lnSpc>
                <a:spcPts val="35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5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当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 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500" b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r>
              <a:rPr lang="zh-CN" altLang="en-US" sz="25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时，此时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</a:rPr>
              <a:t>=a</a:t>
            </a:r>
            <a:r>
              <a:rPr lang="zh-CN" altLang="en-US" sz="25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叫</a:t>
            </a:r>
            <a:r>
              <a:rPr lang="zh-CN" altLang="en-US" sz="25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继承的</a:t>
            </a:r>
            <a:r>
              <a:rPr lang="zh-CN" altLang="en-US" sz="25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后继符，</a:t>
            </a:r>
          </a:p>
          <a:p>
            <a:pPr eaLnBrk="1" hangingPunct="1">
              <a:lnSpc>
                <a:spcPts val="35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5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否则叫</a:t>
            </a:r>
            <a:r>
              <a:rPr lang="zh-CN" altLang="en-US" sz="25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自生的</a:t>
            </a:r>
            <a:r>
              <a:rPr lang="zh-CN" altLang="en-US" sz="25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后继符</a:t>
            </a:r>
          </a:p>
        </p:txBody>
      </p:sp>
      <p:sp>
        <p:nvSpPr>
          <p:cNvPr id="77828" name="矩形 2"/>
          <p:cNvSpPr>
            <a:spLocks noChangeArrowheads="1"/>
          </p:cNvSpPr>
          <p:nvPr/>
        </p:nvSpPr>
        <p:spPr bwMode="auto">
          <a:xfrm>
            <a:off x="3246438" y="960438"/>
            <a:ext cx="20589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Bβ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5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sz="2500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上下箭头 3"/>
          <p:cNvSpPr/>
          <p:nvPr/>
        </p:nvSpPr>
        <p:spPr>
          <a:xfrm>
            <a:off x="3998913" y="1482725"/>
            <a:ext cx="576262" cy="947738"/>
          </a:xfrm>
          <a:prstGeom prst="upDownArrow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240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3155950" y="2430463"/>
            <a:ext cx="2211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l-GR" altLang="zh-CN" sz="25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altLang="zh-CN" sz="25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sz="25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500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l-GR" altLang="zh-CN" sz="25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l-GR" altLang="zh-CN" sz="25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∈</a:t>
            </a:r>
            <a:r>
              <a:rPr lang="el-GR" altLang="zh-CN" sz="25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  <a:endParaRPr lang="zh-CN" altLang="en-US" sz="2500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831" name="矩形 6"/>
          <p:cNvSpPr>
            <a:spLocks noChangeArrowheads="1"/>
          </p:cNvSpPr>
          <p:nvPr/>
        </p:nvSpPr>
        <p:spPr bwMode="auto">
          <a:xfrm>
            <a:off x="2630488" y="1708150"/>
            <a:ext cx="1498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l-GR" altLang="zh-CN" sz="25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l-GR" altLang="zh-CN" sz="25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∈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zh-CN" altLang="en-US" sz="2500" b="1" i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AutoShape 58"/>
          <p:cNvSpPr>
            <a:spLocks noChangeArrowheads="1"/>
          </p:cNvSpPr>
          <p:nvPr/>
        </p:nvSpPr>
        <p:spPr bwMode="auto">
          <a:xfrm>
            <a:off x="5286375" y="1536700"/>
            <a:ext cx="1301750" cy="612775"/>
          </a:xfrm>
          <a:prstGeom prst="cloudCallout">
            <a:avLst>
              <a:gd name="adj1" fmla="val -68411"/>
              <a:gd name="adj2" fmla="val 80852"/>
            </a:avLst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</a:ln>
        </p:spPr>
        <p:txBody>
          <a:bodyPr lIns="46800" rIns="4680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  <a:buClr>
                <a:srgbClr val="333399"/>
              </a:buClr>
              <a:buSzPct val="75000"/>
              <a:buFont typeface="Monotype Sorts"/>
              <a:buNone/>
              <a:defRPr/>
            </a:pPr>
            <a:r>
              <a:rPr lang="en-US" altLang="zh-CN" sz="2500" b="1" i="1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500" b="1" i="1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500" b="1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500" b="1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77833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C674C49-6D7A-43EF-9D1C-4AE63181EF45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45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38372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18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18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1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70" grpId="0" animBg="1"/>
      <p:bldP spid="1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44" name="Text Box 14"/>
          <p:cNvSpPr txBox="1">
            <a:spLocks noChangeArrowheads="1"/>
          </p:cNvSpPr>
          <p:nvPr/>
        </p:nvSpPr>
        <p:spPr bwMode="auto">
          <a:xfrm>
            <a:off x="3722688" y="2519363"/>
            <a:ext cx="1223962" cy="24003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000"/>
              </a:lnSpc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b="1" i="1" baseline="-25000">
                <a:solidFill>
                  <a:prstClr val="black"/>
                </a:solidFill>
                <a:latin typeface="Times New Roman" panose="02020603050405020304" pitchFamily="18" charset="0"/>
              </a:rPr>
              <a:t>4</a:t>
            </a:r>
            <a:r>
              <a:rPr kumimoji="1" lang="en-US" altLang="zh-CN" b="1">
                <a:solidFill>
                  <a:prstClr val="black"/>
                </a:solidFill>
                <a:latin typeface="Times New Roman" panose="02020603050405020304" pitchFamily="18" charset="0"/>
              </a:rPr>
              <a:t>:</a:t>
            </a:r>
          </a:p>
          <a:p>
            <a:pPr>
              <a:lnSpc>
                <a:spcPts val="2000"/>
              </a:lnSpc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L→*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R</a:t>
            </a:r>
            <a:r>
              <a:rPr kumimoji="1" lang="zh-CN" altLang="en-US" b="1" i="1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, =</a:t>
            </a:r>
          </a:p>
          <a:p>
            <a:pPr>
              <a:lnSpc>
                <a:spcPts val="2000"/>
              </a:lnSpc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L→*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R , </a:t>
            </a:r>
            <a:r>
              <a:rPr kumimoji="1" lang="en-US" altLang="zh-CN" b="1">
                <a:solidFill>
                  <a:prstClr val="black"/>
                </a:solidFill>
                <a:latin typeface="华文楷体" panose="02010600040101010101" pitchFamily="2" charset="-122"/>
              </a:rPr>
              <a:t>$</a:t>
            </a:r>
            <a:endParaRPr kumimoji="1" lang="zh-CN" altLang="en-US" b="1" i="1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>
              <a:lnSpc>
                <a:spcPts val="2000"/>
              </a:lnSpc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R→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 </a:t>
            </a: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L</a:t>
            </a:r>
            <a:r>
              <a:rPr kumimoji="1" lang="zh-CN" altLang="en-US" b="1" i="1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, =</a:t>
            </a:r>
          </a:p>
          <a:p>
            <a:pPr>
              <a:lnSpc>
                <a:spcPts val="2000"/>
              </a:lnSpc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R→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 </a:t>
            </a: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L , </a:t>
            </a:r>
            <a:r>
              <a:rPr kumimoji="1" lang="en-US" altLang="zh-CN" b="1">
                <a:solidFill>
                  <a:prstClr val="black"/>
                </a:solidFill>
                <a:latin typeface="华文楷体" panose="02010600040101010101" pitchFamily="2" charset="-122"/>
              </a:rPr>
              <a:t>$</a:t>
            </a:r>
            <a:endParaRPr kumimoji="1" lang="en-US" altLang="zh-CN" b="1" i="1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>
              <a:lnSpc>
                <a:spcPts val="2000"/>
              </a:lnSpc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L→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*R</a:t>
            </a:r>
            <a:r>
              <a:rPr kumimoji="1" lang="zh-CN" altLang="en-US" b="1" i="1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, =</a:t>
            </a:r>
          </a:p>
          <a:p>
            <a:pPr>
              <a:lnSpc>
                <a:spcPts val="2000"/>
              </a:lnSpc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L→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</a:t>
            </a: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*R , </a:t>
            </a:r>
            <a:r>
              <a:rPr kumimoji="1" lang="en-US" altLang="zh-CN" b="1">
                <a:solidFill>
                  <a:prstClr val="black"/>
                </a:solidFill>
                <a:latin typeface="华文楷体" panose="02010600040101010101" pitchFamily="2" charset="-122"/>
              </a:rPr>
              <a:t>$</a:t>
            </a:r>
            <a:endParaRPr kumimoji="1" lang="en-US" altLang="zh-CN" b="1" i="1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>
              <a:lnSpc>
                <a:spcPts val="2000"/>
              </a:lnSpc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L→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 </a:t>
            </a:r>
            <a:r>
              <a:rPr kumimoji="1" lang="en-US" altLang="zh-CN" b="1">
                <a:solidFill>
                  <a:prstClr val="black"/>
                </a:solidFill>
                <a:latin typeface="Times New Roman" panose="02020603050405020304" pitchFamily="18" charset="0"/>
              </a:rPr>
              <a:t>id</a:t>
            </a:r>
            <a:r>
              <a:rPr kumimoji="1" lang="zh-CN" altLang="en-US" b="1" i="1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, =</a:t>
            </a:r>
          </a:p>
          <a:p>
            <a:pPr>
              <a:lnSpc>
                <a:spcPts val="2000"/>
              </a:lnSpc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L→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 </a:t>
            </a:r>
            <a:r>
              <a:rPr kumimoji="1" lang="en-US" altLang="zh-CN" b="1">
                <a:solidFill>
                  <a:prstClr val="black"/>
                </a:solidFill>
                <a:latin typeface="Times New Roman" panose="02020603050405020304" pitchFamily="18" charset="0"/>
              </a:rPr>
              <a:t>id</a:t>
            </a: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 , </a:t>
            </a:r>
            <a:r>
              <a:rPr kumimoji="1" lang="en-US" altLang="zh-CN" b="1">
                <a:solidFill>
                  <a:prstClr val="black"/>
                </a:solidFill>
                <a:latin typeface="华文楷体" panose="02010600040101010101" pitchFamily="2" charset="-122"/>
              </a:rPr>
              <a:t>$</a:t>
            </a:r>
            <a:endParaRPr kumimoji="1" lang="en-US" altLang="zh-CN" b="1" i="1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987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zh-CN" altLang="en-US" sz="3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3000" i="1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LR</a:t>
            </a:r>
            <a:r>
              <a:rPr lang="en-US" altLang="zh-CN" sz="300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(1)</a:t>
            </a:r>
            <a:r>
              <a:rPr lang="zh-CN" altLang="en-US" sz="3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自动机</a:t>
            </a:r>
            <a:endParaRPr lang="zh-CN" altLang="en-US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9035" name="Text Box 5"/>
          <p:cNvSpPr txBox="1">
            <a:spLocks noChangeArrowheads="1"/>
          </p:cNvSpPr>
          <p:nvPr/>
        </p:nvSpPr>
        <p:spPr bwMode="auto">
          <a:xfrm>
            <a:off x="1800225" y="1004888"/>
            <a:ext cx="1504950" cy="2493962"/>
          </a:xfrm>
          <a:prstGeom prst="rect">
            <a:avLst/>
          </a:prstGeom>
          <a:solidFill>
            <a:srgbClr val="B5CEED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tIns="0" bIns="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800" b="1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i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18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′ </a:t>
            </a:r>
            <a:r>
              <a:rPr lang="en-US" altLang="zh-CN" sz="1800" b="1" i="1">
                <a:solidFill>
                  <a:srgbClr val="000000"/>
                </a:solidFill>
                <a:latin typeface="Times New Roman" panose="02020603050405020304" pitchFamily="18" charset="0"/>
              </a:rPr>
              <a:t>→ · S , </a:t>
            </a:r>
            <a:r>
              <a:rPr lang="en-US" altLang="zh-CN" sz="18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$</a:t>
            </a: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i="1">
                <a:solidFill>
                  <a:srgbClr val="000000"/>
                </a:solidFill>
                <a:latin typeface="Times New Roman" panose="02020603050405020304" pitchFamily="18" charset="0"/>
              </a:rPr>
              <a:t>S→ · L=R , </a:t>
            </a:r>
            <a:r>
              <a:rPr lang="en-US" altLang="zh-CN" sz="1800" b="1">
                <a:solidFill>
                  <a:srgbClr val="000000"/>
                </a:solidFill>
                <a:latin typeface="华文楷体" panose="02010600040101010101" pitchFamily="2" charset="-122"/>
              </a:rPr>
              <a:t>$</a:t>
            </a:r>
            <a:endParaRPr lang="en-US" altLang="zh-CN" sz="1800" b="1" i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i="1">
                <a:solidFill>
                  <a:srgbClr val="000000"/>
                </a:solidFill>
                <a:latin typeface="Times New Roman" panose="02020603050405020304" pitchFamily="18" charset="0"/>
              </a:rPr>
              <a:t>S→ · R , </a:t>
            </a:r>
            <a:r>
              <a:rPr lang="en-US" altLang="zh-CN" sz="1800" b="1">
                <a:solidFill>
                  <a:srgbClr val="000000"/>
                </a:solidFill>
                <a:latin typeface="华文楷体" panose="02010600040101010101" pitchFamily="2" charset="-122"/>
              </a:rPr>
              <a:t>$</a:t>
            </a:r>
            <a:endParaRPr lang="en-US" altLang="zh-CN" sz="1800" b="1" i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i="1">
                <a:solidFill>
                  <a:srgbClr val="000000"/>
                </a:solidFill>
                <a:latin typeface="Times New Roman" panose="02020603050405020304" pitchFamily="18" charset="0"/>
              </a:rPr>
              <a:t>L→ · *R , =</a:t>
            </a: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i="1">
                <a:solidFill>
                  <a:srgbClr val="000000"/>
                </a:solidFill>
                <a:latin typeface="Times New Roman" panose="02020603050405020304" pitchFamily="18" charset="0"/>
              </a:rPr>
              <a:t>L→ · </a:t>
            </a:r>
            <a:r>
              <a: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</a:rPr>
              <a:t>id</a:t>
            </a:r>
            <a:r>
              <a:rPr lang="en-US" altLang="zh-CN" sz="1800" b="1" i="1">
                <a:solidFill>
                  <a:srgbClr val="000000"/>
                </a:solidFill>
                <a:latin typeface="Times New Roman" panose="02020603050405020304" pitchFamily="18" charset="0"/>
              </a:rPr>
              <a:t> , =</a:t>
            </a: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i="1">
                <a:solidFill>
                  <a:srgbClr val="000000"/>
                </a:solidFill>
                <a:latin typeface="Times New Roman" panose="02020603050405020304" pitchFamily="18" charset="0"/>
              </a:rPr>
              <a:t>R→ · L , </a:t>
            </a:r>
            <a:r>
              <a:rPr lang="en-US" altLang="zh-CN" sz="1800" b="1">
                <a:solidFill>
                  <a:srgbClr val="000000"/>
                </a:solidFill>
                <a:latin typeface="华文楷体" panose="02010600040101010101" pitchFamily="2" charset="-122"/>
              </a:rPr>
              <a:t>$</a:t>
            </a:r>
            <a:endParaRPr lang="en-US" altLang="zh-CN" sz="1800" b="1" i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i="1">
                <a:solidFill>
                  <a:srgbClr val="000000"/>
                </a:solidFill>
                <a:latin typeface="Times New Roman" panose="02020603050405020304" pitchFamily="18" charset="0"/>
              </a:rPr>
              <a:t>L→ · *R , </a:t>
            </a:r>
            <a:r>
              <a:rPr lang="en-US" altLang="zh-CN" sz="1800" b="1">
                <a:solidFill>
                  <a:srgbClr val="000000"/>
                </a:solidFill>
                <a:latin typeface="华文楷体" panose="02010600040101010101" pitchFamily="2" charset="-122"/>
              </a:rPr>
              <a:t>$</a:t>
            </a:r>
            <a:endParaRPr lang="en-US" altLang="zh-CN" sz="1800" b="1" i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i="1">
                <a:solidFill>
                  <a:srgbClr val="000000"/>
                </a:solidFill>
                <a:latin typeface="Times New Roman" panose="02020603050405020304" pitchFamily="18" charset="0"/>
              </a:rPr>
              <a:t>L→ · </a:t>
            </a:r>
            <a:r>
              <a: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</a:rPr>
              <a:t>id</a:t>
            </a:r>
            <a:r>
              <a:rPr lang="en-US" altLang="zh-CN" sz="1800" b="1" i="1">
                <a:solidFill>
                  <a:srgbClr val="000000"/>
                </a:solidFill>
                <a:latin typeface="Times New Roman" panose="02020603050405020304" pitchFamily="18" charset="0"/>
              </a:rPr>
              <a:t> , </a:t>
            </a:r>
            <a:r>
              <a:rPr lang="en-US" altLang="zh-CN" sz="1800" b="1">
                <a:solidFill>
                  <a:srgbClr val="000000"/>
                </a:solidFill>
                <a:latin typeface="华文楷体" panose="02010600040101010101" pitchFamily="2" charset="-122"/>
              </a:rPr>
              <a:t>$</a:t>
            </a:r>
            <a:endParaRPr lang="en-US" altLang="zh-CN" sz="1800" b="1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9036" name="Text Box 6"/>
          <p:cNvSpPr txBox="1">
            <a:spLocks noChangeArrowheads="1"/>
          </p:cNvSpPr>
          <p:nvPr/>
        </p:nvSpPr>
        <p:spPr bwMode="auto">
          <a:xfrm>
            <a:off x="3851275" y="39688"/>
            <a:ext cx="1223963" cy="646112"/>
          </a:xfrm>
          <a:prstGeom prst="rect">
            <a:avLst/>
          </a:prstGeom>
          <a:solidFill>
            <a:srgbClr val="B5CEED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800" b="1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i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18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′ </a:t>
            </a:r>
            <a:r>
              <a:rPr lang="en-US" altLang="zh-CN" sz="1800" b="1" i="1">
                <a:solidFill>
                  <a:srgbClr val="000000"/>
                </a:solidFill>
                <a:latin typeface="Times New Roman" panose="02020603050405020304" pitchFamily="18" charset="0"/>
              </a:rPr>
              <a:t>→S · , </a:t>
            </a:r>
            <a:r>
              <a:rPr lang="en-US" altLang="zh-CN" sz="1800" b="1">
                <a:solidFill>
                  <a:srgbClr val="000000"/>
                </a:solidFill>
                <a:latin typeface="华文楷体" panose="02010600040101010101" pitchFamily="2" charset="-122"/>
              </a:rPr>
              <a:t>$</a:t>
            </a:r>
            <a:endParaRPr lang="en-US" altLang="zh-CN" sz="1800" b="1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9037" name="Line 7"/>
          <p:cNvSpPr>
            <a:spLocks noChangeShapeType="1"/>
          </p:cNvSpPr>
          <p:nvPr/>
        </p:nvSpPr>
        <p:spPr bwMode="auto">
          <a:xfrm flipV="1">
            <a:off x="3305175" y="538163"/>
            <a:ext cx="525463" cy="5508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9038" name="Text Box 8"/>
          <p:cNvSpPr txBox="1">
            <a:spLocks noChangeArrowheads="1"/>
          </p:cNvSpPr>
          <p:nvPr/>
        </p:nvSpPr>
        <p:spPr bwMode="auto">
          <a:xfrm>
            <a:off x="3709988" y="768350"/>
            <a:ext cx="1343025" cy="9239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b="1" i="1" baseline="-25000">
                <a:solidFill>
                  <a:prstClr val="black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b="1">
                <a:solidFill>
                  <a:prstClr val="black"/>
                </a:solidFill>
                <a:latin typeface="Times New Roman" panose="02020603050405020304" pitchFamily="18" charset="0"/>
              </a:rPr>
              <a:t>:</a:t>
            </a:r>
          </a:p>
          <a:p>
            <a:pPr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S→L</a:t>
            </a:r>
            <a:r>
              <a:rPr lang="en-US" altLang="zh-CN" b="1" i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=R , </a:t>
            </a:r>
            <a:r>
              <a:rPr kumimoji="1" lang="en-US" altLang="zh-CN" b="1">
                <a:solidFill>
                  <a:prstClr val="black"/>
                </a:solidFill>
                <a:latin typeface="华文楷体" panose="02010600040101010101" pitchFamily="2" charset="-122"/>
              </a:rPr>
              <a:t>$</a:t>
            </a:r>
            <a:endParaRPr kumimoji="1" lang="en-US" altLang="zh-CN" b="1" i="1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R→L</a:t>
            </a:r>
            <a:r>
              <a:rPr lang="en-US" altLang="zh-CN" b="1" i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 , </a:t>
            </a:r>
            <a:r>
              <a:rPr kumimoji="1" lang="en-US" altLang="zh-CN" b="1">
                <a:solidFill>
                  <a:prstClr val="black"/>
                </a:solidFill>
                <a:latin typeface="华文楷体" panose="02010600040101010101" pitchFamily="2" charset="-122"/>
              </a:rPr>
              <a:t>$</a:t>
            </a:r>
            <a:endParaRPr kumimoji="1" lang="en-US" altLang="zh-CN" b="1" i="1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9039" name="Line 9"/>
          <p:cNvSpPr>
            <a:spLocks noChangeShapeType="1"/>
          </p:cNvSpPr>
          <p:nvPr/>
        </p:nvSpPr>
        <p:spPr bwMode="auto">
          <a:xfrm flipV="1">
            <a:off x="3295650" y="1365250"/>
            <a:ext cx="384175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9040" name="Text Box 10"/>
          <p:cNvSpPr txBox="1">
            <a:spLocks noChangeArrowheads="1"/>
          </p:cNvSpPr>
          <p:nvPr/>
        </p:nvSpPr>
        <p:spPr bwMode="auto">
          <a:xfrm>
            <a:off x="3327400" y="1000125"/>
            <a:ext cx="5032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i="1">
                <a:solidFill>
                  <a:srgbClr val="000000"/>
                </a:solidFill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129041" name="Text Box 11"/>
          <p:cNvSpPr txBox="1">
            <a:spLocks noChangeArrowheads="1"/>
          </p:cNvSpPr>
          <p:nvPr/>
        </p:nvSpPr>
        <p:spPr bwMode="auto">
          <a:xfrm>
            <a:off x="3719513" y="1781175"/>
            <a:ext cx="1223962" cy="6461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b="1" i="1" baseline="-25000">
                <a:solidFill>
                  <a:prstClr val="black"/>
                </a:solidFill>
                <a:latin typeface="Times New Roman" panose="02020603050405020304" pitchFamily="18" charset="0"/>
              </a:rPr>
              <a:t>3</a:t>
            </a:r>
            <a:r>
              <a:rPr kumimoji="1" lang="en-US" altLang="zh-CN" b="1">
                <a:solidFill>
                  <a:prstClr val="black"/>
                </a:solidFill>
                <a:latin typeface="Times New Roman" panose="02020603050405020304" pitchFamily="18" charset="0"/>
              </a:rPr>
              <a:t>:</a:t>
            </a:r>
          </a:p>
          <a:p>
            <a:pPr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S→R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 </a:t>
            </a: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, </a:t>
            </a:r>
            <a:r>
              <a:rPr kumimoji="1" lang="en-US" altLang="zh-CN" b="1">
                <a:solidFill>
                  <a:prstClr val="black"/>
                </a:solidFill>
                <a:latin typeface="华文楷体" panose="02010600040101010101" pitchFamily="2" charset="-122"/>
              </a:rPr>
              <a:t>$</a:t>
            </a:r>
            <a:endParaRPr kumimoji="1" lang="en-US" altLang="zh-CN" b="1" i="1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9042" name="Line 12"/>
          <p:cNvSpPr>
            <a:spLocks noChangeShapeType="1"/>
          </p:cNvSpPr>
          <p:nvPr/>
        </p:nvSpPr>
        <p:spPr bwMode="auto">
          <a:xfrm>
            <a:off x="3317875" y="2139950"/>
            <a:ext cx="4333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9043" name="Text Box 13"/>
          <p:cNvSpPr txBox="1">
            <a:spLocks noChangeArrowheads="1"/>
          </p:cNvSpPr>
          <p:nvPr/>
        </p:nvSpPr>
        <p:spPr bwMode="auto">
          <a:xfrm>
            <a:off x="3319463" y="1770063"/>
            <a:ext cx="609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i="1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129045" name="Text Box 15"/>
          <p:cNvSpPr txBox="1">
            <a:spLocks noChangeArrowheads="1"/>
          </p:cNvSpPr>
          <p:nvPr/>
        </p:nvSpPr>
        <p:spPr bwMode="auto">
          <a:xfrm>
            <a:off x="5572125" y="4176713"/>
            <a:ext cx="1296988" cy="9239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b="1" i="1" baseline="-25000">
                <a:solidFill>
                  <a:prstClr val="black"/>
                </a:solidFill>
                <a:latin typeface="Times New Roman" panose="02020603050405020304" pitchFamily="18" charset="0"/>
              </a:rPr>
              <a:t>5</a:t>
            </a:r>
            <a:r>
              <a:rPr kumimoji="1" lang="en-US" altLang="zh-CN" b="1">
                <a:solidFill>
                  <a:prstClr val="black"/>
                </a:solidFill>
                <a:latin typeface="Times New Roman" panose="02020603050405020304" pitchFamily="18" charset="0"/>
              </a:rPr>
              <a:t>:</a:t>
            </a:r>
          </a:p>
          <a:p>
            <a:pPr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L→</a:t>
            </a:r>
            <a:r>
              <a:rPr kumimoji="1" lang="en-US" altLang="zh-CN" b="1">
                <a:solidFill>
                  <a:prstClr val="black"/>
                </a:solidFill>
                <a:latin typeface="Times New Roman" panose="02020603050405020304" pitchFamily="18" charset="0"/>
              </a:rPr>
              <a:t>id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kumimoji="1" lang="zh-CN" altLang="en-US" b="1" i="1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, =</a:t>
            </a:r>
          </a:p>
          <a:p>
            <a:pPr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L→</a:t>
            </a:r>
            <a:r>
              <a:rPr kumimoji="1" lang="en-US" altLang="zh-CN" b="1">
                <a:solidFill>
                  <a:prstClr val="black"/>
                </a:solidFill>
                <a:latin typeface="Times New Roman" panose="02020603050405020304" pitchFamily="18" charset="0"/>
              </a:rPr>
              <a:t>id</a:t>
            </a: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 , </a:t>
            </a:r>
            <a:r>
              <a:rPr kumimoji="1" lang="en-US" altLang="zh-CN" b="1">
                <a:solidFill>
                  <a:prstClr val="black"/>
                </a:solidFill>
                <a:latin typeface="华文楷体" panose="02010600040101010101" pitchFamily="2" charset="-122"/>
              </a:rPr>
              <a:t>$</a:t>
            </a:r>
            <a:endParaRPr kumimoji="1" lang="en-US" altLang="zh-CN" b="1" i="1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9046" name="Text Box 16"/>
          <p:cNvSpPr txBox="1">
            <a:spLocks noChangeArrowheads="1"/>
          </p:cNvSpPr>
          <p:nvPr/>
        </p:nvSpPr>
        <p:spPr bwMode="auto">
          <a:xfrm>
            <a:off x="3362325" y="2959100"/>
            <a:ext cx="53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*</a:t>
            </a:r>
          </a:p>
        </p:txBody>
      </p:sp>
      <p:sp>
        <p:nvSpPr>
          <p:cNvPr id="129047" name="Text Box 17"/>
          <p:cNvSpPr txBox="1">
            <a:spLocks noChangeArrowheads="1"/>
          </p:cNvSpPr>
          <p:nvPr/>
        </p:nvSpPr>
        <p:spPr bwMode="auto">
          <a:xfrm>
            <a:off x="2801938" y="3951288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</a:rPr>
              <a:t>id</a:t>
            </a:r>
          </a:p>
        </p:txBody>
      </p:sp>
      <p:sp>
        <p:nvSpPr>
          <p:cNvPr id="129048" name="Text Box 18"/>
          <p:cNvSpPr txBox="1">
            <a:spLocks noChangeArrowheads="1"/>
          </p:cNvSpPr>
          <p:nvPr/>
        </p:nvSpPr>
        <p:spPr bwMode="auto">
          <a:xfrm>
            <a:off x="5572125" y="555625"/>
            <a:ext cx="1485900" cy="14779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b="1" i="1" baseline="-25000">
                <a:solidFill>
                  <a:prstClr val="black"/>
                </a:solidFill>
                <a:latin typeface="Times New Roman" panose="02020603050405020304" pitchFamily="18" charset="0"/>
              </a:rPr>
              <a:t>6</a:t>
            </a:r>
            <a:r>
              <a:rPr kumimoji="1" lang="en-US" altLang="zh-CN" b="1">
                <a:solidFill>
                  <a:prstClr val="black"/>
                </a:solidFill>
                <a:latin typeface="Times New Roman" panose="02020603050405020304" pitchFamily="18" charset="0"/>
              </a:rPr>
              <a:t>:</a:t>
            </a:r>
          </a:p>
          <a:p>
            <a:pPr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S→L=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 </a:t>
            </a: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R , </a:t>
            </a:r>
            <a:r>
              <a:rPr kumimoji="1" lang="en-US" altLang="zh-CN" b="1">
                <a:solidFill>
                  <a:prstClr val="black"/>
                </a:solidFill>
                <a:latin typeface="华文楷体" panose="02010600040101010101" pitchFamily="2" charset="-122"/>
              </a:rPr>
              <a:t>$</a:t>
            </a:r>
            <a:endParaRPr kumimoji="1" lang="en-US" altLang="zh-CN" b="1" i="1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R→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 </a:t>
            </a: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L , </a:t>
            </a:r>
            <a:r>
              <a:rPr kumimoji="1" lang="en-US" altLang="zh-CN" b="1">
                <a:solidFill>
                  <a:prstClr val="black"/>
                </a:solidFill>
                <a:latin typeface="华文楷体" panose="02010600040101010101" pitchFamily="2" charset="-122"/>
              </a:rPr>
              <a:t>$</a:t>
            </a:r>
            <a:endParaRPr kumimoji="1" lang="en-US" altLang="zh-CN" b="1" i="1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L→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 </a:t>
            </a: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*R , </a:t>
            </a:r>
            <a:r>
              <a:rPr kumimoji="1" lang="en-US" altLang="zh-CN" b="1">
                <a:solidFill>
                  <a:prstClr val="black"/>
                </a:solidFill>
                <a:latin typeface="华文楷体" panose="02010600040101010101" pitchFamily="2" charset="-122"/>
              </a:rPr>
              <a:t>$</a:t>
            </a:r>
            <a:endParaRPr kumimoji="1" lang="en-US" altLang="zh-CN" b="1" i="1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L→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 </a:t>
            </a:r>
            <a:r>
              <a:rPr kumimoji="1" lang="en-US" altLang="zh-CN" b="1">
                <a:solidFill>
                  <a:prstClr val="black"/>
                </a:solidFill>
                <a:latin typeface="Times New Roman" panose="02020603050405020304" pitchFamily="18" charset="0"/>
              </a:rPr>
              <a:t>id</a:t>
            </a: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 , </a:t>
            </a:r>
            <a:r>
              <a:rPr kumimoji="1" lang="en-US" altLang="zh-CN" b="1">
                <a:solidFill>
                  <a:prstClr val="black"/>
                </a:solidFill>
                <a:latin typeface="华文楷体" panose="02010600040101010101" pitchFamily="2" charset="-122"/>
              </a:rPr>
              <a:t>$</a:t>
            </a:r>
            <a:endParaRPr kumimoji="1" lang="en-US" altLang="zh-CN" b="1" i="1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9049" name="Line 19"/>
          <p:cNvSpPr>
            <a:spLocks noChangeShapeType="1"/>
          </p:cNvSpPr>
          <p:nvPr/>
        </p:nvSpPr>
        <p:spPr bwMode="auto">
          <a:xfrm flipV="1">
            <a:off x="5121275" y="1198563"/>
            <a:ext cx="4302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9050" name="Text Box 20"/>
          <p:cNvSpPr txBox="1">
            <a:spLocks noChangeArrowheads="1"/>
          </p:cNvSpPr>
          <p:nvPr/>
        </p:nvSpPr>
        <p:spPr bwMode="auto">
          <a:xfrm>
            <a:off x="5154613" y="779463"/>
            <a:ext cx="457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</a:p>
        </p:txBody>
      </p:sp>
      <p:sp>
        <p:nvSpPr>
          <p:cNvPr id="129051" name="Text Box 21"/>
          <p:cNvSpPr txBox="1">
            <a:spLocks noChangeArrowheads="1"/>
          </p:cNvSpPr>
          <p:nvPr/>
        </p:nvSpPr>
        <p:spPr bwMode="auto">
          <a:xfrm>
            <a:off x="5572125" y="2149475"/>
            <a:ext cx="1296988" cy="9239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b="1" i="1" baseline="-25000">
                <a:solidFill>
                  <a:prstClr val="black"/>
                </a:solidFill>
                <a:latin typeface="Times New Roman" panose="02020603050405020304" pitchFamily="18" charset="0"/>
              </a:rPr>
              <a:t>7</a:t>
            </a:r>
            <a:r>
              <a:rPr kumimoji="1" lang="en-US" altLang="zh-CN" b="1">
                <a:solidFill>
                  <a:prstClr val="black"/>
                </a:solidFill>
                <a:latin typeface="Times New Roman" panose="02020603050405020304" pitchFamily="18" charset="0"/>
              </a:rPr>
              <a:t>:</a:t>
            </a:r>
          </a:p>
          <a:p>
            <a:pPr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L→*R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</a:t>
            </a:r>
            <a:r>
              <a:rPr kumimoji="1" lang="zh-CN" altLang="en-US" b="1" i="1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, =</a:t>
            </a:r>
          </a:p>
          <a:p>
            <a:pPr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L→*R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</a:t>
            </a: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 , </a:t>
            </a:r>
            <a:r>
              <a:rPr kumimoji="1" lang="en-US" altLang="zh-CN" b="1">
                <a:solidFill>
                  <a:prstClr val="black"/>
                </a:solidFill>
                <a:latin typeface="华文楷体" panose="02010600040101010101" pitchFamily="2" charset="-122"/>
              </a:rPr>
              <a:t>$</a:t>
            </a:r>
            <a:endParaRPr kumimoji="1" lang="en-US" altLang="zh-CN" b="1" i="1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9052" name="Line 22"/>
          <p:cNvSpPr>
            <a:spLocks noChangeShapeType="1"/>
          </p:cNvSpPr>
          <p:nvPr/>
        </p:nvSpPr>
        <p:spPr bwMode="auto">
          <a:xfrm flipV="1">
            <a:off x="4956175" y="2671763"/>
            <a:ext cx="6048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9053" name="Text Box 23"/>
          <p:cNvSpPr txBox="1">
            <a:spLocks noChangeArrowheads="1"/>
          </p:cNvSpPr>
          <p:nvPr/>
        </p:nvSpPr>
        <p:spPr bwMode="auto">
          <a:xfrm>
            <a:off x="5094288" y="2346325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i="1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129054" name="Text Box 24"/>
          <p:cNvSpPr txBox="1">
            <a:spLocks noChangeArrowheads="1"/>
          </p:cNvSpPr>
          <p:nvPr/>
        </p:nvSpPr>
        <p:spPr bwMode="auto">
          <a:xfrm>
            <a:off x="5562600" y="3165475"/>
            <a:ext cx="1296988" cy="9239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b="1" i="1" baseline="-25000">
                <a:solidFill>
                  <a:prstClr val="black"/>
                </a:solidFill>
                <a:latin typeface="Times New Roman" panose="02020603050405020304" pitchFamily="18" charset="0"/>
              </a:rPr>
              <a:t>8</a:t>
            </a:r>
            <a:r>
              <a:rPr kumimoji="1" lang="en-US" altLang="zh-CN" b="1">
                <a:solidFill>
                  <a:prstClr val="black"/>
                </a:solidFill>
                <a:latin typeface="Times New Roman" panose="02020603050405020304" pitchFamily="18" charset="0"/>
              </a:rPr>
              <a:t>:</a:t>
            </a:r>
          </a:p>
          <a:p>
            <a:pPr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R→L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</a:t>
            </a:r>
            <a:r>
              <a:rPr kumimoji="1" lang="zh-CN" altLang="en-US" b="1" i="1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, =</a:t>
            </a:r>
          </a:p>
          <a:p>
            <a:pPr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R→L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</a:t>
            </a: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 , </a:t>
            </a:r>
            <a:r>
              <a:rPr kumimoji="1" lang="en-US" altLang="zh-CN" b="1">
                <a:solidFill>
                  <a:prstClr val="black"/>
                </a:solidFill>
                <a:latin typeface="华文楷体" panose="02010600040101010101" pitchFamily="2" charset="-122"/>
              </a:rPr>
              <a:t>$</a:t>
            </a:r>
            <a:endParaRPr kumimoji="1" lang="en-US" altLang="zh-CN" b="1" i="1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9055" name="Line 25"/>
          <p:cNvSpPr>
            <a:spLocks noChangeShapeType="1"/>
          </p:cNvSpPr>
          <p:nvPr/>
        </p:nvSpPr>
        <p:spPr bwMode="auto">
          <a:xfrm>
            <a:off x="4933950" y="3736975"/>
            <a:ext cx="6477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9056" name="Text Box 26"/>
          <p:cNvSpPr txBox="1">
            <a:spLocks noChangeArrowheads="1"/>
          </p:cNvSpPr>
          <p:nvPr/>
        </p:nvSpPr>
        <p:spPr bwMode="auto">
          <a:xfrm>
            <a:off x="5078413" y="3363913"/>
            <a:ext cx="381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i="1">
                <a:solidFill>
                  <a:srgbClr val="000000"/>
                </a:solidFill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129057" name="Text Box 27"/>
          <p:cNvSpPr txBox="1">
            <a:spLocks noChangeArrowheads="1"/>
          </p:cNvSpPr>
          <p:nvPr/>
        </p:nvSpPr>
        <p:spPr bwMode="auto">
          <a:xfrm>
            <a:off x="7408863" y="109538"/>
            <a:ext cx="1512887" cy="6461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b="1" i="1" baseline="-25000">
                <a:solidFill>
                  <a:prstClr val="black"/>
                </a:solidFill>
                <a:latin typeface="Times New Roman" panose="02020603050405020304" pitchFamily="18" charset="0"/>
              </a:rPr>
              <a:t>9</a:t>
            </a:r>
            <a:r>
              <a:rPr kumimoji="1" lang="en-US" altLang="zh-CN" b="1">
                <a:solidFill>
                  <a:prstClr val="black"/>
                </a:solidFill>
                <a:latin typeface="Times New Roman" panose="02020603050405020304" pitchFamily="18" charset="0"/>
              </a:rPr>
              <a:t>:</a:t>
            </a:r>
          </a:p>
          <a:p>
            <a:pPr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S→L=R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</a:t>
            </a: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 , </a:t>
            </a:r>
            <a:r>
              <a:rPr kumimoji="1" lang="en-US" altLang="zh-CN" b="1">
                <a:solidFill>
                  <a:prstClr val="black"/>
                </a:solidFill>
                <a:latin typeface="华文楷体" panose="02010600040101010101" pitchFamily="2" charset="-122"/>
              </a:rPr>
              <a:t>$</a:t>
            </a:r>
            <a:endParaRPr kumimoji="1" lang="en-US" altLang="zh-CN" b="1" i="1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9058" name="Line 28"/>
          <p:cNvSpPr>
            <a:spLocks noChangeShapeType="1"/>
          </p:cNvSpPr>
          <p:nvPr/>
        </p:nvSpPr>
        <p:spPr bwMode="auto">
          <a:xfrm>
            <a:off x="7065963" y="636588"/>
            <a:ext cx="361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9059" name="Text Box 29"/>
          <p:cNvSpPr txBox="1">
            <a:spLocks noChangeArrowheads="1"/>
          </p:cNvSpPr>
          <p:nvPr/>
        </p:nvSpPr>
        <p:spPr bwMode="auto">
          <a:xfrm>
            <a:off x="7034213" y="258763"/>
            <a:ext cx="533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i="1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129062" name="Text Box 32"/>
          <p:cNvSpPr txBox="1">
            <a:spLocks noChangeArrowheads="1"/>
          </p:cNvSpPr>
          <p:nvPr/>
        </p:nvSpPr>
        <p:spPr bwMode="auto">
          <a:xfrm>
            <a:off x="7064375" y="2346325"/>
            <a:ext cx="503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</a:rPr>
              <a:t>id</a:t>
            </a:r>
          </a:p>
        </p:txBody>
      </p:sp>
      <p:sp>
        <p:nvSpPr>
          <p:cNvPr id="129063" name="Text Box 33"/>
          <p:cNvSpPr txBox="1">
            <a:spLocks noChangeArrowheads="1"/>
          </p:cNvSpPr>
          <p:nvPr/>
        </p:nvSpPr>
        <p:spPr bwMode="auto">
          <a:xfrm>
            <a:off x="3101975" y="673100"/>
            <a:ext cx="53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i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29064" name="Line 34"/>
          <p:cNvSpPr>
            <a:spLocks noChangeShapeType="1"/>
          </p:cNvSpPr>
          <p:nvPr/>
        </p:nvSpPr>
        <p:spPr bwMode="auto">
          <a:xfrm>
            <a:off x="4946650" y="4427538"/>
            <a:ext cx="6381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9065" name="Text Box 35"/>
          <p:cNvSpPr txBox="1">
            <a:spLocks noChangeArrowheads="1"/>
          </p:cNvSpPr>
          <p:nvPr/>
        </p:nvSpPr>
        <p:spPr bwMode="auto">
          <a:xfrm>
            <a:off x="5046663" y="4084638"/>
            <a:ext cx="4079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</a:rPr>
              <a:t>id</a:t>
            </a:r>
          </a:p>
        </p:txBody>
      </p:sp>
      <p:sp>
        <p:nvSpPr>
          <p:cNvPr id="129067" name="Text Box 40"/>
          <p:cNvSpPr txBox="1">
            <a:spLocks noChangeArrowheads="1"/>
          </p:cNvSpPr>
          <p:nvPr/>
        </p:nvSpPr>
        <p:spPr bwMode="auto">
          <a:xfrm>
            <a:off x="3384550" y="3625850"/>
            <a:ext cx="53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*</a:t>
            </a:r>
          </a:p>
        </p:txBody>
      </p:sp>
      <p:sp>
        <p:nvSpPr>
          <p:cNvPr id="129068" name="Line 41"/>
          <p:cNvSpPr>
            <a:spLocks noChangeShapeType="1"/>
          </p:cNvSpPr>
          <p:nvPr/>
        </p:nvSpPr>
        <p:spPr bwMode="auto">
          <a:xfrm>
            <a:off x="3327400" y="3295650"/>
            <a:ext cx="423863" cy="0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9069" name="Text Box 42"/>
          <p:cNvSpPr txBox="1">
            <a:spLocks noChangeArrowheads="1"/>
          </p:cNvSpPr>
          <p:nvPr/>
        </p:nvSpPr>
        <p:spPr bwMode="auto">
          <a:xfrm>
            <a:off x="7413625" y="844550"/>
            <a:ext cx="1296988" cy="6461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b="1" i="1" baseline="-25000">
                <a:solidFill>
                  <a:prstClr val="black"/>
                </a:solidFill>
                <a:latin typeface="Times New Roman" panose="02020603050405020304" pitchFamily="18" charset="0"/>
              </a:rPr>
              <a:t>10</a:t>
            </a:r>
            <a:r>
              <a:rPr kumimoji="1" lang="en-US" altLang="zh-CN" b="1">
                <a:solidFill>
                  <a:prstClr val="black"/>
                </a:solidFill>
                <a:latin typeface="Times New Roman" panose="02020603050405020304" pitchFamily="18" charset="0"/>
              </a:rPr>
              <a:t>:</a:t>
            </a:r>
          </a:p>
          <a:p>
            <a:pPr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R→L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</a:t>
            </a: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 , </a:t>
            </a:r>
            <a:r>
              <a:rPr kumimoji="1" lang="en-US" altLang="zh-CN" b="1">
                <a:solidFill>
                  <a:prstClr val="black"/>
                </a:solidFill>
                <a:latin typeface="华文楷体" panose="02010600040101010101" pitchFamily="2" charset="-122"/>
              </a:rPr>
              <a:t>$</a:t>
            </a:r>
            <a:endParaRPr kumimoji="1" lang="en-US" altLang="zh-CN" b="1" i="1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9070" name="Line 43"/>
          <p:cNvSpPr>
            <a:spLocks noChangeShapeType="1"/>
          </p:cNvSpPr>
          <p:nvPr/>
        </p:nvSpPr>
        <p:spPr bwMode="auto">
          <a:xfrm>
            <a:off x="7065963" y="1198563"/>
            <a:ext cx="3714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9071" name="Text Box 44"/>
          <p:cNvSpPr txBox="1">
            <a:spLocks noChangeArrowheads="1"/>
          </p:cNvSpPr>
          <p:nvPr/>
        </p:nvSpPr>
        <p:spPr bwMode="auto">
          <a:xfrm>
            <a:off x="7062788" y="842963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i="1">
                <a:solidFill>
                  <a:srgbClr val="000000"/>
                </a:solidFill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129072" name="Text Box 45"/>
          <p:cNvSpPr txBox="1">
            <a:spLocks noChangeArrowheads="1"/>
          </p:cNvSpPr>
          <p:nvPr/>
        </p:nvSpPr>
        <p:spPr bwMode="auto">
          <a:xfrm>
            <a:off x="7445375" y="1779588"/>
            <a:ext cx="1223963" cy="14779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b="1" i="1" baseline="-25000">
                <a:solidFill>
                  <a:prstClr val="black"/>
                </a:solidFill>
                <a:latin typeface="Times New Roman" panose="02020603050405020304" pitchFamily="18" charset="0"/>
              </a:rPr>
              <a:t>11</a:t>
            </a:r>
            <a:r>
              <a:rPr kumimoji="1" lang="en-US" altLang="zh-CN" b="1">
                <a:solidFill>
                  <a:prstClr val="black"/>
                </a:solidFill>
                <a:latin typeface="Times New Roman" panose="02020603050405020304" pitchFamily="18" charset="0"/>
              </a:rPr>
              <a:t>:</a:t>
            </a:r>
          </a:p>
          <a:p>
            <a:pPr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L→*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</a:t>
            </a: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R , </a:t>
            </a:r>
            <a:r>
              <a:rPr kumimoji="1" lang="en-US" altLang="zh-CN" b="1">
                <a:solidFill>
                  <a:prstClr val="black"/>
                </a:solidFill>
                <a:latin typeface="华文楷体" panose="02010600040101010101" pitchFamily="2" charset="-122"/>
              </a:rPr>
              <a:t>$</a:t>
            </a:r>
            <a:endParaRPr kumimoji="1" lang="zh-CN" altLang="en-US" b="1" i="1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R→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 </a:t>
            </a: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L , </a:t>
            </a:r>
            <a:r>
              <a:rPr kumimoji="1" lang="en-US" altLang="zh-CN" b="1">
                <a:solidFill>
                  <a:prstClr val="black"/>
                </a:solidFill>
                <a:latin typeface="华文楷体" panose="02010600040101010101" pitchFamily="2" charset="-122"/>
              </a:rPr>
              <a:t>$</a:t>
            </a:r>
            <a:endParaRPr kumimoji="1" lang="en-US" altLang="zh-CN" b="1" i="1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L→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</a:t>
            </a: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*R , </a:t>
            </a:r>
            <a:r>
              <a:rPr kumimoji="1" lang="en-US" altLang="zh-CN" b="1">
                <a:solidFill>
                  <a:prstClr val="black"/>
                </a:solidFill>
                <a:latin typeface="华文楷体" panose="02010600040101010101" pitchFamily="2" charset="-122"/>
              </a:rPr>
              <a:t>$</a:t>
            </a:r>
            <a:endParaRPr kumimoji="1" lang="en-US" altLang="zh-CN" b="1" i="1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L→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 </a:t>
            </a:r>
            <a:r>
              <a:rPr kumimoji="1" lang="en-US" altLang="zh-CN" b="1">
                <a:solidFill>
                  <a:prstClr val="black"/>
                </a:solidFill>
                <a:latin typeface="Times New Roman" panose="02020603050405020304" pitchFamily="18" charset="0"/>
              </a:rPr>
              <a:t>id </a:t>
            </a: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, </a:t>
            </a:r>
            <a:r>
              <a:rPr kumimoji="1" lang="en-US" altLang="zh-CN" b="1">
                <a:solidFill>
                  <a:prstClr val="black"/>
                </a:solidFill>
                <a:latin typeface="华文楷体" panose="02010600040101010101" pitchFamily="2" charset="-122"/>
              </a:rPr>
              <a:t>$</a:t>
            </a:r>
            <a:endParaRPr kumimoji="1" lang="en-US" altLang="zh-CN" b="1" i="1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9073" name="Text Box 46"/>
          <p:cNvSpPr txBox="1">
            <a:spLocks noChangeArrowheads="1"/>
          </p:cNvSpPr>
          <p:nvPr/>
        </p:nvSpPr>
        <p:spPr bwMode="auto">
          <a:xfrm>
            <a:off x="7062788" y="1666875"/>
            <a:ext cx="3603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*</a:t>
            </a:r>
          </a:p>
        </p:txBody>
      </p:sp>
      <p:sp>
        <p:nvSpPr>
          <p:cNvPr id="129074" name="Line 47"/>
          <p:cNvSpPr>
            <a:spLocks noChangeShapeType="1"/>
          </p:cNvSpPr>
          <p:nvPr/>
        </p:nvSpPr>
        <p:spPr bwMode="auto">
          <a:xfrm>
            <a:off x="7081838" y="1893888"/>
            <a:ext cx="350837" cy="241300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9075" name="Text Box 48"/>
          <p:cNvSpPr txBox="1">
            <a:spLocks noChangeArrowheads="1"/>
          </p:cNvSpPr>
          <p:nvPr/>
        </p:nvSpPr>
        <p:spPr bwMode="auto">
          <a:xfrm>
            <a:off x="7450138" y="3594100"/>
            <a:ext cx="1296987" cy="6461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b="1" i="1" baseline="-25000">
                <a:solidFill>
                  <a:prstClr val="black"/>
                </a:solidFill>
                <a:latin typeface="Times New Roman" panose="02020603050405020304" pitchFamily="18" charset="0"/>
              </a:rPr>
              <a:t>12</a:t>
            </a:r>
            <a:r>
              <a:rPr kumimoji="1" lang="en-US" altLang="zh-CN" b="1">
                <a:solidFill>
                  <a:prstClr val="black"/>
                </a:solidFill>
                <a:latin typeface="Times New Roman" panose="02020603050405020304" pitchFamily="18" charset="0"/>
              </a:rPr>
              <a:t>:</a:t>
            </a:r>
          </a:p>
          <a:p>
            <a:pPr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L→</a:t>
            </a:r>
            <a:r>
              <a:rPr kumimoji="1" lang="en-US" altLang="zh-CN" b="1">
                <a:solidFill>
                  <a:prstClr val="black"/>
                </a:solidFill>
                <a:latin typeface="Times New Roman" panose="02020603050405020304" pitchFamily="18" charset="0"/>
              </a:rPr>
              <a:t>id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 </a:t>
            </a: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, </a:t>
            </a:r>
            <a:r>
              <a:rPr kumimoji="1" lang="en-US" altLang="zh-CN" b="1">
                <a:solidFill>
                  <a:prstClr val="black"/>
                </a:solidFill>
                <a:latin typeface="华文楷体" panose="02010600040101010101" pitchFamily="2" charset="-122"/>
              </a:rPr>
              <a:t>$</a:t>
            </a:r>
            <a:endParaRPr kumimoji="1" lang="en-US" altLang="zh-CN" b="1" i="1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9076" name="Line 49"/>
          <p:cNvSpPr>
            <a:spLocks noChangeShapeType="1"/>
          </p:cNvSpPr>
          <p:nvPr/>
        </p:nvSpPr>
        <p:spPr bwMode="auto">
          <a:xfrm>
            <a:off x="6900863" y="2033588"/>
            <a:ext cx="500062" cy="1741487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9077" name="Text Box 50"/>
          <p:cNvSpPr txBox="1">
            <a:spLocks noChangeArrowheads="1"/>
          </p:cNvSpPr>
          <p:nvPr/>
        </p:nvSpPr>
        <p:spPr bwMode="auto">
          <a:xfrm>
            <a:off x="7450138" y="4321175"/>
            <a:ext cx="1296987" cy="6461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b="1" i="1" baseline="-25000">
                <a:solidFill>
                  <a:prstClr val="black"/>
                </a:solidFill>
                <a:latin typeface="Times New Roman" panose="02020603050405020304" pitchFamily="18" charset="0"/>
              </a:rPr>
              <a:t>13</a:t>
            </a:r>
            <a:r>
              <a:rPr kumimoji="1" lang="en-US" altLang="zh-CN" b="1">
                <a:solidFill>
                  <a:prstClr val="black"/>
                </a:solidFill>
                <a:latin typeface="Times New Roman" panose="02020603050405020304" pitchFamily="18" charset="0"/>
              </a:rPr>
              <a:t>:</a:t>
            </a:r>
          </a:p>
          <a:p>
            <a:pPr>
              <a:defRPr/>
            </a:pP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L→*R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</a:t>
            </a:r>
            <a:r>
              <a:rPr kumimoji="1"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 , </a:t>
            </a:r>
            <a:r>
              <a:rPr kumimoji="1" lang="en-US" altLang="zh-CN" b="1">
                <a:solidFill>
                  <a:prstClr val="black"/>
                </a:solidFill>
                <a:latin typeface="华文楷体" panose="02010600040101010101" pitchFamily="2" charset="-122"/>
              </a:rPr>
              <a:t>$</a:t>
            </a:r>
            <a:endParaRPr kumimoji="1" lang="en-US" altLang="zh-CN" b="1" i="1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9078" name="Freeform 51"/>
          <p:cNvSpPr>
            <a:spLocks noChangeArrowheads="1"/>
          </p:cNvSpPr>
          <p:nvPr/>
        </p:nvSpPr>
        <p:spPr bwMode="auto">
          <a:xfrm>
            <a:off x="8678863" y="3087688"/>
            <a:ext cx="360362" cy="1612900"/>
          </a:xfrm>
          <a:custGeom>
            <a:avLst/>
            <a:gdLst>
              <a:gd name="T0" fmla="*/ 0 w 416"/>
              <a:gd name="T1" fmla="*/ 0 h 862"/>
              <a:gd name="T2" fmla="*/ 2147483646 w 416"/>
              <a:gd name="T3" fmla="*/ 2147483646 h 862"/>
              <a:gd name="T4" fmla="*/ 2147483646 w 416"/>
              <a:gd name="T5" fmla="*/ 2147483646 h 862"/>
              <a:gd name="T6" fmla="*/ 0 60000 65536"/>
              <a:gd name="T7" fmla="*/ 0 60000 65536"/>
              <a:gd name="T8" fmla="*/ 0 60000 65536"/>
              <a:gd name="T9" fmla="*/ 0 w 416"/>
              <a:gd name="T10" fmla="*/ 0 h 862"/>
              <a:gd name="T11" fmla="*/ 416 w 416"/>
              <a:gd name="T12" fmla="*/ 862 h 8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6" h="862">
                <a:moveTo>
                  <a:pt x="0" y="0"/>
                </a:moveTo>
                <a:cubicBezTo>
                  <a:pt x="200" y="177"/>
                  <a:pt x="400" y="355"/>
                  <a:pt x="408" y="499"/>
                </a:cubicBezTo>
                <a:cubicBezTo>
                  <a:pt x="416" y="643"/>
                  <a:pt x="231" y="752"/>
                  <a:pt x="46" y="862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023" name="Text Box 52"/>
          <p:cNvSpPr txBox="1">
            <a:spLocks noChangeArrowheads="1"/>
          </p:cNvSpPr>
          <p:nvPr/>
        </p:nvSpPr>
        <p:spPr bwMode="auto">
          <a:xfrm>
            <a:off x="8645525" y="290195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i="1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129080" name="Freeform 53"/>
          <p:cNvSpPr>
            <a:spLocks noChangeArrowheads="1"/>
          </p:cNvSpPr>
          <p:nvPr/>
        </p:nvSpPr>
        <p:spPr bwMode="auto">
          <a:xfrm>
            <a:off x="8678863" y="2519363"/>
            <a:ext cx="360362" cy="354012"/>
          </a:xfrm>
          <a:custGeom>
            <a:avLst/>
            <a:gdLst>
              <a:gd name="T0" fmla="*/ 0 w 227"/>
              <a:gd name="T1" fmla="*/ 0 h 227"/>
              <a:gd name="T2" fmla="*/ 2147483646 w 227"/>
              <a:gd name="T3" fmla="*/ 2147483646 h 227"/>
              <a:gd name="T4" fmla="*/ 0 w 227"/>
              <a:gd name="T5" fmla="*/ 2147483646 h 227"/>
              <a:gd name="T6" fmla="*/ 0 60000 65536"/>
              <a:gd name="T7" fmla="*/ 0 60000 65536"/>
              <a:gd name="T8" fmla="*/ 0 60000 65536"/>
              <a:gd name="T9" fmla="*/ 0 w 227"/>
              <a:gd name="T10" fmla="*/ 0 h 227"/>
              <a:gd name="T11" fmla="*/ 227 w 227"/>
              <a:gd name="T12" fmla="*/ 227 h 2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7" h="227">
                <a:moveTo>
                  <a:pt x="0" y="0"/>
                </a:moveTo>
                <a:cubicBezTo>
                  <a:pt x="113" y="3"/>
                  <a:pt x="227" y="7"/>
                  <a:pt x="227" y="45"/>
                </a:cubicBezTo>
                <a:cubicBezTo>
                  <a:pt x="227" y="83"/>
                  <a:pt x="113" y="155"/>
                  <a:pt x="0" y="227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9081" name="Text Box 54"/>
          <p:cNvSpPr txBox="1">
            <a:spLocks noChangeArrowheads="1"/>
          </p:cNvSpPr>
          <p:nvPr/>
        </p:nvSpPr>
        <p:spPr bwMode="auto">
          <a:xfrm>
            <a:off x="8647113" y="2500313"/>
            <a:ext cx="53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*</a:t>
            </a:r>
          </a:p>
        </p:txBody>
      </p:sp>
      <p:sp>
        <p:nvSpPr>
          <p:cNvPr id="129082" name="Text Box 55"/>
          <p:cNvSpPr txBox="1">
            <a:spLocks noChangeArrowheads="1"/>
          </p:cNvSpPr>
          <p:nvPr/>
        </p:nvSpPr>
        <p:spPr bwMode="auto">
          <a:xfrm>
            <a:off x="7999413" y="1482725"/>
            <a:ext cx="381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i="1">
                <a:solidFill>
                  <a:srgbClr val="000000"/>
                </a:solidFill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129083" name="Line 56"/>
          <p:cNvSpPr>
            <a:spLocks noChangeShapeType="1"/>
          </p:cNvSpPr>
          <p:nvPr/>
        </p:nvSpPr>
        <p:spPr bwMode="auto">
          <a:xfrm flipV="1">
            <a:off x="7967663" y="1492250"/>
            <a:ext cx="0" cy="2698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9084" name="Line 57"/>
          <p:cNvSpPr>
            <a:spLocks noChangeShapeType="1"/>
          </p:cNvSpPr>
          <p:nvPr/>
        </p:nvSpPr>
        <p:spPr bwMode="auto">
          <a:xfrm flipV="1">
            <a:off x="4986338" y="4987925"/>
            <a:ext cx="574675" cy="555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9085" name="Line 58"/>
          <p:cNvSpPr>
            <a:spLocks noChangeShapeType="1"/>
          </p:cNvSpPr>
          <p:nvPr/>
        </p:nvSpPr>
        <p:spPr bwMode="auto">
          <a:xfrm flipH="1" flipV="1">
            <a:off x="3197225" y="5022850"/>
            <a:ext cx="1798638" cy="285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9086" name="Line 59"/>
          <p:cNvSpPr>
            <a:spLocks noChangeShapeType="1"/>
          </p:cNvSpPr>
          <p:nvPr/>
        </p:nvSpPr>
        <p:spPr bwMode="auto">
          <a:xfrm flipH="1" flipV="1">
            <a:off x="3178175" y="3498850"/>
            <a:ext cx="19050" cy="15097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Line 56"/>
          <p:cNvSpPr>
            <a:spLocks noChangeShapeType="1"/>
          </p:cNvSpPr>
          <p:nvPr/>
        </p:nvSpPr>
        <p:spPr bwMode="auto">
          <a:xfrm flipH="1">
            <a:off x="8077200" y="3286125"/>
            <a:ext cx="9525" cy="317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Text Box 17"/>
          <p:cNvSpPr txBox="1">
            <a:spLocks noChangeArrowheads="1"/>
          </p:cNvSpPr>
          <p:nvPr/>
        </p:nvSpPr>
        <p:spPr bwMode="auto">
          <a:xfrm>
            <a:off x="8113713" y="3219450"/>
            <a:ext cx="53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</a:rPr>
              <a:t>id</a:t>
            </a:r>
          </a:p>
        </p:txBody>
      </p:sp>
      <p:sp>
        <p:nvSpPr>
          <p:cNvPr id="59" name="Rectangle 37"/>
          <p:cNvSpPr>
            <a:spLocks noChangeArrowheads="1"/>
          </p:cNvSpPr>
          <p:nvPr/>
        </p:nvSpPr>
        <p:spPr bwMode="auto">
          <a:xfrm>
            <a:off x="230188" y="1012825"/>
            <a:ext cx="1290637" cy="19081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609600" indent="-609600" eaLnBrk="1" hangingPunct="1">
              <a:lnSpc>
                <a:spcPts val="2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zh-CN" altLang="zh-CN" b="1" noProof="1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0) </a:t>
            </a:r>
            <a:r>
              <a:rPr lang="en-US" altLang="zh-CN" b="1" i="1" noProof="1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S</a:t>
            </a:r>
            <a:r>
              <a:rPr lang="en-US" altLang="zh-CN" sz="1600" b="1" i="1" noProof="1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′ </a:t>
            </a:r>
            <a:r>
              <a:rPr lang="en-US" altLang="zh-CN" b="1" i="1" noProof="1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→S</a:t>
            </a:r>
          </a:p>
          <a:p>
            <a:pPr marL="609600" indent="-609600" eaLnBrk="1" hangingPunct="1">
              <a:lnSpc>
                <a:spcPts val="2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b="1" noProof="1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1) </a:t>
            </a:r>
            <a:r>
              <a:rPr lang="en-US" altLang="zh-CN" b="1" i="1" noProof="1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S→L=R</a:t>
            </a:r>
          </a:p>
          <a:p>
            <a:pPr marL="609600" indent="-609600" eaLnBrk="1" hangingPunct="1">
              <a:lnSpc>
                <a:spcPts val="2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b="1" noProof="1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2) </a:t>
            </a:r>
            <a:r>
              <a:rPr lang="en-US" altLang="zh-CN" b="1" i="1" noProof="1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S→R</a:t>
            </a:r>
          </a:p>
          <a:p>
            <a:pPr marL="609600" indent="-609600" eaLnBrk="1" hangingPunct="1">
              <a:lnSpc>
                <a:spcPts val="2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b="1" noProof="1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3) </a:t>
            </a:r>
            <a:r>
              <a:rPr lang="en-US" altLang="zh-CN" b="1" i="1" noProof="1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L→*R</a:t>
            </a:r>
          </a:p>
          <a:p>
            <a:pPr marL="609600" indent="-609600" eaLnBrk="1" hangingPunct="1">
              <a:lnSpc>
                <a:spcPts val="2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b="1" noProof="1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4) </a:t>
            </a:r>
            <a:r>
              <a:rPr lang="en-US" altLang="zh-CN" b="1" i="1" noProof="1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L→</a:t>
            </a:r>
            <a:r>
              <a:rPr lang="en-US" altLang="zh-CN" b="1" noProof="1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id</a:t>
            </a:r>
          </a:p>
          <a:p>
            <a:pPr marL="609600" indent="-609600" eaLnBrk="1" hangingPunct="1">
              <a:lnSpc>
                <a:spcPts val="2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b="1" noProof="1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5) </a:t>
            </a:r>
            <a:r>
              <a:rPr lang="en-US" altLang="zh-CN" b="1" i="1" noProof="1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R→L</a:t>
            </a:r>
          </a:p>
        </p:txBody>
      </p:sp>
      <p:sp>
        <p:nvSpPr>
          <p:cNvPr id="63" name="Freeform 53"/>
          <p:cNvSpPr>
            <a:spLocks noChangeArrowheads="1"/>
          </p:cNvSpPr>
          <p:nvPr/>
        </p:nvSpPr>
        <p:spPr bwMode="auto">
          <a:xfrm flipH="1">
            <a:off x="3359150" y="3651250"/>
            <a:ext cx="365125" cy="449263"/>
          </a:xfrm>
          <a:custGeom>
            <a:avLst/>
            <a:gdLst>
              <a:gd name="T0" fmla="*/ 0 w 227"/>
              <a:gd name="T1" fmla="*/ 0 h 227"/>
              <a:gd name="T2" fmla="*/ 2147483646 w 227"/>
              <a:gd name="T3" fmla="*/ 2147483646 h 227"/>
              <a:gd name="T4" fmla="*/ 0 w 227"/>
              <a:gd name="T5" fmla="*/ 2147483646 h 227"/>
              <a:gd name="T6" fmla="*/ 0 60000 65536"/>
              <a:gd name="T7" fmla="*/ 0 60000 65536"/>
              <a:gd name="T8" fmla="*/ 0 60000 65536"/>
              <a:gd name="T9" fmla="*/ 0 w 227"/>
              <a:gd name="T10" fmla="*/ 0 h 227"/>
              <a:gd name="T11" fmla="*/ 227 w 227"/>
              <a:gd name="T12" fmla="*/ 227 h 2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7" h="227">
                <a:moveTo>
                  <a:pt x="0" y="0"/>
                </a:moveTo>
                <a:cubicBezTo>
                  <a:pt x="113" y="3"/>
                  <a:pt x="227" y="7"/>
                  <a:pt x="227" y="45"/>
                </a:cubicBezTo>
                <a:cubicBezTo>
                  <a:pt x="227" y="83"/>
                  <a:pt x="113" y="155"/>
                  <a:pt x="0" y="227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928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25101F4-DBA7-47D1-95C2-8A329EEFC7C2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46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974021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9035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9035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90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9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9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9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9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9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9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9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9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9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9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9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9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9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9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9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9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9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9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9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9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9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29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29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9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29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29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9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290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290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29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290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290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29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29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29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29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290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290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29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290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290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29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29038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29038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290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290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290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290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290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290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290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290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290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290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290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290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29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1290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290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29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1290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1290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29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1290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1290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129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1290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1290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29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129044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129044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290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129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129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29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1290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1290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1290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1290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1290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290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1290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1290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1290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1290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1290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1290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1290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1290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1290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1290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1290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1290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1290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1290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1290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1290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1290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290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 nodeType="clickPar">
                      <p:stCondLst>
                        <p:cond delay="indefinite"/>
                      </p:stCondLst>
                      <p:childTnLst>
                        <p:par>
                          <p:cTn id="2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1290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1290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129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 nodeType="clickPar">
                      <p:stCondLst>
                        <p:cond delay="indefinite"/>
                      </p:stCondLst>
                      <p:childTnLst>
                        <p:par>
                          <p:cTn id="2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1290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1290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129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1290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1290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129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1290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1290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129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1290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1290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8" dur="500"/>
                                        <p:tgtEl>
                                          <p:spTgt spid="129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1290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500" fill="hold"/>
                                        <p:tgtEl>
                                          <p:spTgt spid="1290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129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 nodeType="clickPar">
                      <p:stCondLst>
                        <p:cond delay="indefinite"/>
                      </p:stCondLst>
                      <p:childTnLst>
                        <p:par>
                          <p:cTn id="2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1290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500" fill="hold"/>
                                        <p:tgtEl>
                                          <p:spTgt spid="1290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129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4" dur="500" fill="hold"/>
                                        <p:tgtEl>
                                          <p:spTgt spid="129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500" fill="hold"/>
                                        <p:tgtEl>
                                          <p:spTgt spid="129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129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0" dur="500" fill="hold"/>
                                        <p:tgtEl>
                                          <p:spTgt spid="129048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500" fill="hold"/>
                                        <p:tgtEl>
                                          <p:spTgt spid="129048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2" dur="500"/>
                                        <p:tgtEl>
                                          <p:spTgt spid="12904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6" dur="500" fill="hold"/>
                                        <p:tgtEl>
                                          <p:spTgt spid="129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500" fill="hold"/>
                                        <p:tgtEl>
                                          <p:spTgt spid="129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8" dur="500"/>
                                        <p:tgtEl>
                                          <p:spTgt spid="129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8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2" dur="500" fill="hold"/>
                                        <p:tgtEl>
                                          <p:spTgt spid="1290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500" fill="hold"/>
                                        <p:tgtEl>
                                          <p:spTgt spid="1290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4" dur="500"/>
                                        <p:tgtEl>
                                          <p:spTgt spid="1290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 nodeType="clickPar">
                      <p:stCondLst>
                        <p:cond delay="indefinite"/>
                      </p:stCondLst>
                      <p:childTnLst>
                        <p:par>
                          <p:cTn id="2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9" dur="500" fill="hold"/>
                                        <p:tgtEl>
                                          <p:spTgt spid="1290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500" fill="hold"/>
                                        <p:tgtEl>
                                          <p:spTgt spid="1290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1" dur="500"/>
                                        <p:tgtEl>
                                          <p:spTgt spid="1290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 nodeType="clickPar">
                      <p:stCondLst>
                        <p:cond delay="indefinite"/>
                      </p:stCondLst>
                      <p:childTnLst>
                        <p:par>
                          <p:cTn id="2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6" dur="500" fill="hold"/>
                                        <p:tgtEl>
                                          <p:spTgt spid="1290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7" dur="500" fill="hold"/>
                                        <p:tgtEl>
                                          <p:spTgt spid="1290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8" dur="500"/>
                                        <p:tgtEl>
                                          <p:spTgt spid="1290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 nodeType="clickPar">
                      <p:stCondLst>
                        <p:cond delay="indefinite"/>
                      </p:stCondLst>
                      <p:childTnLst>
                        <p:par>
                          <p:cTn id="3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3" dur="500" fill="hold"/>
                                        <p:tgtEl>
                                          <p:spTgt spid="1290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4" dur="500" fill="hold"/>
                                        <p:tgtEl>
                                          <p:spTgt spid="1290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5" dur="500"/>
                                        <p:tgtEl>
                                          <p:spTgt spid="1290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 nodeType="clickPar">
                      <p:stCondLst>
                        <p:cond delay="indefinite"/>
                      </p:stCondLst>
                      <p:childTnLst>
                        <p:par>
                          <p:cTn id="3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0" dur="500" fill="hold"/>
                                        <p:tgtEl>
                                          <p:spTgt spid="1290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1" dur="500" fill="hold"/>
                                        <p:tgtEl>
                                          <p:spTgt spid="1290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2" dur="500"/>
                                        <p:tgtEl>
                                          <p:spTgt spid="129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5" dur="500" fill="hold"/>
                                        <p:tgtEl>
                                          <p:spTgt spid="1290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500" fill="hold"/>
                                        <p:tgtEl>
                                          <p:spTgt spid="1290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7" dur="500"/>
                                        <p:tgtEl>
                                          <p:spTgt spid="129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1" dur="500" fill="hold"/>
                                        <p:tgtEl>
                                          <p:spTgt spid="1290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2" dur="500" fill="hold"/>
                                        <p:tgtEl>
                                          <p:spTgt spid="1290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3" dur="500"/>
                                        <p:tgtEl>
                                          <p:spTgt spid="129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 nodeType="clickPar">
                      <p:stCondLst>
                        <p:cond delay="indefinite"/>
                      </p:stCondLst>
                      <p:childTnLst>
                        <p:par>
                          <p:cTn id="3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8" dur="500" fill="hold"/>
                                        <p:tgtEl>
                                          <p:spTgt spid="1290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9" dur="500" fill="hold"/>
                                        <p:tgtEl>
                                          <p:spTgt spid="1290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0" dur="500"/>
                                        <p:tgtEl>
                                          <p:spTgt spid="129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3" dur="500" fill="hold"/>
                                        <p:tgtEl>
                                          <p:spTgt spid="1290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4" dur="500" fill="hold"/>
                                        <p:tgtEl>
                                          <p:spTgt spid="1290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5" dur="500"/>
                                        <p:tgtEl>
                                          <p:spTgt spid="129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9" dur="500" fill="hold"/>
                                        <p:tgtEl>
                                          <p:spTgt spid="1290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500" fill="hold"/>
                                        <p:tgtEl>
                                          <p:spTgt spid="1290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1" dur="500"/>
                                        <p:tgtEl>
                                          <p:spTgt spid="129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 nodeType="clickPar">
                      <p:stCondLst>
                        <p:cond delay="indefinite"/>
                      </p:stCondLst>
                      <p:childTnLst>
                        <p:par>
                          <p:cTn id="3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6" dur="500" fill="hold"/>
                                        <p:tgtEl>
                                          <p:spTgt spid="1290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500" fill="hold"/>
                                        <p:tgtEl>
                                          <p:spTgt spid="1290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8" dur="500"/>
                                        <p:tgtEl>
                                          <p:spTgt spid="129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1" dur="500" fill="hold"/>
                                        <p:tgtEl>
                                          <p:spTgt spid="1290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2" dur="500" fill="hold"/>
                                        <p:tgtEl>
                                          <p:spTgt spid="1290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3" dur="500"/>
                                        <p:tgtEl>
                                          <p:spTgt spid="129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 nodeType="clickPar">
                      <p:stCondLst>
                        <p:cond delay="indefinite"/>
                      </p:stCondLst>
                      <p:childTnLst>
                        <p:par>
                          <p:cTn id="3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8" dur="500" fill="hold"/>
                                        <p:tgtEl>
                                          <p:spTgt spid="1290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9" dur="500" fill="hold"/>
                                        <p:tgtEl>
                                          <p:spTgt spid="1290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0" dur="500"/>
                                        <p:tgtEl>
                                          <p:spTgt spid="129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3" dur="500" fill="hold"/>
                                        <p:tgtEl>
                                          <p:spTgt spid="1290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4" dur="500" fill="hold"/>
                                        <p:tgtEl>
                                          <p:spTgt spid="1290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5" dur="500"/>
                                        <p:tgtEl>
                                          <p:spTgt spid="129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9" dur="500" fill="hold"/>
                                        <p:tgtEl>
                                          <p:spTgt spid="1290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0" dur="500" fill="hold"/>
                                        <p:tgtEl>
                                          <p:spTgt spid="1290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1" dur="500"/>
                                        <p:tgtEl>
                                          <p:spTgt spid="129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" fill="hold" nodeType="clickPar">
                      <p:stCondLst>
                        <p:cond delay="indefinite"/>
                      </p:stCondLst>
                      <p:childTnLst>
                        <p:par>
                          <p:cTn id="3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6" dur="500" fill="hold"/>
                                        <p:tgtEl>
                                          <p:spTgt spid="1290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7" dur="500" fill="hold"/>
                                        <p:tgtEl>
                                          <p:spTgt spid="1290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8" dur="500"/>
                                        <p:tgtEl>
                                          <p:spTgt spid="129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1" dur="500" fill="hold"/>
                                        <p:tgtEl>
                                          <p:spTgt spid="1290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2" dur="500" fill="hold"/>
                                        <p:tgtEl>
                                          <p:spTgt spid="1290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3" dur="500"/>
                                        <p:tgtEl>
                                          <p:spTgt spid="129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7" dur="500" fill="hold"/>
                                        <p:tgtEl>
                                          <p:spTgt spid="1290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8" dur="500" fill="hold"/>
                                        <p:tgtEl>
                                          <p:spTgt spid="1290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9" dur="500"/>
                                        <p:tgtEl>
                                          <p:spTgt spid="129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0" fill="hold" nodeType="clickPar">
                      <p:stCondLst>
                        <p:cond delay="indefinite"/>
                      </p:stCondLst>
                      <p:childTnLst>
                        <p:par>
                          <p:cTn id="3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4" dur="500" fill="hold"/>
                                        <p:tgtEl>
                                          <p:spTgt spid="1290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5" dur="500" fill="hold"/>
                                        <p:tgtEl>
                                          <p:spTgt spid="1290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6" dur="500"/>
                                        <p:tgtEl>
                                          <p:spTgt spid="129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9" dur="500" fill="hold"/>
                                        <p:tgtEl>
                                          <p:spTgt spid="129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500" fill="hold"/>
                                        <p:tgtEl>
                                          <p:spTgt spid="129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1" dur="500"/>
                                        <p:tgtEl>
                                          <p:spTgt spid="129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7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5" dur="500" fill="hold"/>
                                        <p:tgtEl>
                                          <p:spTgt spid="129072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6" dur="500" fill="hold"/>
                                        <p:tgtEl>
                                          <p:spTgt spid="129072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7" dur="500"/>
                                        <p:tgtEl>
                                          <p:spTgt spid="12907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1" dur="500" fill="hold"/>
                                        <p:tgtEl>
                                          <p:spTgt spid="1290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2" dur="500" fill="hold"/>
                                        <p:tgtEl>
                                          <p:spTgt spid="1290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3" dur="500"/>
                                        <p:tgtEl>
                                          <p:spTgt spid="1290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7" dur="500" fill="hold"/>
                                        <p:tgtEl>
                                          <p:spTgt spid="1290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8" dur="500" fill="hold"/>
                                        <p:tgtEl>
                                          <p:spTgt spid="1290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9" dur="500"/>
                                        <p:tgtEl>
                                          <p:spTgt spid="1290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0" fill="hold" nodeType="clickPar">
                      <p:stCondLst>
                        <p:cond delay="indefinite"/>
                      </p:stCondLst>
                      <p:childTnLst>
                        <p:par>
                          <p:cTn id="4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4" dur="500" fill="hold"/>
                                        <p:tgtEl>
                                          <p:spTgt spid="1290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5" dur="500" fill="hold"/>
                                        <p:tgtEl>
                                          <p:spTgt spid="1290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6" dur="500"/>
                                        <p:tgtEl>
                                          <p:spTgt spid="1290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7" fill="hold" nodeType="clickPar">
                      <p:stCondLst>
                        <p:cond delay="indefinite"/>
                      </p:stCondLst>
                      <p:childTnLst>
                        <p:par>
                          <p:cTn id="4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1" dur="500" fill="hold"/>
                                        <p:tgtEl>
                                          <p:spTgt spid="1290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2" dur="500" fill="hold"/>
                                        <p:tgtEl>
                                          <p:spTgt spid="1290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3" dur="500"/>
                                        <p:tgtEl>
                                          <p:spTgt spid="1290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4" fill="hold" nodeType="clickPar">
                      <p:stCondLst>
                        <p:cond delay="indefinite"/>
                      </p:stCondLst>
                      <p:childTnLst>
                        <p:par>
                          <p:cTn id="4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8" dur="500" fill="hold"/>
                                        <p:tgtEl>
                                          <p:spTgt spid="1290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9" dur="500" fill="hold"/>
                                        <p:tgtEl>
                                          <p:spTgt spid="1290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0" dur="500"/>
                                        <p:tgtEl>
                                          <p:spTgt spid="1290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1" fill="hold" nodeType="clickPar">
                      <p:stCondLst>
                        <p:cond delay="indefinite"/>
                      </p:stCondLst>
                      <p:childTnLst>
                        <p:par>
                          <p:cTn id="4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5" dur="500" fill="hold"/>
                                        <p:tgtEl>
                                          <p:spTgt spid="129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6" dur="500" fill="hold"/>
                                        <p:tgtEl>
                                          <p:spTgt spid="129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7" dur="500"/>
                                        <p:tgtEl>
                                          <p:spTgt spid="129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0" dur="500" fill="hold"/>
                                        <p:tgtEl>
                                          <p:spTgt spid="1290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1" dur="500" fill="hold"/>
                                        <p:tgtEl>
                                          <p:spTgt spid="1290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2" dur="500"/>
                                        <p:tgtEl>
                                          <p:spTgt spid="129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6" dur="500" fill="hold"/>
                                        <p:tgtEl>
                                          <p:spTgt spid="1290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7" dur="500" fill="hold"/>
                                        <p:tgtEl>
                                          <p:spTgt spid="1290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8" dur="500"/>
                                        <p:tgtEl>
                                          <p:spTgt spid="129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 nodeType="clickPar">
                      <p:stCondLst>
                        <p:cond delay="indefinite"/>
                      </p:stCondLst>
                      <p:childTnLst>
                        <p:par>
                          <p:cTn id="4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3" dur="500" fill="hold"/>
                                        <p:tgtEl>
                                          <p:spTgt spid="129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4" dur="500" fill="hold"/>
                                        <p:tgtEl>
                                          <p:spTgt spid="129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5" dur="500"/>
                                        <p:tgtEl>
                                          <p:spTgt spid="129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8" dur="500" fill="hold"/>
                                        <p:tgtEl>
                                          <p:spTgt spid="1270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9" dur="500" fill="hold"/>
                                        <p:tgtEl>
                                          <p:spTgt spid="1270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0" dur="500"/>
                                        <p:tgtEl>
                                          <p:spTgt spid="127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4" dur="500" fill="hold"/>
                                        <p:tgtEl>
                                          <p:spTgt spid="1290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5" dur="500" fill="hold"/>
                                        <p:tgtEl>
                                          <p:spTgt spid="1290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6" dur="500"/>
                                        <p:tgtEl>
                                          <p:spTgt spid="129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7" fill="hold" nodeType="clickPar">
                      <p:stCondLst>
                        <p:cond delay="indefinite"/>
                      </p:stCondLst>
                      <p:childTnLst>
                        <p:par>
                          <p:cTn id="4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1" dur="500" fill="hold"/>
                                        <p:tgtEl>
                                          <p:spTgt spid="1290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2" dur="500" fill="hold"/>
                                        <p:tgtEl>
                                          <p:spTgt spid="1290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3" dur="500"/>
                                        <p:tgtEl>
                                          <p:spTgt spid="129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6" dur="500" fill="hold"/>
                                        <p:tgtEl>
                                          <p:spTgt spid="129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7" dur="500" fill="hold"/>
                                        <p:tgtEl>
                                          <p:spTgt spid="129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8" dur="500"/>
                                        <p:tgtEl>
                                          <p:spTgt spid="129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9" fill="hold" nodeType="clickPar">
                      <p:stCondLst>
                        <p:cond delay="indefinite"/>
                      </p:stCondLst>
                      <p:childTnLst>
                        <p:par>
                          <p:cTn id="4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3" dur="500" fill="hold"/>
                                        <p:tgtEl>
                                          <p:spTgt spid="1290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4" dur="500" fill="hold"/>
                                        <p:tgtEl>
                                          <p:spTgt spid="1290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5" dur="500"/>
                                        <p:tgtEl>
                                          <p:spTgt spid="129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8" dur="500" fill="hold"/>
                                        <p:tgtEl>
                                          <p:spTgt spid="1290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9" dur="500" fill="hold"/>
                                        <p:tgtEl>
                                          <p:spTgt spid="1290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0" dur="500"/>
                                        <p:tgtEl>
                                          <p:spTgt spid="129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1" fill="hold" nodeType="clickPar">
                      <p:stCondLst>
                        <p:cond delay="indefinite"/>
                      </p:stCondLst>
                      <p:childTnLst>
                        <p:par>
                          <p:cTn id="5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44" grpId="0" build="allAtOnce" animBg="1"/>
      <p:bldP spid="129035" grpId="0" build="allAtOnce" animBg="1"/>
      <p:bldP spid="129036" grpId="0" animBg="1"/>
      <p:bldP spid="129037" grpId="0" animBg="1"/>
      <p:bldP spid="129038" grpId="0" build="allAtOnce" animBg="1"/>
      <p:bldP spid="129039" grpId="0" animBg="1"/>
      <p:bldP spid="129040" grpId="0"/>
      <p:bldP spid="129041" grpId="0" animBg="1"/>
      <p:bldP spid="129042" grpId="0" animBg="1"/>
      <p:bldP spid="129043" grpId="0"/>
      <p:bldP spid="129045" grpId="0" animBg="1"/>
      <p:bldP spid="129046" grpId="0"/>
      <p:bldP spid="129047" grpId="0"/>
      <p:bldP spid="129048" grpId="0" build="allAtOnce" animBg="1"/>
      <p:bldP spid="129049" grpId="0" animBg="1"/>
      <p:bldP spid="129050" grpId="0"/>
      <p:bldP spid="129051" grpId="0" animBg="1"/>
      <p:bldP spid="129052" grpId="0" animBg="1"/>
      <p:bldP spid="129053" grpId="0"/>
      <p:bldP spid="129054" grpId="0" animBg="1"/>
      <p:bldP spid="129055" grpId="0" animBg="1"/>
      <p:bldP spid="129056" grpId="0"/>
      <p:bldP spid="129057" grpId="0" animBg="1"/>
      <p:bldP spid="129058" grpId="0" animBg="1"/>
      <p:bldP spid="129059" grpId="0"/>
      <p:bldP spid="129062" grpId="0"/>
      <p:bldP spid="129063" grpId="0"/>
      <p:bldP spid="129064" grpId="0" animBg="1"/>
      <p:bldP spid="129065" grpId="0"/>
      <p:bldP spid="129067" grpId="0"/>
      <p:bldP spid="129068" grpId="0" animBg="1"/>
      <p:bldP spid="129069" grpId="0" animBg="1"/>
      <p:bldP spid="129070" grpId="0" animBg="1"/>
      <p:bldP spid="129071" grpId="0"/>
      <p:bldP spid="129072" grpId="0" build="allAtOnce" animBg="1"/>
      <p:bldP spid="129073" grpId="0"/>
      <p:bldP spid="129074" grpId="0" animBg="1"/>
      <p:bldP spid="129075" grpId="0" animBg="1"/>
      <p:bldP spid="129076" grpId="0" animBg="1"/>
      <p:bldP spid="129077" grpId="0" animBg="1"/>
      <p:bldP spid="129078" grpId="0" animBg="1"/>
      <p:bldP spid="127023" grpId="0"/>
      <p:bldP spid="129080" grpId="0" animBg="1"/>
      <p:bldP spid="129081" grpId="0"/>
      <p:bldP spid="129082" grpId="0"/>
      <p:bldP spid="129083" grpId="0" animBg="1"/>
      <p:bldP spid="129084" grpId="0" animBg="1"/>
      <p:bldP spid="129085" grpId="0" animBg="1"/>
      <p:bldP spid="129086" grpId="0" animBg="1"/>
      <p:bldP spid="60" grpId="0" animBg="1"/>
      <p:bldP spid="61" grpId="0"/>
      <p:bldP spid="6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标题 1"/>
          <p:cNvSpPr>
            <a:spLocks noGrp="1" noChangeArrowheads="1"/>
          </p:cNvSpPr>
          <p:nvPr>
            <p:ph type="title"/>
          </p:nvPr>
        </p:nvSpPr>
        <p:spPr>
          <a:xfrm>
            <a:off x="755650" y="4841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赋值语句文法的</a:t>
            </a:r>
            <a:b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000" i="1">
                <a:solidFill>
                  <a:schemeClr val="tx1"/>
                </a:solidFill>
                <a:ea typeface="黑体" panose="02010609060101010101" pitchFamily="49" charset="-122"/>
              </a:rPr>
              <a:t>LR</a:t>
            </a:r>
            <a:r>
              <a:rPr lang="en-US" altLang="zh-CN" sz="3000">
                <a:solidFill>
                  <a:schemeClr val="tx1"/>
                </a:solidFill>
                <a:ea typeface="黑体" panose="02010609060101010101" pitchFamily="49" charset="-122"/>
              </a:rPr>
              <a:t>(1)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分析表</a:t>
            </a:r>
          </a:p>
        </p:txBody>
      </p:sp>
      <p:graphicFrame>
        <p:nvGraphicFramePr>
          <p:cNvPr id="77826" name="表格 77825"/>
          <p:cNvGraphicFramePr/>
          <p:nvPr/>
        </p:nvGraphicFramePr>
        <p:xfrm>
          <a:off x="3986213" y="93663"/>
          <a:ext cx="4618038" cy="5003800"/>
        </p:xfrm>
        <a:graphic>
          <a:graphicData uri="http://schemas.openxmlformats.org/drawingml/2006/table">
            <a:tbl>
              <a:tblPr/>
              <a:tblGrid>
                <a:gridCol w="681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3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12738">
                <a:tc rowSpan="2"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zh-CN" altLang="en-US" b="1">
                          <a:solidFill>
                            <a:srgbClr val="0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状态</a:t>
                      </a:r>
                    </a:p>
                  </a:txBody>
                  <a:tcPr marL="91444" marR="91444" marT="34291" marB="34291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4"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 i="1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ACTION</a:t>
                      </a:r>
                      <a:endParaRPr lang="zh-CN" altLang="en-US" sz="1600" b="1" i="1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44" marR="91444" marT="34291" marB="34291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 i="1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GOTO</a:t>
                      </a:r>
                      <a:endParaRPr lang="zh-CN" altLang="en-US" sz="1600" b="1" i="1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44" marR="91444" marT="34291" marB="34291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5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*</a:t>
                      </a: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5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id</a:t>
                      </a: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5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=</a:t>
                      </a: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500" b="1">
                          <a:latin typeface="华文楷体" panose="02010600040101010101" pitchFamily="2" charset="-122"/>
                          <a:ea typeface="Times New Roman" panose="02020603050405020304" pitchFamily="18" charset="0"/>
                        </a:rPr>
                        <a:t>$</a:t>
                      </a:r>
                      <a:endParaRPr lang="zh-CN" altLang="en-US" sz="1500" b="1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500" b="1" i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</a:t>
                      </a:r>
                      <a:endParaRPr lang="zh-CN" altLang="en-US" sz="1500" b="1" i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500" b="1" i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</a:t>
                      </a:r>
                      <a:endParaRPr lang="zh-CN" altLang="en-US" sz="1500" b="1" i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500" b="1" i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</a:t>
                      </a:r>
                      <a:endParaRPr lang="zh-CN" altLang="en-US" sz="1500" b="1" i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4" marR="91444" marT="34291" marB="34291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5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s4</a:t>
                      </a: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5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s5</a:t>
                      </a: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5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5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5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</a:t>
                      </a: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37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4" marR="91444" marT="34291" marB="34291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5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acc</a:t>
                      </a: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4" marR="91444" marT="34291" marB="34291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2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2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2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5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s6</a:t>
                      </a:r>
                      <a:endParaRPr lang="zh-CN" altLang="en-US" sz="15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2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5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r5</a:t>
                      </a:r>
                      <a:endParaRPr lang="zh-CN" altLang="en-US" sz="15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2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2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2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7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4" marR="91444" marT="34291" marB="34291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5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r2</a:t>
                      </a: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4" marR="91444" marT="34291" marB="34291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5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s4</a:t>
                      </a: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5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s5</a:t>
                      </a: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5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</a:t>
                      </a: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5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</a:t>
                      </a: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737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4" marR="91444" marT="34291" marB="34291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5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r4</a:t>
                      </a: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5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r4</a:t>
                      </a: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4" marR="91444" marT="34291" marB="34291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5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s11</a:t>
                      </a: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5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s12</a:t>
                      </a: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5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</a:t>
                      </a: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5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</a:t>
                      </a: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2737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4" marR="91444" marT="34291" marB="34291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5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r3</a:t>
                      </a: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5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r3</a:t>
                      </a: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4" marR="91444" marT="34291" marB="34291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5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r5</a:t>
                      </a: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5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r5</a:t>
                      </a: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2737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4" marR="91444" marT="34291" marB="34291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5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r1</a:t>
                      </a: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4" marR="91444" marT="34291" marB="34291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5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r5</a:t>
                      </a:r>
                      <a:endParaRPr lang="zh-CN" altLang="en-US" sz="15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2737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4" marR="91444" marT="34291" marB="34291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5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s11</a:t>
                      </a: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5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s12</a:t>
                      </a: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5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</a:t>
                      </a: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500" b="1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13</a:t>
                      </a: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4" marR="91444" marT="34291" marB="34291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5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r4</a:t>
                      </a:r>
                      <a:endParaRPr lang="zh-CN" altLang="en-US" sz="15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2737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4" marR="91444" marT="34291" marB="34291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5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r3</a:t>
                      </a:r>
                      <a:endParaRPr lang="zh-CN" altLang="en-US" sz="15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500" b="1" dirty="0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4" name="Rectangle 37"/>
          <p:cNvSpPr>
            <a:spLocks noChangeArrowheads="1"/>
          </p:cNvSpPr>
          <p:nvPr/>
        </p:nvSpPr>
        <p:spPr bwMode="auto">
          <a:xfrm>
            <a:off x="1244600" y="1392238"/>
            <a:ext cx="1290638" cy="22209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609600" indent="-609600" eaLnBrk="1" hangingPunct="1">
              <a:lnSpc>
                <a:spcPts val="2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zh-CN" altLang="en-US" b="1" noProof="1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</a:rPr>
              <a:t>文法</a:t>
            </a:r>
            <a:endParaRPr lang="zh-CN" altLang="zh-CN" b="1" noProof="1">
              <a:solidFill>
                <a:prstClr val="black"/>
              </a:solidFill>
              <a:latin typeface="华文楷体" pitchFamily="2" charset="-122"/>
              <a:cs typeface="Times New Roman" pitchFamily="18" charset="0"/>
            </a:endParaRPr>
          </a:p>
          <a:p>
            <a:pPr marL="609600" indent="-609600" eaLnBrk="1" hangingPunct="1">
              <a:lnSpc>
                <a:spcPts val="2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zh-CN" altLang="zh-CN" b="1" noProof="1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0) </a:t>
            </a:r>
            <a:r>
              <a:rPr lang="en-US" altLang="zh-CN" b="1" i="1" noProof="1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S</a:t>
            </a:r>
            <a:r>
              <a:rPr lang="en-US" altLang="zh-CN" sz="1600" b="1" i="1" noProof="1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′ </a:t>
            </a:r>
            <a:r>
              <a:rPr lang="en-US" altLang="zh-CN" b="1" i="1" noProof="1">
                <a:solidFill>
                  <a:prstClr val="black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→S</a:t>
            </a:r>
            <a:endParaRPr lang="en-US" altLang="zh-CN" b="1" i="1" noProof="1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609600" indent="-609600" eaLnBrk="1" hangingPunct="1">
              <a:lnSpc>
                <a:spcPts val="2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b="1" noProof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1) </a:t>
            </a:r>
            <a:r>
              <a:rPr lang="en-US" altLang="zh-CN" b="1" i="1" noProof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S→L=R</a:t>
            </a:r>
          </a:p>
          <a:p>
            <a:pPr marL="609600" indent="-609600" eaLnBrk="1" hangingPunct="1">
              <a:lnSpc>
                <a:spcPts val="2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b="1" noProof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2) </a:t>
            </a:r>
            <a:r>
              <a:rPr lang="en-US" altLang="zh-CN" b="1" i="1" noProof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S→R</a:t>
            </a:r>
          </a:p>
          <a:p>
            <a:pPr marL="609600" indent="-609600" eaLnBrk="1" hangingPunct="1">
              <a:lnSpc>
                <a:spcPts val="2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b="1" noProof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3) </a:t>
            </a:r>
            <a:r>
              <a:rPr lang="en-US" altLang="zh-CN" b="1" i="1" noProof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L→*R</a:t>
            </a:r>
          </a:p>
          <a:p>
            <a:pPr marL="609600" indent="-609600" eaLnBrk="1" hangingPunct="1">
              <a:lnSpc>
                <a:spcPts val="2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b="1" noProof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4) </a:t>
            </a:r>
            <a:r>
              <a:rPr lang="en-US" altLang="zh-CN" b="1" i="1" noProof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L→</a:t>
            </a:r>
            <a:r>
              <a:rPr lang="en-US" altLang="zh-CN" b="1" noProof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id</a:t>
            </a:r>
          </a:p>
          <a:p>
            <a:pPr marL="609600" indent="-609600" eaLnBrk="1" hangingPunct="1">
              <a:lnSpc>
                <a:spcPts val="2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b="1" noProof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5) </a:t>
            </a:r>
            <a:r>
              <a:rPr lang="en-US" altLang="zh-CN" b="1" i="1" noProof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R→L</a:t>
            </a:r>
          </a:p>
        </p:txBody>
      </p:sp>
      <p:sp>
        <p:nvSpPr>
          <p:cNvPr id="82073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49656BC-3C8D-4020-85E0-C29CECC15144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47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4996190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970" name="组合 1"/>
          <p:cNvGrpSpPr>
            <a:grpSpLocks/>
          </p:cNvGrpSpPr>
          <p:nvPr/>
        </p:nvGrpSpPr>
        <p:grpSpPr bwMode="auto">
          <a:xfrm>
            <a:off x="1476375" y="63500"/>
            <a:ext cx="7823200" cy="5016500"/>
            <a:chOff x="1475656" y="63500"/>
            <a:chExt cx="7824390" cy="5016500"/>
          </a:xfrm>
        </p:grpSpPr>
        <p:sp>
          <p:nvSpPr>
            <p:cNvPr id="83978" name="Text Box 5"/>
            <p:cNvSpPr txBox="1">
              <a:spLocks noChangeArrowheads="1"/>
            </p:cNvSpPr>
            <p:nvPr/>
          </p:nvSpPr>
          <p:spPr bwMode="auto">
            <a:xfrm>
              <a:off x="1475656" y="1041400"/>
              <a:ext cx="1555987" cy="2154238"/>
            </a:xfrm>
            <a:prstGeom prst="rect">
              <a:avLst/>
            </a:prstGeom>
            <a:solidFill>
              <a:srgbClr val="B5CEED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S′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S</a:t>
              </a:r>
              <a:r>
                <a:rPr lang="zh-CN" altLang="en-US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, </a:t>
              </a:r>
              <a:r>
                <a:rPr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S→· L=R , </a:t>
              </a:r>
              <a:r>
                <a:rPr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S→ · R , </a:t>
              </a:r>
              <a:r>
                <a:rPr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L→·*R ,=/ </a:t>
              </a:r>
              <a:r>
                <a:rPr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L→ · 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,=/ </a:t>
              </a:r>
              <a:r>
                <a:rPr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R→ · L , </a:t>
              </a:r>
              <a:r>
                <a:rPr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3979" name="Text Box 6"/>
            <p:cNvSpPr txBox="1">
              <a:spLocks noChangeArrowheads="1"/>
            </p:cNvSpPr>
            <p:nvPr/>
          </p:nvSpPr>
          <p:spPr bwMode="auto">
            <a:xfrm>
              <a:off x="3334902" y="682625"/>
              <a:ext cx="1224148" cy="708025"/>
            </a:xfrm>
            <a:prstGeom prst="rect">
              <a:avLst/>
            </a:prstGeom>
            <a:solidFill>
              <a:srgbClr val="B5CEED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S′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→S· , </a:t>
              </a:r>
              <a:r>
                <a:rPr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3980" name="Line 7"/>
            <p:cNvSpPr>
              <a:spLocks noChangeShapeType="1"/>
            </p:cNvSpPr>
            <p:nvPr/>
          </p:nvSpPr>
          <p:spPr bwMode="auto">
            <a:xfrm flipV="1">
              <a:off x="3056900" y="1273175"/>
              <a:ext cx="28894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Text Box 8"/>
            <p:cNvSpPr txBox="1">
              <a:spLocks noChangeArrowheads="1"/>
            </p:cNvSpPr>
            <p:nvPr/>
          </p:nvSpPr>
          <p:spPr bwMode="auto">
            <a:xfrm>
              <a:off x="3334902" y="1463675"/>
              <a:ext cx="1479775" cy="93821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S→L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=R , </a:t>
              </a:r>
              <a:r>
                <a:rPr kumimoji="1"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R→L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, </a:t>
              </a:r>
              <a:r>
                <a:rPr kumimoji="1"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3982" name="Line 9"/>
            <p:cNvSpPr>
              <a:spLocks noChangeShapeType="1"/>
            </p:cNvSpPr>
            <p:nvPr/>
          </p:nvSpPr>
          <p:spPr bwMode="auto">
            <a:xfrm flipV="1">
              <a:off x="3047374" y="1860550"/>
              <a:ext cx="2984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83" name="Text Box 10"/>
            <p:cNvSpPr txBox="1">
              <a:spLocks noChangeArrowheads="1"/>
            </p:cNvSpPr>
            <p:nvPr/>
          </p:nvSpPr>
          <p:spPr bwMode="auto">
            <a:xfrm>
              <a:off x="3023561" y="1465263"/>
              <a:ext cx="50326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149" name="Text Box 11"/>
            <p:cNvSpPr txBox="1">
              <a:spLocks noChangeArrowheads="1"/>
            </p:cNvSpPr>
            <p:nvPr/>
          </p:nvSpPr>
          <p:spPr bwMode="auto">
            <a:xfrm>
              <a:off x="3334902" y="2444750"/>
              <a:ext cx="1224148" cy="70802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S→R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, </a:t>
              </a:r>
              <a:r>
                <a:rPr kumimoji="1"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3985" name="Line 12"/>
            <p:cNvSpPr>
              <a:spLocks noChangeShapeType="1"/>
            </p:cNvSpPr>
            <p:nvPr/>
          </p:nvSpPr>
          <p:spPr bwMode="auto">
            <a:xfrm flipV="1">
              <a:off x="3023561" y="2700338"/>
              <a:ext cx="28894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86" name="Text Box 13"/>
            <p:cNvSpPr txBox="1">
              <a:spLocks noChangeArrowheads="1"/>
            </p:cNvSpPr>
            <p:nvPr/>
          </p:nvSpPr>
          <p:spPr bwMode="auto">
            <a:xfrm>
              <a:off x="2996571" y="2333625"/>
              <a:ext cx="609636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152" name="Text Box 14"/>
            <p:cNvSpPr txBox="1">
              <a:spLocks noChangeArrowheads="1"/>
            </p:cNvSpPr>
            <p:nvPr/>
          </p:nvSpPr>
          <p:spPr bwMode="auto">
            <a:xfrm>
              <a:off x="3346015" y="3236913"/>
              <a:ext cx="1568689" cy="150336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L→*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  <a:r>
                <a:rPr kumimoji="1" lang="zh-CN" altLang="en-US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, =/</a:t>
              </a:r>
              <a:r>
                <a:rPr kumimoji="1"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R→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</a:t>
              </a:r>
              <a:r>
                <a:rPr kumimoji="1" lang="zh-CN" altLang="en-US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, =/</a:t>
              </a:r>
              <a:r>
                <a:rPr kumimoji="1"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L→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*R , =/</a:t>
              </a:r>
              <a:r>
                <a:rPr kumimoji="1"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L→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, =/</a:t>
              </a:r>
              <a:r>
                <a:rPr kumimoji="1"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" name="Text Box 15"/>
            <p:cNvSpPr txBox="1">
              <a:spLocks noChangeArrowheads="1"/>
            </p:cNvSpPr>
            <p:nvPr/>
          </p:nvSpPr>
          <p:spPr bwMode="auto">
            <a:xfrm>
              <a:off x="5289411" y="4281488"/>
              <a:ext cx="1582979" cy="70643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L→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r>
                <a:rPr kumimoji="1" lang="zh-CN" altLang="en-US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, =/</a:t>
              </a:r>
              <a:r>
                <a:rPr kumimoji="1"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 $</a:t>
              </a:r>
              <a:endPara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3989" name="Text Box 16"/>
            <p:cNvSpPr txBox="1">
              <a:spLocks noChangeArrowheads="1"/>
            </p:cNvSpPr>
            <p:nvPr/>
          </p:nvSpPr>
          <p:spPr bwMode="auto">
            <a:xfrm>
              <a:off x="3061663" y="2932113"/>
              <a:ext cx="533432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83990" name="Text Box 17"/>
            <p:cNvSpPr txBox="1">
              <a:spLocks noChangeArrowheads="1"/>
            </p:cNvSpPr>
            <p:nvPr/>
          </p:nvSpPr>
          <p:spPr bwMode="auto">
            <a:xfrm>
              <a:off x="2704454" y="3687763"/>
              <a:ext cx="533432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83991" name="Line 19"/>
            <p:cNvSpPr>
              <a:spLocks noChangeShapeType="1"/>
            </p:cNvSpPr>
            <p:nvPr/>
          </p:nvSpPr>
          <p:spPr bwMode="auto">
            <a:xfrm flipV="1">
              <a:off x="4814367" y="1924050"/>
              <a:ext cx="4302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92" name="Text Box 20"/>
            <p:cNvSpPr txBox="1">
              <a:spLocks noChangeArrowheads="1"/>
            </p:cNvSpPr>
            <p:nvPr/>
          </p:nvSpPr>
          <p:spPr bwMode="auto">
            <a:xfrm>
              <a:off x="4809603" y="1595438"/>
              <a:ext cx="45722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=</a:t>
              </a:r>
            </a:p>
          </p:txBody>
        </p:sp>
        <p:sp>
          <p:nvSpPr>
            <p:cNvPr id="159" name="Text Box 21"/>
            <p:cNvSpPr txBox="1">
              <a:spLocks noChangeArrowheads="1"/>
            </p:cNvSpPr>
            <p:nvPr/>
          </p:nvSpPr>
          <p:spPr bwMode="auto">
            <a:xfrm>
              <a:off x="5289411" y="2733675"/>
              <a:ext cx="1654427" cy="70643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7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L→*R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</a:t>
              </a:r>
              <a:r>
                <a:rPr kumimoji="1" lang="zh-CN" altLang="en-US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, =/</a:t>
              </a:r>
              <a:r>
                <a:rPr kumimoji="1"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 $</a:t>
              </a:r>
              <a:endPara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3994" name="Line 22"/>
            <p:cNvSpPr>
              <a:spLocks noChangeShapeType="1"/>
            </p:cNvSpPr>
            <p:nvPr/>
          </p:nvSpPr>
          <p:spPr bwMode="auto">
            <a:xfrm>
              <a:off x="4933436" y="3308350"/>
              <a:ext cx="39372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95" name="Text Box 23"/>
            <p:cNvSpPr txBox="1">
              <a:spLocks noChangeArrowheads="1"/>
            </p:cNvSpPr>
            <p:nvPr/>
          </p:nvSpPr>
          <p:spPr bwMode="auto">
            <a:xfrm>
              <a:off x="4879457" y="2949575"/>
              <a:ext cx="45722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162" name="Text Box 24"/>
            <p:cNvSpPr txBox="1">
              <a:spLocks noChangeArrowheads="1"/>
            </p:cNvSpPr>
            <p:nvPr/>
          </p:nvSpPr>
          <p:spPr bwMode="auto">
            <a:xfrm>
              <a:off x="5289411" y="3525838"/>
              <a:ext cx="1582979" cy="70643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8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R→L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</a:t>
              </a:r>
              <a:r>
                <a:rPr kumimoji="1" lang="zh-CN" altLang="en-US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, =/</a:t>
              </a:r>
              <a:r>
                <a:rPr kumimoji="1"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 $</a:t>
              </a:r>
              <a:endPara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3997" name="Line 25"/>
            <p:cNvSpPr>
              <a:spLocks noChangeShapeType="1"/>
            </p:cNvSpPr>
            <p:nvPr/>
          </p:nvSpPr>
          <p:spPr bwMode="auto">
            <a:xfrm>
              <a:off x="4901684" y="3957638"/>
              <a:ext cx="38737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98" name="Text Box 26"/>
            <p:cNvSpPr txBox="1">
              <a:spLocks noChangeArrowheads="1"/>
            </p:cNvSpPr>
            <p:nvPr/>
          </p:nvSpPr>
          <p:spPr bwMode="auto">
            <a:xfrm>
              <a:off x="4895333" y="3597275"/>
              <a:ext cx="381023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165" name="Text Box 27"/>
            <p:cNvSpPr txBox="1">
              <a:spLocks noChangeArrowheads="1"/>
            </p:cNvSpPr>
            <p:nvPr/>
          </p:nvSpPr>
          <p:spPr bwMode="auto">
            <a:xfrm>
              <a:off x="7318545" y="63500"/>
              <a:ext cx="1524232" cy="70802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9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S→L=R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, </a:t>
              </a:r>
              <a:r>
                <a:rPr kumimoji="1"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4000" name="Line 28"/>
            <p:cNvSpPr>
              <a:spLocks noChangeShapeType="1"/>
            </p:cNvSpPr>
            <p:nvPr/>
          </p:nvSpPr>
          <p:spPr bwMode="auto">
            <a:xfrm flipV="1">
              <a:off x="6954443" y="373257"/>
              <a:ext cx="327891" cy="3855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01" name="Text Box 29"/>
            <p:cNvSpPr txBox="1">
              <a:spLocks noChangeArrowheads="1"/>
            </p:cNvSpPr>
            <p:nvPr/>
          </p:nvSpPr>
          <p:spPr bwMode="auto">
            <a:xfrm>
              <a:off x="6718374" y="369251"/>
              <a:ext cx="533432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84002" name="Text Box 33"/>
            <p:cNvSpPr txBox="1">
              <a:spLocks noChangeArrowheads="1"/>
            </p:cNvSpPr>
            <p:nvPr/>
          </p:nvSpPr>
          <p:spPr bwMode="auto">
            <a:xfrm>
              <a:off x="3031498" y="896938"/>
              <a:ext cx="533432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84003" name="Line 34"/>
            <p:cNvSpPr>
              <a:spLocks noChangeShapeType="1"/>
            </p:cNvSpPr>
            <p:nvPr/>
          </p:nvSpPr>
          <p:spPr bwMode="auto">
            <a:xfrm flipV="1">
              <a:off x="4911209" y="4564063"/>
              <a:ext cx="377847" cy="15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04" name="Text Box 35"/>
            <p:cNvSpPr txBox="1">
              <a:spLocks noChangeArrowheads="1"/>
            </p:cNvSpPr>
            <p:nvPr/>
          </p:nvSpPr>
          <p:spPr bwMode="auto">
            <a:xfrm>
              <a:off x="4879457" y="4175125"/>
              <a:ext cx="533432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  <p:grpSp>
          <p:nvGrpSpPr>
            <p:cNvPr id="84005" name="Group 36"/>
            <p:cNvGrpSpPr>
              <a:grpSpLocks/>
            </p:cNvGrpSpPr>
            <p:nvPr/>
          </p:nvGrpSpPr>
          <p:grpSpPr bwMode="auto">
            <a:xfrm>
              <a:off x="3045787" y="3975100"/>
              <a:ext cx="290529" cy="269875"/>
              <a:chOff x="2335" y="3249"/>
              <a:chExt cx="183" cy="226"/>
            </a:xfrm>
          </p:grpSpPr>
          <p:sp>
            <p:nvSpPr>
              <p:cNvPr id="84029" name="Line 37"/>
              <p:cNvSpPr>
                <a:spLocks noChangeShapeType="1"/>
              </p:cNvSpPr>
              <p:nvPr/>
            </p:nvSpPr>
            <p:spPr bwMode="auto">
              <a:xfrm>
                <a:off x="2335" y="3249"/>
                <a:ext cx="18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030" name="Line 38"/>
              <p:cNvSpPr>
                <a:spLocks noChangeShapeType="1"/>
              </p:cNvSpPr>
              <p:nvPr/>
            </p:nvSpPr>
            <p:spPr bwMode="auto">
              <a:xfrm>
                <a:off x="2335" y="3249"/>
                <a:ext cx="0" cy="22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031" name="Line 39"/>
              <p:cNvSpPr>
                <a:spLocks noChangeShapeType="1"/>
              </p:cNvSpPr>
              <p:nvPr/>
            </p:nvSpPr>
            <p:spPr bwMode="auto">
              <a:xfrm>
                <a:off x="2336" y="3475"/>
                <a:ext cx="18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4006" name="Text Box 40"/>
            <p:cNvSpPr txBox="1">
              <a:spLocks noChangeArrowheads="1"/>
            </p:cNvSpPr>
            <p:nvPr/>
          </p:nvSpPr>
          <p:spPr bwMode="auto">
            <a:xfrm>
              <a:off x="3021973" y="3944938"/>
              <a:ext cx="533432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84007" name="Line 41"/>
            <p:cNvSpPr>
              <a:spLocks noChangeShapeType="1"/>
            </p:cNvSpPr>
            <p:nvPr/>
          </p:nvSpPr>
          <p:spPr bwMode="auto">
            <a:xfrm>
              <a:off x="3056900" y="3038475"/>
              <a:ext cx="261954" cy="433388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08" name="Line 57"/>
            <p:cNvSpPr>
              <a:spLocks noChangeShapeType="1"/>
            </p:cNvSpPr>
            <p:nvPr/>
          </p:nvSpPr>
          <p:spPr bwMode="auto">
            <a:xfrm flipV="1">
              <a:off x="2771800" y="4872037"/>
              <a:ext cx="2517256" cy="2539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09" name="Line 59"/>
            <p:cNvSpPr>
              <a:spLocks noChangeShapeType="1"/>
            </p:cNvSpPr>
            <p:nvPr/>
          </p:nvSpPr>
          <p:spPr bwMode="auto">
            <a:xfrm flipH="1" flipV="1">
              <a:off x="2759099" y="3195638"/>
              <a:ext cx="12701" cy="17240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10" name="Text Box 32"/>
            <p:cNvSpPr txBox="1">
              <a:spLocks noChangeArrowheads="1"/>
            </p:cNvSpPr>
            <p:nvPr/>
          </p:nvSpPr>
          <p:spPr bwMode="auto">
            <a:xfrm>
              <a:off x="6944918" y="1677862"/>
              <a:ext cx="503327" cy="36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177" name="Text Box 42"/>
            <p:cNvSpPr txBox="1">
              <a:spLocks noChangeArrowheads="1"/>
            </p:cNvSpPr>
            <p:nvPr/>
          </p:nvSpPr>
          <p:spPr bwMode="auto">
            <a:xfrm>
              <a:off x="7312194" y="844550"/>
              <a:ext cx="1440082" cy="65563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prstClr val="black"/>
                  </a:solidFill>
                  <a:latin typeface="Times New Roman" panose="02020603050405020304" pitchFamily="18" charset="0"/>
                </a:rPr>
                <a:t>10</a:t>
              </a:r>
              <a:r>
                <a:rPr kumimoji="1" lang="en-US" altLang="zh-CN" sz="20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R→L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</a:t>
              </a: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 , </a:t>
              </a:r>
              <a:r>
                <a:rPr kumimoji="1" lang="en-US" altLang="zh-CN" sz="2000" b="1">
                  <a:solidFill>
                    <a:prstClr val="black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4012" name="Line 43"/>
            <p:cNvSpPr>
              <a:spLocks noChangeShapeType="1"/>
            </p:cNvSpPr>
            <p:nvPr/>
          </p:nvSpPr>
          <p:spPr bwMode="auto">
            <a:xfrm flipV="1">
              <a:off x="6906952" y="1050284"/>
              <a:ext cx="405544" cy="1884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13" name="Text Box 44"/>
            <p:cNvSpPr txBox="1">
              <a:spLocks noChangeArrowheads="1"/>
            </p:cNvSpPr>
            <p:nvPr/>
          </p:nvSpPr>
          <p:spPr bwMode="auto">
            <a:xfrm>
              <a:off x="6924342" y="738592"/>
              <a:ext cx="533495" cy="369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180" name="Text Box 45"/>
            <p:cNvSpPr txBox="1">
              <a:spLocks noChangeArrowheads="1"/>
            </p:cNvSpPr>
            <p:nvPr/>
          </p:nvSpPr>
          <p:spPr bwMode="auto">
            <a:xfrm>
              <a:off x="7328071" y="1779588"/>
              <a:ext cx="1416265" cy="150336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prstClr val="black"/>
                  </a:solidFill>
                  <a:latin typeface="Times New Roman" panose="02020603050405020304" pitchFamily="18" charset="0"/>
                </a:rPr>
                <a:t>11</a:t>
              </a:r>
              <a:r>
                <a:rPr kumimoji="1" lang="en-US" altLang="zh-CN" sz="20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L→*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</a:t>
              </a: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R , </a:t>
              </a:r>
              <a:r>
                <a:rPr kumimoji="1" lang="en-US" altLang="zh-CN" sz="2000" b="1">
                  <a:solidFill>
                    <a:prstClr val="black"/>
                  </a:solidFill>
                  <a:latin typeface="华文楷体" panose="02010600040101010101" pitchFamily="2" charset="-122"/>
                </a:rPr>
                <a:t>$</a:t>
              </a:r>
              <a:endParaRPr kumimoji="1" lang="zh-CN" altLang="en-US" sz="2000" b="1" i="1">
                <a:solidFill>
                  <a:prstClr val="black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R→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L , </a:t>
              </a:r>
              <a:r>
                <a:rPr kumimoji="1" lang="en-US" altLang="zh-CN" sz="2000" b="1">
                  <a:solidFill>
                    <a:prstClr val="black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L→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</a:t>
              </a: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*R , </a:t>
              </a:r>
              <a:r>
                <a:rPr kumimoji="1" lang="en-US" altLang="zh-CN" sz="2000" b="1">
                  <a:solidFill>
                    <a:prstClr val="black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L→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20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id </a:t>
              </a: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, </a:t>
              </a:r>
              <a:r>
                <a:rPr kumimoji="1" lang="en-US" altLang="zh-CN" sz="2000" b="1">
                  <a:solidFill>
                    <a:prstClr val="black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4015" name="Text Box 46"/>
            <p:cNvSpPr txBox="1">
              <a:spLocks noChangeArrowheads="1"/>
            </p:cNvSpPr>
            <p:nvPr/>
          </p:nvSpPr>
          <p:spPr bwMode="auto">
            <a:xfrm>
              <a:off x="6891381" y="1187474"/>
              <a:ext cx="360425" cy="400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84016" name="Line 47"/>
            <p:cNvSpPr>
              <a:spLocks noChangeShapeType="1"/>
            </p:cNvSpPr>
            <p:nvPr/>
          </p:nvSpPr>
          <p:spPr bwMode="auto">
            <a:xfrm>
              <a:off x="6940394" y="1406057"/>
              <a:ext cx="385967" cy="371307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3" name="Text Box 48"/>
            <p:cNvSpPr txBox="1">
              <a:spLocks noChangeArrowheads="1"/>
            </p:cNvSpPr>
            <p:nvPr/>
          </p:nvSpPr>
          <p:spPr bwMode="auto">
            <a:xfrm>
              <a:off x="7348712" y="3592513"/>
              <a:ext cx="1395624" cy="70802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prstClr val="black"/>
                  </a:solidFill>
                  <a:latin typeface="Times New Roman" panose="02020603050405020304" pitchFamily="18" charset="0"/>
                </a:rPr>
                <a:t>12</a:t>
              </a:r>
              <a:r>
                <a:rPr kumimoji="1" lang="en-US" altLang="zh-CN" sz="20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L→</a:t>
              </a:r>
              <a:r>
                <a:rPr kumimoji="1" lang="en-US" altLang="zh-CN" sz="20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id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, </a:t>
              </a:r>
              <a:r>
                <a:rPr kumimoji="1" lang="en-US" altLang="zh-CN" sz="2000" b="1">
                  <a:solidFill>
                    <a:prstClr val="black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4018" name="Line 49"/>
            <p:cNvSpPr>
              <a:spLocks noChangeShapeType="1"/>
            </p:cNvSpPr>
            <p:nvPr/>
          </p:nvSpPr>
          <p:spPr bwMode="auto">
            <a:xfrm>
              <a:off x="6924342" y="1689736"/>
              <a:ext cx="401956" cy="1836102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" name="Text Box 50"/>
            <p:cNvSpPr txBox="1">
              <a:spLocks noChangeArrowheads="1"/>
            </p:cNvSpPr>
            <p:nvPr/>
          </p:nvSpPr>
          <p:spPr bwMode="auto">
            <a:xfrm>
              <a:off x="7348712" y="4371975"/>
              <a:ext cx="1403563" cy="70802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prstClr val="black"/>
                  </a:solidFill>
                  <a:latin typeface="Times New Roman" panose="02020603050405020304" pitchFamily="18" charset="0"/>
                </a:rPr>
                <a:t>13</a:t>
              </a:r>
              <a:r>
                <a:rPr kumimoji="1" lang="en-US" altLang="zh-CN" sz="20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L→*R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</a:t>
              </a: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 , </a:t>
              </a:r>
              <a:r>
                <a:rPr kumimoji="1" lang="en-US" altLang="zh-CN" sz="2000" b="1">
                  <a:solidFill>
                    <a:prstClr val="black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4020" name="Freeform 51"/>
            <p:cNvSpPr>
              <a:spLocks noChangeArrowheads="1"/>
            </p:cNvSpPr>
            <p:nvPr/>
          </p:nvSpPr>
          <p:spPr bwMode="auto">
            <a:xfrm>
              <a:off x="8723948" y="3188062"/>
              <a:ext cx="360425" cy="1612802"/>
            </a:xfrm>
            <a:custGeom>
              <a:avLst/>
              <a:gdLst>
                <a:gd name="T0" fmla="*/ 0 w 416"/>
                <a:gd name="T1" fmla="*/ 0 h 862"/>
                <a:gd name="T2" fmla="*/ 2147483646 w 416"/>
                <a:gd name="T3" fmla="*/ 2147483646 h 862"/>
                <a:gd name="T4" fmla="*/ 2147483646 w 416"/>
                <a:gd name="T5" fmla="*/ 2147483646 h 862"/>
                <a:gd name="T6" fmla="*/ 0 60000 65536"/>
                <a:gd name="T7" fmla="*/ 0 60000 65536"/>
                <a:gd name="T8" fmla="*/ 0 60000 65536"/>
                <a:gd name="T9" fmla="*/ 0 w 416"/>
                <a:gd name="T10" fmla="*/ 0 h 862"/>
                <a:gd name="T11" fmla="*/ 416 w 416"/>
                <a:gd name="T12" fmla="*/ 862 h 8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6" h="862">
                  <a:moveTo>
                    <a:pt x="0" y="0"/>
                  </a:moveTo>
                  <a:cubicBezTo>
                    <a:pt x="200" y="177"/>
                    <a:pt x="400" y="355"/>
                    <a:pt x="408" y="499"/>
                  </a:cubicBezTo>
                  <a:cubicBezTo>
                    <a:pt x="416" y="643"/>
                    <a:pt x="231" y="752"/>
                    <a:pt x="46" y="862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21" name="Text Box 52"/>
            <p:cNvSpPr txBox="1">
              <a:spLocks noChangeArrowheads="1"/>
            </p:cNvSpPr>
            <p:nvPr/>
          </p:nvSpPr>
          <p:spPr bwMode="auto">
            <a:xfrm>
              <a:off x="8842765" y="2979448"/>
              <a:ext cx="457281" cy="36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84022" name="Freeform 53"/>
            <p:cNvSpPr>
              <a:spLocks noChangeArrowheads="1"/>
            </p:cNvSpPr>
            <p:nvPr/>
          </p:nvSpPr>
          <p:spPr bwMode="auto">
            <a:xfrm>
              <a:off x="8746431" y="2015087"/>
              <a:ext cx="360425" cy="353990"/>
            </a:xfrm>
            <a:custGeom>
              <a:avLst/>
              <a:gdLst>
                <a:gd name="T0" fmla="*/ 0 w 227"/>
                <a:gd name="T1" fmla="*/ 0 h 227"/>
                <a:gd name="T2" fmla="*/ 2147483646 w 227"/>
                <a:gd name="T3" fmla="*/ 2147483646 h 227"/>
                <a:gd name="T4" fmla="*/ 0 w 227"/>
                <a:gd name="T5" fmla="*/ 2147483646 h 227"/>
                <a:gd name="T6" fmla="*/ 0 60000 65536"/>
                <a:gd name="T7" fmla="*/ 0 60000 65536"/>
                <a:gd name="T8" fmla="*/ 0 60000 65536"/>
                <a:gd name="T9" fmla="*/ 0 w 227"/>
                <a:gd name="T10" fmla="*/ 0 h 227"/>
                <a:gd name="T11" fmla="*/ 227 w 227"/>
                <a:gd name="T12" fmla="*/ 227 h 2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7" h="227">
                  <a:moveTo>
                    <a:pt x="0" y="0"/>
                  </a:moveTo>
                  <a:cubicBezTo>
                    <a:pt x="113" y="3"/>
                    <a:pt x="227" y="7"/>
                    <a:pt x="227" y="45"/>
                  </a:cubicBezTo>
                  <a:cubicBezTo>
                    <a:pt x="227" y="83"/>
                    <a:pt x="113" y="155"/>
                    <a:pt x="0" y="227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23" name="Text Box 54"/>
            <p:cNvSpPr txBox="1">
              <a:spLocks noChangeArrowheads="1"/>
            </p:cNvSpPr>
            <p:nvPr/>
          </p:nvSpPr>
          <p:spPr bwMode="auto">
            <a:xfrm>
              <a:off x="8714675" y="1996038"/>
              <a:ext cx="533495" cy="400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84024" name="Text Box 55"/>
            <p:cNvSpPr txBox="1">
              <a:spLocks noChangeArrowheads="1"/>
            </p:cNvSpPr>
            <p:nvPr/>
          </p:nvSpPr>
          <p:spPr bwMode="auto">
            <a:xfrm>
              <a:off x="7858813" y="1420009"/>
              <a:ext cx="381068" cy="368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84025" name="Line 56"/>
            <p:cNvSpPr>
              <a:spLocks noChangeShapeType="1"/>
            </p:cNvSpPr>
            <p:nvPr/>
          </p:nvSpPr>
          <p:spPr bwMode="auto">
            <a:xfrm flipV="1">
              <a:off x="7866454" y="1492013"/>
              <a:ext cx="0" cy="26985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26" name="Line 56"/>
            <p:cNvSpPr>
              <a:spLocks noChangeShapeType="1"/>
            </p:cNvSpPr>
            <p:nvPr/>
          </p:nvSpPr>
          <p:spPr bwMode="auto">
            <a:xfrm flipH="1">
              <a:off x="7976011" y="3292103"/>
              <a:ext cx="9527" cy="317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27" name="Text Box 17"/>
            <p:cNvSpPr txBox="1">
              <a:spLocks noChangeArrowheads="1"/>
            </p:cNvSpPr>
            <p:nvPr/>
          </p:nvSpPr>
          <p:spPr bwMode="auto">
            <a:xfrm>
              <a:off x="7984558" y="3285174"/>
              <a:ext cx="533495" cy="36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156" name="Text Box 18"/>
            <p:cNvSpPr txBox="1">
              <a:spLocks noChangeArrowheads="1"/>
            </p:cNvSpPr>
            <p:nvPr/>
          </p:nvSpPr>
          <p:spPr bwMode="auto">
            <a:xfrm>
              <a:off x="5289411" y="771525"/>
              <a:ext cx="1649664" cy="163195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r>
                <a:rPr kumimoji="1"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lnSpc>
                  <a:spcPts val="2400"/>
                </a:lnSpc>
                <a:defRPr/>
              </a:pPr>
              <a:r>
                <a:rPr kumimoji="1"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S→L=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R , </a:t>
              </a:r>
              <a:r>
                <a:rPr kumimoji="1" lang="en-US" altLang="zh-CN" sz="2000" b="1" dirty="0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ts val="2400"/>
                </a:lnSpc>
                <a:defRPr/>
              </a:pPr>
              <a:r>
                <a:rPr kumimoji="1"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R→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L , </a:t>
              </a:r>
              <a:r>
                <a:rPr kumimoji="1" lang="en-US" altLang="zh-CN" sz="2000" b="1" dirty="0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ts val="2400"/>
                </a:lnSpc>
                <a:defRPr/>
              </a:pPr>
              <a:r>
                <a:rPr kumimoji="1"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L→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*R , </a:t>
              </a:r>
              <a:r>
                <a:rPr kumimoji="1" lang="en-US" altLang="zh-CN" sz="2000" b="1" dirty="0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ts val="2400"/>
                </a:lnSpc>
                <a:defRPr/>
              </a:pPr>
              <a:r>
                <a:rPr kumimoji="1"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L→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  <a:r>
                <a:rPr kumimoji="1"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, </a:t>
              </a:r>
              <a:r>
                <a:rPr kumimoji="1" lang="en-US" altLang="zh-CN" sz="2000" b="1" dirty="0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83971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zh-CN" altLang="en-US" sz="3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3000" i="1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LR</a:t>
            </a:r>
            <a:r>
              <a:rPr lang="en-US" altLang="zh-CN" sz="300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(1)</a:t>
            </a:r>
            <a:r>
              <a:rPr lang="zh-CN" altLang="en-US" sz="3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自动机</a:t>
            </a:r>
            <a:endParaRPr lang="zh-CN" altLang="en-US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Rectangle 37"/>
          <p:cNvSpPr>
            <a:spLocks noChangeArrowheads="1"/>
          </p:cNvSpPr>
          <p:nvPr/>
        </p:nvSpPr>
        <p:spPr bwMode="auto">
          <a:xfrm>
            <a:off x="107950" y="1012825"/>
            <a:ext cx="1290638" cy="19081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609600" indent="-609600" eaLnBrk="1" hangingPunct="1">
              <a:lnSpc>
                <a:spcPts val="2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zh-CN" altLang="zh-CN" b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0) </a:t>
            </a:r>
            <a:r>
              <a:rPr lang="en-US" altLang="zh-CN" b="1" i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S</a:t>
            </a:r>
            <a:r>
              <a:rPr lang="en-US" altLang="zh-CN" sz="1600" b="1" i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′ </a:t>
            </a:r>
            <a:r>
              <a:rPr lang="en-US" altLang="zh-CN" b="1" i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→S</a:t>
            </a:r>
          </a:p>
          <a:p>
            <a:pPr marL="609600" indent="-609600" eaLnBrk="1" hangingPunct="1">
              <a:lnSpc>
                <a:spcPts val="2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b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1) </a:t>
            </a:r>
            <a:r>
              <a:rPr lang="en-US" altLang="zh-CN" b="1" i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S→L=R</a:t>
            </a:r>
          </a:p>
          <a:p>
            <a:pPr marL="609600" indent="-609600" eaLnBrk="1" hangingPunct="1">
              <a:lnSpc>
                <a:spcPts val="2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b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2) </a:t>
            </a:r>
            <a:r>
              <a:rPr lang="en-US" altLang="zh-CN" b="1" i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S→R</a:t>
            </a:r>
          </a:p>
          <a:p>
            <a:pPr marL="609600" indent="-609600" eaLnBrk="1" hangingPunct="1">
              <a:lnSpc>
                <a:spcPts val="2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b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3) </a:t>
            </a:r>
            <a:r>
              <a:rPr lang="en-US" altLang="zh-CN" b="1" i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L→*R</a:t>
            </a:r>
          </a:p>
          <a:p>
            <a:pPr marL="609600" indent="-609600" eaLnBrk="1" hangingPunct="1">
              <a:lnSpc>
                <a:spcPts val="2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b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4) </a:t>
            </a:r>
            <a:r>
              <a:rPr lang="en-US" altLang="zh-CN" b="1" i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L→</a:t>
            </a:r>
            <a:r>
              <a:rPr lang="en-US" altLang="zh-CN" b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id</a:t>
            </a:r>
          </a:p>
          <a:p>
            <a:pPr marL="609600" indent="-609600" eaLnBrk="1" hangingPunct="1">
              <a:lnSpc>
                <a:spcPts val="2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b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5) </a:t>
            </a:r>
            <a:r>
              <a:rPr lang="en-US" altLang="zh-CN" b="1" i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R→L</a:t>
            </a:r>
          </a:p>
        </p:txBody>
      </p:sp>
      <p:sp>
        <p:nvSpPr>
          <p:cNvPr id="62" name="Rectangle 45"/>
          <p:cNvSpPr>
            <a:spLocks noChangeArrowheads="1"/>
          </p:cNvSpPr>
          <p:nvPr/>
        </p:nvSpPr>
        <p:spPr bwMode="auto">
          <a:xfrm>
            <a:off x="34925" y="4279900"/>
            <a:ext cx="2609850" cy="7080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FOLLOW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) = { =,</a:t>
            </a:r>
            <a:r>
              <a:rPr lang="en-US" altLang="zh-CN" sz="20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$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}</a:t>
            </a:r>
          </a:p>
          <a:p>
            <a:pPr eaLnBrk="1" hangingPunct="1">
              <a:defRPr/>
            </a:pP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FOLLOW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) = { =,</a:t>
            </a:r>
            <a:r>
              <a:rPr lang="en-US" altLang="zh-CN" sz="20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$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 }</a:t>
            </a:r>
            <a:endParaRPr lang="zh-CN" altLang="en-US" sz="2000" b="1" dirty="0">
              <a:solidFill>
                <a:prstClr val="black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7253288" y="811213"/>
            <a:ext cx="1558925" cy="792162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7281863" y="4349750"/>
            <a:ext cx="1527175" cy="752475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7285038" y="3552825"/>
            <a:ext cx="1527175" cy="738188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3977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BFB63AD-EBF6-4413-A7C9-69DD628998FF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48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285762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75" grpId="0" animBg="1"/>
      <p:bldP spid="76" grpId="0" animBg="1"/>
      <p:bldP spid="7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zh-CN" altLang="en-US" sz="3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3000" i="1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LR</a:t>
            </a:r>
            <a:r>
              <a:rPr lang="en-US" altLang="zh-CN" sz="300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(1)</a:t>
            </a:r>
            <a:r>
              <a:rPr lang="zh-CN" altLang="en-US" sz="3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自动机</a:t>
            </a:r>
            <a:endParaRPr lang="zh-CN" altLang="en-US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Rectangle 37"/>
          <p:cNvSpPr>
            <a:spLocks noChangeArrowheads="1"/>
          </p:cNvSpPr>
          <p:nvPr/>
        </p:nvSpPr>
        <p:spPr bwMode="auto">
          <a:xfrm>
            <a:off x="107950" y="1012825"/>
            <a:ext cx="1290638" cy="19081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609600" indent="-609600" eaLnBrk="1" hangingPunct="1">
              <a:lnSpc>
                <a:spcPts val="2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zh-CN" altLang="zh-CN" b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0) </a:t>
            </a:r>
            <a:r>
              <a:rPr lang="en-US" altLang="zh-CN" b="1" i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S</a:t>
            </a:r>
            <a:r>
              <a:rPr lang="en-US" altLang="zh-CN" sz="1600" b="1" i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′ </a:t>
            </a:r>
            <a:r>
              <a:rPr lang="en-US" altLang="zh-CN" b="1" i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→S</a:t>
            </a:r>
          </a:p>
          <a:p>
            <a:pPr marL="609600" indent="-609600" eaLnBrk="1" hangingPunct="1">
              <a:lnSpc>
                <a:spcPts val="2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b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1) </a:t>
            </a:r>
            <a:r>
              <a:rPr lang="en-US" altLang="zh-CN" b="1" i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S→L=R</a:t>
            </a:r>
          </a:p>
          <a:p>
            <a:pPr marL="609600" indent="-609600" eaLnBrk="1" hangingPunct="1">
              <a:lnSpc>
                <a:spcPts val="2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b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2) </a:t>
            </a:r>
            <a:r>
              <a:rPr lang="en-US" altLang="zh-CN" b="1" i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S→R</a:t>
            </a:r>
          </a:p>
          <a:p>
            <a:pPr marL="609600" indent="-609600" eaLnBrk="1" hangingPunct="1">
              <a:lnSpc>
                <a:spcPts val="2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b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3) </a:t>
            </a:r>
            <a:r>
              <a:rPr lang="en-US" altLang="zh-CN" b="1" i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L→*R</a:t>
            </a:r>
          </a:p>
          <a:p>
            <a:pPr marL="609600" indent="-609600" eaLnBrk="1" hangingPunct="1">
              <a:lnSpc>
                <a:spcPts val="2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b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4) </a:t>
            </a:r>
            <a:r>
              <a:rPr lang="en-US" altLang="zh-CN" b="1" i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L→</a:t>
            </a:r>
            <a:r>
              <a:rPr lang="en-US" altLang="zh-CN" b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id</a:t>
            </a:r>
          </a:p>
          <a:p>
            <a:pPr marL="609600" indent="-609600" eaLnBrk="1" hangingPunct="1">
              <a:lnSpc>
                <a:spcPts val="2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b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5) </a:t>
            </a:r>
            <a:r>
              <a:rPr lang="en-US" altLang="zh-CN" b="1" i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R→L</a:t>
            </a:r>
          </a:p>
        </p:txBody>
      </p:sp>
      <p:sp>
        <p:nvSpPr>
          <p:cNvPr id="65" name="矩形 64"/>
          <p:cNvSpPr/>
          <p:nvPr/>
        </p:nvSpPr>
        <p:spPr>
          <a:xfrm>
            <a:off x="7283450" y="1708150"/>
            <a:ext cx="1525588" cy="1624013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5237163" y="3457575"/>
            <a:ext cx="1711325" cy="814388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2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8" y="3357563"/>
            <a:ext cx="2687637" cy="173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" name="矩形 63"/>
          <p:cNvSpPr/>
          <p:nvPr/>
        </p:nvSpPr>
        <p:spPr>
          <a:xfrm>
            <a:off x="-31750" y="3090863"/>
            <a:ext cx="746125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SLR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6024" name="组合 67"/>
          <p:cNvGrpSpPr>
            <a:grpSpLocks/>
          </p:cNvGrpSpPr>
          <p:nvPr/>
        </p:nvGrpSpPr>
        <p:grpSpPr bwMode="auto">
          <a:xfrm>
            <a:off x="1476375" y="63500"/>
            <a:ext cx="7823200" cy="5016500"/>
            <a:chOff x="1475656" y="63500"/>
            <a:chExt cx="7824390" cy="5016500"/>
          </a:xfrm>
        </p:grpSpPr>
        <p:sp>
          <p:nvSpPr>
            <p:cNvPr id="86029" name="Text Box 5"/>
            <p:cNvSpPr txBox="1">
              <a:spLocks noChangeArrowheads="1"/>
            </p:cNvSpPr>
            <p:nvPr/>
          </p:nvSpPr>
          <p:spPr bwMode="auto">
            <a:xfrm>
              <a:off x="1475656" y="1041400"/>
              <a:ext cx="1555987" cy="2154238"/>
            </a:xfrm>
            <a:prstGeom prst="rect">
              <a:avLst/>
            </a:prstGeom>
            <a:solidFill>
              <a:srgbClr val="B5CEED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S′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S</a:t>
              </a:r>
              <a:r>
                <a:rPr lang="zh-CN" altLang="en-US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, </a:t>
              </a:r>
              <a:r>
                <a:rPr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S→· L=R , </a:t>
              </a:r>
              <a:r>
                <a:rPr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S→ · R , </a:t>
              </a:r>
              <a:r>
                <a:rPr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L→·*R ,=/ </a:t>
              </a:r>
              <a:r>
                <a:rPr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L→ · 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,=/ </a:t>
              </a:r>
              <a:r>
                <a:rPr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R→ · L , </a:t>
              </a:r>
              <a:r>
                <a:rPr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6030" name="Text Box 6"/>
            <p:cNvSpPr txBox="1">
              <a:spLocks noChangeArrowheads="1"/>
            </p:cNvSpPr>
            <p:nvPr/>
          </p:nvSpPr>
          <p:spPr bwMode="auto">
            <a:xfrm>
              <a:off x="3334902" y="682625"/>
              <a:ext cx="1224148" cy="708025"/>
            </a:xfrm>
            <a:prstGeom prst="rect">
              <a:avLst/>
            </a:prstGeom>
            <a:solidFill>
              <a:srgbClr val="B5CEED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S′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→S· , </a:t>
              </a:r>
              <a:r>
                <a:rPr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6031" name="Line 7"/>
            <p:cNvSpPr>
              <a:spLocks noChangeShapeType="1"/>
            </p:cNvSpPr>
            <p:nvPr/>
          </p:nvSpPr>
          <p:spPr bwMode="auto">
            <a:xfrm flipV="1">
              <a:off x="3056900" y="1273175"/>
              <a:ext cx="28894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Text Box 8"/>
            <p:cNvSpPr txBox="1">
              <a:spLocks noChangeArrowheads="1"/>
            </p:cNvSpPr>
            <p:nvPr/>
          </p:nvSpPr>
          <p:spPr bwMode="auto">
            <a:xfrm>
              <a:off x="3334902" y="1463675"/>
              <a:ext cx="1479775" cy="93821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S→L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=R , </a:t>
              </a:r>
              <a:r>
                <a:rPr kumimoji="1"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R→L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, </a:t>
              </a:r>
              <a:r>
                <a:rPr kumimoji="1"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6033" name="Line 9"/>
            <p:cNvSpPr>
              <a:spLocks noChangeShapeType="1"/>
            </p:cNvSpPr>
            <p:nvPr/>
          </p:nvSpPr>
          <p:spPr bwMode="auto">
            <a:xfrm flipV="1">
              <a:off x="3047374" y="1860550"/>
              <a:ext cx="2984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34" name="Text Box 10"/>
            <p:cNvSpPr txBox="1">
              <a:spLocks noChangeArrowheads="1"/>
            </p:cNvSpPr>
            <p:nvPr/>
          </p:nvSpPr>
          <p:spPr bwMode="auto">
            <a:xfrm>
              <a:off x="3023561" y="1465263"/>
              <a:ext cx="50326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77" name="Text Box 11"/>
            <p:cNvSpPr txBox="1">
              <a:spLocks noChangeArrowheads="1"/>
            </p:cNvSpPr>
            <p:nvPr/>
          </p:nvSpPr>
          <p:spPr bwMode="auto">
            <a:xfrm>
              <a:off x="3334902" y="2444750"/>
              <a:ext cx="1224148" cy="70802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S→R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, </a:t>
              </a:r>
              <a:r>
                <a:rPr kumimoji="1"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6036" name="Line 12"/>
            <p:cNvSpPr>
              <a:spLocks noChangeShapeType="1"/>
            </p:cNvSpPr>
            <p:nvPr/>
          </p:nvSpPr>
          <p:spPr bwMode="auto">
            <a:xfrm flipV="1">
              <a:off x="3023561" y="2700338"/>
              <a:ext cx="28894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37" name="Text Box 13"/>
            <p:cNvSpPr txBox="1">
              <a:spLocks noChangeArrowheads="1"/>
            </p:cNvSpPr>
            <p:nvPr/>
          </p:nvSpPr>
          <p:spPr bwMode="auto">
            <a:xfrm>
              <a:off x="2996571" y="2333625"/>
              <a:ext cx="609636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81" name="Text Box 14"/>
            <p:cNvSpPr txBox="1">
              <a:spLocks noChangeArrowheads="1"/>
            </p:cNvSpPr>
            <p:nvPr/>
          </p:nvSpPr>
          <p:spPr bwMode="auto">
            <a:xfrm>
              <a:off x="3346015" y="3236913"/>
              <a:ext cx="1568689" cy="150336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L→*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  <a:r>
                <a:rPr kumimoji="1" lang="zh-CN" altLang="en-US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, =/</a:t>
              </a:r>
              <a:r>
                <a:rPr kumimoji="1"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R→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</a:t>
              </a:r>
              <a:r>
                <a:rPr kumimoji="1" lang="zh-CN" altLang="en-US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, =/</a:t>
              </a:r>
              <a:r>
                <a:rPr kumimoji="1"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L→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*R , =/</a:t>
              </a:r>
              <a:r>
                <a:rPr kumimoji="1"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L→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, =/</a:t>
              </a:r>
              <a:r>
                <a:rPr kumimoji="1"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2" name="Text Box 15"/>
            <p:cNvSpPr txBox="1">
              <a:spLocks noChangeArrowheads="1"/>
            </p:cNvSpPr>
            <p:nvPr/>
          </p:nvSpPr>
          <p:spPr bwMode="auto">
            <a:xfrm>
              <a:off x="5289411" y="4281488"/>
              <a:ext cx="1582979" cy="70643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L→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r>
                <a:rPr kumimoji="1" lang="zh-CN" altLang="en-US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, =/</a:t>
              </a:r>
              <a:r>
                <a:rPr kumimoji="1"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 $</a:t>
              </a:r>
              <a:endPara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6040" name="Text Box 16"/>
            <p:cNvSpPr txBox="1">
              <a:spLocks noChangeArrowheads="1"/>
            </p:cNvSpPr>
            <p:nvPr/>
          </p:nvSpPr>
          <p:spPr bwMode="auto">
            <a:xfrm>
              <a:off x="3061663" y="2932113"/>
              <a:ext cx="533432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86041" name="Text Box 17"/>
            <p:cNvSpPr txBox="1">
              <a:spLocks noChangeArrowheads="1"/>
            </p:cNvSpPr>
            <p:nvPr/>
          </p:nvSpPr>
          <p:spPr bwMode="auto">
            <a:xfrm>
              <a:off x="2704454" y="3687763"/>
              <a:ext cx="533432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86042" name="Line 19"/>
            <p:cNvSpPr>
              <a:spLocks noChangeShapeType="1"/>
            </p:cNvSpPr>
            <p:nvPr/>
          </p:nvSpPr>
          <p:spPr bwMode="auto">
            <a:xfrm flipV="1">
              <a:off x="4814367" y="1924050"/>
              <a:ext cx="4302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43" name="Text Box 20"/>
            <p:cNvSpPr txBox="1">
              <a:spLocks noChangeArrowheads="1"/>
            </p:cNvSpPr>
            <p:nvPr/>
          </p:nvSpPr>
          <p:spPr bwMode="auto">
            <a:xfrm>
              <a:off x="4809603" y="1595438"/>
              <a:ext cx="45722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=</a:t>
              </a:r>
            </a:p>
          </p:txBody>
        </p:sp>
        <p:sp>
          <p:nvSpPr>
            <p:cNvPr id="87" name="Text Box 21"/>
            <p:cNvSpPr txBox="1">
              <a:spLocks noChangeArrowheads="1"/>
            </p:cNvSpPr>
            <p:nvPr/>
          </p:nvSpPr>
          <p:spPr bwMode="auto">
            <a:xfrm>
              <a:off x="5289411" y="2733675"/>
              <a:ext cx="1654427" cy="70643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7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L→*R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</a:t>
              </a:r>
              <a:r>
                <a:rPr kumimoji="1" lang="zh-CN" altLang="en-US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, =/</a:t>
              </a:r>
              <a:r>
                <a:rPr kumimoji="1"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 $</a:t>
              </a:r>
              <a:endPara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6045" name="Line 22"/>
            <p:cNvSpPr>
              <a:spLocks noChangeShapeType="1"/>
            </p:cNvSpPr>
            <p:nvPr/>
          </p:nvSpPr>
          <p:spPr bwMode="auto">
            <a:xfrm>
              <a:off x="4933436" y="3308350"/>
              <a:ext cx="39372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46" name="Text Box 23"/>
            <p:cNvSpPr txBox="1">
              <a:spLocks noChangeArrowheads="1"/>
            </p:cNvSpPr>
            <p:nvPr/>
          </p:nvSpPr>
          <p:spPr bwMode="auto">
            <a:xfrm>
              <a:off x="4879457" y="2949575"/>
              <a:ext cx="45722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90" name="Text Box 24"/>
            <p:cNvSpPr txBox="1">
              <a:spLocks noChangeArrowheads="1"/>
            </p:cNvSpPr>
            <p:nvPr/>
          </p:nvSpPr>
          <p:spPr bwMode="auto">
            <a:xfrm>
              <a:off x="5289411" y="3525838"/>
              <a:ext cx="1582979" cy="70643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8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R→L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</a:t>
              </a:r>
              <a:r>
                <a:rPr kumimoji="1" lang="zh-CN" altLang="en-US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, =/</a:t>
              </a:r>
              <a:r>
                <a:rPr kumimoji="1"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 $</a:t>
              </a:r>
              <a:endPara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6048" name="Line 25"/>
            <p:cNvSpPr>
              <a:spLocks noChangeShapeType="1"/>
            </p:cNvSpPr>
            <p:nvPr/>
          </p:nvSpPr>
          <p:spPr bwMode="auto">
            <a:xfrm>
              <a:off x="4901684" y="3957638"/>
              <a:ext cx="38737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49" name="Text Box 26"/>
            <p:cNvSpPr txBox="1">
              <a:spLocks noChangeArrowheads="1"/>
            </p:cNvSpPr>
            <p:nvPr/>
          </p:nvSpPr>
          <p:spPr bwMode="auto">
            <a:xfrm>
              <a:off x="4895333" y="3597275"/>
              <a:ext cx="381023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93" name="Text Box 27"/>
            <p:cNvSpPr txBox="1">
              <a:spLocks noChangeArrowheads="1"/>
            </p:cNvSpPr>
            <p:nvPr/>
          </p:nvSpPr>
          <p:spPr bwMode="auto">
            <a:xfrm>
              <a:off x="7318545" y="63500"/>
              <a:ext cx="1524232" cy="70802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9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S→L=R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, </a:t>
              </a:r>
              <a:r>
                <a:rPr kumimoji="1"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6051" name="Line 28"/>
            <p:cNvSpPr>
              <a:spLocks noChangeShapeType="1"/>
            </p:cNvSpPr>
            <p:nvPr/>
          </p:nvSpPr>
          <p:spPr bwMode="auto">
            <a:xfrm flipV="1">
              <a:off x="6954443" y="373257"/>
              <a:ext cx="327891" cy="3855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52" name="Text Box 29"/>
            <p:cNvSpPr txBox="1">
              <a:spLocks noChangeArrowheads="1"/>
            </p:cNvSpPr>
            <p:nvPr/>
          </p:nvSpPr>
          <p:spPr bwMode="auto">
            <a:xfrm>
              <a:off x="6718374" y="369251"/>
              <a:ext cx="533432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86053" name="Text Box 33"/>
            <p:cNvSpPr txBox="1">
              <a:spLocks noChangeArrowheads="1"/>
            </p:cNvSpPr>
            <p:nvPr/>
          </p:nvSpPr>
          <p:spPr bwMode="auto">
            <a:xfrm>
              <a:off x="3031498" y="896938"/>
              <a:ext cx="533432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86054" name="Line 34"/>
            <p:cNvSpPr>
              <a:spLocks noChangeShapeType="1"/>
            </p:cNvSpPr>
            <p:nvPr/>
          </p:nvSpPr>
          <p:spPr bwMode="auto">
            <a:xfrm flipV="1">
              <a:off x="4911209" y="4564063"/>
              <a:ext cx="377847" cy="15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55" name="Text Box 35"/>
            <p:cNvSpPr txBox="1">
              <a:spLocks noChangeArrowheads="1"/>
            </p:cNvSpPr>
            <p:nvPr/>
          </p:nvSpPr>
          <p:spPr bwMode="auto">
            <a:xfrm>
              <a:off x="4879457" y="4175125"/>
              <a:ext cx="533432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  <p:grpSp>
          <p:nvGrpSpPr>
            <p:cNvPr id="86056" name="Group 36"/>
            <p:cNvGrpSpPr>
              <a:grpSpLocks/>
            </p:cNvGrpSpPr>
            <p:nvPr/>
          </p:nvGrpSpPr>
          <p:grpSpPr bwMode="auto">
            <a:xfrm>
              <a:off x="3045787" y="3975100"/>
              <a:ext cx="290529" cy="269875"/>
              <a:chOff x="2335" y="3249"/>
              <a:chExt cx="183" cy="226"/>
            </a:xfrm>
          </p:grpSpPr>
          <p:sp>
            <p:nvSpPr>
              <p:cNvPr id="86080" name="Line 37"/>
              <p:cNvSpPr>
                <a:spLocks noChangeShapeType="1"/>
              </p:cNvSpPr>
              <p:nvPr/>
            </p:nvSpPr>
            <p:spPr bwMode="auto">
              <a:xfrm>
                <a:off x="2335" y="3249"/>
                <a:ext cx="18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081" name="Line 38"/>
              <p:cNvSpPr>
                <a:spLocks noChangeShapeType="1"/>
              </p:cNvSpPr>
              <p:nvPr/>
            </p:nvSpPr>
            <p:spPr bwMode="auto">
              <a:xfrm>
                <a:off x="2335" y="3249"/>
                <a:ext cx="0" cy="22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082" name="Line 39"/>
              <p:cNvSpPr>
                <a:spLocks noChangeShapeType="1"/>
              </p:cNvSpPr>
              <p:nvPr/>
            </p:nvSpPr>
            <p:spPr bwMode="auto">
              <a:xfrm>
                <a:off x="2336" y="3475"/>
                <a:ext cx="18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6057" name="Text Box 40"/>
            <p:cNvSpPr txBox="1">
              <a:spLocks noChangeArrowheads="1"/>
            </p:cNvSpPr>
            <p:nvPr/>
          </p:nvSpPr>
          <p:spPr bwMode="auto">
            <a:xfrm>
              <a:off x="3021973" y="3944938"/>
              <a:ext cx="533432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86058" name="Line 41"/>
            <p:cNvSpPr>
              <a:spLocks noChangeShapeType="1"/>
            </p:cNvSpPr>
            <p:nvPr/>
          </p:nvSpPr>
          <p:spPr bwMode="auto">
            <a:xfrm>
              <a:off x="3056900" y="3038475"/>
              <a:ext cx="261954" cy="433388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59" name="Line 57"/>
            <p:cNvSpPr>
              <a:spLocks noChangeShapeType="1"/>
            </p:cNvSpPr>
            <p:nvPr/>
          </p:nvSpPr>
          <p:spPr bwMode="auto">
            <a:xfrm flipV="1">
              <a:off x="2759099" y="4872037"/>
              <a:ext cx="2529957" cy="25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60" name="Line 59"/>
            <p:cNvSpPr>
              <a:spLocks noChangeShapeType="1"/>
            </p:cNvSpPr>
            <p:nvPr/>
          </p:nvSpPr>
          <p:spPr bwMode="auto">
            <a:xfrm flipH="1" flipV="1">
              <a:off x="2759099" y="3195638"/>
              <a:ext cx="12701" cy="17240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61" name="Text Box 32"/>
            <p:cNvSpPr txBox="1">
              <a:spLocks noChangeArrowheads="1"/>
            </p:cNvSpPr>
            <p:nvPr/>
          </p:nvSpPr>
          <p:spPr bwMode="auto">
            <a:xfrm>
              <a:off x="6944918" y="1677862"/>
              <a:ext cx="503327" cy="36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105" name="Text Box 42"/>
            <p:cNvSpPr txBox="1">
              <a:spLocks noChangeArrowheads="1"/>
            </p:cNvSpPr>
            <p:nvPr/>
          </p:nvSpPr>
          <p:spPr bwMode="auto">
            <a:xfrm>
              <a:off x="7312194" y="844550"/>
              <a:ext cx="1440082" cy="65563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prstClr val="black"/>
                  </a:solidFill>
                  <a:latin typeface="Times New Roman" panose="02020603050405020304" pitchFamily="18" charset="0"/>
                </a:rPr>
                <a:t>10</a:t>
              </a:r>
              <a:r>
                <a:rPr kumimoji="1" lang="en-US" altLang="zh-CN" sz="20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R→L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</a:t>
              </a: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 , </a:t>
              </a:r>
              <a:r>
                <a:rPr kumimoji="1" lang="en-US" altLang="zh-CN" sz="2000" b="1">
                  <a:solidFill>
                    <a:prstClr val="black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6063" name="Line 43"/>
            <p:cNvSpPr>
              <a:spLocks noChangeShapeType="1"/>
            </p:cNvSpPr>
            <p:nvPr/>
          </p:nvSpPr>
          <p:spPr bwMode="auto">
            <a:xfrm flipV="1">
              <a:off x="6906952" y="1050284"/>
              <a:ext cx="405544" cy="1884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64" name="Text Box 44"/>
            <p:cNvSpPr txBox="1">
              <a:spLocks noChangeArrowheads="1"/>
            </p:cNvSpPr>
            <p:nvPr/>
          </p:nvSpPr>
          <p:spPr bwMode="auto">
            <a:xfrm>
              <a:off x="6924342" y="738592"/>
              <a:ext cx="533495" cy="369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108" name="Text Box 45"/>
            <p:cNvSpPr txBox="1">
              <a:spLocks noChangeArrowheads="1"/>
            </p:cNvSpPr>
            <p:nvPr/>
          </p:nvSpPr>
          <p:spPr bwMode="auto">
            <a:xfrm>
              <a:off x="7328071" y="1779588"/>
              <a:ext cx="1416265" cy="150336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prstClr val="black"/>
                  </a:solidFill>
                  <a:latin typeface="Times New Roman" panose="02020603050405020304" pitchFamily="18" charset="0"/>
                </a:rPr>
                <a:t>11</a:t>
              </a:r>
              <a:r>
                <a:rPr kumimoji="1" lang="en-US" altLang="zh-CN" sz="20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L→*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</a:t>
              </a: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R , </a:t>
              </a:r>
              <a:r>
                <a:rPr kumimoji="1" lang="en-US" altLang="zh-CN" sz="2000" b="1">
                  <a:solidFill>
                    <a:prstClr val="black"/>
                  </a:solidFill>
                  <a:latin typeface="华文楷体" panose="02010600040101010101" pitchFamily="2" charset="-122"/>
                </a:rPr>
                <a:t>$</a:t>
              </a:r>
              <a:endParaRPr kumimoji="1" lang="zh-CN" altLang="en-US" sz="2000" b="1" i="1">
                <a:solidFill>
                  <a:prstClr val="black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R→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L , </a:t>
              </a:r>
              <a:r>
                <a:rPr kumimoji="1" lang="en-US" altLang="zh-CN" sz="2000" b="1">
                  <a:solidFill>
                    <a:prstClr val="black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L→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</a:t>
              </a: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*R , </a:t>
              </a:r>
              <a:r>
                <a:rPr kumimoji="1" lang="en-US" altLang="zh-CN" sz="2000" b="1">
                  <a:solidFill>
                    <a:prstClr val="black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L→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20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id </a:t>
              </a: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, </a:t>
              </a:r>
              <a:r>
                <a:rPr kumimoji="1" lang="en-US" altLang="zh-CN" sz="2000" b="1">
                  <a:solidFill>
                    <a:prstClr val="black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6066" name="Text Box 46"/>
            <p:cNvSpPr txBox="1">
              <a:spLocks noChangeArrowheads="1"/>
            </p:cNvSpPr>
            <p:nvPr/>
          </p:nvSpPr>
          <p:spPr bwMode="auto">
            <a:xfrm>
              <a:off x="6891381" y="1187474"/>
              <a:ext cx="360425" cy="400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86067" name="Line 47"/>
            <p:cNvSpPr>
              <a:spLocks noChangeShapeType="1"/>
            </p:cNvSpPr>
            <p:nvPr/>
          </p:nvSpPr>
          <p:spPr bwMode="auto">
            <a:xfrm>
              <a:off x="6940394" y="1406057"/>
              <a:ext cx="385967" cy="371307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Text Box 48"/>
            <p:cNvSpPr txBox="1">
              <a:spLocks noChangeArrowheads="1"/>
            </p:cNvSpPr>
            <p:nvPr/>
          </p:nvSpPr>
          <p:spPr bwMode="auto">
            <a:xfrm>
              <a:off x="7348712" y="3592513"/>
              <a:ext cx="1395624" cy="70802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prstClr val="black"/>
                  </a:solidFill>
                  <a:latin typeface="Times New Roman" panose="02020603050405020304" pitchFamily="18" charset="0"/>
                </a:rPr>
                <a:t>12</a:t>
              </a:r>
              <a:r>
                <a:rPr kumimoji="1" lang="en-US" altLang="zh-CN" sz="20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L→</a:t>
              </a:r>
              <a:r>
                <a:rPr kumimoji="1" lang="en-US" altLang="zh-CN" sz="20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id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, </a:t>
              </a:r>
              <a:r>
                <a:rPr kumimoji="1" lang="en-US" altLang="zh-CN" sz="2000" b="1">
                  <a:solidFill>
                    <a:prstClr val="black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6069" name="Line 49"/>
            <p:cNvSpPr>
              <a:spLocks noChangeShapeType="1"/>
            </p:cNvSpPr>
            <p:nvPr/>
          </p:nvSpPr>
          <p:spPr bwMode="auto">
            <a:xfrm>
              <a:off x="6924342" y="1689736"/>
              <a:ext cx="401956" cy="1836102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Text Box 50"/>
            <p:cNvSpPr txBox="1">
              <a:spLocks noChangeArrowheads="1"/>
            </p:cNvSpPr>
            <p:nvPr/>
          </p:nvSpPr>
          <p:spPr bwMode="auto">
            <a:xfrm>
              <a:off x="7348712" y="4371975"/>
              <a:ext cx="1403563" cy="70802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prstClr val="black"/>
                  </a:solidFill>
                  <a:latin typeface="Times New Roman" panose="02020603050405020304" pitchFamily="18" charset="0"/>
                </a:rPr>
                <a:t>13</a:t>
              </a:r>
              <a:r>
                <a:rPr kumimoji="1" lang="en-US" altLang="zh-CN" sz="20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L→*R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</a:t>
              </a: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 , </a:t>
              </a:r>
              <a:r>
                <a:rPr kumimoji="1" lang="en-US" altLang="zh-CN" sz="2000" b="1">
                  <a:solidFill>
                    <a:prstClr val="black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6071" name="Freeform 51"/>
            <p:cNvSpPr>
              <a:spLocks noChangeArrowheads="1"/>
            </p:cNvSpPr>
            <p:nvPr/>
          </p:nvSpPr>
          <p:spPr bwMode="auto">
            <a:xfrm>
              <a:off x="8723948" y="3188062"/>
              <a:ext cx="360425" cy="1612802"/>
            </a:xfrm>
            <a:custGeom>
              <a:avLst/>
              <a:gdLst>
                <a:gd name="T0" fmla="*/ 0 w 416"/>
                <a:gd name="T1" fmla="*/ 0 h 862"/>
                <a:gd name="T2" fmla="*/ 2147483646 w 416"/>
                <a:gd name="T3" fmla="*/ 2147483646 h 862"/>
                <a:gd name="T4" fmla="*/ 2147483646 w 416"/>
                <a:gd name="T5" fmla="*/ 2147483646 h 862"/>
                <a:gd name="T6" fmla="*/ 0 60000 65536"/>
                <a:gd name="T7" fmla="*/ 0 60000 65536"/>
                <a:gd name="T8" fmla="*/ 0 60000 65536"/>
                <a:gd name="T9" fmla="*/ 0 w 416"/>
                <a:gd name="T10" fmla="*/ 0 h 862"/>
                <a:gd name="T11" fmla="*/ 416 w 416"/>
                <a:gd name="T12" fmla="*/ 862 h 8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6" h="862">
                  <a:moveTo>
                    <a:pt x="0" y="0"/>
                  </a:moveTo>
                  <a:cubicBezTo>
                    <a:pt x="200" y="177"/>
                    <a:pt x="400" y="355"/>
                    <a:pt x="408" y="499"/>
                  </a:cubicBezTo>
                  <a:cubicBezTo>
                    <a:pt x="416" y="643"/>
                    <a:pt x="231" y="752"/>
                    <a:pt x="46" y="862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72" name="Text Box 52"/>
            <p:cNvSpPr txBox="1">
              <a:spLocks noChangeArrowheads="1"/>
            </p:cNvSpPr>
            <p:nvPr/>
          </p:nvSpPr>
          <p:spPr bwMode="auto">
            <a:xfrm>
              <a:off x="8842765" y="2979448"/>
              <a:ext cx="457281" cy="36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86073" name="Freeform 53"/>
            <p:cNvSpPr>
              <a:spLocks noChangeArrowheads="1"/>
            </p:cNvSpPr>
            <p:nvPr/>
          </p:nvSpPr>
          <p:spPr bwMode="auto">
            <a:xfrm>
              <a:off x="8746431" y="2015087"/>
              <a:ext cx="360425" cy="353990"/>
            </a:xfrm>
            <a:custGeom>
              <a:avLst/>
              <a:gdLst>
                <a:gd name="T0" fmla="*/ 0 w 227"/>
                <a:gd name="T1" fmla="*/ 0 h 227"/>
                <a:gd name="T2" fmla="*/ 2147483646 w 227"/>
                <a:gd name="T3" fmla="*/ 2147483646 h 227"/>
                <a:gd name="T4" fmla="*/ 0 w 227"/>
                <a:gd name="T5" fmla="*/ 2147483646 h 227"/>
                <a:gd name="T6" fmla="*/ 0 60000 65536"/>
                <a:gd name="T7" fmla="*/ 0 60000 65536"/>
                <a:gd name="T8" fmla="*/ 0 60000 65536"/>
                <a:gd name="T9" fmla="*/ 0 w 227"/>
                <a:gd name="T10" fmla="*/ 0 h 227"/>
                <a:gd name="T11" fmla="*/ 227 w 227"/>
                <a:gd name="T12" fmla="*/ 227 h 2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7" h="227">
                  <a:moveTo>
                    <a:pt x="0" y="0"/>
                  </a:moveTo>
                  <a:cubicBezTo>
                    <a:pt x="113" y="3"/>
                    <a:pt x="227" y="7"/>
                    <a:pt x="227" y="45"/>
                  </a:cubicBezTo>
                  <a:cubicBezTo>
                    <a:pt x="227" y="83"/>
                    <a:pt x="113" y="155"/>
                    <a:pt x="0" y="227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74" name="Text Box 54"/>
            <p:cNvSpPr txBox="1">
              <a:spLocks noChangeArrowheads="1"/>
            </p:cNvSpPr>
            <p:nvPr/>
          </p:nvSpPr>
          <p:spPr bwMode="auto">
            <a:xfrm>
              <a:off x="8714675" y="1996038"/>
              <a:ext cx="533495" cy="400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86075" name="Text Box 55"/>
            <p:cNvSpPr txBox="1">
              <a:spLocks noChangeArrowheads="1"/>
            </p:cNvSpPr>
            <p:nvPr/>
          </p:nvSpPr>
          <p:spPr bwMode="auto">
            <a:xfrm>
              <a:off x="7858813" y="1420009"/>
              <a:ext cx="381068" cy="368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86076" name="Line 56"/>
            <p:cNvSpPr>
              <a:spLocks noChangeShapeType="1"/>
            </p:cNvSpPr>
            <p:nvPr/>
          </p:nvSpPr>
          <p:spPr bwMode="auto">
            <a:xfrm flipV="1">
              <a:off x="7866454" y="1492013"/>
              <a:ext cx="0" cy="26985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77" name="Line 56"/>
            <p:cNvSpPr>
              <a:spLocks noChangeShapeType="1"/>
            </p:cNvSpPr>
            <p:nvPr/>
          </p:nvSpPr>
          <p:spPr bwMode="auto">
            <a:xfrm flipH="1">
              <a:off x="7976011" y="3292103"/>
              <a:ext cx="9527" cy="317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78" name="Text Box 17"/>
            <p:cNvSpPr txBox="1">
              <a:spLocks noChangeArrowheads="1"/>
            </p:cNvSpPr>
            <p:nvPr/>
          </p:nvSpPr>
          <p:spPr bwMode="auto">
            <a:xfrm>
              <a:off x="7984558" y="3285174"/>
              <a:ext cx="533495" cy="36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122" name="Text Box 18"/>
            <p:cNvSpPr txBox="1">
              <a:spLocks noChangeArrowheads="1"/>
            </p:cNvSpPr>
            <p:nvPr/>
          </p:nvSpPr>
          <p:spPr bwMode="auto">
            <a:xfrm>
              <a:off x="5289411" y="771525"/>
              <a:ext cx="1649664" cy="163195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r>
                <a:rPr kumimoji="1"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lnSpc>
                  <a:spcPts val="2400"/>
                </a:lnSpc>
                <a:defRPr/>
              </a:pPr>
              <a:r>
                <a:rPr kumimoji="1"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S→L=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R , </a:t>
              </a:r>
              <a:r>
                <a:rPr kumimoji="1" lang="en-US" altLang="zh-CN" sz="2000" b="1" dirty="0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ts val="2400"/>
                </a:lnSpc>
                <a:defRPr/>
              </a:pPr>
              <a:r>
                <a:rPr kumimoji="1"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R→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L , </a:t>
              </a:r>
              <a:r>
                <a:rPr kumimoji="1" lang="en-US" altLang="zh-CN" sz="2000" b="1" dirty="0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ts val="2400"/>
                </a:lnSpc>
                <a:defRPr/>
              </a:pPr>
              <a:r>
                <a:rPr kumimoji="1"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L→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*R , </a:t>
              </a:r>
              <a:r>
                <a:rPr kumimoji="1" lang="en-US" altLang="zh-CN" sz="2000" b="1" dirty="0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ts val="2400"/>
                </a:lnSpc>
                <a:defRPr/>
              </a:pPr>
              <a:r>
                <a:rPr kumimoji="1"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L→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  <a:r>
                <a:rPr kumimoji="1"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, </a:t>
              </a:r>
              <a:r>
                <a:rPr kumimoji="1" lang="en-US" altLang="zh-CN" sz="2000" b="1" dirty="0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26" name="矩形 125"/>
          <p:cNvSpPr/>
          <p:nvPr/>
        </p:nvSpPr>
        <p:spPr>
          <a:xfrm>
            <a:off x="7253288" y="811213"/>
            <a:ext cx="1558925" cy="792162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7281863" y="4349750"/>
            <a:ext cx="1527175" cy="752475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7285038" y="3552825"/>
            <a:ext cx="1527175" cy="738188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6028" name="灯片编号占位符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F757A80-65CD-4459-891A-DD977924F734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49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476452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xit" presetSubtype="3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5" grpId="1" animBg="1"/>
      <p:bldP spid="66" grpId="0" animBg="1"/>
      <p:bldP spid="64" grpId="0"/>
      <p:bldP spid="64" grpId="1"/>
      <p:bldP spid="64" grpId="2"/>
      <p:bldP spid="127" grpId="0" animBg="1"/>
      <p:bldP spid="12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zh-CN" altLang="en-US" sz="3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3000" i="1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LR</a:t>
            </a:r>
            <a:r>
              <a:rPr lang="en-US" altLang="zh-CN" sz="3000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(1)</a:t>
            </a:r>
            <a:r>
              <a:rPr lang="zh-CN" altLang="en-US" sz="3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自动机</a:t>
            </a:r>
            <a:endParaRPr lang="zh-CN" altLang="en-US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Rectangle 37"/>
          <p:cNvSpPr>
            <a:spLocks noChangeArrowheads="1"/>
          </p:cNvSpPr>
          <p:nvPr/>
        </p:nvSpPr>
        <p:spPr bwMode="auto">
          <a:xfrm>
            <a:off x="107950" y="1012825"/>
            <a:ext cx="1290638" cy="19081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609600" indent="-609600" eaLnBrk="1" hangingPunct="1">
              <a:lnSpc>
                <a:spcPts val="2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zh-CN" altLang="zh-CN" b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0) </a:t>
            </a:r>
            <a:r>
              <a:rPr lang="en-US" altLang="zh-CN" b="1" i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S</a:t>
            </a:r>
            <a:r>
              <a:rPr lang="en-US" altLang="zh-CN" sz="1600" b="1" i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′ </a:t>
            </a:r>
            <a:r>
              <a:rPr lang="en-US" altLang="zh-CN" b="1" i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→S</a:t>
            </a:r>
          </a:p>
          <a:p>
            <a:pPr marL="609600" indent="-609600" eaLnBrk="1" hangingPunct="1">
              <a:lnSpc>
                <a:spcPts val="2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b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1) </a:t>
            </a:r>
            <a:r>
              <a:rPr lang="en-US" altLang="zh-CN" b="1" i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S→L=R</a:t>
            </a:r>
          </a:p>
          <a:p>
            <a:pPr marL="609600" indent="-609600" eaLnBrk="1" hangingPunct="1">
              <a:lnSpc>
                <a:spcPts val="2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b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2) </a:t>
            </a:r>
            <a:r>
              <a:rPr lang="en-US" altLang="zh-CN" b="1" i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S→R</a:t>
            </a:r>
          </a:p>
          <a:p>
            <a:pPr marL="609600" indent="-609600" eaLnBrk="1" hangingPunct="1">
              <a:lnSpc>
                <a:spcPts val="2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b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3) </a:t>
            </a:r>
            <a:r>
              <a:rPr lang="en-US" altLang="zh-CN" b="1" i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L→*R</a:t>
            </a:r>
          </a:p>
          <a:p>
            <a:pPr marL="609600" indent="-609600" eaLnBrk="1" hangingPunct="1">
              <a:lnSpc>
                <a:spcPts val="2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b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4) </a:t>
            </a:r>
            <a:r>
              <a:rPr lang="en-US" altLang="zh-CN" b="1" i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L→</a:t>
            </a:r>
            <a:r>
              <a:rPr lang="en-US" altLang="zh-CN" b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id</a:t>
            </a:r>
          </a:p>
          <a:p>
            <a:pPr marL="609600" indent="-609600" eaLnBrk="1" hangingPunct="1">
              <a:lnSpc>
                <a:spcPts val="2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b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5) </a:t>
            </a:r>
            <a:r>
              <a:rPr lang="en-US" altLang="zh-CN" b="1" i="1" noProof="1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R→L</a:t>
            </a:r>
          </a:p>
        </p:txBody>
      </p:sp>
      <p:sp>
        <p:nvSpPr>
          <p:cNvPr id="66" name="矩形 65"/>
          <p:cNvSpPr/>
          <p:nvPr/>
        </p:nvSpPr>
        <p:spPr>
          <a:xfrm>
            <a:off x="5237163" y="3457575"/>
            <a:ext cx="1711325" cy="814388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7" name="Rectangle 66"/>
          <p:cNvSpPr>
            <a:spLocks noChangeArrowheads="1"/>
          </p:cNvSpPr>
          <p:nvPr/>
        </p:nvSpPr>
        <p:spPr bwMode="auto">
          <a:xfrm>
            <a:off x="103188" y="3767138"/>
            <a:ext cx="2520950" cy="12001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b="1" noProof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ea"/>
              </a:rPr>
              <a:t>如果除</a:t>
            </a:r>
            <a:r>
              <a:rPr lang="zh-CN" altLang="en-US" b="1" noProof="1">
                <a:solidFill>
                  <a:srgbClr val="2D83F4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ea"/>
              </a:rPr>
              <a:t>展望符</a:t>
            </a:r>
            <a:r>
              <a:rPr lang="zh-CN" altLang="en-US" b="1" noProof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ea"/>
              </a:rPr>
              <a:t>外，两个</a:t>
            </a:r>
            <a:r>
              <a:rPr lang="en-US" altLang="zh-CN" b="1" i="1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n-ea"/>
              </a:rPr>
              <a:t>LR</a:t>
            </a:r>
            <a:r>
              <a:rPr lang="en-US" altLang="zh-CN" b="1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n-ea"/>
              </a:rPr>
              <a:t>(1)</a:t>
            </a:r>
            <a:r>
              <a:rPr lang="zh-CN" altLang="en-US" b="1" noProof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ea"/>
              </a:rPr>
              <a:t>项目集是相同的，则称这两个</a:t>
            </a:r>
            <a:r>
              <a:rPr lang="en-US" altLang="zh-CN" b="1" i="1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n-ea"/>
              </a:rPr>
              <a:t>LR</a:t>
            </a:r>
            <a:r>
              <a:rPr lang="en-US" altLang="zh-CN" b="1" noProof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n-ea"/>
              </a:rPr>
              <a:t>(1)</a:t>
            </a:r>
            <a:r>
              <a:rPr lang="zh-CN" altLang="en-US" b="1" noProof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ea"/>
              </a:rPr>
              <a:t>项目集是</a:t>
            </a:r>
            <a:r>
              <a:rPr lang="zh-CN" altLang="en-US" b="1" noProof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ea"/>
              </a:rPr>
              <a:t>同心</a:t>
            </a:r>
            <a:r>
              <a:rPr lang="zh-CN" altLang="en-US" b="1" noProof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ea"/>
              </a:rPr>
              <a:t>的</a:t>
            </a:r>
            <a:endParaRPr lang="zh-CN" altLang="en-US" b="1" noProof="1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grpSp>
        <p:nvGrpSpPr>
          <p:cNvPr id="88070" name="组合 62"/>
          <p:cNvGrpSpPr>
            <a:grpSpLocks/>
          </p:cNvGrpSpPr>
          <p:nvPr/>
        </p:nvGrpSpPr>
        <p:grpSpPr bwMode="auto">
          <a:xfrm>
            <a:off x="1476375" y="63500"/>
            <a:ext cx="7823200" cy="5016500"/>
            <a:chOff x="1475656" y="63500"/>
            <a:chExt cx="7824390" cy="5016500"/>
          </a:xfrm>
        </p:grpSpPr>
        <p:sp>
          <p:nvSpPr>
            <p:cNvPr id="88079" name="Text Box 5"/>
            <p:cNvSpPr txBox="1">
              <a:spLocks noChangeArrowheads="1"/>
            </p:cNvSpPr>
            <p:nvPr/>
          </p:nvSpPr>
          <p:spPr bwMode="auto">
            <a:xfrm>
              <a:off x="1475656" y="1041400"/>
              <a:ext cx="1555987" cy="2154238"/>
            </a:xfrm>
            <a:prstGeom prst="rect">
              <a:avLst/>
            </a:prstGeom>
            <a:solidFill>
              <a:srgbClr val="B5CEED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S′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S</a:t>
              </a:r>
              <a:r>
                <a:rPr lang="zh-CN" altLang="en-US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, </a:t>
              </a:r>
              <a:r>
                <a:rPr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S→· L=R , </a:t>
              </a:r>
              <a:r>
                <a:rPr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S→ · R , </a:t>
              </a:r>
              <a:r>
                <a:rPr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L→·*R ,=/ </a:t>
              </a:r>
              <a:r>
                <a:rPr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L→ · 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,=/ </a:t>
              </a:r>
              <a:r>
                <a:rPr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R→ · L , </a:t>
              </a:r>
              <a:r>
                <a:rPr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8080" name="Text Box 6"/>
            <p:cNvSpPr txBox="1">
              <a:spLocks noChangeArrowheads="1"/>
            </p:cNvSpPr>
            <p:nvPr/>
          </p:nvSpPr>
          <p:spPr bwMode="auto">
            <a:xfrm>
              <a:off x="3334902" y="682625"/>
              <a:ext cx="1224148" cy="708025"/>
            </a:xfrm>
            <a:prstGeom prst="rect">
              <a:avLst/>
            </a:prstGeom>
            <a:solidFill>
              <a:srgbClr val="B5CEED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S′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→S· , </a:t>
              </a:r>
              <a:r>
                <a:rPr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8081" name="Line 7"/>
            <p:cNvSpPr>
              <a:spLocks noChangeShapeType="1"/>
            </p:cNvSpPr>
            <p:nvPr/>
          </p:nvSpPr>
          <p:spPr bwMode="auto">
            <a:xfrm flipV="1">
              <a:off x="3056900" y="1273175"/>
              <a:ext cx="28894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Text Box 8"/>
            <p:cNvSpPr txBox="1">
              <a:spLocks noChangeArrowheads="1"/>
            </p:cNvSpPr>
            <p:nvPr/>
          </p:nvSpPr>
          <p:spPr bwMode="auto">
            <a:xfrm>
              <a:off x="3334902" y="1463675"/>
              <a:ext cx="1479775" cy="93821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S→L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=R , </a:t>
              </a:r>
              <a:r>
                <a:rPr kumimoji="1"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R→L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, </a:t>
              </a:r>
              <a:r>
                <a:rPr kumimoji="1"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8083" name="Line 9"/>
            <p:cNvSpPr>
              <a:spLocks noChangeShapeType="1"/>
            </p:cNvSpPr>
            <p:nvPr/>
          </p:nvSpPr>
          <p:spPr bwMode="auto">
            <a:xfrm flipV="1">
              <a:off x="3047374" y="1860550"/>
              <a:ext cx="2984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84" name="Text Box 10"/>
            <p:cNvSpPr txBox="1">
              <a:spLocks noChangeArrowheads="1"/>
            </p:cNvSpPr>
            <p:nvPr/>
          </p:nvSpPr>
          <p:spPr bwMode="auto">
            <a:xfrm>
              <a:off x="3023561" y="1465263"/>
              <a:ext cx="50326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72" name="Text Box 11"/>
            <p:cNvSpPr txBox="1">
              <a:spLocks noChangeArrowheads="1"/>
            </p:cNvSpPr>
            <p:nvPr/>
          </p:nvSpPr>
          <p:spPr bwMode="auto">
            <a:xfrm>
              <a:off x="3334902" y="2444750"/>
              <a:ext cx="1224148" cy="70802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S→R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, </a:t>
              </a:r>
              <a:r>
                <a:rPr kumimoji="1"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8086" name="Line 12"/>
            <p:cNvSpPr>
              <a:spLocks noChangeShapeType="1"/>
            </p:cNvSpPr>
            <p:nvPr/>
          </p:nvSpPr>
          <p:spPr bwMode="auto">
            <a:xfrm flipV="1">
              <a:off x="3023561" y="2700338"/>
              <a:ext cx="28894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87" name="Text Box 13"/>
            <p:cNvSpPr txBox="1">
              <a:spLocks noChangeArrowheads="1"/>
            </p:cNvSpPr>
            <p:nvPr/>
          </p:nvSpPr>
          <p:spPr bwMode="auto">
            <a:xfrm>
              <a:off x="2996571" y="2333625"/>
              <a:ext cx="609636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76" name="Text Box 14"/>
            <p:cNvSpPr txBox="1">
              <a:spLocks noChangeArrowheads="1"/>
            </p:cNvSpPr>
            <p:nvPr/>
          </p:nvSpPr>
          <p:spPr bwMode="auto">
            <a:xfrm>
              <a:off x="3346015" y="3236913"/>
              <a:ext cx="1568689" cy="150336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L→*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  <a:r>
                <a:rPr kumimoji="1" lang="zh-CN" altLang="en-US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, =/</a:t>
              </a:r>
              <a:r>
                <a:rPr kumimoji="1"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R→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</a:t>
              </a:r>
              <a:r>
                <a:rPr kumimoji="1" lang="zh-CN" altLang="en-US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, =/</a:t>
              </a:r>
              <a:r>
                <a:rPr kumimoji="1"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L→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*R , =/</a:t>
              </a:r>
              <a:r>
                <a:rPr kumimoji="1"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L→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, =/</a:t>
              </a:r>
              <a:r>
                <a:rPr kumimoji="1"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7" name="Text Box 15"/>
            <p:cNvSpPr txBox="1">
              <a:spLocks noChangeArrowheads="1"/>
            </p:cNvSpPr>
            <p:nvPr/>
          </p:nvSpPr>
          <p:spPr bwMode="auto">
            <a:xfrm>
              <a:off x="5289411" y="4281488"/>
              <a:ext cx="1582979" cy="70643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L→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r>
                <a:rPr kumimoji="1" lang="zh-CN" altLang="en-US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, =/</a:t>
              </a:r>
              <a:r>
                <a:rPr kumimoji="1"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 $</a:t>
              </a:r>
              <a:endPara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8090" name="Text Box 16"/>
            <p:cNvSpPr txBox="1">
              <a:spLocks noChangeArrowheads="1"/>
            </p:cNvSpPr>
            <p:nvPr/>
          </p:nvSpPr>
          <p:spPr bwMode="auto">
            <a:xfrm>
              <a:off x="3061663" y="2932113"/>
              <a:ext cx="533432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88091" name="Text Box 17"/>
            <p:cNvSpPr txBox="1">
              <a:spLocks noChangeArrowheads="1"/>
            </p:cNvSpPr>
            <p:nvPr/>
          </p:nvSpPr>
          <p:spPr bwMode="auto">
            <a:xfrm>
              <a:off x="2704454" y="3687763"/>
              <a:ext cx="533432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88092" name="Line 19"/>
            <p:cNvSpPr>
              <a:spLocks noChangeShapeType="1"/>
            </p:cNvSpPr>
            <p:nvPr/>
          </p:nvSpPr>
          <p:spPr bwMode="auto">
            <a:xfrm flipV="1">
              <a:off x="4814367" y="1924050"/>
              <a:ext cx="4302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93" name="Text Box 20"/>
            <p:cNvSpPr txBox="1">
              <a:spLocks noChangeArrowheads="1"/>
            </p:cNvSpPr>
            <p:nvPr/>
          </p:nvSpPr>
          <p:spPr bwMode="auto">
            <a:xfrm>
              <a:off x="4809603" y="1595438"/>
              <a:ext cx="45722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=</a:t>
              </a:r>
            </a:p>
          </p:txBody>
        </p:sp>
        <p:sp>
          <p:nvSpPr>
            <p:cNvPr id="82" name="Text Box 21"/>
            <p:cNvSpPr txBox="1">
              <a:spLocks noChangeArrowheads="1"/>
            </p:cNvSpPr>
            <p:nvPr/>
          </p:nvSpPr>
          <p:spPr bwMode="auto">
            <a:xfrm>
              <a:off x="5289411" y="2733675"/>
              <a:ext cx="1654427" cy="70643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7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L→*R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</a:t>
              </a:r>
              <a:r>
                <a:rPr kumimoji="1" lang="zh-CN" altLang="en-US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, =/</a:t>
              </a:r>
              <a:r>
                <a:rPr kumimoji="1"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 $</a:t>
              </a:r>
              <a:endPara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8095" name="Line 22"/>
            <p:cNvSpPr>
              <a:spLocks noChangeShapeType="1"/>
            </p:cNvSpPr>
            <p:nvPr/>
          </p:nvSpPr>
          <p:spPr bwMode="auto">
            <a:xfrm>
              <a:off x="4933436" y="3308350"/>
              <a:ext cx="39372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96" name="Text Box 23"/>
            <p:cNvSpPr txBox="1">
              <a:spLocks noChangeArrowheads="1"/>
            </p:cNvSpPr>
            <p:nvPr/>
          </p:nvSpPr>
          <p:spPr bwMode="auto">
            <a:xfrm>
              <a:off x="4879457" y="2949575"/>
              <a:ext cx="45722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85" name="Text Box 24"/>
            <p:cNvSpPr txBox="1">
              <a:spLocks noChangeArrowheads="1"/>
            </p:cNvSpPr>
            <p:nvPr/>
          </p:nvSpPr>
          <p:spPr bwMode="auto">
            <a:xfrm>
              <a:off x="5289411" y="3525838"/>
              <a:ext cx="1582979" cy="70643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8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R→L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</a:t>
              </a:r>
              <a:r>
                <a:rPr kumimoji="1" lang="zh-CN" altLang="en-US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, =/</a:t>
              </a:r>
              <a:r>
                <a:rPr kumimoji="1"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 $</a:t>
              </a:r>
              <a:endPara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8098" name="Line 25"/>
            <p:cNvSpPr>
              <a:spLocks noChangeShapeType="1"/>
            </p:cNvSpPr>
            <p:nvPr/>
          </p:nvSpPr>
          <p:spPr bwMode="auto">
            <a:xfrm>
              <a:off x="4901684" y="3957638"/>
              <a:ext cx="38737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99" name="Text Box 26"/>
            <p:cNvSpPr txBox="1">
              <a:spLocks noChangeArrowheads="1"/>
            </p:cNvSpPr>
            <p:nvPr/>
          </p:nvSpPr>
          <p:spPr bwMode="auto">
            <a:xfrm>
              <a:off x="4895333" y="3597275"/>
              <a:ext cx="381023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88" name="Text Box 27"/>
            <p:cNvSpPr txBox="1">
              <a:spLocks noChangeArrowheads="1"/>
            </p:cNvSpPr>
            <p:nvPr/>
          </p:nvSpPr>
          <p:spPr bwMode="auto">
            <a:xfrm>
              <a:off x="7318545" y="63500"/>
              <a:ext cx="1524232" cy="70802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9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defRPr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S→L=R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, </a:t>
              </a:r>
              <a:r>
                <a:rPr kumimoji="1"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8101" name="Line 28"/>
            <p:cNvSpPr>
              <a:spLocks noChangeShapeType="1"/>
            </p:cNvSpPr>
            <p:nvPr/>
          </p:nvSpPr>
          <p:spPr bwMode="auto">
            <a:xfrm flipV="1">
              <a:off x="6954443" y="373257"/>
              <a:ext cx="327891" cy="3855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02" name="Text Box 29"/>
            <p:cNvSpPr txBox="1">
              <a:spLocks noChangeArrowheads="1"/>
            </p:cNvSpPr>
            <p:nvPr/>
          </p:nvSpPr>
          <p:spPr bwMode="auto">
            <a:xfrm>
              <a:off x="6718374" y="369251"/>
              <a:ext cx="533432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88103" name="Text Box 33"/>
            <p:cNvSpPr txBox="1">
              <a:spLocks noChangeArrowheads="1"/>
            </p:cNvSpPr>
            <p:nvPr/>
          </p:nvSpPr>
          <p:spPr bwMode="auto">
            <a:xfrm>
              <a:off x="3031498" y="896938"/>
              <a:ext cx="533432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88104" name="Line 34"/>
            <p:cNvSpPr>
              <a:spLocks noChangeShapeType="1"/>
            </p:cNvSpPr>
            <p:nvPr/>
          </p:nvSpPr>
          <p:spPr bwMode="auto">
            <a:xfrm flipV="1">
              <a:off x="4911209" y="4564063"/>
              <a:ext cx="377847" cy="15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05" name="Text Box 35"/>
            <p:cNvSpPr txBox="1">
              <a:spLocks noChangeArrowheads="1"/>
            </p:cNvSpPr>
            <p:nvPr/>
          </p:nvSpPr>
          <p:spPr bwMode="auto">
            <a:xfrm>
              <a:off x="4879457" y="4175125"/>
              <a:ext cx="533432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  <p:grpSp>
          <p:nvGrpSpPr>
            <p:cNvPr id="88106" name="Group 36"/>
            <p:cNvGrpSpPr>
              <a:grpSpLocks/>
            </p:cNvGrpSpPr>
            <p:nvPr/>
          </p:nvGrpSpPr>
          <p:grpSpPr bwMode="auto">
            <a:xfrm>
              <a:off x="3045787" y="3975100"/>
              <a:ext cx="290529" cy="269875"/>
              <a:chOff x="2335" y="3249"/>
              <a:chExt cx="183" cy="226"/>
            </a:xfrm>
          </p:grpSpPr>
          <p:sp>
            <p:nvSpPr>
              <p:cNvPr id="88130" name="Line 37"/>
              <p:cNvSpPr>
                <a:spLocks noChangeShapeType="1"/>
              </p:cNvSpPr>
              <p:nvPr/>
            </p:nvSpPr>
            <p:spPr bwMode="auto">
              <a:xfrm>
                <a:off x="2335" y="3249"/>
                <a:ext cx="18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131" name="Line 38"/>
              <p:cNvSpPr>
                <a:spLocks noChangeShapeType="1"/>
              </p:cNvSpPr>
              <p:nvPr/>
            </p:nvSpPr>
            <p:spPr bwMode="auto">
              <a:xfrm>
                <a:off x="2335" y="3249"/>
                <a:ext cx="0" cy="22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132" name="Line 39"/>
              <p:cNvSpPr>
                <a:spLocks noChangeShapeType="1"/>
              </p:cNvSpPr>
              <p:nvPr/>
            </p:nvSpPr>
            <p:spPr bwMode="auto">
              <a:xfrm>
                <a:off x="2336" y="3475"/>
                <a:ext cx="18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8107" name="Text Box 40"/>
            <p:cNvSpPr txBox="1">
              <a:spLocks noChangeArrowheads="1"/>
            </p:cNvSpPr>
            <p:nvPr/>
          </p:nvSpPr>
          <p:spPr bwMode="auto">
            <a:xfrm>
              <a:off x="3021973" y="3944938"/>
              <a:ext cx="533432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88108" name="Line 41"/>
            <p:cNvSpPr>
              <a:spLocks noChangeShapeType="1"/>
            </p:cNvSpPr>
            <p:nvPr/>
          </p:nvSpPr>
          <p:spPr bwMode="auto">
            <a:xfrm>
              <a:off x="3056900" y="3038475"/>
              <a:ext cx="261954" cy="433388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09" name="Line 57"/>
            <p:cNvSpPr>
              <a:spLocks noChangeShapeType="1"/>
            </p:cNvSpPr>
            <p:nvPr/>
          </p:nvSpPr>
          <p:spPr bwMode="auto">
            <a:xfrm flipV="1">
              <a:off x="2771800" y="4872033"/>
              <a:ext cx="2517255" cy="2540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10" name="Line 59"/>
            <p:cNvSpPr>
              <a:spLocks noChangeShapeType="1"/>
            </p:cNvSpPr>
            <p:nvPr/>
          </p:nvSpPr>
          <p:spPr bwMode="auto">
            <a:xfrm flipH="1" flipV="1">
              <a:off x="2759099" y="3195638"/>
              <a:ext cx="12701" cy="17240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11" name="Text Box 32"/>
            <p:cNvSpPr txBox="1">
              <a:spLocks noChangeArrowheads="1"/>
            </p:cNvSpPr>
            <p:nvPr/>
          </p:nvSpPr>
          <p:spPr bwMode="auto">
            <a:xfrm>
              <a:off x="6944918" y="1677862"/>
              <a:ext cx="503327" cy="36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100" name="Text Box 42"/>
            <p:cNvSpPr txBox="1">
              <a:spLocks noChangeArrowheads="1"/>
            </p:cNvSpPr>
            <p:nvPr/>
          </p:nvSpPr>
          <p:spPr bwMode="auto">
            <a:xfrm>
              <a:off x="7312194" y="844550"/>
              <a:ext cx="1440082" cy="65563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prstClr val="black"/>
                  </a:solidFill>
                  <a:latin typeface="Times New Roman" panose="02020603050405020304" pitchFamily="18" charset="0"/>
                </a:rPr>
                <a:t>10</a:t>
              </a:r>
              <a:r>
                <a:rPr kumimoji="1" lang="en-US" altLang="zh-CN" sz="20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R→L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</a:t>
              </a: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 , </a:t>
              </a:r>
              <a:r>
                <a:rPr kumimoji="1" lang="en-US" altLang="zh-CN" sz="2000" b="1">
                  <a:solidFill>
                    <a:prstClr val="black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8113" name="Line 43"/>
            <p:cNvSpPr>
              <a:spLocks noChangeShapeType="1"/>
            </p:cNvSpPr>
            <p:nvPr/>
          </p:nvSpPr>
          <p:spPr bwMode="auto">
            <a:xfrm flipV="1">
              <a:off x="6906952" y="1050284"/>
              <a:ext cx="405544" cy="1884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14" name="Text Box 44"/>
            <p:cNvSpPr txBox="1">
              <a:spLocks noChangeArrowheads="1"/>
            </p:cNvSpPr>
            <p:nvPr/>
          </p:nvSpPr>
          <p:spPr bwMode="auto">
            <a:xfrm>
              <a:off x="6924342" y="738592"/>
              <a:ext cx="533495" cy="369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103" name="Text Box 45"/>
            <p:cNvSpPr txBox="1">
              <a:spLocks noChangeArrowheads="1"/>
            </p:cNvSpPr>
            <p:nvPr/>
          </p:nvSpPr>
          <p:spPr bwMode="auto">
            <a:xfrm>
              <a:off x="7328071" y="1779588"/>
              <a:ext cx="1416265" cy="150336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prstClr val="black"/>
                  </a:solidFill>
                  <a:latin typeface="Times New Roman" panose="02020603050405020304" pitchFamily="18" charset="0"/>
                </a:rPr>
                <a:t>11</a:t>
              </a:r>
              <a:r>
                <a:rPr kumimoji="1" lang="en-US" altLang="zh-CN" sz="20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L→*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</a:t>
              </a: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R , </a:t>
              </a:r>
              <a:r>
                <a:rPr kumimoji="1" lang="en-US" altLang="zh-CN" sz="2000" b="1">
                  <a:solidFill>
                    <a:prstClr val="black"/>
                  </a:solidFill>
                  <a:latin typeface="华文楷体" panose="02010600040101010101" pitchFamily="2" charset="-122"/>
                </a:rPr>
                <a:t>$</a:t>
              </a:r>
              <a:endParaRPr kumimoji="1" lang="zh-CN" altLang="en-US" sz="2000" b="1" i="1">
                <a:solidFill>
                  <a:prstClr val="black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R→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L , </a:t>
              </a:r>
              <a:r>
                <a:rPr kumimoji="1" lang="en-US" altLang="zh-CN" sz="2000" b="1">
                  <a:solidFill>
                    <a:prstClr val="black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L→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</a:t>
              </a: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*R , </a:t>
              </a:r>
              <a:r>
                <a:rPr kumimoji="1" lang="en-US" altLang="zh-CN" sz="2000" b="1">
                  <a:solidFill>
                    <a:prstClr val="black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ts val="2200"/>
                </a:lnSpc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L→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20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id </a:t>
              </a: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, </a:t>
              </a:r>
              <a:r>
                <a:rPr kumimoji="1" lang="en-US" altLang="zh-CN" sz="2000" b="1">
                  <a:solidFill>
                    <a:prstClr val="black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8116" name="Text Box 46"/>
            <p:cNvSpPr txBox="1">
              <a:spLocks noChangeArrowheads="1"/>
            </p:cNvSpPr>
            <p:nvPr/>
          </p:nvSpPr>
          <p:spPr bwMode="auto">
            <a:xfrm>
              <a:off x="6891381" y="1187474"/>
              <a:ext cx="360425" cy="400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88117" name="Line 47"/>
            <p:cNvSpPr>
              <a:spLocks noChangeShapeType="1"/>
            </p:cNvSpPr>
            <p:nvPr/>
          </p:nvSpPr>
          <p:spPr bwMode="auto">
            <a:xfrm>
              <a:off x="6940394" y="1406057"/>
              <a:ext cx="385967" cy="371307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Text Box 48"/>
            <p:cNvSpPr txBox="1">
              <a:spLocks noChangeArrowheads="1"/>
            </p:cNvSpPr>
            <p:nvPr/>
          </p:nvSpPr>
          <p:spPr bwMode="auto">
            <a:xfrm>
              <a:off x="7348712" y="3592513"/>
              <a:ext cx="1395624" cy="70802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prstClr val="black"/>
                  </a:solidFill>
                  <a:latin typeface="Times New Roman" panose="02020603050405020304" pitchFamily="18" charset="0"/>
                </a:rPr>
                <a:t>12</a:t>
              </a:r>
              <a:r>
                <a:rPr kumimoji="1" lang="en-US" altLang="zh-CN" sz="20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L→</a:t>
              </a:r>
              <a:r>
                <a:rPr kumimoji="1" lang="en-US" altLang="zh-CN" sz="20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id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, </a:t>
              </a:r>
              <a:r>
                <a:rPr kumimoji="1" lang="en-US" altLang="zh-CN" sz="2000" b="1">
                  <a:solidFill>
                    <a:prstClr val="black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8119" name="Line 49"/>
            <p:cNvSpPr>
              <a:spLocks noChangeShapeType="1"/>
            </p:cNvSpPr>
            <p:nvPr/>
          </p:nvSpPr>
          <p:spPr bwMode="auto">
            <a:xfrm>
              <a:off x="6924342" y="1689736"/>
              <a:ext cx="401956" cy="1836102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Text Box 50"/>
            <p:cNvSpPr txBox="1">
              <a:spLocks noChangeArrowheads="1"/>
            </p:cNvSpPr>
            <p:nvPr/>
          </p:nvSpPr>
          <p:spPr bwMode="auto">
            <a:xfrm>
              <a:off x="7348712" y="4371975"/>
              <a:ext cx="1403563" cy="70802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>
                  <a:solidFill>
                    <a:prstClr val="black"/>
                  </a:solidFill>
                  <a:latin typeface="Times New Roman" panose="02020603050405020304" pitchFamily="18" charset="0"/>
                </a:rPr>
                <a:t>13</a:t>
              </a:r>
              <a:r>
                <a:rPr kumimoji="1" lang="en-US" altLang="zh-CN" sz="20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defRPr/>
              </a:pP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L→*R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</a:t>
              </a:r>
              <a:r>
                <a:rPr kumimoji="1" lang="en-US" altLang="zh-CN" sz="2000" b="1" i="1">
                  <a:solidFill>
                    <a:prstClr val="black"/>
                  </a:solidFill>
                  <a:latin typeface="Times New Roman" panose="02020603050405020304" pitchFamily="18" charset="0"/>
                </a:rPr>
                <a:t> , </a:t>
              </a:r>
              <a:r>
                <a:rPr kumimoji="1" lang="en-US" altLang="zh-CN" sz="2000" b="1">
                  <a:solidFill>
                    <a:prstClr val="black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8121" name="Freeform 51"/>
            <p:cNvSpPr>
              <a:spLocks noChangeArrowheads="1"/>
            </p:cNvSpPr>
            <p:nvPr/>
          </p:nvSpPr>
          <p:spPr bwMode="auto">
            <a:xfrm>
              <a:off x="8723948" y="3188062"/>
              <a:ext cx="360425" cy="1612802"/>
            </a:xfrm>
            <a:custGeom>
              <a:avLst/>
              <a:gdLst>
                <a:gd name="T0" fmla="*/ 0 w 416"/>
                <a:gd name="T1" fmla="*/ 0 h 862"/>
                <a:gd name="T2" fmla="*/ 2147483646 w 416"/>
                <a:gd name="T3" fmla="*/ 2147483646 h 862"/>
                <a:gd name="T4" fmla="*/ 2147483646 w 416"/>
                <a:gd name="T5" fmla="*/ 2147483646 h 862"/>
                <a:gd name="T6" fmla="*/ 0 60000 65536"/>
                <a:gd name="T7" fmla="*/ 0 60000 65536"/>
                <a:gd name="T8" fmla="*/ 0 60000 65536"/>
                <a:gd name="T9" fmla="*/ 0 w 416"/>
                <a:gd name="T10" fmla="*/ 0 h 862"/>
                <a:gd name="T11" fmla="*/ 416 w 416"/>
                <a:gd name="T12" fmla="*/ 862 h 8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6" h="862">
                  <a:moveTo>
                    <a:pt x="0" y="0"/>
                  </a:moveTo>
                  <a:cubicBezTo>
                    <a:pt x="200" y="177"/>
                    <a:pt x="400" y="355"/>
                    <a:pt x="408" y="499"/>
                  </a:cubicBezTo>
                  <a:cubicBezTo>
                    <a:pt x="416" y="643"/>
                    <a:pt x="231" y="752"/>
                    <a:pt x="46" y="862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22" name="Text Box 52"/>
            <p:cNvSpPr txBox="1">
              <a:spLocks noChangeArrowheads="1"/>
            </p:cNvSpPr>
            <p:nvPr/>
          </p:nvSpPr>
          <p:spPr bwMode="auto">
            <a:xfrm>
              <a:off x="8842765" y="2979448"/>
              <a:ext cx="457281" cy="36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88123" name="Freeform 53"/>
            <p:cNvSpPr>
              <a:spLocks noChangeArrowheads="1"/>
            </p:cNvSpPr>
            <p:nvPr/>
          </p:nvSpPr>
          <p:spPr bwMode="auto">
            <a:xfrm>
              <a:off x="8746431" y="2015087"/>
              <a:ext cx="360425" cy="353990"/>
            </a:xfrm>
            <a:custGeom>
              <a:avLst/>
              <a:gdLst>
                <a:gd name="T0" fmla="*/ 0 w 227"/>
                <a:gd name="T1" fmla="*/ 0 h 227"/>
                <a:gd name="T2" fmla="*/ 2147483646 w 227"/>
                <a:gd name="T3" fmla="*/ 2147483646 h 227"/>
                <a:gd name="T4" fmla="*/ 0 w 227"/>
                <a:gd name="T5" fmla="*/ 2147483646 h 227"/>
                <a:gd name="T6" fmla="*/ 0 60000 65536"/>
                <a:gd name="T7" fmla="*/ 0 60000 65536"/>
                <a:gd name="T8" fmla="*/ 0 60000 65536"/>
                <a:gd name="T9" fmla="*/ 0 w 227"/>
                <a:gd name="T10" fmla="*/ 0 h 227"/>
                <a:gd name="T11" fmla="*/ 227 w 227"/>
                <a:gd name="T12" fmla="*/ 227 h 2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7" h="227">
                  <a:moveTo>
                    <a:pt x="0" y="0"/>
                  </a:moveTo>
                  <a:cubicBezTo>
                    <a:pt x="113" y="3"/>
                    <a:pt x="227" y="7"/>
                    <a:pt x="227" y="45"/>
                  </a:cubicBezTo>
                  <a:cubicBezTo>
                    <a:pt x="227" y="83"/>
                    <a:pt x="113" y="155"/>
                    <a:pt x="0" y="227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24" name="Text Box 54"/>
            <p:cNvSpPr txBox="1">
              <a:spLocks noChangeArrowheads="1"/>
            </p:cNvSpPr>
            <p:nvPr/>
          </p:nvSpPr>
          <p:spPr bwMode="auto">
            <a:xfrm>
              <a:off x="8714675" y="1996038"/>
              <a:ext cx="533495" cy="400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88125" name="Text Box 55"/>
            <p:cNvSpPr txBox="1">
              <a:spLocks noChangeArrowheads="1"/>
            </p:cNvSpPr>
            <p:nvPr/>
          </p:nvSpPr>
          <p:spPr bwMode="auto">
            <a:xfrm>
              <a:off x="7858813" y="1420009"/>
              <a:ext cx="381068" cy="368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88126" name="Line 56"/>
            <p:cNvSpPr>
              <a:spLocks noChangeShapeType="1"/>
            </p:cNvSpPr>
            <p:nvPr/>
          </p:nvSpPr>
          <p:spPr bwMode="auto">
            <a:xfrm flipV="1">
              <a:off x="7866454" y="1492013"/>
              <a:ext cx="0" cy="26985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27" name="Line 56"/>
            <p:cNvSpPr>
              <a:spLocks noChangeShapeType="1"/>
            </p:cNvSpPr>
            <p:nvPr/>
          </p:nvSpPr>
          <p:spPr bwMode="auto">
            <a:xfrm flipH="1">
              <a:off x="7976011" y="3292103"/>
              <a:ext cx="9527" cy="317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28" name="Text Box 17"/>
            <p:cNvSpPr txBox="1">
              <a:spLocks noChangeArrowheads="1"/>
            </p:cNvSpPr>
            <p:nvPr/>
          </p:nvSpPr>
          <p:spPr bwMode="auto">
            <a:xfrm>
              <a:off x="7984558" y="3285174"/>
              <a:ext cx="533495" cy="36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117" name="Text Box 18"/>
            <p:cNvSpPr txBox="1">
              <a:spLocks noChangeArrowheads="1"/>
            </p:cNvSpPr>
            <p:nvPr/>
          </p:nvSpPr>
          <p:spPr bwMode="auto">
            <a:xfrm>
              <a:off x="5289411" y="771525"/>
              <a:ext cx="1649664" cy="163195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000" b="1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r>
                <a:rPr kumimoji="1"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lnSpc>
                  <a:spcPts val="2400"/>
                </a:lnSpc>
                <a:defRPr/>
              </a:pPr>
              <a:r>
                <a:rPr kumimoji="1"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S→L=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R , </a:t>
              </a:r>
              <a:r>
                <a:rPr kumimoji="1" lang="en-US" altLang="zh-CN" sz="2000" b="1" dirty="0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ts val="2400"/>
                </a:lnSpc>
                <a:defRPr/>
              </a:pPr>
              <a:r>
                <a:rPr kumimoji="1"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R→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L , </a:t>
              </a:r>
              <a:r>
                <a:rPr kumimoji="1" lang="en-US" altLang="zh-CN" sz="2000" b="1" dirty="0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ts val="2400"/>
                </a:lnSpc>
                <a:defRPr/>
              </a:pPr>
              <a:r>
                <a:rPr kumimoji="1"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L→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*R , </a:t>
              </a:r>
              <a:r>
                <a:rPr kumimoji="1" lang="en-US" altLang="zh-CN" sz="2000" b="1" dirty="0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ts val="2400"/>
                </a:lnSpc>
                <a:defRPr/>
              </a:pPr>
              <a:r>
                <a:rPr kumimoji="1"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L→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· </a:t>
              </a:r>
              <a:r>
                <a:rPr kumimoji="1"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  <a:r>
                <a:rPr kumimoji="1"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, </a:t>
              </a:r>
              <a:r>
                <a:rPr kumimoji="1" lang="en-US" altLang="zh-CN" sz="2000" b="1" dirty="0">
                  <a:solidFill>
                    <a:srgbClr val="000000"/>
                  </a:solidFill>
                  <a:latin typeface="华文楷体" panose="02010600040101010101" pitchFamily="2" charset="-122"/>
                </a:rPr>
                <a:t>$</a:t>
              </a:r>
              <a:endParaRPr kumimoji="1"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21" name="矩形 120"/>
          <p:cNvSpPr/>
          <p:nvPr/>
        </p:nvSpPr>
        <p:spPr>
          <a:xfrm>
            <a:off x="7253288" y="811213"/>
            <a:ext cx="1558925" cy="792162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7283450" y="1708150"/>
            <a:ext cx="1525588" cy="1624013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3276600" y="3179763"/>
            <a:ext cx="1704975" cy="1624012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4" name="矩形 123"/>
          <p:cNvSpPr/>
          <p:nvPr/>
        </p:nvSpPr>
        <p:spPr>
          <a:xfrm>
            <a:off x="7285038" y="3552825"/>
            <a:ext cx="1527175" cy="792163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5219700" y="4227513"/>
            <a:ext cx="1704975" cy="792162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7281863" y="4349750"/>
            <a:ext cx="1527175" cy="752475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5219700" y="2682875"/>
            <a:ext cx="1766888" cy="752475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8078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9D87A94-9E6A-46D4-BCD4-5A1CAAEDE9BC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50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701058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7" grpId="0" animBg="1"/>
      <p:bldP spid="121" grpId="0" animBg="1"/>
      <p:bldP spid="122" grpId="0" animBg="1"/>
      <p:bldP spid="122" grpId="1" animBg="1"/>
      <p:bldP spid="123" grpId="0" animBg="1"/>
      <p:bldP spid="123" grpId="1" animBg="1"/>
      <p:bldP spid="124" grpId="0" animBg="1"/>
      <p:bldP spid="124" grpId="1" animBg="1"/>
      <p:bldP spid="125" grpId="0" animBg="1"/>
      <p:bldP spid="125" grpId="1" animBg="1"/>
      <p:bldP spid="126" grpId="0" animBg="1"/>
      <p:bldP spid="12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内容占位符 2"/>
          <p:cNvSpPr>
            <a:spLocks noGrp="1"/>
          </p:cNvSpPr>
          <p:nvPr>
            <p:ph idx="1"/>
          </p:nvPr>
        </p:nvSpPr>
        <p:spPr>
          <a:xfrm>
            <a:off x="179388" y="1060450"/>
            <a:ext cx="8893175" cy="431800"/>
          </a:xfr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en-US" altLang="zh-CN" sz="18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CLOSURE</a:t>
            </a:r>
            <a:r>
              <a:rPr lang="en-US" altLang="zh-CN" sz="18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( </a:t>
            </a:r>
            <a:r>
              <a:rPr lang="en-US" altLang="zh-CN" sz="18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I </a:t>
            </a:r>
            <a:r>
              <a:rPr lang="en-US" altLang="zh-CN" sz="18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) = </a:t>
            </a:r>
            <a:r>
              <a:rPr lang="en-US" altLang="zh-CN" sz="18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I</a:t>
            </a:r>
            <a:r>
              <a:rPr lang="en-US" altLang="zh-CN" sz="18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 ∪{ [</a:t>
            </a:r>
            <a:r>
              <a:rPr lang="en-US" altLang="zh-CN" sz="18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B</a:t>
            </a:r>
            <a:r>
              <a:rPr lang="en-US" altLang="zh-CN" sz="18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→</a:t>
            </a:r>
            <a:r>
              <a:rPr lang="en-US" altLang="zh-CN" sz="1800" b="1" i="1">
                <a:solidFill>
                  <a:srgbClr val="000000"/>
                </a:solidFill>
                <a:ea typeface="宋体" pitchFamily="2" charset="-122"/>
                <a:cs typeface="Times New Roman" pitchFamily="18" charset="0"/>
              </a:rPr>
              <a:t>·</a:t>
            </a:r>
            <a:r>
              <a:rPr lang="en-US" altLang="zh-CN" sz="18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γ</a:t>
            </a:r>
            <a:r>
              <a:rPr lang="en-US" altLang="zh-CN" sz="18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,</a:t>
            </a:r>
            <a:r>
              <a:rPr lang="en-US" altLang="zh-CN" sz="1800" b="1">
                <a:solidFill>
                  <a:srgbClr val="FF0000"/>
                </a:solidFill>
                <a:ea typeface="宋体" pitchFamily="2" charset="-122"/>
                <a:cs typeface="Times New Roman" pitchFamily="18" charset="0"/>
              </a:rPr>
              <a:t> </a:t>
            </a:r>
            <a:r>
              <a:rPr lang="en-US" altLang="zh-CN" sz="1800" b="1" i="1">
                <a:solidFill>
                  <a:srgbClr val="2D83F4"/>
                </a:solidFill>
                <a:ea typeface="宋体" pitchFamily="2" charset="-122"/>
                <a:cs typeface="Times New Roman" pitchFamily="18" charset="0"/>
              </a:rPr>
              <a:t>b</a:t>
            </a:r>
            <a:r>
              <a:rPr lang="en-US" altLang="zh-CN" sz="18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] | [</a:t>
            </a:r>
            <a:r>
              <a:rPr lang="en-US" altLang="zh-CN" sz="18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A</a:t>
            </a:r>
            <a:r>
              <a:rPr lang="en-US" altLang="zh-CN" sz="18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→</a:t>
            </a:r>
            <a:r>
              <a:rPr lang="en-US" altLang="zh-CN" sz="18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α</a:t>
            </a:r>
            <a:r>
              <a:rPr lang="en-US" altLang="zh-CN" sz="1800" b="1" i="1">
                <a:solidFill>
                  <a:srgbClr val="000000"/>
                </a:solidFill>
                <a:ea typeface="宋体" pitchFamily="2" charset="-122"/>
                <a:cs typeface="Times New Roman" pitchFamily="18" charset="0"/>
              </a:rPr>
              <a:t>·</a:t>
            </a:r>
            <a:r>
              <a:rPr lang="en-US" altLang="zh-CN" sz="18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Bβ</a:t>
            </a:r>
            <a:r>
              <a:rPr lang="en-US" altLang="zh-CN" sz="18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, </a:t>
            </a:r>
            <a:r>
              <a:rPr lang="en-US" altLang="zh-CN" sz="1800" b="1">
                <a:solidFill>
                  <a:srgbClr val="2D83F4"/>
                </a:solidFill>
                <a:ea typeface="宋体" pitchFamily="2" charset="-122"/>
                <a:cs typeface="Times New Roman" pitchFamily="18" charset="0"/>
              </a:rPr>
              <a:t>a</a:t>
            </a:r>
            <a:r>
              <a:rPr lang="en-US" altLang="zh-CN" sz="18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] ∈</a:t>
            </a:r>
            <a:r>
              <a:rPr lang="en-US" altLang="zh-CN" sz="18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 CLOSURE</a:t>
            </a:r>
            <a:r>
              <a:rPr lang="en-US" altLang="zh-CN" sz="18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( </a:t>
            </a:r>
            <a:r>
              <a:rPr lang="en-US" altLang="zh-CN" sz="18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I </a:t>
            </a:r>
            <a:r>
              <a:rPr lang="en-US" altLang="zh-CN" sz="18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), </a:t>
            </a:r>
            <a:r>
              <a:rPr lang="en-US" altLang="zh-CN" sz="18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B</a:t>
            </a:r>
            <a:r>
              <a:rPr lang="en-US" altLang="zh-CN" sz="18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→</a:t>
            </a:r>
            <a:r>
              <a:rPr lang="en-US" altLang="zh-CN" sz="18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γ</a:t>
            </a:r>
            <a:r>
              <a:rPr lang="en-US" altLang="zh-CN" sz="18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∈</a:t>
            </a:r>
            <a:r>
              <a:rPr lang="en-US" altLang="zh-CN" sz="18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P</a:t>
            </a:r>
            <a:r>
              <a:rPr lang="en-US" altLang="zh-CN" sz="18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,</a:t>
            </a:r>
            <a:r>
              <a:rPr lang="en-US" altLang="zh-CN" sz="18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 </a:t>
            </a:r>
            <a:r>
              <a:rPr lang="el-GR" altLang="zh-CN" sz="1800" b="1" i="1">
                <a:solidFill>
                  <a:srgbClr val="2D83F4"/>
                </a:solidFill>
                <a:cs typeface="Times New Roman" pitchFamily="18" charset="0"/>
              </a:rPr>
              <a:t>b</a:t>
            </a:r>
            <a:r>
              <a:rPr lang="el-GR" altLang="zh-CN" sz="1800" b="1">
                <a:solidFill>
                  <a:srgbClr val="2D83F4"/>
                </a:solidFill>
                <a:cs typeface="Times New Roman" pitchFamily="18" charset="0"/>
              </a:rPr>
              <a:t>∈</a:t>
            </a:r>
            <a:r>
              <a:rPr lang="el-GR" altLang="zh-CN" sz="1800" b="1" i="1">
                <a:solidFill>
                  <a:srgbClr val="2D83F4"/>
                </a:solidFill>
                <a:cs typeface="Times New Roman" pitchFamily="18" charset="0"/>
              </a:rPr>
              <a:t>FIRST</a:t>
            </a:r>
            <a:r>
              <a:rPr lang="en-US" altLang="zh-CN" sz="1800" b="1">
                <a:solidFill>
                  <a:srgbClr val="2D83F4"/>
                </a:solidFill>
                <a:ea typeface="宋体" pitchFamily="2" charset="-122"/>
                <a:cs typeface="Times New Roman" pitchFamily="18" charset="0"/>
              </a:rPr>
              <a:t>(</a:t>
            </a:r>
            <a:r>
              <a:rPr lang="en-US" altLang="zh-CN" sz="1800" b="1" i="1">
                <a:solidFill>
                  <a:srgbClr val="2D83F4"/>
                </a:solidFill>
                <a:ea typeface="宋体" pitchFamily="2" charset="-122"/>
                <a:cs typeface="Times New Roman" pitchFamily="18" charset="0"/>
              </a:rPr>
              <a:t>β</a:t>
            </a:r>
            <a:r>
              <a:rPr lang="en-US" altLang="zh-CN" sz="1800" b="1">
                <a:solidFill>
                  <a:srgbClr val="2D83F4"/>
                </a:solidFill>
                <a:ea typeface="宋体" pitchFamily="2" charset="-122"/>
                <a:cs typeface="Times New Roman" pitchFamily="18" charset="0"/>
              </a:rPr>
              <a:t>a)</a:t>
            </a:r>
            <a:r>
              <a:rPr lang="en-US" altLang="zh-CN" sz="18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}</a:t>
            </a:r>
            <a:endParaRPr lang="en-US" altLang="zh-CN" sz="2000" b="1">
              <a:solidFill>
                <a:schemeClr val="tx1"/>
              </a:solidFill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90115" name="标题 1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黑体" panose="02010609060101010101" pitchFamily="49" charset="-122"/>
              </a:rPr>
              <a:t>LR</a:t>
            </a:r>
            <a:r>
              <a:rPr lang="en-US" altLang="zh-CN" sz="3000">
                <a:solidFill>
                  <a:schemeClr val="tx1"/>
                </a:solidFill>
                <a:ea typeface="黑体" panose="02010609060101010101" pitchFamily="49" charset="-122"/>
              </a:rPr>
              <a:t>(1)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项目集闭包</a:t>
            </a:r>
          </a:p>
        </p:txBody>
      </p:sp>
      <p:sp>
        <p:nvSpPr>
          <p:cNvPr id="90116" name="内容占位符 1"/>
          <p:cNvSpPr txBox="1">
            <a:spLocks noChangeArrowheads="1"/>
          </p:cNvSpPr>
          <p:nvPr/>
        </p:nvSpPr>
        <p:spPr bwMode="auto">
          <a:xfrm>
            <a:off x="1114425" y="1635125"/>
            <a:ext cx="6913563" cy="3384550"/>
          </a:xfrm>
          <a:prstGeom prst="rect">
            <a:avLst/>
          </a:prstGeom>
          <a:solidFill>
            <a:srgbClr val="B5CEE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SetOfltems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CLOSURE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(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I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) {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repeat</a:t>
            </a:r>
            <a:endParaRPr lang="zh-CN" altLang="en-US" sz="2000" b="1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      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for (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I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中的每个项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[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 →</a:t>
            </a:r>
            <a:r>
              <a:rPr lang="el-GR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zh-CN" altLang="en-US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∙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B</a:t>
            </a:r>
            <a:r>
              <a:rPr lang="el-GR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β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]) 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               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for (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G'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的每个产生式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B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 →</a:t>
            </a:r>
            <a:r>
              <a:rPr lang="zh-CN" altLang="en-US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γ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) </a:t>
            </a:r>
            <a:endParaRPr lang="zh-CN" altLang="en-US" sz="2000" b="1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                          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for (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FIRST (</a:t>
            </a:r>
            <a:r>
              <a:rPr lang="el-GR" altLang="zh-CN" sz="2000" b="1" i="1">
                <a:solidFill>
                  <a:srgbClr val="FF0000"/>
                </a:solidFill>
                <a:latin typeface="Times New Roman" panose="02020603050405020304" pitchFamily="18" charset="0"/>
              </a:rPr>
              <a:t>β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)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中的每个符号</a:t>
            </a:r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b</a:t>
            </a:r>
            <a:r>
              <a:rPr lang="zh-CN" altLang="en-US" sz="2000" b="1" i="1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) </a:t>
            </a:r>
            <a:endParaRPr lang="zh-CN" altLang="en-US" sz="2000" b="1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                                   将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[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B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 →</a:t>
            </a:r>
            <a:r>
              <a:rPr lang="zh-CN" altLang="en-US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∙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γ 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]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加入到集合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I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中；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until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不能向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I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中加入更多的项；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until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I 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；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}</a:t>
            </a:r>
          </a:p>
        </p:txBody>
      </p:sp>
      <p:sp>
        <p:nvSpPr>
          <p:cNvPr id="90117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92CC26E-87B4-41B7-BB18-6D22EE1EBC88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51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1356725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内容占位符 1"/>
          <p:cNvSpPr txBox="1">
            <a:spLocks noChangeArrowheads="1"/>
          </p:cNvSpPr>
          <p:nvPr/>
        </p:nvSpPr>
        <p:spPr bwMode="auto">
          <a:xfrm>
            <a:off x="1042988" y="1851025"/>
            <a:ext cx="7129462" cy="2449513"/>
          </a:xfrm>
          <a:prstGeom prst="rect">
            <a:avLst/>
          </a:prstGeom>
          <a:solidFill>
            <a:srgbClr val="B5CEE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SetOfltems</a:t>
            </a:r>
            <a:r>
              <a:rPr lang="zh-CN" altLang="en-US" sz="25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GOTO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(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I</a:t>
            </a:r>
            <a:r>
              <a:rPr lang="zh-CN" altLang="en-US" sz="25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X 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) {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</a:t>
            </a:r>
            <a:r>
              <a:rPr lang="zh-CN" altLang="en-US" sz="25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将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J</a:t>
            </a:r>
            <a:r>
              <a:rPr lang="zh-CN" altLang="en-US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zh-CN" altLang="en-US" sz="25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初始化为空集；                   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5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for (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I</a:t>
            </a:r>
            <a:r>
              <a:rPr lang="zh-CN" altLang="en-US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zh-CN" altLang="en-US" sz="25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中的每个项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[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</a:rPr>
              <a:t> →</a:t>
            </a:r>
            <a:r>
              <a:rPr lang="el-GR" altLang="zh-CN" sz="2500" b="1" i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zh-CN" altLang="en-US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∙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lang="el-GR" altLang="zh-CN" sz="2500" b="1" i="1">
                <a:solidFill>
                  <a:srgbClr val="000000"/>
                </a:solidFill>
                <a:latin typeface="Times New Roman" panose="02020603050405020304" pitchFamily="18" charset="0"/>
              </a:rPr>
              <a:t>β</a:t>
            </a:r>
            <a:r>
              <a:rPr lang="zh-CN" altLang="en-US" sz="2500" b="1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500" b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]) 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5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          将项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[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zh-CN" altLang="en-US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</a:rPr>
              <a:t>→</a:t>
            </a:r>
            <a:r>
              <a:rPr lang="zh-CN" altLang="en-US" sz="2500" b="1" i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α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lang="zh-CN" altLang="en-US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∙</a:t>
            </a:r>
            <a:r>
              <a:rPr lang="el-GR" altLang="zh-CN" sz="2500" b="1" i="1">
                <a:solidFill>
                  <a:srgbClr val="000000"/>
                </a:solidFill>
                <a:latin typeface="Times New Roman" panose="02020603050405020304" pitchFamily="18" charset="0"/>
              </a:rPr>
              <a:t>β</a:t>
            </a:r>
            <a:r>
              <a:rPr lang="zh-CN" altLang="en-US" sz="2500" b="1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500" b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]</a:t>
            </a:r>
            <a:r>
              <a:rPr lang="zh-CN" altLang="en-US" sz="25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加入到集合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J</a:t>
            </a:r>
            <a:r>
              <a:rPr lang="zh-CN" altLang="en-US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zh-CN" altLang="en-US" sz="25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中；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5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return</a:t>
            </a:r>
            <a:r>
              <a:rPr lang="zh-CN" altLang="en-US" sz="25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CLOSURE (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J</a:t>
            </a:r>
            <a:r>
              <a:rPr lang="zh-CN" altLang="en-US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)</a:t>
            </a:r>
            <a:r>
              <a:rPr lang="zh-CN" altLang="en-US" sz="25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；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}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361950" y="1152525"/>
            <a:ext cx="8458200" cy="555625"/>
          </a:xfr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lIns="92075" tIns="46038" rIns="92075" bIns="46038"/>
          <a:lstStyle/>
          <a:p>
            <a:pPr algn="ctr" eaLnBrk="1" hangingPunct="1">
              <a:buFont typeface="Wingdings" pitchFamily="2" charset="2"/>
              <a:buNone/>
              <a:defRPr/>
            </a:pPr>
            <a:r>
              <a:rPr lang="en-US" altLang="zh-CN" sz="25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GOTO</a:t>
            </a:r>
            <a:r>
              <a:rPr lang="en-US" altLang="zh-CN" sz="25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( </a:t>
            </a:r>
            <a:r>
              <a:rPr lang="en-US" altLang="zh-CN" sz="25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I</a:t>
            </a:r>
            <a:r>
              <a:rPr lang="en-US" altLang="zh-CN" sz="25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, </a:t>
            </a:r>
            <a:r>
              <a:rPr lang="en-US" altLang="zh-CN" sz="25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X</a:t>
            </a:r>
            <a:r>
              <a:rPr lang="zh-CN" altLang="en-US" sz="2500" b="1" i="1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sz="25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) = </a:t>
            </a:r>
            <a:r>
              <a:rPr lang="en-US" altLang="zh-CN" sz="25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CLOSURE</a:t>
            </a:r>
            <a:r>
              <a:rPr lang="en-US" altLang="zh-CN" sz="25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({[</a:t>
            </a:r>
            <a:r>
              <a:rPr lang="en-US" altLang="zh-CN" sz="25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A</a:t>
            </a:r>
            <a:r>
              <a:rPr lang="en-US" altLang="zh-CN" sz="25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→</a:t>
            </a:r>
            <a:r>
              <a:rPr lang="en-US" altLang="zh-CN" sz="25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αX</a:t>
            </a:r>
            <a:r>
              <a:rPr lang="en-US" altLang="zh-CN" sz="2800" b="1" i="1">
                <a:solidFill>
                  <a:srgbClr val="000000"/>
                </a:solidFill>
                <a:ea typeface="宋体" pitchFamily="2" charset="-122"/>
                <a:cs typeface="Times New Roman" pitchFamily="18" charset="0"/>
              </a:rPr>
              <a:t>·</a:t>
            </a:r>
            <a:r>
              <a:rPr lang="en-US" altLang="zh-CN" sz="25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β</a:t>
            </a:r>
            <a:r>
              <a:rPr lang="en-US" altLang="zh-CN" sz="25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,</a:t>
            </a:r>
            <a:r>
              <a:rPr lang="en-US" altLang="zh-CN" sz="2500" b="1">
                <a:solidFill>
                  <a:srgbClr val="2D83F4"/>
                </a:solidFill>
                <a:ea typeface="宋体" pitchFamily="2" charset="-122"/>
                <a:cs typeface="Times New Roman" pitchFamily="18" charset="0"/>
              </a:rPr>
              <a:t>a</a:t>
            </a:r>
            <a:r>
              <a:rPr lang="en-US" altLang="zh-CN" sz="25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]|[</a:t>
            </a:r>
            <a:r>
              <a:rPr lang="en-US" altLang="zh-CN" sz="25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A</a:t>
            </a:r>
            <a:r>
              <a:rPr lang="en-US" altLang="zh-CN" sz="25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→</a:t>
            </a:r>
            <a:r>
              <a:rPr lang="en-US" altLang="zh-CN" sz="25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α</a:t>
            </a:r>
            <a:r>
              <a:rPr lang="en-US" altLang="zh-CN" sz="2800" b="1" i="1">
                <a:solidFill>
                  <a:srgbClr val="000000"/>
                </a:solidFill>
                <a:ea typeface="宋体" pitchFamily="2" charset="-122"/>
                <a:cs typeface="Times New Roman" pitchFamily="18" charset="0"/>
              </a:rPr>
              <a:t>·</a:t>
            </a:r>
            <a:r>
              <a:rPr lang="en-US" altLang="zh-CN" sz="25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Xβ</a:t>
            </a:r>
            <a:r>
              <a:rPr lang="en-US" altLang="zh-CN" sz="25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, </a:t>
            </a:r>
            <a:r>
              <a:rPr lang="en-US" altLang="zh-CN" sz="2500" b="1">
                <a:solidFill>
                  <a:srgbClr val="2D83F4"/>
                </a:solidFill>
                <a:ea typeface="宋体" pitchFamily="2" charset="-122"/>
                <a:cs typeface="Times New Roman" pitchFamily="18" charset="0"/>
              </a:rPr>
              <a:t>a</a:t>
            </a:r>
            <a:r>
              <a:rPr lang="en-US" altLang="zh-CN" sz="25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]∈</a:t>
            </a:r>
            <a:r>
              <a:rPr lang="en-US" altLang="zh-CN" sz="25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I</a:t>
            </a:r>
            <a:r>
              <a:rPr lang="zh-CN" altLang="en-US" sz="2500" b="1" i="1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sz="25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})</a:t>
            </a:r>
          </a:p>
        </p:txBody>
      </p:sp>
      <p:sp>
        <p:nvSpPr>
          <p:cNvPr id="5120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 altLang="zh-CN" sz="3000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GOTO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</a:t>
            </a:r>
          </a:p>
        </p:txBody>
      </p:sp>
      <p:sp>
        <p:nvSpPr>
          <p:cNvPr id="92165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924AC73-C8F8-48B1-877B-324DF2B9A253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52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8881506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内容占位符 1"/>
          <p:cNvSpPr txBox="1">
            <a:spLocks noChangeArrowheads="1"/>
          </p:cNvSpPr>
          <p:nvPr/>
        </p:nvSpPr>
        <p:spPr bwMode="auto">
          <a:xfrm>
            <a:off x="1187450" y="1131888"/>
            <a:ext cx="6697663" cy="3455987"/>
          </a:xfrm>
          <a:prstGeom prst="rect">
            <a:avLst/>
          </a:prstGeom>
          <a:solidFill>
            <a:srgbClr val="B5CEE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void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items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(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G'</a:t>
            </a:r>
            <a:r>
              <a:rPr lang="zh-CN" altLang="en-US" sz="2000" b="1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) {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将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C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初始化为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{CLOSURE ({[</a:t>
            </a:r>
            <a:r>
              <a:rPr lang="zh-CN" altLang="en-US" sz="2000" b="1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S'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 →</a:t>
            </a:r>
            <a:r>
              <a:rPr lang="zh-CN" altLang="en-US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∙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000" b="1">
                <a:solidFill>
                  <a:srgbClr val="FF0000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$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]} )}  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；</a:t>
            </a:r>
            <a:endParaRPr lang="en-US" altLang="zh-CN" sz="2000" b="1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repeat</a:t>
            </a:r>
            <a:endParaRPr lang="zh-CN" altLang="en-US" sz="2000" b="1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      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for (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C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中的每个项集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I</a:t>
            </a:r>
            <a:r>
              <a:rPr lang="zh-CN" altLang="en-US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) 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               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for ( 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每个文法符号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lang="zh-CN" altLang="en-US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) </a:t>
            </a:r>
            <a:endParaRPr lang="zh-CN" altLang="en-US" sz="2000" b="1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                         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if (GOTO(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I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X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)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非空且不在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C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中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) </a:t>
            </a:r>
            <a:endParaRPr lang="zh-CN" altLang="en-US" sz="2000" b="1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                                   将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GOTO(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I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X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)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加入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C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中；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until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不再有新的项集加入到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C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中；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}</a:t>
            </a:r>
          </a:p>
        </p:txBody>
      </p:sp>
      <p:sp>
        <p:nvSpPr>
          <p:cNvPr id="94211" name="标题 1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为文法</a:t>
            </a:r>
            <a:r>
              <a:rPr lang="en-US" altLang="zh-CN" sz="3000" i="1">
                <a:solidFill>
                  <a:schemeClr val="tx1"/>
                </a:solidFill>
                <a:ea typeface="黑体" panose="02010609060101010101" pitchFamily="49" charset="-122"/>
              </a:rPr>
              <a:t>G'</a:t>
            </a:r>
            <a:r>
              <a:rPr lang="zh-CN" altLang="en-US" sz="3000" i="1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</a:t>
            </a:r>
            <a:r>
              <a:rPr lang="en-US" altLang="zh-CN" sz="3000" i="1">
                <a:solidFill>
                  <a:schemeClr val="tx1"/>
                </a:solidFill>
                <a:ea typeface="黑体" panose="02010609060101010101" pitchFamily="49" charset="-122"/>
              </a:rPr>
              <a:t>LR</a:t>
            </a:r>
            <a:r>
              <a:rPr lang="en-US" altLang="zh-CN" sz="3000">
                <a:solidFill>
                  <a:schemeClr val="tx1"/>
                </a:solidFill>
                <a:ea typeface="黑体" panose="02010609060101010101" pitchFamily="49" charset="-122"/>
              </a:rPr>
              <a:t>(1)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项集族</a:t>
            </a:r>
          </a:p>
        </p:txBody>
      </p:sp>
      <p:sp>
        <p:nvSpPr>
          <p:cNvPr id="94212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3C62B6B-964D-4FAD-99CF-32401A2F9B43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53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647967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idx="1"/>
          </p:nvPr>
        </p:nvSpPr>
        <p:spPr>
          <a:xfrm>
            <a:off x="755650" y="1001713"/>
            <a:ext cx="8064500" cy="4141787"/>
          </a:xfrm>
        </p:spPr>
        <p:txBody>
          <a:bodyPr/>
          <a:lstStyle/>
          <a:p>
            <a:pPr eaLnBrk="1" hangingPunct="1">
              <a:lnSpc>
                <a:spcPts val="35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文法</a:t>
            </a:r>
            <a:endParaRPr lang="en-US" altLang="zh-CN" sz="25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algn="ctr" eaLnBrk="1" hangingPunct="1">
              <a:lnSpc>
                <a:spcPts val="3500"/>
              </a:lnSpc>
              <a:buFont typeface="Wingdings" pitchFamily="2" charset="2"/>
              <a:buNone/>
              <a:defRPr/>
            </a:pPr>
            <a:r>
              <a:rPr lang="en-US" altLang="zh-CN" sz="2500" b="1" i="1" dirty="0">
                <a:solidFill>
                  <a:srgbClr val="2D83F4"/>
                </a:solidFill>
                <a:ea typeface="宋体" pitchFamily="2" charset="-122"/>
                <a:cs typeface="Times New Roman" pitchFamily="18" charset="0"/>
              </a:rPr>
              <a:t>G</a:t>
            </a:r>
            <a:r>
              <a:rPr lang="zh-CN" altLang="en-US" sz="2500" b="1" i="1" dirty="0">
                <a:solidFill>
                  <a:srgbClr val="2D83F4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srgbClr val="2D83F4"/>
                </a:solidFill>
                <a:ea typeface="宋体" pitchFamily="2" charset="-122"/>
                <a:cs typeface="Times New Roman" pitchFamily="18" charset="0"/>
              </a:rPr>
              <a:t>=</a:t>
            </a:r>
            <a:r>
              <a:rPr lang="zh-CN" altLang="en-US" sz="2500" b="1" dirty="0">
                <a:solidFill>
                  <a:srgbClr val="2D83F4"/>
                </a:solidFill>
                <a:ea typeface="楷体_GB2312" pitchFamily="49" charset="-122"/>
              </a:rPr>
              <a:t> </a:t>
            </a:r>
            <a:r>
              <a:rPr lang="en-US" altLang="zh-CN" sz="2500" b="1" dirty="0">
                <a:solidFill>
                  <a:srgbClr val="2D83F4"/>
                </a:solidFill>
                <a:ea typeface="宋体" pitchFamily="2" charset="-122"/>
              </a:rPr>
              <a:t>(</a:t>
            </a:r>
            <a:r>
              <a:rPr lang="en-US" altLang="zh-CN" sz="2500" b="1" i="1" dirty="0">
                <a:solidFill>
                  <a:srgbClr val="2D83F4"/>
                </a:solidFill>
                <a:ea typeface="宋体" pitchFamily="2" charset="-122"/>
              </a:rPr>
              <a:t>V</a:t>
            </a:r>
            <a:r>
              <a:rPr lang="en-US" altLang="zh-CN" sz="2500" b="1" i="1" baseline="-25000" dirty="0">
                <a:solidFill>
                  <a:srgbClr val="2D83F4"/>
                </a:solidFill>
                <a:ea typeface="宋体" pitchFamily="2" charset="-122"/>
              </a:rPr>
              <a:t>N</a:t>
            </a:r>
            <a:r>
              <a:rPr lang="en-US" altLang="zh-CN" sz="2500" b="1" dirty="0">
                <a:solidFill>
                  <a:srgbClr val="2D83F4"/>
                </a:solidFill>
                <a:ea typeface="宋体" pitchFamily="2" charset="-122"/>
              </a:rPr>
              <a:t> , </a:t>
            </a:r>
            <a:r>
              <a:rPr lang="en-US" altLang="zh-CN" sz="2500" b="1" i="1" dirty="0">
                <a:solidFill>
                  <a:srgbClr val="2D83F4"/>
                </a:solidFill>
                <a:ea typeface="宋体" pitchFamily="2" charset="-122"/>
              </a:rPr>
              <a:t>V</a:t>
            </a:r>
            <a:r>
              <a:rPr lang="en-US" altLang="zh-CN" sz="2500" b="1" i="1" baseline="-25000" dirty="0">
                <a:solidFill>
                  <a:srgbClr val="2D83F4"/>
                </a:solidFill>
                <a:ea typeface="宋体" pitchFamily="2" charset="-122"/>
              </a:rPr>
              <a:t>T</a:t>
            </a:r>
            <a:r>
              <a:rPr lang="en-US" altLang="zh-CN" sz="2500" b="1" dirty="0">
                <a:solidFill>
                  <a:srgbClr val="2D83F4"/>
                </a:solidFill>
                <a:ea typeface="宋体" pitchFamily="2" charset="-122"/>
              </a:rPr>
              <a:t> , </a:t>
            </a:r>
            <a:r>
              <a:rPr lang="en-US" altLang="zh-CN" sz="2500" b="1" i="1" dirty="0">
                <a:solidFill>
                  <a:srgbClr val="2D83F4"/>
                </a:solidFill>
                <a:ea typeface="宋体" pitchFamily="2" charset="-122"/>
              </a:rPr>
              <a:t>P</a:t>
            </a:r>
            <a:r>
              <a:rPr lang="en-US" altLang="zh-CN" sz="2500" b="1" dirty="0">
                <a:solidFill>
                  <a:srgbClr val="2D83F4"/>
                </a:solidFill>
                <a:ea typeface="宋体" pitchFamily="2" charset="-122"/>
              </a:rPr>
              <a:t>,  </a:t>
            </a:r>
            <a:r>
              <a:rPr lang="en-US" altLang="zh-CN" sz="2500" b="1" i="1" dirty="0">
                <a:solidFill>
                  <a:srgbClr val="2D83F4"/>
                </a:solidFill>
                <a:ea typeface="宋体" pitchFamily="2" charset="-122"/>
              </a:rPr>
              <a:t>S</a:t>
            </a:r>
            <a:r>
              <a:rPr lang="en-US" altLang="zh-CN" sz="2500" b="1" dirty="0">
                <a:solidFill>
                  <a:srgbClr val="2D83F4"/>
                </a:solidFill>
                <a:ea typeface="宋体" pitchFamily="2" charset="-122"/>
              </a:rPr>
              <a:t> )</a:t>
            </a:r>
          </a:p>
          <a:p>
            <a:pPr eaLnBrk="1" hangingPunct="1">
              <a:lnSpc>
                <a:spcPts val="35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宋体" pitchFamily="2" charset="-122"/>
              </a:rPr>
              <a:t>LR</a:t>
            </a:r>
            <a:r>
              <a:rPr lang="en-US" altLang="zh-CN" sz="2500" b="1" dirty="0">
                <a:solidFill>
                  <a:schemeClr val="tx1"/>
                </a:solidFill>
                <a:ea typeface="宋体" pitchFamily="2" charset="-122"/>
              </a:rPr>
              <a:t>(1)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自动机</a:t>
            </a:r>
            <a:endParaRPr lang="en-US" altLang="zh-CN" sz="2500" b="1" dirty="0">
              <a:solidFill>
                <a:schemeClr val="tx1"/>
              </a:solidFill>
              <a:latin typeface="+mn-ea"/>
            </a:endParaRPr>
          </a:p>
          <a:p>
            <a:pPr eaLnBrk="1" hangingPunct="1">
              <a:lnSpc>
                <a:spcPts val="3500"/>
              </a:lnSpc>
              <a:buFont typeface="Wingdings" pitchFamily="2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  <a:ea typeface="宋体" pitchFamily="2" charset="-122"/>
              </a:rPr>
              <a:t>			</a:t>
            </a:r>
            <a:r>
              <a:rPr lang="en-US" altLang="zh-CN" sz="2500" b="1" i="1" dirty="0">
                <a:solidFill>
                  <a:srgbClr val="2D83F4"/>
                </a:solidFill>
                <a:ea typeface="宋体" pitchFamily="2" charset="-122"/>
              </a:rPr>
              <a:t>M</a:t>
            </a:r>
            <a:r>
              <a:rPr lang="zh-CN" altLang="en-US" sz="2500" b="1" i="1" dirty="0">
                <a:solidFill>
                  <a:srgbClr val="2D83F4"/>
                </a:solidFill>
                <a:ea typeface="楷体_GB2312" pitchFamily="49" charset="-122"/>
              </a:rPr>
              <a:t> </a:t>
            </a:r>
            <a:r>
              <a:rPr lang="en-US" altLang="zh-CN" sz="2500" b="1" dirty="0">
                <a:solidFill>
                  <a:srgbClr val="2D83F4"/>
                </a:solidFill>
                <a:ea typeface="宋体" pitchFamily="2" charset="-122"/>
              </a:rPr>
              <a:t>=</a:t>
            </a:r>
            <a:r>
              <a:rPr lang="zh-CN" altLang="en-US" sz="2500" b="1" dirty="0">
                <a:solidFill>
                  <a:srgbClr val="2D83F4"/>
                </a:solidFill>
                <a:ea typeface="楷体_GB2312" pitchFamily="49" charset="-122"/>
              </a:rPr>
              <a:t> </a:t>
            </a:r>
            <a:r>
              <a:rPr lang="en-US" altLang="zh-CN" sz="2500" b="1" dirty="0">
                <a:solidFill>
                  <a:srgbClr val="2D83F4"/>
                </a:solidFill>
                <a:ea typeface="宋体" pitchFamily="2" charset="-122"/>
              </a:rPr>
              <a:t>(</a:t>
            </a:r>
            <a:r>
              <a:rPr lang="en-US" altLang="zh-CN" sz="2500" b="1" i="1" dirty="0">
                <a:solidFill>
                  <a:srgbClr val="2D83F4"/>
                </a:solidFill>
                <a:ea typeface="宋体" pitchFamily="2" charset="-122"/>
              </a:rPr>
              <a:t>C</a:t>
            </a:r>
            <a:r>
              <a:rPr lang="en-US" altLang="zh-CN" sz="2500" b="1" dirty="0">
                <a:solidFill>
                  <a:srgbClr val="2D83F4"/>
                </a:solidFill>
                <a:ea typeface="宋体" pitchFamily="2" charset="-122"/>
              </a:rPr>
              <a:t>, </a:t>
            </a:r>
            <a:r>
              <a:rPr lang="en-US" altLang="zh-CN" sz="2500" b="1" i="1" dirty="0">
                <a:solidFill>
                  <a:srgbClr val="2D83F4"/>
                </a:solidFill>
                <a:ea typeface="宋体" pitchFamily="2" charset="-122"/>
              </a:rPr>
              <a:t>V</a:t>
            </a:r>
            <a:r>
              <a:rPr lang="en-US" altLang="zh-CN" sz="2500" b="1" i="1" baseline="-25000" dirty="0">
                <a:solidFill>
                  <a:srgbClr val="2D83F4"/>
                </a:solidFill>
                <a:ea typeface="宋体" pitchFamily="2" charset="-122"/>
              </a:rPr>
              <a:t>N</a:t>
            </a:r>
            <a:r>
              <a:rPr lang="en-US" altLang="zh-CN" sz="2500" b="1" dirty="0">
                <a:solidFill>
                  <a:srgbClr val="2D83F4"/>
                </a:solidFill>
                <a:ea typeface="宋体" pitchFamily="2" charset="-122"/>
              </a:rPr>
              <a:t>∪</a:t>
            </a:r>
            <a:r>
              <a:rPr lang="en-US" altLang="zh-CN" sz="2500" b="1" i="1" dirty="0">
                <a:solidFill>
                  <a:srgbClr val="2D83F4"/>
                </a:solidFill>
                <a:ea typeface="宋体" pitchFamily="2" charset="-122"/>
              </a:rPr>
              <a:t>V</a:t>
            </a:r>
            <a:r>
              <a:rPr lang="en-US" altLang="zh-CN" sz="2500" b="1" i="1" baseline="-25000" dirty="0">
                <a:solidFill>
                  <a:srgbClr val="2D83F4"/>
                </a:solidFill>
                <a:ea typeface="宋体" pitchFamily="2" charset="-122"/>
              </a:rPr>
              <a:t>T</a:t>
            </a:r>
            <a:r>
              <a:rPr lang="zh-CN" altLang="en-US" sz="2500" b="1" i="1" baseline="-25000" dirty="0">
                <a:solidFill>
                  <a:srgbClr val="2D83F4"/>
                </a:solidFill>
                <a:ea typeface="楷体_GB2312" pitchFamily="49" charset="-122"/>
              </a:rPr>
              <a:t> </a:t>
            </a:r>
            <a:r>
              <a:rPr lang="en-US" altLang="zh-CN" sz="2500" b="1" dirty="0">
                <a:solidFill>
                  <a:srgbClr val="2D83F4"/>
                </a:solidFill>
                <a:ea typeface="宋体" pitchFamily="2" charset="-122"/>
              </a:rPr>
              <a:t>, </a:t>
            </a:r>
            <a:r>
              <a:rPr lang="en-US" altLang="zh-CN" sz="2500" b="1" i="1" dirty="0">
                <a:solidFill>
                  <a:srgbClr val="2D83F4"/>
                </a:solidFill>
                <a:ea typeface="宋体" pitchFamily="2" charset="-122"/>
              </a:rPr>
              <a:t>GOTO</a:t>
            </a:r>
            <a:r>
              <a:rPr lang="en-US" altLang="zh-CN" sz="2500" b="1" dirty="0">
                <a:solidFill>
                  <a:srgbClr val="2D83F4"/>
                </a:solidFill>
                <a:ea typeface="宋体" pitchFamily="2" charset="-122"/>
              </a:rPr>
              <a:t>, </a:t>
            </a:r>
            <a:r>
              <a:rPr lang="en-US" altLang="zh-CN" sz="2500" b="1" i="1" dirty="0">
                <a:solidFill>
                  <a:srgbClr val="2D83F4"/>
                </a:solidFill>
                <a:ea typeface="宋体" pitchFamily="2" charset="-122"/>
              </a:rPr>
              <a:t>I</a:t>
            </a:r>
            <a:r>
              <a:rPr lang="en-US" altLang="zh-CN" sz="2500" b="1" baseline="-25000" dirty="0">
                <a:solidFill>
                  <a:srgbClr val="2D83F4"/>
                </a:solidFill>
                <a:ea typeface="宋体" pitchFamily="2" charset="-122"/>
              </a:rPr>
              <a:t>0</a:t>
            </a:r>
            <a:r>
              <a:rPr lang="zh-CN" altLang="en-US" sz="2500" b="1" i="1" baseline="-25000" dirty="0">
                <a:solidFill>
                  <a:srgbClr val="2D83F4"/>
                </a:solidFill>
                <a:ea typeface="楷体_GB2312" pitchFamily="49" charset="-122"/>
              </a:rPr>
              <a:t> </a:t>
            </a:r>
            <a:r>
              <a:rPr lang="en-US" altLang="zh-CN" sz="2500" b="1" dirty="0">
                <a:solidFill>
                  <a:srgbClr val="2D83F4"/>
                </a:solidFill>
                <a:ea typeface="宋体" pitchFamily="2" charset="-122"/>
              </a:rPr>
              <a:t>, </a:t>
            </a:r>
            <a:r>
              <a:rPr lang="en-US" altLang="zh-CN" sz="2500" b="1" i="1" dirty="0">
                <a:solidFill>
                  <a:srgbClr val="2D83F4"/>
                </a:solidFill>
                <a:ea typeface="宋体" pitchFamily="2" charset="-122"/>
              </a:rPr>
              <a:t>F</a:t>
            </a:r>
            <a:r>
              <a:rPr lang="zh-CN" altLang="en-US" sz="2500" b="1" i="1" dirty="0">
                <a:solidFill>
                  <a:srgbClr val="2D83F4"/>
                </a:solidFill>
                <a:ea typeface="楷体_GB2312" pitchFamily="49" charset="-122"/>
              </a:rPr>
              <a:t> </a:t>
            </a:r>
            <a:r>
              <a:rPr lang="en-US" altLang="zh-CN" sz="2500" b="1" dirty="0">
                <a:solidFill>
                  <a:srgbClr val="2D83F4"/>
                </a:solidFill>
                <a:ea typeface="宋体" pitchFamily="2" charset="-122"/>
              </a:rPr>
              <a:t>)</a:t>
            </a:r>
          </a:p>
          <a:p>
            <a:pPr lvl="1" eaLnBrk="1" hangingPunct="1">
              <a:lnSpc>
                <a:spcPts val="35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宋体" pitchFamily="2" charset="-122"/>
              </a:rPr>
              <a:t>C</a:t>
            </a:r>
            <a:r>
              <a:rPr lang="en-US" altLang="zh-CN" sz="2500" b="1" dirty="0">
                <a:solidFill>
                  <a:schemeClr val="tx1"/>
                </a:solidFill>
                <a:ea typeface="宋体" pitchFamily="2" charset="-122"/>
              </a:rPr>
              <a:t>={</a:t>
            </a:r>
            <a:r>
              <a:rPr lang="en-US" altLang="zh-CN" sz="2500" b="1" i="1" dirty="0">
                <a:solidFill>
                  <a:schemeClr val="tx1"/>
                </a:solidFill>
                <a:ea typeface="宋体" pitchFamily="2" charset="-122"/>
              </a:rPr>
              <a:t>I</a:t>
            </a:r>
            <a:r>
              <a:rPr lang="en-US" altLang="zh-CN" sz="2500" b="1" i="1" baseline="-25000" dirty="0">
                <a:solidFill>
                  <a:schemeClr val="tx1"/>
                </a:solidFill>
                <a:ea typeface="宋体" pitchFamily="2" charset="-122"/>
              </a:rPr>
              <a:t>0</a:t>
            </a:r>
            <a:r>
              <a:rPr lang="en-US" altLang="zh-CN" sz="2500" b="1" dirty="0">
                <a:solidFill>
                  <a:schemeClr val="tx1"/>
                </a:solidFill>
                <a:ea typeface="宋体" pitchFamily="2" charset="-122"/>
              </a:rPr>
              <a:t>}∪{</a:t>
            </a:r>
            <a:r>
              <a:rPr lang="en-US" altLang="zh-CN" sz="2500" b="1" i="1" dirty="0">
                <a:solidFill>
                  <a:schemeClr val="tx1"/>
                </a:solidFill>
                <a:ea typeface="宋体" pitchFamily="2" charset="-122"/>
              </a:rPr>
              <a:t>I </a:t>
            </a:r>
            <a:r>
              <a:rPr lang="en-US" altLang="zh-CN" sz="2500" b="1" dirty="0">
                <a:solidFill>
                  <a:schemeClr val="tx1"/>
                </a:solidFill>
                <a:ea typeface="宋体" pitchFamily="2" charset="-122"/>
              </a:rPr>
              <a:t>| </a:t>
            </a:r>
            <a:r>
              <a:rPr lang="en-US" altLang="zh-CN" sz="2500" b="1" dirty="0">
                <a:solidFill>
                  <a:schemeClr val="tx1"/>
                </a:solidFill>
                <a:ea typeface="宋体" pitchFamily="2" charset="-122"/>
                <a:sym typeface="Symbol" pitchFamily="18" charset="2"/>
              </a:rPr>
              <a:t></a:t>
            </a:r>
            <a:r>
              <a:rPr lang="en-US" altLang="zh-CN" sz="2500" b="1" i="1" dirty="0">
                <a:solidFill>
                  <a:schemeClr val="tx1"/>
                </a:solidFill>
                <a:ea typeface="宋体" pitchFamily="2" charset="-122"/>
              </a:rPr>
              <a:t>J</a:t>
            </a:r>
            <a:r>
              <a:rPr lang="en-US" altLang="zh-CN" sz="2500" b="1" dirty="0">
                <a:solidFill>
                  <a:schemeClr val="tx1"/>
                </a:solidFill>
                <a:ea typeface="宋体" pitchFamily="2" charset="-122"/>
              </a:rPr>
              <a:t>∈</a:t>
            </a:r>
            <a:r>
              <a:rPr lang="en-US" altLang="zh-CN" sz="2500" b="1" i="1" dirty="0">
                <a:solidFill>
                  <a:schemeClr val="tx1"/>
                </a:solidFill>
                <a:ea typeface="宋体" pitchFamily="2" charset="-122"/>
              </a:rPr>
              <a:t>C</a:t>
            </a:r>
            <a:r>
              <a:rPr lang="en-US" altLang="zh-CN" sz="2500" b="1" dirty="0">
                <a:solidFill>
                  <a:schemeClr val="tx1"/>
                </a:solidFill>
                <a:ea typeface="宋体" pitchFamily="2" charset="-122"/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  <a:ea typeface="宋体" pitchFamily="2" charset="-122"/>
              </a:rPr>
              <a:t>X</a:t>
            </a:r>
            <a:r>
              <a:rPr lang="en-US" altLang="zh-CN" sz="2500" b="1" dirty="0">
                <a:solidFill>
                  <a:schemeClr val="tx1"/>
                </a:solidFill>
                <a:ea typeface="宋体" pitchFamily="2" charset="-122"/>
              </a:rPr>
              <a:t>∈</a:t>
            </a:r>
            <a:r>
              <a:rPr lang="en-US" altLang="zh-CN" sz="2500" b="1" i="1" dirty="0">
                <a:solidFill>
                  <a:schemeClr val="tx1"/>
                </a:solidFill>
                <a:ea typeface="宋体" pitchFamily="2" charset="-122"/>
              </a:rPr>
              <a:t>V</a:t>
            </a:r>
            <a:r>
              <a:rPr lang="en-US" altLang="zh-CN" sz="2500" b="1" i="1" baseline="-25000" dirty="0">
                <a:solidFill>
                  <a:schemeClr val="tx1"/>
                </a:solidFill>
                <a:ea typeface="宋体" pitchFamily="2" charset="-122"/>
              </a:rPr>
              <a:t>N</a:t>
            </a:r>
            <a:r>
              <a:rPr lang="en-US" altLang="zh-CN" sz="2500" b="1" dirty="0">
                <a:solidFill>
                  <a:schemeClr val="tx1"/>
                </a:solidFill>
                <a:ea typeface="宋体" pitchFamily="2" charset="-122"/>
              </a:rPr>
              <a:t>∪</a:t>
            </a:r>
            <a:r>
              <a:rPr lang="en-US" altLang="zh-CN" sz="2500" b="1" i="1" dirty="0">
                <a:solidFill>
                  <a:schemeClr val="tx1"/>
                </a:solidFill>
                <a:ea typeface="宋体" pitchFamily="2" charset="-122"/>
              </a:rPr>
              <a:t>V</a:t>
            </a:r>
            <a:r>
              <a:rPr lang="en-US" altLang="zh-CN" sz="2500" b="1" i="1" baseline="-25000" dirty="0">
                <a:solidFill>
                  <a:schemeClr val="tx1"/>
                </a:solidFill>
                <a:ea typeface="宋体" pitchFamily="2" charset="-122"/>
              </a:rPr>
              <a:t>T</a:t>
            </a:r>
            <a:r>
              <a:rPr lang="en-US" altLang="zh-CN" sz="2500" b="1" dirty="0">
                <a:solidFill>
                  <a:schemeClr val="tx1"/>
                </a:solidFill>
                <a:ea typeface="宋体" pitchFamily="2" charset="-122"/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  <a:ea typeface="宋体" pitchFamily="2" charset="-122"/>
              </a:rPr>
              <a:t>I</a:t>
            </a:r>
            <a:r>
              <a:rPr lang="en-US" altLang="zh-CN" sz="2500" b="1" dirty="0">
                <a:solidFill>
                  <a:schemeClr val="tx1"/>
                </a:solidFill>
                <a:ea typeface="宋体" pitchFamily="2" charset="-122"/>
              </a:rPr>
              <a:t>=</a:t>
            </a:r>
            <a:r>
              <a:rPr lang="en-US" altLang="zh-CN" sz="2500" b="1" i="1" dirty="0">
                <a:solidFill>
                  <a:schemeClr val="tx1"/>
                </a:solidFill>
                <a:ea typeface="宋体" pitchFamily="2" charset="-122"/>
              </a:rPr>
              <a:t>GOTO</a:t>
            </a:r>
            <a:r>
              <a:rPr lang="en-US" altLang="zh-CN" sz="2500" b="1" dirty="0">
                <a:solidFill>
                  <a:schemeClr val="tx1"/>
                </a:solidFill>
                <a:ea typeface="宋体" pitchFamily="2" charset="-122"/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  <a:ea typeface="宋体" pitchFamily="2" charset="-122"/>
              </a:rPr>
              <a:t>J</a:t>
            </a:r>
            <a:r>
              <a:rPr lang="en-US" altLang="zh-CN" sz="2500" b="1" dirty="0">
                <a:solidFill>
                  <a:schemeClr val="tx1"/>
                </a:solidFill>
                <a:ea typeface="宋体" pitchFamily="2" charset="-122"/>
              </a:rPr>
              <a:t>,</a:t>
            </a:r>
            <a:r>
              <a:rPr lang="en-US" altLang="zh-CN" sz="2500" b="1" i="1" dirty="0">
                <a:solidFill>
                  <a:schemeClr val="tx1"/>
                </a:solidFill>
                <a:ea typeface="宋体" pitchFamily="2" charset="-122"/>
              </a:rPr>
              <a:t>X </a:t>
            </a:r>
            <a:r>
              <a:rPr lang="en-US" altLang="zh-CN" sz="2500" b="1" dirty="0">
                <a:solidFill>
                  <a:schemeClr val="tx1"/>
                </a:solidFill>
                <a:ea typeface="宋体" pitchFamily="2" charset="-122"/>
              </a:rPr>
              <a:t>) }</a:t>
            </a:r>
            <a:endParaRPr lang="en-US" altLang="zh-CN" sz="2500" b="1" i="1" dirty="0">
              <a:solidFill>
                <a:schemeClr val="tx1"/>
              </a:solidFill>
              <a:ea typeface="宋体" pitchFamily="2" charset="-122"/>
            </a:endParaRPr>
          </a:p>
          <a:p>
            <a:pPr lvl="1" eaLnBrk="1" hangingPunct="1">
              <a:lnSpc>
                <a:spcPts val="35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宋体" pitchFamily="2" charset="-122"/>
              </a:rPr>
              <a:t>I</a:t>
            </a:r>
            <a:r>
              <a:rPr lang="en-US" altLang="zh-CN" sz="2500" b="1" baseline="-25000" dirty="0">
                <a:solidFill>
                  <a:schemeClr val="tx1"/>
                </a:solidFill>
                <a:ea typeface="宋体" pitchFamily="2" charset="-122"/>
              </a:rPr>
              <a:t>0</a:t>
            </a:r>
            <a:r>
              <a:rPr lang="en-US" altLang="zh-CN" sz="2500" b="1" dirty="0">
                <a:solidFill>
                  <a:schemeClr val="tx1"/>
                </a:solidFill>
                <a:ea typeface="宋体" pitchFamily="2" charset="-122"/>
              </a:rPr>
              <a:t>=</a:t>
            </a:r>
            <a:r>
              <a:rPr lang="en-US" altLang="zh-CN" sz="2500" b="1" i="1" dirty="0">
                <a:solidFill>
                  <a:schemeClr val="tx1"/>
                </a:solidFill>
                <a:ea typeface="宋体" pitchFamily="2" charset="-122"/>
              </a:rPr>
              <a:t>CLOSURE</a:t>
            </a:r>
            <a:r>
              <a:rPr lang="en-US" altLang="zh-CN" sz="2500" b="1" dirty="0">
                <a:solidFill>
                  <a:schemeClr val="tx1"/>
                </a:solidFill>
                <a:ea typeface="宋体" pitchFamily="2" charset="-122"/>
              </a:rPr>
              <a:t>({</a:t>
            </a:r>
            <a:r>
              <a:rPr lang="en-US" altLang="zh-CN" sz="2500" b="1" i="1" dirty="0">
                <a:solidFill>
                  <a:schemeClr val="tx1"/>
                </a:solidFill>
                <a:ea typeface="宋体" pitchFamily="2" charset="-122"/>
              </a:rPr>
              <a:t>S'</a:t>
            </a:r>
            <a:r>
              <a:rPr lang="en-US" altLang="zh-CN" sz="2500" b="1" dirty="0">
                <a:solidFill>
                  <a:schemeClr val="tx1"/>
                </a:solidFill>
                <a:ea typeface="宋体" pitchFamily="2" charset="-122"/>
              </a:rPr>
              <a:t> →</a:t>
            </a:r>
            <a:r>
              <a:rPr lang="en-US" altLang="zh-CN" sz="2800" b="1" i="1" dirty="0">
                <a:solidFill>
                  <a:srgbClr val="000000"/>
                </a:solidFill>
                <a:ea typeface="宋体" pitchFamily="2" charset="-122"/>
              </a:rPr>
              <a:t>·</a:t>
            </a:r>
            <a:r>
              <a:rPr lang="en-US" altLang="zh-CN" sz="2500" b="1" i="1" dirty="0">
                <a:solidFill>
                  <a:schemeClr val="tx1"/>
                </a:solidFill>
                <a:ea typeface="宋体" pitchFamily="2" charset="-122"/>
              </a:rPr>
              <a:t>S</a:t>
            </a:r>
            <a:r>
              <a:rPr lang="en-US" altLang="zh-CN" sz="2500" b="1" dirty="0">
                <a:solidFill>
                  <a:schemeClr val="tx1"/>
                </a:solidFill>
                <a:ea typeface="宋体" pitchFamily="2" charset="-122"/>
              </a:rPr>
              <a:t>, </a:t>
            </a:r>
            <a:r>
              <a:rPr lang="en-US" altLang="zh-CN" sz="2500" b="1" dirty="0">
                <a:solidFill>
                  <a:srgbClr val="2D83F4"/>
                </a:solidFill>
                <a:latin typeface="华文楷体" pitchFamily="2" charset="-122"/>
              </a:rPr>
              <a:t>$</a:t>
            </a:r>
            <a:r>
              <a:rPr lang="en-US" altLang="zh-CN" sz="2500" b="1" dirty="0">
                <a:solidFill>
                  <a:schemeClr val="tx1"/>
                </a:solidFill>
                <a:ea typeface="宋体" pitchFamily="2" charset="-122"/>
              </a:rPr>
              <a:t>})</a:t>
            </a:r>
          </a:p>
          <a:p>
            <a:pPr lvl="1" eaLnBrk="1" hangingPunct="1">
              <a:lnSpc>
                <a:spcPts val="35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宋体" pitchFamily="2" charset="-122"/>
              </a:rPr>
              <a:t>F</a:t>
            </a:r>
            <a:r>
              <a:rPr lang="en-US" altLang="zh-CN" sz="2500" b="1" dirty="0">
                <a:solidFill>
                  <a:schemeClr val="tx1"/>
                </a:solidFill>
                <a:ea typeface="宋体" pitchFamily="2" charset="-122"/>
              </a:rPr>
              <a:t>={ </a:t>
            </a:r>
            <a:r>
              <a:rPr lang="en-US" altLang="zh-CN" sz="2500" b="1" i="1" dirty="0">
                <a:solidFill>
                  <a:schemeClr val="tx1"/>
                </a:solidFill>
                <a:ea typeface="宋体" pitchFamily="2" charset="-122"/>
              </a:rPr>
              <a:t>CLOSURE</a:t>
            </a:r>
            <a:r>
              <a:rPr lang="en-US" altLang="zh-CN" sz="2500" b="1" dirty="0">
                <a:solidFill>
                  <a:schemeClr val="tx1"/>
                </a:solidFill>
                <a:ea typeface="宋体" pitchFamily="2" charset="-122"/>
              </a:rPr>
              <a:t>({</a:t>
            </a:r>
            <a:r>
              <a:rPr lang="en-US" altLang="zh-CN" sz="2500" b="1" i="1" dirty="0">
                <a:solidFill>
                  <a:schemeClr val="tx1"/>
                </a:solidFill>
                <a:ea typeface="宋体" pitchFamily="2" charset="-122"/>
              </a:rPr>
              <a:t>S'</a:t>
            </a:r>
            <a:r>
              <a:rPr lang="en-US" altLang="zh-CN" sz="2500" b="1" dirty="0">
                <a:solidFill>
                  <a:schemeClr val="tx1"/>
                </a:solidFill>
                <a:ea typeface="宋体" pitchFamily="2" charset="-122"/>
              </a:rPr>
              <a:t>→</a:t>
            </a:r>
            <a:r>
              <a:rPr lang="en-US" altLang="zh-CN" sz="2500" b="1" i="1" dirty="0">
                <a:solidFill>
                  <a:schemeClr val="tx1"/>
                </a:solidFill>
                <a:ea typeface="宋体" pitchFamily="2" charset="-122"/>
              </a:rPr>
              <a:t>S</a:t>
            </a:r>
            <a:r>
              <a:rPr lang="en-US" altLang="zh-CN" sz="2800" b="1" i="1" dirty="0">
                <a:solidFill>
                  <a:srgbClr val="000000"/>
                </a:solidFill>
                <a:ea typeface="宋体" pitchFamily="2" charset="-122"/>
              </a:rPr>
              <a:t>·</a:t>
            </a:r>
            <a:r>
              <a:rPr lang="en-US" altLang="zh-CN" sz="2500" b="1" dirty="0">
                <a:solidFill>
                  <a:schemeClr val="tx1"/>
                </a:solidFill>
                <a:ea typeface="宋体" pitchFamily="2" charset="-122"/>
              </a:rPr>
              <a:t> , </a:t>
            </a:r>
            <a:r>
              <a:rPr lang="en-US" altLang="zh-CN" sz="2500" b="1" dirty="0">
                <a:solidFill>
                  <a:srgbClr val="2D83F4"/>
                </a:solidFill>
                <a:latin typeface="华文楷体" pitchFamily="2" charset="-122"/>
              </a:rPr>
              <a:t>$</a:t>
            </a:r>
            <a:r>
              <a:rPr lang="en-US" altLang="zh-CN" sz="2500" b="1" dirty="0">
                <a:solidFill>
                  <a:schemeClr val="tx1"/>
                </a:solidFill>
                <a:ea typeface="宋体" pitchFamily="2" charset="-122"/>
              </a:rPr>
              <a:t>}) }</a:t>
            </a:r>
          </a:p>
          <a:p>
            <a:pPr lvl="1" eaLnBrk="1" hangingPunct="1">
              <a:lnSpc>
                <a:spcPts val="3500"/>
              </a:lnSpc>
              <a:buFont typeface="Symbol" panose="05050102010706020507" pitchFamily="18" charset="2"/>
              <a:buChar char="•"/>
              <a:defRPr/>
            </a:pPr>
            <a:endParaRPr lang="en-US" altLang="zh-CN" sz="2400" dirty="0">
              <a:ea typeface="宋体" pitchFamily="2" charset="-122"/>
            </a:endParaRPr>
          </a:p>
          <a:p>
            <a:pPr lvl="1" eaLnBrk="1" hangingPunct="1">
              <a:lnSpc>
                <a:spcPts val="3500"/>
              </a:lnSpc>
              <a:buFont typeface="Symbol" panose="05050102010706020507" pitchFamily="18" charset="2"/>
              <a:buChar char="•"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96259" name="标题 1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黑体" panose="02010609060101010101" pitchFamily="49" charset="-122"/>
              </a:rPr>
              <a:t>LR</a:t>
            </a:r>
            <a:r>
              <a:rPr lang="en-US" altLang="zh-CN" sz="3000">
                <a:solidFill>
                  <a:schemeClr val="tx1"/>
                </a:solidFill>
                <a:ea typeface="黑体" panose="02010609060101010101" pitchFamily="49" charset="-122"/>
              </a:rPr>
              <a:t>(1)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自动机</a:t>
            </a:r>
            <a:r>
              <a:rPr lang="zh-CN" altLang="en-US" sz="3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的形式化定义</a:t>
            </a:r>
            <a:endParaRPr lang="zh-CN" altLang="en-US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260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060BBD4-0027-4B60-9DB6-5312B4154B4E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54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6332997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内容占位符 2"/>
          <p:cNvSpPr>
            <a:spLocks noGrp="1" noChangeArrowheads="1"/>
          </p:cNvSpPr>
          <p:nvPr>
            <p:ph idx="1"/>
          </p:nvPr>
        </p:nvSpPr>
        <p:spPr>
          <a:xfrm>
            <a:off x="468313" y="785813"/>
            <a:ext cx="8218487" cy="3225800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构造</a:t>
            </a:r>
            <a:r>
              <a:rPr lang="en-US" altLang="zh-CN" sz="2500" b="1" i="1" dirty="0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G'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的规范</a:t>
            </a:r>
            <a:r>
              <a:rPr lang="en-US" altLang="zh-CN" sz="2500" b="1" i="1" dirty="0">
                <a:solidFill>
                  <a:srgbClr val="2D83F4"/>
                </a:solidFill>
                <a:ea typeface="楷体_GB2312" pitchFamily="49" charset="-122"/>
              </a:rPr>
              <a:t>LR</a:t>
            </a:r>
            <a:r>
              <a:rPr lang="en-US" altLang="zh-CN" sz="2500" b="1" dirty="0">
                <a:solidFill>
                  <a:srgbClr val="2D83F4"/>
                </a:solidFill>
                <a:ea typeface="楷体_GB2312" pitchFamily="49" charset="-122"/>
              </a:rPr>
              <a:t>(1)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项集族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</a:rPr>
              <a:t>C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</a:rPr>
              <a:t>= {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</a:rPr>
              <a:t>I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 pitchFamily="49" charset="-122"/>
              </a:rPr>
              <a:t>0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</a:rPr>
              <a:t>I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 pitchFamily="49" charset="-122"/>
              </a:rPr>
              <a:t>1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</a:rPr>
              <a:t>, … ,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</a:rPr>
              <a:t>I</a:t>
            </a:r>
            <a:r>
              <a:rPr lang="en-US" altLang="zh-CN" sz="2500" b="1" i="1" baseline="-25000" dirty="0">
                <a:solidFill>
                  <a:schemeClr val="tx1"/>
                </a:solidFill>
                <a:ea typeface="楷体_GB2312" pitchFamily="49" charset="-122"/>
              </a:rPr>
              <a:t>n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</a:rPr>
              <a:t>}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根据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</a:rPr>
              <a:t>I</a:t>
            </a:r>
            <a:r>
              <a:rPr lang="en-US" altLang="zh-CN" sz="2500" b="1" i="1" baseline="-25000" dirty="0">
                <a:solidFill>
                  <a:schemeClr val="tx1"/>
                </a:solidFill>
                <a:ea typeface="楷体_GB2312" pitchFamily="49" charset="-122"/>
              </a:rPr>
              <a:t>i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构造得到状态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 pitchFamily="49" charset="-122"/>
              </a:rPr>
              <a:t>i</a:t>
            </a:r>
            <a:r>
              <a:rPr lang="zh-CN" altLang="en-US" sz="2500" b="1" dirty="0">
                <a:solidFill>
                  <a:schemeClr val="tx1"/>
                </a:solidFill>
                <a:ea typeface="宋体" pitchFamily="2" charset="-122"/>
              </a:rPr>
              <a:t>。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状态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 pitchFamily="49" charset="-122"/>
              </a:rPr>
              <a:t>i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的语法分析动作按照下面的方法决定：</a:t>
            </a:r>
            <a:endParaRPr lang="en-US" altLang="zh-CN" sz="2500" b="1" dirty="0">
              <a:solidFill>
                <a:schemeClr val="tx1"/>
              </a:solidFill>
              <a:latin typeface="+mn-ea"/>
            </a:endParaRPr>
          </a:p>
          <a:p>
            <a:pPr lvl="1" eaLnBrk="1" hangingPunct="1"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altLang="zh-CN" sz="2000" b="1" i="1" dirty="0">
                <a:solidFill>
                  <a:srgbClr val="2D83F4"/>
                </a:solidFill>
                <a:ea typeface="楷体_GB2312" pitchFamily="49" charset="-122"/>
              </a:rPr>
              <a:t>if</a:t>
            </a:r>
            <a:r>
              <a:rPr lang="en-US" altLang="zh-CN" sz="2000" b="1" dirty="0">
                <a:solidFill>
                  <a:srgbClr val="2D83F4"/>
                </a:solidFill>
                <a:ea typeface="楷体_GB2312" pitchFamily="49" charset="-122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</a:rPr>
              <a:t>[</a:t>
            </a:r>
            <a:r>
              <a:rPr lang="en-US" altLang="zh-CN" sz="2000" b="1" i="1" dirty="0" err="1">
                <a:solidFill>
                  <a:schemeClr val="tx1"/>
                </a:solidFill>
                <a:ea typeface="楷体_GB2312" pitchFamily="49" charset="-122"/>
              </a:rPr>
              <a:t>A</a:t>
            </a:r>
            <a:r>
              <a:rPr lang="en-US" altLang="zh-CN" sz="2000" b="1" dirty="0" err="1">
                <a:solidFill>
                  <a:schemeClr val="tx1"/>
                </a:solidFill>
                <a:ea typeface="楷体_GB2312" pitchFamily="49" charset="-122"/>
              </a:rPr>
              <a:t>→</a:t>
            </a:r>
            <a:r>
              <a:rPr lang="en-US" altLang="zh-CN" sz="2000" b="1" i="1" dirty="0" err="1">
                <a:solidFill>
                  <a:schemeClr val="tx1"/>
                </a:solidFill>
                <a:ea typeface="楷体_GB2312" pitchFamily="49" charset="-122"/>
              </a:rPr>
              <a:t>α</a:t>
            </a:r>
            <a:r>
              <a:rPr lang="en-US" altLang="zh-CN" sz="2000" b="1" i="1" dirty="0" err="1">
                <a:solidFill>
                  <a:srgbClr val="000000"/>
                </a:solidFill>
                <a:ea typeface="宋体" pitchFamily="2" charset="-122"/>
              </a:rPr>
              <a:t>·</a:t>
            </a:r>
            <a:r>
              <a:rPr lang="en-US" altLang="zh-CN" sz="2000" b="1" dirty="0" err="1">
                <a:solidFill>
                  <a:schemeClr val="tx1"/>
                </a:solidFill>
                <a:ea typeface="楷体_GB2312" pitchFamily="49" charset="-122"/>
              </a:rPr>
              <a:t>a</a:t>
            </a:r>
            <a:r>
              <a:rPr lang="en-US" altLang="zh-CN" sz="2000" b="1" i="1" dirty="0" err="1">
                <a:solidFill>
                  <a:schemeClr val="tx1"/>
                </a:solidFill>
                <a:ea typeface="楷体_GB2312" pitchFamily="49" charset="-122"/>
              </a:rPr>
              <a:t>β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</a:rPr>
              <a:t>,</a:t>
            </a:r>
            <a:r>
              <a:rPr lang="zh-CN" altLang="en-US" sz="2000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</a:rPr>
              <a:t> ] ∈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</a:rPr>
              <a:t>I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楷体_GB2312" pitchFamily="49" charset="-122"/>
              </a:rPr>
              <a:t>i</a:t>
            </a:r>
            <a:r>
              <a:rPr lang="en-US" altLang="zh-CN" sz="2000" b="1" baseline="-25000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</a:rPr>
              <a:t>and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</a:rPr>
              <a:t>GOTO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</a:rPr>
              <a:t>(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</a:rPr>
              <a:t>I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楷体_GB2312" pitchFamily="49" charset="-122"/>
              </a:rPr>
              <a:t>i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</a:rPr>
              <a:t>, a )=</a:t>
            </a:r>
            <a:r>
              <a:rPr lang="en-US" altLang="zh-CN" sz="2000" b="1" i="1" dirty="0" err="1">
                <a:solidFill>
                  <a:schemeClr val="tx1"/>
                </a:solidFill>
                <a:ea typeface="楷体_GB2312" pitchFamily="49" charset="-122"/>
              </a:rPr>
              <a:t>I</a:t>
            </a:r>
            <a:r>
              <a:rPr lang="en-US" altLang="zh-CN" sz="2000" b="1" i="1" baseline="-25000" dirty="0" err="1">
                <a:solidFill>
                  <a:schemeClr val="tx1"/>
                </a:solidFill>
                <a:ea typeface="楷体_GB2312" pitchFamily="49" charset="-122"/>
              </a:rPr>
              <a:t>j</a:t>
            </a:r>
            <a:r>
              <a:rPr lang="en-US" altLang="zh-CN" sz="2000" b="1" baseline="-25000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sz="2000" b="1" i="1" dirty="0">
                <a:solidFill>
                  <a:srgbClr val="2D83F4"/>
                </a:solidFill>
                <a:ea typeface="楷体_GB2312" pitchFamily="49" charset="-122"/>
              </a:rPr>
              <a:t>then</a:t>
            </a:r>
            <a:r>
              <a:rPr lang="en-US" altLang="zh-CN" sz="2000" b="1" dirty="0">
                <a:solidFill>
                  <a:srgbClr val="2D83F4"/>
                </a:solidFill>
                <a:ea typeface="楷体_GB2312" pitchFamily="49" charset="-122"/>
              </a:rPr>
              <a:t>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</a:rPr>
              <a:t>ACTION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</a:rPr>
              <a:t>[ </a:t>
            </a:r>
            <a:r>
              <a:rPr lang="en-US" altLang="zh-CN" sz="2000" b="1" i="1" dirty="0" err="1">
                <a:solidFill>
                  <a:schemeClr val="tx1"/>
                </a:solidFill>
                <a:ea typeface="楷体_GB2312" pitchFamily="49" charset="-122"/>
              </a:rPr>
              <a:t>i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</a:rPr>
              <a:t>, a ]=</a:t>
            </a:r>
            <a:r>
              <a:rPr lang="en-US" altLang="zh-CN" sz="2000" b="1" dirty="0" err="1">
                <a:solidFill>
                  <a:schemeClr val="tx1"/>
                </a:solidFill>
                <a:ea typeface="楷体_GB2312" pitchFamily="49" charset="-122"/>
              </a:rPr>
              <a:t>sj</a:t>
            </a:r>
            <a:endParaRPr lang="en-US" altLang="zh-CN" sz="2000" b="1" baseline="-25000" dirty="0">
              <a:solidFill>
                <a:schemeClr val="tx1"/>
              </a:solidFill>
              <a:ea typeface="楷体_GB2312" pitchFamily="49" charset="-122"/>
            </a:endParaRPr>
          </a:p>
          <a:p>
            <a:pPr lvl="1" eaLnBrk="1" hangingPunct="1"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if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[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→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α</a:t>
            </a:r>
            <a:r>
              <a:rPr lang="en-US" altLang="zh-CN" sz="2000" b="1" i="1" dirty="0">
                <a:solidFill>
                  <a:srgbClr val="000000"/>
                </a:solidFill>
              </a:rPr>
              <a:t>·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Bβ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 ] ∈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sz="20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and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GOTO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(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楷体_GB2312"/>
                <a:cs typeface="楷体_GB2312"/>
              </a:rPr>
              <a:t>i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,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B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)=</a:t>
            </a:r>
            <a:r>
              <a:rPr lang="en-US" altLang="zh-CN" sz="2000" b="1" i="1" dirty="0" err="1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sz="2000" b="1" i="1" baseline="-25000" dirty="0" err="1">
                <a:solidFill>
                  <a:schemeClr val="tx1"/>
                </a:solidFill>
                <a:ea typeface="楷体_GB2312"/>
                <a:cs typeface="楷体_GB2312"/>
              </a:rPr>
              <a:t>j</a:t>
            </a:r>
            <a:r>
              <a:rPr lang="en-US" altLang="zh-CN" sz="20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then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GOTO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[ </a:t>
            </a:r>
            <a:r>
              <a:rPr lang="en-US" altLang="zh-CN" sz="2000" b="1" i="1" dirty="0" err="1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,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B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]=j</a:t>
            </a:r>
            <a:r>
              <a:rPr lang="en-US" altLang="zh-CN" sz="20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endParaRPr lang="en-US" altLang="zh-CN" sz="2000" b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altLang="zh-CN" sz="2000" b="1" i="1" dirty="0">
                <a:solidFill>
                  <a:srgbClr val="2D83F4"/>
                </a:solidFill>
                <a:ea typeface="楷体_GB2312" pitchFamily="49" charset="-122"/>
              </a:rPr>
              <a:t>if</a:t>
            </a:r>
            <a:r>
              <a:rPr lang="en-US" altLang="zh-CN" sz="2000" b="1" dirty="0">
                <a:solidFill>
                  <a:srgbClr val="2D83F4"/>
                </a:solidFill>
                <a:ea typeface="楷体_GB2312" pitchFamily="49" charset="-122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</a:rPr>
              <a:t>[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</a:rPr>
              <a:t>→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</a:rPr>
              <a:t>α</a:t>
            </a:r>
            <a:r>
              <a:rPr lang="en-US" altLang="zh-CN" sz="2000" b="1" i="1" dirty="0">
                <a:solidFill>
                  <a:srgbClr val="000000"/>
                </a:solidFill>
                <a:ea typeface="宋体" pitchFamily="2" charset="-122"/>
              </a:rPr>
              <a:t>·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</a:rPr>
              <a:t>, </a:t>
            </a:r>
            <a:r>
              <a:rPr lang="en-US" altLang="zh-CN" sz="2000" b="1" dirty="0">
                <a:solidFill>
                  <a:srgbClr val="FF0000"/>
                </a:solidFill>
                <a:ea typeface="楷体_GB2312" pitchFamily="49" charset="-122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</a:rPr>
              <a:t> ] ∈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</a:rPr>
              <a:t>I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楷体_GB2312" pitchFamily="49" charset="-122"/>
              </a:rPr>
              <a:t>i</a:t>
            </a:r>
            <a:r>
              <a:rPr lang="zh-CN" altLang="en-US" sz="2000" b="1" dirty="0">
                <a:solidFill>
                  <a:srgbClr val="000000"/>
                </a:solidFill>
                <a:ea typeface="宋体" pitchFamily="2" charset="-122"/>
              </a:rPr>
              <a:t>且</a:t>
            </a:r>
            <a:r>
              <a:rPr lang="en-US" altLang="zh-CN" sz="2000" b="1" i="1" dirty="0">
                <a:solidFill>
                  <a:srgbClr val="000000"/>
                </a:solidFill>
                <a:ea typeface="楷体_GB2312" pitchFamily="49" charset="-122"/>
              </a:rPr>
              <a:t>A </a:t>
            </a:r>
            <a:r>
              <a:rPr lang="en-US" altLang="zh-CN" sz="2000" b="1" dirty="0">
                <a:solidFill>
                  <a:srgbClr val="000000"/>
                </a:solidFill>
                <a:ea typeface="楷体_GB2312" pitchFamily="49" charset="-122"/>
              </a:rPr>
              <a:t>≠ </a:t>
            </a:r>
            <a:r>
              <a:rPr lang="en-US" altLang="zh-CN" sz="2000" b="1" i="1" dirty="0">
                <a:solidFill>
                  <a:srgbClr val="000000"/>
                </a:solidFill>
                <a:ea typeface="楷体_GB2312" pitchFamily="49" charset="-122"/>
              </a:rPr>
              <a:t>S' </a:t>
            </a:r>
            <a:r>
              <a:rPr lang="en-US" altLang="zh-CN" sz="2000" b="1" i="1" dirty="0">
                <a:solidFill>
                  <a:srgbClr val="2D83F4"/>
                </a:solidFill>
                <a:ea typeface="楷体_GB2312" pitchFamily="49" charset="-122"/>
              </a:rPr>
              <a:t>then</a:t>
            </a:r>
            <a:r>
              <a:rPr lang="en-US" altLang="zh-CN" sz="2000" b="1" dirty="0">
                <a:solidFill>
                  <a:srgbClr val="2D83F4"/>
                </a:solidFill>
                <a:ea typeface="楷体_GB2312" pitchFamily="49" charset="-122"/>
              </a:rPr>
              <a:t>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</a:rPr>
              <a:t>ACTION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</a:rPr>
              <a:t>[ </a:t>
            </a:r>
            <a:r>
              <a:rPr lang="en-US" altLang="zh-CN" sz="2000" b="1" i="1" dirty="0" err="1">
                <a:solidFill>
                  <a:schemeClr val="tx1"/>
                </a:solidFill>
                <a:ea typeface="楷体_GB2312" pitchFamily="49" charset="-122"/>
              </a:rPr>
              <a:t>i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</a:rPr>
              <a:t>, a ]=</a:t>
            </a:r>
            <a:r>
              <a:rPr lang="en-US" altLang="zh-CN" sz="2000" b="1" dirty="0" err="1">
                <a:solidFill>
                  <a:schemeClr val="tx1"/>
                </a:solidFill>
                <a:ea typeface="楷体_GB2312" pitchFamily="49" charset="-122"/>
              </a:rPr>
              <a:t>rj</a:t>
            </a:r>
            <a:endParaRPr lang="en-US" altLang="zh-CN" sz="2000" b="1" dirty="0">
              <a:solidFill>
                <a:schemeClr val="tx1"/>
              </a:solidFill>
              <a:ea typeface="楷体_GB2312" pitchFamily="49" charset="-122"/>
            </a:endParaRPr>
          </a:p>
          <a:p>
            <a:pPr marL="303213" lvl="1" indent="0" eaLnBrk="1" hangingPunct="1">
              <a:buClr>
                <a:schemeClr val="tx1"/>
              </a:buClr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楷体_GB2312"/>
              </a:rPr>
              <a:t>  </a:t>
            </a:r>
            <a:r>
              <a:rPr lang="zh-CN" altLang="en-US" sz="2000" b="1" dirty="0">
                <a:solidFill>
                  <a:schemeClr val="tx1"/>
                </a:solidFill>
                <a:ea typeface="楷体_GB2312"/>
                <a:cs typeface="楷体_GB2312"/>
              </a:rPr>
              <a:t>（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j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</a:rPr>
              <a:t>是产生式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→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α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</a:rPr>
              <a:t>的编号</a:t>
            </a:r>
            <a:r>
              <a:rPr lang="zh-CN" altLang="en-US" sz="2000" b="1" dirty="0">
                <a:solidFill>
                  <a:schemeClr val="tx1"/>
                </a:solidFill>
                <a:ea typeface="楷体_GB2312"/>
                <a:cs typeface="楷体_GB2312"/>
              </a:rPr>
              <a:t>）</a:t>
            </a:r>
            <a:endParaRPr lang="en-US" altLang="zh-CN" sz="2000" b="1" dirty="0">
              <a:solidFill>
                <a:schemeClr val="tx1"/>
              </a:solidFill>
              <a:ea typeface="楷体_GB2312" pitchFamily="49" charset="-122"/>
            </a:endParaRPr>
          </a:p>
          <a:p>
            <a:pPr lvl="1" eaLnBrk="1" hangingPunct="1"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altLang="zh-CN" sz="2000" b="1" i="1" dirty="0">
                <a:solidFill>
                  <a:srgbClr val="2D83F4"/>
                </a:solidFill>
                <a:ea typeface="楷体_GB2312" pitchFamily="49" charset="-122"/>
              </a:rPr>
              <a:t>if</a:t>
            </a:r>
            <a:r>
              <a:rPr lang="en-US" altLang="zh-CN" sz="2000" b="1" dirty="0">
                <a:solidFill>
                  <a:srgbClr val="2D83F4"/>
                </a:solidFill>
                <a:ea typeface="楷体_GB2312" pitchFamily="49" charset="-122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</a:rPr>
              <a:t>[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</a:rPr>
              <a:t>S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</a:rPr>
              <a:t>'→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</a:rPr>
              <a:t>S</a:t>
            </a:r>
            <a:r>
              <a:rPr lang="en-US" altLang="zh-CN" sz="2000" b="1" i="1" dirty="0">
                <a:solidFill>
                  <a:srgbClr val="000000"/>
                </a:solidFill>
                <a:ea typeface="宋体" pitchFamily="2" charset="-122"/>
              </a:rPr>
              <a:t>·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</a:rPr>
              <a:t>,</a:t>
            </a:r>
            <a:r>
              <a:rPr lang="zh-CN" altLang="en-US" sz="2000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latin typeface="华文楷体" pitchFamily="2" charset="-122"/>
              </a:rPr>
              <a:t>$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</a:rPr>
              <a:t>] ∈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</a:rPr>
              <a:t>I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楷体_GB2312" pitchFamily="49" charset="-122"/>
              </a:rPr>
              <a:t>i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</a:rPr>
              <a:t>then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</a:rPr>
              <a:t>ACTION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</a:rPr>
              <a:t> [ </a:t>
            </a:r>
            <a:r>
              <a:rPr lang="en-US" altLang="zh-CN" sz="2000" b="1" i="1" dirty="0" err="1">
                <a:solidFill>
                  <a:schemeClr val="tx1"/>
                </a:solidFill>
                <a:ea typeface="楷体_GB2312" pitchFamily="49" charset="-122"/>
              </a:rPr>
              <a:t>i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</a:rPr>
              <a:t>, </a:t>
            </a:r>
            <a:r>
              <a:rPr lang="en-US" altLang="zh-CN" sz="2000" b="1" dirty="0">
                <a:solidFill>
                  <a:schemeClr val="tx1"/>
                </a:solidFill>
                <a:latin typeface="华文楷体" pitchFamily="2" charset="-122"/>
              </a:rPr>
              <a:t>$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</a:rPr>
              <a:t> ]=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</a:rPr>
              <a:t>acc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</a:rPr>
              <a:t>;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没有定义的所有条目都设置为</a:t>
            </a:r>
            <a:r>
              <a:rPr lang="en-US" altLang="zh-CN" sz="2500" b="1" dirty="0">
                <a:solidFill>
                  <a:schemeClr val="tx1"/>
                </a:solidFill>
                <a:ea typeface="宋体" pitchFamily="2" charset="-122"/>
              </a:rPr>
              <a:t>“</a:t>
            </a:r>
            <a:r>
              <a:rPr lang="en-US" altLang="zh-CN" sz="2500" b="1" i="1" dirty="0">
                <a:solidFill>
                  <a:schemeClr val="tx1"/>
                </a:solidFill>
                <a:ea typeface="宋体" pitchFamily="2" charset="-122"/>
              </a:rPr>
              <a:t>error</a:t>
            </a:r>
            <a:r>
              <a:rPr lang="en-US" altLang="zh-CN" sz="2500" b="1" dirty="0">
                <a:solidFill>
                  <a:schemeClr val="tx1"/>
                </a:solidFill>
                <a:ea typeface="宋体" pitchFamily="2" charset="-122"/>
              </a:rPr>
              <a:t>”</a:t>
            </a:r>
            <a:endParaRPr lang="en-US" altLang="zh-CN" sz="2500" b="1" dirty="0">
              <a:solidFill>
                <a:schemeClr val="tx1"/>
              </a:solidFill>
              <a:ea typeface="楷体_GB2312" pitchFamily="49" charset="-122"/>
            </a:endParaRPr>
          </a:p>
          <a:p>
            <a:pPr eaLnBrk="1" hangingPunct="1">
              <a:defRPr/>
            </a:pPr>
            <a:endParaRPr lang="zh-CN" altLang="en-US" sz="2000" dirty="0">
              <a:ea typeface="宋体" pitchFamily="2" charset="-122"/>
            </a:endParaRPr>
          </a:p>
        </p:txBody>
      </p:sp>
      <p:sp>
        <p:nvSpPr>
          <p:cNvPr id="98307" name="标题 1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黑体" panose="02010609060101010101" pitchFamily="49" charset="-122"/>
              </a:rPr>
              <a:t>LR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分析表构造算法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619250" y="4300538"/>
            <a:ext cx="5400675" cy="708025"/>
          </a:xfrm>
          <a:prstGeom prst="rect">
            <a:avLst/>
          </a:prstGeom>
          <a:solidFill>
            <a:srgbClr val="B5CEED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如果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分析表中没有语法分析动作冲突，那么给定的文法就称为</a:t>
            </a:r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</a:rPr>
              <a:t>LR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(1)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文法</a:t>
            </a:r>
            <a:endParaRPr lang="zh-CN" altLang="en-US" sz="2000" b="1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98309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B742EFB-863A-4386-83FF-A74C7B2C3CF5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55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932791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b="1"/>
              <a:t>7. </a:t>
            </a:r>
            <a:r>
              <a:rPr lang="zh-CN" altLang="en-US" sz="3600" b="1"/>
              <a:t>习题课</a:t>
            </a:r>
          </a:p>
        </p:txBody>
      </p:sp>
      <p:sp>
        <p:nvSpPr>
          <p:cNvPr id="6144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144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3609406-06F6-434B-A5BF-10FDDEB843F5}" type="slidenum">
              <a:rPr lang="zh-CN" altLang="en-US" smtClean="0">
                <a:latin typeface="Arial" panose="020B0604020202020204" pitchFamily="34" charset="0"/>
              </a:rPr>
              <a:pPr/>
              <a:t>56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11004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内容占位符 1"/>
          <p:cNvSpPr>
            <a:spLocks noGrp="1"/>
          </p:cNvSpPr>
          <p:nvPr>
            <p:ph idx="1"/>
          </p:nvPr>
        </p:nvSpPr>
        <p:spPr>
          <a:xfrm>
            <a:off x="2916238" y="1779588"/>
            <a:ext cx="2879725" cy="1223962"/>
          </a:xfrm>
        </p:spPr>
        <p:txBody>
          <a:bodyPr/>
          <a:lstStyle/>
          <a:p>
            <a:pPr marL="0" indent="0">
              <a:buFont typeface="Symbol" panose="05050102010706020507" pitchFamily="18" charset="2"/>
              <a:buNone/>
            </a:pPr>
            <a:r>
              <a:rPr lang="en-US" altLang="zh-CN" sz="4800"/>
              <a:t>The End</a:t>
            </a:r>
            <a:endParaRPr lang="zh-CN" altLang="en-US" sz="4800"/>
          </a:p>
        </p:txBody>
      </p:sp>
      <p:sp>
        <p:nvSpPr>
          <p:cNvPr id="122883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2884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A867220-12F4-442F-AD07-2F853E5AD4DA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57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>
          <a:xfrm>
            <a:off x="481013" y="857250"/>
            <a:ext cx="8162925" cy="3225800"/>
          </a:xfrm>
        </p:spPr>
        <p:txBody>
          <a:bodyPr/>
          <a:lstStyle/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 dirty="0">
                <a:solidFill>
                  <a:schemeClr val="tx1"/>
                </a:solidFill>
              </a:rPr>
              <a:t>LR</a:t>
            </a:r>
            <a:r>
              <a:rPr lang="zh-CN" altLang="en-US" sz="2800" b="1" dirty="0">
                <a:solidFill>
                  <a:schemeClr val="tx1"/>
                </a:solidFill>
              </a:rPr>
              <a:t>文法</a:t>
            </a:r>
            <a:r>
              <a:rPr lang="en-US" altLang="zh-CN" sz="2800" b="1" dirty="0">
                <a:solidFill>
                  <a:schemeClr val="tx1"/>
                </a:solidFill>
              </a:rPr>
              <a:t>(</a:t>
            </a:r>
            <a:r>
              <a:rPr lang="en-US" altLang="zh-CN" sz="2800" b="1" i="1" dirty="0">
                <a:solidFill>
                  <a:schemeClr val="tx1"/>
                </a:solidFill>
              </a:rPr>
              <a:t>Knuth</a:t>
            </a:r>
            <a:r>
              <a:rPr lang="en-US" altLang="zh-CN" sz="2800" b="1" dirty="0">
                <a:solidFill>
                  <a:schemeClr val="tx1"/>
                </a:solidFill>
              </a:rPr>
              <a:t>, 1963)</a:t>
            </a:r>
            <a:r>
              <a:rPr lang="zh-CN" altLang="en-US" sz="2800" b="1" dirty="0">
                <a:solidFill>
                  <a:schemeClr val="tx1"/>
                </a:solidFill>
              </a:rPr>
              <a:t> 是最大的、可以构造出相应</a:t>
            </a:r>
            <a:r>
              <a:rPr lang="zh-CN" altLang="en-US" sz="2800" b="1" dirty="0">
                <a:solidFill>
                  <a:srgbClr val="2D83F4"/>
                </a:solidFill>
              </a:rPr>
              <a:t>移入</a:t>
            </a:r>
            <a:r>
              <a:rPr lang="en-US" altLang="zh-CN" sz="2800" b="1" dirty="0">
                <a:solidFill>
                  <a:srgbClr val="2D83F4"/>
                </a:solidFill>
              </a:rPr>
              <a:t>-</a:t>
            </a:r>
            <a:r>
              <a:rPr lang="zh-CN" altLang="en-US" sz="2800" b="1" dirty="0">
                <a:solidFill>
                  <a:srgbClr val="2D83F4"/>
                </a:solidFill>
              </a:rPr>
              <a:t>归约语法分析器</a:t>
            </a:r>
            <a:r>
              <a:rPr lang="zh-CN" altLang="en-US" sz="2800" b="1" dirty="0">
                <a:solidFill>
                  <a:schemeClr val="tx1"/>
                </a:solidFill>
              </a:rPr>
              <a:t>的文法类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: </a:t>
            </a:r>
            <a:r>
              <a:rPr lang="zh-CN" altLang="en-US" sz="2500" b="1" dirty="0">
                <a:solidFill>
                  <a:schemeClr val="tx1"/>
                </a:solidFill>
              </a:rPr>
              <a:t>对输入进行从</a:t>
            </a:r>
            <a:r>
              <a:rPr lang="zh-CN" altLang="en-US" sz="2500" b="1" dirty="0">
                <a:solidFill>
                  <a:srgbClr val="2D83F4"/>
                </a:solidFill>
              </a:rPr>
              <a:t>左</a:t>
            </a:r>
            <a:r>
              <a:rPr lang="zh-CN" altLang="en-US" sz="2500" b="1" dirty="0">
                <a:solidFill>
                  <a:schemeClr val="tx1"/>
                </a:solidFill>
              </a:rPr>
              <a:t>到右的扫描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 dirty="0">
                <a:solidFill>
                  <a:schemeClr val="tx1"/>
                </a:solidFill>
              </a:rPr>
              <a:t>R</a:t>
            </a:r>
            <a:r>
              <a:rPr lang="en-US" altLang="zh-CN" sz="2500" b="1" dirty="0">
                <a:solidFill>
                  <a:schemeClr val="tx1"/>
                </a:solidFill>
              </a:rPr>
              <a:t>: </a:t>
            </a:r>
            <a:r>
              <a:rPr lang="zh-CN" altLang="en-US" sz="2500" b="1" dirty="0">
                <a:solidFill>
                  <a:schemeClr val="tx1"/>
                </a:solidFill>
              </a:rPr>
              <a:t>反向构造出一个最</a:t>
            </a:r>
            <a:r>
              <a:rPr lang="zh-CN" altLang="en-US" sz="2500" b="1" dirty="0">
                <a:solidFill>
                  <a:srgbClr val="2D83F4"/>
                </a:solidFill>
              </a:rPr>
              <a:t>右</a:t>
            </a:r>
            <a:r>
              <a:rPr lang="zh-CN" altLang="en-US" sz="2500" b="1" dirty="0">
                <a:solidFill>
                  <a:schemeClr val="tx1"/>
                </a:solidFill>
              </a:rPr>
              <a:t>推导序列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 dirty="0">
                <a:solidFill>
                  <a:schemeClr val="tx1"/>
                </a:solidFill>
              </a:rPr>
              <a:t>LR</a:t>
            </a:r>
            <a:r>
              <a:rPr lang="en-US" altLang="zh-CN" sz="2800" b="1" dirty="0">
                <a:solidFill>
                  <a:schemeClr val="tx1"/>
                </a:solidFill>
              </a:rPr>
              <a:t>(</a:t>
            </a:r>
            <a:r>
              <a:rPr lang="en-US" altLang="zh-CN" sz="2800" b="1" i="1" dirty="0">
                <a:solidFill>
                  <a:schemeClr val="tx1"/>
                </a:solidFill>
              </a:rPr>
              <a:t>k</a:t>
            </a:r>
            <a:r>
              <a:rPr lang="en-US" altLang="zh-CN" sz="2800" b="1" dirty="0">
                <a:solidFill>
                  <a:schemeClr val="tx1"/>
                </a:solidFill>
              </a:rPr>
              <a:t>)</a:t>
            </a:r>
            <a:r>
              <a:rPr lang="zh-CN" altLang="en-US" sz="2800" b="1" dirty="0">
                <a:solidFill>
                  <a:schemeClr val="tx1"/>
                </a:solidFill>
              </a:rPr>
              <a:t>分析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</a:rPr>
              <a:t>需要向前查看</a:t>
            </a:r>
            <a:r>
              <a:rPr lang="en-US" altLang="zh-CN" sz="2500" b="1" i="1" dirty="0">
                <a:solidFill>
                  <a:schemeClr val="tx1"/>
                </a:solidFill>
              </a:rPr>
              <a:t>k</a:t>
            </a:r>
            <a:r>
              <a:rPr lang="zh-CN" altLang="en-US" sz="2500" b="1" dirty="0">
                <a:solidFill>
                  <a:schemeClr val="tx1"/>
                </a:solidFill>
              </a:rPr>
              <a:t>个输入符号的</a:t>
            </a:r>
            <a:r>
              <a:rPr lang="en-US" altLang="zh-CN" sz="2400" b="1" i="1" dirty="0">
                <a:solidFill>
                  <a:schemeClr val="tx1"/>
                </a:solidFill>
              </a:rPr>
              <a:t>LR</a:t>
            </a:r>
            <a:r>
              <a:rPr lang="zh-CN" altLang="en-US" sz="2400" b="1" dirty="0">
                <a:solidFill>
                  <a:schemeClr val="tx1"/>
                </a:solidFill>
              </a:rPr>
              <a:t>分析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endParaRPr lang="en-US" altLang="zh-CN" sz="2500" b="1" dirty="0">
              <a:solidFill>
                <a:schemeClr val="tx1"/>
              </a:solidFill>
              <a:latin typeface="楷体_GB2312"/>
              <a:ea typeface="楷体_GB2312"/>
              <a:cs typeface="楷体_GB2312"/>
            </a:endParaRPr>
          </a:p>
          <a:p>
            <a:pPr lvl="1" eaLnBrk="1" hangingPunct="1">
              <a:lnSpc>
                <a:spcPct val="120000"/>
              </a:lnSpc>
            </a:pPr>
            <a:endParaRPr lang="zh-CN" altLang="en-US" dirty="0">
              <a:latin typeface="楷体_GB2312"/>
              <a:ea typeface="楷体_GB2312"/>
              <a:cs typeface="楷体_GB2312"/>
            </a:endParaRPr>
          </a:p>
          <a:p>
            <a:pPr eaLnBrk="1" hangingPunct="1"/>
            <a:endParaRPr lang="zh-CN" altLang="en-US" dirty="0"/>
          </a:p>
        </p:txBody>
      </p:sp>
      <p:sp>
        <p:nvSpPr>
          <p:cNvPr id="88883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2. LR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分析法</a:t>
            </a:r>
            <a:endParaRPr lang="zh-CN" altLang="en-US" sz="3000" spc="3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24" name="矩形 1"/>
          <p:cNvSpPr>
            <a:spLocks noChangeArrowheads="1"/>
          </p:cNvSpPr>
          <p:nvPr/>
        </p:nvSpPr>
        <p:spPr bwMode="auto">
          <a:xfrm>
            <a:off x="1643063" y="3975100"/>
            <a:ext cx="5618162" cy="8620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k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= 0 </a:t>
            </a: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和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k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= 1 </a:t>
            </a: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这两种情况具有实践意义</a:t>
            </a:r>
            <a:endParaRPr kumimoji="0" lang="en-US" altLang="zh-CN" sz="2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当省略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k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)</a:t>
            </a: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时，表示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k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=1 </a:t>
            </a:r>
            <a:endParaRPr kumimoji="0" lang="zh-CN" altLang="en-US" sz="2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4591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63" name="Rectangle 3"/>
          <p:cNvSpPr>
            <a:spLocks noGrp="1" noChangeArrowheads="1"/>
          </p:cNvSpPr>
          <p:nvPr>
            <p:ph idx="1"/>
          </p:nvPr>
        </p:nvSpPr>
        <p:spPr>
          <a:xfrm>
            <a:off x="412750" y="785813"/>
            <a:ext cx="8302625" cy="3225800"/>
          </a:xfrm>
        </p:spPr>
        <p:txBody>
          <a:bodyPr/>
          <a:lstStyle/>
          <a:p>
            <a:pPr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cs typeface="楷体_GB2312"/>
              </a:rPr>
              <a:t>自底向上分析的关键问题是什么？</a:t>
            </a: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楷体" panose="02010609060101010101" pitchFamily="49" charset="-122"/>
                <a:cs typeface="楷体_GB2312"/>
              </a:rPr>
              <a:t>如何正确地识别句柄</a:t>
            </a:r>
          </a:p>
          <a:p>
            <a:pPr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cs typeface="楷体_GB2312"/>
              </a:rPr>
              <a:t>句柄是逐步形成的，用“状态”表示句柄识别的进展程度</a:t>
            </a: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例：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sz="25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bBB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</a:p>
          <a:p>
            <a:pPr lvl="2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→ ·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bBB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</a:p>
          <a:p>
            <a:pPr lvl="2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sz="25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5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·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BB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</a:p>
          <a:p>
            <a:pPr lvl="2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sz="25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bB</a:t>
            </a:r>
            <a:r>
              <a:rPr lang="en-US" altLang="zh-CN" sz="25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·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</a:t>
            </a:r>
          </a:p>
          <a:p>
            <a:pPr lvl="2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sz="25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bBB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· </a:t>
            </a: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LR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分析法的基本原理</a:t>
            </a:r>
            <a:endParaRPr lang="en-US" altLang="zh-CN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808965" name="Rectangle 5"/>
          <p:cNvSpPr>
            <a:spLocks noChangeArrowheads="1"/>
          </p:cNvSpPr>
          <p:nvPr/>
        </p:nvSpPr>
        <p:spPr bwMode="auto">
          <a:xfrm>
            <a:off x="3438525" y="4587875"/>
            <a:ext cx="27368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归约状态</a:t>
            </a:r>
          </a:p>
        </p:txBody>
      </p:sp>
      <p:sp>
        <p:nvSpPr>
          <p:cNvPr id="808967" name="Rectangle 7"/>
          <p:cNvSpPr>
            <a:spLocks noChangeArrowheads="1"/>
          </p:cNvSpPr>
          <p:nvPr/>
        </p:nvSpPr>
        <p:spPr bwMode="auto">
          <a:xfrm>
            <a:off x="3419475" y="3143250"/>
            <a:ext cx="23050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移进状态</a:t>
            </a:r>
          </a:p>
        </p:txBody>
      </p:sp>
      <p:sp>
        <p:nvSpPr>
          <p:cNvPr id="808968" name="Rectangle 8"/>
          <p:cNvSpPr>
            <a:spLocks noChangeArrowheads="1"/>
          </p:cNvSpPr>
          <p:nvPr/>
        </p:nvSpPr>
        <p:spPr bwMode="auto">
          <a:xfrm>
            <a:off x="3419475" y="3867150"/>
            <a:ext cx="1376363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待约状态</a:t>
            </a:r>
          </a:p>
        </p:txBody>
      </p:sp>
      <p:sp>
        <p:nvSpPr>
          <p:cNvPr id="808969" name="AutoShape 9"/>
          <p:cNvSpPr>
            <a:spLocks/>
          </p:cNvSpPr>
          <p:nvPr/>
        </p:nvSpPr>
        <p:spPr bwMode="auto">
          <a:xfrm>
            <a:off x="2843213" y="3789363"/>
            <a:ext cx="508000" cy="711200"/>
          </a:xfrm>
          <a:prstGeom prst="rightBrace">
            <a:avLst>
              <a:gd name="adj1" fmla="val 19526"/>
              <a:gd name="adj2" fmla="val 50000"/>
            </a:avLst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808970" name="Line 10"/>
          <p:cNvSpPr>
            <a:spLocks noChangeShapeType="1"/>
          </p:cNvSpPr>
          <p:nvPr/>
        </p:nvSpPr>
        <p:spPr bwMode="auto">
          <a:xfrm flipH="1">
            <a:off x="2843213" y="4803775"/>
            <a:ext cx="576262" cy="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08971" name="Line 11"/>
          <p:cNvSpPr>
            <a:spLocks noChangeShapeType="1"/>
          </p:cNvSpPr>
          <p:nvPr/>
        </p:nvSpPr>
        <p:spPr bwMode="auto">
          <a:xfrm flipH="1">
            <a:off x="2843213" y="3357563"/>
            <a:ext cx="576262" cy="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787900" y="3665538"/>
            <a:ext cx="4221163" cy="8302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LR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分析器基于这样一些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状态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来构造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自动机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进行句柄的识别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itchFamily="2" charset="-122"/>
              <a:ea typeface="华文楷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3269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0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0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0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0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0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0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0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0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0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0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0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0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0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0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0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08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08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08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08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08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08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08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08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08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089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089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08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089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089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08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8089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8089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08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8089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8089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808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8089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8089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808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8089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8089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08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65" grpId="0"/>
      <p:bldP spid="808967" grpId="0"/>
      <p:bldP spid="808968" grpId="0"/>
      <p:bldP spid="808969" grpId="0" animBg="1"/>
      <p:bldP spid="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分析器（自动机）的总体结构</a:t>
            </a:r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2857500" y="1143000"/>
            <a:ext cx="3786188" cy="6429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40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  …   </a:t>
            </a:r>
            <a:r>
              <a:rPr kumimoji="1" lang="en-US" altLang="zh-CN" sz="3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40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  …   a</a:t>
            </a:r>
            <a:r>
              <a:rPr kumimoji="1" lang="en-US" altLang="zh-CN" sz="40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$</a:t>
            </a:r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3359150" y="2352675"/>
            <a:ext cx="2797175" cy="1076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46038" rIns="92075" bIns="46038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LR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主控程序</a:t>
            </a:r>
          </a:p>
        </p:txBody>
      </p:sp>
      <p:sp>
        <p:nvSpPr>
          <p:cNvPr id="43013" name="Rectangle 5"/>
          <p:cNvSpPr>
            <a:spLocks noChangeArrowheads="1"/>
          </p:cNvSpPr>
          <p:nvPr/>
        </p:nvSpPr>
        <p:spPr bwMode="auto">
          <a:xfrm>
            <a:off x="2844800" y="4208463"/>
            <a:ext cx="1943100" cy="6762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/>
          <a:lstStyle/>
          <a:p>
            <a:pPr marL="0" marR="0" lvl="0" indent="0" algn="ctr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动作表</a:t>
            </a:r>
          </a:p>
          <a:p>
            <a:pPr marL="0" marR="0" lvl="0" indent="0" algn="ctr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ACTION</a:t>
            </a:r>
          </a:p>
        </p:txBody>
      </p:sp>
      <p:sp>
        <p:nvSpPr>
          <p:cNvPr id="43014" name="Rectangle 6"/>
          <p:cNvSpPr>
            <a:spLocks noChangeArrowheads="1"/>
          </p:cNvSpPr>
          <p:nvPr/>
        </p:nvSpPr>
        <p:spPr bwMode="auto">
          <a:xfrm>
            <a:off x="4805363" y="4208463"/>
            <a:ext cx="1927225" cy="6762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/>
          <a:lstStyle/>
          <a:p>
            <a:pPr marL="0" marR="0" lvl="0" indent="0" algn="ctr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转移表</a:t>
            </a:r>
          </a:p>
          <a:p>
            <a:pPr marL="0" marR="0" lvl="0" indent="0" algn="ctr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GOTO</a:t>
            </a:r>
          </a:p>
        </p:txBody>
      </p:sp>
      <p:sp>
        <p:nvSpPr>
          <p:cNvPr id="70663" name="Rectangle 7"/>
          <p:cNvSpPr>
            <a:spLocks noChangeArrowheads="1"/>
          </p:cNvSpPr>
          <p:nvPr/>
        </p:nvSpPr>
        <p:spPr bwMode="auto">
          <a:xfrm>
            <a:off x="7092950" y="2476500"/>
            <a:ext cx="19796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产生式序列</a:t>
            </a:r>
          </a:p>
        </p:txBody>
      </p:sp>
      <p:sp>
        <p:nvSpPr>
          <p:cNvPr id="70664" name="Rectangle 8"/>
          <p:cNvSpPr>
            <a:spLocks noChangeArrowheads="1"/>
          </p:cNvSpPr>
          <p:nvPr/>
        </p:nvSpPr>
        <p:spPr bwMode="auto">
          <a:xfrm>
            <a:off x="284163" y="1733550"/>
            <a:ext cx="21272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状态/符号栈</a:t>
            </a:r>
          </a:p>
        </p:txBody>
      </p:sp>
      <p:sp>
        <p:nvSpPr>
          <p:cNvPr id="70665" name="Rectangle 9"/>
          <p:cNvSpPr>
            <a:spLocks noChangeArrowheads="1"/>
          </p:cNvSpPr>
          <p:nvPr/>
        </p:nvSpPr>
        <p:spPr bwMode="auto">
          <a:xfrm>
            <a:off x="3643313" y="642938"/>
            <a:ext cx="2216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 (正文)"/>
                <a:ea typeface="楷体" panose="02010609060101010101" pitchFamily="49" charset="-122"/>
                <a:cs typeface="+mn-cs"/>
              </a:rPr>
              <a:t>输入缓冲区</a:t>
            </a:r>
          </a:p>
        </p:txBody>
      </p:sp>
      <p:sp>
        <p:nvSpPr>
          <p:cNvPr id="70666" name="Rectangle 11"/>
          <p:cNvSpPr>
            <a:spLocks noChangeArrowheads="1"/>
          </p:cNvSpPr>
          <p:nvPr/>
        </p:nvSpPr>
        <p:spPr bwMode="auto">
          <a:xfrm>
            <a:off x="2643188" y="4071938"/>
            <a:ext cx="4286250" cy="9286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667" name="Rectangle 12"/>
          <p:cNvSpPr>
            <a:spLocks noChangeArrowheads="1"/>
          </p:cNvSpPr>
          <p:nvPr/>
        </p:nvSpPr>
        <p:spPr bwMode="auto">
          <a:xfrm>
            <a:off x="7072313" y="4262438"/>
            <a:ext cx="1492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分析表</a:t>
            </a:r>
          </a:p>
        </p:txBody>
      </p:sp>
      <p:sp>
        <p:nvSpPr>
          <p:cNvPr id="43020" name="Rectangle 13"/>
          <p:cNvSpPr>
            <a:spLocks noChangeArrowheads="1"/>
          </p:cNvSpPr>
          <p:nvPr/>
        </p:nvSpPr>
        <p:spPr bwMode="auto">
          <a:xfrm>
            <a:off x="152400" y="2171700"/>
            <a:ext cx="977900" cy="26765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32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m</a:t>
            </a:r>
            <a:endParaRPr kumimoji="1" lang="en-US" altLang="zh-CN" sz="2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32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3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-1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…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…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…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1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32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sp>
        <p:nvSpPr>
          <p:cNvPr id="410638" name="Rectangle 14"/>
          <p:cNvSpPr>
            <a:spLocks noChangeArrowheads="1"/>
          </p:cNvSpPr>
          <p:nvPr/>
        </p:nvSpPr>
        <p:spPr bwMode="auto">
          <a:xfrm>
            <a:off x="1149350" y="2171700"/>
            <a:ext cx="977900" cy="26812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2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endParaRPr kumimoji="1" lang="en-US" altLang="zh-CN" sz="2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2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3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-1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$</a:t>
            </a:r>
          </a:p>
        </p:txBody>
      </p:sp>
      <p:sp>
        <p:nvSpPr>
          <p:cNvPr id="43022" name="AutoShape 15"/>
          <p:cNvSpPr>
            <a:spLocks noChangeArrowheads="1"/>
          </p:cNvSpPr>
          <p:nvPr/>
        </p:nvSpPr>
        <p:spPr bwMode="auto">
          <a:xfrm rot="10800000">
            <a:off x="2162175" y="2571750"/>
            <a:ext cx="1143000" cy="28575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23" name="AutoShape 16"/>
          <p:cNvSpPr>
            <a:spLocks noChangeArrowheads="1"/>
          </p:cNvSpPr>
          <p:nvPr/>
        </p:nvSpPr>
        <p:spPr bwMode="auto">
          <a:xfrm rot="10800000">
            <a:off x="4505325" y="1843088"/>
            <a:ext cx="381000" cy="457200"/>
          </a:xfrm>
          <a:prstGeom prst="downArrow">
            <a:avLst>
              <a:gd name="adj1" fmla="val 50000"/>
              <a:gd name="adj2" fmla="val 40000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24" name="AutoShape 17"/>
          <p:cNvSpPr>
            <a:spLocks noChangeArrowheads="1"/>
          </p:cNvSpPr>
          <p:nvPr/>
        </p:nvSpPr>
        <p:spPr bwMode="auto">
          <a:xfrm>
            <a:off x="3643313" y="3457575"/>
            <a:ext cx="304800" cy="542925"/>
          </a:xfrm>
          <a:prstGeom prst="upArrow">
            <a:avLst>
              <a:gd name="adj1" fmla="val 50000"/>
              <a:gd name="adj2" fmla="val 75000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26" name="AutoShape 19"/>
          <p:cNvSpPr>
            <a:spLocks noChangeArrowheads="1"/>
          </p:cNvSpPr>
          <p:nvPr/>
        </p:nvSpPr>
        <p:spPr bwMode="auto">
          <a:xfrm>
            <a:off x="6227763" y="2571750"/>
            <a:ext cx="915987" cy="285750"/>
          </a:xfrm>
          <a:prstGeom prst="rightArrow">
            <a:avLst>
              <a:gd name="adj1" fmla="val 50000"/>
              <a:gd name="adj2" fmla="val 85007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AutoShape 17"/>
          <p:cNvSpPr>
            <a:spLocks noChangeArrowheads="1"/>
          </p:cNvSpPr>
          <p:nvPr/>
        </p:nvSpPr>
        <p:spPr bwMode="auto">
          <a:xfrm>
            <a:off x="5624513" y="3457575"/>
            <a:ext cx="304800" cy="542925"/>
          </a:xfrm>
          <a:prstGeom prst="upArrow">
            <a:avLst>
              <a:gd name="adj1" fmla="val 50000"/>
              <a:gd name="adj2" fmla="val 75000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502988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19"/>
          <p:cNvSpPr txBox="1">
            <a:spLocks noChangeArrowheads="1"/>
          </p:cNvSpPr>
          <p:nvPr/>
        </p:nvSpPr>
        <p:spPr bwMode="auto">
          <a:xfrm>
            <a:off x="539750" y="2571750"/>
            <a:ext cx="2743200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72707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分析表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的结构</a:t>
            </a:r>
          </a:p>
        </p:txBody>
      </p:sp>
      <p:sp>
        <p:nvSpPr>
          <p:cNvPr id="72708" name="Rectangle 21"/>
          <p:cNvSpPr txBox="1">
            <a:spLocks noChangeArrowheads="1"/>
          </p:cNvSpPr>
          <p:nvPr/>
        </p:nvSpPr>
        <p:spPr bwMode="auto">
          <a:xfrm>
            <a:off x="400050" y="857250"/>
            <a:ext cx="3314700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endParaRPr kumimoji="0" lang="en-US" altLang="zh-CN" sz="25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文法</a:t>
            </a:r>
            <a:endParaRPr kumimoji="0" lang="en-US" altLang="zh-CN" sz="25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_GB2312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50000"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①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BB</a:t>
            </a: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50000"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 panose="02010600030101010101" pitchFamily="2" charset="-122"/>
                <a:ea typeface="Simsun" panose="02010600030101010101" pitchFamily="2" charset="-122"/>
                <a:cs typeface="+mn-cs"/>
              </a:rPr>
              <a:t>②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aB</a:t>
            </a: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50000"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③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80FF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25606" name="AutoShape 20"/>
          <p:cNvSpPr>
            <a:spLocks noChangeArrowheads="1"/>
          </p:cNvSpPr>
          <p:nvPr/>
        </p:nvSpPr>
        <p:spPr bwMode="auto">
          <a:xfrm>
            <a:off x="411163" y="3857625"/>
            <a:ext cx="3517900" cy="785813"/>
          </a:xfrm>
          <a:prstGeom prst="wedgeRoundRectCallout">
            <a:avLst>
              <a:gd name="adj1" fmla="val 44086"/>
              <a:gd name="adj2" fmla="val -83935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sn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：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Times New Roman" pitchFamily="18" charset="0"/>
              </a:rPr>
              <a:t>将符号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a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Times New Roman" pitchFamily="18" charset="0"/>
              </a:rPr>
              <a:t>、状态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n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Times New Roman" pitchFamily="18" charset="0"/>
              </a:rPr>
              <a:t>压入栈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rn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：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Times New Roman" pitchFamily="18" charset="0"/>
              </a:rPr>
              <a:t>用第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n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Times New Roman" pitchFamily="18" charset="0"/>
              </a:rPr>
              <a:t>个产生式进行归约</a:t>
            </a:r>
          </a:p>
        </p:txBody>
      </p:sp>
      <p:graphicFrame>
        <p:nvGraphicFramePr>
          <p:cNvPr id="22" name="Group 18"/>
          <p:cNvGraphicFramePr>
            <a:graphicFrameLocks noGrp="1"/>
          </p:cNvGraphicFramePr>
          <p:nvPr/>
        </p:nvGraphicFramePr>
        <p:xfrm>
          <a:off x="4214813" y="123825"/>
          <a:ext cx="4318000" cy="3603666"/>
        </p:xfrm>
        <a:graphic>
          <a:graphicData uri="http://schemas.openxmlformats.org/drawingml/2006/table">
            <a:tbl>
              <a:tblPr/>
              <a:tblGrid>
                <a:gridCol w="928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1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  <a:cs typeface="Times New Roman" pitchFamily="18" charset="0"/>
                        </a:rPr>
                        <a:t>状态</a:t>
                      </a:r>
                    </a:p>
                  </a:txBody>
                  <a:tcPr marL="91447" marR="91447" marT="34257" marB="3425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ACTION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GOTO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78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$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S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793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ext Box 19"/>
          <p:cNvSpPr txBox="1">
            <a:spLocks noChangeArrowheads="1"/>
          </p:cNvSpPr>
          <p:nvPr/>
        </p:nvSpPr>
        <p:spPr bwMode="auto">
          <a:xfrm>
            <a:off x="539750" y="2571750"/>
            <a:ext cx="2743200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74755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分析表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的结构</a:t>
            </a:r>
          </a:p>
        </p:txBody>
      </p:sp>
      <p:sp>
        <p:nvSpPr>
          <p:cNvPr id="74756" name="Rectangle 21"/>
          <p:cNvSpPr txBox="1">
            <a:spLocks noChangeArrowheads="1"/>
          </p:cNvSpPr>
          <p:nvPr/>
        </p:nvSpPr>
        <p:spPr bwMode="auto">
          <a:xfrm>
            <a:off x="400050" y="857250"/>
            <a:ext cx="3314700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endParaRPr kumimoji="0" lang="en-US" altLang="zh-CN" sz="25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文法</a:t>
            </a:r>
            <a:endParaRPr kumimoji="0" lang="en-US" altLang="zh-CN" sz="25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_GB2312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50000"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①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BB</a:t>
            </a: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50000"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 panose="02010600030101010101" pitchFamily="2" charset="-122"/>
                <a:ea typeface="Simsun" panose="02010600030101010101" pitchFamily="2" charset="-122"/>
                <a:cs typeface="+mn-cs"/>
              </a:rPr>
              <a:t>②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aB</a:t>
            </a: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50000"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③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80FF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graphicFrame>
        <p:nvGraphicFramePr>
          <p:cNvPr id="22" name="Group 18"/>
          <p:cNvGraphicFramePr>
            <a:graphicFrameLocks noGrp="1"/>
          </p:cNvGraphicFramePr>
          <p:nvPr/>
        </p:nvGraphicFramePr>
        <p:xfrm>
          <a:off x="4214813" y="123825"/>
          <a:ext cx="4318000" cy="3603666"/>
        </p:xfrm>
        <a:graphic>
          <a:graphicData uri="http://schemas.openxmlformats.org/drawingml/2006/table">
            <a:tbl>
              <a:tblPr/>
              <a:tblGrid>
                <a:gridCol w="928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1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  <a:cs typeface="Times New Roman" pitchFamily="18" charset="0"/>
                        </a:rPr>
                        <a:t>状态</a:t>
                      </a:r>
                    </a:p>
                  </a:txBody>
                  <a:tcPr marL="91447" marR="91447" marT="34257" marB="3425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ACTION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GOTO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78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$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S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4211638" y="3721100"/>
            <a:ext cx="3671887" cy="1082675"/>
          </a:xfrm>
        </p:spPr>
        <p:txBody>
          <a:bodyPr lIns="92075" tIns="46038" rIns="92075" bIns="46038"/>
          <a:lstStyle/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lang="zh-CN" altLang="en-US" sz="3000" b="1">
                <a:solidFill>
                  <a:srgbClr val="2D83F4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栈    剩余输入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$</a:t>
            </a:r>
            <a:r>
              <a:rPr lang="zh-CN" altLang="en-US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</a:t>
            </a:r>
            <a:r>
              <a:rPr lang="en-US" altLang="zh-CN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  </a:t>
            </a:r>
            <a:r>
              <a:rPr lang="en-US" altLang="zh-CN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$</a:t>
            </a:r>
            <a:endParaRPr lang="en-US" altLang="zh-CN" b="1" i="1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600"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600"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4427538" y="4164013"/>
            <a:ext cx="374650" cy="4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273050" marR="0" lvl="0" indent="-27305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</a:t>
            </a:r>
            <a:r>
              <a:rPr kumimoji="0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5813425" y="4443413"/>
            <a:ext cx="3381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5630863" y="4443413"/>
            <a:ext cx="33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5437188" y="4443413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4411663" y="4443413"/>
            <a:ext cx="390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842963" y="4543425"/>
            <a:ext cx="2033587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输入 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b  a   b</a:t>
            </a:r>
            <a:endParaRPr kumimoji="0" lang="en-US" altLang="zh-CN" sz="25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2" name="Group 78"/>
          <p:cNvGrpSpPr>
            <a:grpSpLocks/>
          </p:cNvGrpSpPr>
          <p:nvPr/>
        </p:nvGrpSpPr>
        <p:grpSpPr bwMode="auto">
          <a:xfrm>
            <a:off x="1835150" y="3994150"/>
            <a:ext cx="357188" cy="557213"/>
            <a:chOff x="975" y="3041"/>
            <a:chExt cx="225" cy="741"/>
          </a:xfrm>
        </p:grpSpPr>
        <p:sp>
          <p:nvSpPr>
            <p:cNvPr id="74833" name="Line 79"/>
            <p:cNvSpPr>
              <a:spLocks noChangeShapeType="1"/>
            </p:cNvSpPr>
            <p:nvPr/>
          </p:nvSpPr>
          <p:spPr bwMode="auto">
            <a:xfrm flipH="1" flipV="1">
              <a:off x="1066" y="3543"/>
              <a:ext cx="0" cy="2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834" name="Rectangle 80"/>
            <p:cNvSpPr>
              <a:spLocks noChangeArrowheads="1"/>
            </p:cNvSpPr>
            <p:nvPr/>
          </p:nvSpPr>
          <p:spPr bwMode="auto">
            <a:xfrm>
              <a:off x="975" y="3041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  <a:buFont typeface="Monotype Sorts"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59841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5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1.97531E-6 L -0.11389 -0.00586 " pathEditMode="relative" rAng="0" ptsTypes="AA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694" y="-3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/>
      <p:bldP spid="8" grpId="1"/>
      <p:bldP spid="9" grpId="0"/>
      <p:bldP spid="10" grpId="0"/>
      <p:bldP spid="11" grpId="0"/>
      <p:bldP spid="11" grpId="1"/>
      <p:bldP spid="11" grpId="2"/>
      <p:bldP spid="12" grpId="0"/>
      <p:bldP spid="6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ext Box 19"/>
          <p:cNvSpPr txBox="1">
            <a:spLocks noChangeArrowheads="1"/>
          </p:cNvSpPr>
          <p:nvPr/>
        </p:nvSpPr>
        <p:spPr bwMode="auto">
          <a:xfrm>
            <a:off x="539750" y="2571750"/>
            <a:ext cx="2743200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76803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分析表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的结构</a:t>
            </a:r>
          </a:p>
        </p:txBody>
      </p:sp>
      <p:sp>
        <p:nvSpPr>
          <p:cNvPr id="76804" name="Rectangle 21"/>
          <p:cNvSpPr txBox="1">
            <a:spLocks noChangeArrowheads="1"/>
          </p:cNvSpPr>
          <p:nvPr/>
        </p:nvSpPr>
        <p:spPr bwMode="auto">
          <a:xfrm>
            <a:off x="400050" y="857250"/>
            <a:ext cx="3314700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endParaRPr kumimoji="0" lang="en-US" altLang="zh-CN" sz="25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文法</a:t>
            </a:r>
            <a:endParaRPr kumimoji="0" lang="en-US" altLang="zh-CN" sz="25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_GB2312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50000"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①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BB</a:t>
            </a: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50000"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 panose="02010600030101010101" pitchFamily="2" charset="-122"/>
                <a:ea typeface="Simsun" panose="02010600030101010101" pitchFamily="2" charset="-122"/>
                <a:cs typeface="+mn-cs"/>
              </a:rPr>
              <a:t>②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aB</a:t>
            </a: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50000"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③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80FF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76805" name="Rectangle 3"/>
          <p:cNvSpPr>
            <a:spLocks noGrp="1" noChangeArrowheads="1"/>
          </p:cNvSpPr>
          <p:nvPr>
            <p:ph idx="1"/>
          </p:nvPr>
        </p:nvSpPr>
        <p:spPr>
          <a:xfrm>
            <a:off x="4211638" y="3721100"/>
            <a:ext cx="3671887" cy="1082675"/>
          </a:xfrm>
        </p:spPr>
        <p:txBody>
          <a:bodyPr lIns="92075" tIns="46038" rIns="92075" bIns="46038"/>
          <a:lstStyle/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lang="zh-CN" altLang="en-US" sz="3000" b="1">
                <a:solidFill>
                  <a:srgbClr val="2D83F4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栈    剩余输入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$</a:t>
            </a:r>
            <a:r>
              <a:rPr lang="zh-CN" altLang="en-US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</a:t>
            </a:r>
            <a:r>
              <a:rPr lang="en-US" altLang="zh-CN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  </a:t>
            </a:r>
            <a:r>
              <a:rPr lang="en-US" altLang="zh-CN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$</a:t>
            </a:r>
            <a:endParaRPr lang="en-US" altLang="zh-CN" b="1" i="1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600"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600"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5813425" y="4443413"/>
            <a:ext cx="3381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5630863" y="4443413"/>
            <a:ext cx="33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76808" name="矩形 11"/>
          <p:cNvSpPr>
            <a:spLocks noChangeArrowheads="1"/>
          </p:cNvSpPr>
          <p:nvPr/>
        </p:nvSpPr>
        <p:spPr bwMode="auto">
          <a:xfrm>
            <a:off x="4411663" y="4443413"/>
            <a:ext cx="390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4427538" y="4125913"/>
            <a:ext cx="33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4665663" y="4125913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4881563" y="4125913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17" name="Group 18"/>
          <p:cNvGraphicFramePr>
            <a:graphicFrameLocks noGrp="1"/>
          </p:cNvGraphicFramePr>
          <p:nvPr/>
        </p:nvGraphicFramePr>
        <p:xfrm>
          <a:off x="4214813" y="123825"/>
          <a:ext cx="4318000" cy="3603666"/>
        </p:xfrm>
        <a:graphic>
          <a:graphicData uri="http://schemas.openxmlformats.org/drawingml/2006/table">
            <a:tbl>
              <a:tblPr/>
              <a:tblGrid>
                <a:gridCol w="928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1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  <a:cs typeface="Times New Roman" pitchFamily="18" charset="0"/>
                        </a:rPr>
                        <a:t>状态</a:t>
                      </a:r>
                    </a:p>
                  </a:txBody>
                  <a:tcPr marL="91447" marR="91447" marT="34257" marB="3425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ACTION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GOTO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78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$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S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6880" name="矩形 15"/>
          <p:cNvSpPr>
            <a:spLocks noChangeArrowheads="1"/>
          </p:cNvSpPr>
          <p:nvPr/>
        </p:nvSpPr>
        <p:spPr bwMode="auto">
          <a:xfrm>
            <a:off x="842963" y="4543425"/>
            <a:ext cx="2033587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输入 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b  a   b</a:t>
            </a:r>
            <a:endParaRPr kumimoji="0" lang="en-US" altLang="zh-CN" sz="25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76881" name="Group 78"/>
          <p:cNvGrpSpPr>
            <a:grpSpLocks/>
          </p:cNvGrpSpPr>
          <p:nvPr/>
        </p:nvGrpSpPr>
        <p:grpSpPr bwMode="auto">
          <a:xfrm>
            <a:off x="1835150" y="3994150"/>
            <a:ext cx="357188" cy="557213"/>
            <a:chOff x="975" y="3041"/>
            <a:chExt cx="225" cy="741"/>
          </a:xfrm>
        </p:grpSpPr>
        <p:sp>
          <p:nvSpPr>
            <p:cNvPr id="76882" name="Line 79"/>
            <p:cNvSpPr>
              <a:spLocks noChangeShapeType="1"/>
            </p:cNvSpPr>
            <p:nvPr/>
          </p:nvSpPr>
          <p:spPr bwMode="auto">
            <a:xfrm flipH="1" flipV="1">
              <a:off x="1066" y="3543"/>
              <a:ext cx="0" cy="2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6883" name="Rectangle 80"/>
            <p:cNvSpPr>
              <a:spLocks noChangeArrowheads="1"/>
            </p:cNvSpPr>
            <p:nvPr/>
          </p:nvSpPr>
          <p:spPr bwMode="auto">
            <a:xfrm>
              <a:off x="975" y="3041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  <a:buFont typeface="Monotype Sorts"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1833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1.97531E-6 L -0.10921 -0.00278 " pathEditMode="relative" rAng="0" ptsTypes="AA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69" y="-1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97531E-6 L -0.10695 -0.00278 " pathEditMode="relative" rAng="0" ptsTypes="AA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47" y="-1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/>
      <p:bldP spid="13" grpId="0"/>
      <p:bldP spid="14" grpId="0"/>
      <p:bldP spid="15" grpId="0"/>
      <p:bldP spid="15" grpId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ext Box 19"/>
          <p:cNvSpPr txBox="1">
            <a:spLocks noChangeArrowheads="1"/>
          </p:cNvSpPr>
          <p:nvPr/>
        </p:nvSpPr>
        <p:spPr bwMode="auto">
          <a:xfrm>
            <a:off x="539750" y="2571750"/>
            <a:ext cx="2743200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7885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分析表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的结构</a:t>
            </a:r>
          </a:p>
        </p:txBody>
      </p:sp>
      <p:sp>
        <p:nvSpPr>
          <p:cNvPr id="78852" name="Rectangle 21"/>
          <p:cNvSpPr txBox="1">
            <a:spLocks noChangeArrowheads="1"/>
          </p:cNvSpPr>
          <p:nvPr/>
        </p:nvSpPr>
        <p:spPr bwMode="auto">
          <a:xfrm>
            <a:off x="400050" y="857250"/>
            <a:ext cx="3314700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endParaRPr kumimoji="0" lang="en-US" altLang="zh-CN" sz="25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文法</a:t>
            </a:r>
            <a:endParaRPr kumimoji="0" lang="en-US" altLang="zh-CN" sz="25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_GB2312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50000"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①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BB</a:t>
            </a: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50000"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 panose="02010600030101010101" pitchFamily="2" charset="-122"/>
                <a:ea typeface="Simsun" panose="02010600030101010101" pitchFamily="2" charset="-122"/>
                <a:cs typeface="+mn-cs"/>
              </a:rPr>
              <a:t>②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aB</a:t>
            </a: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50000"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③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80FF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78853" name="Rectangle 3"/>
          <p:cNvSpPr>
            <a:spLocks noGrp="1" noChangeArrowheads="1"/>
          </p:cNvSpPr>
          <p:nvPr>
            <p:ph idx="1"/>
          </p:nvPr>
        </p:nvSpPr>
        <p:spPr>
          <a:xfrm>
            <a:off x="4211638" y="3721100"/>
            <a:ext cx="3671887" cy="1082675"/>
          </a:xfrm>
        </p:spPr>
        <p:txBody>
          <a:bodyPr lIns="92075" tIns="46038" rIns="92075" bIns="46038"/>
          <a:lstStyle/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lang="zh-CN" altLang="en-US" sz="3000" b="1">
                <a:solidFill>
                  <a:srgbClr val="2D83F4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栈    剩余输入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$</a:t>
            </a:r>
            <a:r>
              <a:rPr lang="zh-CN" altLang="en-US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</a:t>
            </a:r>
            <a:r>
              <a:rPr lang="en-US" altLang="zh-CN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  </a:t>
            </a:r>
            <a:r>
              <a:rPr lang="en-US" altLang="zh-CN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$</a:t>
            </a:r>
            <a:endParaRPr lang="en-US" altLang="zh-CN" b="1" i="1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600"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600"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4859338" y="4443413"/>
            <a:ext cx="390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4643438" y="4443413"/>
            <a:ext cx="33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78856" name="矩形 11"/>
          <p:cNvSpPr>
            <a:spLocks noChangeArrowheads="1"/>
          </p:cNvSpPr>
          <p:nvPr/>
        </p:nvSpPr>
        <p:spPr bwMode="auto">
          <a:xfrm>
            <a:off x="4411663" y="4443413"/>
            <a:ext cx="390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78857" name="矩形 12"/>
          <p:cNvSpPr>
            <a:spLocks noChangeArrowheads="1"/>
          </p:cNvSpPr>
          <p:nvPr/>
        </p:nvSpPr>
        <p:spPr bwMode="auto">
          <a:xfrm>
            <a:off x="4427538" y="4125913"/>
            <a:ext cx="33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4665663" y="4125913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4881563" y="4125913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6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18" name="Group 18"/>
          <p:cNvGraphicFramePr>
            <a:graphicFrameLocks noGrp="1"/>
          </p:cNvGraphicFramePr>
          <p:nvPr/>
        </p:nvGraphicFramePr>
        <p:xfrm>
          <a:off x="4214813" y="123825"/>
          <a:ext cx="4318000" cy="3603666"/>
        </p:xfrm>
        <a:graphic>
          <a:graphicData uri="http://schemas.openxmlformats.org/drawingml/2006/table">
            <a:tbl>
              <a:tblPr/>
              <a:tblGrid>
                <a:gridCol w="928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1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  <a:cs typeface="Times New Roman" pitchFamily="18" charset="0"/>
                        </a:rPr>
                        <a:t>状态</a:t>
                      </a:r>
                    </a:p>
                  </a:txBody>
                  <a:tcPr marL="91447" marR="91447" marT="34257" marB="3425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ACTION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GOTO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78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$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S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8928" name="矩形 12"/>
          <p:cNvSpPr>
            <a:spLocks noChangeArrowheads="1"/>
          </p:cNvSpPr>
          <p:nvPr/>
        </p:nvSpPr>
        <p:spPr bwMode="auto">
          <a:xfrm>
            <a:off x="842963" y="4543425"/>
            <a:ext cx="2033587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输入 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b  a   b</a:t>
            </a:r>
            <a:endParaRPr kumimoji="0" lang="en-US" altLang="zh-CN" sz="25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78929" name="Group 78"/>
          <p:cNvGrpSpPr>
            <a:grpSpLocks/>
          </p:cNvGrpSpPr>
          <p:nvPr/>
        </p:nvGrpSpPr>
        <p:grpSpPr bwMode="auto">
          <a:xfrm>
            <a:off x="1835150" y="3994150"/>
            <a:ext cx="357188" cy="557213"/>
            <a:chOff x="975" y="3041"/>
            <a:chExt cx="225" cy="741"/>
          </a:xfrm>
        </p:grpSpPr>
        <p:sp>
          <p:nvSpPr>
            <p:cNvPr id="78933" name="Line 79"/>
            <p:cNvSpPr>
              <a:spLocks noChangeShapeType="1"/>
            </p:cNvSpPr>
            <p:nvPr/>
          </p:nvSpPr>
          <p:spPr bwMode="auto">
            <a:xfrm flipH="1" flipV="1">
              <a:off x="1066" y="3543"/>
              <a:ext cx="0" cy="2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934" name="Rectangle 80"/>
            <p:cNvSpPr>
              <a:spLocks noChangeArrowheads="1"/>
            </p:cNvSpPr>
            <p:nvPr/>
          </p:nvSpPr>
          <p:spPr bwMode="auto">
            <a:xfrm>
              <a:off x="975" y="3041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  <a:buFont typeface="Monotype Sorts"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</p:grpSp>
      <p:grpSp>
        <p:nvGrpSpPr>
          <p:cNvPr id="3" name="Group 78"/>
          <p:cNvGrpSpPr>
            <a:grpSpLocks/>
          </p:cNvGrpSpPr>
          <p:nvPr/>
        </p:nvGrpSpPr>
        <p:grpSpPr bwMode="auto">
          <a:xfrm>
            <a:off x="2555875" y="4032250"/>
            <a:ext cx="357188" cy="555625"/>
            <a:chOff x="975" y="3041"/>
            <a:chExt cx="225" cy="741"/>
          </a:xfrm>
        </p:grpSpPr>
        <p:sp>
          <p:nvSpPr>
            <p:cNvPr id="78931" name="Line 79"/>
            <p:cNvSpPr>
              <a:spLocks noChangeShapeType="1"/>
            </p:cNvSpPr>
            <p:nvPr/>
          </p:nvSpPr>
          <p:spPr bwMode="auto">
            <a:xfrm flipH="1" flipV="1">
              <a:off x="1066" y="3543"/>
              <a:ext cx="0" cy="2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932" name="Rectangle 80"/>
            <p:cNvSpPr>
              <a:spLocks noChangeArrowheads="1"/>
            </p:cNvSpPr>
            <p:nvPr/>
          </p:nvSpPr>
          <p:spPr bwMode="auto">
            <a:xfrm>
              <a:off x="975" y="3041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  <a:buFont typeface="Monotype Sorts"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06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/>
      <p:bldP spid="14" grpId="0"/>
      <p:bldP spid="16" grpId="0"/>
      <p:bldP spid="16" grpId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ext Box 19"/>
          <p:cNvSpPr txBox="1">
            <a:spLocks noChangeArrowheads="1"/>
          </p:cNvSpPr>
          <p:nvPr/>
        </p:nvSpPr>
        <p:spPr bwMode="auto">
          <a:xfrm>
            <a:off x="539750" y="2571750"/>
            <a:ext cx="2743200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80899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分析表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的结构</a:t>
            </a:r>
          </a:p>
        </p:txBody>
      </p:sp>
      <p:sp>
        <p:nvSpPr>
          <p:cNvPr id="80900" name="Rectangle 21"/>
          <p:cNvSpPr txBox="1">
            <a:spLocks noChangeArrowheads="1"/>
          </p:cNvSpPr>
          <p:nvPr/>
        </p:nvSpPr>
        <p:spPr bwMode="auto">
          <a:xfrm>
            <a:off x="400050" y="857250"/>
            <a:ext cx="3314700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endParaRPr kumimoji="0" lang="en-US" altLang="zh-CN" sz="25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文法</a:t>
            </a:r>
            <a:endParaRPr kumimoji="0" lang="en-US" altLang="zh-CN" sz="25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_GB2312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50000"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①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BB</a:t>
            </a: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50000"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 panose="02010600030101010101" pitchFamily="2" charset="-122"/>
                <a:ea typeface="Simsun" panose="02010600030101010101" pitchFamily="2" charset="-122"/>
                <a:cs typeface="+mn-cs"/>
              </a:rPr>
              <a:t>②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aB</a:t>
            </a: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50000"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③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80FF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80901" name="Rectangle 3"/>
          <p:cNvSpPr>
            <a:spLocks noGrp="1" noChangeArrowheads="1"/>
          </p:cNvSpPr>
          <p:nvPr>
            <p:ph idx="1"/>
          </p:nvPr>
        </p:nvSpPr>
        <p:spPr>
          <a:xfrm>
            <a:off x="4211638" y="3721100"/>
            <a:ext cx="3671887" cy="1082675"/>
          </a:xfrm>
        </p:spPr>
        <p:txBody>
          <a:bodyPr lIns="92075" tIns="46038" rIns="92075" bIns="46038"/>
          <a:lstStyle/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lang="zh-CN" altLang="en-US" sz="3000" b="1">
                <a:solidFill>
                  <a:srgbClr val="2D83F4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栈    剩余输入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$</a:t>
            </a:r>
            <a:r>
              <a:rPr lang="zh-CN" altLang="en-US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</a:t>
            </a:r>
            <a:r>
              <a:rPr lang="en-US" altLang="zh-CN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  </a:t>
            </a:r>
            <a:r>
              <a:rPr lang="en-US" altLang="zh-CN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$</a:t>
            </a:r>
            <a:endParaRPr lang="en-US" altLang="zh-CN" b="1" i="1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600"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600"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4686300" y="4443413"/>
            <a:ext cx="390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4411663" y="4443413"/>
            <a:ext cx="390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4427538" y="4125913"/>
            <a:ext cx="33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4706938" y="4125913"/>
            <a:ext cx="33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5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17" name="Group 18"/>
          <p:cNvGraphicFramePr>
            <a:graphicFrameLocks noGrp="1"/>
          </p:cNvGraphicFramePr>
          <p:nvPr/>
        </p:nvGraphicFramePr>
        <p:xfrm>
          <a:off x="4214813" y="123825"/>
          <a:ext cx="4318000" cy="3603666"/>
        </p:xfrm>
        <a:graphic>
          <a:graphicData uri="http://schemas.openxmlformats.org/drawingml/2006/table">
            <a:tbl>
              <a:tblPr/>
              <a:tblGrid>
                <a:gridCol w="928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1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  <a:cs typeface="Times New Roman" pitchFamily="18" charset="0"/>
                        </a:rPr>
                        <a:t>状态</a:t>
                      </a:r>
                    </a:p>
                  </a:txBody>
                  <a:tcPr marL="91447" marR="91447" marT="34257" marB="3425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ACTION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GOTO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78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$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S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0974" name="矩形 10"/>
          <p:cNvSpPr>
            <a:spLocks noChangeArrowheads="1"/>
          </p:cNvSpPr>
          <p:nvPr/>
        </p:nvSpPr>
        <p:spPr bwMode="auto">
          <a:xfrm>
            <a:off x="842963" y="4543425"/>
            <a:ext cx="2033587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输入 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b  a   b</a:t>
            </a:r>
            <a:endParaRPr kumimoji="0" lang="en-US" altLang="zh-CN" sz="25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80975" name="Group 78"/>
          <p:cNvGrpSpPr>
            <a:grpSpLocks/>
          </p:cNvGrpSpPr>
          <p:nvPr/>
        </p:nvGrpSpPr>
        <p:grpSpPr bwMode="auto">
          <a:xfrm>
            <a:off x="1835150" y="3994150"/>
            <a:ext cx="357188" cy="557213"/>
            <a:chOff x="975" y="3041"/>
            <a:chExt cx="225" cy="741"/>
          </a:xfrm>
        </p:grpSpPr>
        <p:sp>
          <p:nvSpPr>
            <p:cNvPr id="80983" name="Line 79"/>
            <p:cNvSpPr>
              <a:spLocks noChangeShapeType="1"/>
            </p:cNvSpPr>
            <p:nvPr/>
          </p:nvSpPr>
          <p:spPr bwMode="auto">
            <a:xfrm flipH="1" flipV="1">
              <a:off x="1066" y="3543"/>
              <a:ext cx="0" cy="2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0984" name="Rectangle 80"/>
            <p:cNvSpPr>
              <a:spLocks noChangeArrowheads="1"/>
            </p:cNvSpPr>
            <p:nvPr/>
          </p:nvSpPr>
          <p:spPr bwMode="auto">
            <a:xfrm>
              <a:off x="975" y="3041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  <a:buFont typeface="Monotype Sorts"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</p:grpSp>
      <p:grpSp>
        <p:nvGrpSpPr>
          <p:cNvPr id="80976" name="Group 78"/>
          <p:cNvGrpSpPr>
            <a:grpSpLocks/>
          </p:cNvGrpSpPr>
          <p:nvPr/>
        </p:nvGrpSpPr>
        <p:grpSpPr bwMode="auto">
          <a:xfrm>
            <a:off x="2555875" y="4032250"/>
            <a:ext cx="357188" cy="555625"/>
            <a:chOff x="975" y="3041"/>
            <a:chExt cx="225" cy="741"/>
          </a:xfrm>
        </p:grpSpPr>
        <p:sp>
          <p:nvSpPr>
            <p:cNvPr id="80981" name="Line 79"/>
            <p:cNvSpPr>
              <a:spLocks noChangeShapeType="1"/>
            </p:cNvSpPr>
            <p:nvPr/>
          </p:nvSpPr>
          <p:spPr bwMode="auto">
            <a:xfrm flipH="1" flipV="1">
              <a:off x="1066" y="3543"/>
              <a:ext cx="0" cy="2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0982" name="Rectangle 80"/>
            <p:cNvSpPr>
              <a:spLocks noChangeArrowheads="1"/>
            </p:cNvSpPr>
            <p:nvPr/>
          </p:nvSpPr>
          <p:spPr bwMode="auto">
            <a:xfrm>
              <a:off x="975" y="3041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  <a:buFont typeface="Monotype Sorts"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</p:grpSp>
      <p:grpSp>
        <p:nvGrpSpPr>
          <p:cNvPr id="4" name="Group 84"/>
          <p:cNvGrpSpPr>
            <a:grpSpLocks/>
          </p:cNvGrpSpPr>
          <p:nvPr/>
        </p:nvGrpSpPr>
        <p:grpSpPr bwMode="auto">
          <a:xfrm>
            <a:off x="2174875" y="3524250"/>
            <a:ext cx="525463" cy="1063625"/>
            <a:chOff x="1292" y="2662"/>
            <a:chExt cx="331" cy="1417"/>
          </a:xfrm>
        </p:grpSpPr>
        <p:sp>
          <p:nvSpPr>
            <p:cNvPr id="80978" name="Line 68"/>
            <p:cNvSpPr>
              <a:spLocks noChangeShapeType="1"/>
            </p:cNvSpPr>
            <p:nvPr/>
          </p:nvSpPr>
          <p:spPr bwMode="auto">
            <a:xfrm flipH="1" flipV="1">
              <a:off x="1404" y="3123"/>
              <a:ext cx="219" cy="2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0979" name="Line 69"/>
            <p:cNvSpPr>
              <a:spLocks noChangeShapeType="1"/>
            </p:cNvSpPr>
            <p:nvPr/>
          </p:nvSpPr>
          <p:spPr bwMode="auto">
            <a:xfrm flipH="1" flipV="1">
              <a:off x="1374" y="3184"/>
              <a:ext cx="8" cy="89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0980" name="Rectangle 71"/>
            <p:cNvSpPr>
              <a:spLocks noChangeArrowheads="1"/>
            </p:cNvSpPr>
            <p:nvPr/>
          </p:nvSpPr>
          <p:spPr bwMode="auto">
            <a:xfrm>
              <a:off x="1292" y="2662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  <a:buFont typeface="Monotype Sorts"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186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2" grpId="0"/>
      <p:bldP spid="13" grpId="0"/>
      <p:bldP spid="16" grpId="0"/>
      <p:bldP spid="16" grpId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ext Box 19"/>
          <p:cNvSpPr txBox="1">
            <a:spLocks noChangeArrowheads="1"/>
          </p:cNvSpPr>
          <p:nvPr/>
        </p:nvSpPr>
        <p:spPr bwMode="auto">
          <a:xfrm>
            <a:off x="539750" y="2571750"/>
            <a:ext cx="2743200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82947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分析表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的结构</a:t>
            </a:r>
          </a:p>
        </p:txBody>
      </p:sp>
      <p:sp>
        <p:nvSpPr>
          <p:cNvPr id="82948" name="Rectangle 21"/>
          <p:cNvSpPr txBox="1">
            <a:spLocks noChangeArrowheads="1"/>
          </p:cNvSpPr>
          <p:nvPr/>
        </p:nvSpPr>
        <p:spPr bwMode="auto">
          <a:xfrm>
            <a:off x="400050" y="857250"/>
            <a:ext cx="3314700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endParaRPr kumimoji="0" lang="en-US" altLang="zh-CN" sz="25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文法</a:t>
            </a:r>
            <a:endParaRPr kumimoji="0" lang="en-US" altLang="zh-CN" sz="25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_GB2312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50000"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①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BB</a:t>
            </a: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50000"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 panose="02010600030101010101" pitchFamily="2" charset="-122"/>
                <a:ea typeface="Simsun" panose="02010600030101010101" pitchFamily="2" charset="-122"/>
                <a:cs typeface="+mn-cs"/>
              </a:rPr>
              <a:t>②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aB</a:t>
            </a: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50000"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③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80FF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82949" name="Rectangle 3"/>
          <p:cNvSpPr>
            <a:spLocks noGrp="1" noChangeArrowheads="1"/>
          </p:cNvSpPr>
          <p:nvPr>
            <p:ph idx="1"/>
          </p:nvPr>
        </p:nvSpPr>
        <p:spPr>
          <a:xfrm>
            <a:off x="4211638" y="3721100"/>
            <a:ext cx="3671887" cy="1082675"/>
          </a:xfrm>
        </p:spPr>
        <p:txBody>
          <a:bodyPr lIns="92075" tIns="46038" rIns="92075" bIns="46038"/>
          <a:lstStyle/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lang="zh-CN" altLang="en-US" sz="3000" b="1">
                <a:solidFill>
                  <a:srgbClr val="2D83F4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栈    剩余输入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$</a:t>
            </a:r>
            <a:r>
              <a:rPr lang="zh-CN" altLang="en-US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</a:t>
            </a:r>
            <a:r>
              <a:rPr lang="en-US" altLang="zh-CN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  </a:t>
            </a:r>
            <a:r>
              <a:rPr lang="en-US" altLang="zh-CN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$</a:t>
            </a:r>
            <a:endParaRPr lang="en-US" altLang="zh-CN" b="1" i="1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600"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600"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4427538" y="4443413"/>
            <a:ext cx="3571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4449763" y="4125913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14" name="Group 18"/>
          <p:cNvGraphicFramePr>
            <a:graphicFrameLocks noGrp="1"/>
          </p:cNvGraphicFramePr>
          <p:nvPr/>
        </p:nvGraphicFramePr>
        <p:xfrm>
          <a:off x="4214813" y="123825"/>
          <a:ext cx="4318000" cy="3603666"/>
        </p:xfrm>
        <a:graphic>
          <a:graphicData uri="http://schemas.openxmlformats.org/drawingml/2006/table">
            <a:tbl>
              <a:tblPr/>
              <a:tblGrid>
                <a:gridCol w="928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1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  <a:cs typeface="Times New Roman" pitchFamily="18" charset="0"/>
                        </a:rPr>
                        <a:t>状态</a:t>
                      </a:r>
                    </a:p>
                  </a:txBody>
                  <a:tcPr marL="91447" marR="91447" marT="34257" marB="3425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ACTION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GOTO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78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$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S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3020" name="矩形 9"/>
          <p:cNvSpPr>
            <a:spLocks noChangeArrowheads="1"/>
          </p:cNvSpPr>
          <p:nvPr/>
        </p:nvSpPr>
        <p:spPr bwMode="auto">
          <a:xfrm>
            <a:off x="842963" y="4543425"/>
            <a:ext cx="2033587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输入 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b  a   b</a:t>
            </a:r>
            <a:endParaRPr kumimoji="0" lang="en-US" altLang="zh-CN" sz="25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83021" name="Group 78"/>
          <p:cNvGrpSpPr>
            <a:grpSpLocks/>
          </p:cNvGrpSpPr>
          <p:nvPr/>
        </p:nvGrpSpPr>
        <p:grpSpPr bwMode="auto">
          <a:xfrm>
            <a:off x="1835150" y="3994150"/>
            <a:ext cx="357188" cy="557213"/>
            <a:chOff x="975" y="3041"/>
            <a:chExt cx="225" cy="741"/>
          </a:xfrm>
        </p:grpSpPr>
        <p:sp>
          <p:nvSpPr>
            <p:cNvPr id="83033" name="Line 79"/>
            <p:cNvSpPr>
              <a:spLocks noChangeShapeType="1"/>
            </p:cNvSpPr>
            <p:nvPr/>
          </p:nvSpPr>
          <p:spPr bwMode="auto">
            <a:xfrm flipH="1" flipV="1">
              <a:off x="1066" y="3543"/>
              <a:ext cx="0" cy="2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034" name="Rectangle 80"/>
            <p:cNvSpPr>
              <a:spLocks noChangeArrowheads="1"/>
            </p:cNvSpPr>
            <p:nvPr/>
          </p:nvSpPr>
          <p:spPr bwMode="auto">
            <a:xfrm>
              <a:off x="975" y="3041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  <a:buFont typeface="Monotype Sorts"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</p:grpSp>
      <p:grpSp>
        <p:nvGrpSpPr>
          <p:cNvPr id="83022" name="Group 78"/>
          <p:cNvGrpSpPr>
            <a:grpSpLocks/>
          </p:cNvGrpSpPr>
          <p:nvPr/>
        </p:nvGrpSpPr>
        <p:grpSpPr bwMode="auto">
          <a:xfrm>
            <a:off x="2555875" y="4032250"/>
            <a:ext cx="357188" cy="555625"/>
            <a:chOff x="975" y="3041"/>
            <a:chExt cx="225" cy="741"/>
          </a:xfrm>
        </p:grpSpPr>
        <p:sp>
          <p:nvSpPr>
            <p:cNvPr id="83031" name="Line 79"/>
            <p:cNvSpPr>
              <a:spLocks noChangeShapeType="1"/>
            </p:cNvSpPr>
            <p:nvPr/>
          </p:nvSpPr>
          <p:spPr bwMode="auto">
            <a:xfrm flipH="1" flipV="1">
              <a:off x="1066" y="3543"/>
              <a:ext cx="0" cy="2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032" name="Rectangle 80"/>
            <p:cNvSpPr>
              <a:spLocks noChangeArrowheads="1"/>
            </p:cNvSpPr>
            <p:nvPr/>
          </p:nvSpPr>
          <p:spPr bwMode="auto">
            <a:xfrm>
              <a:off x="975" y="3041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  <a:buFont typeface="Monotype Sorts"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</p:grpSp>
      <p:grpSp>
        <p:nvGrpSpPr>
          <p:cNvPr id="83023" name="Group 84"/>
          <p:cNvGrpSpPr>
            <a:grpSpLocks/>
          </p:cNvGrpSpPr>
          <p:nvPr/>
        </p:nvGrpSpPr>
        <p:grpSpPr bwMode="auto">
          <a:xfrm>
            <a:off x="2174875" y="3524250"/>
            <a:ext cx="525463" cy="1063625"/>
            <a:chOff x="1292" y="2662"/>
            <a:chExt cx="331" cy="1417"/>
          </a:xfrm>
        </p:grpSpPr>
        <p:sp>
          <p:nvSpPr>
            <p:cNvPr id="83028" name="Line 68"/>
            <p:cNvSpPr>
              <a:spLocks noChangeShapeType="1"/>
            </p:cNvSpPr>
            <p:nvPr/>
          </p:nvSpPr>
          <p:spPr bwMode="auto">
            <a:xfrm flipH="1" flipV="1">
              <a:off x="1404" y="3123"/>
              <a:ext cx="219" cy="2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029" name="Line 69"/>
            <p:cNvSpPr>
              <a:spLocks noChangeShapeType="1"/>
            </p:cNvSpPr>
            <p:nvPr/>
          </p:nvSpPr>
          <p:spPr bwMode="auto">
            <a:xfrm flipH="1" flipV="1">
              <a:off x="1374" y="3184"/>
              <a:ext cx="8" cy="89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030" name="Rectangle 71"/>
            <p:cNvSpPr>
              <a:spLocks noChangeArrowheads="1"/>
            </p:cNvSpPr>
            <p:nvPr/>
          </p:nvSpPr>
          <p:spPr bwMode="auto">
            <a:xfrm>
              <a:off x="1292" y="2662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  <a:buFont typeface="Monotype Sorts"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</p:grpSp>
      <p:grpSp>
        <p:nvGrpSpPr>
          <p:cNvPr id="5" name="Group 84"/>
          <p:cNvGrpSpPr>
            <a:grpSpLocks/>
          </p:cNvGrpSpPr>
          <p:nvPr/>
        </p:nvGrpSpPr>
        <p:grpSpPr bwMode="auto">
          <a:xfrm>
            <a:off x="1906588" y="3076575"/>
            <a:ext cx="328612" cy="857250"/>
            <a:chOff x="1292" y="2662"/>
            <a:chExt cx="207" cy="1142"/>
          </a:xfrm>
        </p:grpSpPr>
        <p:sp>
          <p:nvSpPr>
            <p:cNvPr id="83025" name="Line 68"/>
            <p:cNvSpPr>
              <a:spLocks noChangeShapeType="1"/>
            </p:cNvSpPr>
            <p:nvPr/>
          </p:nvSpPr>
          <p:spPr bwMode="auto">
            <a:xfrm flipH="1" flipV="1">
              <a:off x="1404" y="3123"/>
              <a:ext cx="95" cy="1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026" name="Line 69"/>
            <p:cNvSpPr>
              <a:spLocks noChangeShapeType="1"/>
            </p:cNvSpPr>
            <p:nvPr/>
          </p:nvSpPr>
          <p:spPr bwMode="auto">
            <a:xfrm flipV="1">
              <a:off x="1347" y="3184"/>
              <a:ext cx="27" cy="6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027" name="Rectangle 71"/>
            <p:cNvSpPr>
              <a:spLocks noChangeArrowheads="1"/>
            </p:cNvSpPr>
            <p:nvPr/>
          </p:nvSpPr>
          <p:spPr bwMode="auto">
            <a:xfrm>
              <a:off x="1292" y="2662"/>
              <a:ext cx="207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  <a:buFont typeface="Monotype Sorts"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8097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分析器的工作过程</a:t>
            </a:r>
            <a:endParaRPr lang="zh-CN" altLang="en-US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/>
            </a:endParaRP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590550" y="2928938"/>
            <a:ext cx="7267575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①</a:t>
            </a:r>
            <a:r>
              <a:rPr kumimoji="1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如果</a:t>
            </a:r>
            <a:r>
              <a:rPr kumimoji="1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ACTION [</a:t>
            </a:r>
            <a:r>
              <a:rPr kumimoji="1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5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 </a:t>
            </a:r>
            <a:r>
              <a:rPr kumimoji="1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5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]= s</a:t>
            </a:r>
            <a:r>
              <a:rPr kumimoji="1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</a:t>
            </a:r>
            <a:r>
              <a:rPr kumimoji="1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那么格局变为：</a:t>
            </a:r>
          </a:p>
        </p:txBody>
      </p:sp>
      <p:sp>
        <p:nvSpPr>
          <p:cNvPr id="5" name="矩形 4"/>
          <p:cNvSpPr/>
          <p:nvPr/>
        </p:nvSpPr>
        <p:spPr>
          <a:xfrm>
            <a:off x="2686050" y="3378200"/>
            <a:ext cx="3757613" cy="8112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 </a:t>
            </a:r>
            <a:r>
              <a:rPr kumimoji="1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5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endParaRPr kumimoji="1" lang="en-US" altLang="zh-CN" sz="25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$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</a:t>
            </a:r>
            <a:r>
              <a:rPr kumimoji="1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5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5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 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i+</a:t>
            </a:r>
            <a:r>
              <a:rPr kumimoji="1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…a</a:t>
            </a:r>
            <a:r>
              <a:rPr kumimoji="1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$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428625" y="798513"/>
            <a:ext cx="8001000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初始化</a:t>
            </a: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466725" y="1643063"/>
            <a:ext cx="8534400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一般情况下</a:t>
            </a:r>
          </a:p>
        </p:txBody>
      </p:sp>
      <p:sp>
        <p:nvSpPr>
          <p:cNvPr id="15" name="矩形 14"/>
          <p:cNvSpPr/>
          <p:nvPr/>
        </p:nvSpPr>
        <p:spPr>
          <a:xfrm>
            <a:off x="2686050" y="1022350"/>
            <a:ext cx="3757613" cy="685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$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                         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…a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$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686050" y="1885950"/>
            <a:ext cx="3757613" cy="685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 </a:t>
            </a:r>
            <a:r>
              <a:rPr kumimoji="1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4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endParaRPr kumimoji="1" lang="en-US" altLang="zh-CN" sz="800" b="1" i="1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$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</a:t>
            </a:r>
            <a:r>
              <a:rPr kumimoji="1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4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  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i+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…a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$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087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allAtOnce" autoUpdateAnimBg="0"/>
      <p:bldP spid="5" grpId="0" animBg="1"/>
      <p:bldP spid="5" grpId="1" animBg="1"/>
      <p:bldP spid="13" grpId="0"/>
      <p:bldP spid="14" grpId="0"/>
      <p:bldP spid="15" grpId="0" animBg="1"/>
      <p:bldP spid="16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262" name="Text Box 6"/>
          <p:cNvSpPr txBox="1">
            <a:spLocks noChangeArrowheads="1"/>
          </p:cNvSpPr>
          <p:nvPr/>
        </p:nvSpPr>
        <p:spPr bwMode="auto">
          <a:xfrm>
            <a:off x="684213" y="2643188"/>
            <a:ext cx="8316912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②</a:t>
            </a:r>
            <a:r>
              <a:rPr kumimoji="1" lang="zh-CN" altLang="en-US" sz="2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如果</a:t>
            </a:r>
            <a:r>
              <a:rPr kumimoji="1" lang="en-US" altLang="zh-CN" sz="2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ACTION</a:t>
            </a:r>
            <a:r>
              <a:rPr kumimoji="1" lang="en-US" altLang="zh-CN" sz="2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1" lang="en-US" altLang="zh-CN" sz="23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3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 </a:t>
            </a:r>
            <a:r>
              <a:rPr kumimoji="1" lang="en-US" altLang="zh-CN" sz="2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 </a:t>
            </a:r>
            <a:r>
              <a:rPr kumimoji="1" lang="en-US" altLang="zh-CN" sz="23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3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]= rx </a:t>
            </a:r>
            <a:r>
              <a:rPr kumimoji="1" lang="zh-CN" altLang="en-US" sz="2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表示用第</a:t>
            </a:r>
            <a:r>
              <a:rPr kumimoji="1" lang="en-US" altLang="zh-CN" sz="23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x</a:t>
            </a:r>
            <a:r>
              <a:rPr kumimoji="1" lang="zh-CN" altLang="en-US" sz="2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个产生式</a:t>
            </a:r>
            <a:r>
              <a:rPr kumimoji="1" lang="en-US" altLang="zh-CN" sz="23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A</a:t>
            </a:r>
            <a:r>
              <a:rPr kumimoji="1" lang="en-US" altLang="zh-CN" sz="2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1" lang="en-US" altLang="zh-CN" sz="23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X</a:t>
            </a:r>
            <a:r>
              <a:rPr kumimoji="1" lang="en-US" altLang="zh-CN" sz="23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m</a:t>
            </a:r>
            <a:r>
              <a:rPr kumimoji="1" lang="en-US" altLang="zh-CN" sz="23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-(</a:t>
            </a:r>
            <a:r>
              <a:rPr kumimoji="1" lang="en-US" altLang="zh-CN" sz="23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k</a:t>
            </a:r>
            <a:r>
              <a:rPr kumimoji="1" lang="en-US" altLang="zh-CN" sz="23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-1)</a:t>
            </a:r>
            <a:r>
              <a:rPr kumimoji="1" lang="en-US" altLang="zh-CN" sz="2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…</a:t>
            </a:r>
            <a:r>
              <a:rPr kumimoji="1" lang="en-US" altLang="zh-CN" sz="23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X</a:t>
            </a:r>
            <a:r>
              <a:rPr kumimoji="1" lang="en-US" altLang="zh-CN" sz="23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m    </a:t>
            </a:r>
            <a:r>
              <a:rPr kumimoji="1" lang="en-US" altLang="zh-CN" sz="23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3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   </a:t>
            </a:r>
            <a:r>
              <a:rPr kumimoji="1" lang="zh-CN" altLang="en-US" sz="2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进行归约，那么格局变为：</a:t>
            </a:r>
            <a:endParaRPr kumimoji="1" lang="zh-CN" altLang="en-US" sz="2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864263" name="Text Box 7"/>
          <p:cNvSpPr txBox="1">
            <a:spLocks noChangeArrowheads="1"/>
          </p:cNvSpPr>
          <p:nvPr/>
        </p:nvSpPr>
        <p:spPr bwMode="auto">
          <a:xfrm>
            <a:off x="4937125" y="3160713"/>
            <a:ext cx="3757613" cy="6937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1" lang="zh-CN" altLang="en-US" sz="25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 </a:t>
            </a:r>
            <a:r>
              <a:rPr kumimoji="1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5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-k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$ 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</a:t>
            </a:r>
            <a:r>
              <a:rPr kumimoji="1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5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-k 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1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5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zh-CN" altLang="en-US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i+</a:t>
            </a:r>
            <a:r>
              <a:rPr kumimoji="1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…a</a:t>
            </a:r>
            <a:r>
              <a:rPr kumimoji="1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$</a:t>
            </a:r>
            <a:endParaRPr kumimoji="1" lang="en-US" altLang="zh-CN" sz="25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4264" name="Text Box 8"/>
          <p:cNvSpPr txBox="1">
            <a:spLocks noChangeArrowheads="1"/>
          </p:cNvSpPr>
          <p:nvPr/>
        </p:nvSpPr>
        <p:spPr bwMode="auto">
          <a:xfrm>
            <a:off x="938213" y="3940175"/>
            <a:ext cx="8818562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zh-CN" altLang="en-US" sz="2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如果</a:t>
            </a:r>
            <a:r>
              <a:rPr kumimoji="1" lang="en-US" altLang="zh-CN" sz="2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GOTO[</a:t>
            </a:r>
            <a:r>
              <a:rPr kumimoji="1" lang="en-US" altLang="zh-CN" sz="23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3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kumimoji="1" lang="en-US" altLang="zh-CN" sz="23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en-US" altLang="zh-CN" sz="23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 </a:t>
            </a:r>
            <a:r>
              <a:rPr kumimoji="1" lang="en-US" altLang="zh-CN" sz="2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sz="23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]=</a:t>
            </a:r>
            <a:r>
              <a:rPr kumimoji="1" lang="en-US" altLang="zh-CN" sz="23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kumimoji="1" lang="zh-CN" altLang="en-US" sz="2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，那么格局变为：</a:t>
            </a:r>
            <a:endParaRPr kumimoji="1" lang="en-US" altLang="zh-CN" sz="2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704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分析器的工作过程</a:t>
            </a:r>
            <a:endParaRPr lang="zh-CN" altLang="en-US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/>
            </a:endParaRPr>
          </a:p>
        </p:txBody>
      </p:sp>
      <p:sp>
        <p:nvSpPr>
          <p:cNvPr id="87046" name="Text Box 3"/>
          <p:cNvSpPr txBox="1">
            <a:spLocks noChangeArrowheads="1"/>
          </p:cNvSpPr>
          <p:nvPr/>
        </p:nvSpPr>
        <p:spPr bwMode="auto">
          <a:xfrm>
            <a:off x="428625" y="798513"/>
            <a:ext cx="8001000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初始化</a:t>
            </a:r>
          </a:p>
        </p:txBody>
      </p:sp>
      <p:sp>
        <p:nvSpPr>
          <p:cNvPr id="87047" name="Text Box 4"/>
          <p:cNvSpPr txBox="1">
            <a:spLocks noChangeArrowheads="1"/>
          </p:cNvSpPr>
          <p:nvPr/>
        </p:nvSpPr>
        <p:spPr bwMode="auto">
          <a:xfrm>
            <a:off x="466725" y="1643063"/>
            <a:ext cx="8534400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一般情况下</a:t>
            </a:r>
          </a:p>
        </p:txBody>
      </p:sp>
      <p:sp>
        <p:nvSpPr>
          <p:cNvPr id="2" name="矩形 1"/>
          <p:cNvSpPr/>
          <p:nvPr/>
        </p:nvSpPr>
        <p:spPr>
          <a:xfrm>
            <a:off x="2686050" y="1022350"/>
            <a:ext cx="3757613" cy="685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$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                         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…a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$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686050" y="1885950"/>
            <a:ext cx="3757613" cy="685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 </a:t>
            </a:r>
            <a:r>
              <a:rPr kumimoji="1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4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endParaRPr kumimoji="1" lang="en-US" altLang="zh-CN" sz="800" b="1" i="1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$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</a:t>
            </a:r>
            <a:r>
              <a:rPr kumimoji="1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4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  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i+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…a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$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937125" y="4427538"/>
            <a:ext cx="3757613" cy="6826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5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… </a:t>
            </a:r>
            <a:r>
              <a:rPr kumimoji="1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5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kumimoji="1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-k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y</a:t>
            </a:r>
            <a:r>
              <a:rPr kumimoji="1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$ 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kumimoji="1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5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kumimoji="1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-k 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kumimoji="1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5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i+</a:t>
            </a:r>
            <a:r>
              <a:rPr kumimoji="1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…a</a:t>
            </a:r>
            <a:r>
              <a:rPr kumimoji="1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$</a:t>
            </a:r>
            <a:endParaRPr kumimoji="1" lang="en-US" altLang="zh-CN" sz="25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625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64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64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64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642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642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64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642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642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64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864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864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8642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8642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8642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8642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4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8642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8642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8642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4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4262" grpId="0"/>
      <p:bldP spid="864262" grpId="1"/>
      <p:bldP spid="864263" grpId="0" animBg="1"/>
      <p:bldP spid="864263" grpId="1" animBg="1"/>
      <p:bldP spid="864264" grpId="0"/>
      <p:bldP spid="864264" grpId="1"/>
      <p:bldP spid="4" grpId="0" animBg="1"/>
      <p:bldP spid="4" grpId="1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360" name="Rectangle 8"/>
          <p:cNvSpPr>
            <a:spLocks noGrp="1" noChangeArrowheads="1"/>
          </p:cNvSpPr>
          <p:nvPr>
            <p:ph idx="1"/>
          </p:nvPr>
        </p:nvSpPr>
        <p:spPr>
          <a:xfrm>
            <a:off x="657225" y="2928938"/>
            <a:ext cx="7772400" cy="1433512"/>
          </a:xfrm>
        </p:spPr>
        <p:txBody>
          <a:bodyPr/>
          <a:lstStyle/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kumimoji="1" lang="en-US" altLang="zh-CN" sz="25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③</a:t>
            </a:r>
            <a:r>
              <a:rPr kumimoji="1" lang="zh-CN" altLang="en-US" sz="2500" b="1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如果</a:t>
            </a:r>
            <a:r>
              <a:rPr kumimoji="1" lang="en-US" altLang="zh-CN" sz="2300" b="1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ACTION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kumimoji="1" lang="en-US" altLang="zh-CN" sz="2500" b="1" i="1" baseline="-25000">
                <a:solidFill>
                  <a:schemeClr val="tx1"/>
                </a:solidFill>
                <a:cs typeface="Times New Roman" panose="02020603050405020304" pitchFamily="18" charset="0"/>
              </a:rPr>
              <a:t>m 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, 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a</a:t>
            </a:r>
            <a:r>
              <a:rPr kumimoji="1" lang="en-US" altLang="zh-CN" sz="2500" b="1" i="1" baseline="-25000">
                <a:solidFill>
                  <a:schemeClr val="tx1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]=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acc</a:t>
            </a:r>
            <a:r>
              <a:rPr lang="zh-CN" altLang="en-US" sz="25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1" lang="zh-CN" altLang="en-US" sz="2500" b="1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那么分析成功</a:t>
            </a:r>
          </a:p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kumimoji="1" lang="en-US" altLang="zh-CN" sz="2500" b="1">
                <a:solidFill>
                  <a:schemeClr val="tx1"/>
                </a:solidFill>
                <a:cs typeface="Times New Roman" panose="02020603050405020304" pitchFamily="18" charset="0"/>
              </a:rPr>
              <a:t>④</a:t>
            </a:r>
            <a:r>
              <a:rPr kumimoji="1" lang="zh-CN" altLang="en-US" sz="2500" b="1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如果</a:t>
            </a:r>
            <a:r>
              <a:rPr kumimoji="1" lang="en-US" altLang="zh-CN" sz="2300" b="1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ACTION</a:t>
            </a:r>
            <a:r>
              <a:rPr lang="en-US" altLang="zh-CN" sz="2500" b="1">
                <a:solidFill>
                  <a:schemeClr val="tx1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kumimoji="1" lang="en-US" altLang="zh-CN" sz="2500" b="1" i="1" baseline="-25000">
                <a:solidFill>
                  <a:schemeClr val="tx1"/>
                </a:solidFill>
                <a:cs typeface="Times New Roman" panose="02020603050405020304" pitchFamily="18" charset="0"/>
              </a:rPr>
              <a:t>m </a:t>
            </a:r>
            <a:r>
              <a:rPr lang="en-US" altLang="zh-CN" sz="2500" b="1">
                <a:solidFill>
                  <a:schemeClr val="tx1"/>
                </a:solidFill>
                <a:cs typeface="Times New Roman" panose="02020603050405020304" pitchFamily="18" charset="0"/>
              </a:rPr>
              <a:t>, 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kumimoji="1" lang="en-US" altLang="zh-CN" sz="2500" b="1" i="1" baseline="-25000">
                <a:solidFill>
                  <a:schemeClr val="tx1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500" b="1">
                <a:solidFill>
                  <a:schemeClr val="tx1"/>
                </a:solidFill>
                <a:cs typeface="Times New Roman" panose="02020603050405020304" pitchFamily="18" charset="0"/>
              </a:rPr>
              <a:t>]=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err</a:t>
            </a:r>
            <a:r>
              <a:rPr lang="zh-CN" altLang="en-US" sz="25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 ，</a:t>
            </a:r>
            <a:r>
              <a:rPr kumimoji="1" lang="zh-CN" altLang="en-US" sz="2500" b="1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那么出现语法错误</a:t>
            </a:r>
            <a:endParaRPr kumimoji="1" lang="en-US" altLang="zh-CN" sz="2500" b="1">
              <a:solidFill>
                <a:schemeClr val="tx1"/>
              </a:solidFill>
              <a:latin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9091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分析器的工作过程</a:t>
            </a:r>
            <a:endParaRPr lang="zh-CN" altLang="en-US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/>
            </a:endParaRPr>
          </a:p>
        </p:txBody>
      </p:sp>
      <p:sp>
        <p:nvSpPr>
          <p:cNvPr id="89092" name="Text Box 3"/>
          <p:cNvSpPr txBox="1">
            <a:spLocks noChangeArrowheads="1"/>
          </p:cNvSpPr>
          <p:nvPr/>
        </p:nvSpPr>
        <p:spPr bwMode="auto">
          <a:xfrm>
            <a:off x="428625" y="798513"/>
            <a:ext cx="8001000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初始化</a:t>
            </a:r>
          </a:p>
        </p:txBody>
      </p:sp>
      <p:sp>
        <p:nvSpPr>
          <p:cNvPr id="89093" name="Text Box 4"/>
          <p:cNvSpPr txBox="1">
            <a:spLocks noChangeArrowheads="1"/>
          </p:cNvSpPr>
          <p:nvPr/>
        </p:nvSpPr>
        <p:spPr bwMode="auto">
          <a:xfrm>
            <a:off x="466725" y="1643063"/>
            <a:ext cx="8534400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一般情况下</a:t>
            </a:r>
          </a:p>
        </p:txBody>
      </p:sp>
      <p:sp>
        <p:nvSpPr>
          <p:cNvPr id="8" name="矩形 7"/>
          <p:cNvSpPr/>
          <p:nvPr/>
        </p:nvSpPr>
        <p:spPr>
          <a:xfrm>
            <a:off x="2686050" y="1022350"/>
            <a:ext cx="3757613" cy="685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$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                         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…a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$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686050" y="1885950"/>
            <a:ext cx="3757613" cy="685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 </a:t>
            </a:r>
            <a:r>
              <a:rPr kumimoji="1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4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endParaRPr kumimoji="1" lang="en-US" altLang="zh-CN" sz="800" b="1" i="1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$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</a:t>
            </a:r>
            <a:r>
              <a:rPr kumimoji="1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4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  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i+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…a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$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7103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68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68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68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683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683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683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8360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内容占位符 2"/>
          <p:cNvSpPr>
            <a:spLocks noGrp="1"/>
          </p:cNvSpPr>
          <p:nvPr>
            <p:ph idx="1"/>
          </p:nvPr>
        </p:nvSpPr>
        <p:spPr>
          <a:xfrm>
            <a:off x="-57150" y="714375"/>
            <a:ext cx="9129713" cy="1714500"/>
          </a:xfrm>
        </p:spPr>
        <p:txBody>
          <a:bodyPr/>
          <a:lstStyle/>
          <a:p>
            <a:pPr eaLnBrk="1" hangingPunct="1">
              <a:lnSpc>
                <a:spcPts val="2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1600" b="1">
                <a:solidFill>
                  <a:schemeClr val="tx1"/>
                </a:solidFill>
              </a:rPr>
              <a:t>输入：串</a:t>
            </a:r>
            <a:r>
              <a:rPr lang="en-US" altLang="zh-CN" sz="1600" b="1" i="1">
                <a:solidFill>
                  <a:schemeClr val="tx1"/>
                </a:solidFill>
              </a:rPr>
              <a:t>w</a:t>
            </a:r>
            <a:r>
              <a:rPr lang="zh-CN" altLang="en-US" sz="1600" b="1">
                <a:solidFill>
                  <a:schemeClr val="tx1"/>
                </a:solidFill>
              </a:rPr>
              <a:t>和</a:t>
            </a:r>
            <a:r>
              <a:rPr lang="en-US" altLang="zh-CN" sz="1600" b="1" i="1">
                <a:solidFill>
                  <a:schemeClr val="tx1"/>
                </a:solidFill>
              </a:rPr>
              <a:t>LR</a:t>
            </a:r>
            <a:r>
              <a:rPr lang="zh-CN" altLang="en-US" sz="1600" b="1">
                <a:solidFill>
                  <a:schemeClr val="tx1"/>
                </a:solidFill>
              </a:rPr>
              <a:t>语法分析表，该表描述了文法</a:t>
            </a:r>
            <a:r>
              <a:rPr lang="en-US" altLang="zh-CN" sz="1600" b="1" i="1">
                <a:solidFill>
                  <a:schemeClr val="tx1"/>
                </a:solidFill>
              </a:rPr>
              <a:t>G</a:t>
            </a:r>
            <a:r>
              <a:rPr lang="zh-CN" altLang="en-US" sz="1600" b="1">
                <a:solidFill>
                  <a:schemeClr val="tx1"/>
                </a:solidFill>
              </a:rPr>
              <a:t>的</a:t>
            </a:r>
            <a:r>
              <a:rPr lang="en-US" altLang="zh-CN" sz="1600" b="1">
                <a:solidFill>
                  <a:schemeClr val="tx1"/>
                </a:solidFill>
              </a:rPr>
              <a:t>ACTION</a:t>
            </a:r>
            <a:r>
              <a:rPr lang="zh-CN" altLang="en-US" sz="1600" b="1">
                <a:solidFill>
                  <a:schemeClr val="tx1"/>
                </a:solidFill>
              </a:rPr>
              <a:t>函数和</a:t>
            </a:r>
            <a:r>
              <a:rPr lang="en-US" altLang="zh-CN" sz="1600" b="1">
                <a:solidFill>
                  <a:schemeClr val="tx1"/>
                </a:solidFill>
              </a:rPr>
              <a:t>GOTO</a:t>
            </a:r>
            <a:r>
              <a:rPr lang="zh-CN" altLang="en-US" sz="1600" b="1">
                <a:solidFill>
                  <a:schemeClr val="tx1"/>
                </a:solidFill>
              </a:rPr>
              <a:t>函数。</a:t>
            </a:r>
            <a:r>
              <a:rPr lang="en-US" altLang="zh-CN" sz="1600" b="1">
                <a:solidFill>
                  <a:schemeClr val="tx1"/>
                </a:solidFill>
              </a:rPr>
              <a:t> </a:t>
            </a:r>
          </a:p>
          <a:p>
            <a:pPr eaLnBrk="1" hangingPunct="1">
              <a:lnSpc>
                <a:spcPts val="2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1600" b="1">
                <a:solidFill>
                  <a:schemeClr val="tx1"/>
                </a:solidFill>
              </a:rPr>
              <a:t>输出：如果</a:t>
            </a:r>
            <a:r>
              <a:rPr lang="en-US" altLang="zh-CN" sz="1600" b="1" i="1">
                <a:solidFill>
                  <a:schemeClr val="tx1"/>
                </a:solidFill>
              </a:rPr>
              <a:t>w</a:t>
            </a:r>
            <a:r>
              <a:rPr lang="zh-CN" altLang="en-US" sz="1600" b="1">
                <a:solidFill>
                  <a:schemeClr val="tx1"/>
                </a:solidFill>
              </a:rPr>
              <a:t>在</a:t>
            </a:r>
            <a:r>
              <a:rPr lang="en-US" altLang="zh-CN" sz="1600" b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L</a:t>
            </a:r>
            <a:r>
              <a:rPr lang="en-US" altLang="zh-CN" sz="1600" b="1">
                <a:solidFill>
                  <a:schemeClr val="tx1"/>
                </a:solidFill>
              </a:rPr>
              <a:t>(</a:t>
            </a:r>
            <a:r>
              <a:rPr lang="en-US" altLang="zh-CN" sz="1600" b="1" i="1">
                <a:solidFill>
                  <a:schemeClr val="tx1"/>
                </a:solidFill>
              </a:rPr>
              <a:t>G</a:t>
            </a:r>
            <a:r>
              <a:rPr lang="en-US" altLang="zh-CN" sz="1600" b="1">
                <a:solidFill>
                  <a:schemeClr val="tx1"/>
                </a:solidFill>
              </a:rPr>
              <a:t>)</a:t>
            </a:r>
            <a:r>
              <a:rPr lang="zh-CN" altLang="en-US" sz="1600" b="1">
                <a:solidFill>
                  <a:schemeClr val="tx1"/>
                </a:solidFill>
              </a:rPr>
              <a:t>中，则输出</a:t>
            </a:r>
            <a:r>
              <a:rPr lang="en-US" altLang="zh-CN" sz="1600" b="1" i="1">
                <a:solidFill>
                  <a:schemeClr val="tx1"/>
                </a:solidFill>
              </a:rPr>
              <a:t>w</a:t>
            </a:r>
            <a:r>
              <a:rPr lang="zh-CN" altLang="en-US" sz="1600" b="1">
                <a:solidFill>
                  <a:schemeClr val="tx1"/>
                </a:solidFill>
              </a:rPr>
              <a:t>的自底向上语法分析过程中的归约步骤；否则给出一个错误指示。</a:t>
            </a:r>
            <a:endParaRPr lang="en-US" altLang="zh-CN" sz="1600" b="1">
              <a:solidFill>
                <a:schemeClr val="tx1"/>
              </a:solidFill>
            </a:endParaRPr>
          </a:p>
          <a:p>
            <a:pPr eaLnBrk="1" hangingPunct="1">
              <a:lnSpc>
                <a:spcPts val="2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1600" b="1">
                <a:solidFill>
                  <a:schemeClr val="tx1"/>
                </a:solidFill>
              </a:rPr>
              <a:t>方法：初始时，语法分析器栈中的内容为初始状态</a:t>
            </a:r>
            <a:r>
              <a:rPr lang="en-US" altLang="zh-CN" sz="1600" b="1" i="1">
                <a:solidFill>
                  <a:schemeClr val="tx1"/>
                </a:solidFill>
              </a:rPr>
              <a:t>s</a:t>
            </a:r>
            <a:r>
              <a:rPr lang="en-US" altLang="zh-CN" sz="1600" b="1" baseline="-25000">
                <a:solidFill>
                  <a:schemeClr val="tx1"/>
                </a:solidFill>
              </a:rPr>
              <a:t>0</a:t>
            </a:r>
            <a:r>
              <a:rPr lang="zh-CN" altLang="en-US" sz="1600" b="1">
                <a:solidFill>
                  <a:schemeClr val="tx1"/>
                </a:solidFill>
              </a:rPr>
              <a:t>，输入缓冲区中的内容为</a:t>
            </a:r>
            <a:r>
              <a:rPr lang="en-US" altLang="zh-CN" sz="1600" b="1" i="1">
                <a:solidFill>
                  <a:schemeClr val="tx1"/>
                </a:solidFill>
              </a:rPr>
              <a:t>w</a:t>
            </a:r>
            <a:r>
              <a:rPr lang="en-US" altLang="zh-CN" sz="1600" b="1">
                <a:solidFill>
                  <a:schemeClr val="tx1"/>
                </a:solidFill>
              </a:rPr>
              <a:t>$</a:t>
            </a:r>
            <a:r>
              <a:rPr lang="zh-CN" altLang="en-US" sz="1600" b="1">
                <a:solidFill>
                  <a:schemeClr val="tx1"/>
                </a:solidFill>
              </a:rPr>
              <a:t>。然后，语法分析器执行下面的程序：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LR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分析算法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楷体_GB2312"/>
            </a:endParaRPr>
          </a:p>
        </p:txBody>
      </p:sp>
      <p:sp>
        <p:nvSpPr>
          <p:cNvPr id="8" name="内容占位符 1"/>
          <p:cNvSpPr txBox="1">
            <a:spLocks/>
          </p:cNvSpPr>
          <p:nvPr/>
        </p:nvSpPr>
        <p:spPr bwMode="auto">
          <a:xfrm>
            <a:off x="2500313" y="1714500"/>
            <a:ext cx="6072187" cy="32988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令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a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为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w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$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的第一个符号；</a:t>
            </a: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itchFamily="2" charset="-122"/>
              <a:ea typeface="华文楷体" pitchFamily="2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el-GR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while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(1) { /*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永远重复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*/ </a:t>
            </a: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         令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s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是栈顶的状态；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          if ( ACTION [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s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，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a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]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=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st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) {</a:t>
            </a: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                    将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t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压入栈中；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                   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令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a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为下一个输入符号；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          } else  if (ACTION [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s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，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a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]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=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归约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A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→</a:t>
            </a:r>
            <a:r>
              <a:rPr kumimoji="0" lang="el-GR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β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) {</a:t>
            </a: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                    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从栈中弹出│ </a:t>
            </a:r>
            <a:r>
              <a:rPr kumimoji="0" lang="el-GR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β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│个符号；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华文楷体" pitchFamily="2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                    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将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GOTO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[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t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，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A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]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压入栈中；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                   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输出产生式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A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→</a:t>
            </a:r>
            <a:r>
              <a:rPr kumimoji="0" lang="el-GR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β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；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华文楷体" pitchFamily="2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          } else  if (ACTION [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s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，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a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]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=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接受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) break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；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/*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语法分析完成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*/</a:t>
            </a: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          else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调用错误恢复例程；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</a:t>
            </a: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      }</a:t>
            </a:r>
          </a:p>
        </p:txBody>
      </p:sp>
    </p:spTree>
    <p:extLst>
      <p:ext uri="{BB962C8B-B14F-4D97-AF65-F5344CB8AC3E}">
        <p14:creationId xmlns:p14="http://schemas.microsoft.com/office/powerpoint/2010/main" val="192905978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063" y="857250"/>
            <a:ext cx="5927725" cy="3225800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000" b="1" i="1">
                <a:solidFill>
                  <a:schemeClr val="tx1"/>
                </a:solidFill>
                <a:cs typeface="Times New Roman" pitchFamily="18" charset="0"/>
              </a:rPr>
              <a:t>LR</a:t>
            </a:r>
            <a:r>
              <a:rPr lang="en-US" altLang="zh-CN" sz="3000" b="1">
                <a:solidFill>
                  <a:schemeClr val="tx1"/>
                </a:solidFill>
                <a:cs typeface="Times New Roman" pitchFamily="18" charset="0"/>
              </a:rPr>
              <a:t>(0)</a:t>
            </a:r>
            <a:r>
              <a:rPr lang="zh-CN" altLang="en-US" sz="3000" b="1">
                <a:solidFill>
                  <a:schemeClr val="tx1"/>
                </a:solidFill>
                <a:cs typeface="Times New Roman" pitchFamily="18" charset="0"/>
              </a:rPr>
              <a:t>分析</a:t>
            </a:r>
            <a:endParaRPr lang="en-US" altLang="zh-CN" sz="3000" b="1">
              <a:solidFill>
                <a:schemeClr val="tx1"/>
              </a:solidFill>
              <a:cs typeface="Times New Roman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000" b="1" i="1">
                <a:solidFill>
                  <a:schemeClr val="tx1"/>
                </a:solidFill>
                <a:cs typeface="Times New Roman" pitchFamily="18" charset="0"/>
              </a:rPr>
              <a:t>SLR</a:t>
            </a:r>
            <a:r>
              <a:rPr lang="zh-CN" altLang="en-US" sz="3000" b="1">
                <a:solidFill>
                  <a:schemeClr val="tx1"/>
                </a:solidFill>
                <a:cs typeface="Times New Roman" pitchFamily="18" charset="0"/>
              </a:rPr>
              <a:t>分析</a:t>
            </a:r>
            <a:endParaRPr lang="zh-CN" altLang="zh-CN" sz="3000" b="1">
              <a:solidFill>
                <a:schemeClr val="tx1"/>
              </a:solidFill>
              <a:cs typeface="Times New Roman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000" b="1" i="1">
                <a:solidFill>
                  <a:schemeClr val="tx1"/>
                </a:solidFill>
                <a:cs typeface="Times New Roman" pitchFamily="18" charset="0"/>
              </a:rPr>
              <a:t>LR</a:t>
            </a:r>
            <a:r>
              <a:rPr lang="en-US" altLang="zh-CN" sz="3000" b="1">
                <a:solidFill>
                  <a:schemeClr val="tx1"/>
                </a:solidFill>
                <a:cs typeface="Times New Roman" pitchFamily="18" charset="0"/>
              </a:rPr>
              <a:t>(1)</a:t>
            </a:r>
            <a:r>
              <a:rPr lang="zh-CN" altLang="en-US" sz="3000" b="1">
                <a:solidFill>
                  <a:schemeClr val="tx1"/>
                </a:solidFill>
                <a:cs typeface="Times New Roman" pitchFamily="18" charset="0"/>
              </a:rPr>
              <a:t>分析</a:t>
            </a:r>
            <a:endParaRPr lang="zh-CN" altLang="zh-CN" sz="3000" b="1">
              <a:solidFill>
                <a:schemeClr val="tx1"/>
              </a:solidFill>
              <a:cs typeface="Times New Roman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000" b="1" i="1">
                <a:solidFill>
                  <a:schemeClr val="tx1"/>
                </a:solidFill>
                <a:cs typeface="Times New Roman" pitchFamily="18" charset="0"/>
              </a:rPr>
              <a:t>LALR</a:t>
            </a:r>
            <a:r>
              <a:rPr lang="zh-CN" altLang="en-US" sz="3000" b="1">
                <a:solidFill>
                  <a:schemeClr val="tx1"/>
                </a:solidFill>
                <a:cs typeface="Times New Roman" pitchFamily="18" charset="0"/>
              </a:rPr>
              <a:t>分析</a:t>
            </a:r>
            <a:endParaRPr lang="zh-CN" altLang="zh-CN" sz="3000" b="1">
              <a:solidFill>
                <a:schemeClr val="tx1"/>
              </a:solidFill>
              <a:cs typeface="Times New Roman" pitchFamily="18" charset="0"/>
            </a:endParaRPr>
          </a:p>
          <a:p>
            <a:pPr eaLnBrk="1" hangingPunct="1">
              <a:lnSpc>
                <a:spcPts val="4000"/>
              </a:lnSpc>
              <a:defRPr/>
            </a:pPr>
            <a:endParaRPr lang="zh-CN" altLang="en-US" sz="2800"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/>
              <a:cs typeface="Times New Roman" pitchFamily="18" charset="0"/>
            </a:endParaRPr>
          </a:p>
        </p:txBody>
      </p:sp>
      <p:sp>
        <p:nvSpPr>
          <p:cNvPr id="93187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如何构造给定文法的</a:t>
            </a:r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分析表？</a:t>
            </a:r>
          </a:p>
        </p:txBody>
      </p:sp>
    </p:spTree>
    <p:extLst>
      <p:ext uri="{BB962C8B-B14F-4D97-AF65-F5344CB8AC3E}">
        <p14:creationId xmlns:p14="http://schemas.microsoft.com/office/powerpoint/2010/main" val="93562234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>
          <a:xfrm>
            <a:off x="481013" y="857250"/>
            <a:ext cx="8162925" cy="3225800"/>
          </a:xfrm>
        </p:spPr>
        <p:txBody>
          <a:bodyPr/>
          <a:lstStyle/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 dirty="0">
                <a:solidFill>
                  <a:schemeClr val="tx1"/>
                </a:solidFill>
              </a:rPr>
              <a:t>LR</a:t>
            </a:r>
            <a:r>
              <a:rPr lang="zh-CN" altLang="en-US" sz="2800" b="1" dirty="0">
                <a:solidFill>
                  <a:schemeClr val="tx1"/>
                </a:solidFill>
              </a:rPr>
              <a:t>文法</a:t>
            </a:r>
            <a:r>
              <a:rPr lang="en-US" altLang="zh-CN" sz="2800" b="1" dirty="0">
                <a:solidFill>
                  <a:schemeClr val="tx1"/>
                </a:solidFill>
              </a:rPr>
              <a:t>(</a:t>
            </a:r>
            <a:r>
              <a:rPr lang="en-US" altLang="zh-CN" sz="2800" b="1" i="1" dirty="0">
                <a:solidFill>
                  <a:schemeClr val="tx1"/>
                </a:solidFill>
              </a:rPr>
              <a:t>Knuth</a:t>
            </a:r>
            <a:r>
              <a:rPr lang="en-US" altLang="zh-CN" sz="2800" b="1" dirty="0">
                <a:solidFill>
                  <a:schemeClr val="tx1"/>
                </a:solidFill>
              </a:rPr>
              <a:t>, 1963)</a:t>
            </a:r>
            <a:r>
              <a:rPr lang="zh-CN" altLang="en-US" sz="2800" b="1" dirty="0">
                <a:solidFill>
                  <a:schemeClr val="tx1"/>
                </a:solidFill>
              </a:rPr>
              <a:t> 是最大的、可以构造出相应</a:t>
            </a:r>
            <a:r>
              <a:rPr lang="zh-CN" altLang="en-US" sz="2800" b="1" dirty="0">
                <a:solidFill>
                  <a:srgbClr val="2D83F4"/>
                </a:solidFill>
              </a:rPr>
              <a:t>移入</a:t>
            </a:r>
            <a:r>
              <a:rPr lang="en-US" altLang="zh-CN" sz="2800" b="1" dirty="0">
                <a:solidFill>
                  <a:srgbClr val="2D83F4"/>
                </a:solidFill>
              </a:rPr>
              <a:t>-</a:t>
            </a:r>
            <a:r>
              <a:rPr lang="zh-CN" altLang="en-US" sz="2800" b="1" dirty="0">
                <a:solidFill>
                  <a:srgbClr val="2D83F4"/>
                </a:solidFill>
              </a:rPr>
              <a:t>归约语法分析器</a:t>
            </a:r>
            <a:r>
              <a:rPr lang="zh-CN" altLang="en-US" sz="2800" b="1" dirty="0">
                <a:solidFill>
                  <a:schemeClr val="tx1"/>
                </a:solidFill>
              </a:rPr>
              <a:t>的文法类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: </a:t>
            </a:r>
            <a:r>
              <a:rPr lang="zh-CN" altLang="en-US" sz="2500" b="1" dirty="0">
                <a:solidFill>
                  <a:schemeClr val="tx1"/>
                </a:solidFill>
              </a:rPr>
              <a:t>对输入进行从</a:t>
            </a:r>
            <a:r>
              <a:rPr lang="zh-CN" altLang="en-US" sz="2500" b="1" dirty="0">
                <a:solidFill>
                  <a:srgbClr val="2D83F4"/>
                </a:solidFill>
              </a:rPr>
              <a:t>左</a:t>
            </a:r>
            <a:r>
              <a:rPr lang="zh-CN" altLang="en-US" sz="2500" b="1" dirty="0">
                <a:solidFill>
                  <a:schemeClr val="tx1"/>
                </a:solidFill>
              </a:rPr>
              <a:t>到右的扫描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 dirty="0">
                <a:solidFill>
                  <a:schemeClr val="tx1"/>
                </a:solidFill>
              </a:rPr>
              <a:t>R</a:t>
            </a:r>
            <a:r>
              <a:rPr lang="en-US" altLang="zh-CN" sz="2500" b="1" dirty="0">
                <a:solidFill>
                  <a:schemeClr val="tx1"/>
                </a:solidFill>
              </a:rPr>
              <a:t>: </a:t>
            </a:r>
            <a:r>
              <a:rPr lang="zh-CN" altLang="en-US" sz="2500" b="1" dirty="0">
                <a:solidFill>
                  <a:schemeClr val="tx1"/>
                </a:solidFill>
              </a:rPr>
              <a:t>反向构造出一个最</a:t>
            </a:r>
            <a:r>
              <a:rPr lang="zh-CN" altLang="en-US" sz="2500" b="1" dirty="0">
                <a:solidFill>
                  <a:srgbClr val="2D83F4"/>
                </a:solidFill>
              </a:rPr>
              <a:t>右</a:t>
            </a:r>
            <a:r>
              <a:rPr lang="zh-CN" altLang="en-US" sz="2500" b="1" dirty="0">
                <a:solidFill>
                  <a:schemeClr val="tx1"/>
                </a:solidFill>
              </a:rPr>
              <a:t>推导序列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 dirty="0">
                <a:solidFill>
                  <a:schemeClr val="tx1"/>
                </a:solidFill>
              </a:rPr>
              <a:t>LR</a:t>
            </a:r>
            <a:r>
              <a:rPr lang="en-US" altLang="zh-CN" sz="2800" b="1" dirty="0">
                <a:solidFill>
                  <a:schemeClr val="tx1"/>
                </a:solidFill>
              </a:rPr>
              <a:t>(</a:t>
            </a:r>
            <a:r>
              <a:rPr lang="en-US" altLang="zh-CN" sz="2800" b="1" i="1" dirty="0">
                <a:solidFill>
                  <a:schemeClr val="tx1"/>
                </a:solidFill>
              </a:rPr>
              <a:t>k</a:t>
            </a:r>
            <a:r>
              <a:rPr lang="en-US" altLang="zh-CN" sz="2800" b="1" dirty="0">
                <a:solidFill>
                  <a:schemeClr val="tx1"/>
                </a:solidFill>
              </a:rPr>
              <a:t>)</a:t>
            </a:r>
            <a:r>
              <a:rPr lang="zh-CN" altLang="en-US" sz="2800" b="1" dirty="0">
                <a:solidFill>
                  <a:schemeClr val="tx1"/>
                </a:solidFill>
              </a:rPr>
              <a:t>分析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</a:rPr>
              <a:t>需要向前查看</a:t>
            </a:r>
            <a:r>
              <a:rPr lang="en-US" altLang="zh-CN" sz="2500" b="1" i="1" dirty="0">
                <a:solidFill>
                  <a:schemeClr val="tx1"/>
                </a:solidFill>
              </a:rPr>
              <a:t>k</a:t>
            </a:r>
            <a:r>
              <a:rPr lang="zh-CN" altLang="en-US" sz="2500" b="1" dirty="0">
                <a:solidFill>
                  <a:schemeClr val="tx1"/>
                </a:solidFill>
              </a:rPr>
              <a:t>个输入符号的</a:t>
            </a:r>
            <a:r>
              <a:rPr lang="en-US" altLang="zh-CN" sz="2400" b="1" i="1" dirty="0">
                <a:solidFill>
                  <a:schemeClr val="tx1"/>
                </a:solidFill>
              </a:rPr>
              <a:t>LR</a:t>
            </a:r>
            <a:r>
              <a:rPr lang="zh-CN" altLang="en-US" sz="2400" b="1" dirty="0">
                <a:solidFill>
                  <a:schemeClr val="tx1"/>
                </a:solidFill>
              </a:rPr>
              <a:t>分析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endParaRPr lang="en-US" altLang="zh-CN" sz="2500" b="1" dirty="0">
              <a:solidFill>
                <a:schemeClr val="tx1"/>
              </a:solidFill>
              <a:latin typeface="楷体_GB2312"/>
              <a:ea typeface="楷体_GB2312"/>
              <a:cs typeface="楷体_GB2312"/>
            </a:endParaRPr>
          </a:p>
          <a:p>
            <a:pPr lvl="1" eaLnBrk="1" hangingPunct="1">
              <a:lnSpc>
                <a:spcPct val="120000"/>
              </a:lnSpc>
            </a:pPr>
            <a:endParaRPr lang="zh-CN" altLang="en-US" dirty="0">
              <a:latin typeface="楷体_GB2312"/>
              <a:ea typeface="楷体_GB2312"/>
              <a:cs typeface="楷体_GB2312"/>
            </a:endParaRPr>
          </a:p>
          <a:p>
            <a:pPr eaLnBrk="1" hangingPunct="1"/>
            <a:endParaRPr lang="zh-CN" altLang="en-US" dirty="0"/>
          </a:p>
        </p:txBody>
      </p:sp>
      <p:sp>
        <p:nvSpPr>
          <p:cNvPr id="88883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2. LR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分析法</a:t>
            </a:r>
            <a:endParaRPr lang="zh-CN" altLang="en-US" sz="3000" spc="3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24" name="矩形 1"/>
          <p:cNvSpPr>
            <a:spLocks noChangeArrowheads="1"/>
          </p:cNvSpPr>
          <p:nvPr/>
        </p:nvSpPr>
        <p:spPr bwMode="auto">
          <a:xfrm>
            <a:off x="1643063" y="3975100"/>
            <a:ext cx="5618162" cy="8620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k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= 0 </a:t>
            </a: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和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k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= 1 </a:t>
            </a: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这两种情况具有实践意义</a:t>
            </a:r>
            <a:endParaRPr kumimoji="0" lang="en-US" altLang="zh-CN" sz="2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当省略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k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)</a:t>
            </a: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时，表示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k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=1 </a:t>
            </a:r>
            <a:endParaRPr kumimoji="0" lang="zh-CN" altLang="en-US" sz="2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879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4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分析器（自动机）的总体结构</a:t>
            </a:r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2857500" y="1143000"/>
            <a:ext cx="3786188" cy="6429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40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  …   </a:t>
            </a:r>
            <a:r>
              <a:rPr kumimoji="1" lang="en-US" altLang="zh-CN" sz="3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40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  …   a</a:t>
            </a:r>
            <a:r>
              <a:rPr kumimoji="1" lang="en-US" altLang="zh-CN" sz="40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$</a:t>
            </a:r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3359150" y="2352675"/>
            <a:ext cx="2797175" cy="1076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46038" rIns="92075" bIns="46038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LR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主控程序</a:t>
            </a:r>
          </a:p>
        </p:txBody>
      </p:sp>
      <p:sp>
        <p:nvSpPr>
          <p:cNvPr id="43013" name="Rectangle 5"/>
          <p:cNvSpPr>
            <a:spLocks noChangeArrowheads="1"/>
          </p:cNvSpPr>
          <p:nvPr/>
        </p:nvSpPr>
        <p:spPr bwMode="auto">
          <a:xfrm>
            <a:off x="2844800" y="4208463"/>
            <a:ext cx="1943100" cy="6762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/>
          <a:lstStyle/>
          <a:p>
            <a:pPr marL="0" marR="0" lvl="0" indent="0" algn="ctr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动作表</a:t>
            </a:r>
          </a:p>
          <a:p>
            <a:pPr marL="0" marR="0" lvl="0" indent="0" algn="ctr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ACTION</a:t>
            </a:r>
          </a:p>
        </p:txBody>
      </p:sp>
      <p:sp>
        <p:nvSpPr>
          <p:cNvPr id="43014" name="Rectangle 6"/>
          <p:cNvSpPr>
            <a:spLocks noChangeArrowheads="1"/>
          </p:cNvSpPr>
          <p:nvPr/>
        </p:nvSpPr>
        <p:spPr bwMode="auto">
          <a:xfrm>
            <a:off x="4805363" y="4208463"/>
            <a:ext cx="1927225" cy="6762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/>
          <a:lstStyle/>
          <a:p>
            <a:pPr marL="0" marR="0" lvl="0" indent="0" algn="ctr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转移表</a:t>
            </a:r>
          </a:p>
          <a:p>
            <a:pPr marL="0" marR="0" lvl="0" indent="0" algn="ctr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GOTO</a:t>
            </a:r>
          </a:p>
        </p:txBody>
      </p:sp>
      <p:sp>
        <p:nvSpPr>
          <p:cNvPr id="70663" name="Rectangle 7"/>
          <p:cNvSpPr>
            <a:spLocks noChangeArrowheads="1"/>
          </p:cNvSpPr>
          <p:nvPr/>
        </p:nvSpPr>
        <p:spPr bwMode="auto">
          <a:xfrm>
            <a:off x="7092950" y="2476500"/>
            <a:ext cx="19796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产生式序列</a:t>
            </a:r>
          </a:p>
        </p:txBody>
      </p:sp>
      <p:sp>
        <p:nvSpPr>
          <p:cNvPr id="70664" name="Rectangle 8"/>
          <p:cNvSpPr>
            <a:spLocks noChangeArrowheads="1"/>
          </p:cNvSpPr>
          <p:nvPr/>
        </p:nvSpPr>
        <p:spPr bwMode="auto">
          <a:xfrm>
            <a:off x="284163" y="1733550"/>
            <a:ext cx="21272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状态/符号栈</a:t>
            </a:r>
          </a:p>
        </p:txBody>
      </p:sp>
      <p:sp>
        <p:nvSpPr>
          <p:cNvPr id="70665" name="Rectangle 9"/>
          <p:cNvSpPr>
            <a:spLocks noChangeArrowheads="1"/>
          </p:cNvSpPr>
          <p:nvPr/>
        </p:nvSpPr>
        <p:spPr bwMode="auto">
          <a:xfrm>
            <a:off x="3643313" y="642938"/>
            <a:ext cx="2216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 (正文)"/>
                <a:ea typeface="楷体" panose="02010609060101010101" pitchFamily="49" charset="-122"/>
                <a:cs typeface="+mn-cs"/>
              </a:rPr>
              <a:t>输入缓冲区</a:t>
            </a:r>
          </a:p>
        </p:txBody>
      </p:sp>
      <p:sp>
        <p:nvSpPr>
          <p:cNvPr id="70666" name="Rectangle 11"/>
          <p:cNvSpPr>
            <a:spLocks noChangeArrowheads="1"/>
          </p:cNvSpPr>
          <p:nvPr/>
        </p:nvSpPr>
        <p:spPr bwMode="auto">
          <a:xfrm>
            <a:off x="2643188" y="4071938"/>
            <a:ext cx="4286250" cy="9286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667" name="Rectangle 12"/>
          <p:cNvSpPr>
            <a:spLocks noChangeArrowheads="1"/>
          </p:cNvSpPr>
          <p:nvPr/>
        </p:nvSpPr>
        <p:spPr bwMode="auto">
          <a:xfrm>
            <a:off x="7072313" y="4262438"/>
            <a:ext cx="1492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分析表</a:t>
            </a:r>
          </a:p>
        </p:txBody>
      </p:sp>
      <p:sp>
        <p:nvSpPr>
          <p:cNvPr id="43020" name="Rectangle 13"/>
          <p:cNvSpPr>
            <a:spLocks noChangeArrowheads="1"/>
          </p:cNvSpPr>
          <p:nvPr/>
        </p:nvSpPr>
        <p:spPr bwMode="auto">
          <a:xfrm>
            <a:off x="152400" y="2171700"/>
            <a:ext cx="977900" cy="26765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32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m</a:t>
            </a:r>
            <a:endParaRPr kumimoji="1" lang="en-US" altLang="zh-CN" sz="2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32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3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-1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…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…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…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1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32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sp>
        <p:nvSpPr>
          <p:cNvPr id="410638" name="Rectangle 14"/>
          <p:cNvSpPr>
            <a:spLocks noChangeArrowheads="1"/>
          </p:cNvSpPr>
          <p:nvPr/>
        </p:nvSpPr>
        <p:spPr bwMode="auto">
          <a:xfrm>
            <a:off x="1149350" y="2171700"/>
            <a:ext cx="977900" cy="26812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2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endParaRPr kumimoji="1" lang="en-US" altLang="zh-CN" sz="2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2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3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-1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$</a:t>
            </a:r>
          </a:p>
        </p:txBody>
      </p:sp>
      <p:sp>
        <p:nvSpPr>
          <p:cNvPr id="43022" name="AutoShape 15"/>
          <p:cNvSpPr>
            <a:spLocks noChangeArrowheads="1"/>
          </p:cNvSpPr>
          <p:nvPr/>
        </p:nvSpPr>
        <p:spPr bwMode="auto">
          <a:xfrm rot="10800000">
            <a:off x="2162175" y="2571750"/>
            <a:ext cx="1143000" cy="28575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23" name="AutoShape 16"/>
          <p:cNvSpPr>
            <a:spLocks noChangeArrowheads="1"/>
          </p:cNvSpPr>
          <p:nvPr/>
        </p:nvSpPr>
        <p:spPr bwMode="auto">
          <a:xfrm rot="10800000">
            <a:off x="4505325" y="1843088"/>
            <a:ext cx="381000" cy="457200"/>
          </a:xfrm>
          <a:prstGeom prst="downArrow">
            <a:avLst>
              <a:gd name="adj1" fmla="val 50000"/>
              <a:gd name="adj2" fmla="val 40000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24" name="AutoShape 17"/>
          <p:cNvSpPr>
            <a:spLocks noChangeArrowheads="1"/>
          </p:cNvSpPr>
          <p:nvPr/>
        </p:nvSpPr>
        <p:spPr bwMode="auto">
          <a:xfrm>
            <a:off x="3643313" y="3457575"/>
            <a:ext cx="304800" cy="542925"/>
          </a:xfrm>
          <a:prstGeom prst="upArrow">
            <a:avLst>
              <a:gd name="adj1" fmla="val 50000"/>
              <a:gd name="adj2" fmla="val 75000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26" name="AutoShape 19"/>
          <p:cNvSpPr>
            <a:spLocks noChangeArrowheads="1"/>
          </p:cNvSpPr>
          <p:nvPr/>
        </p:nvSpPr>
        <p:spPr bwMode="auto">
          <a:xfrm>
            <a:off x="6227763" y="2571750"/>
            <a:ext cx="915987" cy="285750"/>
          </a:xfrm>
          <a:prstGeom prst="rightArrow">
            <a:avLst>
              <a:gd name="adj1" fmla="val 50000"/>
              <a:gd name="adj2" fmla="val 85007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AutoShape 17"/>
          <p:cNvSpPr>
            <a:spLocks noChangeArrowheads="1"/>
          </p:cNvSpPr>
          <p:nvPr/>
        </p:nvSpPr>
        <p:spPr bwMode="auto">
          <a:xfrm>
            <a:off x="5624513" y="3457575"/>
            <a:ext cx="304800" cy="542925"/>
          </a:xfrm>
          <a:prstGeom prst="upArrow">
            <a:avLst>
              <a:gd name="adj1" fmla="val 50000"/>
              <a:gd name="adj2" fmla="val 75000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6638996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>
    <a:lnDef>
      <a:spPr bwMode="auto"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>
    <a:lnDef>
      <a:spPr bwMode="auto"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3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5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35960</TotalTime>
  <Words>8436</Words>
  <Application>Microsoft Office PowerPoint</Application>
  <PresentationFormat>全屏显示(16:9)</PresentationFormat>
  <Paragraphs>2318</Paragraphs>
  <Slides>73</Slides>
  <Notes>71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73</vt:i4>
      </vt:variant>
    </vt:vector>
  </HeadingPairs>
  <TitlesOfParts>
    <vt:vector size="96" baseType="lpstr">
      <vt:lpstr>Monotype Sorts</vt:lpstr>
      <vt:lpstr>黑体</vt:lpstr>
      <vt:lpstr>华文楷体</vt:lpstr>
      <vt:lpstr>华文楷体 (正文)</vt:lpstr>
      <vt:lpstr>华文行楷</vt:lpstr>
      <vt:lpstr>楷体</vt:lpstr>
      <vt:lpstr>楷体_GB2312</vt:lpstr>
      <vt:lpstr>Simsun</vt:lpstr>
      <vt:lpstr>Simsun</vt:lpstr>
      <vt:lpstr>微软雅黑</vt:lpstr>
      <vt:lpstr>Arial</vt:lpstr>
      <vt:lpstr>Calibri</vt:lpstr>
      <vt:lpstr>Candara</vt:lpstr>
      <vt:lpstr>Symbol</vt:lpstr>
      <vt:lpstr>Tahoma</vt:lpstr>
      <vt:lpstr>Times New Roman</vt:lpstr>
      <vt:lpstr>Wingdings</vt:lpstr>
      <vt:lpstr>自定义设计方案</vt:lpstr>
      <vt:lpstr>1_波形</vt:lpstr>
      <vt:lpstr>2_波形</vt:lpstr>
      <vt:lpstr>3_波形</vt:lpstr>
      <vt:lpstr>5_波形</vt:lpstr>
      <vt:lpstr>4_波形</vt:lpstr>
      <vt:lpstr>PowerPoint 演示文稿</vt:lpstr>
      <vt:lpstr>PowerPoint 演示文稿</vt:lpstr>
      <vt:lpstr>PowerPoint 演示文稿</vt:lpstr>
      <vt:lpstr>LR 分析法的基本原理</vt:lpstr>
      <vt:lpstr>LR 分析器（自动机）的总体结构</vt:lpstr>
      <vt:lpstr>LR 分析表的结构</vt:lpstr>
      <vt:lpstr>LR 分析表的结构</vt:lpstr>
      <vt:lpstr>LR 分析表的结构</vt:lpstr>
      <vt:lpstr>LR 分析表的结构</vt:lpstr>
      <vt:lpstr>LR 分析表的结构</vt:lpstr>
      <vt:lpstr>LR 分析表的结构</vt:lpstr>
      <vt:lpstr>LR 分析器的工作过程</vt:lpstr>
      <vt:lpstr>LR 分析器的工作过程</vt:lpstr>
      <vt:lpstr>LR 分析器的工作过程</vt:lpstr>
      <vt:lpstr>LR 分析算法</vt:lpstr>
      <vt:lpstr>如何构造给定文法的LR分析表？</vt:lpstr>
      <vt:lpstr>3. LR(0) 分析</vt:lpstr>
      <vt:lpstr>增广文法 (Augmented Grammar)</vt:lpstr>
      <vt:lpstr>文法中的项目</vt:lpstr>
      <vt:lpstr>文法中的项目</vt:lpstr>
      <vt:lpstr>文法中的项目</vt:lpstr>
      <vt:lpstr>例：LR(0)自动机</vt:lpstr>
      <vt:lpstr>例：LR(0)自动机</vt:lpstr>
      <vt:lpstr>CLOSURE( )函数</vt:lpstr>
      <vt:lpstr>CLOSURE( )函数</vt:lpstr>
      <vt:lpstr>GOTO ( )函数</vt:lpstr>
      <vt:lpstr>构造LR(0)自动机的状态集</vt:lpstr>
      <vt:lpstr>LR(0)分析表构造算法</vt:lpstr>
      <vt:lpstr>LR(0) 自动机的形式化定义</vt:lpstr>
      <vt:lpstr>LR(0) 分析过程中的冲突</vt:lpstr>
      <vt:lpstr>表达式文法的LR(0)分析表含有移进/归约冲突</vt:lpstr>
      <vt:lpstr>例：移进/归约冲突和归约/归约冲突</vt:lpstr>
      <vt:lpstr>5 .SLR分析   例：LR(0) 分析过程中的冲突</vt:lpstr>
      <vt:lpstr>SLR 分析</vt:lpstr>
      <vt:lpstr>表达式文法的LR(0)分析表含有移进/归约冲突</vt:lpstr>
      <vt:lpstr>表达式文法的SLR分析表</vt:lpstr>
      <vt:lpstr>例</vt:lpstr>
      <vt:lpstr>SLR 分析表构造算法</vt:lpstr>
      <vt:lpstr>SLR 分析中的冲突</vt:lpstr>
      <vt:lpstr>PowerPoint 演示文稿</vt:lpstr>
      <vt:lpstr>6. LR(1)分析法的提出</vt:lpstr>
      <vt:lpstr>LR(1)分析法的提出</vt:lpstr>
      <vt:lpstr>规范LR(1)项目</vt:lpstr>
      <vt:lpstr>等价LR(1)项目</vt:lpstr>
      <vt:lpstr>等价LR(1)项目</vt:lpstr>
      <vt:lpstr>例：LR(1)自动机</vt:lpstr>
      <vt:lpstr>赋值语句文法的 LR(1)分析表</vt:lpstr>
      <vt:lpstr>例：LR(1)自动机</vt:lpstr>
      <vt:lpstr>例：LR(1)自动机</vt:lpstr>
      <vt:lpstr>例：LR(1)自动机</vt:lpstr>
      <vt:lpstr>LR(1)项目集闭包</vt:lpstr>
      <vt:lpstr>GOTO 函数</vt:lpstr>
      <vt:lpstr>为文法G' 构造LR(1)项集族</vt:lpstr>
      <vt:lpstr>LR(1)自动机的形式化定义</vt:lpstr>
      <vt:lpstr>LR分析表构造算法</vt:lpstr>
      <vt:lpstr>7. 习题课</vt:lpstr>
      <vt:lpstr>PowerPoint 演示文稿</vt:lpstr>
      <vt:lpstr>2. LR 分析法</vt:lpstr>
      <vt:lpstr>LR 分析法的基本原理</vt:lpstr>
      <vt:lpstr>LR 分析器（自动机）的总体结构</vt:lpstr>
      <vt:lpstr>LR 分析表的结构</vt:lpstr>
      <vt:lpstr>LR 分析表的结构</vt:lpstr>
      <vt:lpstr>LR 分析表的结构</vt:lpstr>
      <vt:lpstr>LR 分析表的结构</vt:lpstr>
      <vt:lpstr>LR 分析表的结构</vt:lpstr>
      <vt:lpstr>LR 分析表的结构</vt:lpstr>
      <vt:lpstr>LR 分析器的工作过程</vt:lpstr>
      <vt:lpstr>LR 分析器的工作过程</vt:lpstr>
      <vt:lpstr>LR 分析器的工作过程</vt:lpstr>
      <vt:lpstr>LR 分析算法</vt:lpstr>
      <vt:lpstr>如何构造给定文法的LR分析表？</vt:lpstr>
      <vt:lpstr>2. LR 分析法</vt:lpstr>
      <vt:lpstr>LR 分析器（自动机）的总体结构</vt:lpstr>
    </vt:vector>
  </TitlesOfParts>
  <Company>HIT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编译原理</dc:title>
  <dc:creator>jsx</dc:creator>
  <cp:lastModifiedBy>妙根 凌</cp:lastModifiedBy>
  <cp:revision>2156</cp:revision>
  <cp:lastPrinted>2019-03-03T08:55:32Z</cp:lastPrinted>
  <dcterms:created xsi:type="dcterms:W3CDTF">2003-07-09T14:46:46Z</dcterms:created>
  <dcterms:modified xsi:type="dcterms:W3CDTF">2025-11-05T07:05:15Z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</Properties>
</file>