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45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562" r:id="rId1"/>
    <p:sldMasterId id="2147484781" r:id="rId2"/>
  </p:sldMasterIdLst>
  <p:notesMasterIdLst>
    <p:notesMasterId r:id="rId51"/>
  </p:notesMasterIdLst>
  <p:handoutMasterIdLst>
    <p:handoutMasterId r:id="rId52"/>
  </p:handoutMasterIdLst>
  <p:sldIdLst>
    <p:sldId id="735" r:id="rId3"/>
    <p:sldId id="822" r:id="rId4"/>
    <p:sldId id="823" r:id="rId5"/>
    <p:sldId id="483" r:id="rId6"/>
    <p:sldId id="831" r:id="rId7"/>
    <p:sldId id="552" r:id="rId8"/>
    <p:sldId id="533" r:id="rId9"/>
    <p:sldId id="570" r:id="rId10"/>
    <p:sldId id="701" r:id="rId11"/>
    <p:sldId id="517" r:id="rId12"/>
    <p:sldId id="600" r:id="rId13"/>
    <p:sldId id="516" r:id="rId14"/>
    <p:sldId id="518" r:id="rId15"/>
    <p:sldId id="669" r:id="rId16"/>
    <p:sldId id="397" r:id="rId17"/>
    <p:sldId id="399" r:id="rId18"/>
    <p:sldId id="832" r:id="rId19"/>
    <p:sldId id="556" r:id="rId20"/>
    <p:sldId id="670" r:id="rId21"/>
    <p:sldId id="635" r:id="rId22"/>
    <p:sldId id="671" r:id="rId23"/>
    <p:sldId id="663" r:id="rId24"/>
    <p:sldId id="627" r:id="rId25"/>
    <p:sldId id="647" r:id="rId26"/>
    <p:sldId id="628" r:id="rId27"/>
    <p:sldId id="729" r:id="rId28"/>
    <p:sldId id="561" r:id="rId29"/>
    <p:sldId id="648" r:id="rId30"/>
    <p:sldId id="826" r:id="rId31"/>
    <p:sldId id="562" r:id="rId32"/>
    <p:sldId id="564" r:id="rId33"/>
    <p:sldId id="571" r:id="rId34"/>
    <p:sldId id="573" r:id="rId35"/>
    <p:sldId id="702" r:id="rId36"/>
    <p:sldId id="712" r:id="rId37"/>
    <p:sldId id="713" r:id="rId38"/>
    <p:sldId id="714" r:id="rId39"/>
    <p:sldId id="828" r:id="rId40"/>
    <p:sldId id="757" r:id="rId41"/>
    <p:sldId id="256" r:id="rId42"/>
    <p:sldId id="715" r:id="rId43"/>
    <p:sldId id="748" r:id="rId44"/>
    <p:sldId id="737" r:id="rId45"/>
    <p:sldId id="759" r:id="rId46"/>
    <p:sldId id="760" r:id="rId47"/>
    <p:sldId id="761" r:id="rId48"/>
    <p:sldId id="829" r:id="rId49"/>
    <p:sldId id="830" r:id="rId50"/>
  </p:sldIdLst>
  <p:sldSz cx="9144000" cy="5143500" type="screen16x9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FF3399"/>
    <a:srgbClr val="008000"/>
    <a:srgbClr val="006600"/>
    <a:srgbClr val="FF33CC"/>
    <a:srgbClr val="00C08E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39" autoAdjust="0"/>
    <p:restoredTop sz="61538" autoAdjust="0"/>
  </p:normalViewPr>
  <p:slideViewPr>
    <p:cSldViewPr>
      <p:cViewPr varScale="1">
        <p:scale>
          <a:sx n="105" d="100"/>
          <a:sy n="105" d="100"/>
        </p:scale>
        <p:origin x="1638" y="9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15" tIns="45709" rIns="91415" bIns="45709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983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15" tIns="45709" rIns="91415" bIns="4570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83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15" tIns="45709" rIns="91415" bIns="45709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83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15" tIns="45709" rIns="91415" bIns="4570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851A5DD-1A6E-4AB7-BB62-E2D46F9F1BD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928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152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1-09-13T06:37:04.2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1892 758 0,'0'0'0,"0"0"16,0 0-16,0 0 15,0 0-15,0 0 16,-31-8 0,13 8-16,-4 0 15,0 0 1,-9 4-16,0 5 16,-4 4-1,0 9-15,0 5 16,-1 8-16,5 13 15,1 10 1,12 3-16,14 6 16,12 8-1,23 13-15,18 9 16,21 4 0,5-17-16,-13-13 15,-9-10-15,-22 5 16,-9-4-1,-9 9-15,-17-1 16,-10 14 0,-21 9-16,-9-5 15,-9-18-15,5-12 16,4-19 0,4-12-16,9-5 15,5-13 1,3 0-16,10-5 15,4-4 1,5 0-16,0 0 16,4 0-1,-5 0-15,5 0 16,5 4-16,-5 1 16,8 17-1,6 26-15,3 41 16,1 25-16,-5-4 15,-4-8 1,0-23-16,0-17 16,-1-18-1,1-9-15,0-13 16,0-4 0,9-9-16,8 0 15,18-14-15,31-21 16</inkml:trace>
  <inkml:trace contextRef="#ctx0" brushRef="#br0" timeOffset="2012.4">2844 1305 0,'0'0'15,"0"0"-15,0 0 16,0 0-1,0 0-15,0 0 16,0 58 0,9 8-16,0 22 15,9 0 1,-5 0-16,0-8 16,0-14-16,0-18 15,-4-8 1,0-9-16,0-9 15</inkml:trace>
  <inkml:trace contextRef="#ctx0" brushRef="#br0" timeOffset="2363.42">3779 2068 0,'0'0'0,"-13"31"16,-5 18-1,-13 25-15,-13 15 16,0-1 0,9-18-16,4-12 15,13-14 1,5-13-16,4-14 16,9-3-16</inkml:trace>
  <inkml:trace contextRef="#ctx0" brushRef="#br0" timeOffset="2979.75">4251 1089 0,'0'0'15,"0"0"-15,0 0 16,0 0 0,0 0-16,26-22 15,14 0 1,26-4-16,27-10 15,4 10-15,-9 8 16,-17 14 0,-14 4-16,-9 13 15,1 18 1,-9 22-16,-14 17 16,-21 23-16,-19 22 15,-17 13 1,-13-1-16,0-21 15,5-26 1,12-23-16,9-17 16,10-14-1,3-13-15,5-4 16,0-4-16,5-5 16,-5 0-1,57-18-15,18-9 16,13-8-1,-4 4-15,-22 9 16,-23 13 0,-12 1-16,-14 8 15,0 0-15,-4 0 16,-5 0 0,1 0-16,-1 4 15</inkml:trace>
  <inkml:trace contextRef="#ctx0" brushRef="#br0" timeOffset="3263.67">6024 1702 0,'0'0'16,"0"0"-16,-9 22 16,-4 18-1,-14 26-15,-13 22 16,-8 0 0,-1-4-16,1-9 15,4-9-15,17-17 16,5-14-1</inkml:trace>
  <inkml:trace contextRef="#ctx0" brushRef="#br0" timeOffset="4548.12">6112 564 0,'0'0'0,"0"0"15,0 0-15,0 0 16,0 0 0,0 0-16,-5 22 15,1 14 1,-9 17-16,-5 17 15,5-8 1,0-5-16,4-8 16,4-5-16,5-4 15,5-1 1,4 5-16,17 9 16,9-4-16,18-1 15,5-4 1,3-13-16,14-4 15,0-10 1,9-3-16,-4-10 16,-5-8-1,4-1-15,-4 1 16,-13-5 0,-5 0-16,-13 5 15,0-5-15,-9 5 16,-8-1-1,-5 1-15,-4-1 16,-10 1 0,1-1-16</inkml:trace>
  <inkml:trace contextRef="#ctx0" brushRef="#br0" timeOffset="4831.79">6791 763 0,'0'0'0,"0"0"16,0 0-16,0 57 16,4 27-1,1 44-15,-1 39 16,5 1-1,0-5-15,0-17 16,-1-23-16,-3-21 16,4-23-1,0-4-15,-1-5 16</inkml:trace>
  <inkml:trace contextRef="#ctx0" brushRef="#br0" timeOffset="13205.34">7858 1755 0,'0'0'0,"0"0"0,0 0 16,0 0-16,0 0 16,0 0-16,0 0 15,-13 44 1,-5 0-16,-17 27 15,-9 13 1,0-9-16,4-14 16,5-3-1,13-19-15,13-12 16,5-14-16</inkml:trace>
  <inkml:trace contextRef="#ctx0" brushRef="#br0" timeOffset="13859">7938 573 0,'0'0'16,"0"0"-1,0 0-15,0 0 16,22-9-1,22-4-15,26-13 16,18-5-16,5 0 16,-5 5-1,0-1-15,1 5 16,-1 0 0,-4 4-16,-16 10 15,-17 3-15,-14 5 16,-10 0-1,-5 5-15,-5 3 16,1 1 0,-5 9-16,-2 8 15,-4 18 1,-3 18-16,-6 35 16,-5 31-16,-1 13 15,-1 0 1,-2 5-16,0-18 15,2-9 1,-2-9-16,2-17 16,2-10-16,1-12 15,1-18 1,3-14-16,0-8 16,2-17-1,2-6-15</inkml:trace>
  <inkml:trace contextRef="#ctx0" brushRef="#br0" timeOffset="14606.29">9792 1508 0,'0'0'0,"0"0"16,0 0-1,-29 40-15,-2 4 16,-11 13-16,-6 9 16,-5 5-1,-4 4-15,-5 0 16</inkml:trace>
  <inkml:trace contextRef="#ctx0" brushRef="#br0" timeOffset="23180.62">10321 851 0,'0'0'0,"0"0"0,-22 35 15,4 1-15,-2 12 16,3 5 0,4 4-16,4-8 15,7-9 1,2-5-16,4-4 16,5 0-16,6-1 15,5 1 1,6-9-16,10 0 15,8-8 1,0-14-16,2-5 16,1-4-1,-6-8-15,-5-1 16,-10-4-16,-6 0 16,-5 0-1,-3-4-15,-4-5 16,-1 0-1,-5 0-15,-2-4 16,-2 8-16,-2 1 16,-5-1-1,-5 1-15,-5 4 16,-8 4 0,-4 0-16,-2 5 15,2 4 1,5 1-16,4 3 15,4 1-15,5-1 16,2 5 0,4-4-16</inkml:trace>
  <inkml:trace contextRef="#ctx0" brushRef="#br0" timeOffset="24413.88">10846 181 0,'0'0'0,"0"0"15,0 0-15,0 0 16,46-5 0,-11 1-16,3 0 15,1 8 1,1 0-16,-2 5 15,-1 9 1,1 8-16,-3 10 16,-2 8-16,-4 4 15,-7-4 1,-5 5-16,-3-10 16,-3 6-16,0-1 15,0-5 1,-3 1-16,3 0 15,0-5 1,3-4-16,6-5 16,10 1-1,10-5-15,9 0 16,1-9 0,-6-4-16,-11-5 15,-8 1-15,-5-5 16,-5 0-1,-2 0-15,-2 0 16,-2 4 0,-2-4-16,-3 5 15,-2-5-15,1 8 16,-3 1 0,-5 18-16,-6 12 15,-9 23 1,-4 4-16,-5-4 15,3 4 1,-1-4-16,5 0 16,3-5-16,3 0 15,5-13 1,0 0-16,2-8 16,3 3-1,1 1-15,1 4 16,-1 0-1,1 0-15,-3 0 16,-1-4-16,-1-5 16,0-4-1,-2 0-15,-5-4 16,-6-1 0,-8 5-16,-10-5 15,-6 5-15,-1-9 16,3 0-1,4-4-15,-10 0 16,-23 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152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1-09-13T06:40:44.90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8">
        <inkml:traceFormat>
          <inkml:channel name="X" type="integer" max="19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66.66666" units="1/cm"/>
          <inkml:channelProperty channel="Y" name="resolution" value="66.66666" units="1/cm"/>
          <inkml:channelProperty channel="T" name="resolution" value="1" units="1/dev"/>
        </inkml:channelProperties>
      </inkml:inkSource>
      <inkml:timestamp xml:id="ts1" timeString="2021-09-13T06:42:12.183"/>
    </inkml:context>
  </inkml:definitions>
  <inkml:trace contextRef="#ctx0" brushRef="#br0">15048 1041 0,'0'0'0,"0"0"0,0 0 15,0 0-15,0 0 16,0 0 0,0 0-16,0 0 15,0 0 1,0 0-16,-37 4 16,12 5-16,-3 4 15,-3 5 1,0 4-16,2 4 15,5 1 1,6-1-16,10-4 16,5 0-16,10 5 15,11 12 1,15 10-16,11 17 16,7 0-1,-3 0-15,-2 1 16,-8-1-1,-12 0-15,-10-4 16,-12-5-16,-8-9 16,-7 1-1,-9-1-15,-4 1 16,-9-1 0,-7-3-16,-4-6 15,-3-8 1,6-13-16,5-5 15,10-4-15,6-9 16,5 0 0,4-5-16,2 1 15,2 0 1,3-1-16,2 1 16,-1-1-1,3 5-15,0-4 16,0 4-16,0 0 15,0 0 1,0 0-16,44 13 16,-15 18-1,6 13-15,1 13 16,-8 5-16,-3 9 16,-3-1-1,-5 1-15,-1-14 16,-3-4-1,0-13-15,0-1 16,1-8 0,-1-4-16,2-1 15,3-8-15,2 0 16,-3-10 0,1 1-16,2-4 15,6-5 1</inkml:trace>
  <inkml:trace contextRef="#ctx0" brushRef="#br0" timeOffset="2286.44">15650 1460 0,'0'0'15,"0"0"-15,0 0 16,0 0-16,0 0 16,0 0-1,0 0-15,0 0 16,0 0-1,0 0-15,0 0 16,0 0 0,27-27-16,-12 18 15,5-4-15,9 4 16,12-4 0,17 0-16,8 0 15,0-1 1,-9 1-16,-10 9 15,-5-5-15,-7 5 16,-7 4 0,-3-5-16,-5 5 15,-5 0 1,-2 5-16,-2-1 16,-2 0-1,-2 10-15,-5 3 16,-4 10-16,-12 21 15,-8 9 1,-6 10-16,-8-6 16,-3 6-1,-3-10-15,2-9 16,5-4 0,6-13-16,5-4 15,6-5-15,5-5 16,2-3-1,5-5-15,1-5 16,3 0 0,2 1-16,0-5 15,2 4 1,5-4-16,10 0 16,14 0-16,18 0 15,21 5 1,16-1-16,-2 5 15,-11 4 1,-18 0-16,-15 0 16,-10-4-16,-7 5 15,-6-6 1,-4 6-16,-4-1 16,-2 0-1,-5 9-15,-4 9 16,-7 9-1,-11 13-15,-13 8 16,-13-3-16,-5-5 16,5-9-1,6-14-15,11-3 16,7-9 0,7-5-16,4-4 15,4-1 1,3-3-16,2-5 15,2 0-15,0 0 16</inkml:trace>
  <inkml:trace contextRef="#ctx0" brushRef="#br0" timeOffset="2616.3">17337 2443 0,'0'0'0,"0"0"16,-9 35-1,-4 14-15,-5 21 16,-2-4 0,5-13-16,2-13 15,2-13-15,2-5 16,2-9 0,1 0-16,-3-4 15</inkml:trace>
  <inkml:trace contextRef="#ctx0" brushRef="#br0" timeOffset="15043.26">19083 1305 0,'0'0'0,"11"-26"0,0-1 16,2-17-16,-2 0 16,-6 4-1,-5 5-15,-7-4 16,-15-19-16,-33-26 16,-29-21-1,-8 12-15,17 31 16,4 27-1,-10 22-15,-25 8 16,-24 10 0,13 4-16,29-1 15,24 6-15,15 3 16,9 5 0,5 9-16,4 0 15,5 4 1,4-4-16,6 0 15,7-9 1,5 5-16,4-5 16,7 4-16,10 14 15,34 26 1,37 22-16,36 13 16,12 1-1,-17-14-15,-8 0 16,-14-8-1,-11-10-15,-7-4 16,-6 5-16,-11-1 16,-12 1-1,-6 0-15,-6 8 16,-9 5 0,-7 8-16,-11-8 15,-9-4-15,-7-6 16,-6-3-1,-8-9-15,-10-5 16,-9-13 0,-8-13-16,-5-9 15,-4-4 1,-2-9-16,-7-9 16,-13-9-16,-20-13 15,-9-9 1,9-4-16,11-5 15,15 0 1,12 5-16,15 4 16,9 0-1,8-4-15,7-5 16,9-13-16,9-13 16,11-9-1,17-17-15,18-10 16,9 10-1,2 8-15,-2 18 16,2 13-16,7 9 16,9-5-1,6 1-15,-4-1 16,-12 9 0,-8 5-16,-13 9 15,-11 4 1,-12 13-16,-3 0 15,-3 9-15,0 0 16</inkml:trace>
  <inkml:trace contextRef="#ctx0" brushRef="#br0" timeOffset="17981.34">19815 653 0,'0'0'15,"0"0"-15,0 0 16,0 0 0,24-5-16,-6 5 15,6 9 1,7 13-16,0 13 15,-2 18-15,-7 18 16,-7 17 0,-6 5-16,-2 8 15,-1 0 1,5-8-16,5-5 16,1-17-1,3-18-15,0-14 16,2-8-16,2-13 15,7 0 1,2-5-16,0-4 16,-2-5-1,-4-4-15,-5 4 16,-5-4 0,-6 0-16,-2 0 15,-2 0-15,-3 0 16,-2 0-1,-2 5-15,0-5 16,-2 4 0,0-4-16,-2 9 15,-5 0-15,-2 9 16,-3 8 0,1 9-16,0 1 15,2-1 1,2 5-16,3-5 15,-1 0 1,3 5-16,-1 4 16,-2 9-16,3 0 15,0 0 1,-1-5-16,1-8 16,-1-5-1,1-4-15,0-9 16,-1 4-1,1-3-15,-3 3 16,1-4-16,-1 4 16,0 1-1,-1-1-15,-1 1 16,2-1 0,-2-4-16,0-4 15,1 4 1,-1-4-16,-4 4 15,-3-5-15,-6 5 16,-7 5 0,-8-5-16,-3 0 15,1 0 1,-1 0-16,-22 9 16,-46 22-16</inkml:trace>
  <inkml:trace contextRef="#ctx0" brushRef="#br0" timeOffset="44770.58">15326 8240 0,'0'0'0,"0"0"0,0 0 16,0 0-1,0 0-15,0 0 16,0 0-16,0 0 16,0 0-1,0 0-15,0 0 16,0 0-1,-24-3-15,15 3 16,0 0 0,-4 3-16,-3-1 15,-3 2-15,-3 3 16,-1 2 0,4-1-16,-1 1 15,2 0 1,5 2-16,0 0 15,-1 5 1,3-1-16,3 3 16,-1 1-16,2 4 15,3-1 1,2 0-16,2 0 16,2 2-1,4 5-15,5 6 16,11 9-16,9 9 15,5 4 1,-1-4-16,-4-4 16,-5-7-1,-6-9-15,-4-5 16,-8-3 0,-3-6-16,-5-1 15,-5 0-15,-3 1 16,-6 4-1,-6 1-15,-2 0 16,-2 0 0,0-2-16,2-2 15,2-2 1,2-3-16,5-4 16,2-2-16,2-2 15,3-3 1,-1 1-16,3-3 15,1-2 1,1 0-16,0 0 16,0-2-1,2-1-15,0 1 16,0 0-16,0 0 16,0 0-1,0 2-15,0 0 16,0 0-1,0 0-15,0 0 16,0 0-16,0 0 16,70-3-1,-28 6-15,5 1 16,-6 5 0,-3 2-16,-5 4 15,-2 3 1,-5 4-16,-4 0 15,-2 0-15,-4 0 16,-3 2 0,-4 7-16,-3 13 15,-3 14 1,-6 8-16,-3 2 16,-1-8-1,0-7-15,3-3 16,0 1-16,-1 2 15,3 0 1,0 0-16,2-7 16,0-4-1,2 0-15,2 0 16,5 0-16,0-3 16,4 1-1,1 0-15,1-5 16,3 0-1,4-4-15,0-4 16,0-5 0,0-3-16,-2-3 15,-3-5-15,-1-2 16,-3-3 0,-4-1-16,0-1 15,-3-2 1,-1-2-16,-3 0 15</inkml:trace>
  <inkml:trace contextRef="#ctx0" brushRef="#br0" timeOffset="46719.28">15994 8656 0,'0'0'0,"0"0"16,0 0-16,0 0 15,0 0 1,0 0-16,0 0 16,22-2-1,-4-2-15,15-5 16,20-7-16,22-6 15,11-2 1,-3 2-16,-12 7 16,-11 8-1,-8 5-15,-5 2 16,-5 4-16,-9 3 16,-9 2-1,-6 2-15,-12 4 16,-8 9-1,-16 20-15,-21 31 16,-14 11 0,0-13-16,7-18 15,4-13 1,2-11-16,7-7 16,9-6-16,6-5 15,5-4 1,6-2-16,3-3 15,2-2 1,2 0-16,4-2 16,11 0-1,27 3-15,29 1 16,17 3-16,5 8 16,-14 7-1,-17 9-15,-14 4 16,-15 1-1,-8 1-15,-12-4 16,-7-2-16,-6 0 16,-6 13-1,-14 24-15,-17 21 16,-19 1 0,-1-17-16,2-16 15,11-15-15,6-7 16,8-6-1,1-7-15,7-7 16,4-4 0,7-4-16,2-3 15,3 1 1,-1-1-16</inkml:trace>
  <inkml:trace contextRef="#ctx0" brushRef="#br0" timeOffset="47122.43">17315 10059 0,'0'0'0,"0"0"16,0 0-16,-9 35 15,-2-11-15,-2 7 16,-5 4 0,-4 3-16,-7 6 15,-8 9 1,-12 8-16,-1 3 16,3-4-1</inkml:trace>
  <inkml:trace contextRef="#ctx0" brushRef="#br0" timeOffset="49888.94">18091 7971 0,'0'0'16,"0"0"-16,0 0 16,0 0-1,0 0-15,0 0 16,-16 37 0,-1 7-16,-12 20 15,-8 11 1,-5 7-16,-7 6 15,-4 7-15,0 8 16,5 3 0,6-2-16,11-9 15,5-3 1,6-4-16,2-6 16,5-5-1,4-9-15,3-8 16,3-7-16,3 0 15,5 4 1,4 3-16,6 1 16,7-5-1,7-6-15,4-8 16,4-7-16,1-6 16,-1-7-1,-1-4-15,-3-7 16,-5-5-1,-1-1-15,-1-3 16,3-4 0,0-3-16,1-3 15,1-6-15,-4-3 16,-1-8 0,1-12-16,-3-16 15,0-18 1,-6-12-16,-9-10 15,-9 1-15,-9 3 16,-4 8 0,-5 12-16,-2 10 15,0 8 1,-2 9-16,0 9 16,-2 5-1,2 3-15,0 8 16,-2 1-1,1 7-15,-1 3 16,0 4-16,0 2 16,-1 2-1,1 2-15,4 3 16,3-1 0,3-1-16,8-1 15,1 1 1,5-3-16</inkml:trace>
  <inkml:trace contextRef="#ctx0" brushRef="#br0" timeOffset="50556.07">18574 9637 0,'0'0'0,"0"0"16,0 0-16,0 0 15,0 0 1,0 0-16,0 0 16,0 0-1,0 0-15,0 0 16,0 0-16,0 0 15,13 25 1,-4-8-16,0 12 16,-1 17-1,-1 16-15,-7 6 16,-4 1 0,-5-8-16,-2-10 15,-5-11 1,-1-9-16,-3-5 15,-2-4-15,-16 14 16,-34 34 0</inkml:trace>
  <inkml:trace contextRef="#ctx0" brushRef="#br0" timeOffset="58846.64">18858 8103 0,'0'0'0,"0"0"0,0 0 15,0 0 1,0 0-16,0 0 16,24 11-1,-2-9-15,16-4 16,33-9-16,37-16 15,24-12 1,-15 1-16,-27 10 16,-26 10-1,-22 7-15,-16 4 16,-8 5 0,-7 0-16,-2 2 15,-3 2-15,-1 3 16,-1 6-1,-4 13-15,-11 29 16,-13 33 0,-7 13-16,0 2 15,5-4-15,6-6 16,7-3 0,2-4-16,2 0 15,0-10 1,2-7-16,3-19 15,2-10 1,0-12-16,-1-6 16,3-5-16,0-4 15,3 3 1,1 5-16</inkml:trace>
  <inkml:trace contextRef="#ctx0" brushRef="#br0" timeOffset="59212.8">20276 9472 0,'0'0'0,"0"0"16,0 0-1,0 0-15,-2 24 16,-5 5-16,-4 13 15,-4 4 1,-3-2-16,-8 11 16,-27 29-1,-44 42-15,-47 50 16</inkml:trace>
  <inkml:trace contextRef="#ctx0" brushRef="#br0" timeOffset="69706.02">20717 7918 0,'0'0'0,"0"0"0,0 0 15,0 0-15,0 0 16,0 0 0,0 0-16,0 0 15,0 0 1,4 33-16,1-9 15,4 16-15,2 17 16,0 20 0,2 18-1,0 15-15,0 3 16,-4-8-16,-2-10 16,-3-11-1,-2-16-15,1-17 16,-3-13-16,0-12 15,0-6 1,0-7-16,0-2 16,0-4-1,0-3-15</inkml:trace>
  <inkml:trace contextRef="#ctx0" brushRef="#br0" timeOffset="70211.45">21303 9137 0,'0'0'0,"0"0"16,0 0 0,-8 40-16,-3 6 15,-5 16-15,-4 4 16,-6 7 0,-5 6-16,-9 3 15,1-10 1,3-14-16,5-16 15,9-14-15,5-8 16,3-7 0,6-4-16,1-2 15,5-5 1,2-2-16</inkml:trace>
  <inkml:trace contextRef="#ctx0" brushRef="#br0" timeOffset="71134.48">21711 8231 0,'0'0'0,"0"0"16,0 0 0,0 0-16,0 0 15,0 0 1,0 0-16,25-20 15,-8 7 1,10-5-16,6-4 16,6 0-16,5 4 15,5 5 1,-1 9-16,3 10 16,4 12-1,-4 6-15,-11 3 16,-9-1-1,-12-2-15,-5 1 16,-10 3-16,-6 12 16,-16 22-1,-17 17-15,-16 7 16,3-11 0,6-11-16,7-9 15,4-4-15,4-9 16,3-7-1,4-9-15,5-4 16,1-6 0,6-5-16,1-2 15,3-3 1,1-1-16,3-3 16,3 0-16,1 0 15,3 1 1,6-1-16,9 0 15,11-2 1,7-2-16,8-3 16,-1 1-1,-6 0-15,-8-1 16,-6 1-16,-7-1 16,-5 1-1,-4 2-15,0 0 16,-2-1-1,-2 3-15,-3 0 16,1 0 0,-1 0-16,0 0 15,1-2-15,-1 2 16,-2 0 0,1 0-16,-1-2 15,0 2 1,0 0-16</inkml:trace>
  <inkml:trace contextRef="#ctx0" brushRef="#br0" timeOffset="71541">22774 9060 0,'0'0'0,"0"0"16,0 0 0,0 0-16,0 0 15,0 0-15,-15 37 16,4-8-1,-3 6-15,-1 5 16,2-5 0,-1-2-16,3-4 15,0-7 1,0-2-16,3-3 16,-1-1-16,0-5 15,2-2 1,1-3-16,1-1 15,1-3 1,2-2-16</inkml:trace>
  <inkml:trace contextRef="#ctx0" brushRef="#br0" timeOffset="72173.39">23259 7847 0,'0'0'0,"0"0"16,0 0-16,0 0 15,-11 44 1,-15 29-16,-16 33 15,-5 2 1,8-20-16,6-11 16,2-8-16,4-17 15,5-7 1,5-12-16,3-7 16,6-6-16,3-7 15,3-2 1,2-2-16,2-2 15,7-1 1,9 3-16,15-2 16,17-1-1,14-4-15,5-2 16,-5-2 0,-9 0-16,-7-2 15,-6-1-15,-4 1 16,-7-1-1,-5 1-15,-4 2 16,-4 0 0,-3-1-16,-4 1 15,0 0-15,-2 0 16,0 0 0,-3-1-16,-1 1 15,-1 0 1,1 0-16,-3 0 15,0-1 1,2 1-16</inkml:trace>
  <inkml:trace contextRef="#ctx0" brushRef="#br0" timeOffset="72678.75">23347 7946 0,'0'0'0,"0"0"15,0 0-15,0 0 16,0 0 0,-9 36-16,7-17 15,2 8 1,2 4-16,1 6 16,1 14-16,0 15 15,3 22 1,2 23-16,0 19 15,0 2 1,-5-2-16,0-13 16,-4-16-1,0-13-15,-2-17 16,0-18-16,2-11 16,-2-11-1,0-7-15,2-4 16,0-5-1,-3-4-15,3-2 16,0-2 0,0-5-16</inkml:trace>
  <inkml:trace contextRef="#ctx1" brushRef="#br0">23852 9194 0,'-13'0'62,"13"14"-46,0 25 15,-13 1-15,-1 26 31,14-40-16,-13-12-15,0 12 265,0-13-265,0 14-1,-14-14 32,27 27 16</inkml:trace>
  <inkml:trace contextRef="#ctx0" brushRef="#br0" timeOffset="97903.01">24474 7801 0,'0'0'0,"0"0"0,0 0 16,0 0-1,0 0-15,-4-29 16,-1 14 0,-4-5-16,-6-2 15,-5-2 1,-4-1-16,-5 1 16,-4 2-16,0 4 15,0 3 1,0 2-16,0 2 15,0 2 1,-5 2-16,-1 3 16,-1 2-1,0 2-15,0 2 16,7 2 0,5 3-16,1 2 15,3 4-15,4 0 16,3 3-1,3 1-15,3 1 16,2-1 0,3 1-16,4-2 15,2-1-15,2 3 16,7 6 0,15 11-16,18 11 15,20 14 1,8 8-16,-4 1 15,-6-8-15,-10-12 16,-3-7 0,-5-7-16,-3-6 15,-6-3 1,-4-2-16,-2 3 16,-3 6-1,-2 4-15,-2 3 16,-5 2-16,-4-2 15,-4-5 1,-5-4-16,0-2 16,-2-3-1,-2-2-15,-2 1 16,-3-3 0,-4 0-16,0-3 15,-2-1 1,-3-5-16,1-2 15,-1-2-15,1-2 16,0-3 0,-3-2-16,-2-2 15,-6-4-15,-5-3 16,-5-4 0,1-4-16,2 0 15,2-3 1,5 0-16,1-2 15,6-2 1,3-6-16,5-8 16,5-8-1,6-4-15,6-5 16,7-2-16,5-3 16,0 3-1,2 2-15,-1 5 16,1 4-1,0 6-15,0 5 16,-2 9-16,-3 4 16,-2 5-1,0 1-15,-2 3 16,-2 3 0,-2 1-16,0 0 15,-1 3 1,1 0-16,-1 1 15,3 1-15</inkml:trace>
  <inkml:trace contextRef="#ctx0" brushRef="#br0" timeOffset="100699.35">24675 7168 0,'0'0'0,"0"0"15,0 0 1,0 0-16,0 0 16,0 0-16,0 0 15,0 0 1,0 0-16,-22 0 16,17 15-1,-1 16-15,-1 20 16,0 20-16,3 17 15,-1 11 1,3 13-16,2 3 16,2-9-1,5-16-15,2-17 16,2-18 0,4-15-16,7-7 15,5-11-15,6-7 16,2-8-1,-2-5-15,0-4 16,-2-5 0,0 1-16,-2-3 15,-3-2 1,-4 0-16,-4 0 16,-5 0-1,-4 2-15,-5 2 16,-1 3-16,-3 2 15,0 0 1,0-1-16,0 3 16,0 0-1,0 3-15,0-3 16,0 0 0,-7 13-16,3 0 15,-3 5-15,-2 6 16,-2 5-1,0 6-15,0 7 16,2 9 0,3 6-16,1 9 15,3 2-15,4 7 16,3 7 0,-1-3-16,0-2 15,1-4 1,-3-4-16,0-1 15,-4-4 1,-2-5-16,-3-6 16,-2-6-1,0-3-15,1-5 16,-3-1-16,-5-1 16,-4 3-1,-6 2-15,-9 0 16,-5-2-16,-4-7 15,-5-7 1,1-13-16,1-11 16,-1-10-1</inkml:trace>
  <inkml:trace contextRef="#ctx0" brushRef="#br0" timeOffset="101349.15">24355 7177 0,'0'0'16,"0"0"-16,0 0 15,0 0-15,0 0 16,0 0 0,0 0-16,0 0 15,0 0 1,26 4-16,-10-2 16,6 1-1,9-1-15,8 0 16,8 5-16,3 1 15,-1 1 1,-3 2-16,-6-2 16,-9 0-1,-7-2-15,-9-1 16,-4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152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1-09-13T06:49:41.0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1327 8462 0,'0'0'0,"0"0"0,0 0 16,0 0-16,0 0 16,0 0-1,0 0-15,-22-11 16,13 11-1,-8 2-15,-5 5 16,-22 8 0,-14 16-16,-3 11 15,-1 5-15,9 1 16,13 3 0,5-1-16,13 1 15,4-7 1,9-6-16,9-7 15,0-5 1,5-2-16,4 1 16,8 1-16,10 7 15,17 7 1,13 6-16,1 7 16,-6 4-1,-3 3-15,-5 2 16,-13 2-1,-5 6-15,-8-2 16,-14 1-16,-8-5 16,-9 2-1,-9 4-15,-9-1 16,-9-10 0,1-12-16,3-16 15,1-12 1,9-8-16,3-6 15,6-5-15,4-2 16,-1-1 0,6 1-16,3 0 15,1 2 1,-1 0-16,5 2 16,0-2-16,0 0 15,27 33 1,4 9-16,17 24 15,1 16 1,4 4-16,-9-5 16,0-14-1,-5-12-15,1-7 16,0-4-16,0-4 16,-5-5-1,0-4-15,-4-7 16,4-2-1,18-4-15</inkml:trace>
  <inkml:trace contextRef="#ctx0" brushRef="#br0" timeOffset="1069.53">1676 9166 0,'0'0'15,"0"0"-15,0 0 16,0 0-1,0 0-15,22-9 16,0 7 0,13-1-16,14 1 15,8 2-15,9 5 16,0 10 0,-4 14-16,-9 8 15,-18 7 1,-17 3-16,-9-3 15,-9-2-15,-5 2 16,-4 0 0,-4-7-16,4-8 15,5-9 1,-1-7-16,5-4 16,0-3-1,0 1-15,9 0 16,5 1-16,21 6 15,40 8 1,31 9-16,13 4 16,-18 0-1,-26 0-15,-18 3 16,-21 2 0,-10 4-16,-17 2 15,-9-4-15,-4 4 16,-14 5-1,-9 4-15,-8 0 16,-5-4 0,1-5-16,-1-11 15,9-10-15,9-12 16,9-4 0,4-5-16</inkml:trace>
  <inkml:trace contextRef="#ctx0" brushRef="#br0" timeOffset="1367.8">3440 10250 0,'0'0'0,"0"0"15,0 0-15,-9 25 16,4-1 0,-3 13-16,-6 7 15,1 7-15,0 2 16,-5 7-1,5 15-15</inkml:trace>
  <inkml:trace contextRef="#ctx0" brushRef="#br0" timeOffset="24652.95">4198 8718 0,'0'0'0,"0"0"15,0 0-15,0 0 16,0 0 0,0 0-16,-22-24 15,13 15 1,-4 0-16,-5-4 15,-8 0-15,-9-3 16,-10 1 0,1 2-16,-4 2 15,4 2 1,0 7-16,-5 2 16,-8 4-1,0 5-15,4 2 16,4 2-16,9 0 15,5 0 1,9 1-16,4-1 16,4 0-1,0 0-15,5 3 16,0-1 0,8-2-16,1-1 15,0-1-15,4-3 16,0 1-1,4 0-15,0 0 16,1 2 0,4 0-16,8 4 15,14 5 1,18 2-16,8 2 16,5 1-16,4-3 15,0 0 1,0 0-16,5 0 15,-5 2 1,-4 5-16,-1 4 16,1 4-16,0 5 15,-5 2 1,-4-2-16,-9 0 16,-9-4-1,-4-1-15,-9 3 16,0 4-1,-8 7-15,-1 4 16,-9-5-16,1-3 16,-5-8-1,-5 1-15,-3 0 16,-1 4 0,-9 2-16,0-4 15,-4-4-15,-4-8 16,4-5-1,0-8-15,4-6 16,1-2 0,-1-4-16,0-3 15,1-2 1,-5-5-16,-5-3 16,-4-8-1,-8-8-15,-1-7 16,5 0-16,4 0 15,9 0 1,0-4-16,8 0 16,1-5-1,4-2-15,5 3 16,4 1-16,0 7 16,0 5-1,0 4-15,4-3 16,5-1-1,9-11-15,4-19 16,13-19 0,5-11-16,-5 7 15,-8 17-15,-1 12 16,-8 10 0,-5 9-16,0 7 15,-4 4 1,-5 5-16,5 1 15,-4 3 1,-1 2-16,0 3 16,1 1-16</inkml:trace>
  <inkml:trace contextRef="#ctx0" brushRef="#br0" timeOffset="37597.94">4463 7422 0,'0'0'0,"0"0"16,0 0-16,0 0 15,0 0 1,0 0-16,0 0 15,8 26 1,-3-8-16,8 15 16,9 15-16,0 12 15,9 4 1,4 0-16,9 0 16,5 0-1,4 6-15,0 3 16,4 2-1,5-7-15,4-4 16,0-7-16,-9-4 16,-4-4-1,5-3-15,3-4 16,10-9 0,0-9-16,-1-8 15,-13-12 1,-4-6-16,0-7 15,-9-2-15,-4-4 16,-9 2 0,-5-1-16,-12 3 15,-1 2 1,-9 3-16,1 1 16,-5 3-16,-5 0 15,1 2 1,4 0-16,-27 11 15,1 9 1,-14 11-16,-4 6 16,0 1-1,0 1-15,-5 3 16,5 7-16,0 6 16,5 2-1,8-4-15,4-2 16,10-9-1,3 0-15,6-3 16,3-1 0,5 2-16,0 1 15,9 4-15,0 1 16,8 0 0,1-4-16,9 0 15,-1 0 1,0-3-16,5 6 15,-4-1 1,-5 0-16,-5-2 16,1 0-16,-5-7 15,-4-2 1,0 0-16,-5-2 16,1-3-1,-1 3-15,-8 0 16,-1 2-1,-3 3-15,-6-1 16,-8-2-16,-9-4 16,1-3-1,-10-4-15,-9 0 16,-8 0 0,4-4-16,0-5 15,5-2-15</inkml:trace>
  <inkml:trace contextRef="#ctx0" brushRef="#br0" timeOffset="62968.57">2342 11079 0,'0'0'0,"0"0"0,0 0 16,0 0-1,0 0-15,0 0 16,0 0-16,-22 0 16,13 3-1,0-1-15,-4 0 16,-1 2-1,1 1-15,-4 1 16,-6 5 0,1 3-16,0 6 15,0 8-15,0 5 16,0 3 0,9-3-16,4-2 15,5-1 1,4 1-16,4 2 15,14 7 1,8 9-16,14 1 16,8-1-16,10-3 15,8-4 1,5-5-16,-10-3 16,-8-6-1,-13 1-15,-9-1 16,-5 6-16,-8 3 15,-5 1 1,-9 1-16,1-8 16,-10-2-1,-3-3-15,-6 1 16,-3-3 0,-5-2-16,-5 0 15,-8 0-15,4 0 16,-4 0-1,4 0-15,5-2 16,8 0 0,0-5-16,9 1 15,1-1-15,8 1 16,0-1 0,0 3-16,4 4 15,9 6 1,5 12-16,13 13 15,13 9 1,0 4-16,0-4 16,-4-12-16,-9-10 15,-9-11 1,0-7-16,0-7 16,0-4-1,4-2-15,18 0 16</inkml:trace>
  <inkml:trace contextRef="#ctx0" brushRef="#br0" timeOffset="63858.78">3109 11507 0,'0'0'15,"0"0"1,0 0-16,0 0 16,0 0-1,0 0-15,0 0 16,9-26 0,4 17-16,9-7 15,26-8-15,19-7 16,8-2-1,0 7-15,-14 8 16,-12 12 0,-10 6-16,-8 6 15,-4 3-15,-10 4 16,-8 3 0,0-1-16,-9 1 15,0-3 1,0 0-16,-4 0 15,-1-2-15,1 0 16,-1 0 0,1-2-16,0-2 15,4-3 1,4 1-16,-4-3 16,4 0-1,5 0-15,0 0 16,9 3-16,4 4 15,9 6 1,8 11-16,1 8 16,-5 3-1,-4 7-15,-4 5 16,-10 6 0,-4 4-16,-8 1 15,-10 2-15,-8-3 16,0-6-1,-5-4-15,-4-8 16,5-3 0,-1-7-16,0-9 15,1-5 1,4-3-16,-5-6 16,5-1-16,4-2 15,0-1 1,5-2-16,-1-2 15</inkml:trace>
  <inkml:trace contextRef="#ctx0" brushRef="#br0" timeOffset="64219.66">4665 11964 0,'0'0'0,"0"0"15,0 0 1,0 0-16,0 0 16,-13 28-16,9-15 15,-9 14 1,-14 35-16,-13 39 16,-8 18-1,8-22-15,18-46 16</inkml:trace>
  <inkml:trace contextRef="#ctx0" brushRef="#br0" timeOffset="64822.33">3448 11474 0,'0'0'0,"0"0"16,0 0-1,0 0-15,0 0 16,0 0 0,0 0-16,31-2 15,9-3 1,13-1-16,0-1 15,-9 3-15,-4-1 16,-5 3 0,-9 0-16,1 0 15,-5 2 1,-5 0-16,1 0 16,-5 2-16</inkml:trace>
  <inkml:trace contextRef="#ctx0" brushRef="#br0" timeOffset="65971.31">4904 10557 0,'0'0'0,"0"0"15,0 0 1,0 0-16,0 0 15,0 0 1,0 0-16,-18 29 16,14 1-1,-10 28-15,1 19 16,0 16 0,0 4-16,4 4 15,0 7-15,5 0 16,4-7-1,4-1-15,0-10 16,1-13 0,4-6-16,-1-9 15,1-7-15,0-11 16,4-9 0,-4-9-16,4-6 15,5-4 1,0-5-16,8-9 15,9-6-15,5-10 16,9-8 0,-5-4-16,-9-3 15,-9 3 1,-8-1-16,-5 3 16,-8 2-1,-1 0-15,-4 0 16,-4-2-16,-10-1 15,-3-1 1,-14-1-16,-9 5 16,-4 9-1,4 7-15,5 3 16,4 6 0,5 1-16,4 0 15,9-1-15,-1-1 16</inkml:trace>
  <inkml:trace contextRef="#ctx0" brushRef="#br0" timeOffset="66405.19">5636 11673 0,'0'0'16,"0"0"-16,0 0 16,0 0-1,0 0-15,0 0 16,0 22 0,0-9-16,0 11 15,0 14 1,0 14-16,0 6 15,-5-7 1,1-14-16,4-8 16,-5-10-16</inkml:trace>
  <inkml:trace contextRef="#ctx0" brushRef="#br0" timeOffset="66938.22">5393 10775 0,'0'0'15,"0"0"-15,0 0 16,0 0 0,0 0-16,44-22 15,18-13-15,35-22 16,4-7 0,-8 2-16,-27 9 15,-17 11 1,-14 9-16,-4 11 15,-9 9 1,-5 6-16,-3 5 16,-6 4-16,1 9 15,5 16 1,3 23-16,1 30 16,-5 10-1,0 5-15,1-9 16,-6-7-1,6-8-15,-6-5 16,6-7-16,-1-8 16,0-9-1,5 0-15,-1 4 16,10 9 0</inkml:trace>
  <inkml:trace contextRef="#ctx0" brushRef="#br0" timeOffset="67255.05">6959 11126 0,'0'0'16,"0"0"-16,0 0 16,0 0-1,4 31-15,-4-7 16,-4 13-16,-10 18 16,-3 7-1,-5-2-15,4-10 16,0-14-1,10-12-15,-1-4 16</inkml:trace>
  <inkml:trace contextRef="#ctx0" brushRef="#br0" timeOffset="75578.63">7276 9624 0,'0'0'0,"0"0"0,0 0 15,0 0-15,0 0 16,0 0 0,-22 18-16,18-14 15,-5 1-15,4-1 16,1 0-1,0-1-15,-1-1 16,1 0 0,-1 0-16,1 1 15,4-3 1,-5 0-16,5 2 16,-4-2-16,4 0 15,-4 0 1,4 0-16,-5 0 15,5 0 1,-4 0-16,4 2 16,-5 0-1,5 0-15,-4 1 16,4-1-16,-4 0 16,4 0-1,-5 3-15,5-1 16,0 0-1,0 3-15,0-7 16,18 53 0,8 15-16,14 29 15,0 9-15,-1-4 16,-3-12 0,-10-8-16,-4-12 15,-4-8 1,-1-9-16,-3-7 15,-1-4-15,0-9 16,-4-4 0,-5-5-16,5-6 15,-4-7 1,-1-3-16,-4-3 16,4-1-1</inkml:trace>
  <inkml:trace contextRef="#ctx0" brushRef="#br0" timeOffset="75962.39">8162 10658 0,'0'0'0,"0"0"16,0 0-16,0 0 15,0 0 1,0 36-16,0-8 15,0 12 1,0 15-16,-4 11 16,0 7-1,-5-2-15,4-14 16,1-11-16,0-15 16,4-7-1,-5-4-15</inkml:trace>
  <inkml:trace contextRef="#ctx0" brushRef="#br0" timeOffset="76730.84">8198 9651 0,'0'0'0,"0"0"16,0 0-16,0 0 15,0 0 1,0 0-16,39-49 16,14 3-1,13-9-15,-8 4 16,-10 9-16,-4 9 16,-4 9-1,0 6-15,-5 9 16,-4 7-1,0 9-15,0 6 16,-5 5 0,-4 6-16,-4 9 15,-7 4-15,-5 10 16,-1 1 0,-5 1-16,-2 1 15,-3 1 1,-1 0-16,-3-3 15,2-8-15,3-9 16,2-9 0,2-7-16,2-4 15,0-2 1,2-2-16,3-3 16,0-1-1,1-3-15,-8 0 16,31-5-1,-9 3-15,3 2 16,-1 0-16,-2 2 16,-2 3-1,-3-1-15,-1 3 16,-3 1 0,-2 1-16,-4-2 15,-1-3-15,-1-2 16,-1-2-1</inkml:trace>
  <inkml:trace contextRef="#ctx0" brushRef="#br0" timeOffset="77181.08">9624 10206 0,'0'0'0,"0"0"16,0 0-16,0 0 16,0 0-1,0 0-15,-2 40 16,-2-3 0,-3 23-16,-2 13 15,-2 6 1,0-4-16,2-9 15,0-11-15,3-11 16,1-10 0,3-10-16,0-9 15,0-6 1</inkml:trace>
  <inkml:trace contextRef="#ctx0" brushRef="#br0" timeOffset="77797.53">9626 9031 0,'0'0'0,"0"0"16,0 0-16,0 0 15,0 24-15,-2 9 16,0 25 0,-2 15-16,-1 8 15,1-2 1,-1-6-16,3-9 15,0-13-15,2-11 16,2-10 0,0-5-16,3-5 15,1-3 1,8-4-16,10-2 16,11-6-1,11-10-15,16-10 16,7-11-1,3-8-15,3-1 16,0 0-16,-9 4 16,-10 7-1,-12 4-15,-7 5 16,-4 3 0,0 1-16,-2 3 15,-4-1-15,-5 2 16,-3 1-1,-3-1-15,-5 0 16,-2-1 0,-3-3-16,-1-5 15,-3-4 1</inkml:trace>
  <inkml:trace contextRef="#ctx0" brushRef="#br0" timeOffset="78163.8">10105 8806 0,'0'0'16,"0"0"-16,0 0 16,0 0-1,0 0-15,0 0 16,0 0-1,2 40-15,7 0 16,4 19 0,9 23-16,7 15 15,2 11-15,0 4 16,-3-4 0,-4-4-16,1-7 15,-5-13 1,-1-9-16,-1-11 15,-2-9-15,-5-13 16,-3-9 0,1-11-16,0-9 15</inkml:trace>
  <inkml:trace contextRef="#ctx0" brushRef="#br0" timeOffset="78799.42">11139 10037 0,'0'0'16,"0"0"0,0 0-16,0 0 15,0 39 1,-4 21-16,-3 32 15,-4 21 1,-5 10-16,-1-1 16,-3 5-16,-4 21 15,-5 9 1</inkml:trace>
  <inkml:trace contextRef="#ctx0" brushRef="#br0" timeOffset="85620.4">11904 8925 0,'0'0'0,"0"0"0,0 0 16,-31-33 0,11 9-16,-4-7 15,-7-2 1,-8 2-16,-14 0 16,-7 7-16,1 4 15,1 7 1,3 4-16,0 5 15,0 2 1,2 6-16,4 3 16,10 1-1,6 1-15,4 2 16,7 0-16,4 0 16,5 0-1,4-2-15,5 0 16,2 0-1,2-3-15,2 5 16,15 11-16,25 20 16,47 22-1,38 18-15,8-3 16,-1-2 0,-6-2-16,-22-11 15,-15-9-15,-16-10 16,-14-4-1,-6 3-15,-2 5 16,-2 6 0,-7 2-16,-9 1 15,-8-3 1,-12-2-16,-10-5 16,-10 1-1,-10 2-15,-9-1 16,-7-6-16,-9-4 15,-11-7 1,-15-6-16,-11-10 16,0-10-1,2-16-15,-4-20 16,-3-17-16,5-13 16,13-8-1,18-8-15,21-6 16,21-5-1,21-27-15,25-21 16,18-3 0,10 5-16,10 8 15,4 14-15,-3 9 16,-8 19 0,-18 25-16,-15 17 15,-12 14 1,-8 10-16,-4 7 15,-5 3 1</inkml:trace>
  <inkml:trace contextRef="#ctx0" brushRef="#br0" timeOffset="86454.92">12080 8023 0,'0'0'15,"0"0"-15,0 0 16,0 0-1,0 0-15,0 0 16,0 0 0,0 0-16,0 0 15,18 31 1,-11-9-16,4 11 16,4 18-1,12 29-15,12 30 16,14 18-16,5-11 15,-8-23 1,-6-19-16,-11-17 16,-6-19-1,-3-12-15,0-12 16,1-6-16,-1-5 16,0-4-1,3-2-15,1-2 16,1-3-1,-5 1-15,-6-1 16,-5 3 0,-4 1-16,-3 3 15,-1 0-15,-3 3 16,0 3 0,-2 3-16,0 4 15,-2 7 1,2 13-16,0 18 15,7 26-15,6 22 16,7 12 0,0-10-16,-3-13 15,-4-11 1,-1-8-16,-4-12 16,-1-9-1,-3-3-15,-1-1 16,-3 0-16,-3 0 15,-1-2 1,-3-3-16,-1-1 16,-10-1-1,-17 10-15,-27 12 16,-24 14 0,-22 17-16,-7 3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152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1-09-13T03:27:17.6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15749 1645 0,'0'0'0,"0"0"0,0 0 15,0 0-15,0 0 16,0 0 0,0 0-16,0 0 15,-22-5 1,7 5-16,-9 0 15,-9 0-15,-7 0 16,0 0 0,0 5-16,7-1 15,5 1 1,6-1-16,4 0 16,5 1-1,2-1-15,0 1 16,0 4-16,2-1 15,0 1 1,0 9-16,3 4 16,3 4-1,6 5-15,3 9 16,10 0-16,8 4 16,7-5-1,4-3-15,0-6 16,-6-7-1,-7-1-15,-6 0 16,-5-5 0,-3 5-16,-1 5 15,-5-1-15,-4 1 16,-5 4 0,-6 4-16,-2-4 15,-3-5 1,0-4-16,1-4 15,4-5-15,-1-4 16,3-5 0,2 5-16,1-4 15,1-1 1,3-4-16,-1 4 16,3-4-1,0 5-15,0-5 16,-1 4-16,3-4 15,0 5 1,0-1-16,0 5 16,0 0-1,0 8-15,3 1 16,-1 8 0,2 10-16,1-1 15,-1 5-15,0-5 16,1 0-1,-1-8-15,3-1 16,0-4 0,-1 0-16,3 0 15,0-4 1,0 0-16,-3-5 16,1-4-16,-1-1 15,-1 1 1</inkml:trace>
  <inkml:trace contextRef="#ctx0" brushRef="#br0" timeOffset="828.3">16327 1874 0,'0'0'0,"0"0"15,0 0 1,0 0-16,0 0 16,0 0-1,0 0-15,29-4 16,-14-1-16,5-4 15,4 5 1,3 0-16,1 4 16,5 4-1,7 14-15,-5 8 16,-8 9 0,-14-4-16,-11 0 15,-6 4-15,-5-4 16,-2 0-1,0-4-15,0-5 16,2-5 0,3-3-16,1-6 15,3 1-15,2-4 16,0-1 0,0 0-16,2 5 15,5 0 1,8 4-16,16 5 15,13 13 1,9 9-16,-2 12 16,-14 1-16,-17 0 15,-16 5 1,-12-5-16,-14 4 16,-11-9-1,-3-8-15,3-14 16,5-3-1,3-10-15,8-4 16,3-5-16,3 0 16,3 1-1,3-5-15,1-5 16</inkml:trace>
  <inkml:trace contextRef="#ctx0" brushRef="#br0" timeOffset="1155.71">17560 2791 0,'0'0'0,"0"0"16,-23 44-1,-18 23-15,-19 21 16,5-13 0,15-22-16,16-18 15,6-13-15,7-9 16,5-8-1,1-1-15,3-4 16</inkml:trace>
  <inkml:trace contextRef="#ctx0" brushRef="#br0" timeOffset="2201.52">18422 1680 0,'0'0'16,"0"0"-16,0 0 16,0 0-1,0 0-15,0 0 16,0 0-1,0 0-15,0 0 16,-27 0-16,14 0 16,-3 0-1,1 0-15,0 0 16,-1 0 0,5 5-16,2-5 15,1 4-15,1-4 16,3 4-1,-1-4-15,3 5 16,0-5 0,-1 4-16,3-4 15,0 5 1,0-5-16,18 48 16,11 23-16,10 30 15,3 0 1,-6-12-16,-10-14 15,-10-18 1,-8-13-16,-3-9 16,-5-4-1,-2 0-15,-3-4 16,1-1-16,-1 0 16,1 1-1,0-1-15,-3-4 16,-2 5-1,0-9-15,-2-1 16,0-4 0,-2 1-16,-2-6 15,-3 1-15,-4 0 16,-2-5 0,-5 1-16,-2-5 15,-4-5 1,0-3-16,4-6 15,6 6-15,8-6 16,4 6 0,4-6-16,2 1 15,5 0 1,2-5-16,4-8 16,5-5-1,7-13-15,6-5 16,6-4-16,5 0 15,5 1 1,2-1-16,1-5 16,10 1-1,9-5-15,4-4 16,-5 0 0,-13 17-16,-8 10 15,-12 8-15,-6 9 16,-4 9-1,-3-1-15,-4 6 16,-3 3 0,-1 1-16,-1-1 15,1 5-15</inkml:trace>
  <inkml:trace contextRef="#ctx0" brushRef="#br0" timeOffset="3119.69">19129 1266 0,'0'0'16,"0"0"-16,0 0 15,0 0 1,0 0-16,0 0 15,0 0-15,22 13 16,-15-9 0,2 1-16,0 3 15,-3 6 1,-4 21-16,-13 36 16,-19 39-1,-8 9-15,3-13 16,4-27-16,7-22 15,6-13 1,5-17-16,4-5 16,5-9-1,1-4-15,6-5 16,5 1-16,12-5 16,24-5-1,29-12-15,4-10 16,-15 5-1,-18 5-15,-15 3 16,-12 6 0,-6 8-16,-4 0 15,-2 0-15,-1 8 16,-2 6 0,-4 8-16,-7 17 15,-11 28 1,-8 12-16,-3 9 15,4-4-15,5-9 16,5-5 0,1 1-16,3-5 15,0-9 1,-1-8-16,1-5 16,0 0-1,0 5-15,-3-1 16,-1 9-16,-5-4 15,-3 0 1,-3-9-16,-5-4 16,-3-9-1,-1-9-15,-1 0 16,5-9 0,-9 5-16,-26 0 15</inkml:trace>
  <inkml:trace contextRef="#ctx0" brushRef="#br0" timeOffset="27172.33">15125 8076 0,'0'0'0,"0"0"0,0 0 16,0 0 0,0 0-16,0 0 15,0 0-15,0 0 16,0 0-1,-24-17-15,20 15 16,-3-3 0,0 1-16,1 2 15,-3-1 1,0 3-16,-2 0 16,-4 3-16,-7 1 15,-7 5 1,-2 0-16,-2 2 15,2 2 1,3 0-16,1 3 16,5-1-16,2 0 15,5 1 1,2-1-16,-1 1 16,3-1-1,0 1-15,0 1 16,0 7-1,-4 7-15,-1 5 16,3-1-16,4-2 16,3-7-1,3-4-15,3-4 16,3-2 0,1 1-16,3 3 15,6 9 1,13 17-16,18 27 15,14 17-15,1 3 16,-10-16 0,-16-15-16,-13-12 15,-11-6 1,-7-2-16,-9 5 16,-10 3-1,-12 5-15,-6-4 16,-3-7-16,1-6 15,1-5 1,1-5-16,2-5 16,0-6-1,2-6-15,2-4 16,3-3 0,2-4-16,-1-2 15,3 0-15,3-3 16,3 1-1,3 0-15,4-1 16,2 1 0,5-1-16,2 1 15,0 4-15,0 0 16,16-20 0,-5 13-16,0 1 15,2-1 1,0 3-16,0-1 15,1 3 1,-1 0-16,0 0 16,-2 0-16,0 2 15,-2 0 1,2 2-16,0 2 16,0 3-1,0 4-15,0 9 16,0 8-1,0 12-15,-2 11 16,-2 8-16,-3 3 16,-2 4-1,-2 0-15,0 0 16,0-4 0,0-7-16,0-2 15,2-2 1,3 2-16,1 0 15,5 0-15,5 0 16,6-3 0,7-3-16,1-10 15,1-6 1,0-7-16,-4-6 16,-3-5-1,-4-2-15,-3-4 16,-3-1-16,-3-1 15,-3-1 1,-1-2-16,-3 1 16</inkml:trace>
  <inkml:trace contextRef="#ctx0" brushRef="#br0" timeOffset="28690.96">15123 8775 0,'0'0'15,"0"0"1,0 0-16,0 0 15,0 0-15,0 0 16,0 0 0,0 0-16,0 0 15,27-13 1,1 4-16,14-2 16,9-2-1,0 2-15,1 4 16,6 3-16,-1 2 15,0 6 1,-6 5-16,-9 4 16,-7 3-1,-8-1-15,-10 3 16,-3 4-16,-8 2 16,-6 3-1,-9 10-15,-8 9 16,-10 1-1,-3-3-15,-1-5 16,2-3 0,3-5-16,1-3 15,3-4-15,5-4 16,6-4 0,2-5-16,4-2 15,1-3 1,4-1-16,4-1 15,10 3 1,19 8-16,24 7 16,16 7-16,2 8 15,-3 7 1,-10 9-16,-16 7 16,-15-1-1,-15-6-15,-12-11 16,-8-4-1,-9-1-15,-7 3 16,-5-3-16,-5 3 16,-3-3-1,-5-1-15,-2-5 16,-4-5 0,-2-4-16,0-4 15,4-3 1,9-4-16,6-2 15,7-2-15,5-1 16,4-1 0,4-1-16</inkml:trace>
  <inkml:trace contextRef="#ctx0" brushRef="#br0" timeOffset="29091.24">16164 10052 0,'0'0'15,"0"0"-15,0 0 16,0 0 0,-2 31-16,-1-14 15,-1 8 1,-3 3-16,-1 3 15,-1-2-15,-2 2 16,0-5 0,2-4-1,0-2-15,0-2 16,0-1-16</inkml:trace>
  <inkml:trace contextRef="#ctx0" brushRef="#br0" timeOffset="40517.58">16746 8403 0,'0'0'0,"0"0"0,0 0 15,0 0 1,0 0-16,0 0 16,-27 17-16,19-10 15,-1 2 1,-2 4-16,0 5 15,-2 4 1,-1 6-16,-3 16 16,-3 25-1,0 28-15,2 22 16,3 2-16,6-11 16,5-10-1,-1-14-15,1-5 16,2-1-1,-1-1-15,3-4 16,3 0 0,5 2-16,8 9 15,8 2 1,9-4-16,3-16 16,-1-15-16,-2-15 15,-7-12 1,-1-8-16,-6-7 15,1-4 1,0-5-16,0-2 16,2-5-16,4-4 15,8-6 1,5-14-16,10-13 16,-3-6-1,-6 2-15,-12 6 16,-10 9-1,-7 5-15,-4 4 16,-3 0-16,-4 4 16,-2-2-1,-7-4-15,-11-7 16,-11-4 0,-11-3-16,-2 5 15,5 9-15,3 4 16,6 7-1,3 4-15,1 2 16,-1 3 0,-2 2-16,1 0 15,-1-1 1,3 3-16,1 0 16,3 0-16,5 0 15,4 0 1,4 3-16,4-1 15</inkml:trace>
  <inkml:trace contextRef="#ctx0" brushRef="#br0" timeOffset="41067.68">17617 9979 0,'0'0'0,"0"0"15,0 0 1,0 0-16,0 0 16,0 0-1,0 0-15,0 22 16,-2-11 0,-1 5-16,-3 6 15,-3 4-15,-4 1 16,-3 1-1,-1-1-15,1-3 16,-1 3 0,-12 12-16,-22 21 15</inkml:trace>
  <inkml:trace contextRef="#ctx0" brushRef="#br0" timeOffset="41885.68">17432 8707 0,'0'0'0,"0"0"15,0 0 1,0 0-16,28-4 16,27-10-16,25-8 15,8-6 1,-6-3-16,-16 0 15,-9-2 1,-6 0-16,-1 2 16,-3 2-1,-8 7-15,-8 7 16,-9 4-16,-6 4 16,-7 5-1,-3 0-15,-1 2 16,-3 0-1,0 0-15,0 2 16,0 2 0,3 7-16,-1 11 15,1 25-15,-1 30 16,3 26 0,-1 14-16,1 0 15,0-9 1,-5-9-16,-2-8 15,0-14 1,-2-6-16,-3-10 16,1-8-16,-3-6 15,3-12 1,-1-7-16,3-5 16,0-8-1,0-6-15,2-5 16</inkml:trace>
  <inkml:trace contextRef="#ctx0" brushRef="#br0" timeOffset="42368.94">18834 9587 0,'0'0'0,"0"0"15,0 0-15,0 0 16,0 0-16,0 0 16,0 0-1,0 0-15,7 24 16,-12 5 0,-17 43-16,-37 72 15</inkml:trace>
  <inkml:trace contextRef="#ctx0" brushRef="#br0" timeOffset="58148.35">19434 8273 0,'0'0'0,"0"0"0,0 0 16,0 0-16,0 0 15,0 0 1,0 0-16,0 0 16,0 22-1,0 2-15,0 18 16,2 13 0,0 7-16,0 2 15,0 2-15,1 9 16,-1 2-1,0-2-15,0-5 16,0-10 0,1-7-16,-1-9 15,-2-7 1,0-10-16,0-7 16,0-5-1,0-4-15,0-2 16,0-5-16,0-1 15</inkml:trace>
  <inkml:trace contextRef="#ctx0" brushRef="#br0" timeOffset="58776.31">20007 9258 0,'0'0'16,"0"0"-16,0 0 15,0 0 1,0 0-16,0 0 16,0 0-1,-2 27-15,-3-12 16,-4 7 0,-2 2-16,-4 1 15,-3-1-15,-1 0 16,-1 0-1,-2 3-15,-3 2 16,-1 1 0,2 1-16,-1-4 15,1-3 1,4-4-16,0-5 16,5-4-16,2-2 15,2-2 1,4-3-16,3-2 15,2-2 1</inkml:trace>
  <inkml:trace contextRef="#ctx0" brushRef="#br0" timeOffset="59836.44">20166 8376 0,'0'0'16,"0"0"-16,0 0 16,0 0-1,0 0-15,0 0 16,0 0-16,0 0 15,0 0 1,0 0-16,0 0 16,24-35-1,0 13-15,9-2 16,3-1 0,-1 6-16,-2 1 15,-4 5 1,-1 2-16,1 2 15,0 2-15,-1 3 16,1 2 0,-3 2-16,-1 0 15,-3 2-15,0 2 16,-2 3 0,-1 8-16,-3 14 15,-3 22 1,-11 13-16,-8 11 15,-8 0 1,-3-9-16,-5-7 16,-5 3-16,1 0 15,-5-1 1,0-3-16,2-10 16,5-12-1,6-12-15,5-7 16,4-3-16,3-6 15,1-1 1,3-2-16,2-3 16,2 0-1,1 0-15,1 0 16,3 1 0,-1-1-16,5-2 15,5 0-15,4 0 16,4 0-1,4 0-15,6 0 16,-1 2 0,2-2-16,-2 0 15,-2 0 1,-5 0-16,-4 0 16,-4 0-16,-5 0 15,-2 0 1,-2 0-16,0 0 15,-3 0 1,1 0-16,-2 0 16,-1 0-16,0 0 15,1 0 1,-1-2-16</inkml:trace>
  <inkml:trace contextRef="#ctx0" brushRef="#br0" timeOffset="60400.35">21319 9139 0,'0'0'16,"0"0"-16,0 0 16,0 0-1,0 0-15,0 0 16,0 0 0,-2 22-16,-5 2 15,-6 16-15,-7 11 16,-7 4-1,-1 0-15,-3-2 16,0-2 0,0-5-16,5-6 15,4-7 1,2-7-16,4-6 16,5-7-16,3-4 15,1-2 1,5-3-16,2-4 15,0 0 1</inkml:trace>
  <inkml:trace contextRef="#ctx0" brushRef="#br0" timeOffset="61074.94">21427 7871 0,'0'0'15,"0"0"-15,0 0 16,0 0-1,0 0-15,0 0 16,-9 33 0,-2-2-16,-7 13 15,-4 7 1,-2 4-16,-2 0 16,-1 3-1,3 1-15,0 5 16,2-2-16,4-5 15,5-10 1,2-12-16,4-7 16,3-6-1,1-6-15,1-5 16,2-2-16,0-3 16,2 1-1,3-3-15,1 1 16,8-1-1,10-2-15,20-4 16,27-4 0,12-5-16,-1 0 15,-9 0-15,-9 0 16,-11 2 0,-9 2-16,-9 0 15,-6 3 1,-7 0-16,-5 1 15,-3 1 1,-3 0-16,-5 0 16,-1 0-16,-3-1 15,0 1 1</inkml:trace>
  <inkml:trace contextRef="#ctx0" brushRef="#br0" timeOffset="61552.09">21603 7794 0,'0'0'15,"0"0"-15,0 0 16,0 0 0,0 0-16,0 0 15,0 0 1,0 31-16,2-4 16,1 14-16,1 21 15,3 15 1,1 18-16,1 9 15,5 10 1,-1 1-16,-2-9 16,-2-9-1,-1-9-15,-1-13 16,-5-11-16,0-9 16,1-9-1,-1-8-15,0-9 16,-2-7-1,0-5-15,0-6 16,0-4 0,2-3-16</inkml:trace>
  <inkml:trace contextRef="#ctx0" brushRef="#br0" timeOffset="62018.28">22318 9093 0,'0'0'0,"0"0"16,0 0-1,0 0-15,0 0 16,0 0 0,0 0-16,0 0 15,0 0 1,0 33-16,-5-9 16,-6 16-16,-20 24 15,-28 28 1,-25 23-16</inkml:trace>
  <inkml:trace contextRef="#ctx0" brushRef="#br0" timeOffset="88824.01">23107 7768 0,'0'0'0,"0"0"0,0 0 0,0 0 16,0 0-1,-15-27-15,8 18 16,0-2 0,-2-2-16,1 2 15,-1-2 1,-2 2-16,0 0 16,-2 0-16,-3 2 15,-2 0 1,1 0-16,-3 1 15,0 1 1,0 3-16,0 1 16,3 3-16,-1 0 15,1 0 1,1 3-16,1-1 16,1 0-1,1 0-15,2 0 16,0 1-1,2 1-15,1 0 16,-1 1 0,2-1-16,0 1 15,1-1-15,-1 0 16,3 1 0,-1 1-16,1 1 15,0 0 1,-1-1-16,1 1 15,-1 0-15,1-1 16,2 3 0,0-2-16,-1-1 15,1 1 1,2-1-16,0 1 16,0 0-1,0-1-15,0 1 16,0-3-1,0 3-15,0-7 16,0 0-16,7 20 16,-5-11-1,2 4-15,3 9 16,4 7 0,7 10-16,6 5 15,7 5-15,6-1 16,7-1-1,3-3-15,1-5 16,3-1 0,0-3-16,-3-2 15,1 0 1,-5-2-16,-2 0 16,-9 0-16,-5-2 15,-3-3 1,-8-4-16,-1 0 15,-5-2 1,-2 2-16,-3 2 16,-1 3-16,-3 4 15,-2-1 1,-5 6-16,-6 6 16,-4 2-1,-7-2-15,-5-3 16,-4-3-1,3-8-15,-1-6 16,3-6-16,4-5 16,0-2-1,0-3-15,0 1 16,-3-3 0,1-2-16,0-2 15,-3-4-15,-1-5 16,-3-6-1,-2-5-15,2-7 16,4-3 0,3-3-16,6 2 15,3 2 1,4 3-16,2-1 16,3 1-16,-1-1 15,0-1 1,3-1-16,0-2 15,-1-2 1,3-2-16,2-1 16,0 1-1,2 0-15,5 0 16,2-3-16,2-2 16,4 1-1,3-3-15,1 2 16,1 0-1,0 5-15,-2 6 16,-1 3 0,1 2-16,-2 4 15,-1 2-15,-2 3 16,0 2 0,-2 2-16,0 0 15,0 0 1,1 2-16,-1 0 15,-3 0-15,1 2 16,-2 1 0,-1 1-16,1 1 15,2 2 1</inkml:trace>
  <inkml:trace contextRef="#ctx0" brushRef="#br0" timeOffset="92110.23">23488 7009 0,'0'0'16,"0"0"-1,0 0-15,0 0 16,0 0 0,-11 29-16,9-18 15,0 4-15,0 7 16,-3 11-1,3 14-15,2 10 16,2 5 0,5 4-16,4 0 15,7 5-15,4 4 16,4-3 0,3-3-16,-1-7 15,1-7 1,0-2-16,2-1 15,2 4 1,4-6-16,3-6 16,4-8-16,-2-14 15,-2-9 1,-5-9-16,-6-4 16,-1-4-1,-1-5-15,-5-2 16,-2 0-1,-5 0-15,-4 0 16,-4 2-16,-3 3 16,-2-1-1,0 3-15,-2 1 16,0 1 0,0 2-16,0 0 15,0 0 1,0 0-16,0 0 15,-22 20-15,11-2 16,0 4 0,-2 2-16,0 0 15,0 3 1,-1 1-16,3 5 16,-2 7-1,0 6-15,2 5 16,0 2-16,2-2 15,2-1 1,3 3-16,2 5 16,2 1-1,0 1-15,2 1 16,0 1-16,-2 4 16,0 3-1,-2-1-15,0-2 16,-3-4-1,1-5-15,0-4 16,-1-4 0,-1-7-16,-1-1 15,0-3-15,-4 2 16,0-3 0,-4-2-16,-5 5 15,-4 0 1,-12 6-16,-14 9 15,-12 9 1,-11 7-16,-2-3 16,-2-11-16,-2-10 15,-3-14 1,5-11-16,4-13 16,5-14-1</inkml:trace>
  <inkml:trace contextRef="#ctx0" brushRef="#br0" timeOffset="92894.38">23147 7148 0,'0'0'16,"0"0"-16,0 0 15,0 0 1,0 0-16,0 0 16,0 0-1,31-11-15,-14 5 16,12-3-16,4-2 15,2 0 1,-2 0-16,-4 2 16,-7 2-1,-4 3-15,-5 2 16,-2 2-16,-2 0 16,-1 2-1,6 0-15,-1 0 16,2 0-1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152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1-09-13T03:33:39.6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878 9424 0,'0'0'0,"0"0"0,0 0 16,0 0-16,0 0 15,0 0 1,0 0-16,0 0 16,-18-22-1,13 17-15,1 3 16,-5 0-16,5 0 15,-5 2 1,5 0-16,4 0 16,0 0-1,-40 13-15,18-2 16,0 4 0,0 5-16,0 6 15,0 5-15,8 2 16,1 3-1,9-3-15,4-5 16,9 3 0,8 7-16,5 1 15,9 3-15,0 5 16,0 6 0,-5 2-16,5 0 15,-4 0 1,-5-4-16,-5-5 15,1 0 1,-5 1-16,-4 1 16,-5 1-16,-4-5 15,-4-2 1,0-5-16,-1-4 16,-4-4-1,1-5-15,-6-2 16,1-2-1,-4 0-15,-6-5 16,-3 1-16,0-5 16,-1-2-1,5-3-15,0-1 16,4-3 0,5 0-16,0-2 15,4-2-15,5 0 16,4-1-1,0 1-15,0 2 16,0 0 0,0 0-16,0 0 15,44-15 1,-27 12-16,5 6 16,5 6-16,8 13 15,9 17 1,5 19-16,-10 8 15,-12 0 1,-5-4-16,-13-3 16,-9-2-1,0-1-15,-5-4 16,1-3-16,0-9 16,4-9-1,4-3-15,5 1 16,8-3-1,1 1-15,0-5 16,4-2 0,0-5-16,-5-4 15,-3-4-15,3-5 16,10-6 0</inkml:trace>
  <inkml:trace contextRef="#ctx0" brushRef="#br0" timeOffset="1935.08">1596 9836 0,'0'0'0,"0"0"15,0 0 1,0 0-16,0 0 15,0 0 1,0 0-16,0 0 16,0 0-1,-4 22-15,4-13 16,4 6-16,1 7 16,4 9-1,8 11-15,10 4 16,8 3-1,5-1-15,8 3 16,5 4-16,0 5 16,-5 1-1,-3 1-15,-6-7 16,-3-6 0,-6-3-16,-8-4 15,0-2 1,-8-1-16,-5 1 15,-5-2-15,-8-1 16,-5-2 0,-5-2-16,-3-4 15,-1-7 1,1-7-16,-1-3 16,-4-1-1,-9-3-15,-9 1 16,-13 0-16,-4-2 15,4-5 1,9-2-16,4 0 16,1-2-1,8-1-15,0-1 16,5 0-16,8-1 16,0 1-1,5-1-15,4 1 16,5 0-1,4 1-15</inkml:trace>
  <inkml:trace contextRef="#ctx0" brushRef="#br0" timeOffset="2402.55">1610 9712 0,'0'0'0,"0"0"16,0 0-16,0 0 16,0 0-1,0 0-15,26-2 16,-4-2 0,9-3-16,13-4 15,0-2 1,9 0-16,0-3 15,4 5-15,-4 2 16,-9 3 0,-8 4-16,-10-1 15,-4 3 1,-9 0-16,1 0 16,-6 0-1,6 5-15</inkml:trace>
  <inkml:trace contextRef="#ctx0" brushRef="#br0" timeOffset="2733.5">2778 10883 0,'0'0'15,"0"0"1,0 0-16,0 0 16,-13 29-16,-18 33 15</inkml:trace>
  <inkml:trace contextRef="#ctx0" brushRef="#br0" timeOffset="5905.86">3426 8683 0,'0'0'0,"0"0"15,-17 31-15,-14 22 16,-22 35-1,-4 22-15,4 5 16,4 4-16,9 13 16,5 11-1,9 7-15,-1 9 16,10-2 0,3 3-16,6-7 15,8-10 1,13-4-16,4-18 15,10-17-15,8-25 16,5-22 0,4-19-16,5-16 15,-1-13 1,14-18-16,13-20 16,13-24-1,-4-13-15,-18 2 16,-22 5-16,-13 1 15,-9 1 1,-9 0-16,-4 4 16,-5 11-1,-4 11-15,0 7 16,-4 6-16,-5 3 16,0 2-1,-8 2-15,-10 2 16,-4 2-1,-13 5-15,-4 4 16,-14 7 0,-9 6-16,-4 3 15,9 0-15,13-3 16,18-4 0,9-4-16,12-3 15,10-2 1</inkml:trace>
  <inkml:trace contextRef="#ctx0" brushRef="#br0" timeOffset="6390.58">4167 10427 0,'0'0'0,"0"0"15,0 0 1,0 0-16,9 37 15,0 16 1,-9 29-16,-5 17 16,-3 2-1,-10-12-15,5-19 16,-5-15-16,5-15 16,0-11-1</inkml:trace>
  <inkml:trace contextRef="#ctx0" brushRef="#br0" timeOffset="8507.62">4410 9435 0,'0'0'0,"0"0"16,0 0-16,0 0 15,22 0 1,4-5-16,23-8 15,30-16-15,9-10 16,-4-5 0,-9 2-16,0 4 15,-9 7 1,-4 9-16,-14 7 16,-8 6-1,-13 9-15,-5 4 16,-5 10-16,5 12 15,-4 14 1,0 8-16,-10 12 16,1 15-1,-4 15-15,-10 34 16,1 19 0,-1 2-16,-3-6 15,3-24-15,1-20 16,-1-22-1,1-16-15,4-15 16,-4-14 0,4-8-16,0-9 15,0-4-15,0-5 16,0 0 0,0-2-16</inkml:trace>
  <inkml:trace contextRef="#ctx0" brushRef="#br0" timeOffset="8859.52">5838 10619 0,'0'0'0,"0"0"16,0 0-16,0 0 15,0 0 1,0 0-16,0 0 15,-26 22-15,13-9 16,-5 9 0,-8 9-16,-5 11 15,-4 6 1</inkml:trace>
  <inkml:trace contextRef="#ctx0" brushRef="#br0" timeOffset="13962.23">6068 9049 0,'0'0'0,"0"0"0,0 0 16,0 0-1,0 0-15,17 33 16,1 13-16,17 36 15,5 35 1,4 8-16,-9-8 16,-8-9-1,-10-13-15,1-13 16,-9-5-16,0-11 16,0-13-1,-5-11-15,-4-11 16,4-7-1,-4-7-15,5-6 16,-5-2 0,0-2-16</inkml:trace>
  <inkml:trace contextRef="#ctx0" brushRef="#br0" timeOffset="14372.27">7131 10264 0,'0'0'0,"0"0"16,0 0 0,0 0-16,0 0 15,0 0-15,0 0 16,-9 30-1,0 4-15,-9 21 16,-8 15 0,-5-1-16,0-12 15,-4-2 1,-5 5-16</inkml:trace>
  <inkml:trace contextRef="#ctx0" brushRef="#br0" timeOffset="16230.61">7400 9260 0,'0'0'15,"0"0"-15,0 0 16,0 0 0,0 0-16,0 0 15,0 0-15,0 0 16,0 0 0,0 0-16,0 0 15,13-28 1,0 17-16,9 2 15,9 2-15,9 7 16,17 11 0,5 14-16,-1 14 15,-3 12 1,-10 2-16,-17 0 16,-9 0-1,-9-3-15,-4-1 16,-9-5-1,0-4-15,-4-1 16,-1 1-16,-3 4 16,-6 5-1,-3 4-15,3-3 16,1-6 0,-4-6-16,3-9 15,6-7-15,-1-7 16,0-4-1,0-2-15,5-2 16,4-3 0,-5-2-16,5 0 15,0 1-15,0-3 16,5 0 0,-5 0-16,4 0 15,5 0 1,-9 0-16,44-5 15,-9 5 1,1 2-16,-6 1 16,-3 1-16,-5 0 15,-4 1 1,-5-1-16,0-2 16,-4 3-1,0-3-15,-1 0 16,-3 0-1,-1 1-15,1-1 16,-1 0-16,1-2 16,-5 0-1,4 0-15</inkml:trace>
  <inkml:trace contextRef="#ctx0" brushRef="#br0" timeOffset="16764.66">8709 10103 0,'0'0'0,"0"0"0,0 0 16,0 0 0,0 0-16,0 0 15,0 0 1,-11 39-16,-6 8 15,-12 23 1,-2 5-16,5-11 16,6-18-16,6-12 15,3-10 1,3-4-16,-1-3 16,0 3-1</inkml:trace>
  <inkml:trace contextRef="#ctx0" brushRef="#br0" timeOffset="17368.16">8903 8773 0,'0'0'0,"0"0"16,-2 38-16,-5 32 16,-6 49-16,-2 11 15,-3-2 1,0-18-16,1-15 15,-1-13 1,5-16-16,4-18 16,5-17-1,4-9-15,0-6 16,2-5 0,5-2-16,1-3 15,10-1-15,11-5 16,24-9-1,17-9-15,7-8 16,-8-1 0,-10 1-16,1 2 15,4-3-15,6 1 16,3 1 0,-2 1-16,-8 4 15,-5 3 1,-7 1-16,-7 3 15,-5 0 1,-6 0-16,-6-3 16,-3-1-16,-4-1 15,-5-4 1,-1-2-16</inkml:trace>
  <inkml:trace contextRef="#ctx0" brushRef="#br0" timeOffset="17765.86">9243 8767 0,'0'0'16,"0"0"0,0 0-16,0 0 15,6 39 1,3 10-16,9 26 16,11 28-1,8 19-15,5 12 16,2-2-16,-4-4 15,-9-11 1,-7-7-16,-7-13 16,-3-13-16,-3-15 15,-2-19 1,-3-15-16,-1-8 16,1-5-1</inkml:trace>
  <inkml:trace contextRef="#ctx0" brushRef="#br0" timeOffset="32077.74">9935 7986 0,'0'0'0,"0"0"0,0 0 15,0 0-15,0 0 16,0 0 0,0 0-16,0 0 15,9 26 1,0-3-16,4 12 16,7 16-1,6 17-15,10 20 16,8 11-16,6 9 15,1-4 1,-2-5-16,-5-8 16,-5-14-1,3-11-15,2-15 16,7-10-16,2-10 16,13-9-1,11-11-15,9-13 16,20-11-1,-2-13-15,-18-10 16,-20-1 0,-20-1-16,-15 5 15,-11 7-15,-11 6 16,-7 4 0,-2 8-16,-2 1 15,-5 3 1,0 1-16,-1 3 15,-12 9 1,-31 22-16,-39 33 16,-18 26-16,17 1 15,32-12 1,17-6-16,9 2 16,4-2-1,5-1-15,6-3 16,5-5-1,4-11-15,5-9 16,4-7-16,2 1 16,5 4-1,1 8-15,6 5 16,-1 5 0,2 2-16,1 2 15,-1 4 1,1 7-16,-3 0 15,-2-2-15,-2-7 16,-5-4 0,-2-3-16,-4 1 15,-7 1 1,-4-1-16,-2-9 16,-5-9-16,-9-9 15,-11-5 1,-17 1-16,-16-3 15,-8-4 1,4-6-16,10-5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152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1-09-13T03:36:20.8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1239 2024 0,'0'0'0,"0"0"0,0 0 15,0 0 1,0 0-16,0 0 15,0 0-15,-22-18 16,13 14 0,-4 4-16,0 0 15,0 0 1,-9 0-16,-1 9 16,-3 0-16,-5 4 15,-4 5 1,4 8-1,-4 5-15,4 9 16,4 8-16,1 1 16,8-1-1,9-8-15,1-1 16,3-8-16,5 0 16,5-4-1,-1 3-15,5-3 16,0 4-1,4 0-15,5 0 16,4-1 0,0 1-16,0 5 15,0-6 1,-9-3-16,-9 4 16,1 0-16,-10 0 15,-8 13 1,-4 0-16,-1-5 15,-4-3 1,0-10-16,0-4 16,9-9-16,-1-4 15,5-4 1,5-1-16,4-4 16,-4 0-1,4 0-15,4 0 16,-4 0-1,0 0-15,0 0 16,53 0-16,-9 9 16,13 13-1,1 13-15,-10 9 16,-17 14 0,-9 8-16,-9 9 15,-4-9-15,-9-4 16,0-9-1,0-1-15,5 1 16,-5-4 0,4-9-16,0-5 15,1-4 1,-1-9-16,1 0 16,3-5-16,6-3 15,-1-1 1,5 0-16,-1-4 15,10 0 1,4-9-16</inkml:trace>
  <inkml:trace contextRef="#ctx0" brushRef="#br0" timeOffset="7622.99">1623 2461 0,'0'0'0,"0"0"0,0 0 15,0 0 1,0 0-16,0 0 15,0 0 1,0 0-16,35-14 16,14-8-16,21-13 15,9 4 1,-8 9-16,-14 9 16,-4 13-1,-9 9-15,5 8 16,-9 5-1,-10 5-15,-12 4 16,-5-5 0,-8 1-16,-1-1 15,-8 1-15,4-5 16,-5 0 0,1 0-16,-1-9 15,5 0 1,0-8-16,0-1 15,0 0-15,5 1 16,4-1 0,4 5-16,9 0 15,4 4 1,14 5-16,4 8 16,5 9-1,-5 5-15,-13 9 16,-14 4-16,-17 8 15,-8 5 1,-19 5-16,-4-5 16,-4-8-1,0-14-15,4-9 16,4-9-16,5-8 16,0-5-1,9-4-15,0-9 16,8 0-1,1 0-15,0 0 16,4-4 0</inkml:trace>
  <inkml:trace contextRef="#ctx0" brushRef="#br0" timeOffset="7956.62">3171 3263 0,'0'0'0,"0"0"16,0 0-16,0 0 15,0 0 1,-9 22-16,4-9 16,-3 5-1,-1 4-15,-5 9 16,-3 4 0,-18 14-16,-27 35 15,-40 48-15</inkml:trace>
  <inkml:trace contextRef="#ctx0" brushRef="#br0" timeOffset="17864.99">4180 1826 0,'0'0'0,"0"0"0,0 0 0,0 0 15,0 0 1,0 0-16,0 0 15,0 0 1,-22-22-16,14 22 16,-6 0-1,-3 0-15,-5 4 16,-14 5-16,-17 22 16,-44 26-1,-17 27-15,-5 4 16,35-22-1,40-22-15,17-13 16,14-4 0,4-10-16,5 1 15,8 4-15,14 0 16,30 13 0,45 0-16,22-8 15,4-5 1,-5-9-16,-17-4 15,-8 0-15,-10 4 16,-13 5 0,-4 8-16,-9 18 15,-5 22 1,-8 18-16,-14 18 16,-17-1-1,-9 0-15,-13-8 16,-9-5-16,0-13 15,-9-13 1,0-18-16,-4-13 16,4-13-1,9-10-15,0-12 16,-9-9 0,-4-14-16,-5-26 15,-4-13-15,9-18 16,4 1-1,18-1-15,4 0 16,13-4 0,5-9-16,13-9 15,9-4 1,13-5-16,9 1 16,4 8-16,-8 22 15,-14 18 1,-4 22-16,-13 17 15,-1 14 1</inkml:trace>
  <inkml:trace contextRef="#ctx0" brushRef="#br0" timeOffset="18732.82">4895 1283 0,'0'0'16,"0"0"-16,0 0 16,0 0-1,0 0-15,0 0 16,26 27 0,-4-5-16,0 13 15,5 5-15,4 8 16,8 1-1,5-1-15,23 1 16,16-10 0,6-12-16,-6-5 15,-8-9-15,-13-8 16,-18 3 0,-4-3-16,-14-1 15,-8 1 1,-9 3-16,0-3 15,-5 4 1,-4 4-16,0 0 16,0 14-16,-4 3 15,-5 15 1,4 12-16,-3 18 16,3 13-1,1 9-15,4 4 16,4 5-1,1 0-15,-1 4 16,0 1-16,1-10 16,-5-8-1,-5-10-15,-3-12 16,-1-9 0,-5-18-16,6-13 15,-6-5 1,-3 5-16,-27 13 15</inkml:trace>
  <inkml:trace contextRef="#ctx0" brushRef="#br0" timeOffset="43318.98">1521 4785 0,'0'0'0,"0"0"15,0 0-15,-35-5 16,22 3 0,-5 0-16,-4 0 15,0-1-15,-4 3 16,4 3-1,-5-1-15,-4 4 16,-4 3 0,-5 7-16,-4 6 15,5 4-15,-1 5 16,13 2 0,10 0-16,8-4 15,9-7 1,9 0-16,4 4 15,13 5 1,10 7-16,12 6 16,5 6-16,13 12 15,-4 11 1,-5 2-16,-17 9 16,-18 4-1,-18 5-15,-8 1 16,-18-1-1,-9-7-15,0-11 16,0-16-16,9-14 16,9-15-1,4-10-15,1-7 16,8-4 0,0-4-16,0-3 15,0 2-15,13 5 16,13 13-1,23 24-15,8 18 16,0 7 0,-8 0-16,-5-14 15,-9-11 1,1-8-16,3-10 16,1-10-16,8-14 15</inkml:trace>
  <inkml:trace contextRef="#ctx0" brushRef="#br0" timeOffset="44040.58">2046 5148 0,'0'0'15,"0"0"1,0 0-16,0 0 15,0 0 1,31-33-16,-13 16 16,4 1-16,0 5 15,0 2 1,4 7-16,1 4 16,-1 7-1,5 9-15,0 15 16,-5 15-16,-8 14 15,-9 4 1,-5-6-16,-4-14 16,0-13-1,0-11-15,0-6 16,5-3 0,-5-2-16,4-2 15,5-3-15,4 1 16,9 0-1,13-1-15,9 5 16,5 7 0,0 15-16,-5 22 15,-9 24 1,-17 21-16,-10 5 16,-16-5-16,-10-10 15,-9-19 1,1-21-16,0-12 15,-1-12 1,5-8-16,4-7 16,1-4-16,8-5 15,0-2 1,9 0-16</inkml:trace>
  <inkml:trace contextRef="#ctx0" brushRef="#br0" timeOffset="44337.84">3506 5940 0,'0'0'0,"0"0"16,0 0 0,-5 29-16,-4 4 15,-4 17 1,-4 10-16,-1-3 16,-4-6-1,-5 4-15,-17 18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5275" tIns="47638" rIns="95275" bIns="47638" numCol="1" anchor="t" anchorCtr="0" compatLnSpc="1">
            <a:prstTxWarp prst="textNoShape">
              <a:avLst/>
            </a:prstTxWarp>
          </a:bodyPr>
          <a:lstStyle>
            <a:lvl1pPr defTabSz="950913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024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5275" tIns="47638" rIns="95275" bIns="47638" numCol="1" anchor="t" anchorCtr="0" compatLnSpc="1">
            <a:prstTxWarp prst="textNoShape">
              <a:avLst/>
            </a:prstTxWarp>
          </a:bodyPr>
          <a:lstStyle>
            <a:lvl1pPr algn="r" defTabSz="950913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9700" y="766763"/>
            <a:ext cx="6824663" cy="38401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24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6925"/>
          </a:xfrm>
          <a:prstGeom prst="rect">
            <a:avLst/>
          </a:prstGeom>
          <a:noFill/>
          <a:ln>
            <a:noFill/>
          </a:ln>
        </p:spPr>
        <p:txBody>
          <a:bodyPr vert="horz" wrap="square" lIns="95275" tIns="47638" rIns="95275" bIns="476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024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5275" tIns="47638" rIns="95275" bIns="47638" numCol="1" anchor="b" anchorCtr="0" compatLnSpc="1">
            <a:prstTxWarp prst="textNoShape">
              <a:avLst/>
            </a:prstTxWarp>
          </a:bodyPr>
          <a:lstStyle>
            <a:lvl1pPr defTabSz="950913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24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5275" tIns="47638" rIns="95275" bIns="47638" numCol="1" anchor="b" anchorCtr="0" compatLnSpc="1">
            <a:prstTxWarp prst="textNoShape">
              <a:avLst/>
            </a:prstTxWarp>
          </a:bodyPr>
          <a:lstStyle>
            <a:lvl1pPr algn="r" defTabSz="950913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D74DA35-8635-4BDF-AA8C-65560060F52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00682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266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905B2ED-851D-418B-8FDE-29E1E5C36A69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rPr>
              <a:pPr/>
              <a:t>1</a:t>
            </a:fld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6605956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890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F4BFCB-17AC-4014-8281-10052BB5D1D7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  <a:cs typeface="+mn-cs"/>
              </a:rPr>
              <a:pPr marL="0" marR="0" lvl="0" indent="0" algn="r" defTabSz="9890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  <a:cs typeface="+mn-cs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7738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85442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DF4BFCB-17AC-4014-8281-10052BB5D1D7}" type="slidenum">
              <a:rPr lang="zh-CN" altLang="en-US" sz="1300" smtClean="0">
                <a:solidFill>
                  <a:srgbClr val="000000"/>
                </a:solidFill>
                <a:ea typeface="楷体_GB2312"/>
              </a:rPr>
              <a:pPr>
                <a:spcBef>
                  <a:spcPct val="0"/>
                </a:spcBef>
              </a:pPr>
              <a:t>3</a:t>
            </a:fld>
            <a:endParaRPr lang="en-US" altLang="zh-CN" sz="1300">
              <a:solidFill>
                <a:srgbClr val="000000"/>
              </a:solidFill>
              <a:ea typeface="楷体_GB2312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7738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17165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7308152-BE3C-40BC-AE9F-BE6D42FB3DC3}" type="slidenum">
              <a:rPr lang="zh-CN" altLang="en-US" smtClean="0">
                <a:latin typeface="Arial" panose="020B0604020202020204" pitchFamily="34" charset="0"/>
              </a:rPr>
              <a:pPr/>
              <a:t>4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01255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331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CBB0465-D91F-4AF1-9DB0-115D2F451FB6}" type="slidenum">
              <a:rPr lang="zh-CN" altLang="en-US" smtClean="0">
                <a:latin typeface="Arial" panose="020B0604020202020204" pitchFamily="34" charset="0"/>
              </a:rPr>
              <a:pPr/>
              <a:t>5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08027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53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56D464D-F7B4-489B-91C2-BC1FA35AAA69}" type="slidenum">
              <a:rPr lang="zh-CN" altLang="en-US" smtClean="0">
                <a:latin typeface="Arial" panose="020B0604020202020204" pitchFamily="34" charset="0"/>
              </a:rPr>
              <a:pPr/>
              <a:t>6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27636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914101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94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E612294-8F75-4C72-90FA-7BCEFA2368DA}" type="slidenum">
              <a:rPr lang="zh-CN" altLang="en-US" smtClean="0">
                <a:latin typeface="Arial" panose="020B0604020202020204" pitchFamily="34" charset="0"/>
              </a:rPr>
              <a:pPr/>
              <a:t>8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6475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15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0B4902D-01D0-410E-8509-D4DA6FE147AE}" type="slidenum">
              <a:rPr lang="zh-CN" altLang="en-US" smtClean="0">
                <a:latin typeface="Arial" panose="020B0604020202020204" pitchFamily="34" charset="0"/>
              </a:rPr>
              <a:pPr/>
              <a:t>9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686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35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369A6E0-B5B2-491D-9DEB-51718B0214EE}" type="slidenum">
              <a:rPr lang="zh-CN" altLang="en-US" smtClean="0">
                <a:latin typeface="Arial" panose="020B0604020202020204" pitchFamily="34" charset="0"/>
              </a:rPr>
              <a:pPr/>
              <a:t>10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53732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970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BAB9BC8-25CB-42AC-8C42-E69EC4385638}" type="slidenum">
              <a:rPr lang="zh-CN" altLang="en-US" smtClean="0">
                <a:latin typeface="Arial" panose="020B0604020202020204" pitchFamily="34" charset="0"/>
              </a:rPr>
              <a:pPr/>
              <a:t>11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2007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54817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981451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60EBB01-8DF0-4974-9B8D-9332C2E503BD}" type="slidenum">
              <a:rPr lang="zh-CN" altLang="en-US" smtClean="0">
                <a:latin typeface="Arial" panose="020B0604020202020204" pitchFamily="34" charset="0"/>
              </a:rPr>
              <a:pPr/>
              <a:t>14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77652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487A832-8CC7-42F9-A84E-35DE56F4F7A3}" type="slidenum">
              <a:rPr lang="zh-CN" altLang="en-US" smtClean="0">
                <a:latin typeface="Arial" panose="020B0604020202020204" pitchFamily="34" charset="0"/>
              </a:rPr>
              <a:pPr/>
              <a:t>15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304988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81C3AA1-93BF-483E-B2E7-9732564E2A02}" type="slidenum">
              <a:rPr lang="zh-CN" altLang="en-US" smtClean="0">
                <a:latin typeface="Arial" panose="020B0604020202020204" pitchFamily="34" charset="0"/>
              </a:rPr>
              <a:pPr/>
              <a:t>16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852146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  <p:sp>
        <p:nvSpPr>
          <p:cNvPr id="4608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E8EB0EF-09B3-4B35-BD25-B3FCE3743FF9}" type="slidenum">
              <a:rPr lang="zh-CN" altLang="en-US" smtClean="0">
                <a:latin typeface="Arial" panose="020B0604020202020204" pitchFamily="34" charset="0"/>
              </a:rPr>
              <a:pPr/>
              <a:t>17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57895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  <p:sp>
        <p:nvSpPr>
          <p:cNvPr id="4608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E8EB0EF-09B3-4B35-BD25-B3FCE3743FF9}" type="slidenum">
              <a:rPr lang="zh-CN" altLang="en-US" smtClean="0">
                <a:latin typeface="Arial" panose="020B0604020202020204" pitchFamily="34" charset="0"/>
              </a:rPr>
              <a:pPr/>
              <a:t>18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57895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79E9FEF-85ED-4C35-BC89-CF026562495F}" type="slidenum">
              <a:rPr lang="zh-CN" altLang="en-US" smtClean="0">
                <a:latin typeface="Arial" panose="020B0604020202020204" pitchFamily="34" charset="0"/>
              </a:rPr>
              <a:pPr/>
              <a:t>19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4363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5018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00A52DC-6BD7-4D77-9242-E401CD68C75A}" type="slidenum">
              <a:rPr lang="zh-CN" altLang="en-US" smtClean="0">
                <a:latin typeface="Arial" panose="020B0604020202020204" pitchFamily="34" charset="0"/>
              </a:rPr>
              <a:pPr/>
              <a:t>20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61981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563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C80855B-D8B2-49F0-AC9B-D63E6AE87AF7}" type="slidenum">
              <a:rPr lang="zh-CN" altLang="en-US" smtClean="0">
                <a:latin typeface="Arial" panose="020B0604020202020204" pitchFamily="34" charset="0"/>
              </a:rPr>
              <a:pPr/>
              <a:t>21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07539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5837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7179066-A359-4A3A-A911-4FFD66E22904}" type="slidenum">
              <a:rPr lang="zh-CN" altLang="en-US" smtClean="0">
                <a:latin typeface="Arial" panose="020B0604020202020204" pitchFamily="34" charset="0"/>
              </a:rPr>
              <a:pPr/>
              <a:t>22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71657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042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2D19037-F965-4FB9-87D8-BBAA90B6B5C0}" type="slidenum">
              <a:rPr lang="zh-CN" altLang="en-US" smtClean="0">
                <a:latin typeface="Arial" panose="020B0604020202020204" pitchFamily="34" charset="0"/>
              </a:rPr>
              <a:pPr/>
              <a:t>23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308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246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9830C7A-FACC-4EB7-B1F5-8CF860DE75FE}" type="slidenum">
              <a:rPr lang="zh-CN" altLang="en-US" smtClean="0">
                <a:latin typeface="Arial" panose="020B0604020202020204" pitchFamily="34" charset="0"/>
              </a:rPr>
              <a:pPr/>
              <a:t>24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19072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451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683F0A9-B5F3-471B-B22D-15F1C9E5D4A5}" type="slidenum">
              <a:rPr lang="zh-CN" altLang="en-US" smtClean="0">
                <a:latin typeface="Arial" panose="020B0604020202020204" pitchFamily="34" charset="0"/>
              </a:rPr>
              <a:pPr/>
              <a:t>25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54325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65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5B14660-6939-43D6-BA04-D41329A7DAF5}" type="slidenum">
              <a:rPr lang="zh-CN" altLang="en-US" smtClean="0">
                <a:latin typeface="Arial" panose="020B0604020202020204" pitchFamily="34" charset="0"/>
              </a:rPr>
              <a:pPr/>
              <a:t>26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0467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861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8B48743-9FFC-4AC2-A539-8151E5817BCF}" type="slidenum">
              <a:rPr lang="zh-CN" altLang="en-US" smtClean="0">
                <a:latin typeface="Arial" panose="020B0604020202020204" pitchFamily="34" charset="0"/>
              </a:rPr>
              <a:pPr/>
              <a:t>27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82931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706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48849F9-CDF2-4002-B8CD-BD378C4DEA71}" type="slidenum">
              <a:rPr lang="zh-CN" altLang="en-US" smtClean="0">
                <a:latin typeface="Arial" panose="020B0604020202020204" pitchFamily="34" charset="0"/>
              </a:rPr>
              <a:pPr/>
              <a:t>28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20645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12813"/>
            <a:endParaRPr lang="zh-CN" altLang="en-US" dirty="0"/>
          </a:p>
        </p:txBody>
      </p:sp>
      <p:sp>
        <p:nvSpPr>
          <p:cNvPr id="727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7BB588E-407F-456A-B6DF-434A7AF60A8A}" type="slidenum">
              <a:rPr lang="zh-CN" altLang="en-US" smtClean="0">
                <a:latin typeface="Arial" panose="020B0604020202020204" pitchFamily="34" charset="0"/>
              </a:rPr>
              <a:pPr/>
              <a:t>29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522464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747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1B671E5-FADF-4CE8-BED1-DBD03A4A16D0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25586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8090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9C5094-54F6-4A89-876C-B5BE17219D15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647538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294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8294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5EF8A44-2979-4D65-B189-B633E3F95B8C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891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9ABCF1D-635B-4071-A2F2-AE93CF844E52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124326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704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8704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E25663-973B-4600-A5E2-D21F3E945121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484621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31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A484FA9-D4E0-445B-BDD4-DDC6D27CC5DD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653393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523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523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24669E-1EC8-4FF9-B7DF-AEA933993434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140036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728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92C4569-80C5-4CC9-A24D-FFF3F469C2A4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974479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523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523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24669E-1EC8-4FF9-B7DF-AEA933993434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886739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D74DA35-8635-4BDF-AA8C-65560060F529}" type="slidenum">
              <a:rPr lang="zh-CN" altLang="en-US" smtClean="0"/>
              <a:pPr>
                <a:defRPr/>
              </a:pPr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088604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D74DA35-8635-4BDF-AA8C-65560060F529}" type="slidenum">
              <a:rPr lang="zh-CN" altLang="en-US" smtClean="0"/>
              <a:pPr>
                <a:defRPr/>
              </a:pPr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007921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933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93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09B1F6B-77A2-4689-A04C-16AD9699CA4D}" type="slidenum">
              <a:rPr lang="zh-CN" altLang="en-US" smtClean="0">
                <a:latin typeface="Arial" panose="020B0604020202020204" pitchFamily="34" charset="0"/>
              </a:rPr>
              <a:pPr/>
              <a:t>41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58534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D74DA35-8635-4BDF-AA8C-65560060F529}" type="slidenum">
              <a:rPr lang="zh-CN" altLang="en-US" smtClean="0"/>
              <a:pPr>
                <a:defRPr/>
              </a:pPr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641695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933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93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09B1F6B-77A2-4689-A04C-16AD9699CA4D}" type="slidenum">
              <a:rPr lang="zh-CN" altLang="en-US" smtClean="0">
                <a:latin typeface="Arial" panose="020B0604020202020204" pitchFamily="34" charset="0"/>
              </a:rPr>
              <a:pPr/>
              <a:t>43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485736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D74DA35-8635-4BDF-AA8C-65560060F529}" type="slidenum">
              <a:rPr lang="zh-CN" altLang="en-US" smtClean="0"/>
              <a:pPr>
                <a:defRPr/>
              </a:pPr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030695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D74DA35-8635-4BDF-AA8C-65560060F529}" type="slidenum">
              <a:rPr lang="zh-CN" altLang="en-US" smtClean="0"/>
              <a:pPr>
                <a:defRPr/>
              </a:pPr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483671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12813"/>
            <a:endParaRPr lang="zh-CN" altLang="en-US" dirty="0"/>
          </a:p>
        </p:txBody>
      </p:sp>
      <p:sp>
        <p:nvSpPr>
          <p:cNvPr id="727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7BB588E-407F-456A-B6DF-434A7AF60A8A}" type="slidenum">
              <a:rPr lang="zh-CN" altLang="en-US" smtClean="0">
                <a:latin typeface="Arial" panose="020B0604020202020204" pitchFamily="34" charset="0"/>
              </a:rPr>
              <a:pPr/>
              <a:t>46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712303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31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A484FA9-D4E0-445B-BDD4-DDC6D27CC5DD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67872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31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A484FA9-D4E0-445B-BDD4-DDC6D27CC5DD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8525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9"/>
          <p:cNvGrpSpPr>
            <a:grpSpLocks noChangeAspect="1"/>
          </p:cNvGrpSpPr>
          <p:nvPr/>
        </p:nvGrpSpPr>
        <p:grpSpPr bwMode="auto">
          <a:xfrm>
            <a:off x="211138" y="4014788"/>
            <a:ext cx="8723312" cy="1000125"/>
            <a:chOff x="-3905250" y="4294188"/>
            <a:chExt cx="13011150" cy="1892300"/>
          </a:xfrm>
        </p:grpSpPr>
        <p:sp>
          <p:nvSpPr>
            <p:cNvPr id="6" name="Freeform 14"/>
            <p:cNvSpPr>
              <a:spLocks/>
            </p:cNvSpPr>
            <p:nvPr/>
          </p:nvSpPr>
          <p:spPr bwMode="hidden">
            <a:xfrm>
              <a:off x="4810681" y="4501439"/>
              <a:ext cx="4295219" cy="1015234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18"/>
            <p:cNvSpPr>
              <a:spLocks/>
            </p:cNvSpPr>
            <p:nvPr/>
          </p:nvSpPr>
          <p:spPr bwMode="hidden">
            <a:xfrm>
              <a:off x="-308538" y="4318217"/>
              <a:ext cx="8280254" cy="1210470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22"/>
            <p:cNvSpPr>
              <a:spLocks/>
            </p:cNvSpPr>
            <p:nvPr/>
          </p:nvSpPr>
          <p:spPr bwMode="hidden">
            <a:xfrm>
              <a:off x="4014" y="4336239"/>
              <a:ext cx="8164231" cy="1102339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26"/>
            <p:cNvSpPr>
              <a:spLocks/>
            </p:cNvSpPr>
            <p:nvPr/>
          </p:nvSpPr>
          <p:spPr bwMode="hidden">
            <a:xfrm>
              <a:off x="4157164" y="4315213"/>
              <a:ext cx="4939265" cy="928129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10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DDF7D0-BF66-4101-9ECB-2D828DE3A81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1154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21F1F6-B610-4C16-B03C-1F2229AE002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0109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9"/>
          <p:cNvGrpSpPr>
            <a:grpSpLocks noChangeAspect="1"/>
          </p:cNvGrpSpPr>
          <p:nvPr/>
        </p:nvGrpSpPr>
        <p:grpSpPr bwMode="auto">
          <a:xfrm>
            <a:off x="211138" y="4014788"/>
            <a:ext cx="8723312" cy="1000125"/>
            <a:chOff x="-3905250" y="4294188"/>
            <a:chExt cx="13011150" cy="1892300"/>
          </a:xfrm>
        </p:grpSpPr>
        <p:sp>
          <p:nvSpPr>
            <p:cNvPr id="6" name="Freeform 14"/>
            <p:cNvSpPr>
              <a:spLocks/>
            </p:cNvSpPr>
            <p:nvPr/>
          </p:nvSpPr>
          <p:spPr bwMode="hidden">
            <a:xfrm>
              <a:off x="4810681" y="4501439"/>
              <a:ext cx="4295219" cy="1015234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18"/>
            <p:cNvSpPr>
              <a:spLocks/>
            </p:cNvSpPr>
            <p:nvPr/>
          </p:nvSpPr>
          <p:spPr bwMode="hidden">
            <a:xfrm>
              <a:off x="-308538" y="4318217"/>
              <a:ext cx="8280254" cy="1210470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22"/>
            <p:cNvSpPr>
              <a:spLocks/>
            </p:cNvSpPr>
            <p:nvPr/>
          </p:nvSpPr>
          <p:spPr bwMode="hidden">
            <a:xfrm>
              <a:off x="4014" y="4336239"/>
              <a:ext cx="8164231" cy="1102339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26"/>
            <p:cNvSpPr>
              <a:spLocks/>
            </p:cNvSpPr>
            <p:nvPr/>
          </p:nvSpPr>
          <p:spPr bwMode="hidden">
            <a:xfrm>
              <a:off x="4157164" y="4315213"/>
              <a:ext cx="4939265" cy="928129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10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DDF7D0-BF66-4101-9ECB-2D828DE3A81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5282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51506" y="174464"/>
            <a:ext cx="1162050" cy="273050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fld id="{4921F1F6-B610-4C16-B03C-1F2229AE0020}" type="slidenum">
              <a:rPr lang="zh-CN" altLang="en-US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91606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171450"/>
            <a:ext cx="8696325" cy="1404938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en-US" altLang="zh-CN">
              <a:solidFill>
                <a:srgbClr val="FFFFFF"/>
              </a:solidFill>
              <a:latin typeface="Candara" panose="020E0502030303020204" pitchFamily="34" charset="0"/>
            </a:endParaRPr>
          </a:p>
        </p:txBody>
      </p:sp>
      <p:grpSp>
        <p:nvGrpSpPr>
          <p:cNvPr id="2051" name="Group 15"/>
          <p:cNvGrpSpPr>
            <a:grpSpLocks noChangeAspect="1"/>
          </p:cNvGrpSpPr>
          <p:nvPr/>
        </p:nvGrpSpPr>
        <p:grpSpPr bwMode="auto">
          <a:xfrm>
            <a:off x="211138" y="1058863"/>
            <a:ext cx="8824912" cy="576262"/>
            <a:chOff x="-3905251" y="4294188"/>
            <a:chExt cx="13027839" cy="1892300"/>
          </a:xfrm>
        </p:grpSpPr>
        <p:sp>
          <p:nvSpPr>
            <p:cNvPr id="2057" name="Freeform 14"/>
            <p:cNvSpPr>
              <a:spLocks/>
            </p:cNvSpPr>
            <p:nvPr/>
          </p:nvSpPr>
          <p:spPr bwMode="hidden">
            <a:xfrm>
              <a:off x="4810441" y="4502706"/>
              <a:ext cx="4295743" cy="1011313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" name="Freeform 18"/>
            <p:cNvSpPr>
              <a:spLocks/>
            </p:cNvSpPr>
            <p:nvPr/>
          </p:nvSpPr>
          <p:spPr bwMode="hidden">
            <a:xfrm>
              <a:off x="-310233" y="4320251"/>
              <a:ext cx="8282134" cy="120940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" name="Freeform 22"/>
            <p:cNvSpPr>
              <a:spLocks/>
            </p:cNvSpPr>
            <p:nvPr/>
          </p:nvSpPr>
          <p:spPr bwMode="hidden">
            <a:xfrm>
              <a:off x="3804" y="4335892"/>
              <a:ext cx="8164957" cy="1099931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0" name="Freeform 26"/>
            <p:cNvSpPr>
              <a:spLocks/>
            </p:cNvSpPr>
            <p:nvPr/>
          </p:nvSpPr>
          <p:spPr bwMode="hidden">
            <a:xfrm>
              <a:off x="4156589" y="4315040"/>
              <a:ext cx="4940221" cy="927905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206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52" name="Title Placeholder 1"/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A444DD4C-B293-4EB5-AB01-DD5CF862DD5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05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79" r:id="rId1"/>
    <p:sldLayoutId id="214748478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2088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171450"/>
            <a:ext cx="8696325" cy="1404938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en-US" altLang="zh-CN">
              <a:solidFill>
                <a:srgbClr val="FFFFFF"/>
              </a:solidFill>
              <a:latin typeface="Candara" panose="020E0502030303020204" pitchFamily="34" charset="0"/>
            </a:endParaRPr>
          </a:p>
        </p:txBody>
      </p:sp>
      <p:grpSp>
        <p:nvGrpSpPr>
          <p:cNvPr id="2051" name="Group 15"/>
          <p:cNvGrpSpPr>
            <a:grpSpLocks noChangeAspect="1"/>
          </p:cNvGrpSpPr>
          <p:nvPr/>
        </p:nvGrpSpPr>
        <p:grpSpPr bwMode="auto">
          <a:xfrm>
            <a:off x="211138" y="1058863"/>
            <a:ext cx="8824912" cy="576262"/>
            <a:chOff x="-3905251" y="4294188"/>
            <a:chExt cx="13027839" cy="1892300"/>
          </a:xfrm>
        </p:grpSpPr>
        <p:sp>
          <p:nvSpPr>
            <p:cNvPr id="2057" name="Freeform 14"/>
            <p:cNvSpPr>
              <a:spLocks/>
            </p:cNvSpPr>
            <p:nvPr/>
          </p:nvSpPr>
          <p:spPr bwMode="hidden">
            <a:xfrm>
              <a:off x="4810441" y="4502706"/>
              <a:ext cx="4295743" cy="1011313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" name="Freeform 18"/>
            <p:cNvSpPr>
              <a:spLocks/>
            </p:cNvSpPr>
            <p:nvPr/>
          </p:nvSpPr>
          <p:spPr bwMode="hidden">
            <a:xfrm>
              <a:off x="-310233" y="4320251"/>
              <a:ext cx="8282134" cy="120940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" name="Freeform 22"/>
            <p:cNvSpPr>
              <a:spLocks/>
            </p:cNvSpPr>
            <p:nvPr/>
          </p:nvSpPr>
          <p:spPr bwMode="hidden">
            <a:xfrm>
              <a:off x="3804" y="4335892"/>
              <a:ext cx="8164957" cy="1099931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0" name="Freeform 26"/>
            <p:cNvSpPr>
              <a:spLocks/>
            </p:cNvSpPr>
            <p:nvPr/>
          </p:nvSpPr>
          <p:spPr bwMode="hidden">
            <a:xfrm>
              <a:off x="4156589" y="4315040"/>
              <a:ext cx="4940221" cy="927905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206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52" name="Title Placeholder 1"/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A444DD4C-B293-4EB5-AB01-DD5CF862DD5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05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958327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82" r:id="rId1"/>
    <p:sldLayoutId id="2147484783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2088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5.png"/><Relationship Id="rId7" Type="http://schemas.openxmlformats.org/officeDocument/2006/relationships/image" Target="../media/image9.em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5" Type="http://schemas.openxmlformats.org/officeDocument/2006/relationships/image" Target="../media/image8.emf"/><Relationship Id="rId4" Type="http://schemas.openxmlformats.org/officeDocument/2006/relationships/customXml" Target="../ink/ink1.xml"/><Relationship Id="rId9" Type="http://schemas.openxmlformats.org/officeDocument/2006/relationships/image" Target="../media/image10.e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3" Type="http://schemas.openxmlformats.org/officeDocument/2006/relationships/image" Target="../media/image5.png"/><Relationship Id="rId7" Type="http://schemas.openxmlformats.org/officeDocument/2006/relationships/image" Target="../media/image12.em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5.xml"/><Relationship Id="rId5" Type="http://schemas.openxmlformats.org/officeDocument/2006/relationships/image" Target="../media/image11.emf"/><Relationship Id="rId4" Type="http://schemas.openxmlformats.org/officeDocument/2006/relationships/customXml" Target="../ink/ink4.xml"/><Relationship Id="rId9" Type="http://schemas.openxmlformats.org/officeDocument/2006/relationships/image" Target="../media/image13.emf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620" y="0"/>
            <a:ext cx="8407844" cy="5159692"/>
          </a:xfrm>
          <a:prstGeom prst="rect">
            <a:avLst/>
          </a:prstGeom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6300192" y="1744734"/>
            <a:ext cx="4446587" cy="939800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endParaRPr lang="zh-CN" altLang="en-US" sz="3600" spc="3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5652120" y="2038579"/>
            <a:ext cx="3590446" cy="1611648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en-US" altLang="zh-CN" sz="25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</a:t>
            </a:r>
            <a:r>
              <a:rPr lang="zh-CN" altLang="en-US" sz="28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南信大计软院</a:t>
            </a:r>
            <a:endParaRPr lang="en-US" altLang="zh-CN" sz="2800" b="1" dirty="0">
              <a:solidFill>
                <a:prstClr val="white"/>
              </a:solidFill>
              <a:latin typeface="Candara"/>
              <a:ea typeface="楷体" pitchFamily="49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     </a:t>
            </a:r>
            <a:r>
              <a:rPr lang="zh-CN" altLang="en-US" sz="24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 凌妙根</a:t>
            </a:r>
            <a:endParaRPr lang="en-US" altLang="zh-CN" sz="2400" b="1" dirty="0">
              <a:solidFill>
                <a:prstClr val="white"/>
              </a:solidFill>
              <a:latin typeface="Candara"/>
              <a:ea typeface="楷体" pitchFamily="49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     </a:t>
            </a:r>
            <a:r>
              <a:rPr lang="en-US" altLang="zh-CN" sz="28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2025</a:t>
            </a:r>
            <a:r>
              <a:rPr lang="zh-CN" altLang="en-US" sz="28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年秋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055721" y="843558"/>
            <a:ext cx="5111750" cy="1157287"/>
          </a:xfrm>
          <a:prstGeom prst="rect">
            <a:avLst/>
          </a:prstGeom>
          <a:ln w="12700">
            <a:noFill/>
          </a:ln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600" spc="3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第三章 词法分析 </a:t>
            </a:r>
            <a:r>
              <a:rPr lang="en-US" altLang="zh-CN" sz="3600" spc="3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3600" spc="3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zh-CN" altLang="en-US" sz="3600" spc="3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606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5C32FFA-EA69-47F7-AFFE-12C640E3505D}" type="slidenum">
              <a:rPr lang="zh-CN" altLang="en-US" sz="1000" smtClean="0">
                <a:solidFill>
                  <a:srgbClr val="073E87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zh-CN" sz="1000">
              <a:solidFill>
                <a:srgbClr val="073E87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7759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355600" y="1239838"/>
            <a:ext cx="4455066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二义性文法的判定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zh-CN" altLang="en-US" sz="3600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内容回顾</a:t>
            </a:r>
          </a:p>
        </p:txBody>
      </p:sp>
      <p:grpSp>
        <p:nvGrpSpPr>
          <p:cNvPr id="10244" name="组合 2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31" name="五边形 30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" name="五边形 33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245" name="灯片编号占位符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5B4C6A2-7E85-428E-BF6D-B25E919AF6D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59288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355600" y="1239838"/>
            <a:ext cx="5378395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00" lvl="0" indent="-571500">
              <a:buFont typeface="Arial" panose="020B0604020202020204" pitchFamily="34" charset="0"/>
              <a:buChar char="•"/>
              <a:defRPr/>
            </a:pPr>
            <a:r>
              <a:rPr lang="zh-CN" altLang="en-US" sz="36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正则表达式的递归定义</a:t>
            </a:r>
            <a:endParaRPr lang="en-US" altLang="zh-CN" sz="3600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571500" lvl="0" indent="-571500">
              <a:buFont typeface="Arial" panose="020B0604020202020204" pitchFamily="34" charset="0"/>
              <a:buChar char="•"/>
              <a:defRPr/>
            </a:pPr>
            <a:r>
              <a:rPr lang="zh-CN" altLang="en-US" sz="36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正则定义</a:t>
            </a:r>
            <a:endParaRPr lang="en-US" altLang="zh-CN" sz="3600" dirty="0">
              <a:latin typeface="+mn-ea"/>
              <a:ea typeface="+mn-ea"/>
            </a:endParaRPr>
          </a:p>
          <a:p>
            <a:pPr marL="571500" indent="-571500">
              <a:buFont typeface="Arial" panose="020B0604020202020204" pitchFamily="34" charset="0"/>
              <a:buChar char="•"/>
              <a:defRPr/>
            </a:pPr>
            <a:r>
              <a:rPr lang="en-US" altLang="zh-CN" sz="3600" dirty="0">
                <a:solidFill>
                  <a:srgbClr val="0070C0"/>
                </a:solidFill>
                <a:latin typeface="+mn-ea"/>
                <a:ea typeface="+mn-ea"/>
              </a:rPr>
              <a:t>NFA</a:t>
            </a:r>
            <a:r>
              <a:rPr lang="zh-CN" altLang="en-US" sz="3600" dirty="0">
                <a:solidFill>
                  <a:srgbClr val="0070C0"/>
                </a:solidFill>
                <a:latin typeface="+mn-ea"/>
                <a:ea typeface="+mn-ea"/>
              </a:rPr>
              <a:t>转换为</a:t>
            </a:r>
            <a:r>
              <a:rPr lang="en-US" altLang="zh-CN" sz="3600" dirty="0">
                <a:solidFill>
                  <a:srgbClr val="0070C0"/>
                </a:solidFill>
                <a:latin typeface="+mn-ea"/>
                <a:ea typeface="+mn-ea"/>
              </a:rPr>
              <a:t>DFA</a:t>
            </a:r>
          </a:p>
        </p:txBody>
      </p:sp>
      <p:sp>
        <p:nvSpPr>
          <p:cNvPr id="2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主要内容</a:t>
            </a:r>
          </a:p>
        </p:txBody>
      </p:sp>
      <p:grpSp>
        <p:nvGrpSpPr>
          <p:cNvPr id="10244" name="组合 2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31" name="五边形 30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" name="五边形 33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245" name="灯片编号占位符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fld id="{25B4C6A2-7E85-428E-BF6D-B25E919AF6DE}" type="slidenum">
              <a:rPr lang="zh-CN" altLang="en-US" smtClean="0">
                <a:solidFill>
                  <a:schemeClr val="tx2"/>
                </a:solidFill>
              </a:rPr>
              <a:pPr/>
              <a:t>3</a:t>
            </a:fld>
            <a:endParaRPr lang="en-US" altLang="zh-CN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842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987" name="Rectangle 3"/>
          <p:cNvSpPr>
            <a:spLocks noGrp="1" noChangeArrowheads="1"/>
          </p:cNvSpPr>
          <p:nvPr>
            <p:ph idx="1"/>
          </p:nvPr>
        </p:nvSpPr>
        <p:spPr>
          <a:xfrm>
            <a:off x="428625" y="785813"/>
            <a:ext cx="8031163" cy="4089399"/>
          </a:xfrm>
        </p:spPr>
        <p:txBody>
          <a:bodyPr/>
          <a:lstStyle/>
          <a:p>
            <a:pPr marL="0" indent="0" algn="ctr" eaLnBrk="1" hangingPunct="1">
              <a:lnSpc>
                <a:spcPts val="4000"/>
              </a:lnSpc>
              <a:buClrTx/>
              <a:buFont typeface="Symbol" panose="05050102010706020507" pitchFamily="18" charset="2"/>
              <a:buNone/>
              <a:defRPr/>
            </a:pPr>
            <a:r>
              <a:rPr lang="zh-CN" altLang="en-US" sz="2300" b="1" dirty="0">
                <a:solidFill>
                  <a:schemeClr val="tx1"/>
                </a:solidFill>
                <a:latin typeface="华文楷体" pitchFamily="2" charset="-122"/>
                <a:cs typeface="楷体_GB2312"/>
              </a:rPr>
              <a:t>语言</a:t>
            </a:r>
            <a:r>
              <a:rPr lang="en-US" altLang="zh-CN" sz="2300" b="1" i="1" dirty="0">
                <a:solidFill>
                  <a:schemeClr val="tx1"/>
                </a:solidFill>
                <a:cs typeface="楷体_GB2312"/>
              </a:rPr>
              <a:t>L</a:t>
            </a:r>
            <a:r>
              <a:rPr lang="en-US" altLang="zh-CN" sz="2300" b="1" dirty="0">
                <a:solidFill>
                  <a:schemeClr val="tx1"/>
                </a:solidFill>
                <a:cs typeface="楷体_GB2312"/>
              </a:rPr>
              <a:t>={</a:t>
            </a:r>
            <a:r>
              <a:rPr lang="en-US" altLang="zh-CN" sz="2300" b="1" i="1" dirty="0">
                <a:solidFill>
                  <a:schemeClr val="tx1"/>
                </a:solidFill>
                <a:cs typeface="楷体_GB2312"/>
              </a:rPr>
              <a:t>a</a:t>
            </a:r>
            <a:r>
              <a:rPr lang="en-US" altLang="zh-CN" sz="2300" b="1" dirty="0">
                <a:solidFill>
                  <a:schemeClr val="tx1"/>
                </a:solidFill>
                <a:cs typeface="楷体_GB2312"/>
              </a:rPr>
              <a:t>}{</a:t>
            </a:r>
            <a:r>
              <a:rPr lang="en-US" altLang="zh-CN" sz="2300" b="1" i="1" dirty="0" err="1">
                <a:solidFill>
                  <a:schemeClr val="tx1"/>
                </a:solidFill>
                <a:cs typeface="楷体_GB2312"/>
              </a:rPr>
              <a:t>a</a:t>
            </a:r>
            <a:r>
              <a:rPr lang="en-US" altLang="zh-CN" sz="2300" b="1" dirty="0" err="1">
                <a:solidFill>
                  <a:schemeClr val="tx1"/>
                </a:solidFill>
                <a:cs typeface="楷体_GB2312"/>
              </a:rPr>
              <a:t>,</a:t>
            </a:r>
            <a:r>
              <a:rPr lang="en-US" altLang="zh-CN" sz="2300" b="1" i="1" dirty="0" err="1">
                <a:solidFill>
                  <a:schemeClr val="tx1"/>
                </a:solidFill>
                <a:cs typeface="楷体_GB2312"/>
              </a:rPr>
              <a:t>b</a:t>
            </a:r>
            <a:r>
              <a:rPr lang="en-US" altLang="zh-CN" sz="2300" b="1" dirty="0">
                <a:solidFill>
                  <a:schemeClr val="tx1"/>
                </a:solidFill>
                <a:cs typeface="楷体_GB2312"/>
              </a:rPr>
              <a:t>}</a:t>
            </a:r>
            <a:r>
              <a:rPr lang="en-US" altLang="zh-CN" sz="2300" b="1" baseline="30000" dirty="0">
                <a:solidFill>
                  <a:schemeClr val="tx1"/>
                </a:solidFill>
                <a:cs typeface="楷体_GB2312"/>
              </a:rPr>
              <a:t>*</a:t>
            </a:r>
            <a:r>
              <a:rPr lang="en-US" altLang="zh-CN" sz="2300" b="1" dirty="0">
                <a:solidFill>
                  <a:schemeClr val="tx1"/>
                </a:solidFill>
                <a:cs typeface="楷体_GB2312"/>
              </a:rPr>
              <a:t>({</a:t>
            </a:r>
            <a:r>
              <a:rPr lang="en-US" altLang="zh-CN" sz="2300" b="1" i="1" dirty="0">
                <a:solidFill>
                  <a:schemeClr val="tx1"/>
                </a:solidFill>
                <a:cs typeface="楷体_GB2312"/>
              </a:rPr>
              <a:t>ε</a:t>
            </a:r>
            <a:r>
              <a:rPr lang="en-US" altLang="zh-CN" sz="2300" b="1" dirty="0">
                <a:solidFill>
                  <a:schemeClr val="tx1"/>
                </a:solidFill>
                <a:cs typeface="楷体_GB2312"/>
              </a:rPr>
              <a:t>}∪({.,_}{</a:t>
            </a:r>
            <a:r>
              <a:rPr lang="en-US" altLang="zh-CN" sz="2300" b="1" i="1" dirty="0" err="1">
                <a:solidFill>
                  <a:schemeClr val="tx1"/>
                </a:solidFill>
                <a:cs typeface="楷体_GB2312"/>
              </a:rPr>
              <a:t>a</a:t>
            </a:r>
            <a:r>
              <a:rPr lang="en-US" altLang="zh-CN" sz="2300" b="1" dirty="0" err="1">
                <a:solidFill>
                  <a:schemeClr val="tx1"/>
                </a:solidFill>
                <a:cs typeface="楷体_GB2312"/>
              </a:rPr>
              <a:t>,</a:t>
            </a:r>
            <a:r>
              <a:rPr lang="en-US" altLang="zh-CN" sz="2300" b="1" i="1" dirty="0" err="1">
                <a:solidFill>
                  <a:schemeClr val="tx1"/>
                </a:solidFill>
                <a:cs typeface="楷体_GB2312"/>
              </a:rPr>
              <a:t>b</a:t>
            </a:r>
            <a:r>
              <a:rPr lang="en-US" altLang="zh-CN" sz="2300" b="1" dirty="0">
                <a:solidFill>
                  <a:schemeClr val="tx1"/>
                </a:solidFill>
                <a:cs typeface="楷体_GB2312"/>
              </a:rPr>
              <a:t>}{</a:t>
            </a:r>
            <a:r>
              <a:rPr lang="en-US" altLang="zh-CN" sz="2300" b="1" i="1" dirty="0" err="1">
                <a:solidFill>
                  <a:schemeClr val="tx1"/>
                </a:solidFill>
                <a:cs typeface="楷体_GB2312"/>
              </a:rPr>
              <a:t>a</a:t>
            </a:r>
            <a:r>
              <a:rPr lang="en-US" altLang="zh-CN" sz="2300" b="1" dirty="0" err="1">
                <a:solidFill>
                  <a:schemeClr val="tx1"/>
                </a:solidFill>
                <a:cs typeface="楷体_GB2312"/>
              </a:rPr>
              <a:t>,</a:t>
            </a:r>
            <a:r>
              <a:rPr lang="en-US" altLang="zh-CN" sz="2300" b="1" i="1" dirty="0" err="1">
                <a:solidFill>
                  <a:schemeClr val="tx1"/>
                </a:solidFill>
                <a:cs typeface="楷体_GB2312"/>
              </a:rPr>
              <a:t>b</a:t>
            </a:r>
            <a:r>
              <a:rPr lang="en-US" altLang="zh-CN" sz="2300" b="1" dirty="0">
                <a:solidFill>
                  <a:schemeClr val="tx1"/>
                </a:solidFill>
                <a:cs typeface="楷体_GB2312"/>
              </a:rPr>
              <a:t>}</a:t>
            </a:r>
            <a:r>
              <a:rPr lang="en-US" altLang="zh-CN" sz="2300" b="1" baseline="30000" dirty="0">
                <a:solidFill>
                  <a:schemeClr val="tx1"/>
                </a:solidFill>
                <a:cs typeface="楷体_GB2312"/>
              </a:rPr>
              <a:t>*</a:t>
            </a:r>
            <a:r>
              <a:rPr lang="en-US" altLang="zh-CN" sz="2300" b="1" dirty="0">
                <a:solidFill>
                  <a:schemeClr val="tx1"/>
                </a:solidFill>
                <a:cs typeface="楷体_GB2312"/>
              </a:rPr>
              <a:t>))</a:t>
            </a:r>
            <a:endParaRPr lang="en-US" altLang="zh-CN" sz="2300" b="1" dirty="0">
              <a:solidFill>
                <a:schemeClr val="tx1"/>
              </a:solidFill>
              <a:latin typeface="华文楷体" pitchFamily="2" charset="-122"/>
              <a:cs typeface="楷体_GB2312"/>
            </a:endParaRPr>
          </a:p>
          <a:p>
            <a:pPr marL="0" indent="0"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300" b="1" dirty="0">
                <a:solidFill>
                  <a:schemeClr val="tx1"/>
                </a:solidFill>
                <a:latin typeface="华文楷体" pitchFamily="2" charset="-122"/>
                <a:cs typeface="楷体_GB2312"/>
              </a:rPr>
              <a:t> </a:t>
            </a:r>
            <a:r>
              <a:rPr lang="zh-CN" altLang="en-US" sz="2300" b="1" dirty="0">
                <a:solidFill>
                  <a:srgbClr val="FF0000"/>
                </a:solidFill>
                <a:latin typeface="华文楷体" pitchFamily="2" charset="-122"/>
                <a:cs typeface="楷体_GB2312"/>
              </a:rPr>
              <a:t>正则表达式</a:t>
            </a:r>
            <a:r>
              <a:rPr lang="en-US" altLang="zh-CN" sz="1600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1600" b="1" i="1" dirty="0">
                <a:solidFill>
                  <a:schemeClr val="tx1"/>
                </a:solidFill>
                <a:cs typeface="Times New Roman" pitchFamily="18" charset="0"/>
              </a:rPr>
              <a:t>Regular Expression</a:t>
            </a:r>
            <a:r>
              <a:rPr lang="zh-CN" altLang="en-US" sz="1600" b="1" dirty="0">
                <a:solidFill>
                  <a:schemeClr val="tx1"/>
                </a:solidFill>
                <a:cs typeface="Times New Roman" pitchFamily="18" charset="0"/>
              </a:rPr>
              <a:t>，</a:t>
            </a:r>
            <a:r>
              <a:rPr lang="en-US" altLang="zh-CN" sz="1600" b="1" i="1" dirty="0">
                <a:solidFill>
                  <a:schemeClr val="tx1"/>
                </a:solidFill>
                <a:cs typeface="Times New Roman" pitchFamily="18" charset="0"/>
              </a:rPr>
              <a:t>R</a:t>
            </a:r>
            <a:r>
              <a:rPr lang="en-US" altLang="zh-CN" sz="1600" b="1" i="1" spc="300" dirty="0">
                <a:solidFill>
                  <a:schemeClr val="tx1"/>
                </a:solidFill>
                <a:cs typeface="Times New Roman" pitchFamily="18" charset="0"/>
              </a:rPr>
              <a:t>E</a:t>
            </a:r>
            <a:r>
              <a:rPr lang="en-US" altLang="zh-CN" sz="1600" b="1" spc="300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r>
              <a:rPr lang="zh-CN" altLang="en-US" sz="2300" b="1" dirty="0">
                <a:solidFill>
                  <a:schemeClr val="tx1"/>
                </a:solidFill>
                <a:latin typeface="华文楷体" pitchFamily="2" charset="-122"/>
              </a:rPr>
              <a:t>是一种用来描述</a:t>
            </a:r>
            <a:r>
              <a:rPr lang="zh-CN" altLang="en-US" sz="2300" b="1" dirty="0">
                <a:solidFill>
                  <a:srgbClr val="2D83F4"/>
                </a:solidFill>
                <a:latin typeface="华文楷体" pitchFamily="2" charset="-122"/>
              </a:rPr>
              <a:t>正则语言</a:t>
            </a:r>
            <a:r>
              <a:rPr lang="zh-CN" altLang="en-US" sz="2300" b="1" dirty="0">
                <a:solidFill>
                  <a:schemeClr val="tx1"/>
                </a:solidFill>
                <a:latin typeface="华文楷体" pitchFamily="2" charset="-122"/>
              </a:rPr>
              <a:t>的 </a:t>
            </a:r>
            <a:r>
              <a:rPr lang="zh-CN" altLang="en-US" sz="2300" b="1" dirty="0">
                <a:solidFill>
                  <a:srgbClr val="2D83F4"/>
                </a:solidFill>
                <a:latin typeface="华文楷体" pitchFamily="2" charset="-122"/>
              </a:rPr>
              <a:t>更紧凑</a:t>
            </a:r>
            <a:r>
              <a:rPr lang="zh-CN" altLang="en-US" sz="2300" b="1" dirty="0">
                <a:solidFill>
                  <a:schemeClr val="tx1"/>
                </a:solidFill>
                <a:latin typeface="华文楷体" pitchFamily="2" charset="-122"/>
              </a:rPr>
              <a:t>的表示方法，由字母表中的符号，</a:t>
            </a:r>
            <a:r>
              <a:rPr lang="en-US" altLang="zh-CN" sz="2300" b="1" dirty="0">
                <a:solidFill>
                  <a:schemeClr val="tx1"/>
                </a:solidFill>
                <a:latin typeface="华文楷体" pitchFamily="2" charset="-122"/>
              </a:rPr>
              <a:t>|,</a:t>
            </a:r>
            <a:r>
              <a:rPr lang="zh-CN" altLang="en-US" sz="2300" b="1" dirty="0">
                <a:solidFill>
                  <a:schemeClr val="tx1"/>
                </a:solidFill>
                <a:latin typeface="华文楷体" pitchFamily="2" charset="-122"/>
              </a:rPr>
              <a:t>连接</a:t>
            </a:r>
            <a:r>
              <a:rPr lang="en-US" altLang="zh-CN" sz="2300" b="1" dirty="0">
                <a:solidFill>
                  <a:schemeClr val="tx1"/>
                </a:solidFill>
                <a:latin typeface="华文楷体" pitchFamily="2" charset="-122"/>
              </a:rPr>
              <a:t>, *,+</a:t>
            </a:r>
            <a:r>
              <a:rPr lang="zh-CN" altLang="en-US" sz="2300" b="1" dirty="0">
                <a:solidFill>
                  <a:schemeClr val="tx1"/>
                </a:solidFill>
                <a:latin typeface="华文楷体" pitchFamily="2" charset="-122"/>
              </a:rPr>
              <a:t>，</a:t>
            </a:r>
            <a:r>
              <a:rPr lang="en-US" altLang="zh-CN" sz="2300" b="1" dirty="0">
                <a:solidFill>
                  <a:schemeClr val="tx1"/>
                </a:solidFill>
                <a:latin typeface="华文楷体" pitchFamily="2" charset="-122"/>
              </a:rPr>
              <a:t>( ) </a:t>
            </a:r>
            <a:r>
              <a:rPr lang="zh-CN" altLang="en-US" sz="2300" b="1" dirty="0">
                <a:solidFill>
                  <a:schemeClr val="tx1"/>
                </a:solidFill>
                <a:latin typeface="华文楷体" pitchFamily="2" charset="-122"/>
              </a:rPr>
              <a:t>构成</a:t>
            </a:r>
            <a:endParaRPr lang="en-US" altLang="zh-CN" sz="2300" b="1" dirty="0">
              <a:solidFill>
                <a:schemeClr val="tx1"/>
              </a:solidFill>
              <a:latin typeface="华文楷体" pitchFamily="2" charset="-122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300" b="1" dirty="0">
                <a:solidFill>
                  <a:schemeClr val="tx1"/>
                </a:solidFill>
                <a:latin typeface="华文楷体" pitchFamily="2" charset="-122"/>
              </a:rPr>
              <a:t>例：</a:t>
            </a:r>
            <a:r>
              <a:rPr lang="en-US" altLang="zh-CN" sz="2300" b="1" i="1" dirty="0">
                <a:solidFill>
                  <a:schemeClr val="tx1"/>
                </a:solidFill>
              </a:rPr>
              <a:t>r = a</a:t>
            </a:r>
            <a:r>
              <a:rPr lang="en-US" altLang="zh-CN" sz="2300" b="1" dirty="0">
                <a:solidFill>
                  <a:schemeClr val="tx1"/>
                </a:solidFill>
              </a:rPr>
              <a:t>(</a:t>
            </a:r>
            <a:r>
              <a:rPr lang="en-US" altLang="zh-CN" sz="2300" b="1" i="1" dirty="0" err="1">
                <a:solidFill>
                  <a:schemeClr val="tx1"/>
                </a:solidFill>
              </a:rPr>
              <a:t>a|b</a:t>
            </a:r>
            <a:r>
              <a:rPr lang="en-US" altLang="zh-CN" sz="2300" b="1" dirty="0">
                <a:solidFill>
                  <a:schemeClr val="tx1"/>
                </a:solidFill>
              </a:rPr>
              <a:t>)</a:t>
            </a:r>
            <a:r>
              <a:rPr lang="en-US" altLang="zh-CN" sz="2300" b="1" baseline="30000" dirty="0">
                <a:solidFill>
                  <a:schemeClr val="tx1"/>
                </a:solidFill>
              </a:rPr>
              <a:t>*</a:t>
            </a:r>
            <a:r>
              <a:rPr lang="en-US" altLang="zh-CN" sz="2300" b="1" dirty="0">
                <a:solidFill>
                  <a:schemeClr val="tx1"/>
                </a:solidFill>
              </a:rPr>
              <a:t>(</a:t>
            </a:r>
            <a:r>
              <a:rPr lang="en-US" altLang="zh-CN" sz="2300" b="1" i="1" dirty="0">
                <a:solidFill>
                  <a:schemeClr val="tx1"/>
                </a:solidFill>
              </a:rPr>
              <a:t> ε | </a:t>
            </a:r>
            <a:r>
              <a:rPr lang="en-US" altLang="zh-CN" sz="2300" b="1" dirty="0">
                <a:solidFill>
                  <a:schemeClr val="tx1"/>
                </a:solidFill>
              </a:rPr>
              <a:t>(</a:t>
            </a:r>
            <a:r>
              <a:rPr lang="en-US" altLang="zh-CN" sz="2300" b="1" i="1" dirty="0">
                <a:solidFill>
                  <a:schemeClr val="tx1"/>
                </a:solidFill>
              </a:rPr>
              <a:t>.| _</a:t>
            </a:r>
            <a:r>
              <a:rPr lang="en-US" altLang="zh-CN" sz="2300" b="1" dirty="0">
                <a:solidFill>
                  <a:schemeClr val="tx1"/>
                </a:solidFill>
              </a:rPr>
              <a:t>)(</a:t>
            </a:r>
            <a:r>
              <a:rPr lang="en-US" altLang="zh-CN" sz="2300" b="1" i="1" dirty="0" err="1">
                <a:solidFill>
                  <a:schemeClr val="tx1"/>
                </a:solidFill>
              </a:rPr>
              <a:t>a|b</a:t>
            </a:r>
            <a:r>
              <a:rPr lang="en-US" altLang="zh-CN" sz="2300" b="1" dirty="0">
                <a:solidFill>
                  <a:schemeClr val="tx1"/>
                </a:solidFill>
              </a:rPr>
              <a:t>)(</a:t>
            </a:r>
            <a:r>
              <a:rPr lang="en-US" altLang="zh-CN" sz="2300" b="1" i="1" dirty="0" err="1">
                <a:solidFill>
                  <a:schemeClr val="tx1"/>
                </a:solidFill>
              </a:rPr>
              <a:t>a|b</a:t>
            </a:r>
            <a:r>
              <a:rPr lang="en-US" altLang="zh-CN" sz="2300" b="1" dirty="0">
                <a:solidFill>
                  <a:schemeClr val="tx1"/>
                </a:solidFill>
              </a:rPr>
              <a:t>)</a:t>
            </a:r>
            <a:r>
              <a:rPr lang="en-US" altLang="zh-CN" sz="2300" b="1" baseline="30000" dirty="0">
                <a:solidFill>
                  <a:schemeClr val="tx1"/>
                </a:solidFill>
              </a:rPr>
              <a:t>*</a:t>
            </a:r>
            <a:r>
              <a:rPr lang="en-US" altLang="zh-CN" sz="2300" b="1" dirty="0">
                <a:solidFill>
                  <a:schemeClr val="tx1"/>
                </a:solidFill>
              </a:rPr>
              <a:t> )</a:t>
            </a:r>
          </a:p>
          <a:p>
            <a:pPr marL="0" indent="0"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300" b="1" dirty="0">
                <a:solidFill>
                  <a:schemeClr val="tx1"/>
                </a:solidFill>
                <a:latin typeface="华文楷体" pitchFamily="2" charset="-122"/>
              </a:rPr>
              <a:t>每个</a:t>
            </a:r>
            <a:r>
              <a:rPr lang="zh-CN" altLang="en-US" sz="2300" b="1" dirty="0">
                <a:solidFill>
                  <a:srgbClr val="FF0000"/>
                </a:solidFill>
                <a:latin typeface="华文楷体" pitchFamily="2" charset="-122"/>
              </a:rPr>
              <a:t>正则表达式 </a:t>
            </a:r>
            <a:r>
              <a:rPr lang="en-US" altLang="zh-CN" sz="2300" b="1" i="1" dirty="0">
                <a:solidFill>
                  <a:srgbClr val="FF0000"/>
                </a:solidFill>
              </a:rPr>
              <a:t>r</a:t>
            </a:r>
            <a:r>
              <a:rPr lang="zh-CN" altLang="en-US" sz="2300" b="1" dirty="0">
                <a:solidFill>
                  <a:srgbClr val="FF0000"/>
                </a:solidFill>
                <a:latin typeface="华文楷体" pitchFamily="2" charset="-122"/>
              </a:rPr>
              <a:t>定义</a:t>
            </a:r>
            <a:r>
              <a:rPr lang="zh-CN" altLang="en-US" sz="2300" b="1" dirty="0">
                <a:solidFill>
                  <a:srgbClr val="FF0000"/>
                </a:solidFill>
              </a:rPr>
              <a:t>（</a:t>
            </a:r>
            <a:r>
              <a:rPr lang="zh-CN" altLang="en-US" sz="2300" b="1" dirty="0">
                <a:solidFill>
                  <a:srgbClr val="FF0000"/>
                </a:solidFill>
                <a:latin typeface="华文楷体" pitchFamily="2" charset="-122"/>
              </a:rPr>
              <a:t>表示</a:t>
            </a:r>
            <a:r>
              <a:rPr lang="zh-CN" altLang="en-US" sz="2300" b="1" dirty="0">
                <a:solidFill>
                  <a:srgbClr val="FF0000"/>
                </a:solidFill>
              </a:rPr>
              <a:t>）</a:t>
            </a:r>
            <a:r>
              <a:rPr lang="zh-CN" altLang="en-US" sz="2300" b="1" dirty="0">
                <a:solidFill>
                  <a:srgbClr val="FF0000"/>
                </a:solidFill>
                <a:latin typeface="华文楷体" pitchFamily="2" charset="-122"/>
              </a:rPr>
              <a:t>一个语言</a:t>
            </a:r>
            <a:r>
              <a:rPr lang="zh-CN" altLang="en-US" sz="2300" b="1" dirty="0">
                <a:solidFill>
                  <a:schemeClr val="tx1"/>
                </a:solidFill>
                <a:latin typeface="华文楷体" pitchFamily="2" charset="-122"/>
              </a:rPr>
              <a:t>，记为</a:t>
            </a:r>
            <a:r>
              <a:rPr lang="en-US" altLang="zh-CN" sz="2300" b="1" i="1" dirty="0">
                <a:solidFill>
                  <a:srgbClr val="2D83F4"/>
                </a:solidFill>
              </a:rPr>
              <a:t>L</a:t>
            </a:r>
            <a:r>
              <a:rPr lang="en-US" altLang="zh-CN" sz="2300" b="1" dirty="0">
                <a:solidFill>
                  <a:srgbClr val="2D83F4"/>
                </a:solidFill>
              </a:rPr>
              <a:t>(</a:t>
            </a:r>
            <a:r>
              <a:rPr lang="en-US" altLang="zh-CN" sz="2300" b="1" i="1" dirty="0">
                <a:solidFill>
                  <a:srgbClr val="2D83F4"/>
                </a:solidFill>
              </a:rPr>
              <a:t>r </a:t>
            </a:r>
            <a:r>
              <a:rPr lang="en-US" altLang="zh-CN" sz="2300" b="1" dirty="0">
                <a:solidFill>
                  <a:srgbClr val="2D83F4"/>
                </a:solidFill>
              </a:rPr>
              <a:t>)</a:t>
            </a:r>
            <a:r>
              <a:rPr lang="zh-CN" altLang="en-US" sz="2300" b="1" dirty="0">
                <a:solidFill>
                  <a:schemeClr val="tx1"/>
                </a:solidFill>
                <a:latin typeface="华文楷体" pitchFamily="2" charset="-122"/>
              </a:rPr>
              <a:t>。</a:t>
            </a:r>
            <a:endParaRPr lang="en-US" altLang="zh-CN" sz="2300" b="1" dirty="0">
              <a:solidFill>
                <a:schemeClr val="tx1"/>
              </a:solidFill>
              <a:latin typeface="华文楷体" pitchFamily="2" charset="-122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3.1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正则表达式</a:t>
            </a:r>
          </a:p>
        </p:txBody>
      </p:sp>
      <p:grpSp>
        <p:nvGrpSpPr>
          <p:cNvPr id="10244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10246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53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53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53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53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53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53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53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53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53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428625" y="1857375"/>
            <a:ext cx="8001000" cy="3225800"/>
          </a:xfrm>
        </p:spPr>
        <p:txBody>
          <a:bodyPr/>
          <a:lstStyle/>
          <a:p>
            <a:pPr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 假设 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</a:t>
            </a:r>
            <a:r>
              <a:rPr lang="zh-CN" altLang="en-US" sz="2500" b="1" dirty="0">
                <a:solidFill>
                  <a:schemeClr val="tx1"/>
                </a:solidFill>
              </a:rPr>
              <a:t>和 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</a:t>
            </a:r>
            <a:r>
              <a:rPr lang="zh-CN" altLang="en-US" sz="2500" b="1" dirty="0">
                <a:solidFill>
                  <a:schemeClr val="tx1"/>
                </a:solidFill>
              </a:rPr>
              <a:t>都是 </a:t>
            </a:r>
            <a:r>
              <a:rPr lang="en-US" altLang="zh-CN" sz="2500" b="1" i="1" dirty="0">
                <a:solidFill>
                  <a:schemeClr val="tx1"/>
                </a:solidFill>
              </a:rPr>
              <a:t>RE</a:t>
            </a:r>
            <a:r>
              <a:rPr lang="zh-CN" altLang="en-US" sz="2500" b="1" dirty="0">
                <a:solidFill>
                  <a:schemeClr val="tx1"/>
                </a:solidFill>
              </a:rPr>
              <a:t>，表示的语言分别是 </a:t>
            </a:r>
            <a:r>
              <a:rPr lang="en-US" altLang="zh-CN" sz="2500" b="1" i="1" dirty="0">
                <a:solidFill>
                  <a:schemeClr val="tx1"/>
                </a:solidFill>
              </a:rPr>
              <a:t>L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</a:rPr>
              <a:t>r</a:t>
            </a:r>
            <a:r>
              <a:rPr lang="en-US" altLang="zh-CN" sz="2500" b="1" dirty="0">
                <a:solidFill>
                  <a:schemeClr val="tx1"/>
                </a:solidFill>
              </a:rPr>
              <a:t>)</a:t>
            </a:r>
            <a:r>
              <a:rPr lang="zh-CN" altLang="en-US" sz="2500" b="1" dirty="0">
                <a:solidFill>
                  <a:schemeClr val="tx1"/>
                </a:solidFill>
              </a:rPr>
              <a:t>和</a:t>
            </a:r>
            <a:r>
              <a:rPr lang="en-US" altLang="zh-CN" sz="2500" b="1" i="1" dirty="0">
                <a:solidFill>
                  <a:schemeClr val="tx1"/>
                </a:solidFill>
              </a:rPr>
              <a:t>L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</a:rPr>
              <a:t>s</a:t>
            </a:r>
            <a:r>
              <a:rPr lang="en-US" altLang="zh-CN" sz="2500" b="1" dirty="0">
                <a:solidFill>
                  <a:schemeClr val="tx1"/>
                </a:solidFill>
              </a:rPr>
              <a:t>)</a:t>
            </a:r>
            <a:r>
              <a:rPr lang="zh-CN" altLang="en-US" sz="2500" b="1" dirty="0">
                <a:solidFill>
                  <a:schemeClr val="tx1"/>
                </a:solidFill>
              </a:rPr>
              <a:t>，则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i="1" dirty="0" err="1">
                <a:solidFill>
                  <a:srgbClr val="FF0000"/>
                </a:solidFill>
                <a:cs typeface="Times New Roman" pitchFamily="18" charset="0"/>
              </a:rPr>
              <a:t>r</a:t>
            </a:r>
            <a:r>
              <a:rPr lang="en-US" altLang="zh-CN" b="1" dirty="0" err="1">
                <a:solidFill>
                  <a:srgbClr val="FF0000"/>
                </a:solidFill>
                <a:cs typeface="Times New Roman" pitchFamily="18" charset="0"/>
              </a:rPr>
              <a:t>|</a:t>
            </a:r>
            <a:r>
              <a:rPr lang="en-US" altLang="zh-CN" b="1" i="1" dirty="0" err="1">
                <a:solidFill>
                  <a:srgbClr val="FF0000"/>
                </a:solidFill>
                <a:cs typeface="Times New Roman" pitchFamily="18" charset="0"/>
              </a:rPr>
              <a:t>s</a:t>
            </a:r>
            <a:r>
              <a:rPr lang="en-US" altLang="zh-CN" b="1" i="1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是一个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RE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，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L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( </a:t>
            </a:r>
            <a:r>
              <a:rPr lang="en-US" altLang="zh-CN" b="1" i="1" dirty="0" err="1">
                <a:solidFill>
                  <a:schemeClr val="tx1"/>
                </a:solidFill>
                <a:cs typeface="Times New Roman" pitchFamily="18" charset="0"/>
              </a:rPr>
              <a:t>r|s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) =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 L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r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∪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L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s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endParaRPr lang="en-US" altLang="zh-CN" b="1" dirty="0">
              <a:solidFill>
                <a:schemeClr val="tx1"/>
              </a:solidFill>
              <a:cs typeface="Times New Roman" pitchFamily="18" charset="0"/>
            </a:endParaRPr>
          </a:p>
          <a:p>
            <a:pPr lvl="1"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i="1" dirty="0" err="1">
                <a:solidFill>
                  <a:srgbClr val="FF0000"/>
                </a:solidFill>
                <a:cs typeface="Times New Roman" pitchFamily="18" charset="0"/>
              </a:rPr>
              <a:t>rs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是一个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RE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，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L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( </a:t>
            </a:r>
            <a:r>
              <a:rPr lang="en-US" altLang="zh-CN" b="1" i="1" dirty="0" err="1">
                <a:solidFill>
                  <a:schemeClr val="tx1"/>
                </a:solidFill>
                <a:cs typeface="Times New Roman" pitchFamily="18" charset="0"/>
              </a:rPr>
              <a:t>rs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) =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 L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r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)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L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s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) </a:t>
            </a:r>
          </a:p>
          <a:p>
            <a:pPr lvl="1"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pt-BR" altLang="zh-CN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pt-BR" altLang="zh-CN" b="1" i="1" dirty="0">
                <a:solidFill>
                  <a:srgbClr val="FF0000"/>
                </a:solidFill>
                <a:cs typeface="Times New Roman" pitchFamily="18" charset="0"/>
              </a:rPr>
              <a:t>r</a:t>
            </a:r>
            <a:r>
              <a:rPr lang="pt-BR" altLang="zh-CN" b="1" baseline="30000" dirty="0">
                <a:solidFill>
                  <a:srgbClr val="FF0000"/>
                </a:solidFill>
                <a:cs typeface="Times New Roman" pitchFamily="18" charset="0"/>
              </a:rPr>
              <a:t>*</a:t>
            </a:r>
            <a:r>
              <a:rPr lang="pt-BR" altLang="zh-CN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是一个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RE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，</a:t>
            </a:r>
            <a:r>
              <a:rPr lang="pt-BR" altLang="zh-CN" b="1" i="1" dirty="0">
                <a:solidFill>
                  <a:schemeClr val="tx1"/>
                </a:solidFill>
                <a:cs typeface="Times New Roman" pitchFamily="18" charset="0"/>
              </a:rPr>
              <a:t>L</a:t>
            </a:r>
            <a:r>
              <a:rPr lang="pt-BR" altLang="zh-CN" b="1" dirty="0">
                <a:solidFill>
                  <a:schemeClr val="tx1"/>
                </a:solidFill>
                <a:cs typeface="Times New Roman" pitchFamily="18" charset="0"/>
              </a:rPr>
              <a:t>( </a:t>
            </a:r>
            <a:r>
              <a:rPr lang="pt-BR" altLang="zh-CN" b="1" i="1" dirty="0">
                <a:solidFill>
                  <a:schemeClr val="tx1"/>
                </a:solidFill>
                <a:cs typeface="Times New Roman" pitchFamily="18" charset="0"/>
              </a:rPr>
              <a:t>r</a:t>
            </a:r>
            <a:r>
              <a:rPr lang="pt-BR" altLang="zh-CN" b="1" i="1" baseline="30000" dirty="0">
                <a:solidFill>
                  <a:schemeClr val="tx1"/>
                </a:solidFill>
                <a:cs typeface="Times New Roman" pitchFamily="18" charset="0"/>
              </a:rPr>
              <a:t>* </a:t>
            </a:r>
            <a:r>
              <a:rPr lang="pt-BR" altLang="zh-CN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pt-BR" altLang="zh-CN" b="1" dirty="0">
                <a:solidFill>
                  <a:schemeClr val="tx1"/>
                </a:solidFill>
                <a:cs typeface="Times New Roman" pitchFamily="18" charset="0"/>
              </a:rPr>
              <a:t> (</a:t>
            </a:r>
            <a:r>
              <a:rPr lang="pt-BR" altLang="zh-CN" b="1" i="1" dirty="0">
                <a:solidFill>
                  <a:schemeClr val="tx1"/>
                </a:solidFill>
                <a:cs typeface="Times New Roman" pitchFamily="18" charset="0"/>
              </a:rPr>
              <a:t>L</a:t>
            </a:r>
            <a:r>
              <a:rPr lang="pt-BR" altLang="zh-CN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pt-BR" altLang="zh-CN" b="1" i="1" dirty="0">
                <a:solidFill>
                  <a:schemeClr val="tx1"/>
                </a:solidFill>
                <a:cs typeface="Times New Roman" pitchFamily="18" charset="0"/>
              </a:rPr>
              <a:t>r</a:t>
            </a:r>
            <a:r>
              <a:rPr lang="pt-BR" altLang="zh-CN" b="1" dirty="0">
                <a:solidFill>
                  <a:schemeClr val="tx1"/>
                </a:solidFill>
                <a:cs typeface="Times New Roman" pitchFamily="18" charset="0"/>
              </a:rPr>
              <a:t>))</a:t>
            </a:r>
            <a:r>
              <a:rPr lang="pt-BR" altLang="zh-CN" b="1" baseline="30000" dirty="0">
                <a:solidFill>
                  <a:schemeClr val="tx1"/>
                </a:solidFill>
                <a:cs typeface="Times New Roman" pitchFamily="18" charset="0"/>
              </a:rPr>
              <a:t>*</a:t>
            </a:r>
            <a:r>
              <a:rPr lang="pt-BR" altLang="zh-CN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</a:p>
          <a:p>
            <a:pPr lvl="1"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cs typeface="Times New Roman" pitchFamily="18" charset="0"/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  <a:cs typeface="Times New Roman" pitchFamily="18" charset="0"/>
              </a:rPr>
              <a:t>r</a:t>
            </a:r>
            <a:r>
              <a:rPr lang="en-US" altLang="zh-CN" b="1" dirty="0">
                <a:solidFill>
                  <a:srgbClr val="FF0000"/>
                </a:solidFill>
                <a:cs typeface="Times New Roman" pitchFamily="18" charset="0"/>
              </a:rPr>
              <a:t>) 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是一个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RE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，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L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( 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(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r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)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) =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 L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r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endParaRPr lang="zh-CN" altLang="en-US" b="1" dirty="0">
              <a:solidFill>
                <a:schemeClr val="tx1"/>
              </a:solidFill>
              <a:cs typeface="Times New Roman" pitchFamily="18" charset="0"/>
            </a:endParaRP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正则表达式的递归定义</a:t>
            </a:r>
          </a:p>
        </p:txBody>
      </p:sp>
      <p:grpSp>
        <p:nvGrpSpPr>
          <p:cNvPr id="12293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0" name="五边形 9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12296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12" name="内容占位符 2"/>
          <p:cNvSpPr txBox="1">
            <a:spLocks/>
          </p:cNvSpPr>
          <p:nvPr/>
        </p:nvSpPr>
        <p:spPr bwMode="auto">
          <a:xfrm>
            <a:off x="442913" y="714375"/>
            <a:ext cx="8058150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 eaLnBrk="1" hangingPunct="1">
              <a:lnSpc>
                <a:spcPts val="40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el-GR" altLang="zh-CN" sz="2500" b="1" i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 ε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是一个</a:t>
            </a:r>
            <a:r>
              <a:rPr lang="en-US" altLang="zh-CN" sz="2500" b="1" i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RE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，</a:t>
            </a:r>
            <a:r>
              <a:rPr lang="en-US" altLang="zh-CN" sz="2500" b="1" i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L</a:t>
            </a:r>
            <a:r>
              <a:rPr lang="en-US" altLang="zh-CN" sz="25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(</a:t>
            </a:r>
            <a:r>
              <a:rPr lang="el-GR" altLang="zh-CN" sz="2500" b="1" i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ε</a:t>
            </a:r>
            <a:r>
              <a:rPr lang="el-GR" altLang="zh-CN" sz="25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)</a:t>
            </a:r>
            <a:r>
              <a:rPr lang="el-GR" altLang="zh-CN" sz="2500" b="1" i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 </a:t>
            </a:r>
            <a:r>
              <a:rPr lang="el-GR" altLang="zh-CN" sz="25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= {</a:t>
            </a:r>
            <a:r>
              <a:rPr lang="el-GR" altLang="zh-CN" sz="2500" b="1" i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ε</a:t>
            </a:r>
            <a:r>
              <a:rPr lang="el-GR" altLang="zh-CN" sz="25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}</a:t>
            </a:r>
          </a:p>
          <a:p>
            <a:pPr marL="273050" indent="-273050" eaLnBrk="1" hangingPunct="1">
              <a:lnSpc>
                <a:spcPts val="40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el-GR" altLang="zh-CN" sz="2500" b="1" i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 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如果 </a:t>
            </a:r>
            <a:r>
              <a:rPr lang="en-US" altLang="zh-CN" sz="2500" b="1" i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a</a:t>
            </a:r>
            <a:r>
              <a:rPr lang="en-US" altLang="zh-CN" sz="25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∈∑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，则</a:t>
            </a:r>
            <a:r>
              <a:rPr lang="en-US" altLang="zh-CN" sz="2500" b="1" i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a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是一个</a:t>
            </a:r>
            <a:r>
              <a:rPr lang="en-US" altLang="zh-CN" sz="2500" b="1" i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RE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，</a:t>
            </a:r>
            <a:r>
              <a:rPr lang="en-US" altLang="zh-CN" sz="2500" b="1" i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L</a:t>
            </a:r>
            <a:r>
              <a:rPr lang="en-US" altLang="zh-CN" sz="25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(</a:t>
            </a:r>
            <a:r>
              <a:rPr lang="en-US" altLang="zh-CN" sz="2500" b="1" i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a</a:t>
            </a:r>
            <a:r>
              <a:rPr lang="en-US" altLang="zh-CN" sz="25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) = {</a:t>
            </a:r>
            <a:r>
              <a:rPr lang="en-US" altLang="zh-CN" sz="2500" b="1" i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a</a:t>
            </a:r>
            <a:r>
              <a:rPr lang="en-US" altLang="zh-CN" sz="25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}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5F2C0F3-0F66-68B9-FFF6-D5802B4B26E8}"/>
              </a:ext>
            </a:extLst>
          </p:cNvPr>
          <p:cNvSpPr txBox="1">
            <a:spLocks/>
          </p:cNvSpPr>
          <p:nvPr/>
        </p:nvSpPr>
        <p:spPr bwMode="auto">
          <a:xfrm>
            <a:off x="778985" y="4587974"/>
            <a:ext cx="4750544" cy="44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zh-CN" altLang="en-US" sz="2500" b="1" dirty="0">
                <a:latin typeface="Times New Roman" pitchFamily="18" charset="0"/>
                <a:ea typeface="楷体" pitchFamily="49" charset="-122"/>
              </a:rPr>
              <a:t>运算的优先级：</a:t>
            </a:r>
            <a:r>
              <a:rPr lang="en-US" altLang="zh-CN" sz="2500" b="1" dirty="0">
                <a:solidFill>
                  <a:srgbClr val="FF0000"/>
                </a:solidFill>
                <a:latin typeface="Times New Roman" pitchFamily="18" charset="0"/>
                <a:ea typeface="楷体" pitchFamily="49" charset="-122"/>
              </a:rPr>
              <a:t>( )</a:t>
            </a:r>
            <a:r>
              <a:rPr lang="zh-CN" altLang="en-US" sz="2500" b="1" dirty="0">
                <a:latin typeface="Times New Roman" pitchFamily="18" charset="0"/>
                <a:ea typeface="楷体" pitchFamily="49" charset="-122"/>
              </a:rPr>
              <a:t>、</a:t>
            </a:r>
            <a:r>
              <a:rPr lang="zh-CN" altLang="en-US" sz="2500" b="1" dirty="0">
                <a:solidFill>
                  <a:srgbClr val="FF0000"/>
                </a:solidFill>
                <a:latin typeface="Times New Roman" pitchFamily="18" charset="0"/>
                <a:ea typeface="楷体" pitchFamily="49" charset="-122"/>
              </a:rPr>
              <a:t>*</a:t>
            </a:r>
            <a:r>
              <a:rPr lang="zh-CN" altLang="en-US" sz="2500" b="1" dirty="0">
                <a:latin typeface="Times New Roman" pitchFamily="18" charset="0"/>
                <a:ea typeface="楷体" pitchFamily="49" charset="-122"/>
              </a:rPr>
              <a:t>、</a:t>
            </a:r>
            <a:r>
              <a:rPr lang="zh-CN" altLang="en-US" sz="2500" b="1" dirty="0">
                <a:solidFill>
                  <a:srgbClr val="FF0000"/>
                </a:solidFill>
                <a:latin typeface="Times New Roman" pitchFamily="18" charset="0"/>
                <a:ea typeface="楷体" pitchFamily="49" charset="-122"/>
              </a:rPr>
              <a:t>连接</a:t>
            </a:r>
            <a:r>
              <a:rPr lang="zh-CN" altLang="en-US" sz="2500" b="1" dirty="0">
                <a:latin typeface="Times New Roman" pitchFamily="18" charset="0"/>
                <a:ea typeface="楷体" pitchFamily="49" charset="-122"/>
              </a:rPr>
              <a:t>、</a:t>
            </a:r>
            <a:r>
              <a:rPr lang="en-US" altLang="zh-CN" sz="2500" b="1" dirty="0">
                <a:solidFill>
                  <a:srgbClr val="FF0000"/>
                </a:solidFill>
                <a:latin typeface="Times New Roman" pitchFamily="18" charset="0"/>
                <a:ea typeface="楷体" pitchFamily="49" charset="-122"/>
              </a:rPr>
              <a:t>|</a:t>
            </a:r>
            <a:endParaRPr lang="zh-CN" altLang="en-US" sz="2500" b="1" dirty="0">
              <a:solidFill>
                <a:srgbClr val="FF0000"/>
              </a:solidFill>
              <a:latin typeface="Times New Roman" pitchFamily="18" charset="0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20511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内容占位符 2"/>
          <p:cNvSpPr>
            <a:spLocks noGrp="1"/>
          </p:cNvSpPr>
          <p:nvPr>
            <p:ph idx="1"/>
          </p:nvPr>
        </p:nvSpPr>
        <p:spPr>
          <a:xfrm>
            <a:off x="109538" y="703263"/>
            <a:ext cx="8820150" cy="3225800"/>
          </a:xfrm>
        </p:spPr>
        <p:txBody>
          <a:bodyPr/>
          <a:lstStyle/>
          <a:p>
            <a:pPr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令</a:t>
            </a:r>
            <a:r>
              <a:rPr lang="en-US" altLang="zh-CN" sz="2500" b="1" dirty="0">
                <a:solidFill>
                  <a:schemeClr val="tx1"/>
                </a:solidFill>
              </a:rPr>
              <a:t> ∑ = {</a:t>
            </a:r>
            <a:r>
              <a:rPr lang="en-US" altLang="zh-CN" sz="2500" b="1" i="1" dirty="0">
                <a:solidFill>
                  <a:schemeClr val="tx1"/>
                </a:solidFill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</a:rPr>
              <a:t>}</a:t>
            </a:r>
            <a:r>
              <a:rPr lang="zh-CN" altLang="en-US" sz="2500" b="1" dirty="0">
                <a:solidFill>
                  <a:schemeClr val="tx1"/>
                </a:solidFill>
              </a:rPr>
              <a:t>，则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</a:rPr>
              <a:t>L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i="1" dirty="0" err="1">
                <a:solidFill>
                  <a:srgbClr val="FF0000"/>
                </a:solidFill>
              </a:rPr>
              <a:t>a</a:t>
            </a:r>
            <a:r>
              <a:rPr lang="en-US" altLang="zh-CN" sz="2500" b="1" dirty="0" err="1">
                <a:solidFill>
                  <a:srgbClr val="FF0000"/>
                </a:solidFill>
              </a:rPr>
              <a:t>|</a:t>
            </a:r>
            <a:r>
              <a:rPr lang="en-US" altLang="zh-CN" sz="2500" b="1" i="1" dirty="0" err="1">
                <a:solidFill>
                  <a:srgbClr val="FF0000"/>
                </a:solidFill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</a:rPr>
              <a:t>) = </a:t>
            </a:r>
            <a:r>
              <a:rPr lang="en-US" altLang="zh-CN" sz="2500" b="1" i="1" dirty="0">
                <a:solidFill>
                  <a:schemeClr val="tx1"/>
                </a:solidFill>
              </a:rPr>
              <a:t>L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</a:rPr>
              <a:t>)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∪</a:t>
            </a:r>
            <a:r>
              <a:rPr lang="en-US" altLang="zh-CN" sz="2500" b="1" i="1" dirty="0">
                <a:solidFill>
                  <a:schemeClr val="tx1"/>
                </a:solidFill>
              </a:rPr>
              <a:t>L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</a:rPr>
              <a:t>) ={</a:t>
            </a:r>
            <a:r>
              <a:rPr lang="en-US" altLang="zh-CN" sz="2500" b="1" i="1" dirty="0">
                <a:solidFill>
                  <a:schemeClr val="tx1"/>
                </a:solidFill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</a:rPr>
              <a:t>}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∪</a:t>
            </a:r>
            <a:r>
              <a:rPr lang="en-US" altLang="zh-CN" sz="2500" b="1" dirty="0">
                <a:solidFill>
                  <a:schemeClr val="tx1"/>
                </a:solidFill>
              </a:rPr>
              <a:t>{</a:t>
            </a:r>
            <a:r>
              <a:rPr lang="en-US" altLang="zh-CN" sz="2500" b="1" i="1" dirty="0">
                <a:solidFill>
                  <a:schemeClr val="tx1"/>
                </a:solidFill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</a:rPr>
              <a:t>} = {</a:t>
            </a:r>
            <a:r>
              <a:rPr lang="en-US" altLang="zh-CN" sz="2500" b="1" i="1" dirty="0">
                <a:solidFill>
                  <a:schemeClr val="tx1"/>
                </a:solidFill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</a:rPr>
              <a:t>}</a:t>
            </a:r>
          </a:p>
          <a:p>
            <a:pPr lvl="1"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</a:rPr>
              <a:t>L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dirty="0">
                <a:solidFill>
                  <a:srgbClr val="FF0000"/>
                </a:solidFill>
              </a:rPr>
              <a:t>(</a:t>
            </a:r>
            <a:r>
              <a:rPr lang="en-US" altLang="zh-CN" sz="2500" b="1" i="1" dirty="0" err="1">
                <a:solidFill>
                  <a:srgbClr val="FF0000"/>
                </a:solidFill>
              </a:rPr>
              <a:t>a</a:t>
            </a:r>
            <a:r>
              <a:rPr lang="en-US" altLang="zh-CN" sz="2500" b="1" dirty="0" err="1">
                <a:solidFill>
                  <a:srgbClr val="FF0000"/>
                </a:solidFill>
              </a:rPr>
              <a:t>|</a:t>
            </a:r>
            <a:r>
              <a:rPr lang="en-US" altLang="zh-CN" sz="2500" b="1" i="1" dirty="0" err="1">
                <a:solidFill>
                  <a:srgbClr val="FF0000"/>
                </a:solidFill>
              </a:rPr>
              <a:t>b</a:t>
            </a:r>
            <a:r>
              <a:rPr lang="en-US" altLang="zh-CN" sz="2500" b="1" dirty="0">
                <a:solidFill>
                  <a:srgbClr val="FF0000"/>
                </a:solidFill>
              </a:rPr>
              <a:t>)(</a:t>
            </a:r>
            <a:r>
              <a:rPr lang="en-US" altLang="zh-CN" sz="2500" b="1" i="1" dirty="0" err="1">
                <a:solidFill>
                  <a:srgbClr val="FF0000"/>
                </a:solidFill>
              </a:rPr>
              <a:t>a</a:t>
            </a:r>
            <a:r>
              <a:rPr lang="en-US" altLang="zh-CN" sz="2500" b="1" dirty="0" err="1">
                <a:solidFill>
                  <a:srgbClr val="FF0000"/>
                </a:solidFill>
              </a:rPr>
              <a:t>|</a:t>
            </a:r>
            <a:r>
              <a:rPr lang="en-US" altLang="zh-CN" sz="2500" b="1" i="1" dirty="0" err="1">
                <a:solidFill>
                  <a:srgbClr val="FF0000"/>
                </a:solidFill>
              </a:rPr>
              <a:t>b</a:t>
            </a:r>
            <a:r>
              <a:rPr lang="en-US" altLang="zh-CN" sz="2500" b="1" dirty="0">
                <a:solidFill>
                  <a:srgbClr val="FF0000"/>
                </a:solidFill>
              </a:rPr>
              <a:t>)</a:t>
            </a:r>
            <a:r>
              <a:rPr lang="en-US" altLang="zh-CN" sz="2500" b="1" dirty="0">
                <a:solidFill>
                  <a:schemeClr val="tx1"/>
                </a:solidFill>
              </a:rPr>
              <a:t>) =</a:t>
            </a:r>
            <a:r>
              <a:rPr lang="en-US" altLang="zh-CN" sz="2500" b="1" i="1" dirty="0">
                <a:solidFill>
                  <a:schemeClr val="tx1"/>
                </a:solidFill>
              </a:rPr>
              <a:t> L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a</a:t>
            </a:r>
            <a:r>
              <a:rPr lang="en-US" altLang="zh-CN" sz="2500" b="1" dirty="0" err="1">
                <a:solidFill>
                  <a:schemeClr val="tx1"/>
                </a:solidFill>
              </a:rPr>
              <a:t>|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</a:rPr>
              <a:t>)</a:t>
            </a:r>
            <a:r>
              <a:rPr lang="en-US" altLang="zh-CN" sz="2500" b="1" i="1" dirty="0">
                <a:solidFill>
                  <a:schemeClr val="tx1"/>
                </a:solidFill>
              </a:rPr>
              <a:t> L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a</a:t>
            </a:r>
            <a:r>
              <a:rPr lang="en-US" altLang="zh-CN" sz="2500" b="1" dirty="0" err="1">
                <a:solidFill>
                  <a:schemeClr val="tx1"/>
                </a:solidFill>
              </a:rPr>
              <a:t>|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</a:rPr>
              <a:t>)={</a:t>
            </a:r>
            <a:r>
              <a:rPr lang="en-US" altLang="zh-CN" sz="2500" b="1" i="1" dirty="0">
                <a:solidFill>
                  <a:schemeClr val="tx1"/>
                </a:solidFill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</a:rPr>
              <a:t>}{</a:t>
            </a:r>
            <a:r>
              <a:rPr lang="en-US" altLang="zh-CN" sz="2500" b="1" i="1" dirty="0">
                <a:solidFill>
                  <a:schemeClr val="tx1"/>
                </a:solidFill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</a:rPr>
              <a:t>}= { 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aa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</a:rPr>
              <a:t>ab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ba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</a:rPr>
              <a:t>bb </a:t>
            </a:r>
            <a:r>
              <a:rPr lang="en-US" altLang="zh-CN" sz="2500" b="1" dirty="0">
                <a:solidFill>
                  <a:schemeClr val="tx1"/>
                </a:solidFill>
              </a:rPr>
              <a:t>}</a:t>
            </a:r>
          </a:p>
          <a:p>
            <a:pPr lvl="1"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</a:rPr>
              <a:t>L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i="1" dirty="0">
                <a:solidFill>
                  <a:srgbClr val="FF0000"/>
                </a:solidFill>
              </a:rPr>
              <a:t>a</a:t>
            </a:r>
            <a:r>
              <a:rPr lang="en-US" altLang="zh-CN" sz="2500" b="1" baseline="30000" dirty="0">
                <a:solidFill>
                  <a:srgbClr val="FF0000"/>
                </a:solidFill>
              </a:rPr>
              <a:t>*</a:t>
            </a:r>
            <a:r>
              <a:rPr lang="en-US" altLang="zh-CN" sz="2500" b="1" dirty="0">
                <a:solidFill>
                  <a:schemeClr val="tx1"/>
                </a:solidFill>
              </a:rPr>
              <a:t>) =</a:t>
            </a:r>
            <a:r>
              <a:rPr lang="pt-BR" altLang="zh-CN" sz="2400" b="1" dirty="0">
                <a:solidFill>
                  <a:srgbClr val="000000"/>
                </a:solidFill>
                <a:cs typeface="Times New Roman" panose="02020603050405020304" pitchFamily="18" charset="0"/>
              </a:rPr>
              <a:t> (</a:t>
            </a:r>
            <a:r>
              <a:rPr lang="pt-BR" altLang="zh-CN" sz="2400" b="1" i="1" dirty="0">
                <a:solidFill>
                  <a:srgbClr val="000000"/>
                </a:solidFill>
                <a:cs typeface="Times New Roman" panose="02020603050405020304" pitchFamily="18" charset="0"/>
              </a:rPr>
              <a:t>L</a:t>
            </a:r>
            <a:r>
              <a:rPr lang="pt-BR" altLang="zh-CN" sz="2400" b="1" dirty="0">
                <a:solidFill>
                  <a:srgbClr val="000000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cs typeface="Times New Roman" panose="02020603050405020304" pitchFamily="18" charset="0"/>
              </a:rPr>
              <a:t>a</a:t>
            </a:r>
            <a:r>
              <a:rPr lang="pt-BR" altLang="zh-CN" sz="2400" b="1" dirty="0">
                <a:solidFill>
                  <a:srgbClr val="000000"/>
                </a:solidFill>
                <a:cs typeface="Times New Roman" panose="02020603050405020304" pitchFamily="18" charset="0"/>
              </a:rPr>
              <a:t>))</a:t>
            </a:r>
            <a:r>
              <a:rPr lang="pt-BR" altLang="zh-CN" sz="2400" b="1" baseline="30000" dirty="0">
                <a:solidFill>
                  <a:srgbClr val="000000"/>
                </a:solidFill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chemeClr val="tx1"/>
                </a:solidFill>
              </a:rPr>
              <a:t>= {</a:t>
            </a:r>
            <a:r>
              <a:rPr lang="en-US" altLang="zh-CN" sz="2500" b="1" i="1" dirty="0">
                <a:solidFill>
                  <a:schemeClr val="tx1"/>
                </a:solidFill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</a:rPr>
              <a:t>}</a:t>
            </a:r>
            <a:r>
              <a:rPr lang="en-US" altLang="zh-CN" sz="2500" b="1" baseline="30000" dirty="0">
                <a:solidFill>
                  <a:schemeClr val="tx1"/>
                </a:solidFill>
              </a:rPr>
              <a:t>*</a:t>
            </a:r>
            <a:r>
              <a:rPr lang="en-US" altLang="zh-CN" sz="2500" b="1" dirty="0">
                <a:solidFill>
                  <a:schemeClr val="tx1"/>
                </a:solidFill>
              </a:rPr>
              <a:t>= { </a:t>
            </a:r>
            <a:r>
              <a:rPr lang="en-US" altLang="zh-CN" sz="2500" b="1" i="1" dirty="0">
                <a:solidFill>
                  <a:schemeClr val="tx1"/>
                </a:solidFill>
              </a:rPr>
              <a:t>ε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aa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aaa</a:t>
            </a:r>
            <a:r>
              <a:rPr lang="en-US" altLang="zh-CN" sz="2500" b="1" dirty="0">
                <a:solidFill>
                  <a:schemeClr val="tx1"/>
                </a:solidFill>
              </a:rPr>
              <a:t>, . . . }</a:t>
            </a:r>
          </a:p>
          <a:p>
            <a:pPr lvl="1"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</a:rPr>
              <a:t>L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dirty="0">
                <a:solidFill>
                  <a:srgbClr val="FF0000"/>
                </a:solidFill>
              </a:rPr>
              <a:t>(</a:t>
            </a:r>
            <a:r>
              <a:rPr lang="en-US" altLang="zh-CN" sz="2500" b="1" i="1" dirty="0" err="1">
                <a:solidFill>
                  <a:srgbClr val="FF0000"/>
                </a:solidFill>
              </a:rPr>
              <a:t>a</a:t>
            </a:r>
            <a:r>
              <a:rPr lang="en-US" altLang="zh-CN" sz="2500" b="1" dirty="0" err="1">
                <a:solidFill>
                  <a:srgbClr val="FF0000"/>
                </a:solidFill>
              </a:rPr>
              <a:t>|</a:t>
            </a:r>
            <a:r>
              <a:rPr lang="en-US" altLang="zh-CN" sz="2500" b="1" i="1" dirty="0" err="1">
                <a:solidFill>
                  <a:srgbClr val="FF0000"/>
                </a:solidFill>
              </a:rPr>
              <a:t>b</a:t>
            </a:r>
            <a:r>
              <a:rPr lang="en-US" altLang="zh-CN" sz="2500" b="1" dirty="0">
                <a:solidFill>
                  <a:srgbClr val="FF0000"/>
                </a:solidFill>
              </a:rPr>
              <a:t>)</a:t>
            </a:r>
            <a:r>
              <a:rPr lang="en-US" altLang="zh-CN" sz="2500" b="1" baseline="30000" dirty="0">
                <a:solidFill>
                  <a:srgbClr val="FF0000"/>
                </a:solidFill>
              </a:rPr>
              <a:t>*</a:t>
            </a:r>
            <a:r>
              <a:rPr lang="en-US" altLang="zh-CN" sz="2500" b="1" dirty="0">
                <a:solidFill>
                  <a:schemeClr val="tx1"/>
                </a:solidFill>
              </a:rPr>
              <a:t>) = </a:t>
            </a:r>
            <a:r>
              <a:rPr lang="pt-BR" altLang="zh-CN" sz="2500" b="1" dirty="0">
                <a:solidFill>
                  <a:schemeClr val="tx1"/>
                </a:solidFill>
              </a:rPr>
              <a:t>(</a:t>
            </a:r>
            <a:r>
              <a:rPr lang="pt-BR" altLang="zh-CN" sz="2500" b="1" i="1" dirty="0">
                <a:solidFill>
                  <a:schemeClr val="tx1"/>
                </a:solidFill>
              </a:rPr>
              <a:t>L</a:t>
            </a:r>
            <a:r>
              <a:rPr lang="pt-BR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a</a:t>
            </a:r>
            <a:r>
              <a:rPr lang="en-US" altLang="zh-CN" sz="2500" b="1" dirty="0" err="1">
                <a:solidFill>
                  <a:schemeClr val="tx1"/>
                </a:solidFill>
              </a:rPr>
              <a:t>|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b</a:t>
            </a:r>
            <a:r>
              <a:rPr lang="pt-BR" altLang="zh-CN" sz="2500" b="1" dirty="0">
                <a:solidFill>
                  <a:schemeClr val="tx1"/>
                </a:solidFill>
              </a:rPr>
              <a:t>))</a:t>
            </a:r>
            <a:r>
              <a:rPr lang="pt-BR" altLang="zh-CN" sz="2500" b="1" baseline="30000" dirty="0">
                <a:solidFill>
                  <a:schemeClr val="tx1"/>
                </a:solidFill>
                <a:latin typeface="Arial" panose="020B0604020202020204" pitchFamily="34" charset="0"/>
              </a:rPr>
              <a:t>*</a:t>
            </a:r>
            <a:r>
              <a:rPr lang="pt-BR" altLang="zh-CN" sz="25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500" b="1" dirty="0">
                <a:solidFill>
                  <a:schemeClr val="tx1"/>
                </a:solidFill>
              </a:rPr>
              <a:t>= {</a:t>
            </a:r>
            <a:r>
              <a:rPr lang="en-US" altLang="zh-CN" sz="2500" b="1" i="1" dirty="0">
                <a:solidFill>
                  <a:schemeClr val="tx1"/>
                </a:solidFill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</a:rPr>
              <a:t>}</a:t>
            </a:r>
            <a:r>
              <a:rPr lang="en-US" altLang="zh-CN" sz="2500" b="1" baseline="30000" dirty="0">
                <a:solidFill>
                  <a:schemeClr val="tx1"/>
                </a:solidFill>
              </a:rPr>
              <a:t>*</a:t>
            </a:r>
            <a:r>
              <a:rPr lang="en-US" altLang="zh-CN" sz="2500" b="1" dirty="0">
                <a:solidFill>
                  <a:schemeClr val="tx1"/>
                </a:solidFill>
              </a:rPr>
              <a:t>= { </a:t>
            </a:r>
            <a:r>
              <a:rPr lang="en-US" altLang="zh-CN" sz="2500" b="1" i="1" dirty="0">
                <a:solidFill>
                  <a:schemeClr val="tx1"/>
                </a:solidFill>
              </a:rPr>
              <a:t>ε, a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aa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</a:rPr>
              <a:t>ab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ba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</a:rPr>
              <a:t>bb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aaa</a:t>
            </a:r>
            <a:r>
              <a:rPr lang="en-US" altLang="zh-CN" sz="2500" b="1" dirty="0">
                <a:solidFill>
                  <a:schemeClr val="tx1"/>
                </a:solidFill>
              </a:rPr>
              <a:t>, . . .}</a:t>
            </a:r>
          </a:p>
          <a:p>
            <a:pPr lvl="1"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</a:rPr>
              <a:t>L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i="1" dirty="0" err="1">
                <a:solidFill>
                  <a:srgbClr val="FF0000"/>
                </a:solidFill>
              </a:rPr>
              <a:t>a</a:t>
            </a:r>
            <a:r>
              <a:rPr lang="en-US" altLang="zh-CN" sz="2500" b="1" dirty="0" err="1">
                <a:solidFill>
                  <a:srgbClr val="FF0000"/>
                </a:solidFill>
              </a:rPr>
              <a:t>|</a:t>
            </a:r>
            <a:r>
              <a:rPr lang="en-US" altLang="zh-CN" sz="2500" b="1" i="1" dirty="0" err="1">
                <a:solidFill>
                  <a:srgbClr val="FF0000"/>
                </a:solidFill>
              </a:rPr>
              <a:t>a</a:t>
            </a:r>
            <a:r>
              <a:rPr lang="en-US" altLang="zh-CN" sz="2500" b="1" baseline="30000" dirty="0">
                <a:solidFill>
                  <a:srgbClr val="FF0000"/>
                </a:solidFill>
              </a:rPr>
              <a:t>*</a:t>
            </a:r>
            <a:r>
              <a:rPr lang="en-US" altLang="zh-CN" sz="2500" b="1" i="1" dirty="0">
                <a:solidFill>
                  <a:srgbClr val="FF0000"/>
                </a:solidFill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</a:rPr>
              <a:t>) = { </a:t>
            </a:r>
            <a:r>
              <a:rPr lang="en-US" altLang="zh-CN" sz="2500" b="1" i="1" dirty="0">
                <a:solidFill>
                  <a:schemeClr val="tx1"/>
                </a:solidFill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</a:rPr>
              <a:t>ab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aab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aaab</a:t>
            </a:r>
            <a:r>
              <a:rPr lang="en-US" altLang="zh-CN" sz="2500" b="1" dirty="0">
                <a:solidFill>
                  <a:schemeClr val="tx1"/>
                </a:solidFill>
              </a:rPr>
              <a:t>, . . .}</a:t>
            </a:r>
          </a:p>
          <a:p>
            <a:pPr marL="0" indent="0" eaLnBrk="1" hangingPunct="1">
              <a:lnSpc>
                <a:spcPts val="4000"/>
              </a:lnSpc>
              <a:buClrTx/>
              <a:buFont typeface="Symbol" panose="05050102010706020507" pitchFamily="18" charset="2"/>
              <a:buNone/>
              <a:defRPr/>
            </a:pPr>
            <a:endParaRPr lang="zh-CN" altLang="en-US" sz="2000" b="1" dirty="0">
              <a:solidFill>
                <a:schemeClr val="tx1"/>
              </a:solidFill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</a:p>
        </p:txBody>
      </p:sp>
      <p:grpSp>
        <p:nvGrpSpPr>
          <p:cNvPr id="14340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14342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idx="1"/>
          </p:nvPr>
        </p:nvSpPr>
        <p:spPr>
          <a:xfrm>
            <a:off x="800100" y="928688"/>
            <a:ext cx="8201025" cy="4019326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  <a:latin typeface="楷体" panose="02010609060101010101" pitchFamily="49" charset="-122"/>
              </a:rPr>
              <a:t>十进制整数的</a:t>
            </a:r>
            <a:r>
              <a:rPr lang="en-US" altLang="zh-CN" sz="3000" b="1" i="1" dirty="0">
                <a:solidFill>
                  <a:schemeClr val="tx1"/>
                </a:solidFill>
              </a:rPr>
              <a:t>RE</a:t>
            </a:r>
            <a:endParaRPr lang="zh-CN" altLang="en-US" sz="3000" b="1" i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lvl="1" algn="just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(1|...|9)(0|...|9)</a:t>
            </a:r>
            <a:r>
              <a:rPr lang="en-US" altLang="zh-CN" sz="2500" b="1" baseline="30000" dirty="0">
                <a:solidFill>
                  <a:schemeClr val="tx1"/>
                </a:solidFill>
                <a:ea typeface="楷体_GB2312"/>
                <a:cs typeface="楷体_GB2312"/>
              </a:rPr>
              <a:t>*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|0</a:t>
            </a:r>
          </a:p>
          <a:p>
            <a:pPr algn="just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  <a:latin typeface="楷体" panose="02010609060101010101" pitchFamily="49" charset="-122"/>
              </a:rPr>
              <a:t>八进制整数的</a:t>
            </a:r>
            <a:r>
              <a:rPr lang="en-US" altLang="zh-CN" sz="3000" b="1" i="1" dirty="0">
                <a:solidFill>
                  <a:schemeClr val="tx1"/>
                </a:solidFill>
              </a:rPr>
              <a:t>RE</a:t>
            </a:r>
          </a:p>
          <a:p>
            <a:pPr lvl="1" algn="just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0(1|2|3|4|5|6|7)(0|1|2|3|4|5|6|7)</a:t>
            </a:r>
            <a:r>
              <a:rPr lang="en-US" altLang="zh-CN" sz="2500" b="1" baseline="30000" dirty="0">
                <a:solidFill>
                  <a:schemeClr val="tx1"/>
                </a:solidFill>
                <a:ea typeface="楷体_GB2312"/>
                <a:cs typeface="楷体_GB2312"/>
              </a:rPr>
              <a:t>*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|00</a:t>
            </a:r>
            <a:endParaRPr lang="en-US" altLang="zh-CN" sz="2500" b="1" baseline="30000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algn="just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  <a:latin typeface="楷体" panose="02010609060101010101" pitchFamily="49" charset="-122"/>
              </a:rPr>
              <a:t>十六进制整数的</a:t>
            </a:r>
            <a:r>
              <a:rPr lang="en-US" altLang="zh-CN" sz="3000" b="1" i="1" dirty="0">
                <a:solidFill>
                  <a:schemeClr val="tx1"/>
                </a:solidFill>
              </a:rPr>
              <a:t>RE   </a:t>
            </a:r>
            <a:r>
              <a:rPr lang="zh-CN" altLang="en-US" sz="3000" b="1" i="1" dirty="0">
                <a:solidFill>
                  <a:schemeClr val="tx1"/>
                </a:solidFill>
              </a:rPr>
              <a:t>？</a:t>
            </a:r>
            <a:endParaRPr lang="zh-CN" altLang="en-US" sz="3000" b="1" i="1" dirty="0">
              <a:solidFill>
                <a:schemeClr val="tx1"/>
              </a:solidFill>
              <a:ea typeface="楷体_GB2312"/>
              <a:cs typeface="楷体_GB2312"/>
            </a:endParaRP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例：</a:t>
            </a:r>
            <a:r>
              <a:rPr lang="en-US" altLang="zh-CN" sz="3000" i="1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语言无符号整数的</a:t>
            </a:r>
            <a:r>
              <a:rPr lang="en-US" altLang="zh-CN" sz="30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RE</a:t>
            </a:r>
            <a:endParaRPr lang="zh-CN" altLang="en-US" sz="3000" i="1" dirty="0">
              <a:solidFill>
                <a:schemeClr val="tx1"/>
              </a:solidFill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16388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16390" name="五边形 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内容占位符 2"/>
          <p:cNvSpPr>
            <a:spLocks noGrp="1"/>
          </p:cNvSpPr>
          <p:nvPr>
            <p:ph idx="1"/>
          </p:nvPr>
        </p:nvSpPr>
        <p:spPr>
          <a:xfrm>
            <a:off x="401638" y="1000125"/>
            <a:ext cx="8742362" cy="2438400"/>
          </a:xfrm>
        </p:spPr>
        <p:txBody>
          <a:bodyPr/>
          <a:lstStyle/>
          <a:p>
            <a:pPr eaLnBrk="1" hangingPunct="1">
              <a:lnSpc>
                <a:spcPts val="5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</a:rPr>
              <a:t>可以用</a:t>
            </a:r>
            <a:r>
              <a:rPr lang="en-US" altLang="zh-CN" sz="3000" b="1" i="1" dirty="0">
                <a:solidFill>
                  <a:schemeClr val="tx1"/>
                </a:solidFill>
              </a:rPr>
              <a:t>RE</a:t>
            </a:r>
            <a:r>
              <a:rPr lang="zh-CN" altLang="en-US" sz="3000" b="1" dirty="0">
                <a:solidFill>
                  <a:schemeClr val="tx1"/>
                </a:solidFill>
              </a:rPr>
              <a:t>定义的语言叫做</a:t>
            </a:r>
            <a:endParaRPr lang="en-US" altLang="zh-CN" sz="30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5000"/>
              </a:lnSpc>
              <a:buClrTx/>
              <a:buFont typeface="Symbol" panose="05050102010706020507" pitchFamily="18" charset="2"/>
              <a:buNone/>
            </a:pPr>
            <a:r>
              <a:rPr lang="en-US" altLang="zh-CN" sz="3000" b="1" dirty="0">
                <a:solidFill>
                  <a:schemeClr val="tx1"/>
                </a:solidFill>
              </a:rPr>
              <a:t>   </a:t>
            </a:r>
            <a:r>
              <a:rPr lang="zh-CN" altLang="en-US" sz="3000" b="1" dirty="0">
                <a:solidFill>
                  <a:srgbClr val="FF0000"/>
                </a:solidFill>
              </a:rPr>
              <a:t>正则语言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</a:rPr>
              <a:t>regular language</a:t>
            </a:r>
            <a:r>
              <a:rPr lang="en-US" altLang="zh-CN" sz="2500" b="1" dirty="0">
                <a:solidFill>
                  <a:schemeClr val="tx1"/>
                </a:solidFill>
              </a:rPr>
              <a:t>)</a:t>
            </a:r>
            <a:endParaRPr lang="zh-CN" altLang="en-US" sz="2500" b="1" dirty="0">
              <a:solidFill>
                <a:schemeClr val="tx1"/>
              </a:solidFill>
            </a:endParaRPr>
          </a:p>
          <a:p>
            <a:pPr eaLnBrk="1" hangingPunct="1">
              <a:buClrTx/>
              <a:buFont typeface="Symbol" panose="05050102010706020507" pitchFamily="18" charset="2"/>
              <a:buNone/>
            </a:pP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2292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正则语言</a:t>
            </a:r>
          </a:p>
        </p:txBody>
      </p:sp>
      <p:grpSp>
        <p:nvGrpSpPr>
          <p:cNvPr id="18436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18438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i="1" spc="300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RE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的代数定律</a:t>
            </a:r>
          </a:p>
        </p:txBody>
      </p:sp>
      <p:grpSp>
        <p:nvGrpSpPr>
          <p:cNvPr id="20483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20514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aphicFrame>
        <p:nvGraphicFramePr>
          <p:cNvPr id="7" name="Group 18"/>
          <p:cNvGraphicFramePr>
            <a:graphicFrameLocks noGrp="1"/>
          </p:cNvGraphicFramePr>
          <p:nvPr/>
        </p:nvGraphicFramePr>
        <p:xfrm>
          <a:off x="849313" y="785813"/>
          <a:ext cx="7437437" cy="3595682"/>
        </p:xfrm>
        <a:graphic>
          <a:graphicData uri="http://schemas.openxmlformats.org/drawingml/2006/table">
            <a:tbl>
              <a:tblPr/>
              <a:tblGrid>
                <a:gridCol w="40326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4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19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定律</a:t>
                      </a:r>
                    </a:p>
                  </a:txBody>
                  <a:tcPr marL="100255" marR="100255" marT="37589" marB="375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描述</a:t>
                      </a:r>
                    </a:p>
                  </a:txBody>
                  <a:tcPr marL="100255" marR="100255" marT="37589" marB="375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r</a:t>
                      </a: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｜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s</a:t>
                      </a:r>
                      <a:r>
                        <a:rPr lang="en-US" altLang="zh-CN" sz="2400" b="1" i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 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= 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s</a:t>
                      </a: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｜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r</a:t>
                      </a:r>
                      <a:endParaRPr lang="zh-CN" altLang="en-US" sz="2400" b="1" i="1" spc="-300" dirty="0">
                        <a:solidFill>
                          <a:schemeClr val="tx1"/>
                        </a:solidFill>
                        <a:latin typeface="Times New Roman" pitchFamily="18" charset="0"/>
                        <a:ea typeface="楷体" pitchFamily="49" charset="-122"/>
                        <a:cs typeface="Times New Roman" pitchFamily="18" charset="0"/>
                      </a:endParaRP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｜是</a:t>
                      </a:r>
                      <a:r>
                        <a:rPr kumimoji="0" lang="zh-CN" altLang="en-US" sz="2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可以交换的</a:t>
                      </a: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r</a:t>
                      </a:r>
                      <a:r>
                        <a:rPr kumimoji="0" lang="zh-CN" altLang="en-US" sz="2400" b="1" i="0" u="none" strike="noStrike" kern="1900" cap="none" spc="-15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｜</a:t>
                      </a:r>
                      <a:r>
                        <a:rPr lang="zh-CN" altLang="en-US" sz="2400" b="1" i="0" kern="1900" spc="-15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（   </a:t>
                      </a:r>
                      <a:r>
                        <a:rPr lang="zh-CN" altLang="en-US" sz="2400" b="1" i="0" spc="-15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      </a:t>
                      </a:r>
                      <a:r>
                        <a:rPr lang="zh-CN" altLang="en-US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       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s</a:t>
                      </a: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｜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t   </a:t>
                      </a:r>
                      <a:r>
                        <a:rPr lang="en-US" altLang="zh-CN" sz="2400" b="1" i="1" spc="-3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lang="zh-CN" altLang="en-US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）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=</a:t>
                      </a:r>
                      <a:r>
                        <a:rPr lang="zh-CN" altLang="en-US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（  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r</a:t>
                      </a:r>
                      <a:r>
                        <a:rPr kumimoji="0" lang="zh-CN" altLang="en-US" sz="2400" b="1" i="0" u="none" strike="noStrike" kern="1900" cap="none" spc="-15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｜</a:t>
                      </a:r>
                      <a:r>
                        <a:rPr lang="zh-CN" altLang="en-US" sz="2400" b="1" i="0" spc="-3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    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s  </a:t>
                      </a:r>
                      <a:r>
                        <a:rPr lang="zh-CN" altLang="en-US" sz="2400" b="1" i="0" spc="-15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）   </a:t>
                      </a:r>
                      <a:r>
                        <a:rPr kumimoji="0" lang="zh-CN" altLang="en-US" sz="2400" b="1" i="0" u="none" strike="noStrike" kern="0" cap="none" spc="-15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    ｜</a:t>
                      </a: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    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t</a:t>
                      </a:r>
                      <a:endParaRPr lang="zh-CN" altLang="en-US" sz="2400" b="1" i="1" spc="-300" dirty="0">
                        <a:solidFill>
                          <a:schemeClr val="tx1"/>
                        </a:solidFill>
                        <a:latin typeface="Times New Roman" pitchFamily="18" charset="0"/>
                        <a:ea typeface="楷体" pitchFamily="49" charset="-122"/>
                        <a:cs typeface="Times New Roman" pitchFamily="18" charset="0"/>
                      </a:endParaRP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｜是</a:t>
                      </a:r>
                      <a:r>
                        <a:rPr kumimoji="0" lang="zh-CN" altLang="en-US" sz="2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可结合的</a:t>
                      </a: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 r</a:t>
                      </a:r>
                      <a:r>
                        <a:rPr lang="zh-CN" altLang="en-US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（ </a:t>
                      </a:r>
                      <a:r>
                        <a:rPr lang="en-US" altLang="zh-CN" sz="2400" b="1" i="0" spc="-3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2400" b="1" i="1" spc="-3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    t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  </a:t>
                      </a:r>
                      <a:r>
                        <a:rPr lang="zh-CN" altLang="en-US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）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=</a:t>
                      </a:r>
                      <a:r>
                        <a:rPr lang="zh-CN" altLang="en-US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（  </a:t>
                      </a:r>
                      <a:r>
                        <a:rPr lang="en-US" altLang="zh-CN" sz="2400" b="1" i="1" spc="-3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r    s  </a:t>
                      </a:r>
                      <a:r>
                        <a:rPr lang="zh-CN" altLang="en-US" sz="2400" b="1" i="0" spc="-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）</a:t>
                      </a:r>
                      <a:r>
                        <a:rPr lang="en-US" altLang="zh-CN" sz="2400" b="1" i="1" spc="-6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 t</a:t>
                      </a:r>
                      <a:endParaRPr lang="zh-CN" altLang="en-US" sz="2400" b="1" i="0" spc="-6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itchFamily="18" charset="0"/>
                      </a:endParaRP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连接是可结合的</a:t>
                      </a: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1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     r</a:t>
                      </a:r>
                      <a:r>
                        <a:rPr lang="zh-CN" altLang="en-US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（ </a:t>
                      </a:r>
                      <a:r>
                        <a:rPr lang="en-US" altLang="zh-CN" sz="2400" b="1" i="0" spc="-3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2400" b="1" i="1" spc="-3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</a:t>
                      </a: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｜</a:t>
                      </a:r>
                      <a:r>
                        <a:rPr lang="en-US" altLang="zh-CN" sz="2400" b="1" i="1" spc="-3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t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  </a:t>
                      </a:r>
                      <a:r>
                        <a:rPr lang="zh-CN" altLang="en-US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）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=  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r    s</a:t>
                      </a: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｜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r   t     </a:t>
                      </a:r>
                      <a:r>
                        <a:rPr lang="en-US" altLang="zh-CN" sz="2400" b="1" i="0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;</a:t>
                      </a:r>
                      <a:r>
                        <a:rPr lang="en-US" altLang="zh-CN" sz="2400" b="1" i="0" spc="-3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   </a:t>
                      </a:r>
                    </a:p>
                    <a:p>
                      <a:pPr algn="l"/>
                      <a:r>
                        <a:rPr lang="zh-CN" altLang="en-US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                （  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s</a:t>
                      </a: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｜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t  </a:t>
                      </a:r>
                      <a:r>
                        <a:rPr lang="zh-CN" altLang="en-US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）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r    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= 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s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r</a:t>
                      </a: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｜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t    r                                                               </a:t>
                      </a:r>
                      <a:endParaRPr lang="zh-CN" altLang="en-US" sz="2400" b="1" i="1" dirty="0">
                        <a:solidFill>
                          <a:schemeClr val="tx1"/>
                        </a:solidFill>
                        <a:latin typeface="Times New Roman" pitchFamily="18" charset="0"/>
                        <a:ea typeface="楷体" pitchFamily="49" charset="-122"/>
                        <a:cs typeface="Times New Roman" pitchFamily="18" charset="0"/>
                      </a:endParaRP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连接对</a:t>
                      </a: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｜</a:t>
                      </a:r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是可分配的</a:t>
                      </a: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30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i="1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ε</a:t>
                      </a:r>
                      <a:r>
                        <a:rPr lang="en-US" altLang="zh-CN" sz="2400" b="1" i="1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r</a:t>
                      </a:r>
                      <a:r>
                        <a:rPr lang="en-US" altLang="zh-CN" sz="2400" b="1" i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 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=  </a:t>
                      </a:r>
                      <a:r>
                        <a:rPr lang="en-US" altLang="zh-CN" sz="2400" b="1" i="1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r</a:t>
                      </a:r>
                      <a:r>
                        <a:rPr lang="en-US" altLang="zh-CN" sz="2400" b="1" i="1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ε</a:t>
                      </a:r>
                      <a:r>
                        <a:rPr lang="en-US" altLang="zh-CN" sz="2400" b="1" i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 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=  </a:t>
                      </a:r>
                      <a:r>
                        <a:rPr lang="en-US" altLang="zh-CN" sz="2400" b="1" i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r</a:t>
                      </a:r>
                      <a:endParaRPr lang="zh-CN" altLang="en-US" sz="2400" b="1" i="1" dirty="0">
                        <a:solidFill>
                          <a:schemeClr val="tx1"/>
                        </a:solidFill>
                        <a:latin typeface="Times New Roman" pitchFamily="18" charset="0"/>
                        <a:ea typeface="楷体" pitchFamily="49" charset="-122"/>
                        <a:cs typeface="Times New Roman" pitchFamily="18" charset="0"/>
                      </a:endParaRP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800" b="1" i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ε</a:t>
                      </a:r>
                      <a:r>
                        <a:rPr lang="en-US" altLang="zh-CN" sz="2400" b="1" i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 </a:t>
                      </a:r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是连接的单位元</a:t>
                      </a:r>
                      <a:endParaRPr kumimoji="0" lang="zh-CN" altLang="en-US" sz="2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Times New Roman" pitchFamily="18" charset="0"/>
                      </a:endParaRP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530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i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 r </a:t>
                      </a:r>
                      <a:r>
                        <a:rPr lang="en-US" altLang="zh-CN" sz="2800" b="0" i="0" baseline="300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**</a:t>
                      </a:r>
                      <a:r>
                        <a:rPr lang="en-US" altLang="zh-CN" sz="2400" b="1" spc="-15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=   </a:t>
                      </a:r>
                      <a:r>
                        <a:rPr lang="en-US" altLang="zh-CN" sz="2400" b="1" i="1" spc="-15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r </a:t>
                      </a:r>
                      <a:r>
                        <a:rPr lang="en-US" altLang="zh-CN" sz="2800" b="0" i="0" baseline="300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*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楷体" pitchFamily="49" charset="-122"/>
                        <a:cs typeface="Times New Roman" pitchFamily="18" charset="0"/>
                      </a:endParaRP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b="1" i="1" spc="-15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2800" b="0" i="0" baseline="300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* </a:t>
                      </a:r>
                      <a:r>
                        <a:rPr kumimoji="0" lang="zh-CN" altLang="en-US" sz="2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具有幂等性</a:t>
                      </a: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428625" y="1000125"/>
            <a:ext cx="7643813" cy="3225800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00" b="1">
                <a:solidFill>
                  <a:schemeClr val="tx1"/>
                </a:solidFill>
              </a:rPr>
              <a:t>对任何正则文法 </a:t>
            </a:r>
            <a:r>
              <a:rPr lang="en-US" altLang="zh-CN" sz="3000" b="1" i="1">
                <a:solidFill>
                  <a:srgbClr val="FF0000"/>
                </a:solidFill>
              </a:rPr>
              <a:t>G</a:t>
            </a:r>
            <a:r>
              <a:rPr lang="zh-CN" altLang="en-US" sz="3000" b="1">
                <a:solidFill>
                  <a:schemeClr val="tx1"/>
                </a:solidFill>
              </a:rPr>
              <a:t>，存在定义同一语言的正则表达式 </a:t>
            </a:r>
            <a:r>
              <a:rPr lang="en-US" altLang="zh-CN" sz="3000" b="1" i="1">
                <a:solidFill>
                  <a:srgbClr val="FF0000"/>
                </a:solidFill>
              </a:rPr>
              <a:t>r</a:t>
            </a:r>
            <a:endParaRPr lang="zh-CN" altLang="en-US" sz="3000" b="1">
              <a:solidFill>
                <a:srgbClr val="FF0000"/>
              </a:solidFill>
            </a:endParaRP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00" b="1">
                <a:solidFill>
                  <a:schemeClr val="tx1"/>
                </a:solidFill>
              </a:rPr>
              <a:t>对任何正则表达式 </a:t>
            </a:r>
            <a:r>
              <a:rPr lang="en-US" altLang="zh-CN" sz="3000" b="1" i="1">
                <a:solidFill>
                  <a:srgbClr val="FF0000"/>
                </a:solidFill>
              </a:rPr>
              <a:t>r</a:t>
            </a:r>
            <a:r>
              <a:rPr lang="zh-CN" altLang="en-US" sz="3000" b="1">
                <a:solidFill>
                  <a:schemeClr val="tx1"/>
                </a:solidFill>
              </a:rPr>
              <a:t>，存在生成同一语言的正则文法 </a:t>
            </a:r>
            <a:r>
              <a:rPr lang="en-US" altLang="zh-CN" sz="3000" b="1" i="1">
                <a:solidFill>
                  <a:srgbClr val="FF0000"/>
                </a:solidFill>
              </a:rPr>
              <a:t>G</a:t>
            </a:r>
            <a:r>
              <a:rPr lang="en-US" altLang="zh-CN" sz="3000" b="1">
                <a:solidFill>
                  <a:srgbClr val="FF0000"/>
                </a:solidFill>
              </a:rPr>
              <a:t> </a:t>
            </a:r>
            <a:endParaRPr lang="zh-CN" altLang="en-US" sz="3000" b="1">
              <a:solidFill>
                <a:srgbClr val="FF0000"/>
              </a:solidFill>
            </a:endParaRPr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正则文法与正则表达式等价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楷体_GB2312"/>
            </a:endParaRPr>
          </a:p>
        </p:txBody>
      </p:sp>
      <p:grpSp>
        <p:nvGrpSpPr>
          <p:cNvPr id="22532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22534" name="五边形 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内容占位符 2"/>
          <p:cNvSpPr>
            <a:spLocks noGrp="1"/>
          </p:cNvSpPr>
          <p:nvPr>
            <p:ph idx="1"/>
          </p:nvPr>
        </p:nvSpPr>
        <p:spPr>
          <a:xfrm>
            <a:off x="357188" y="857250"/>
            <a:ext cx="8001000" cy="3929063"/>
          </a:xfrm>
        </p:spPr>
        <p:txBody>
          <a:bodyPr rtlCol="0">
            <a:noAutofit/>
          </a:bodyPr>
          <a:lstStyle/>
          <a:p>
            <a:pPr marL="274320" indent="-274320" eaLnBrk="1" fontAlgn="auto" hangingPunct="1">
              <a:lnSpc>
                <a:spcPts val="32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 </a:t>
            </a:r>
            <a:r>
              <a:rPr lang="zh-CN" altLang="en-US" sz="2500" b="1" dirty="0">
                <a:solidFill>
                  <a:srgbClr val="FF0000"/>
                </a:solidFill>
              </a:rPr>
              <a:t>正则定义</a:t>
            </a:r>
            <a:r>
              <a:rPr lang="zh-CN" altLang="en-US" sz="2500" b="1" dirty="0">
                <a:solidFill>
                  <a:schemeClr val="tx1"/>
                </a:solidFill>
              </a:rPr>
              <a:t>是具有如下形式的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定义序列</a:t>
            </a:r>
            <a:r>
              <a:rPr lang="zh-CN" altLang="en-US" sz="2500" b="1" dirty="0">
                <a:solidFill>
                  <a:schemeClr val="tx1"/>
                </a:solidFill>
              </a:rPr>
              <a:t>：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marL="457200" lvl="1" indent="0" eaLnBrk="1" fontAlgn="auto" hangingPunct="1">
              <a:lnSpc>
                <a:spcPts val="2500"/>
              </a:lnSpc>
              <a:spcAft>
                <a:spcPts val="0"/>
              </a:spcAft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			d</a:t>
            </a:r>
            <a:r>
              <a:rPr lang="en-US" altLang="zh-CN" sz="25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1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→r</a:t>
            </a:r>
            <a:r>
              <a:rPr lang="en-US" altLang="zh-CN" sz="25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1</a:t>
            </a:r>
          </a:p>
          <a:p>
            <a:pPr marL="457200" lvl="1" indent="0" eaLnBrk="1" fontAlgn="auto" hangingPunct="1">
              <a:lnSpc>
                <a:spcPts val="2500"/>
              </a:lnSpc>
              <a:spcAft>
                <a:spcPts val="0"/>
              </a:spcAft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			d</a:t>
            </a:r>
            <a:r>
              <a:rPr lang="en-US" altLang="zh-CN" sz="25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2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→r</a:t>
            </a:r>
            <a:r>
              <a:rPr lang="en-US" altLang="zh-CN" sz="25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2</a:t>
            </a:r>
          </a:p>
          <a:p>
            <a:pPr marL="457200" lvl="1" indent="0" eaLnBrk="1" fontAlgn="auto" hangingPunct="1">
              <a:lnSpc>
                <a:spcPts val="2500"/>
              </a:lnSpc>
              <a:spcAft>
                <a:spcPts val="0"/>
              </a:spcAft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 			   …</a:t>
            </a:r>
          </a:p>
          <a:p>
            <a:pPr marL="457200" lvl="1" indent="0" eaLnBrk="1" fontAlgn="auto" hangingPunct="1">
              <a:lnSpc>
                <a:spcPts val="2500"/>
              </a:lnSpc>
              <a:spcAft>
                <a:spcPts val="0"/>
              </a:spcAft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			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/>
                <a:cs typeface="楷体_GB2312"/>
              </a:rPr>
              <a:t>d</a:t>
            </a:r>
            <a:r>
              <a:rPr lang="en-US" altLang="zh-CN" sz="2500" b="1" i="1" baseline="-25000" dirty="0" err="1">
                <a:solidFill>
                  <a:schemeClr val="tx1"/>
                </a:solidFill>
                <a:ea typeface="楷体_GB2312"/>
                <a:cs typeface="楷体_GB2312"/>
              </a:rPr>
              <a:t>n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/>
                <a:cs typeface="楷体_GB2312"/>
              </a:rPr>
              <a:t>→r</a:t>
            </a:r>
            <a:r>
              <a:rPr lang="en-US" altLang="zh-CN" sz="2500" b="1" i="1" baseline="-25000" dirty="0" err="1">
                <a:solidFill>
                  <a:schemeClr val="tx1"/>
                </a:solidFill>
                <a:ea typeface="楷体_GB2312"/>
                <a:cs typeface="楷体_GB2312"/>
              </a:rPr>
              <a:t>n</a:t>
            </a:r>
            <a:endParaRPr lang="en-US" altLang="zh-CN" sz="2500" b="1" i="1" baseline="-25000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marL="274320" indent="-274320" eaLnBrk="1" fontAlgn="auto" hangingPunct="1">
              <a:lnSpc>
                <a:spcPts val="2800"/>
              </a:lnSpc>
              <a:spcAft>
                <a:spcPts val="0"/>
              </a:spcAft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500" b="1" dirty="0">
                <a:solidFill>
                  <a:schemeClr val="tx1"/>
                </a:solidFill>
              </a:rPr>
              <a:t>     </a:t>
            </a:r>
            <a:r>
              <a:rPr lang="zh-CN" altLang="en-US" sz="2500" b="1" dirty="0">
                <a:solidFill>
                  <a:schemeClr val="tx1"/>
                </a:solidFill>
              </a:rPr>
              <a:t>其中：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marL="457200" lvl="1" indent="0" eaLnBrk="1" fontAlgn="auto" hangingPunct="1">
              <a:lnSpc>
                <a:spcPts val="3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每个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/>
                <a:cs typeface="楷体_GB2312"/>
              </a:rPr>
              <a:t>d</a:t>
            </a:r>
            <a:r>
              <a:rPr lang="en-US" altLang="zh-CN" sz="2500" b="1" i="1" baseline="-25000" dirty="0" err="1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zh-CN" altLang="en-US" sz="2500" b="1" dirty="0">
                <a:solidFill>
                  <a:schemeClr val="tx1"/>
                </a:solidFill>
              </a:rPr>
              <a:t>都是一个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新符号</a:t>
            </a:r>
            <a:r>
              <a:rPr lang="zh-CN" altLang="en-US" sz="2500" b="1" dirty="0">
                <a:solidFill>
                  <a:schemeClr val="tx1"/>
                </a:solidFill>
              </a:rPr>
              <a:t>，它们都不在字母表 </a:t>
            </a:r>
            <a:r>
              <a:rPr lang="en-US" altLang="zh-CN" sz="2500" b="1" i="1" dirty="0">
                <a:solidFill>
                  <a:schemeClr val="tx1"/>
                </a:solidFill>
              </a:rPr>
              <a:t>Σ</a:t>
            </a:r>
            <a:r>
              <a:rPr lang="zh-CN" altLang="en-US" sz="2500" b="1" dirty="0">
                <a:solidFill>
                  <a:schemeClr val="tx1"/>
                </a:solidFill>
              </a:rPr>
              <a:t>中，而且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各不相同</a:t>
            </a:r>
            <a:endParaRPr lang="en-US" altLang="zh-CN" sz="25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457200" lvl="1" indent="0" eaLnBrk="1" fontAlgn="auto" hangingPunct="1">
              <a:lnSpc>
                <a:spcPts val="3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每个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/>
                <a:cs typeface="楷体_GB2312"/>
              </a:rPr>
              <a:t>r</a:t>
            </a:r>
            <a:r>
              <a:rPr lang="en-US" altLang="zh-CN" sz="2500" b="1" i="1" baseline="-25000" dirty="0" err="1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zh-CN" altLang="en-US" sz="2500" b="1" dirty="0">
                <a:solidFill>
                  <a:schemeClr val="tx1"/>
                </a:solidFill>
              </a:rPr>
              <a:t>是字母表 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Σ</a:t>
            </a:r>
            <a:r>
              <a:rPr lang="en-US" altLang="zh-CN" sz="2500" b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∪</a:t>
            </a:r>
            <a:r>
              <a:rPr lang="en-US" altLang="zh-CN" sz="2500" b="1" dirty="0">
                <a:solidFill>
                  <a:schemeClr val="tx1"/>
                </a:solidFill>
              </a:rPr>
              <a:t>{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d</a:t>
            </a:r>
            <a:r>
              <a:rPr lang="en-US" altLang="zh-CN" sz="25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1 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,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d</a:t>
            </a:r>
            <a:r>
              <a:rPr lang="en-US" altLang="zh-CN" sz="25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2 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, … ,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d</a:t>
            </a:r>
            <a:r>
              <a:rPr lang="en-US" altLang="zh-CN" sz="2500" b="1" i="1" baseline="-25000" dirty="0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en-US" altLang="zh-CN" sz="25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-1</a:t>
            </a:r>
            <a:r>
              <a:rPr lang="en-US" altLang="zh-CN" sz="2500" b="1" dirty="0">
                <a:solidFill>
                  <a:schemeClr val="tx1"/>
                </a:solidFill>
              </a:rPr>
              <a:t>}</a:t>
            </a:r>
            <a:r>
              <a:rPr lang="zh-CN" altLang="en-US" sz="2500" b="1" dirty="0">
                <a:solidFill>
                  <a:schemeClr val="tx1"/>
                </a:solidFill>
              </a:rPr>
              <a:t>上的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正则表达式</a:t>
            </a: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3.2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正则定</a:t>
            </a:r>
            <a:r>
              <a:rPr lang="zh-CN" altLang="en-US" sz="3000" spc="-5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义</a:t>
            </a:r>
            <a:r>
              <a:rPr lang="zh-CN" altLang="en-US" sz="2500" spc="-500" dirty="0">
                <a:solidFill>
                  <a:schemeClr val="tx1"/>
                </a:solidFill>
                <a:latin typeface="+mn-ea"/>
                <a:ea typeface="+mn-ea"/>
                <a:cs typeface="Times New Roman" pitchFamily="18" charset="0"/>
              </a:rPr>
              <a:t>（  </a:t>
            </a:r>
            <a:r>
              <a:rPr lang="en-US" altLang="zh-CN" sz="25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Regular</a:t>
            </a:r>
            <a:r>
              <a:rPr lang="zh-CN" altLang="en-US" sz="25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5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Definition</a:t>
            </a:r>
            <a:r>
              <a:rPr lang="zh-CN" altLang="en-US" sz="2500" dirty="0">
                <a:solidFill>
                  <a:schemeClr val="tx1"/>
                </a:solidFill>
                <a:latin typeface="+mn-ea"/>
                <a:ea typeface="+mn-ea"/>
                <a:cs typeface="Times New Roman" pitchFamily="18" charset="0"/>
              </a:rPr>
              <a:t>）</a:t>
            </a:r>
          </a:p>
        </p:txBody>
      </p:sp>
      <p:grpSp>
        <p:nvGrpSpPr>
          <p:cNvPr id="28676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28679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4427538" y="1611313"/>
            <a:ext cx="3859212" cy="12461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给一些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RE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命名</a:t>
            </a: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，并在之后的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RE</a:t>
            </a: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中像使用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字母表中的符号</a:t>
            </a: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一样使用这些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名字</a:t>
            </a:r>
            <a:endParaRPr lang="zh-CN" altLang="en-US" sz="25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3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 build="p"/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Grp="1" noChangeArrowheads="1"/>
          </p:cNvSpPr>
          <p:nvPr>
            <p:ph idx="1"/>
          </p:nvPr>
        </p:nvSpPr>
        <p:spPr>
          <a:xfrm>
            <a:off x="1144588" y="928688"/>
            <a:ext cx="5927725" cy="3225800"/>
          </a:xfrm>
        </p:spPr>
        <p:txBody>
          <a:bodyPr/>
          <a:lstStyle/>
          <a:p>
            <a:pPr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3000" b="1" i="1" dirty="0">
                <a:solidFill>
                  <a:schemeClr val="tx1"/>
                </a:solidFill>
              </a:rPr>
              <a:t>C</a:t>
            </a:r>
            <a:r>
              <a:rPr lang="zh-CN" altLang="en-US" sz="3000" b="1" dirty="0">
                <a:solidFill>
                  <a:schemeClr val="tx1"/>
                </a:solidFill>
              </a:rPr>
              <a:t>语言中标识符的正则定义</a:t>
            </a:r>
            <a:endParaRPr lang="en-US" altLang="zh-CN" sz="3000" b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lvl="1"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digit 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→ </a:t>
            </a:r>
            <a:r>
              <a:rPr lang="zh-CN" altLang="en-US" sz="2800" b="1" dirty="0">
                <a:solidFill>
                  <a:schemeClr val="tx1"/>
                </a:solidFill>
                <a:ea typeface="楷体_GB2312"/>
                <a:cs typeface="楷体_GB2312"/>
              </a:rPr>
              <a:t>0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|1|2|…|9</a:t>
            </a:r>
            <a:endParaRPr lang="zh-CN" altLang="en-US" sz="2800" b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lvl="1"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letter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_ →</a:t>
            </a:r>
            <a:r>
              <a:rPr lang="zh-CN" altLang="en-US" sz="2800" b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A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|</a:t>
            </a: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B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|…|</a:t>
            </a:r>
            <a:r>
              <a:rPr lang="en-US" altLang="zh-CN" sz="2800" b="1" i="1" dirty="0" err="1">
                <a:solidFill>
                  <a:schemeClr val="tx1"/>
                </a:solidFill>
                <a:ea typeface="楷体_GB2312"/>
                <a:cs typeface="楷体_GB2312"/>
              </a:rPr>
              <a:t>Z|a</a:t>
            </a:r>
            <a:r>
              <a:rPr lang="en-US" altLang="zh-CN" sz="2800" b="1" dirty="0" err="1">
                <a:solidFill>
                  <a:schemeClr val="tx1"/>
                </a:solidFill>
                <a:ea typeface="楷体_GB2312"/>
                <a:cs typeface="楷体_GB2312"/>
              </a:rPr>
              <a:t>|</a:t>
            </a:r>
            <a:r>
              <a:rPr lang="en-US" altLang="zh-CN" sz="2800" b="1" i="1" dirty="0" err="1">
                <a:solidFill>
                  <a:schemeClr val="tx1"/>
                </a:solidFill>
                <a:ea typeface="楷体_GB2312"/>
                <a:cs typeface="楷体_GB2312"/>
              </a:rPr>
              <a:t>b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|…|</a:t>
            </a: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z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|_</a:t>
            </a:r>
          </a:p>
          <a:p>
            <a:pPr lvl="1"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id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 → </a:t>
            </a: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letter_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(</a:t>
            </a:r>
            <a:r>
              <a:rPr lang="en-US" altLang="zh-CN" sz="2800" b="1" i="1" dirty="0" err="1">
                <a:solidFill>
                  <a:schemeClr val="tx1"/>
                </a:solidFill>
                <a:ea typeface="楷体_GB2312"/>
                <a:cs typeface="楷体_GB2312"/>
              </a:rPr>
              <a:t>letter</a:t>
            </a:r>
            <a:r>
              <a:rPr lang="en-US" altLang="zh-CN" sz="2800" b="1" dirty="0" err="1">
                <a:solidFill>
                  <a:schemeClr val="tx1"/>
                </a:solidFill>
                <a:ea typeface="楷体_GB2312"/>
                <a:cs typeface="楷体_GB2312"/>
              </a:rPr>
              <a:t>_|</a:t>
            </a:r>
            <a:r>
              <a:rPr lang="en-US" altLang="zh-CN" sz="2800" b="1" i="1" dirty="0" err="1">
                <a:solidFill>
                  <a:schemeClr val="tx1"/>
                </a:solidFill>
                <a:ea typeface="楷体_GB2312"/>
                <a:cs typeface="楷体_GB2312"/>
              </a:rPr>
              <a:t>digit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)</a:t>
            </a:r>
            <a:r>
              <a:rPr lang="en-US" altLang="zh-CN" sz="2800" b="1" baseline="30000" dirty="0">
                <a:solidFill>
                  <a:schemeClr val="tx1"/>
                </a:solidFill>
                <a:ea typeface="楷体_GB2312"/>
                <a:cs typeface="楷体_GB2312"/>
              </a:rPr>
              <a:t>*</a:t>
            </a:r>
          </a:p>
          <a:p>
            <a:pPr eaLnBrk="1" hangingPunct="1">
              <a:lnSpc>
                <a:spcPts val="4500"/>
              </a:lnSpc>
              <a:buFont typeface="Symbol" panose="05050102010706020507" pitchFamily="18" charset="2"/>
              <a:buNone/>
            </a:pPr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3000" dirty="0">
              <a:solidFill>
                <a:schemeClr val="tx1"/>
              </a:solidFill>
              <a:latin typeface="+mn-ea"/>
              <a:ea typeface="+mn-ea"/>
              <a:cs typeface="Times New Roman" pitchFamily="18" charset="0"/>
            </a:endParaRPr>
          </a:p>
        </p:txBody>
      </p:sp>
      <p:grpSp>
        <p:nvGrpSpPr>
          <p:cNvPr id="30724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30726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3"/>
          <p:cNvSpPr>
            <a:spLocks noGrp="1" noChangeArrowheads="1"/>
          </p:cNvSpPr>
          <p:nvPr>
            <p:ph idx="1"/>
          </p:nvPr>
        </p:nvSpPr>
        <p:spPr>
          <a:xfrm>
            <a:off x="377825" y="698501"/>
            <a:ext cx="9129712" cy="4305647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</a:rPr>
              <a:t>（整型或浮点型）无符号数的正则定义</a:t>
            </a:r>
            <a:endParaRPr lang="zh-CN" altLang="en-US" sz="3000" b="1" dirty="0">
              <a:solidFill>
                <a:schemeClr val="tx1"/>
              </a:solidFill>
              <a:latin typeface="楷体_GB2312"/>
              <a:ea typeface="楷体_GB2312"/>
              <a:cs typeface="楷体_GB2312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digit 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→ </a:t>
            </a:r>
            <a:r>
              <a:rPr lang="zh-CN" altLang="en-US" sz="2800" b="1" dirty="0">
                <a:solidFill>
                  <a:schemeClr val="tx1"/>
                </a:solidFill>
                <a:ea typeface="楷体_GB2312"/>
                <a:cs typeface="楷体_GB2312"/>
              </a:rPr>
              <a:t>0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|1|2|…|9</a:t>
            </a:r>
            <a:endParaRPr lang="zh-CN" altLang="en-US" sz="2800" b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digits 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→ </a:t>
            </a: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digit digit</a:t>
            </a:r>
            <a:r>
              <a:rPr lang="en-US" altLang="zh-CN" sz="2800" b="1" i="1" baseline="30000" dirty="0">
                <a:solidFill>
                  <a:schemeClr val="tx1"/>
                </a:solidFill>
                <a:ea typeface="楷体_GB2312"/>
                <a:cs typeface="楷体_GB2312"/>
              </a:rPr>
              <a:t>*</a:t>
            </a:r>
            <a:endParaRPr lang="en-US" altLang="zh-CN" sz="2800" b="1" i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800" b="1" i="1" dirty="0" err="1">
                <a:solidFill>
                  <a:schemeClr val="tx1"/>
                </a:solidFill>
                <a:ea typeface="楷体_GB2312"/>
                <a:cs typeface="楷体_GB2312"/>
              </a:rPr>
              <a:t>optionalFraction</a:t>
            </a: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→ .</a:t>
            </a:r>
            <a:r>
              <a:rPr lang="en-US" altLang="zh-CN" sz="2800" b="1" i="1" dirty="0" err="1">
                <a:solidFill>
                  <a:schemeClr val="tx1"/>
                </a:solidFill>
                <a:ea typeface="楷体_GB2312"/>
                <a:cs typeface="楷体_GB2312"/>
              </a:rPr>
              <a:t>digits</a:t>
            </a:r>
            <a:r>
              <a:rPr lang="en-US" altLang="zh-CN" sz="2800" b="1" dirty="0" err="1">
                <a:solidFill>
                  <a:schemeClr val="tx1"/>
                </a:solidFill>
                <a:ea typeface="楷体_GB2312"/>
                <a:cs typeface="楷体_GB2312"/>
              </a:rPr>
              <a:t>|</a:t>
            </a:r>
            <a:r>
              <a:rPr lang="en-US" altLang="zh-CN" sz="2800" b="1" i="1" dirty="0" err="1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endParaRPr lang="en-US" altLang="zh-CN" sz="2800" b="1" i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800" b="1" i="1" dirty="0" err="1">
                <a:solidFill>
                  <a:schemeClr val="tx1"/>
                </a:solidFill>
                <a:ea typeface="楷体_GB2312"/>
                <a:cs typeface="楷体_GB2312"/>
              </a:rPr>
              <a:t>optionalExponent</a:t>
            </a: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→ </a:t>
            </a: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E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(+|-|</a:t>
            </a: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)</a:t>
            </a: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digits 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|</a:t>
            </a: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number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 → </a:t>
            </a: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digits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  </a:t>
            </a:r>
            <a:r>
              <a:rPr lang="en-US" altLang="zh-CN" sz="2800" b="1" i="1" dirty="0" err="1">
                <a:solidFill>
                  <a:schemeClr val="tx1"/>
                </a:solidFill>
                <a:ea typeface="楷体_GB2312"/>
                <a:cs typeface="楷体_GB2312"/>
              </a:rPr>
              <a:t>optionalFraction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  </a:t>
            </a:r>
            <a:r>
              <a:rPr lang="en-US" altLang="zh-CN" sz="2800" b="1" i="1" dirty="0" err="1">
                <a:solidFill>
                  <a:schemeClr val="tx1"/>
                </a:solidFill>
                <a:ea typeface="楷体_GB2312"/>
                <a:cs typeface="楷体_GB2312"/>
              </a:rPr>
              <a:t>optionalExponent</a:t>
            </a:r>
            <a:endParaRPr lang="en-US" altLang="zh-CN" sz="2800" b="1" i="1" dirty="0">
              <a:solidFill>
                <a:schemeClr val="tx1"/>
              </a:solidFill>
              <a:ea typeface="楷体_GB2312"/>
              <a:cs typeface="楷体_GB2312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3000" dirty="0">
              <a:solidFill>
                <a:schemeClr val="tx1"/>
              </a:solidFill>
              <a:latin typeface="+mn-ea"/>
              <a:ea typeface="+mn-ea"/>
              <a:cs typeface="Times New Roman" pitchFamily="18" charset="0"/>
            </a:endParaRPr>
          </a:p>
        </p:txBody>
      </p:sp>
      <p:grpSp>
        <p:nvGrpSpPr>
          <p:cNvPr id="32772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32775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428625" y="4357688"/>
            <a:ext cx="8280400" cy="4619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lvl="1" eaLnBrk="1" hangingPunct="1">
              <a:spcBef>
                <a:spcPct val="30000"/>
              </a:spcBef>
              <a:defRPr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	2.15	2.15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+3	2.15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-3	2.15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3		2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-3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063" y="703263"/>
            <a:ext cx="8215312" cy="3225800"/>
          </a:xfrm>
        </p:spPr>
        <p:txBody>
          <a:bodyPr/>
          <a:lstStyle/>
          <a:p>
            <a:pPr eaLnBrk="1" hangingPunct="1">
              <a:lnSpc>
                <a:spcPts val="38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有穷自动机 </a:t>
            </a:r>
            <a:r>
              <a:rPr lang="en-US" altLang="zh-CN" sz="2200" b="1" dirty="0">
                <a:solidFill>
                  <a:schemeClr val="tx1"/>
                </a:solidFill>
              </a:rPr>
              <a:t>( 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Finite Automata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FA </a:t>
            </a:r>
            <a:r>
              <a:rPr lang="en-US" altLang="zh-CN" sz="2200" b="1" dirty="0">
                <a:solidFill>
                  <a:schemeClr val="tx1"/>
                </a:solidFill>
              </a:rPr>
              <a:t>)</a:t>
            </a:r>
            <a:r>
              <a:rPr lang="zh-CN" altLang="en-US" sz="2500" b="1" dirty="0">
                <a:solidFill>
                  <a:schemeClr val="tx1"/>
                </a:solidFill>
              </a:rPr>
              <a:t>由两位神经物理学家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MeCuloch</a:t>
            </a:r>
            <a:r>
              <a:rPr lang="zh-CN" altLang="en-US" sz="2500" b="1" dirty="0">
                <a:solidFill>
                  <a:schemeClr val="tx1"/>
                </a:solidFill>
              </a:rPr>
              <a:t>和</a:t>
            </a:r>
            <a:r>
              <a:rPr lang="en-US" altLang="zh-CN" sz="2500" b="1" i="1" dirty="0">
                <a:solidFill>
                  <a:schemeClr val="tx1"/>
                </a:solidFill>
              </a:rPr>
              <a:t>Pitts</a:t>
            </a:r>
            <a:r>
              <a:rPr lang="zh-CN" altLang="en-US" sz="2500" b="1" dirty="0">
                <a:solidFill>
                  <a:schemeClr val="tx1"/>
                </a:solidFill>
              </a:rPr>
              <a:t>于</a:t>
            </a:r>
            <a:r>
              <a:rPr lang="en-US" altLang="zh-CN" sz="2500" b="1" dirty="0">
                <a:solidFill>
                  <a:schemeClr val="tx1"/>
                </a:solidFill>
              </a:rPr>
              <a:t>1948</a:t>
            </a:r>
            <a:r>
              <a:rPr lang="zh-CN" altLang="en-US" sz="2500" b="1" dirty="0">
                <a:solidFill>
                  <a:schemeClr val="tx1"/>
                </a:solidFill>
              </a:rPr>
              <a:t>年首先提出，是对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状态转换和信息处理系统</a:t>
            </a:r>
            <a:r>
              <a:rPr lang="zh-CN" altLang="en-US" sz="2500" b="1" dirty="0">
                <a:solidFill>
                  <a:schemeClr val="tx1"/>
                </a:solidFill>
              </a:rPr>
              <a:t>建立的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数学模型</a:t>
            </a:r>
            <a:endParaRPr lang="en-US" altLang="zh-CN" sz="25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eaLnBrk="1" hangingPunct="1">
              <a:lnSpc>
                <a:spcPts val="38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这类系统具有一系列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离散的输入输出信息</a:t>
            </a:r>
            <a:r>
              <a:rPr lang="zh-CN" altLang="en-US" sz="2500" b="1" dirty="0">
                <a:solidFill>
                  <a:schemeClr val="tx1"/>
                </a:solidFill>
              </a:rPr>
              <a:t>和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有穷数目的内部状态</a:t>
            </a:r>
            <a:r>
              <a:rPr lang="zh-CN" altLang="en-US" sz="2500" b="1" dirty="0">
                <a:solidFill>
                  <a:schemeClr val="tx1"/>
                </a:solidFill>
              </a:rPr>
              <a:t>（状态：概括了对过去输入信息处理的状况）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38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系统只需要根据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当前所处的状态</a:t>
            </a:r>
            <a:r>
              <a:rPr lang="zh-CN" altLang="en-US" sz="2500" b="1" dirty="0">
                <a:solidFill>
                  <a:schemeClr val="tx1"/>
                </a:solidFill>
              </a:rPr>
              <a:t>和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当前面临的输入信息</a:t>
            </a:r>
            <a:r>
              <a:rPr lang="zh-CN" altLang="en-US" sz="2500" b="1" dirty="0">
                <a:solidFill>
                  <a:schemeClr val="tx1"/>
                </a:solidFill>
              </a:rPr>
              <a:t>就可以决定系统的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后继行为</a:t>
            </a:r>
            <a:r>
              <a:rPr lang="zh-CN" altLang="en-US" sz="2500" b="1" dirty="0">
                <a:solidFill>
                  <a:schemeClr val="tx1"/>
                </a:solidFill>
              </a:rPr>
              <a:t>。每当系统处理了当前的输入后，系统的内部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状态也将发生改变</a:t>
            </a:r>
          </a:p>
        </p:txBody>
      </p:sp>
      <p:sp>
        <p:nvSpPr>
          <p:cNvPr id="24580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3.3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有穷自动机 </a:t>
            </a:r>
          </a:p>
        </p:txBody>
      </p:sp>
      <p:grpSp>
        <p:nvGrpSpPr>
          <p:cNvPr id="38916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38918" name="五边形 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442913" y="785813"/>
            <a:ext cx="7986712" cy="4143375"/>
          </a:xfrm>
        </p:spPr>
        <p:txBody>
          <a:bodyPr rtlCol="0">
            <a:normAutofit/>
          </a:bodyPr>
          <a:lstStyle/>
          <a:p>
            <a:pPr marL="274320" indent="-274320" eaLnBrk="1" fontAlgn="auto" hangingPunct="1">
              <a:lnSpc>
                <a:spcPts val="4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sz="3000" b="1" dirty="0">
                <a:solidFill>
                  <a:schemeClr val="tx1"/>
                </a:solidFill>
              </a:rPr>
              <a:t>电梯控制装置</a:t>
            </a:r>
          </a:p>
          <a:p>
            <a:pPr lvl="1" indent="-274320" eaLnBrk="1" fontAlgn="auto" hangingPunct="1">
              <a:lnSpc>
                <a:spcPts val="4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</a:rPr>
              <a:t>输入：顾客的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乘梯需求</a:t>
            </a:r>
            <a:r>
              <a:rPr lang="zh-CN" altLang="en-US" sz="2800" b="1" dirty="0">
                <a:solidFill>
                  <a:schemeClr val="tx1"/>
                </a:solidFill>
              </a:rPr>
              <a:t>（所要到达的层号）</a:t>
            </a:r>
          </a:p>
          <a:p>
            <a:pPr lvl="1" indent="-274320" eaLnBrk="1" fontAlgn="auto" hangingPunct="1">
              <a:lnSpc>
                <a:spcPts val="4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</a:rPr>
              <a:t>状态：电梯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所处的层数</a:t>
            </a:r>
            <a:r>
              <a:rPr lang="en-US" altLang="zh-CN" sz="2800" b="1" dirty="0">
                <a:solidFill>
                  <a:schemeClr val="tx1"/>
                </a:solidFill>
              </a:rPr>
              <a:t>+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运动方向</a:t>
            </a:r>
          </a:p>
          <a:p>
            <a:pPr lvl="1" indent="-274320" eaLnBrk="1" fontAlgn="auto" hangingPunct="1">
              <a:lnSpc>
                <a:spcPts val="4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</a:rPr>
              <a:t>电梯控制装置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并不需要记住先前全部的服务要求</a:t>
            </a:r>
            <a:r>
              <a:rPr lang="zh-CN" altLang="en-US" sz="2800" b="1" dirty="0">
                <a:solidFill>
                  <a:schemeClr val="tx1"/>
                </a:solidFill>
              </a:rPr>
              <a:t>，只需要知道电梯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当前所处的状态</a:t>
            </a:r>
            <a:r>
              <a:rPr lang="zh-CN" altLang="en-US" sz="2800" b="1" dirty="0">
                <a:solidFill>
                  <a:schemeClr val="tx1"/>
                </a:solidFill>
              </a:rPr>
              <a:t>以及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还没有满足的所有服务请求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lvl="1" indent="-274320" eaLnBrk="1" fontAlgn="auto" hangingPunct="1">
              <a:spcAft>
                <a:spcPts val="0"/>
              </a:spcAft>
              <a:defRPr/>
            </a:pPr>
            <a:endParaRPr lang="en-US" altLang="zh-CN" sz="2000" b="1" dirty="0"/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FA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的典型例子</a:t>
            </a:r>
          </a:p>
        </p:txBody>
      </p:sp>
      <p:grpSp>
        <p:nvGrpSpPr>
          <p:cNvPr id="40964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40966" name="五边形 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Grp="1" noChangeArrowheads="1"/>
          </p:cNvSpPr>
          <p:nvPr>
            <p:ph idx="1"/>
          </p:nvPr>
        </p:nvSpPr>
        <p:spPr>
          <a:xfrm>
            <a:off x="428625" y="1000125"/>
            <a:ext cx="8201025" cy="3225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zh-CN" altLang="en-US" sz="2800" dirty="0">
              <a:solidFill>
                <a:schemeClr val="hlink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zh-CN" altLang="en-US" sz="2000" dirty="0"/>
          </a:p>
          <a:p>
            <a:pPr eaLnBrk="1" hangingPunct="1">
              <a:lnSpc>
                <a:spcPct val="80000"/>
              </a:lnSpc>
              <a:defRPr/>
            </a:pPr>
            <a:endParaRPr lang="zh-CN" altLang="en-US" sz="2000" dirty="0"/>
          </a:p>
          <a:p>
            <a:pPr eaLnBrk="1" hangingPunct="1">
              <a:lnSpc>
                <a:spcPct val="80000"/>
              </a:lnSpc>
              <a:buFont typeface="Symbol" panose="05050102010706020507" pitchFamily="18" charset="2"/>
              <a:buNone/>
              <a:defRPr/>
            </a:pPr>
            <a:endParaRPr lang="zh-CN" altLang="en-US" sz="2000" dirty="0"/>
          </a:p>
          <a:p>
            <a:pPr eaLnBrk="1" hangingPunct="1">
              <a:lnSpc>
                <a:spcPct val="80000"/>
              </a:lnSpc>
              <a:buFont typeface="Symbol" panose="05050102010706020507" pitchFamily="18" charset="2"/>
              <a:buNone/>
              <a:defRPr/>
            </a:pPr>
            <a:endParaRPr lang="en-US" altLang="zh-CN" dirty="0">
              <a:latin typeface="楷体" pitchFamily="49" charset="-122"/>
            </a:endParaRPr>
          </a:p>
          <a:p>
            <a:pPr eaLnBrk="1" hangingPunct="1">
              <a:lnSpc>
                <a:spcPts val="3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  <a:latin typeface="楷体" pitchFamily="49" charset="-122"/>
              </a:rPr>
              <a:t> </a:t>
            </a:r>
            <a:r>
              <a:rPr lang="zh-CN" altLang="en-US" sz="2200" b="1" dirty="0">
                <a:solidFill>
                  <a:srgbClr val="FF0000"/>
                </a:solidFill>
                <a:latin typeface="楷体" pitchFamily="49" charset="-122"/>
              </a:rPr>
              <a:t>输入带</a:t>
            </a:r>
            <a:r>
              <a:rPr lang="en-US" altLang="zh-CN" sz="2000" b="1" dirty="0">
                <a:solidFill>
                  <a:schemeClr val="tx1"/>
                </a:solidFill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</a:rPr>
              <a:t>input tape</a:t>
            </a:r>
            <a:r>
              <a:rPr lang="en-US" altLang="zh-CN" sz="2000" b="1" dirty="0">
                <a:solidFill>
                  <a:schemeClr val="tx1"/>
                </a:solidFill>
              </a:rPr>
              <a:t>)</a:t>
            </a:r>
            <a:r>
              <a:rPr lang="zh-CN" altLang="en-US" sz="2200" b="1" dirty="0">
                <a:solidFill>
                  <a:schemeClr val="tx1"/>
                </a:solidFill>
                <a:latin typeface="楷体" pitchFamily="49" charset="-122"/>
              </a:rPr>
              <a:t>：用来存放输入符号串</a:t>
            </a:r>
            <a:endParaRPr lang="en-US" altLang="zh-CN" sz="2200" b="1" dirty="0">
              <a:solidFill>
                <a:schemeClr val="tx1"/>
              </a:solidFill>
              <a:latin typeface="楷体" pitchFamily="49" charset="-122"/>
            </a:endParaRPr>
          </a:p>
          <a:p>
            <a:pPr eaLnBrk="1" hangingPunct="1">
              <a:lnSpc>
                <a:spcPts val="3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  <a:latin typeface="楷体" pitchFamily="49" charset="-122"/>
              </a:rPr>
              <a:t> </a:t>
            </a:r>
            <a:r>
              <a:rPr lang="zh-CN" altLang="en-US" sz="2200" b="1" dirty="0">
                <a:solidFill>
                  <a:srgbClr val="FF0000"/>
                </a:solidFill>
                <a:latin typeface="楷体" pitchFamily="49" charset="-122"/>
              </a:rPr>
              <a:t>读头</a:t>
            </a:r>
            <a:r>
              <a:rPr lang="en-US" altLang="zh-CN" sz="2000" b="1" dirty="0">
                <a:solidFill>
                  <a:schemeClr val="tx1"/>
                </a:solidFill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</a:rPr>
              <a:t>head </a:t>
            </a:r>
            <a:r>
              <a:rPr lang="en-US" altLang="zh-CN" sz="2000" b="1" dirty="0">
                <a:solidFill>
                  <a:schemeClr val="tx1"/>
                </a:solidFill>
              </a:rPr>
              <a:t>)</a:t>
            </a:r>
            <a:r>
              <a:rPr lang="zh-CN" altLang="en-US" sz="2200" b="1" dirty="0">
                <a:solidFill>
                  <a:schemeClr val="tx1"/>
                </a:solidFill>
                <a:latin typeface="楷体" pitchFamily="49" charset="-122"/>
              </a:rPr>
              <a:t>：从左向右逐个读取输入符号，不能修改（只读）、</a:t>
            </a:r>
            <a:endParaRPr lang="en-US" altLang="zh-CN" sz="2200" b="1" dirty="0">
              <a:solidFill>
                <a:schemeClr val="tx1"/>
              </a:solidFill>
              <a:latin typeface="楷体" pitchFamily="49" charset="-122"/>
            </a:endParaRPr>
          </a:p>
          <a:p>
            <a:pPr eaLnBrk="1" hangingPunct="1">
              <a:lnSpc>
                <a:spcPts val="30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2200" b="1" dirty="0">
                <a:solidFill>
                  <a:schemeClr val="tx1"/>
                </a:solidFill>
                <a:latin typeface="楷体" pitchFamily="49" charset="-122"/>
              </a:rPr>
              <a:t>   </a:t>
            </a:r>
            <a:r>
              <a:rPr lang="zh-CN" altLang="en-US" sz="2200" b="1" dirty="0">
                <a:solidFill>
                  <a:schemeClr val="tx1"/>
                </a:solidFill>
                <a:latin typeface="楷体" pitchFamily="49" charset="-122"/>
              </a:rPr>
              <a:t>不能往返移动</a:t>
            </a:r>
          </a:p>
          <a:p>
            <a:pPr eaLnBrk="1" hangingPunct="1">
              <a:lnSpc>
                <a:spcPts val="3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  <a:latin typeface="楷体" pitchFamily="49" charset="-122"/>
              </a:rPr>
              <a:t> </a:t>
            </a:r>
            <a:r>
              <a:rPr lang="zh-CN" altLang="en-US" sz="2200" b="1" dirty="0">
                <a:solidFill>
                  <a:srgbClr val="FF0000"/>
                </a:solidFill>
                <a:latin typeface="楷体" pitchFamily="49" charset="-122"/>
              </a:rPr>
              <a:t>有穷控制器</a:t>
            </a:r>
            <a:r>
              <a:rPr lang="en-US" altLang="zh-CN" sz="2000" b="1" dirty="0">
                <a:solidFill>
                  <a:schemeClr val="tx1"/>
                </a:solidFill>
              </a:rPr>
              <a:t>( </a:t>
            </a:r>
            <a:r>
              <a:rPr lang="en-US" altLang="zh-CN" sz="2000" b="1" i="1" dirty="0">
                <a:solidFill>
                  <a:schemeClr val="tx1"/>
                </a:solidFill>
              </a:rPr>
              <a:t>finite control </a:t>
            </a:r>
            <a:r>
              <a:rPr lang="en-US" altLang="zh-CN" sz="2000" b="1" dirty="0">
                <a:solidFill>
                  <a:schemeClr val="tx1"/>
                </a:solidFill>
              </a:rPr>
              <a:t>)</a:t>
            </a:r>
            <a:r>
              <a:rPr lang="zh-CN" altLang="en-US" sz="2200" b="1" dirty="0">
                <a:solidFill>
                  <a:schemeClr val="tx1"/>
                </a:solidFill>
                <a:latin typeface="楷体" pitchFamily="49" charset="-122"/>
              </a:rPr>
              <a:t>：具有有穷个状态数，根据</a:t>
            </a:r>
            <a:r>
              <a:rPr lang="zh-CN" altLang="en-US" sz="2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</a:rPr>
              <a:t>当前的 </a:t>
            </a:r>
            <a:endParaRPr lang="en-US" altLang="zh-CN" sz="2200" b="1" dirty="0">
              <a:solidFill>
                <a:schemeClr val="tx2">
                  <a:lumMod val="60000"/>
                  <a:lumOff val="40000"/>
                </a:schemeClr>
              </a:solidFill>
              <a:latin typeface="楷体" pitchFamily="49" charset="-122"/>
            </a:endParaRPr>
          </a:p>
          <a:p>
            <a:pPr eaLnBrk="1" hangingPunct="1">
              <a:lnSpc>
                <a:spcPts val="30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2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</a:rPr>
              <a:t>   </a:t>
            </a:r>
            <a:r>
              <a:rPr lang="zh-CN" altLang="en-US" sz="2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</a:rPr>
              <a:t>状态</a:t>
            </a:r>
            <a:r>
              <a:rPr lang="zh-CN" altLang="en-US" sz="2200" b="1" dirty="0">
                <a:solidFill>
                  <a:schemeClr val="tx1"/>
                </a:solidFill>
                <a:latin typeface="楷体" pitchFamily="49" charset="-122"/>
              </a:rPr>
              <a:t>和</a:t>
            </a:r>
            <a:r>
              <a:rPr lang="zh-CN" altLang="en-US" sz="2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</a:rPr>
              <a:t>当前输入符号</a:t>
            </a:r>
            <a:r>
              <a:rPr lang="zh-CN" altLang="en-US" sz="2200" b="1" dirty="0">
                <a:solidFill>
                  <a:schemeClr val="tx1"/>
                </a:solidFill>
                <a:latin typeface="楷体" pitchFamily="49" charset="-122"/>
              </a:rPr>
              <a:t>控制转入</a:t>
            </a:r>
            <a:r>
              <a:rPr lang="zh-CN" altLang="en-US" sz="2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</a:rPr>
              <a:t>下一状态</a:t>
            </a:r>
            <a:endParaRPr lang="en-US" altLang="zh-CN" sz="2200" b="1" dirty="0">
              <a:solidFill>
                <a:schemeClr val="tx2">
                  <a:lumMod val="60000"/>
                  <a:lumOff val="40000"/>
                </a:schemeClr>
              </a:solidFill>
              <a:latin typeface="楷体" pitchFamily="49" charset="-122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755650" y="268288"/>
            <a:ext cx="7931150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en-US" altLang="zh-CN" sz="3000" b="1" i="1" dirty="0"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FA</a:t>
            </a:r>
            <a:r>
              <a:rPr lang="zh-CN" altLang="en-US" sz="3000" b="1" spc="300" dirty="0"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模型</a:t>
            </a:r>
            <a:endParaRPr lang="zh-CN" altLang="en-US" sz="3000" b="1" spc="3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43012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43030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43013" name="组合 36"/>
          <p:cNvGrpSpPr>
            <a:grpSpLocks/>
          </p:cNvGrpSpPr>
          <p:nvPr/>
        </p:nvGrpSpPr>
        <p:grpSpPr bwMode="auto">
          <a:xfrm>
            <a:off x="2157413" y="857250"/>
            <a:ext cx="4286250" cy="1744663"/>
            <a:chOff x="642910" y="714362"/>
            <a:chExt cx="4286280" cy="1745290"/>
          </a:xfrm>
        </p:grpSpPr>
        <p:grpSp>
          <p:nvGrpSpPr>
            <p:cNvPr id="43014" name="组合 33"/>
            <p:cNvGrpSpPr>
              <a:grpSpLocks/>
            </p:cNvGrpSpPr>
            <p:nvPr/>
          </p:nvGrpSpPr>
          <p:grpSpPr bwMode="auto">
            <a:xfrm>
              <a:off x="1643042" y="714362"/>
              <a:ext cx="3286148" cy="1745290"/>
              <a:chOff x="1643042" y="714362"/>
              <a:chExt cx="3286148" cy="1745290"/>
            </a:xfrm>
          </p:grpSpPr>
          <p:sp>
            <p:nvSpPr>
              <p:cNvPr id="43017" name="TextBox 10"/>
              <p:cNvSpPr txBox="1">
                <a:spLocks noChangeArrowheads="1"/>
              </p:cNvSpPr>
              <p:nvPr/>
            </p:nvSpPr>
            <p:spPr bwMode="auto">
              <a:xfrm>
                <a:off x="1643042" y="714362"/>
                <a:ext cx="3286148" cy="55399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000"/>
              </a:p>
            </p:txBody>
          </p:sp>
          <p:cxnSp>
            <p:nvCxnSpPr>
              <p:cNvPr id="13" name="直接连接符 12"/>
              <p:cNvCxnSpPr/>
              <p:nvPr/>
            </p:nvCxnSpPr>
            <p:spPr>
              <a:xfrm rot="5400000" flipH="1" flipV="1">
                <a:off x="1846143" y="1000215"/>
                <a:ext cx="57170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 rot="5400000" flipH="1" flipV="1">
                <a:off x="2307315" y="999421"/>
                <a:ext cx="571705" cy="15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/>
              <p:cNvCxnSpPr/>
              <p:nvPr/>
            </p:nvCxnSpPr>
            <p:spPr>
              <a:xfrm rot="5400000" flipH="1" flipV="1">
                <a:off x="2778805" y="999421"/>
                <a:ext cx="571705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/>
              <p:cNvCxnSpPr/>
              <p:nvPr/>
            </p:nvCxnSpPr>
            <p:spPr>
              <a:xfrm rot="5400000" flipH="1" flipV="1">
                <a:off x="3246328" y="1000215"/>
                <a:ext cx="57170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/>
              <p:cNvCxnSpPr/>
              <p:nvPr/>
            </p:nvCxnSpPr>
            <p:spPr>
              <a:xfrm rot="5400000" flipH="1" flipV="1">
                <a:off x="3713850" y="999421"/>
                <a:ext cx="571705" cy="15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/>
              <p:nvPr/>
            </p:nvCxnSpPr>
            <p:spPr>
              <a:xfrm rot="5400000" flipH="1" flipV="1">
                <a:off x="4182165" y="999421"/>
                <a:ext cx="571705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024" name="TextBox 26"/>
              <p:cNvSpPr txBox="1">
                <a:spLocks noChangeArrowheads="1"/>
              </p:cNvSpPr>
              <p:nvPr/>
            </p:nvSpPr>
            <p:spPr bwMode="auto">
              <a:xfrm>
                <a:off x="1643042" y="1278488"/>
                <a:ext cx="3286148" cy="10772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100"/>
              </a:p>
            </p:txBody>
          </p:sp>
          <p:cxnSp>
            <p:nvCxnSpPr>
              <p:cNvPr id="28" name="直接连接符 27"/>
              <p:cNvCxnSpPr/>
              <p:nvPr/>
            </p:nvCxnSpPr>
            <p:spPr>
              <a:xfrm rot="5400000" flipH="1" flipV="1">
                <a:off x="2572429" y="1571126"/>
                <a:ext cx="571705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/>
            </p:nvCxnSpPr>
            <p:spPr>
              <a:xfrm rot="5400000" flipH="1" flipV="1">
                <a:off x="2751100" y="1321018"/>
                <a:ext cx="142926" cy="7302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/>
              <p:nvPr/>
            </p:nvCxnSpPr>
            <p:spPr>
              <a:xfrm rot="16200000" flipV="1">
                <a:off x="2822537" y="1322606"/>
                <a:ext cx="142926" cy="6985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TextBox 32"/>
              <p:cNvSpPr txBox="1"/>
              <p:nvPr/>
            </p:nvSpPr>
            <p:spPr>
              <a:xfrm>
                <a:off x="2428859" y="1875242"/>
                <a:ext cx="857256" cy="58441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r>
                  <a:rPr lang="zh-CN" altLang="en-US" sz="1600" b="1" dirty="0">
                    <a:latin typeface="+mn-ea"/>
                    <a:ea typeface="+mn-ea"/>
                  </a:rPr>
                  <a:t>有穷</a:t>
                </a:r>
                <a:endParaRPr lang="en-US" altLang="zh-CN" sz="1600" b="1" dirty="0">
                  <a:latin typeface="+mn-ea"/>
                  <a:ea typeface="+mn-ea"/>
                </a:endParaRPr>
              </a:p>
              <a:p>
                <a:pPr algn="ctr">
                  <a:defRPr/>
                </a:pPr>
                <a:r>
                  <a:rPr lang="zh-CN" altLang="en-US" sz="1600" b="1" dirty="0">
                    <a:latin typeface="+mn-ea"/>
                    <a:ea typeface="+mn-ea"/>
                  </a:rPr>
                  <a:t>控制器</a:t>
                </a:r>
              </a:p>
            </p:txBody>
          </p:sp>
        </p:grpSp>
        <p:sp>
          <p:nvSpPr>
            <p:cNvPr id="35" name="TextBox 34"/>
            <p:cNvSpPr txBox="1"/>
            <p:nvPr/>
          </p:nvSpPr>
          <p:spPr>
            <a:xfrm>
              <a:off x="3000363" y="1357531"/>
              <a:ext cx="642943" cy="368432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>
              <a:spAutoFit/>
            </a:bodyPr>
            <a:lstStyle/>
            <a:p>
              <a:pPr algn="ctr">
                <a:defRPr/>
              </a:pPr>
              <a:r>
                <a:rPr lang="zh-CN" altLang="en-US" b="1" dirty="0">
                  <a:latin typeface="+mn-ea"/>
                  <a:ea typeface="+mn-ea"/>
                </a:rPr>
                <a:t>读头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42910" y="844584"/>
              <a:ext cx="1071569" cy="370021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>
              <a:spAutoFit/>
            </a:bodyPr>
            <a:lstStyle/>
            <a:p>
              <a:pPr algn="ctr">
                <a:defRPr/>
              </a:pPr>
              <a:r>
                <a:rPr lang="zh-CN" altLang="en-US" b="1" dirty="0">
                  <a:latin typeface="+mn-ea"/>
                  <a:ea typeface="+mn-ea"/>
                </a:rPr>
                <a:t>输入带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内容占位符 2"/>
          <p:cNvSpPr>
            <a:spLocks noGrp="1"/>
          </p:cNvSpPr>
          <p:nvPr>
            <p:ph idx="1"/>
          </p:nvPr>
        </p:nvSpPr>
        <p:spPr>
          <a:xfrm>
            <a:off x="285750" y="703263"/>
            <a:ext cx="8072438" cy="3225800"/>
          </a:xfrm>
        </p:spPr>
        <p:txBody>
          <a:bodyPr/>
          <a:lstStyle/>
          <a:p>
            <a:pPr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楷体" pitchFamily="49" charset="-122"/>
              </a:rPr>
              <a:t> </a:t>
            </a:r>
            <a:r>
              <a:rPr lang="zh-CN" altLang="en-US" sz="2500" b="1" dirty="0">
                <a:solidFill>
                  <a:srgbClr val="FF0000"/>
                </a:solidFill>
                <a:latin typeface="楷体" pitchFamily="49" charset="-122"/>
              </a:rPr>
              <a:t>转换图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楷体_GB2312"/>
              </a:rPr>
              <a:t>(</a:t>
            </a: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楷体_GB2312"/>
              </a:rPr>
              <a:t>Transition Graph</a:t>
            </a: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楷体_GB2312"/>
              </a:rPr>
              <a:t>)</a:t>
            </a:r>
          </a:p>
          <a:p>
            <a:pPr lvl="1"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结点</a:t>
            </a:r>
            <a:r>
              <a:rPr lang="zh-CN" altLang="en-US" b="1" dirty="0">
                <a:solidFill>
                  <a:schemeClr val="tx1"/>
                </a:solidFill>
              </a:rPr>
              <a:t>：</a:t>
            </a:r>
            <a:r>
              <a:rPr lang="en-US" altLang="zh-CN" b="1" i="1" dirty="0">
                <a:solidFill>
                  <a:schemeClr val="tx1"/>
                </a:solidFill>
              </a:rPr>
              <a:t>FA</a:t>
            </a:r>
            <a:r>
              <a:rPr lang="zh-CN" altLang="en-US" b="1" dirty="0">
                <a:solidFill>
                  <a:schemeClr val="tx1"/>
                </a:solidFill>
              </a:rPr>
              <a:t>的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状态</a:t>
            </a:r>
          </a:p>
          <a:p>
            <a:pPr lvl="2"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</a:rPr>
              <a:t>初始状态（开始状态）：只有一个，由</a:t>
            </a:r>
            <a:r>
              <a:rPr lang="en-US" altLang="zh-CN" sz="2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start</a:t>
            </a:r>
            <a:r>
              <a:rPr lang="zh-CN" altLang="en-US" sz="2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箭头</a:t>
            </a:r>
            <a:r>
              <a:rPr lang="zh-CN" altLang="en-US" sz="2200" b="1" dirty="0">
                <a:solidFill>
                  <a:schemeClr val="tx1"/>
                </a:solidFill>
              </a:rPr>
              <a:t>指向</a:t>
            </a:r>
          </a:p>
          <a:p>
            <a:pPr lvl="2"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</a:rPr>
              <a:t>终止状态（接收状态）：可以有多个，用</a:t>
            </a:r>
            <a:r>
              <a:rPr lang="zh-CN" altLang="en-US" sz="2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双圈</a:t>
            </a:r>
            <a:r>
              <a:rPr lang="zh-CN" altLang="en-US" sz="2200" b="1" dirty="0">
                <a:solidFill>
                  <a:schemeClr val="tx1"/>
                </a:solidFill>
              </a:rPr>
              <a:t>表示</a:t>
            </a:r>
          </a:p>
          <a:p>
            <a:pPr lvl="1"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</a:rPr>
              <a:t> 带标记的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有向边</a:t>
            </a:r>
            <a:r>
              <a:rPr lang="zh-CN" altLang="en-US" b="1" dirty="0">
                <a:solidFill>
                  <a:schemeClr val="tx1"/>
                </a:solidFill>
              </a:rPr>
              <a:t>：当前状态为</a:t>
            </a:r>
            <a:r>
              <a:rPr lang="en-US" altLang="zh-CN" b="1" i="1" dirty="0">
                <a:solidFill>
                  <a:schemeClr val="tx1"/>
                </a:solidFill>
              </a:rPr>
              <a:t>p</a:t>
            </a:r>
            <a:r>
              <a:rPr lang="zh-CN" altLang="en-US" b="1" dirty="0">
                <a:solidFill>
                  <a:schemeClr val="tx1"/>
                </a:solidFill>
              </a:rPr>
              <a:t>，在遇到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输入符号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时</a:t>
            </a:r>
            <a:r>
              <a:rPr lang="zh-CN" altLang="en-US" b="1" dirty="0">
                <a:solidFill>
                  <a:schemeClr val="tx1"/>
                </a:solidFill>
              </a:rPr>
              <a:t>，转换为状态</a:t>
            </a:r>
            <a:r>
              <a:rPr lang="en-US" altLang="zh-CN" b="1" i="1" dirty="0">
                <a:solidFill>
                  <a:schemeClr val="tx1"/>
                </a:solidFill>
              </a:rPr>
              <a:t>q</a:t>
            </a:r>
            <a:r>
              <a:rPr lang="zh-CN" altLang="en-US" b="1" dirty="0">
                <a:solidFill>
                  <a:schemeClr val="tx1"/>
                </a:solidFill>
              </a:rPr>
              <a:t>，那么就在</a:t>
            </a:r>
            <a:r>
              <a:rPr lang="en-US" altLang="zh-CN" b="1" i="1" dirty="0">
                <a:solidFill>
                  <a:schemeClr val="tx1"/>
                </a:solidFill>
              </a:rPr>
              <a:t>p</a:t>
            </a:r>
            <a:r>
              <a:rPr lang="zh-CN" altLang="en-US" b="1" dirty="0">
                <a:solidFill>
                  <a:schemeClr val="tx1"/>
                </a:solidFill>
              </a:rPr>
              <a:t>、</a:t>
            </a:r>
            <a:r>
              <a:rPr lang="en-US" altLang="zh-CN" b="1" i="1" dirty="0">
                <a:solidFill>
                  <a:schemeClr val="tx1"/>
                </a:solidFill>
              </a:rPr>
              <a:t>q</a:t>
            </a:r>
            <a:r>
              <a:rPr lang="zh-CN" altLang="en-US" b="1" dirty="0">
                <a:solidFill>
                  <a:schemeClr val="tx1"/>
                </a:solidFill>
              </a:rPr>
              <a:t>之间画一条有向边，并标记上</a:t>
            </a:r>
            <a:r>
              <a:rPr lang="en-US" altLang="zh-CN" b="1" i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755650" y="268288"/>
            <a:ext cx="7931150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en-US" altLang="zh-CN" sz="3000" b="1" i="1" dirty="0"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FA</a:t>
            </a:r>
            <a:r>
              <a:rPr lang="zh-CN" altLang="en-US" sz="3000" b="1" spc="300" dirty="0"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的表示</a:t>
            </a:r>
            <a:endParaRPr lang="zh-CN" altLang="en-US" sz="3000" b="1" spc="3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45060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9" name="五边形 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45081" name="五边形 9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45061" name="组合 37"/>
          <p:cNvGrpSpPr>
            <a:grpSpLocks/>
          </p:cNvGrpSpPr>
          <p:nvPr/>
        </p:nvGrpSpPr>
        <p:grpSpPr bwMode="auto">
          <a:xfrm>
            <a:off x="857250" y="3565525"/>
            <a:ext cx="5500688" cy="1506538"/>
            <a:chOff x="928662" y="3675780"/>
            <a:chExt cx="5500726" cy="1506714"/>
          </a:xfrm>
        </p:grpSpPr>
        <p:grpSp>
          <p:nvGrpSpPr>
            <p:cNvPr id="45062" name="组合 9"/>
            <p:cNvGrpSpPr>
              <a:grpSpLocks/>
            </p:cNvGrpSpPr>
            <p:nvPr/>
          </p:nvGrpSpPr>
          <p:grpSpPr bwMode="auto">
            <a:xfrm>
              <a:off x="928662" y="3675780"/>
              <a:ext cx="5500726" cy="1090001"/>
              <a:chOff x="2339752" y="4162003"/>
              <a:chExt cx="3622043" cy="790575"/>
            </a:xfrm>
          </p:grpSpPr>
          <p:sp>
            <p:nvSpPr>
              <p:cNvPr id="45071" name="Oval 10"/>
              <p:cNvSpPr>
                <a:spLocks noChangeArrowheads="1"/>
              </p:cNvSpPr>
              <p:nvPr/>
            </p:nvSpPr>
            <p:spPr bwMode="auto">
              <a:xfrm>
                <a:off x="3097415" y="4576104"/>
                <a:ext cx="289198" cy="2924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latin typeface="Times New Roman" panose="02020603050405020304" pitchFamily="18" charset="0"/>
                    <a:ea typeface="楷体_GB2312"/>
                    <a:cs typeface="楷体_GB2312"/>
                  </a:rPr>
                  <a:t>0</a:t>
                </a:r>
              </a:p>
            </p:txBody>
          </p:sp>
          <p:sp>
            <p:nvSpPr>
              <p:cNvPr id="45072" name="Line 13"/>
              <p:cNvSpPr>
                <a:spLocks noChangeShapeType="1"/>
              </p:cNvSpPr>
              <p:nvPr/>
            </p:nvSpPr>
            <p:spPr bwMode="auto">
              <a:xfrm>
                <a:off x="3419690" y="4731545"/>
                <a:ext cx="5048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73" name="Line 16"/>
              <p:cNvSpPr>
                <a:spLocks noChangeShapeType="1"/>
              </p:cNvSpPr>
              <p:nvPr/>
            </p:nvSpPr>
            <p:spPr bwMode="auto">
              <a:xfrm>
                <a:off x="4221333" y="4726809"/>
                <a:ext cx="5048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74" name="Line 21"/>
              <p:cNvSpPr>
                <a:spLocks noChangeShapeType="1"/>
              </p:cNvSpPr>
              <p:nvPr/>
            </p:nvSpPr>
            <p:spPr bwMode="auto">
              <a:xfrm>
                <a:off x="5021004" y="4723834"/>
                <a:ext cx="5048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75" name="Oval 23"/>
              <p:cNvSpPr>
                <a:spLocks noChangeArrowheads="1"/>
              </p:cNvSpPr>
              <p:nvPr/>
            </p:nvSpPr>
            <p:spPr bwMode="auto">
              <a:xfrm>
                <a:off x="5594506" y="4572591"/>
                <a:ext cx="289198" cy="2924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latin typeface="Times New Roman" panose="02020603050405020304" pitchFamily="18" charset="0"/>
                    <a:ea typeface="楷体_GB2312"/>
                    <a:cs typeface="楷体_GB2312"/>
                  </a:rPr>
                  <a:t>3</a:t>
                </a:r>
              </a:p>
            </p:txBody>
          </p:sp>
          <p:sp>
            <p:nvSpPr>
              <p:cNvPr id="45076" name="Oval 39"/>
              <p:cNvSpPr>
                <a:spLocks noChangeArrowheads="1"/>
              </p:cNvSpPr>
              <p:nvPr/>
            </p:nvSpPr>
            <p:spPr bwMode="auto">
              <a:xfrm>
                <a:off x="5521481" y="4501154"/>
                <a:ext cx="440314" cy="45142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077" name="Rectangle 22"/>
              <p:cNvSpPr>
                <a:spLocks noChangeArrowheads="1"/>
              </p:cNvSpPr>
              <p:nvPr/>
            </p:nvSpPr>
            <p:spPr bwMode="auto">
              <a:xfrm>
                <a:off x="2339752" y="4581913"/>
                <a:ext cx="504927" cy="2872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start</a:t>
                </a:r>
              </a:p>
            </p:txBody>
          </p:sp>
          <p:sp>
            <p:nvSpPr>
              <p:cNvPr id="45078" name="Line 21"/>
              <p:cNvSpPr>
                <a:spLocks noChangeShapeType="1"/>
              </p:cNvSpPr>
              <p:nvPr/>
            </p:nvSpPr>
            <p:spPr bwMode="auto">
              <a:xfrm flipV="1">
                <a:off x="2844679" y="4725144"/>
                <a:ext cx="252464" cy="895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79" name="Rectangle 22"/>
              <p:cNvSpPr>
                <a:spLocks noChangeArrowheads="1"/>
              </p:cNvSpPr>
              <p:nvPr/>
            </p:nvSpPr>
            <p:spPr bwMode="auto">
              <a:xfrm>
                <a:off x="3139424" y="4162003"/>
                <a:ext cx="504825" cy="287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</p:grpSp>
        <p:sp>
          <p:nvSpPr>
            <p:cNvPr id="45063" name="Rectangle 22"/>
            <p:cNvSpPr>
              <a:spLocks noChangeArrowheads="1"/>
            </p:cNvSpPr>
            <p:nvPr/>
          </p:nvSpPr>
          <p:spPr bwMode="auto">
            <a:xfrm>
              <a:off x="2214546" y="4786328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  <p:sp>
          <p:nvSpPr>
            <p:cNvPr id="45064" name="Oval 10"/>
            <p:cNvSpPr>
              <a:spLocks noChangeArrowheads="1"/>
            </p:cNvSpPr>
            <p:nvPr/>
          </p:nvSpPr>
          <p:spPr bwMode="auto">
            <a:xfrm>
              <a:off x="3346982" y="4240252"/>
              <a:ext cx="439200" cy="4032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</a:p>
          </p:txBody>
        </p:sp>
        <p:sp>
          <p:nvSpPr>
            <p:cNvPr id="45065" name="Oval 10"/>
            <p:cNvSpPr>
              <a:spLocks noChangeArrowheads="1"/>
            </p:cNvSpPr>
            <p:nvPr/>
          </p:nvSpPr>
          <p:spPr bwMode="auto">
            <a:xfrm>
              <a:off x="4561428" y="4240252"/>
              <a:ext cx="439200" cy="4032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</a:p>
          </p:txBody>
        </p:sp>
        <p:sp>
          <p:nvSpPr>
            <p:cNvPr id="45066" name="Rectangle 22"/>
            <p:cNvSpPr>
              <a:spLocks noChangeArrowheads="1"/>
            </p:cNvSpPr>
            <p:nvPr/>
          </p:nvSpPr>
          <p:spPr bwMode="auto">
            <a:xfrm>
              <a:off x="2519448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</a:p>
          </p:txBody>
        </p:sp>
        <p:sp>
          <p:nvSpPr>
            <p:cNvPr id="45067" name="Rectangle 22"/>
            <p:cNvSpPr>
              <a:spLocks noChangeArrowheads="1"/>
            </p:cNvSpPr>
            <p:nvPr/>
          </p:nvSpPr>
          <p:spPr bwMode="auto">
            <a:xfrm>
              <a:off x="3786182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  <p:sp>
          <p:nvSpPr>
            <p:cNvPr id="45068" name="Rectangle 22"/>
            <p:cNvSpPr>
              <a:spLocks noChangeArrowheads="1"/>
            </p:cNvSpPr>
            <p:nvPr/>
          </p:nvSpPr>
          <p:spPr bwMode="auto">
            <a:xfrm>
              <a:off x="4948340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  <p:sp>
          <p:nvSpPr>
            <p:cNvPr id="45069" name="Freeform 11"/>
            <p:cNvSpPr>
              <a:spLocks/>
            </p:cNvSpPr>
            <p:nvPr/>
          </p:nvSpPr>
          <p:spPr bwMode="auto">
            <a:xfrm flipH="1">
              <a:off x="1991843" y="3840019"/>
              <a:ext cx="534010" cy="429463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0" name="Freeform 11"/>
            <p:cNvSpPr>
              <a:spLocks/>
            </p:cNvSpPr>
            <p:nvPr/>
          </p:nvSpPr>
          <p:spPr bwMode="auto">
            <a:xfrm flipH="1" flipV="1">
              <a:off x="1991843" y="4627806"/>
              <a:ext cx="534010" cy="419104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内容占位符 2"/>
          <p:cNvSpPr>
            <a:spLocks noGrp="1"/>
          </p:cNvSpPr>
          <p:nvPr>
            <p:ph idx="1"/>
          </p:nvPr>
        </p:nvSpPr>
        <p:spPr>
          <a:xfrm>
            <a:off x="285750" y="703263"/>
            <a:ext cx="8072438" cy="3225800"/>
          </a:xfrm>
        </p:spPr>
        <p:txBody>
          <a:bodyPr/>
          <a:lstStyle/>
          <a:p>
            <a:pPr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楷体" pitchFamily="49" charset="-122"/>
              </a:rPr>
              <a:t> </a:t>
            </a:r>
            <a:r>
              <a:rPr lang="zh-CN" altLang="en-US" sz="2500" b="1" dirty="0">
                <a:solidFill>
                  <a:srgbClr val="FF0000"/>
                </a:solidFill>
                <a:latin typeface="楷体" pitchFamily="49" charset="-122"/>
              </a:rPr>
              <a:t>转换图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楷体_GB2312"/>
              </a:rPr>
              <a:t>(</a:t>
            </a: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楷体_GB2312"/>
              </a:rPr>
              <a:t>Transition Graph</a:t>
            </a: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楷体_GB2312"/>
              </a:rPr>
              <a:t>)</a:t>
            </a:r>
          </a:p>
          <a:p>
            <a:pPr lvl="1"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结点</a:t>
            </a:r>
            <a:r>
              <a:rPr lang="zh-CN" altLang="en-US" b="1" dirty="0">
                <a:solidFill>
                  <a:schemeClr val="tx1"/>
                </a:solidFill>
              </a:rPr>
              <a:t>：</a:t>
            </a:r>
            <a:r>
              <a:rPr lang="en-US" altLang="zh-CN" b="1" i="1" dirty="0">
                <a:solidFill>
                  <a:schemeClr val="tx1"/>
                </a:solidFill>
              </a:rPr>
              <a:t>FA</a:t>
            </a:r>
            <a:r>
              <a:rPr lang="zh-CN" altLang="en-US" b="1" dirty="0">
                <a:solidFill>
                  <a:schemeClr val="tx1"/>
                </a:solidFill>
              </a:rPr>
              <a:t>的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状态</a:t>
            </a:r>
          </a:p>
          <a:p>
            <a:pPr lvl="2"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</a:rPr>
              <a:t>初始状态（开始状态）：只有一个，由</a:t>
            </a:r>
            <a:r>
              <a:rPr lang="en-US" altLang="zh-CN" sz="2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start</a:t>
            </a:r>
            <a:r>
              <a:rPr lang="zh-CN" altLang="en-US" sz="2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箭头</a:t>
            </a:r>
            <a:r>
              <a:rPr lang="zh-CN" altLang="en-US" sz="2200" b="1" dirty="0">
                <a:solidFill>
                  <a:schemeClr val="tx1"/>
                </a:solidFill>
              </a:rPr>
              <a:t>指向</a:t>
            </a:r>
          </a:p>
          <a:p>
            <a:pPr lvl="2"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</a:rPr>
              <a:t>终止状态（接收状态）：可以有多个，用</a:t>
            </a:r>
            <a:r>
              <a:rPr lang="zh-CN" altLang="en-US" sz="2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双圈</a:t>
            </a:r>
            <a:r>
              <a:rPr lang="zh-CN" altLang="en-US" sz="2200" b="1" dirty="0">
                <a:solidFill>
                  <a:schemeClr val="tx1"/>
                </a:solidFill>
              </a:rPr>
              <a:t>表示</a:t>
            </a:r>
          </a:p>
          <a:p>
            <a:pPr lvl="1"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</a:rPr>
              <a:t> 带标记的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有向边</a:t>
            </a:r>
            <a:r>
              <a:rPr lang="zh-CN" altLang="en-US" b="1" dirty="0">
                <a:solidFill>
                  <a:schemeClr val="tx1"/>
                </a:solidFill>
              </a:rPr>
              <a:t>：当前状态为</a:t>
            </a:r>
            <a:r>
              <a:rPr lang="en-US" altLang="zh-CN" b="1" i="1" dirty="0">
                <a:solidFill>
                  <a:schemeClr val="tx1"/>
                </a:solidFill>
              </a:rPr>
              <a:t>p</a:t>
            </a:r>
            <a:r>
              <a:rPr lang="zh-CN" altLang="en-US" b="1" dirty="0">
                <a:solidFill>
                  <a:schemeClr val="tx1"/>
                </a:solidFill>
              </a:rPr>
              <a:t>，在遇到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输入符号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时</a:t>
            </a:r>
            <a:r>
              <a:rPr lang="zh-CN" altLang="en-US" b="1" dirty="0">
                <a:solidFill>
                  <a:schemeClr val="tx1"/>
                </a:solidFill>
              </a:rPr>
              <a:t>，转换为状态</a:t>
            </a:r>
            <a:r>
              <a:rPr lang="en-US" altLang="zh-CN" b="1" i="1" dirty="0">
                <a:solidFill>
                  <a:schemeClr val="tx1"/>
                </a:solidFill>
              </a:rPr>
              <a:t>q</a:t>
            </a:r>
            <a:r>
              <a:rPr lang="zh-CN" altLang="en-US" b="1" dirty="0">
                <a:solidFill>
                  <a:schemeClr val="tx1"/>
                </a:solidFill>
              </a:rPr>
              <a:t>，那么就在</a:t>
            </a:r>
            <a:r>
              <a:rPr lang="en-US" altLang="zh-CN" b="1" i="1" dirty="0">
                <a:solidFill>
                  <a:schemeClr val="tx1"/>
                </a:solidFill>
              </a:rPr>
              <a:t>p</a:t>
            </a:r>
            <a:r>
              <a:rPr lang="zh-CN" altLang="en-US" b="1" dirty="0">
                <a:solidFill>
                  <a:schemeClr val="tx1"/>
                </a:solidFill>
              </a:rPr>
              <a:t>、</a:t>
            </a:r>
            <a:r>
              <a:rPr lang="en-US" altLang="zh-CN" b="1" i="1" dirty="0">
                <a:solidFill>
                  <a:schemeClr val="tx1"/>
                </a:solidFill>
              </a:rPr>
              <a:t>q</a:t>
            </a:r>
            <a:r>
              <a:rPr lang="zh-CN" altLang="en-US" b="1" dirty="0">
                <a:solidFill>
                  <a:schemeClr val="tx1"/>
                </a:solidFill>
              </a:rPr>
              <a:t>之间画一条有向边，并标记上</a:t>
            </a:r>
            <a:r>
              <a:rPr lang="en-US" altLang="zh-CN" b="1" i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755650" y="268288"/>
            <a:ext cx="7931150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en-US" altLang="zh-CN" sz="3000" b="1" i="1" dirty="0"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FA</a:t>
            </a:r>
            <a:r>
              <a:rPr lang="zh-CN" altLang="en-US" sz="3000" b="1" spc="300" dirty="0"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的表示</a:t>
            </a:r>
            <a:endParaRPr lang="zh-CN" altLang="en-US" sz="3000" b="1" spc="3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45060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9" name="五边形 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45081" name="五边形 9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45061" name="组合 37"/>
          <p:cNvGrpSpPr>
            <a:grpSpLocks/>
          </p:cNvGrpSpPr>
          <p:nvPr/>
        </p:nvGrpSpPr>
        <p:grpSpPr bwMode="auto">
          <a:xfrm>
            <a:off x="857250" y="3565525"/>
            <a:ext cx="5500688" cy="1506538"/>
            <a:chOff x="928662" y="3675780"/>
            <a:chExt cx="5500726" cy="1506714"/>
          </a:xfrm>
        </p:grpSpPr>
        <p:grpSp>
          <p:nvGrpSpPr>
            <p:cNvPr id="45062" name="组合 9"/>
            <p:cNvGrpSpPr>
              <a:grpSpLocks/>
            </p:cNvGrpSpPr>
            <p:nvPr/>
          </p:nvGrpSpPr>
          <p:grpSpPr bwMode="auto">
            <a:xfrm>
              <a:off x="928662" y="3675780"/>
              <a:ext cx="5500726" cy="1090001"/>
              <a:chOff x="2339752" y="4162003"/>
              <a:chExt cx="3622043" cy="790575"/>
            </a:xfrm>
          </p:grpSpPr>
          <p:sp>
            <p:nvSpPr>
              <p:cNvPr id="45071" name="Oval 10"/>
              <p:cNvSpPr>
                <a:spLocks noChangeArrowheads="1"/>
              </p:cNvSpPr>
              <p:nvPr/>
            </p:nvSpPr>
            <p:spPr bwMode="auto">
              <a:xfrm>
                <a:off x="3097415" y="4576104"/>
                <a:ext cx="289198" cy="2924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latin typeface="Times New Roman" panose="02020603050405020304" pitchFamily="18" charset="0"/>
                    <a:ea typeface="楷体_GB2312"/>
                    <a:cs typeface="楷体_GB2312"/>
                  </a:rPr>
                  <a:t>0</a:t>
                </a:r>
              </a:p>
            </p:txBody>
          </p:sp>
          <p:sp>
            <p:nvSpPr>
              <p:cNvPr id="45072" name="Line 13"/>
              <p:cNvSpPr>
                <a:spLocks noChangeShapeType="1"/>
              </p:cNvSpPr>
              <p:nvPr/>
            </p:nvSpPr>
            <p:spPr bwMode="auto">
              <a:xfrm>
                <a:off x="3419690" y="4731545"/>
                <a:ext cx="5048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73" name="Line 16"/>
              <p:cNvSpPr>
                <a:spLocks noChangeShapeType="1"/>
              </p:cNvSpPr>
              <p:nvPr/>
            </p:nvSpPr>
            <p:spPr bwMode="auto">
              <a:xfrm>
                <a:off x="4221333" y="4726809"/>
                <a:ext cx="5048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74" name="Line 21"/>
              <p:cNvSpPr>
                <a:spLocks noChangeShapeType="1"/>
              </p:cNvSpPr>
              <p:nvPr/>
            </p:nvSpPr>
            <p:spPr bwMode="auto">
              <a:xfrm>
                <a:off x="5021004" y="4723834"/>
                <a:ext cx="5048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75" name="Oval 23"/>
              <p:cNvSpPr>
                <a:spLocks noChangeArrowheads="1"/>
              </p:cNvSpPr>
              <p:nvPr/>
            </p:nvSpPr>
            <p:spPr bwMode="auto">
              <a:xfrm>
                <a:off x="5594506" y="4572591"/>
                <a:ext cx="289198" cy="2924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latin typeface="Times New Roman" panose="02020603050405020304" pitchFamily="18" charset="0"/>
                    <a:ea typeface="楷体_GB2312"/>
                    <a:cs typeface="楷体_GB2312"/>
                  </a:rPr>
                  <a:t>3</a:t>
                </a:r>
              </a:p>
            </p:txBody>
          </p:sp>
          <p:sp>
            <p:nvSpPr>
              <p:cNvPr id="45076" name="Oval 39"/>
              <p:cNvSpPr>
                <a:spLocks noChangeArrowheads="1"/>
              </p:cNvSpPr>
              <p:nvPr/>
            </p:nvSpPr>
            <p:spPr bwMode="auto">
              <a:xfrm>
                <a:off x="5521481" y="4501154"/>
                <a:ext cx="440314" cy="45142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077" name="Rectangle 22"/>
              <p:cNvSpPr>
                <a:spLocks noChangeArrowheads="1"/>
              </p:cNvSpPr>
              <p:nvPr/>
            </p:nvSpPr>
            <p:spPr bwMode="auto">
              <a:xfrm>
                <a:off x="2339752" y="4581913"/>
                <a:ext cx="504927" cy="2872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start</a:t>
                </a:r>
              </a:p>
            </p:txBody>
          </p:sp>
          <p:sp>
            <p:nvSpPr>
              <p:cNvPr id="45078" name="Line 21"/>
              <p:cNvSpPr>
                <a:spLocks noChangeShapeType="1"/>
              </p:cNvSpPr>
              <p:nvPr/>
            </p:nvSpPr>
            <p:spPr bwMode="auto">
              <a:xfrm flipV="1">
                <a:off x="2844679" y="4725144"/>
                <a:ext cx="252464" cy="895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79" name="Rectangle 22"/>
              <p:cNvSpPr>
                <a:spLocks noChangeArrowheads="1"/>
              </p:cNvSpPr>
              <p:nvPr/>
            </p:nvSpPr>
            <p:spPr bwMode="auto">
              <a:xfrm>
                <a:off x="3139424" y="4162003"/>
                <a:ext cx="504825" cy="287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</p:grpSp>
        <p:sp>
          <p:nvSpPr>
            <p:cNvPr id="45063" name="Rectangle 22"/>
            <p:cNvSpPr>
              <a:spLocks noChangeArrowheads="1"/>
            </p:cNvSpPr>
            <p:nvPr/>
          </p:nvSpPr>
          <p:spPr bwMode="auto">
            <a:xfrm>
              <a:off x="2214546" y="4786328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  <p:sp>
          <p:nvSpPr>
            <p:cNvPr id="45064" name="Oval 10"/>
            <p:cNvSpPr>
              <a:spLocks noChangeArrowheads="1"/>
            </p:cNvSpPr>
            <p:nvPr/>
          </p:nvSpPr>
          <p:spPr bwMode="auto">
            <a:xfrm>
              <a:off x="3346982" y="4240252"/>
              <a:ext cx="439200" cy="4032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</a:p>
          </p:txBody>
        </p:sp>
        <p:sp>
          <p:nvSpPr>
            <p:cNvPr id="45065" name="Oval 10"/>
            <p:cNvSpPr>
              <a:spLocks noChangeArrowheads="1"/>
            </p:cNvSpPr>
            <p:nvPr/>
          </p:nvSpPr>
          <p:spPr bwMode="auto">
            <a:xfrm>
              <a:off x="4561428" y="4240252"/>
              <a:ext cx="439200" cy="4032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</a:p>
          </p:txBody>
        </p:sp>
        <p:sp>
          <p:nvSpPr>
            <p:cNvPr id="45066" name="Rectangle 22"/>
            <p:cNvSpPr>
              <a:spLocks noChangeArrowheads="1"/>
            </p:cNvSpPr>
            <p:nvPr/>
          </p:nvSpPr>
          <p:spPr bwMode="auto">
            <a:xfrm>
              <a:off x="2519448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</a:p>
          </p:txBody>
        </p:sp>
        <p:sp>
          <p:nvSpPr>
            <p:cNvPr id="45067" name="Rectangle 22"/>
            <p:cNvSpPr>
              <a:spLocks noChangeArrowheads="1"/>
            </p:cNvSpPr>
            <p:nvPr/>
          </p:nvSpPr>
          <p:spPr bwMode="auto">
            <a:xfrm>
              <a:off x="3786182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  <p:sp>
          <p:nvSpPr>
            <p:cNvPr id="45068" name="Rectangle 22"/>
            <p:cNvSpPr>
              <a:spLocks noChangeArrowheads="1"/>
            </p:cNvSpPr>
            <p:nvPr/>
          </p:nvSpPr>
          <p:spPr bwMode="auto">
            <a:xfrm>
              <a:off x="4948340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  <p:sp>
          <p:nvSpPr>
            <p:cNvPr id="45069" name="Freeform 11"/>
            <p:cNvSpPr>
              <a:spLocks/>
            </p:cNvSpPr>
            <p:nvPr/>
          </p:nvSpPr>
          <p:spPr bwMode="auto">
            <a:xfrm flipH="1">
              <a:off x="1991843" y="3840019"/>
              <a:ext cx="534010" cy="429463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0" name="Freeform 11"/>
            <p:cNvSpPr>
              <a:spLocks/>
            </p:cNvSpPr>
            <p:nvPr/>
          </p:nvSpPr>
          <p:spPr bwMode="auto">
            <a:xfrm flipH="1" flipV="1">
              <a:off x="1991843" y="4627806"/>
              <a:ext cx="534010" cy="419104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内容占位符 2"/>
          <p:cNvSpPr>
            <a:spLocks noGrp="1"/>
          </p:cNvSpPr>
          <p:nvPr>
            <p:ph idx="1"/>
          </p:nvPr>
        </p:nvSpPr>
        <p:spPr>
          <a:xfrm>
            <a:off x="442913" y="714375"/>
            <a:ext cx="7986712" cy="3225800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给定输入串</a:t>
            </a:r>
            <a:r>
              <a:rPr lang="en-US" altLang="zh-CN" sz="2500" b="1" i="1" dirty="0">
                <a:solidFill>
                  <a:schemeClr val="tx1"/>
                </a:solidFill>
              </a:rPr>
              <a:t>x</a:t>
            </a:r>
            <a:r>
              <a:rPr lang="zh-CN" altLang="en-US" sz="2500" b="1" i="1" dirty="0">
                <a:solidFill>
                  <a:schemeClr val="tx1"/>
                </a:solidFill>
              </a:rPr>
              <a:t>，</a:t>
            </a:r>
            <a:r>
              <a:rPr lang="zh-CN" altLang="en-US" sz="2500" b="1" dirty="0">
                <a:solidFill>
                  <a:schemeClr val="tx1"/>
                </a:solidFill>
              </a:rPr>
              <a:t>如果存在一个对应于串</a:t>
            </a:r>
            <a:r>
              <a:rPr lang="en-US" altLang="zh-CN" sz="2500" b="1" i="1" dirty="0">
                <a:solidFill>
                  <a:schemeClr val="tx1"/>
                </a:solidFill>
              </a:rPr>
              <a:t>x</a:t>
            </a:r>
            <a:r>
              <a:rPr lang="zh-CN" altLang="en-US" sz="2500" b="1" dirty="0">
                <a:solidFill>
                  <a:schemeClr val="tx1"/>
                </a:solidFill>
              </a:rPr>
              <a:t>的从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初始状态</a:t>
            </a:r>
            <a:r>
              <a:rPr lang="zh-CN" altLang="en-US" sz="2500" b="1" dirty="0">
                <a:solidFill>
                  <a:schemeClr val="tx1"/>
                </a:solidFill>
              </a:rPr>
              <a:t>到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某个终止状态</a:t>
            </a:r>
            <a:r>
              <a:rPr lang="zh-CN" altLang="en-US" sz="2500" b="1" dirty="0">
                <a:solidFill>
                  <a:schemeClr val="tx1"/>
                </a:solidFill>
              </a:rPr>
              <a:t>的转换序列，则称</a:t>
            </a:r>
            <a:r>
              <a:rPr lang="zh-CN" altLang="en-US" sz="2500" b="1" dirty="0">
                <a:solidFill>
                  <a:srgbClr val="FF0000"/>
                </a:solidFill>
              </a:rPr>
              <a:t>串</a:t>
            </a:r>
            <a:r>
              <a:rPr lang="en-US" altLang="zh-CN" sz="2500" b="1" i="1" dirty="0">
                <a:solidFill>
                  <a:schemeClr val="tx1"/>
                </a:solidFill>
              </a:rPr>
              <a:t>x</a:t>
            </a:r>
            <a:r>
              <a:rPr lang="zh-CN" altLang="en-US" sz="2500" b="1" dirty="0">
                <a:solidFill>
                  <a:schemeClr val="tx1"/>
                </a:solidFill>
              </a:rPr>
              <a:t>被该</a:t>
            </a:r>
            <a:r>
              <a:rPr lang="en-US" altLang="zh-CN" sz="2500" b="1" i="1" dirty="0">
                <a:solidFill>
                  <a:srgbClr val="FF0000"/>
                </a:solidFill>
              </a:rPr>
              <a:t>FA</a:t>
            </a:r>
            <a:r>
              <a:rPr lang="zh-CN" altLang="en-US" sz="2500" b="1" dirty="0">
                <a:solidFill>
                  <a:srgbClr val="FF0000"/>
                </a:solidFill>
              </a:rPr>
              <a:t>接收</a:t>
            </a:r>
            <a:endParaRPr lang="en-US" altLang="zh-CN" sz="2500" b="1" dirty="0">
              <a:solidFill>
                <a:srgbClr val="FF0000"/>
              </a:solidFill>
            </a:endParaRPr>
          </a:p>
          <a:p>
            <a:pPr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由一个有穷自动机</a:t>
            </a:r>
            <a:r>
              <a:rPr lang="en-US" altLang="zh-CN" sz="2500" b="1" i="1" dirty="0">
                <a:solidFill>
                  <a:schemeClr val="tx1"/>
                </a:solidFill>
              </a:rPr>
              <a:t>M</a:t>
            </a:r>
            <a:r>
              <a:rPr lang="zh-CN" altLang="en-US" sz="2500" b="1" dirty="0">
                <a:solidFill>
                  <a:schemeClr val="tx1"/>
                </a:solidFill>
              </a:rPr>
              <a:t>接收的所有串构成的集合称为是该</a:t>
            </a:r>
            <a:r>
              <a:rPr lang="en-US" altLang="zh-CN" sz="2500" b="1" i="1" dirty="0">
                <a:solidFill>
                  <a:srgbClr val="FF0000"/>
                </a:solidFill>
              </a:rPr>
              <a:t>FA</a:t>
            </a:r>
            <a:r>
              <a:rPr lang="zh-CN" altLang="en-US" sz="2500" b="1" dirty="0">
                <a:solidFill>
                  <a:srgbClr val="FF0000"/>
                </a:solidFill>
              </a:rPr>
              <a:t>定义（或接收）的语言</a:t>
            </a:r>
            <a:r>
              <a:rPr lang="zh-CN" altLang="en-US" sz="2500" b="1" dirty="0">
                <a:solidFill>
                  <a:schemeClr val="tx1"/>
                </a:solidFill>
              </a:rPr>
              <a:t>，记为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L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 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</a:p>
        </p:txBody>
      </p:sp>
      <p:sp>
        <p:nvSpPr>
          <p:cNvPr id="28676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i="1" dirty="0">
                <a:solidFill>
                  <a:schemeClr val="tx1"/>
                </a:solidFill>
              </a:rPr>
              <a:t>FA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定</a:t>
            </a:r>
            <a:r>
              <a:rPr lang="zh-CN" altLang="en-US" sz="3000" spc="-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义（接 收）的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语言</a:t>
            </a:r>
          </a:p>
        </p:txBody>
      </p:sp>
      <p:sp>
        <p:nvSpPr>
          <p:cNvPr id="33797" name="矩形 4"/>
          <p:cNvSpPr>
            <a:spLocks noChangeArrowheads="1"/>
          </p:cNvSpPr>
          <p:nvPr/>
        </p:nvSpPr>
        <p:spPr bwMode="auto">
          <a:xfrm>
            <a:off x="684213" y="4379913"/>
            <a:ext cx="7416800" cy="4778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altLang="zh-CN" sz="2500" b="1" i="1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zh-CN" sz="25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500" b="1" i="1" spc="300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CN" sz="2500" b="1" spc="300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altLang="zh-CN" sz="25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zh-CN" altLang="en-US" sz="2500" b="1" dirty="0">
                <a:latin typeface="楷体" pitchFamily="49" charset="-122"/>
                <a:ea typeface="楷体" pitchFamily="49" charset="-122"/>
              </a:rPr>
              <a:t>所有以</a:t>
            </a:r>
            <a:r>
              <a:rPr lang="en-US" altLang="zh-CN" sz="2500" b="1" i="1" dirty="0" err="1">
                <a:latin typeface="Times New Roman" pitchFamily="18" charset="0"/>
              </a:rPr>
              <a:t>abb</a:t>
            </a:r>
            <a:r>
              <a:rPr lang="zh-CN" altLang="en-US" sz="2500" b="1" dirty="0">
                <a:latin typeface="楷体" pitchFamily="49" charset="-122"/>
                <a:ea typeface="楷体" pitchFamily="49" charset="-122"/>
              </a:rPr>
              <a:t>结尾的字母表</a:t>
            </a:r>
            <a:r>
              <a:rPr lang="en-US" altLang="zh-CN" sz="2500" b="1" dirty="0">
                <a:latin typeface="Times New Roman" pitchFamily="18" charset="0"/>
              </a:rPr>
              <a:t>{</a:t>
            </a:r>
            <a:r>
              <a:rPr lang="en-US" altLang="zh-CN" sz="2500" b="1" i="1" dirty="0">
                <a:latin typeface="Times New Roman" pitchFamily="18" charset="0"/>
              </a:rPr>
              <a:t>a, b</a:t>
            </a:r>
            <a:r>
              <a:rPr lang="en-US" altLang="zh-CN" sz="2500" b="1" dirty="0">
                <a:latin typeface="Times New Roman" pitchFamily="18" charset="0"/>
              </a:rPr>
              <a:t>}</a:t>
            </a:r>
            <a:r>
              <a:rPr lang="zh-CN" altLang="en-US" sz="2500" b="1" dirty="0">
                <a:latin typeface="楷体" pitchFamily="49" charset="-122"/>
                <a:ea typeface="楷体" pitchFamily="49" charset="-122"/>
              </a:rPr>
              <a:t>上的串的集合</a:t>
            </a:r>
            <a:endParaRPr lang="zh-CN" altLang="en-US" sz="2500" b="1" dirty="0"/>
          </a:p>
        </p:txBody>
      </p:sp>
      <p:grpSp>
        <p:nvGrpSpPr>
          <p:cNvPr id="47109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47131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4" name="组合 8"/>
          <p:cNvGrpSpPr>
            <a:grpSpLocks/>
          </p:cNvGrpSpPr>
          <p:nvPr/>
        </p:nvGrpSpPr>
        <p:grpSpPr bwMode="auto">
          <a:xfrm>
            <a:off x="2051050" y="2857500"/>
            <a:ext cx="5500688" cy="1506538"/>
            <a:chOff x="928659" y="3675785"/>
            <a:chExt cx="5500722" cy="1506709"/>
          </a:xfrm>
        </p:grpSpPr>
        <p:grpSp>
          <p:nvGrpSpPr>
            <p:cNvPr id="47112" name="组合 9"/>
            <p:cNvGrpSpPr>
              <a:grpSpLocks/>
            </p:cNvGrpSpPr>
            <p:nvPr/>
          </p:nvGrpSpPr>
          <p:grpSpPr bwMode="auto">
            <a:xfrm>
              <a:off x="928659" y="3675785"/>
              <a:ext cx="5500722" cy="1090002"/>
              <a:chOff x="2339752" y="4162003"/>
              <a:chExt cx="3622043" cy="790575"/>
            </a:xfrm>
          </p:grpSpPr>
          <p:sp>
            <p:nvSpPr>
              <p:cNvPr id="47121" name="Oval 10"/>
              <p:cNvSpPr>
                <a:spLocks noChangeArrowheads="1"/>
              </p:cNvSpPr>
              <p:nvPr/>
            </p:nvSpPr>
            <p:spPr bwMode="auto">
              <a:xfrm>
                <a:off x="3097415" y="4576104"/>
                <a:ext cx="289198" cy="2924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latin typeface="Times New Roman" panose="02020603050405020304" pitchFamily="18" charset="0"/>
                    <a:ea typeface="楷体_GB2312"/>
                    <a:cs typeface="楷体_GB2312"/>
                  </a:rPr>
                  <a:t>0</a:t>
                </a:r>
              </a:p>
            </p:txBody>
          </p:sp>
          <p:sp>
            <p:nvSpPr>
              <p:cNvPr id="47122" name="Line 13"/>
              <p:cNvSpPr>
                <a:spLocks noChangeShapeType="1"/>
              </p:cNvSpPr>
              <p:nvPr/>
            </p:nvSpPr>
            <p:spPr bwMode="auto">
              <a:xfrm>
                <a:off x="3419690" y="4731545"/>
                <a:ext cx="5048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23" name="Line 16"/>
              <p:cNvSpPr>
                <a:spLocks noChangeShapeType="1"/>
              </p:cNvSpPr>
              <p:nvPr/>
            </p:nvSpPr>
            <p:spPr bwMode="auto">
              <a:xfrm>
                <a:off x="4221333" y="4726809"/>
                <a:ext cx="5048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24" name="Line 21"/>
              <p:cNvSpPr>
                <a:spLocks noChangeShapeType="1"/>
              </p:cNvSpPr>
              <p:nvPr/>
            </p:nvSpPr>
            <p:spPr bwMode="auto">
              <a:xfrm>
                <a:off x="5021004" y="4723834"/>
                <a:ext cx="5048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25" name="Oval 23"/>
              <p:cNvSpPr>
                <a:spLocks noChangeArrowheads="1"/>
              </p:cNvSpPr>
              <p:nvPr/>
            </p:nvSpPr>
            <p:spPr bwMode="auto">
              <a:xfrm>
                <a:off x="5594506" y="4572591"/>
                <a:ext cx="289198" cy="2924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latin typeface="Times New Roman" panose="02020603050405020304" pitchFamily="18" charset="0"/>
                    <a:ea typeface="楷体_GB2312"/>
                    <a:cs typeface="楷体_GB2312"/>
                  </a:rPr>
                  <a:t>3</a:t>
                </a:r>
              </a:p>
            </p:txBody>
          </p:sp>
          <p:sp>
            <p:nvSpPr>
              <p:cNvPr id="47126" name="Oval 39"/>
              <p:cNvSpPr>
                <a:spLocks noChangeArrowheads="1"/>
              </p:cNvSpPr>
              <p:nvPr/>
            </p:nvSpPr>
            <p:spPr bwMode="auto">
              <a:xfrm>
                <a:off x="5521481" y="4501154"/>
                <a:ext cx="440314" cy="45142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127" name="Rectangle 22"/>
              <p:cNvSpPr>
                <a:spLocks noChangeArrowheads="1"/>
              </p:cNvSpPr>
              <p:nvPr/>
            </p:nvSpPr>
            <p:spPr bwMode="auto">
              <a:xfrm>
                <a:off x="2339752" y="4581913"/>
                <a:ext cx="504927" cy="2872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start</a:t>
                </a:r>
              </a:p>
            </p:txBody>
          </p:sp>
          <p:sp>
            <p:nvSpPr>
              <p:cNvPr id="47128" name="Line 21"/>
              <p:cNvSpPr>
                <a:spLocks noChangeShapeType="1"/>
              </p:cNvSpPr>
              <p:nvPr/>
            </p:nvSpPr>
            <p:spPr bwMode="auto">
              <a:xfrm flipV="1">
                <a:off x="2844679" y="4725144"/>
                <a:ext cx="252464" cy="895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29" name="Rectangle 22"/>
              <p:cNvSpPr>
                <a:spLocks noChangeArrowheads="1"/>
              </p:cNvSpPr>
              <p:nvPr/>
            </p:nvSpPr>
            <p:spPr bwMode="auto">
              <a:xfrm>
                <a:off x="3139424" y="4162003"/>
                <a:ext cx="504825" cy="287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</p:grpSp>
        <p:sp>
          <p:nvSpPr>
            <p:cNvPr id="47113" name="Rectangle 22"/>
            <p:cNvSpPr>
              <a:spLocks noChangeArrowheads="1"/>
            </p:cNvSpPr>
            <p:nvPr/>
          </p:nvSpPr>
          <p:spPr bwMode="auto">
            <a:xfrm>
              <a:off x="2214546" y="4786328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  <p:sp>
          <p:nvSpPr>
            <p:cNvPr id="47114" name="Oval 10"/>
            <p:cNvSpPr>
              <a:spLocks noChangeArrowheads="1"/>
            </p:cNvSpPr>
            <p:nvPr/>
          </p:nvSpPr>
          <p:spPr bwMode="auto">
            <a:xfrm>
              <a:off x="3346982" y="4240252"/>
              <a:ext cx="439200" cy="4032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</a:p>
          </p:txBody>
        </p:sp>
        <p:sp>
          <p:nvSpPr>
            <p:cNvPr id="47115" name="Oval 10"/>
            <p:cNvSpPr>
              <a:spLocks noChangeArrowheads="1"/>
            </p:cNvSpPr>
            <p:nvPr/>
          </p:nvSpPr>
          <p:spPr bwMode="auto">
            <a:xfrm>
              <a:off x="4561428" y="4240252"/>
              <a:ext cx="439200" cy="4032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</a:p>
          </p:txBody>
        </p:sp>
        <p:sp>
          <p:nvSpPr>
            <p:cNvPr id="47116" name="Rectangle 22"/>
            <p:cNvSpPr>
              <a:spLocks noChangeArrowheads="1"/>
            </p:cNvSpPr>
            <p:nvPr/>
          </p:nvSpPr>
          <p:spPr bwMode="auto">
            <a:xfrm>
              <a:off x="2519448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</a:p>
          </p:txBody>
        </p:sp>
        <p:sp>
          <p:nvSpPr>
            <p:cNvPr id="47117" name="Rectangle 22"/>
            <p:cNvSpPr>
              <a:spLocks noChangeArrowheads="1"/>
            </p:cNvSpPr>
            <p:nvPr/>
          </p:nvSpPr>
          <p:spPr bwMode="auto">
            <a:xfrm>
              <a:off x="3786182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  <p:sp>
          <p:nvSpPr>
            <p:cNvPr id="47118" name="Rectangle 22"/>
            <p:cNvSpPr>
              <a:spLocks noChangeArrowheads="1"/>
            </p:cNvSpPr>
            <p:nvPr/>
          </p:nvSpPr>
          <p:spPr bwMode="auto">
            <a:xfrm>
              <a:off x="4948340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  <p:sp>
          <p:nvSpPr>
            <p:cNvPr id="47119" name="Freeform 11"/>
            <p:cNvSpPr>
              <a:spLocks/>
            </p:cNvSpPr>
            <p:nvPr/>
          </p:nvSpPr>
          <p:spPr bwMode="auto">
            <a:xfrm flipH="1">
              <a:off x="1983454" y="3840019"/>
              <a:ext cx="534010" cy="429463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20" name="Freeform 11"/>
            <p:cNvSpPr>
              <a:spLocks/>
            </p:cNvSpPr>
            <p:nvPr/>
          </p:nvSpPr>
          <p:spPr bwMode="auto">
            <a:xfrm flipH="1" flipV="1">
              <a:off x="1983454" y="4627806"/>
              <a:ext cx="534010" cy="419104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矩形 1"/>
          <p:cNvSpPr/>
          <p:nvPr/>
        </p:nvSpPr>
        <p:spPr>
          <a:xfrm>
            <a:off x="687388" y="3286125"/>
            <a:ext cx="1262062" cy="4603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abbaabb</a:t>
            </a:r>
            <a:endParaRPr lang="zh-CN" altLang="en-US" sz="3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37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37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7" grpId="0" animBg="1"/>
      <p:bldP spid="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625" y="785813"/>
            <a:ext cx="7915275" cy="4233862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</a:rPr>
              <a:t>当输入串的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多个前缀</a:t>
            </a:r>
            <a:r>
              <a:rPr lang="zh-CN" altLang="en-US" sz="2800" b="1" dirty="0">
                <a:solidFill>
                  <a:schemeClr val="tx1"/>
                </a:solidFill>
              </a:rPr>
              <a:t>与一个或多个模式匹配时，总是选择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最长的前缀</a:t>
            </a:r>
            <a:r>
              <a:rPr lang="zh-CN" altLang="en-US" sz="2800" b="1" dirty="0">
                <a:solidFill>
                  <a:schemeClr val="tx1"/>
                </a:solidFill>
              </a:rPr>
              <a:t>进行匹配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endParaRPr lang="en-US" altLang="zh-CN" sz="25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endParaRPr lang="en-US" altLang="zh-CN" sz="25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endParaRPr lang="en-US" altLang="zh-CN" sz="25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在到达某个终态之后，只要输入带上还有</a:t>
            </a:r>
            <a:r>
              <a:rPr lang="zh-CN" altLang="en-US" sz="2500" b="1">
                <a:solidFill>
                  <a:schemeClr val="tx1"/>
                </a:solidFill>
              </a:rPr>
              <a:t>符号，</a:t>
            </a:r>
            <a:r>
              <a:rPr lang="en-US" altLang="zh-CN" sz="2500" b="1" i="1">
                <a:solidFill>
                  <a:schemeClr val="tx1"/>
                </a:solidFill>
              </a:rPr>
              <a:t>FA</a:t>
            </a:r>
            <a:r>
              <a:rPr lang="zh-CN" altLang="en-US" sz="2500" b="1" dirty="0">
                <a:solidFill>
                  <a:schemeClr val="tx1"/>
                </a:solidFill>
              </a:rPr>
              <a:t>就继续前进，以便寻找尽可能长的匹配</a:t>
            </a:r>
          </a:p>
        </p:txBody>
      </p:sp>
      <p:sp>
        <p:nvSpPr>
          <p:cNvPr id="29700" name="标题 1"/>
          <p:cNvSpPr>
            <a:spLocks noGrp="1"/>
          </p:cNvSpPr>
          <p:nvPr>
            <p:ph type="title"/>
          </p:nvPr>
        </p:nvSpPr>
        <p:spPr>
          <a:xfrm>
            <a:off x="571500" y="284163"/>
            <a:ext cx="83883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最长子串匹配原则</a:t>
            </a:r>
            <a:r>
              <a:rPr lang="en-US" altLang="zh-CN" sz="2300" dirty="0">
                <a:solidFill>
                  <a:schemeClr val="tx1"/>
                </a:solidFill>
              </a:rPr>
              <a:t>(</a:t>
            </a:r>
            <a:r>
              <a:rPr lang="en-US" altLang="zh-CN" sz="2300" i="1" dirty="0">
                <a:solidFill>
                  <a:schemeClr val="tx1"/>
                </a:solidFill>
              </a:rPr>
              <a:t>Longest String Matching Principle</a:t>
            </a:r>
            <a:r>
              <a:rPr lang="en-US" altLang="zh-CN" sz="2300" dirty="0">
                <a:solidFill>
                  <a:schemeClr val="tx1"/>
                </a:solidFill>
              </a:rPr>
              <a:t>)</a:t>
            </a:r>
            <a:endParaRPr lang="zh-CN" altLang="en-US" sz="2300" dirty="0">
              <a:solidFill>
                <a:schemeClr val="tx1"/>
              </a:solidFill>
            </a:endParaRPr>
          </a:p>
        </p:txBody>
      </p:sp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1974850" y="1928813"/>
            <a:ext cx="4811713" cy="1685925"/>
            <a:chOff x="2339752" y="4366444"/>
            <a:chExt cx="3168352" cy="1222796"/>
          </a:xfrm>
        </p:grpSpPr>
        <p:sp>
          <p:nvSpPr>
            <p:cNvPr id="49160" name="Oval 10"/>
            <p:cNvSpPr>
              <a:spLocks noChangeArrowheads="1"/>
            </p:cNvSpPr>
            <p:nvPr/>
          </p:nvSpPr>
          <p:spPr bwMode="auto">
            <a:xfrm>
              <a:off x="3129755" y="4510906"/>
              <a:ext cx="360363" cy="36036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  <a:ea typeface="楷体_GB2312"/>
                  <a:cs typeface="楷体_GB2312"/>
                </a:rPr>
                <a:t>0</a:t>
              </a:r>
            </a:p>
          </p:txBody>
        </p:sp>
        <p:sp>
          <p:nvSpPr>
            <p:cNvPr id="49161" name="Line 13"/>
            <p:cNvSpPr>
              <a:spLocks noChangeShapeType="1"/>
            </p:cNvSpPr>
            <p:nvPr/>
          </p:nvSpPr>
          <p:spPr bwMode="auto">
            <a:xfrm>
              <a:off x="3488530" y="4726806"/>
              <a:ext cx="5048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62" name="Rectangle 14"/>
            <p:cNvSpPr>
              <a:spLocks noChangeArrowheads="1"/>
            </p:cNvSpPr>
            <p:nvPr/>
          </p:nvSpPr>
          <p:spPr bwMode="auto">
            <a:xfrm>
              <a:off x="3438369" y="4368912"/>
              <a:ext cx="504825" cy="287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  <a:ea typeface="楷体_GB2312"/>
                  <a:cs typeface="楷体_GB2312"/>
                </a:rPr>
                <a:t>&lt;</a:t>
              </a:r>
            </a:p>
          </p:txBody>
        </p:sp>
        <p:sp>
          <p:nvSpPr>
            <p:cNvPr id="49163" name="Oval 15"/>
            <p:cNvSpPr>
              <a:spLocks noChangeArrowheads="1"/>
            </p:cNvSpPr>
            <p:nvPr/>
          </p:nvSpPr>
          <p:spPr bwMode="auto">
            <a:xfrm>
              <a:off x="4066181" y="4510906"/>
              <a:ext cx="360363" cy="36036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</a:p>
          </p:txBody>
        </p:sp>
        <p:sp>
          <p:nvSpPr>
            <p:cNvPr id="49164" name="Line 16"/>
            <p:cNvSpPr>
              <a:spLocks noChangeShapeType="1"/>
            </p:cNvSpPr>
            <p:nvPr/>
          </p:nvSpPr>
          <p:spPr bwMode="auto">
            <a:xfrm>
              <a:off x="4496964" y="4726806"/>
              <a:ext cx="5048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65" name="Rectangle 17"/>
            <p:cNvSpPr>
              <a:spLocks noChangeArrowheads="1"/>
            </p:cNvSpPr>
            <p:nvPr/>
          </p:nvSpPr>
          <p:spPr bwMode="auto">
            <a:xfrm>
              <a:off x="4496964" y="4366444"/>
              <a:ext cx="504825" cy="287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  <a:ea typeface="楷体_GB2312"/>
                  <a:cs typeface="楷体_GB2312"/>
                </a:rPr>
                <a:t>=</a:t>
              </a:r>
            </a:p>
          </p:txBody>
        </p:sp>
        <p:sp>
          <p:nvSpPr>
            <p:cNvPr id="49166" name="Oval 18"/>
            <p:cNvSpPr>
              <a:spLocks noChangeArrowheads="1"/>
            </p:cNvSpPr>
            <p:nvPr/>
          </p:nvSpPr>
          <p:spPr bwMode="auto">
            <a:xfrm>
              <a:off x="5073797" y="4510906"/>
              <a:ext cx="360363" cy="36036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</a:p>
          </p:txBody>
        </p:sp>
        <p:sp>
          <p:nvSpPr>
            <p:cNvPr id="49167" name="Line 21"/>
            <p:cNvSpPr>
              <a:spLocks noChangeShapeType="1"/>
            </p:cNvSpPr>
            <p:nvPr/>
          </p:nvSpPr>
          <p:spPr bwMode="auto">
            <a:xfrm>
              <a:off x="4499223" y="5376514"/>
              <a:ext cx="5048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68" name="Rectangle 22"/>
            <p:cNvSpPr>
              <a:spLocks noChangeArrowheads="1"/>
            </p:cNvSpPr>
            <p:nvPr/>
          </p:nvSpPr>
          <p:spPr bwMode="auto">
            <a:xfrm>
              <a:off x="4499223" y="5014564"/>
              <a:ext cx="504825" cy="287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  <a:ea typeface="楷体_GB2312"/>
                  <a:cs typeface="楷体_GB2312"/>
                </a:rPr>
                <a:t>+</a:t>
              </a:r>
            </a:p>
          </p:txBody>
        </p:sp>
        <p:sp>
          <p:nvSpPr>
            <p:cNvPr id="49169" name="Oval 23"/>
            <p:cNvSpPr>
              <a:spLocks noChangeArrowheads="1"/>
            </p:cNvSpPr>
            <p:nvPr/>
          </p:nvSpPr>
          <p:spPr bwMode="auto">
            <a:xfrm>
              <a:off x="5077072" y="5157439"/>
              <a:ext cx="360363" cy="36036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  <a:ea typeface="楷体_GB2312"/>
                  <a:cs typeface="楷体_GB2312"/>
                </a:rPr>
                <a:t>4</a:t>
              </a:r>
            </a:p>
          </p:txBody>
        </p:sp>
        <p:sp>
          <p:nvSpPr>
            <p:cNvPr id="49170" name="Oval 39"/>
            <p:cNvSpPr>
              <a:spLocks noChangeArrowheads="1"/>
            </p:cNvSpPr>
            <p:nvPr/>
          </p:nvSpPr>
          <p:spPr bwMode="auto">
            <a:xfrm>
              <a:off x="5004047" y="5086002"/>
              <a:ext cx="503238" cy="50323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171" name="Rectangle 22"/>
            <p:cNvSpPr>
              <a:spLocks noChangeArrowheads="1"/>
            </p:cNvSpPr>
            <p:nvPr/>
          </p:nvSpPr>
          <p:spPr bwMode="auto">
            <a:xfrm>
              <a:off x="2339752" y="4581913"/>
              <a:ext cx="504927" cy="287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sp>
          <p:nvSpPr>
            <p:cNvPr id="49172" name="Line 21"/>
            <p:cNvSpPr>
              <a:spLocks noChangeShapeType="1"/>
            </p:cNvSpPr>
            <p:nvPr/>
          </p:nvSpPr>
          <p:spPr bwMode="auto">
            <a:xfrm flipV="1">
              <a:off x="2844679" y="4725144"/>
              <a:ext cx="252464" cy="89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73" name="Oval 39"/>
            <p:cNvSpPr>
              <a:spLocks noChangeArrowheads="1"/>
            </p:cNvSpPr>
            <p:nvPr/>
          </p:nvSpPr>
          <p:spPr bwMode="auto">
            <a:xfrm>
              <a:off x="5004866" y="4437112"/>
              <a:ext cx="503238" cy="50323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174" name="Line 21"/>
            <p:cNvSpPr>
              <a:spLocks noChangeShapeType="1"/>
            </p:cNvSpPr>
            <p:nvPr/>
          </p:nvSpPr>
          <p:spPr bwMode="auto">
            <a:xfrm>
              <a:off x="3456260" y="4797152"/>
              <a:ext cx="537094" cy="5390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75" name="Rectangle 22"/>
            <p:cNvSpPr>
              <a:spLocks noChangeArrowheads="1"/>
            </p:cNvSpPr>
            <p:nvPr/>
          </p:nvSpPr>
          <p:spPr bwMode="auto">
            <a:xfrm>
              <a:off x="3203848" y="5013176"/>
              <a:ext cx="504825" cy="287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  <a:ea typeface="楷体_GB2312"/>
                  <a:cs typeface="楷体_GB2312"/>
                </a:rPr>
                <a:t>+</a:t>
              </a:r>
            </a:p>
          </p:txBody>
        </p:sp>
        <p:sp>
          <p:nvSpPr>
            <p:cNvPr id="49176" name="Oval 23"/>
            <p:cNvSpPr>
              <a:spLocks noChangeArrowheads="1"/>
            </p:cNvSpPr>
            <p:nvPr/>
          </p:nvSpPr>
          <p:spPr bwMode="auto">
            <a:xfrm>
              <a:off x="4069779" y="5156051"/>
              <a:ext cx="360363" cy="36036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  <a:ea typeface="楷体_GB2312"/>
                  <a:cs typeface="楷体_GB2312"/>
                </a:rPr>
                <a:t>3</a:t>
              </a:r>
            </a:p>
          </p:txBody>
        </p:sp>
        <p:sp>
          <p:nvSpPr>
            <p:cNvPr id="49177" name="Oval 39"/>
            <p:cNvSpPr>
              <a:spLocks noChangeArrowheads="1"/>
            </p:cNvSpPr>
            <p:nvPr/>
          </p:nvSpPr>
          <p:spPr bwMode="auto">
            <a:xfrm>
              <a:off x="3996754" y="5084614"/>
              <a:ext cx="503238" cy="50323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178" name="Oval 39"/>
            <p:cNvSpPr>
              <a:spLocks noChangeArrowheads="1"/>
            </p:cNvSpPr>
            <p:nvPr/>
          </p:nvSpPr>
          <p:spPr bwMode="auto">
            <a:xfrm>
              <a:off x="3996754" y="4437112"/>
              <a:ext cx="503238" cy="50323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9157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26" name="五边形 2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49159" name="五边形 2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内容占位符 1"/>
          <p:cNvSpPr>
            <a:spLocks noGrp="1"/>
          </p:cNvSpPr>
          <p:nvPr>
            <p:ph idx="1"/>
          </p:nvPr>
        </p:nvSpPr>
        <p:spPr>
          <a:xfrm>
            <a:off x="714375" y="857250"/>
            <a:ext cx="8629650" cy="3225800"/>
          </a:xfrm>
        </p:spPr>
        <p:txBody>
          <a:bodyPr/>
          <a:lstStyle/>
          <a:p>
            <a:pPr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tx1"/>
                </a:solidFill>
                <a:latin typeface="楷体" panose="02010609060101010101" pitchFamily="49" charset="-122"/>
              </a:rPr>
              <a:t>确定的</a:t>
            </a:r>
            <a:r>
              <a:rPr lang="en-US" altLang="zh-CN" sz="2800" b="1" i="1">
                <a:solidFill>
                  <a:schemeClr val="tx1"/>
                </a:solidFill>
                <a:ea typeface="宋体" panose="02010600030101010101" pitchFamily="2" charset="-122"/>
              </a:rPr>
              <a:t>FA</a:t>
            </a:r>
            <a:r>
              <a:rPr lang="en-US" altLang="zh-CN" sz="2800" b="1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300" b="1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300" b="1" i="1">
                <a:solidFill>
                  <a:schemeClr val="tx1"/>
                </a:solidFill>
                <a:ea typeface="宋体" panose="02010600030101010101" pitchFamily="2" charset="-122"/>
              </a:rPr>
              <a:t>Deterministic finite automata</a:t>
            </a:r>
            <a:r>
              <a:rPr lang="en-US" altLang="zh-CN" sz="2300" b="1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300" b="1" i="1">
                <a:solidFill>
                  <a:schemeClr val="tx1"/>
                </a:solidFill>
                <a:ea typeface="宋体" panose="02010600030101010101" pitchFamily="2" charset="-122"/>
              </a:rPr>
              <a:t>DFA</a:t>
            </a:r>
            <a:r>
              <a:rPr lang="en-US" altLang="zh-CN" sz="2300" b="1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</a:p>
          <a:p>
            <a:pPr marL="273050" lvl="1"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tx1"/>
                </a:solidFill>
                <a:latin typeface="楷体" panose="02010609060101010101" pitchFamily="49" charset="-122"/>
              </a:rPr>
              <a:t>非确定的</a:t>
            </a:r>
            <a:r>
              <a:rPr lang="en-US" altLang="zh-CN" sz="2800" b="1" i="1">
                <a:solidFill>
                  <a:schemeClr val="tx1"/>
                </a:solidFill>
                <a:ea typeface="宋体" panose="02010600030101010101" pitchFamily="2" charset="-122"/>
              </a:rPr>
              <a:t>FA</a:t>
            </a:r>
            <a:r>
              <a:rPr lang="en-US" altLang="zh-CN" sz="2800" b="1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300" b="1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300" b="1" i="1">
                <a:solidFill>
                  <a:schemeClr val="tx1"/>
                </a:solidFill>
                <a:ea typeface="宋体" panose="02010600030101010101" pitchFamily="2" charset="-122"/>
              </a:rPr>
              <a:t>Nondeterministic finite automata</a:t>
            </a:r>
            <a:r>
              <a:rPr lang="en-US" altLang="zh-CN" sz="2300" b="1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300" b="1" i="1">
                <a:solidFill>
                  <a:schemeClr val="tx1"/>
                </a:solidFill>
                <a:ea typeface="宋体" panose="02010600030101010101" pitchFamily="2" charset="-122"/>
              </a:rPr>
              <a:t>NFA</a:t>
            </a:r>
            <a:r>
              <a:rPr lang="en-US" altLang="zh-CN" sz="2300" b="1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32771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it-IT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3.4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有穷自动机的分类</a:t>
            </a:r>
          </a:p>
        </p:txBody>
      </p:sp>
      <p:grpSp>
        <p:nvGrpSpPr>
          <p:cNvPr id="55300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55302" name="五边形 5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88" y="928688"/>
            <a:ext cx="8429625" cy="4060825"/>
          </a:xfrm>
        </p:spPr>
        <p:txBody>
          <a:bodyPr rtlCol="0">
            <a:noAutofit/>
          </a:bodyPr>
          <a:lstStyle/>
          <a:p>
            <a:pPr marL="0" indent="0" algn="ctr" eaLnBrk="1" fontAlgn="auto" hangingPunct="1">
              <a:spcBef>
                <a:spcPct val="3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defRPr/>
            </a:pP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</a:rPr>
              <a:t>M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</a:rPr>
              <a:t>= (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</a:rPr>
              <a:t>S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</a:rPr>
              <a:t>，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</a:rPr>
              <a:t>Σ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</a:rPr>
              <a:t>，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</a:rPr>
              <a:t>δ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</a:rPr>
              <a:t>，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</a:rPr>
              <a:t>s</a:t>
            </a:r>
            <a:r>
              <a:rPr lang="en-US" altLang="zh-CN" sz="2500" b="1" i="1" baseline="-30000" dirty="0">
                <a:solidFill>
                  <a:schemeClr val="tx1"/>
                </a:solidFill>
                <a:ea typeface="楷体_GB2312" pitchFamily="49" charset="-122"/>
              </a:rPr>
              <a:t>0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</a:rPr>
              <a:t>，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</a:rPr>
              <a:t>F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</a:rPr>
              <a:t>)</a:t>
            </a:r>
          </a:p>
          <a:p>
            <a:pPr marL="274320" indent="-274320" eaLnBrk="1" fontAlgn="auto" hangingPunct="1">
              <a:lnSpc>
                <a:spcPts val="40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</a:rPr>
              <a:t>S</a:t>
            </a:r>
            <a:r>
              <a:rPr lang="zh-CN" altLang="en-US" sz="2500" b="1" dirty="0">
                <a:solidFill>
                  <a:schemeClr val="tx1"/>
                </a:solidFill>
              </a:rPr>
              <a:t>：</a:t>
            </a:r>
            <a:r>
              <a:rPr lang="zh-CN" altLang="en-US" sz="2500" b="1" dirty="0">
                <a:solidFill>
                  <a:srgbClr val="FF0000"/>
                </a:solidFill>
              </a:rPr>
              <a:t>有穷状态集，</a:t>
            </a:r>
            <a:r>
              <a:rPr lang="zh-CN" altLang="en-US" sz="2500" b="1" dirty="0">
                <a:solidFill>
                  <a:schemeClr val="tx1"/>
                </a:solidFill>
              </a:rPr>
              <a:t>包含自动机的所有状态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marL="274320" indent="-274320" eaLnBrk="1" fontAlgn="auto" hangingPunct="1">
              <a:lnSpc>
                <a:spcPts val="40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el-GR" altLang="zh-CN" sz="2500" b="1" i="1" dirty="0">
                <a:solidFill>
                  <a:schemeClr val="tx1"/>
                </a:solidFill>
              </a:rPr>
              <a:t>Σ</a:t>
            </a:r>
            <a:r>
              <a:rPr lang="zh-CN" altLang="el-GR" sz="2500" b="1" dirty="0">
                <a:solidFill>
                  <a:schemeClr val="tx1"/>
                </a:solidFill>
              </a:rPr>
              <a:t>：</a:t>
            </a:r>
            <a:r>
              <a:rPr lang="zh-CN" altLang="en-US" sz="2500" b="1" dirty="0">
                <a:solidFill>
                  <a:srgbClr val="FF0000"/>
                </a:solidFill>
              </a:rPr>
              <a:t>输入字母表</a:t>
            </a:r>
            <a:r>
              <a:rPr lang="zh-CN" altLang="en-US" sz="2500" b="1" dirty="0">
                <a:solidFill>
                  <a:schemeClr val="tx1"/>
                </a:solidFill>
              </a:rPr>
              <a:t>，即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输入符号集合</a:t>
            </a:r>
            <a:r>
              <a:rPr lang="zh-CN" altLang="en-US" sz="2500" b="1" dirty="0">
                <a:solidFill>
                  <a:schemeClr val="tx1"/>
                </a:solidFill>
              </a:rPr>
              <a:t>。约定</a:t>
            </a:r>
            <a:r>
              <a:rPr lang="el-GR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ε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不是 </a:t>
            </a:r>
            <a:r>
              <a:rPr lang="el-GR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Σ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中的元素</a:t>
            </a:r>
          </a:p>
          <a:p>
            <a:pPr marL="274320" indent="-274320" eaLnBrk="1" fontAlgn="auto" hangingPunct="1">
              <a:lnSpc>
                <a:spcPts val="40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el-GR" altLang="zh-CN" sz="2500" b="1" i="1" dirty="0">
                <a:solidFill>
                  <a:schemeClr val="tx1"/>
                </a:solidFill>
              </a:rPr>
              <a:t>δ</a:t>
            </a:r>
            <a:r>
              <a:rPr lang="zh-CN" altLang="el-GR" sz="2500" b="1" dirty="0">
                <a:solidFill>
                  <a:schemeClr val="tx1"/>
                </a:solidFill>
              </a:rPr>
              <a:t>：</a:t>
            </a:r>
            <a:r>
              <a:rPr lang="zh-CN" altLang="en-US" sz="2500" b="1" dirty="0">
                <a:solidFill>
                  <a:schemeClr val="tx1"/>
                </a:solidFill>
              </a:rPr>
              <a:t>将</a:t>
            </a:r>
            <a:r>
              <a:rPr lang="en-US" altLang="zh-CN" sz="2500" b="1" i="1" dirty="0">
                <a:solidFill>
                  <a:schemeClr val="tx1"/>
                </a:solidFill>
              </a:rPr>
              <a:t>S</a:t>
            </a:r>
            <a:r>
              <a:rPr lang="en-US" altLang="zh-CN" sz="2500" b="1" dirty="0">
                <a:solidFill>
                  <a:schemeClr val="tx1"/>
                </a:solidFill>
              </a:rPr>
              <a:t>×</a:t>
            </a:r>
            <a:r>
              <a:rPr lang="el-GR" altLang="zh-CN" sz="2500" b="1" i="1" dirty="0">
                <a:solidFill>
                  <a:schemeClr val="tx1"/>
                </a:solidFill>
              </a:rPr>
              <a:t>Σ</a:t>
            </a:r>
            <a:r>
              <a:rPr lang="zh-CN" altLang="en-US" sz="2500" b="1" dirty="0">
                <a:solidFill>
                  <a:schemeClr val="tx1"/>
                </a:solidFill>
              </a:rPr>
              <a:t>映射到</a:t>
            </a:r>
            <a:r>
              <a:rPr lang="en-US" altLang="zh-CN" sz="2500" b="1" i="1" dirty="0">
                <a:solidFill>
                  <a:schemeClr val="tx1"/>
                </a:solidFill>
              </a:rPr>
              <a:t>S</a:t>
            </a:r>
            <a:r>
              <a:rPr lang="zh-CN" altLang="en-US" sz="2500" b="1" dirty="0">
                <a:solidFill>
                  <a:schemeClr val="tx1"/>
                </a:solidFill>
              </a:rPr>
              <a:t>的</a:t>
            </a:r>
            <a:r>
              <a:rPr lang="zh-CN" altLang="en-US" sz="2500" b="1" dirty="0">
                <a:solidFill>
                  <a:srgbClr val="FF0000"/>
                </a:solidFill>
              </a:rPr>
              <a:t>状态转换函数</a:t>
            </a:r>
            <a:r>
              <a:rPr lang="zh-CN" altLang="en-US" sz="2500" b="1" dirty="0">
                <a:solidFill>
                  <a:schemeClr val="tx1"/>
                </a:solidFill>
              </a:rPr>
              <a:t>。</a:t>
            </a:r>
            <a:r>
              <a:rPr lang="zh-CN" altLang="en-US" sz="1800" b="1" dirty="0">
                <a:solidFill>
                  <a:srgbClr val="073E87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5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500" b="1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∈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,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a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∈</a:t>
            </a:r>
            <a:r>
              <a:rPr lang="el-GR" altLang="zh-CN" sz="2500" b="1" i="1" dirty="0">
                <a:solidFill>
                  <a:schemeClr val="tx1"/>
                </a:solidFill>
              </a:rPr>
              <a:t>Σ</a:t>
            </a:r>
            <a:r>
              <a:rPr lang="en-US" altLang="zh-CN" sz="2500" b="1" dirty="0">
                <a:solidFill>
                  <a:schemeClr val="tx1"/>
                </a:solidFill>
              </a:rPr>
              <a:t>,</a:t>
            </a:r>
            <a:r>
              <a:rPr lang="el-GR" altLang="zh-CN" sz="2500" b="1" dirty="0">
                <a:solidFill>
                  <a:schemeClr val="tx1"/>
                </a:solidFill>
              </a:rPr>
              <a:t> </a:t>
            </a:r>
            <a:r>
              <a:rPr lang="el-GR" altLang="zh-CN" sz="2500" b="1" i="1" dirty="0">
                <a:solidFill>
                  <a:schemeClr val="tx1"/>
                </a:solidFill>
              </a:rPr>
              <a:t>δ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s</a:t>
            </a:r>
            <a:r>
              <a:rPr lang="en-US" altLang="zh-CN" sz="2500" b="1" dirty="0" err="1">
                <a:solidFill>
                  <a:schemeClr val="tx1"/>
                </a:solidFill>
              </a:rPr>
              <a:t>,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</a:rPr>
              <a:t>)</a:t>
            </a:r>
            <a:r>
              <a:rPr lang="zh-CN" altLang="en-US" sz="2500" b="1" dirty="0">
                <a:solidFill>
                  <a:schemeClr val="tx1"/>
                </a:solidFill>
              </a:rPr>
              <a:t>表示从状态</a:t>
            </a:r>
            <a:r>
              <a:rPr lang="en-US" altLang="zh-CN" sz="2500" b="1" i="1" dirty="0">
                <a:solidFill>
                  <a:schemeClr val="tx1"/>
                </a:solidFill>
              </a:rPr>
              <a:t>s</a:t>
            </a:r>
            <a:r>
              <a:rPr lang="zh-CN" altLang="en-US" sz="2500" b="1" dirty="0">
                <a:solidFill>
                  <a:schemeClr val="tx1"/>
                </a:solidFill>
              </a:rPr>
              <a:t>出发，沿着标记为</a:t>
            </a:r>
            <a:r>
              <a:rPr lang="en-US" altLang="zh-CN" sz="2500" b="1" i="1" dirty="0">
                <a:solidFill>
                  <a:schemeClr val="tx1"/>
                </a:solidFill>
              </a:rPr>
              <a:t>a</a:t>
            </a:r>
            <a:r>
              <a:rPr lang="zh-CN" altLang="en-US" sz="2500" b="1" dirty="0">
                <a:solidFill>
                  <a:schemeClr val="tx1"/>
                </a:solidFill>
              </a:rPr>
              <a:t>的边所能到达的状态。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marL="274320" indent="-274320" eaLnBrk="1" fontAlgn="auto" hangingPunct="1">
              <a:lnSpc>
                <a:spcPts val="40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</a:rPr>
              <a:t>s</a:t>
            </a:r>
            <a:r>
              <a:rPr lang="en-US" altLang="zh-CN" sz="2500" b="1" i="1" baseline="-25000" dirty="0">
                <a:solidFill>
                  <a:schemeClr val="tx1"/>
                </a:solidFill>
              </a:rPr>
              <a:t>0</a:t>
            </a:r>
            <a:r>
              <a:rPr lang="zh-CN" altLang="en-US" sz="2500" b="1" dirty="0">
                <a:solidFill>
                  <a:schemeClr val="tx1"/>
                </a:solidFill>
              </a:rPr>
              <a:t>：</a:t>
            </a:r>
            <a:r>
              <a:rPr lang="zh-CN" altLang="en-US" sz="2500" b="1" dirty="0">
                <a:solidFill>
                  <a:srgbClr val="FF0000"/>
                </a:solidFill>
              </a:rPr>
              <a:t>开始状态 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zh-CN" altLang="en-US" sz="2500" b="1" dirty="0">
                <a:solidFill>
                  <a:schemeClr val="tx1"/>
                </a:solidFill>
              </a:rPr>
              <a:t>或初始状态</a:t>
            </a:r>
            <a:r>
              <a:rPr lang="en-US" altLang="zh-CN" sz="2500" b="1" dirty="0">
                <a:solidFill>
                  <a:schemeClr val="tx1"/>
                </a:solidFill>
              </a:rPr>
              <a:t>)</a:t>
            </a:r>
            <a:r>
              <a:rPr lang="zh-CN" altLang="en-US" sz="2500" b="1" dirty="0">
                <a:solidFill>
                  <a:schemeClr val="tx1"/>
                </a:solidFill>
              </a:rPr>
              <a:t>，</a:t>
            </a:r>
            <a:r>
              <a:rPr lang="en-US" altLang="zh-CN" sz="2500" b="1" i="1" dirty="0">
                <a:solidFill>
                  <a:schemeClr val="tx1"/>
                </a:solidFill>
              </a:rPr>
              <a:t>s</a:t>
            </a:r>
            <a:r>
              <a:rPr lang="en-US" altLang="zh-CN" sz="2500" b="1" i="1" baseline="-25000" dirty="0">
                <a:solidFill>
                  <a:schemeClr val="tx1"/>
                </a:solidFill>
              </a:rPr>
              <a:t>0</a:t>
            </a:r>
            <a:r>
              <a:rPr lang="en-US" altLang="zh-CN" sz="2500" b="1" dirty="0">
                <a:solidFill>
                  <a:schemeClr val="tx1"/>
                </a:solidFill>
              </a:rPr>
              <a:t>∈ </a:t>
            </a:r>
            <a:r>
              <a:rPr lang="en-US" altLang="zh-CN" sz="2500" b="1" i="1" dirty="0">
                <a:solidFill>
                  <a:schemeClr val="tx1"/>
                </a:solidFill>
              </a:rPr>
              <a:t>S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marL="274320" indent="-274320" eaLnBrk="1" fontAlgn="auto" hangingPunct="1">
              <a:lnSpc>
                <a:spcPts val="40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</a:rPr>
              <a:t>F</a:t>
            </a:r>
            <a:r>
              <a:rPr lang="zh-CN" altLang="en-US" sz="2500" b="1" dirty="0">
                <a:solidFill>
                  <a:schemeClr val="tx1"/>
                </a:solidFill>
              </a:rPr>
              <a:t>：</a:t>
            </a:r>
            <a:r>
              <a:rPr lang="zh-CN" altLang="en-US" sz="2500" b="1" dirty="0">
                <a:solidFill>
                  <a:srgbClr val="FF0000"/>
                </a:solidFill>
              </a:rPr>
              <a:t>接收状态</a:t>
            </a:r>
            <a:r>
              <a:rPr lang="zh-CN" altLang="en-US" sz="2500" b="1" dirty="0">
                <a:solidFill>
                  <a:schemeClr val="tx1"/>
                </a:solidFill>
              </a:rPr>
              <a:t>（或终止状态）</a:t>
            </a:r>
            <a:r>
              <a:rPr lang="zh-CN" altLang="en-US" sz="2500" b="1" dirty="0">
                <a:solidFill>
                  <a:srgbClr val="FF0000"/>
                </a:solidFill>
              </a:rPr>
              <a:t>集合</a:t>
            </a:r>
            <a:r>
              <a:rPr lang="zh-CN" altLang="en-US" sz="2500" b="1" dirty="0">
                <a:solidFill>
                  <a:schemeClr val="tx1"/>
                </a:solidFill>
              </a:rPr>
              <a:t>，</a:t>
            </a:r>
            <a:r>
              <a:rPr lang="en-US" altLang="zh-CN" sz="2500" b="1" i="1" dirty="0">
                <a:solidFill>
                  <a:schemeClr val="tx1"/>
                </a:solidFill>
              </a:rPr>
              <a:t>F</a:t>
            </a:r>
            <a:r>
              <a:rPr lang="en-US" altLang="zh-CN" sz="2500" b="1" dirty="0">
                <a:solidFill>
                  <a:schemeClr val="tx1"/>
                </a:solidFill>
              </a:rPr>
              <a:t>⊆ </a:t>
            </a:r>
            <a:r>
              <a:rPr lang="en-US" altLang="zh-CN" sz="2500" b="1" i="1" dirty="0">
                <a:solidFill>
                  <a:schemeClr val="tx1"/>
                </a:solidFill>
              </a:rPr>
              <a:t>S</a:t>
            </a:r>
            <a:endParaRPr lang="zh-CN" altLang="en-US" sz="2500" b="1" dirty="0">
              <a:solidFill>
                <a:schemeClr val="tx1"/>
              </a:solidFill>
            </a:endParaRPr>
          </a:p>
        </p:txBody>
      </p:sp>
      <p:sp>
        <p:nvSpPr>
          <p:cNvPr id="33796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确定的有穷自动机 </a:t>
            </a:r>
            <a:r>
              <a:rPr lang="en-US" altLang="zh-CN" sz="3200" spc="300" dirty="0">
                <a:solidFill>
                  <a:schemeClr val="tx1"/>
                </a:solidFill>
                <a:ea typeface="楷体_GB2312" pitchFamily="49" charset="-122"/>
              </a:rPr>
              <a:t>(</a:t>
            </a:r>
            <a:r>
              <a:rPr lang="en-US" altLang="zh-CN" sz="3200" i="1" dirty="0">
                <a:solidFill>
                  <a:schemeClr val="tx1"/>
                </a:solidFill>
                <a:cs typeface="Times New Roman" pitchFamily="18" charset="0"/>
              </a:rPr>
              <a:t>DFA</a:t>
            </a:r>
            <a:r>
              <a:rPr lang="en-US" altLang="zh-CN" sz="3200" spc="300" dirty="0">
                <a:solidFill>
                  <a:schemeClr val="tx1"/>
                </a:solidFill>
                <a:ea typeface="楷体_GB2312" pitchFamily="49" charset="-122"/>
              </a:rPr>
              <a:t>) </a:t>
            </a:r>
            <a:endParaRPr lang="zh-CN" altLang="en-US" sz="3000" spc="300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grpSp>
        <p:nvGrpSpPr>
          <p:cNvPr id="57348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57350" name="五边形 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FFB3243B-B8FF-ACBF-4644-DB934D8A6704}"/>
              </a:ext>
            </a:extLst>
          </p:cNvPr>
          <p:cNvSpPr txBox="1"/>
          <p:nvPr/>
        </p:nvSpPr>
        <p:spPr>
          <a:xfrm>
            <a:off x="1403648" y="238708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笛卡尔乘积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例：一个</a:t>
            </a:r>
            <a:r>
              <a:rPr lang="en-US" altLang="zh-CN" sz="3000" i="1" dirty="0">
                <a:solidFill>
                  <a:schemeClr val="tx1"/>
                </a:solidFill>
              </a:rPr>
              <a:t>DFA</a:t>
            </a:r>
            <a:endParaRPr lang="zh-CN" altLang="en-US" sz="3000" i="1" dirty="0">
              <a:solidFill>
                <a:schemeClr val="tx1"/>
              </a:solidFill>
            </a:endParaRPr>
          </a:p>
        </p:txBody>
      </p:sp>
      <p:grpSp>
        <p:nvGrpSpPr>
          <p:cNvPr id="59395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9" name="五边形 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59458" name="五边形 10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59396" name="内容占位符 2"/>
          <p:cNvSpPr txBox="1">
            <a:spLocks/>
          </p:cNvSpPr>
          <p:nvPr/>
        </p:nvSpPr>
        <p:spPr bwMode="auto">
          <a:xfrm>
            <a:off x="357188" y="928688"/>
            <a:ext cx="842962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en-US" altLang="zh-CN" sz="2500" b="1" i="1">
                <a:latin typeface="Times New Roman" panose="02020603050405020304" pitchFamily="18" charset="0"/>
                <a:ea typeface="楷体_GB2312"/>
                <a:cs typeface="楷体_GB2312"/>
              </a:rPr>
              <a:t>M </a:t>
            </a:r>
            <a:r>
              <a:rPr lang="en-US" altLang="zh-CN" sz="2500" b="1">
                <a:latin typeface="Times New Roman" panose="02020603050405020304" pitchFamily="18" charset="0"/>
                <a:ea typeface="楷体_GB2312"/>
                <a:cs typeface="楷体_GB2312"/>
              </a:rPr>
              <a:t>= ( </a:t>
            </a:r>
            <a:r>
              <a:rPr lang="en-US" altLang="zh-CN" sz="2500" b="1" i="1"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2500" b="1">
                <a:latin typeface="Times New Roman" panose="02020603050405020304" pitchFamily="18" charset="0"/>
                <a:ea typeface="楷体_GB2312"/>
                <a:cs typeface="楷体_GB2312"/>
              </a:rPr>
              <a:t>，</a:t>
            </a:r>
            <a:r>
              <a:rPr lang="en-US" altLang="zh-CN" sz="2500" b="1" i="1">
                <a:latin typeface="Times New Roman" panose="02020603050405020304" pitchFamily="18" charset="0"/>
                <a:ea typeface="楷体_GB2312"/>
                <a:cs typeface="楷体_GB2312"/>
              </a:rPr>
              <a:t>Σ </a:t>
            </a:r>
            <a:r>
              <a:rPr lang="en-US" altLang="zh-CN" sz="2500" b="1">
                <a:latin typeface="Times New Roman" panose="02020603050405020304" pitchFamily="18" charset="0"/>
                <a:ea typeface="楷体_GB2312"/>
                <a:cs typeface="楷体_GB2312"/>
              </a:rPr>
              <a:t>，</a:t>
            </a:r>
            <a:r>
              <a:rPr lang="en-US" altLang="zh-CN" sz="2500" b="1" i="1">
                <a:latin typeface="Times New Roman" panose="02020603050405020304" pitchFamily="18" charset="0"/>
                <a:ea typeface="楷体_GB2312"/>
                <a:cs typeface="楷体_GB2312"/>
              </a:rPr>
              <a:t>δ</a:t>
            </a:r>
            <a:r>
              <a:rPr lang="en-US" altLang="zh-CN" sz="2500" b="1">
                <a:latin typeface="Times New Roman" panose="02020603050405020304" pitchFamily="18" charset="0"/>
                <a:ea typeface="楷体_GB2312"/>
                <a:cs typeface="楷体_GB2312"/>
              </a:rPr>
              <a:t>，</a:t>
            </a:r>
            <a:r>
              <a:rPr lang="en-US" altLang="zh-CN" sz="2500" b="1" i="1"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2500" b="1" i="1" baseline="-30000">
                <a:latin typeface="Times New Roman" panose="02020603050405020304" pitchFamily="18" charset="0"/>
                <a:ea typeface="楷体_GB2312"/>
                <a:cs typeface="楷体_GB2312"/>
              </a:rPr>
              <a:t>0</a:t>
            </a:r>
            <a:r>
              <a:rPr lang="en-US" altLang="zh-CN" sz="2500" b="1">
                <a:latin typeface="Times New Roman" panose="02020603050405020304" pitchFamily="18" charset="0"/>
                <a:ea typeface="楷体_GB2312"/>
                <a:cs typeface="楷体_GB2312"/>
              </a:rPr>
              <a:t>，</a:t>
            </a:r>
            <a:r>
              <a:rPr lang="en-US" altLang="zh-CN" sz="2500" b="1" i="1">
                <a:latin typeface="Times New Roman" panose="02020603050405020304" pitchFamily="18" charset="0"/>
                <a:ea typeface="楷体_GB2312"/>
                <a:cs typeface="楷体_GB2312"/>
              </a:rPr>
              <a:t>F </a:t>
            </a:r>
            <a:r>
              <a:rPr lang="en-US" altLang="zh-CN" sz="2500" b="1"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</a:p>
        </p:txBody>
      </p:sp>
      <p:graphicFrame>
        <p:nvGraphicFramePr>
          <p:cNvPr id="14" name="Group 18"/>
          <p:cNvGraphicFramePr>
            <a:graphicFrameLocks noGrp="1"/>
          </p:cNvGraphicFramePr>
          <p:nvPr/>
        </p:nvGraphicFramePr>
        <p:xfrm>
          <a:off x="5891213" y="1990725"/>
          <a:ext cx="3000375" cy="1866900"/>
        </p:xfrm>
        <a:graphic>
          <a:graphicData uri="http://schemas.openxmlformats.org/drawingml/2006/table">
            <a:tbl>
              <a:tblPr/>
              <a:tblGrid>
                <a:gridCol w="931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25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64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9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a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b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48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96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95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636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9423" name="组合 38"/>
          <p:cNvGrpSpPr>
            <a:grpSpLocks/>
          </p:cNvGrpSpPr>
          <p:nvPr/>
        </p:nvGrpSpPr>
        <p:grpSpPr bwMode="auto">
          <a:xfrm>
            <a:off x="179388" y="1787525"/>
            <a:ext cx="5500687" cy="2000250"/>
            <a:chOff x="3500427" y="2928940"/>
            <a:chExt cx="5500722" cy="2000264"/>
          </a:xfrm>
        </p:grpSpPr>
        <p:grpSp>
          <p:nvGrpSpPr>
            <p:cNvPr id="59431" name="组合 35"/>
            <p:cNvGrpSpPr>
              <a:grpSpLocks/>
            </p:cNvGrpSpPr>
            <p:nvPr/>
          </p:nvGrpSpPr>
          <p:grpSpPr bwMode="auto">
            <a:xfrm>
              <a:off x="3500427" y="2928940"/>
              <a:ext cx="5500722" cy="1928826"/>
              <a:chOff x="3500427" y="2928940"/>
              <a:chExt cx="5500722" cy="1928826"/>
            </a:xfrm>
          </p:grpSpPr>
          <p:grpSp>
            <p:nvGrpSpPr>
              <p:cNvPr id="59434" name="组合 10"/>
              <p:cNvGrpSpPr>
                <a:grpSpLocks/>
              </p:cNvGrpSpPr>
              <p:nvPr/>
            </p:nvGrpSpPr>
            <p:grpSpPr bwMode="auto">
              <a:xfrm>
                <a:off x="3500427" y="3175719"/>
                <a:ext cx="5500722" cy="1348737"/>
                <a:chOff x="928659" y="3675785"/>
                <a:chExt cx="5500722" cy="1348737"/>
              </a:xfrm>
            </p:grpSpPr>
            <p:grpSp>
              <p:nvGrpSpPr>
                <p:cNvPr id="59440" name="组合 9"/>
                <p:cNvGrpSpPr>
                  <a:grpSpLocks/>
                </p:cNvGrpSpPr>
                <p:nvPr/>
              </p:nvGrpSpPr>
              <p:grpSpPr bwMode="auto">
                <a:xfrm>
                  <a:off x="928659" y="3675785"/>
                  <a:ext cx="5500722" cy="1090002"/>
                  <a:chOff x="2339752" y="4162003"/>
                  <a:chExt cx="3622043" cy="790575"/>
                </a:xfrm>
              </p:grpSpPr>
              <p:sp>
                <p:nvSpPr>
                  <p:cNvPr id="59448" name="Oval 10"/>
                  <p:cNvSpPr>
                    <a:spLocks noChangeArrowheads="1"/>
                  </p:cNvSpPr>
                  <p:nvPr/>
                </p:nvSpPr>
                <p:spPr bwMode="auto">
                  <a:xfrm>
                    <a:off x="3097415" y="4576104"/>
                    <a:ext cx="289198" cy="292440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sz="2000" b="1">
                        <a:latin typeface="Times New Roman" panose="02020603050405020304" pitchFamily="18" charset="0"/>
                        <a:ea typeface="楷体_GB2312"/>
                        <a:cs typeface="楷体_GB2312"/>
                      </a:rPr>
                      <a:t>0</a:t>
                    </a:r>
                  </a:p>
                </p:txBody>
              </p:sp>
              <p:sp>
                <p:nvSpPr>
                  <p:cNvPr id="59449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3419690" y="4731545"/>
                    <a:ext cx="504825" cy="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9450" name="Line 16"/>
                  <p:cNvSpPr>
                    <a:spLocks noChangeShapeType="1"/>
                  </p:cNvSpPr>
                  <p:nvPr/>
                </p:nvSpPr>
                <p:spPr bwMode="auto">
                  <a:xfrm>
                    <a:off x="4221333" y="4726809"/>
                    <a:ext cx="504825" cy="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9451" name="Line 21"/>
                  <p:cNvSpPr>
                    <a:spLocks noChangeShapeType="1"/>
                  </p:cNvSpPr>
                  <p:nvPr/>
                </p:nvSpPr>
                <p:spPr bwMode="auto">
                  <a:xfrm>
                    <a:off x="5021004" y="4723834"/>
                    <a:ext cx="504825" cy="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9452" name="Oval 23"/>
                  <p:cNvSpPr>
                    <a:spLocks noChangeArrowheads="1"/>
                  </p:cNvSpPr>
                  <p:nvPr/>
                </p:nvSpPr>
                <p:spPr bwMode="auto">
                  <a:xfrm>
                    <a:off x="5594506" y="4572591"/>
                    <a:ext cx="289198" cy="292440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sz="2000" b="1">
                        <a:latin typeface="Times New Roman" panose="02020603050405020304" pitchFamily="18" charset="0"/>
                        <a:ea typeface="楷体_GB2312"/>
                        <a:cs typeface="楷体_GB2312"/>
                      </a:rPr>
                      <a:t>3</a:t>
                    </a:r>
                  </a:p>
                </p:txBody>
              </p:sp>
              <p:sp>
                <p:nvSpPr>
                  <p:cNvPr id="59453" name="Oval 39"/>
                  <p:cNvSpPr>
                    <a:spLocks noChangeArrowheads="1"/>
                  </p:cNvSpPr>
                  <p:nvPr/>
                </p:nvSpPr>
                <p:spPr bwMode="auto">
                  <a:xfrm>
                    <a:off x="5521481" y="4501154"/>
                    <a:ext cx="440314" cy="451424"/>
                  </a:xfrm>
                  <a:prstGeom prst="ellips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 i="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9454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2339752" y="4581913"/>
                    <a:ext cx="504927" cy="28724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b="1" i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_GB2312"/>
                        <a:cs typeface="楷体_GB2312"/>
                      </a:rPr>
                      <a:t>start</a:t>
                    </a:r>
                  </a:p>
                </p:txBody>
              </p:sp>
              <p:sp>
                <p:nvSpPr>
                  <p:cNvPr id="59455" name="Line 2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4679" y="4725144"/>
                    <a:ext cx="252464" cy="8957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9456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3139424" y="4162003"/>
                    <a:ext cx="504825" cy="28733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b="1" i="1">
                        <a:latin typeface="Times New Roman" panose="02020603050405020304" pitchFamily="18" charset="0"/>
                        <a:ea typeface="楷体_GB2312"/>
                        <a:cs typeface="楷体_GB2312"/>
                      </a:rPr>
                      <a:t>b</a:t>
                    </a:r>
                  </a:p>
                </p:txBody>
              </p:sp>
            </p:grpSp>
            <p:sp>
              <p:nvSpPr>
                <p:cNvPr id="59441" name="Oval 10"/>
                <p:cNvSpPr>
                  <a:spLocks noChangeArrowheads="1"/>
                </p:cNvSpPr>
                <p:nvPr/>
              </p:nvSpPr>
              <p:spPr bwMode="auto">
                <a:xfrm>
                  <a:off x="3346982" y="4240252"/>
                  <a:ext cx="439200" cy="403200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>
                      <a:latin typeface="Times New Roman" panose="02020603050405020304" pitchFamily="18" charset="0"/>
                      <a:ea typeface="楷体_GB2312"/>
                      <a:cs typeface="楷体_GB2312"/>
                    </a:rPr>
                    <a:t>1</a:t>
                  </a:r>
                </a:p>
              </p:txBody>
            </p:sp>
            <p:sp>
              <p:nvSpPr>
                <p:cNvPr id="59442" name="Oval 10"/>
                <p:cNvSpPr>
                  <a:spLocks noChangeArrowheads="1"/>
                </p:cNvSpPr>
                <p:nvPr/>
              </p:nvSpPr>
              <p:spPr bwMode="auto">
                <a:xfrm>
                  <a:off x="4561428" y="4240252"/>
                  <a:ext cx="439200" cy="403200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>
                      <a:latin typeface="Times New Roman" panose="02020603050405020304" pitchFamily="18" charset="0"/>
                      <a:ea typeface="楷体_GB2312"/>
                      <a:cs typeface="楷体_GB2312"/>
                    </a:rPr>
                    <a:t>2</a:t>
                  </a:r>
                </a:p>
              </p:txBody>
            </p:sp>
            <p:sp>
              <p:nvSpPr>
                <p:cNvPr id="59443" name="Rectangle 22"/>
                <p:cNvSpPr>
                  <a:spLocks noChangeArrowheads="1"/>
                </p:cNvSpPr>
                <p:nvPr/>
              </p:nvSpPr>
              <p:spPr bwMode="auto">
                <a:xfrm>
                  <a:off x="2519448" y="4104410"/>
                  <a:ext cx="766668" cy="3961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 i="1">
                      <a:latin typeface="Times New Roman" panose="02020603050405020304" pitchFamily="18" charset="0"/>
                      <a:ea typeface="楷体_GB2312"/>
                      <a:cs typeface="楷体_GB2312"/>
                    </a:rPr>
                    <a:t>a</a:t>
                  </a:r>
                </a:p>
              </p:txBody>
            </p:sp>
            <p:sp>
              <p:nvSpPr>
                <p:cNvPr id="59444" name="Rectangle 22"/>
                <p:cNvSpPr>
                  <a:spLocks noChangeArrowheads="1"/>
                </p:cNvSpPr>
                <p:nvPr/>
              </p:nvSpPr>
              <p:spPr bwMode="auto">
                <a:xfrm>
                  <a:off x="3786182" y="4104410"/>
                  <a:ext cx="766668" cy="3961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 i="1">
                      <a:latin typeface="Times New Roman" panose="02020603050405020304" pitchFamily="18" charset="0"/>
                      <a:ea typeface="楷体_GB2312"/>
                      <a:cs typeface="楷体_GB2312"/>
                    </a:rPr>
                    <a:t>b</a:t>
                  </a:r>
                </a:p>
              </p:txBody>
            </p:sp>
            <p:sp>
              <p:nvSpPr>
                <p:cNvPr id="59445" name="Rectangle 22"/>
                <p:cNvSpPr>
                  <a:spLocks noChangeArrowheads="1"/>
                </p:cNvSpPr>
                <p:nvPr/>
              </p:nvSpPr>
              <p:spPr bwMode="auto">
                <a:xfrm>
                  <a:off x="4948340" y="4104410"/>
                  <a:ext cx="766668" cy="3961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 i="1">
                      <a:latin typeface="Times New Roman" panose="02020603050405020304" pitchFamily="18" charset="0"/>
                      <a:ea typeface="楷体_GB2312"/>
                      <a:cs typeface="楷体_GB2312"/>
                    </a:rPr>
                    <a:t>b</a:t>
                  </a:r>
                </a:p>
              </p:txBody>
            </p:sp>
            <p:sp>
              <p:nvSpPr>
                <p:cNvPr id="59446" name="Freeform 11"/>
                <p:cNvSpPr>
                  <a:spLocks/>
                </p:cNvSpPr>
                <p:nvPr/>
              </p:nvSpPr>
              <p:spPr bwMode="auto">
                <a:xfrm flipH="1">
                  <a:off x="2000232" y="3856799"/>
                  <a:ext cx="534010" cy="429463"/>
                </a:xfrm>
                <a:custGeom>
                  <a:avLst/>
                  <a:gdLst>
                    <a:gd name="T0" fmla="*/ 2147483646 w 241"/>
                    <a:gd name="T1" fmla="*/ 2147483646 h 189"/>
                    <a:gd name="T2" fmla="*/ 2147483646 w 241"/>
                    <a:gd name="T3" fmla="*/ 2147483646 h 189"/>
                    <a:gd name="T4" fmla="*/ 2147483646 w 241"/>
                    <a:gd name="T5" fmla="*/ 2147483646 h 189"/>
                    <a:gd name="T6" fmla="*/ 2147483646 w 241"/>
                    <a:gd name="T7" fmla="*/ 2147483646 h 189"/>
                    <a:gd name="T8" fmla="*/ 2147483646 w 241"/>
                    <a:gd name="T9" fmla="*/ 2147483646 h 18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1"/>
                    <a:gd name="T16" fmla="*/ 0 h 189"/>
                    <a:gd name="T17" fmla="*/ 241 w 241"/>
                    <a:gd name="T18" fmla="*/ 189 h 18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1" h="189">
                      <a:moveTo>
                        <a:pt x="52" y="189"/>
                      </a:moveTo>
                      <a:cubicBezTo>
                        <a:pt x="26" y="181"/>
                        <a:pt x="0" y="173"/>
                        <a:pt x="7" y="143"/>
                      </a:cubicBezTo>
                      <a:cubicBezTo>
                        <a:pt x="14" y="113"/>
                        <a:pt x="59" y="14"/>
                        <a:pt x="97" y="7"/>
                      </a:cubicBezTo>
                      <a:cubicBezTo>
                        <a:pt x="135" y="0"/>
                        <a:pt x="225" y="68"/>
                        <a:pt x="233" y="98"/>
                      </a:cubicBezTo>
                      <a:cubicBezTo>
                        <a:pt x="241" y="128"/>
                        <a:pt x="192" y="158"/>
                        <a:pt x="143" y="189"/>
                      </a:cubicBezTo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9447" name="Freeform 11"/>
                <p:cNvSpPr>
                  <a:spLocks/>
                </p:cNvSpPr>
                <p:nvPr/>
              </p:nvSpPr>
              <p:spPr bwMode="auto">
                <a:xfrm rot="966700" flipH="1" flipV="1">
                  <a:off x="3119468" y="4605418"/>
                  <a:ext cx="534010" cy="419104"/>
                </a:xfrm>
                <a:custGeom>
                  <a:avLst/>
                  <a:gdLst>
                    <a:gd name="T0" fmla="*/ 2147483646 w 241"/>
                    <a:gd name="T1" fmla="*/ 2147483646 h 189"/>
                    <a:gd name="T2" fmla="*/ 2147483646 w 241"/>
                    <a:gd name="T3" fmla="*/ 2147483646 h 189"/>
                    <a:gd name="T4" fmla="*/ 2147483646 w 241"/>
                    <a:gd name="T5" fmla="*/ 2147483646 h 189"/>
                    <a:gd name="T6" fmla="*/ 2147483646 w 241"/>
                    <a:gd name="T7" fmla="*/ 2147483646 h 189"/>
                    <a:gd name="T8" fmla="*/ 2147483646 w 241"/>
                    <a:gd name="T9" fmla="*/ 2147483646 h 18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1"/>
                    <a:gd name="T16" fmla="*/ 0 h 189"/>
                    <a:gd name="T17" fmla="*/ 241 w 241"/>
                    <a:gd name="T18" fmla="*/ 189 h 18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1" h="189">
                      <a:moveTo>
                        <a:pt x="52" y="189"/>
                      </a:moveTo>
                      <a:cubicBezTo>
                        <a:pt x="26" y="181"/>
                        <a:pt x="0" y="173"/>
                        <a:pt x="7" y="143"/>
                      </a:cubicBezTo>
                      <a:cubicBezTo>
                        <a:pt x="14" y="113"/>
                        <a:pt x="59" y="14"/>
                        <a:pt x="97" y="7"/>
                      </a:cubicBezTo>
                      <a:cubicBezTo>
                        <a:pt x="135" y="0"/>
                        <a:pt x="225" y="68"/>
                        <a:pt x="233" y="98"/>
                      </a:cubicBezTo>
                      <a:cubicBezTo>
                        <a:pt x="241" y="128"/>
                        <a:pt x="192" y="158"/>
                        <a:pt x="143" y="189"/>
                      </a:cubicBezTo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1" name="任意多边形 30"/>
              <p:cNvSpPr/>
              <p:nvPr/>
            </p:nvSpPr>
            <p:spPr bwMode="auto">
              <a:xfrm rot="21323228" flipH="1" flipV="1">
                <a:off x="5057774" y="3330581"/>
                <a:ext cx="3429022" cy="500065"/>
              </a:xfrm>
              <a:custGeom>
                <a:avLst/>
                <a:gdLst>
                  <a:gd name="connsiteX0" fmla="*/ 0 w 1669143"/>
                  <a:gd name="connsiteY0" fmla="*/ 0 h 349055"/>
                  <a:gd name="connsiteX1" fmla="*/ 870857 w 1669143"/>
                  <a:gd name="connsiteY1" fmla="*/ 348343 h 349055"/>
                  <a:gd name="connsiteX2" fmla="*/ 1669143 w 1669143"/>
                  <a:gd name="connsiteY2" fmla="*/ 72571 h 349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69143" h="349055">
                    <a:moveTo>
                      <a:pt x="0" y="0"/>
                    </a:moveTo>
                    <a:cubicBezTo>
                      <a:pt x="296333" y="168124"/>
                      <a:pt x="592667" y="336248"/>
                      <a:pt x="870857" y="348343"/>
                    </a:cubicBezTo>
                    <a:cubicBezTo>
                      <a:pt x="1149047" y="360438"/>
                      <a:pt x="1409095" y="216504"/>
                      <a:pt x="1669143" y="72571"/>
                    </a:cubicBezTo>
                  </a:path>
                </a:pathLst>
              </a:cu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59436" name="Rectangle 22"/>
              <p:cNvSpPr>
                <a:spLocks noChangeArrowheads="1"/>
              </p:cNvSpPr>
              <p:nvPr/>
            </p:nvSpPr>
            <p:spPr bwMode="auto">
              <a:xfrm>
                <a:off x="6357950" y="2928940"/>
                <a:ext cx="766668" cy="3961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</a:p>
            </p:txBody>
          </p:sp>
          <p:sp>
            <p:nvSpPr>
              <p:cNvPr id="33" name="任意多边形 32"/>
              <p:cNvSpPr/>
              <p:nvPr/>
            </p:nvSpPr>
            <p:spPr bwMode="auto">
              <a:xfrm rot="278702" flipH="1">
                <a:off x="6230944" y="4130686"/>
                <a:ext cx="2278076" cy="488953"/>
              </a:xfrm>
              <a:custGeom>
                <a:avLst/>
                <a:gdLst>
                  <a:gd name="connsiteX0" fmla="*/ 0 w 1669143"/>
                  <a:gd name="connsiteY0" fmla="*/ 0 h 349055"/>
                  <a:gd name="connsiteX1" fmla="*/ 870857 w 1669143"/>
                  <a:gd name="connsiteY1" fmla="*/ 348343 h 349055"/>
                  <a:gd name="connsiteX2" fmla="*/ 1669143 w 1669143"/>
                  <a:gd name="connsiteY2" fmla="*/ 72571 h 349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69143" h="349055">
                    <a:moveTo>
                      <a:pt x="0" y="0"/>
                    </a:moveTo>
                    <a:cubicBezTo>
                      <a:pt x="296333" y="168124"/>
                      <a:pt x="592667" y="336248"/>
                      <a:pt x="870857" y="348343"/>
                    </a:cubicBezTo>
                    <a:cubicBezTo>
                      <a:pt x="1149047" y="360438"/>
                      <a:pt x="1409095" y="216504"/>
                      <a:pt x="1669143" y="72571"/>
                    </a:cubicBezTo>
                  </a:path>
                </a:pathLst>
              </a:cu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34" name="任意多边形 33"/>
              <p:cNvSpPr/>
              <p:nvPr/>
            </p:nvSpPr>
            <p:spPr bwMode="auto">
              <a:xfrm rot="278702" flipH="1">
                <a:off x="6345245" y="4011622"/>
                <a:ext cx="823917" cy="184151"/>
              </a:xfrm>
              <a:custGeom>
                <a:avLst/>
                <a:gdLst>
                  <a:gd name="connsiteX0" fmla="*/ 0 w 1669143"/>
                  <a:gd name="connsiteY0" fmla="*/ 0 h 349055"/>
                  <a:gd name="connsiteX1" fmla="*/ 870857 w 1669143"/>
                  <a:gd name="connsiteY1" fmla="*/ 348343 h 349055"/>
                  <a:gd name="connsiteX2" fmla="*/ 1669143 w 1669143"/>
                  <a:gd name="connsiteY2" fmla="*/ 72571 h 349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69143" h="349055">
                    <a:moveTo>
                      <a:pt x="0" y="0"/>
                    </a:moveTo>
                    <a:cubicBezTo>
                      <a:pt x="296333" y="168124"/>
                      <a:pt x="592667" y="336248"/>
                      <a:pt x="870857" y="348343"/>
                    </a:cubicBezTo>
                    <a:cubicBezTo>
                      <a:pt x="1149047" y="360438"/>
                      <a:pt x="1409095" y="216504"/>
                      <a:pt x="1669143" y="72571"/>
                    </a:cubicBezTo>
                  </a:path>
                </a:pathLst>
              </a:cu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59439" name="Rectangle 22"/>
              <p:cNvSpPr>
                <a:spLocks noChangeArrowheads="1"/>
              </p:cNvSpPr>
              <p:nvPr/>
            </p:nvSpPr>
            <p:spPr bwMode="auto">
              <a:xfrm>
                <a:off x="5591282" y="4461600"/>
                <a:ext cx="766668" cy="3961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</p:grpSp>
        <p:sp>
          <p:nvSpPr>
            <p:cNvPr id="59432" name="Rectangle 22"/>
            <p:cNvSpPr>
              <a:spLocks noChangeArrowheads="1"/>
            </p:cNvSpPr>
            <p:nvPr/>
          </p:nvSpPr>
          <p:spPr bwMode="auto">
            <a:xfrm>
              <a:off x="6591414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</a:p>
          </p:txBody>
        </p:sp>
        <p:sp>
          <p:nvSpPr>
            <p:cNvPr id="59433" name="Rectangle 22"/>
            <p:cNvSpPr>
              <a:spLocks noChangeArrowheads="1"/>
            </p:cNvSpPr>
            <p:nvPr/>
          </p:nvSpPr>
          <p:spPr bwMode="auto">
            <a:xfrm>
              <a:off x="7072330" y="4533038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</a:p>
          </p:txBody>
        </p:sp>
      </p:grpSp>
      <p:grpSp>
        <p:nvGrpSpPr>
          <p:cNvPr id="12" name="组合 7"/>
          <p:cNvGrpSpPr>
            <a:grpSpLocks/>
          </p:cNvGrpSpPr>
          <p:nvPr/>
        </p:nvGrpSpPr>
        <p:grpSpPr bwMode="auto">
          <a:xfrm>
            <a:off x="5795963" y="1500188"/>
            <a:ext cx="2393950" cy="895350"/>
            <a:chOff x="1597494" y="2734581"/>
            <a:chExt cx="2392886" cy="895803"/>
          </a:xfrm>
        </p:grpSpPr>
        <p:sp>
          <p:nvSpPr>
            <p:cNvPr id="10" name="矩形 9"/>
            <p:cNvSpPr/>
            <p:nvPr/>
          </p:nvSpPr>
          <p:spPr>
            <a:xfrm>
              <a:off x="2335353" y="2734581"/>
              <a:ext cx="1655027" cy="48602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zh-CN" altLang="en-US" sz="2200" b="1" dirty="0">
                  <a:solidFill>
                    <a:schemeClr val="tx1"/>
                  </a:solidFill>
                  <a:latin typeface="楷体" pitchFamily="49" charset="-122"/>
                  <a:ea typeface="楷体" pitchFamily="49" charset="-122"/>
                </a:rPr>
                <a:t>转换表</a:t>
              </a:r>
            </a:p>
          </p:txBody>
        </p:sp>
        <p:sp>
          <p:nvSpPr>
            <p:cNvPr id="59428" name="矩形 1"/>
            <p:cNvSpPr>
              <a:spLocks noChangeArrowheads="1"/>
            </p:cNvSpPr>
            <p:nvPr/>
          </p:nvSpPr>
          <p:spPr bwMode="auto">
            <a:xfrm>
              <a:off x="1597494" y="3291830"/>
              <a:ext cx="59824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600" b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状态</a:t>
              </a:r>
            </a:p>
          </p:txBody>
        </p:sp>
        <p:sp>
          <p:nvSpPr>
            <p:cNvPr id="59429" name="矩形 36"/>
            <p:cNvSpPr>
              <a:spLocks noChangeArrowheads="1"/>
            </p:cNvSpPr>
            <p:nvPr/>
          </p:nvSpPr>
          <p:spPr bwMode="auto">
            <a:xfrm>
              <a:off x="2101550" y="3147814"/>
              <a:ext cx="59824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600" b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输入</a:t>
              </a:r>
            </a:p>
          </p:txBody>
        </p:sp>
        <p:cxnSp>
          <p:nvCxnSpPr>
            <p:cNvPr id="4" name="直接连接符 3"/>
            <p:cNvCxnSpPr/>
            <p:nvPr/>
          </p:nvCxnSpPr>
          <p:spPr>
            <a:xfrm>
              <a:off x="1691114" y="3225366"/>
              <a:ext cx="896539" cy="36689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矩形 2"/>
          <p:cNvSpPr/>
          <p:nvPr/>
        </p:nvSpPr>
        <p:spPr>
          <a:xfrm>
            <a:off x="2714625" y="4143375"/>
            <a:ext cx="3775075" cy="5238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b="1" dirty="0">
                <a:latin typeface="楷体" pitchFamily="49" charset="-122"/>
                <a:ea typeface="楷体" pitchFamily="49" charset="-122"/>
              </a:rPr>
              <a:t>可以用转换表表示</a:t>
            </a:r>
            <a:r>
              <a:rPr lang="en-US" altLang="zh-CN" sz="2800" b="1" i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DFA</a:t>
            </a:r>
            <a:endParaRPr lang="zh-CN" altLang="en-US" sz="2800" b="1" i="1" dirty="0"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408738" y="3540125"/>
            <a:ext cx="300037" cy="2301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30000"/>
              </a:spcBef>
              <a:defRPr/>
            </a:pPr>
            <a:r>
              <a:rPr lang="zh-CN" altLang="en-US" sz="9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非确定的有穷自动机</a:t>
            </a:r>
            <a:r>
              <a:rPr lang="en-US" altLang="zh-CN" sz="3000" spc="300" dirty="0">
                <a:solidFill>
                  <a:schemeClr val="tx1"/>
                </a:solidFill>
                <a:ea typeface="楷体_GB2312" pitchFamily="49" charset="-122"/>
              </a:rPr>
              <a:t>(</a:t>
            </a:r>
            <a:r>
              <a:rPr lang="en-US" altLang="zh-CN" sz="3000" i="1" dirty="0">
                <a:solidFill>
                  <a:schemeClr val="tx1"/>
                </a:solidFill>
                <a:ea typeface="楷体_GB2312" pitchFamily="49" charset="-122"/>
              </a:rPr>
              <a:t>N</a:t>
            </a:r>
            <a:r>
              <a:rPr lang="en-US" altLang="zh-CN" sz="3000" i="1" dirty="0">
                <a:solidFill>
                  <a:schemeClr val="tx1"/>
                </a:solidFill>
                <a:cs typeface="Times New Roman" pitchFamily="18" charset="0"/>
              </a:rPr>
              <a:t>FA</a:t>
            </a:r>
            <a:r>
              <a:rPr lang="en-US" altLang="zh-CN" sz="3000" spc="300" dirty="0">
                <a:solidFill>
                  <a:schemeClr val="tx1"/>
                </a:solidFill>
                <a:ea typeface="楷体_GB2312" pitchFamily="49" charset="-122"/>
              </a:rPr>
              <a:t>) </a:t>
            </a:r>
            <a:endParaRPr lang="zh-CN" altLang="en-US" sz="3000" spc="300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grpSp>
        <p:nvGrpSpPr>
          <p:cNvPr id="61443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1446" name="五边形 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8" name="内容占位符 2"/>
          <p:cNvSpPr txBox="1">
            <a:spLocks/>
          </p:cNvSpPr>
          <p:nvPr/>
        </p:nvSpPr>
        <p:spPr bwMode="auto">
          <a:xfrm>
            <a:off x="357188" y="928688"/>
            <a:ext cx="8429625" cy="406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fontAlgn="auto" hangingPunct="1">
              <a:spcBef>
                <a:spcPct val="30000"/>
              </a:spcBef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</a:rPr>
              <a:t>M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</a:rPr>
              <a:t>= (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</a:rPr>
              <a:t>Σ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</a:rPr>
              <a:t>δ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 sz="2500" b="1" i="1" baseline="-30000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</a:rPr>
              <a:t>F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  <a:p>
            <a:pPr marL="274320" indent="-274320" eaLnBrk="1" fontAlgn="auto" hangingPunct="1">
              <a:lnSpc>
                <a:spcPts val="4000"/>
              </a:lnSpc>
              <a:spcBef>
                <a:spcPct val="2000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latin typeface="Times New Roman" panose="02020603050405020304" pitchFamily="18" charset="0"/>
                <a:ea typeface="+mn-ea"/>
              </a:rPr>
              <a:t>S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</a:rPr>
              <a:t>：有穷状态集</a:t>
            </a:r>
            <a:endParaRPr lang="en-US" altLang="zh-CN" sz="2500" b="1" dirty="0">
              <a:latin typeface="Times New Roman" panose="02020603050405020304" pitchFamily="18" charset="0"/>
              <a:ea typeface="+mn-ea"/>
            </a:endParaRPr>
          </a:p>
          <a:p>
            <a:pPr marL="274320" indent="-274320" eaLnBrk="1" fontAlgn="auto" hangingPunct="1">
              <a:lnSpc>
                <a:spcPts val="4000"/>
              </a:lnSpc>
              <a:spcBef>
                <a:spcPct val="2000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el-GR" altLang="zh-CN" sz="2500" b="1" i="1" dirty="0">
                <a:latin typeface="Times New Roman" panose="02020603050405020304" pitchFamily="18" charset="0"/>
                <a:ea typeface="+mn-ea"/>
              </a:rPr>
              <a:t>Σ</a:t>
            </a:r>
            <a:r>
              <a:rPr lang="zh-CN" altLang="el-GR" sz="2500" b="1" dirty="0">
                <a:latin typeface="Times New Roman" panose="02020603050405020304" pitchFamily="18" charset="0"/>
                <a:ea typeface="+mn-ea"/>
              </a:rPr>
              <a:t>：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</a:rPr>
              <a:t>输入符号集合，即输入字母表。约定</a:t>
            </a:r>
            <a:r>
              <a:rPr lang="el-GR" altLang="zh-CN" sz="2500" b="1" i="1" dirty="0">
                <a:latin typeface="Times New Roman" panose="02020603050405020304" pitchFamily="18" charset="0"/>
                <a:ea typeface="+mn-ea"/>
              </a:rPr>
              <a:t>ε</a:t>
            </a:r>
            <a:r>
              <a:rPr lang="el-GR" altLang="zh-CN" sz="2500" b="1" dirty="0">
                <a:latin typeface="Times New Roman" panose="02020603050405020304" pitchFamily="18" charset="0"/>
                <a:ea typeface="+mn-ea"/>
              </a:rPr>
              <a:t> 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</a:rPr>
              <a:t>不是</a:t>
            </a:r>
            <a:r>
              <a:rPr lang="el-GR" altLang="zh-CN" sz="2500" b="1" i="1" dirty="0">
                <a:latin typeface="Times New Roman" panose="02020603050405020304" pitchFamily="18" charset="0"/>
                <a:ea typeface="+mn-ea"/>
              </a:rPr>
              <a:t>Σ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</a:rPr>
              <a:t>中的元素</a:t>
            </a:r>
          </a:p>
          <a:p>
            <a:pPr marL="274320" indent="-274320" eaLnBrk="1" fontAlgn="auto" hangingPunct="1">
              <a:lnSpc>
                <a:spcPts val="4000"/>
              </a:lnSpc>
              <a:spcBef>
                <a:spcPct val="2000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el-GR" altLang="zh-CN" sz="2500" b="1" dirty="0">
                <a:latin typeface="Times New Roman" panose="02020603050405020304" pitchFamily="18" charset="0"/>
                <a:ea typeface="+mn-ea"/>
              </a:rPr>
              <a:t>δ</a:t>
            </a:r>
            <a:r>
              <a:rPr lang="zh-CN" altLang="el-GR" sz="2500" b="1" dirty="0">
                <a:latin typeface="Times New Roman" panose="02020603050405020304" pitchFamily="18" charset="0"/>
                <a:ea typeface="+mn-ea"/>
              </a:rPr>
              <a:t>：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</a:rPr>
              <a:t>将</a:t>
            </a:r>
            <a:r>
              <a:rPr lang="en-US" altLang="zh-CN" sz="2500" b="1" i="1" dirty="0">
                <a:latin typeface="Times New Roman" panose="02020603050405020304" pitchFamily="18" charset="0"/>
                <a:ea typeface="+mn-ea"/>
              </a:rPr>
              <a:t>S</a:t>
            </a:r>
            <a:r>
              <a:rPr lang="en-US" altLang="zh-CN" sz="2500" b="1" dirty="0">
                <a:latin typeface="Times New Roman" panose="02020603050405020304" pitchFamily="18" charset="0"/>
                <a:ea typeface="+mn-ea"/>
              </a:rPr>
              <a:t>×</a:t>
            </a:r>
            <a:r>
              <a:rPr lang="el-GR" altLang="zh-CN" sz="2500" b="1" i="1" dirty="0">
                <a:latin typeface="Times New Roman" panose="02020603050405020304" pitchFamily="18" charset="0"/>
                <a:ea typeface="+mn-ea"/>
              </a:rPr>
              <a:t>Σ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</a:rPr>
              <a:t>映射到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800" b="1" i="1" baseline="30000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</a:rPr>
              <a:t>的转换函数。</a:t>
            </a: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5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500" b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∈</a:t>
            </a:r>
            <a:r>
              <a:rPr lang="en-US" altLang="zh-CN" sz="25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,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a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∈</a:t>
            </a:r>
            <a:r>
              <a:rPr lang="el-GR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Σ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,</a:t>
            </a:r>
            <a:r>
              <a:rPr lang="el-GR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l-GR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δ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5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</a:t>
            </a:r>
            <a:r>
              <a:rPr lang="en-US" altLang="zh-CN" sz="2500" b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,</a:t>
            </a:r>
            <a:r>
              <a:rPr lang="en-US" altLang="zh-CN" sz="25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表示从状态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</a:t>
            </a: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出发，沿着标记为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的边所能到达的状态</a:t>
            </a:r>
            <a:r>
              <a:rPr lang="zh-CN" altLang="en-US" sz="25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集合</a:t>
            </a:r>
            <a:endParaRPr lang="en-US" altLang="zh-CN" sz="2500" b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274320" indent="-274320" eaLnBrk="1" fontAlgn="auto" hangingPunct="1">
              <a:lnSpc>
                <a:spcPts val="4000"/>
              </a:lnSpc>
              <a:spcBef>
                <a:spcPct val="2000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latin typeface="Times New Roman" panose="02020603050405020304" pitchFamily="18" charset="0"/>
                <a:ea typeface="+mn-ea"/>
              </a:rPr>
              <a:t>s</a:t>
            </a:r>
            <a:r>
              <a:rPr lang="en-US" altLang="zh-CN" sz="2500" b="1" i="1" baseline="-25000" dirty="0">
                <a:latin typeface="Times New Roman" panose="02020603050405020304" pitchFamily="18" charset="0"/>
                <a:ea typeface="+mn-ea"/>
              </a:rPr>
              <a:t>0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</a:rPr>
              <a:t>：开始状态 </a:t>
            </a:r>
            <a:r>
              <a:rPr lang="en-US" altLang="zh-CN" sz="2500" b="1" dirty="0">
                <a:latin typeface="Times New Roman" panose="02020603050405020304" pitchFamily="18" charset="0"/>
                <a:ea typeface="+mn-ea"/>
              </a:rPr>
              <a:t>(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</a:rPr>
              <a:t>或初始状态</a:t>
            </a:r>
            <a:r>
              <a:rPr lang="en-US" altLang="zh-CN" sz="2500" b="1" dirty="0">
                <a:latin typeface="Times New Roman" panose="02020603050405020304" pitchFamily="18" charset="0"/>
                <a:ea typeface="+mn-ea"/>
              </a:rPr>
              <a:t>)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</a:rPr>
              <a:t>，</a:t>
            </a:r>
            <a:r>
              <a:rPr lang="en-US" altLang="zh-CN" sz="2500" b="1" i="1" dirty="0">
                <a:latin typeface="Times New Roman" panose="02020603050405020304" pitchFamily="18" charset="0"/>
                <a:ea typeface="+mn-ea"/>
              </a:rPr>
              <a:t>s</a:t>
            </a:r>
            <a:r>
              <a:rPr lang="en-US" altLang="zh-CN" sz="2500" b="1" i="1" baseline="-25000" dirty="0">
                <a:latin typeface="Times New Roman" panose="02020603050405020304" pitchFamily="18" charset="0"/>
                <a:ea typeface="+mn-ea"/>
              </a:rPr>
              <a:t>0</a:t>
            </a:r>
            <a:r>
              <a:rPr lang="en-US" altLang="zh-CN" sz="2500" b="1" dirty="0">
                <a:latin typeface="Times New Roman" panose="02020603050405020304" pitchFamily="18" charset="0"/>
                <a:ea typeface="+mn-ea"/>
              </a:rPr>
              <a:t>∈ </a:t>
            </a:r>
            <a:r>
              <a:rPr lang="en-US" altLang="zh-CN" sz="2500" b="1" i="1" dirty="0">
                <a:latin typeface="Times New Roman" panose="02020603050405020304" pitchFamily="18" charset="0"/>
                <a:ea typeface="+mn-ea"/>
              </a:rPr>
              <a:t>S</a:t>
            </a:r>
            <a:endParaRPr lang="en-US" altLang="zh-CN" sz="2500" b="1" dirty="0">
              <a:latin typeface="Times New Roman" panose="02020603050405020304" pitchFamily="18" charset="0"/>
              <a:ea typeface="+mn-ea"/>
            </a:endParaRPr>
          </a:p>
          <a:p>
            <a:pPr marL="274320" indent="-274320" eaLnBrk="1" fontAlgn="auto" hangingPunct="1">
              <a:lnSpc>
                <a:spcPts val="4000"/>
              </a:lnSpc>
              <a:spcBef>
                <a:spcPct val="2000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latin typeface="Times New Roman" panose="02020603050405020304" pitchFamily="18" charset="0"/>
                <a:ea typeface="+mn-ea"/>
              </a:rPr>
              <a:t>F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</a:rPr>
              <a:t>：接收状态（或终止状态）集合，</a:t>
            </a:r>
            <a:r>
              <a:rPr lang="en-US" altLang="zh-CN" sz="2500" b="1" i="1" dirty="0">
                <a:latin typeface="Times New Roman" panose="02020603050405020304" pitchFamily="18" charset="0"/>
                <a:ea typeface="+mn-ea"/>
              </a:rPr>
              <a:t>F</a:t>
            </a:r>
            <a:r>
              <a:rPr lang="en-US" altLang="zh-CN" sz="2500" b="1" dirty="0">
                <a:latin typeface="Times New Roman" panose="02020603050405020304" pitchFamily="18" charset="0"/>
                <a:ea typeface="+mn-ea"/>
              </a:rPr>
              <a:t>⊆ </a:t>
            </a:r>
            <a:r>
              <a:rPr lang="en-US" altLang="zh-CN" sz="2500" b="1" i="1" dirty="0">
                <a:latin typeface="Times New Roman" panose="02020603050405020304" pitchFamily="18" charset="0"/>
                <a:ea typeface="+mn-ea"/>
              </a:rPr>
              <a:t>S</a:t>
            </a:r>
            <a:endParaRPr lang="zh-CN" altLang="en-US" sz="2500" b="1" dirty="0">
              <a:latin typeface="Times New Roman" panose="02020603050405020304" pitchFamily="18" charset="0"/>
              <a:ea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>
            <a:spLocks/>
          </p:cNvSpPr>
          <p:nvPr/>
        </p:nvSpPr>
        <p:spPr bwMode="auto">
          <a:xfrm>
            <a:off x="755650" y="268288"/>
            <a:ext cx="7931150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zh-CN" altLang="en-US" sz="3000" b="1" spc="300" dirty="0">
                <a:latin typeface="微软雅黑" pitchFamily="34" charset="-122"/>
                <a:ea typeface="微软雅黑" pitchFamily="34" charset="-122"/>
                <a:cs typeface="+mj-cs"/>
              </a:rPr>
              <a:t>例：一个</a:t>
            </a:r>
            <a:r>
              <a:rPr lang="en-US" altLang="zh-CN" sz="3000" b="1" i="1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NFA</a:t>
            </a:r>
            <a:endParaRPr lang="zh-CN" altLang="en-US" sz="3000" b="1" i="1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grpSp>
        <p:nvGrpSpPr>
          <p:cNvPr id="63491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9" name="五边形 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3545" name="五边形 9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6383338" y="1428750"/>
            <a:ext cx="1655762" cy="485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sz="22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转换表</a:t>
            </a:r>
          </a:p>
        </p:txBody>
      </p:sp>
      <p:graphicFrame>
        <p:nvGraphicFramePr>
          <p:cNvPr id="16" name="Group 18"/>
          <p:cNvGraphicFramePr>
            <a:graphicFrameLocks noGrp="1"/>
          </p:cNvGraphicFramePr>
          <p:nvPr/>
        </p:nvGraphicFramePr>
        <p:xfrm>
          <a:off x="5740400" y="1919288"/>
          <a:ext cx="3000375" cy="1866900"/>
        </p:xfrm>
        <a:graphic>
          <a:graphicData uri="http://schemas.openxmlformats.org/drawingml/2006/table">
            <a:tbl>
              <a:tblPr/>
              <a:tblGrid>
                <a:gridCol w="931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25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64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9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a</a:t>
                      </a:r>
                      <a:endParaRPr kumimoji="0" lang="zh-CN" altLang="en-US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b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48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｛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0,1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｝</a:t>
                      </a: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｛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｝</a:t>
                      </a: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96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｛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｝</a:t>
                      </a: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95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｛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｝</a:t>
                      </a: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636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63519" name="组合 9"/>
          <p:cNvGrpSpPr>
            <a:grpSpLocks/>
          </p:cNvGrpSpPr>
          <p:nvPr/>
        </p:nvGrpSpPr>
        <p:grpSpPr bwMode="auto">
          <a:xfrm>
            <a:off x="71438" y="1928813"/>
            <a:ext cx="5500687" cy="1506537"/>
            <a:chOff x="928659" y="3675785"/>
            <a:chExt cx="5500722" cy="1506709"/>
          </a:xfrm>
        </p:grpSpPr>
        <p:grpSp>
          <p:nvGrpSpPr>
            <p:cNvPr id="63526" name="组合 9"/>
            <p:cNvGrpSpPr>
              <a:grpSpLocks/>
            </p:cNvGrpSpPr>
            <p:nvPr/>
          </p:nvGrpSpPr>
          <p:grpSpPr bwMode="auto">
            <a:xfrm>
              <a:off x="928659" y="3675785"/>
              <a:ext cx="5500722" cy="1090002"/>
              <a:chOff x="2339752" y="4162003"/>
              <a:chExt cx="3622043" cy="790575"/>
            </a:xfrm>
          </p:grpSpPr>
          <p:sp>
            <p:nvSpPr>
              <p:cNvPr id="63535" name="Oval 10"/>
              <p:cNvSpPr>
                <a:spLocks noChangeArrowheads="1"/>
              </p:cNvSpPr>
              <p:nvPr/>
            </p:nvSpPr>
            <p:spPr bwMode="auto">
              <a:xfrm>
                <a:off x="3097415" y="4576104"/>
                <a:ext cx="289198" cy="2924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latin typeface="Times New Roman" panose="02020603050405020304" pitchFamily="18" charset="0"/>
                    <a:ea typeface="楷体_GB2312"/>
                    <a:cs typeface="楷体_GB2312"/>
                  </a:rPr>
                  <a:t>0</a:t>
                </a:r>
              </a:p>
            </p:txBody>
          </p:sp>
          <p:sp>
            <p:nvSpPr>
              <p:cNvPr id="63536" name="Line 13"/>
              <p:cNvSpPr>
                <a:spLocks noChangeShapeType="1"/>
              </p:cNvSpPr>
              <p:nvPr/>
            </p:nvSpPr>
            <p:spPr bwMode="auto">
              <a:xfrm>
                <a:off x="3419690" y="4731545"/>
                <a:ext cx="5048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37" name="Line 16"/>
              <p:cNvSpPr>
                <a:spLocks noChangeShapeType="1"/>
              </p:cNvSpPr>
              <p:nvPr/>
            </p:nvSpPr>
            <p:spPr bwMode="auto">
              <a:xfrm>
                <a:off x="4221333" y="4726809"/>
                <a:ext cx="5048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38" name="Line 21"/>
              <p:cNvSpPr>
                <a:spLocks noChangeShapeType="1"/>
              </p:cNvSpPr>
              <p:nvPr/>
            </p:nvSpPr>
            <p:spPr bwMode="auto">
              <a:xfrm>
                <a:off x="5021004" y="4723834"/>
                <a:ext cx="5048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39" name="Oval 23"/>
              <p:cNvSpPr>
                <a:spLocks noChangeArrowheads="1"/>
              </p:cNvSpPr>
              <p:nvPr/>
            </p:nvSpPr>
            <p:spPr bwMode="auto">
              <a:xfrm>
                <a:off x="5594506" y="4572591"/>
                <a:ext cx="289198" cy="2924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latin typeface="Times New Roman" panose="02020603050405020304" pitchFamily="18" charset="0"/>
                    <a:ea typeface="楷体_GB2312"/>
                    <a:cs typeface="楷体_GB2312"/>
                  </a:rPr>
                  <a:t>3</a:t>
                </a:r>
              </a:p>
            </p:txBody>
          </p:sp>
          <p:sp>
            <p:nvSpPr>
              <p:cNvPr id="63540" name="Oval 39"/>
              <p:cNvSpPr>
                <a:spLocks noChangeArrowheads="1"/>
              </p:cNvSpPr>
              <p:nvPr/>
            </p:nvSpPr>
            <p:spPr bwMode="auto">
              <a:xfrm>
                <a:off x="5521481" y="4501154"/>
                <a:ext cx="440314" cy="45142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541" name="Rectangle 22"/>
              <p:cNvSpPr>
                <a:spLocks noChangeArrowheads="1"/>
              </p:cNvSpPr>
              <p:nvPr/>
            </p:nvSpPr>
            <p:spPr bwMode="auto">
              <a:xfrm>
                <a:off x="2339752" y="4581913"/>
                <a:ext cx="504927" cy="2872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start</a:t>
                </a:r>
              </a:p>
            </p:txBody>
          </p:sp>
          <p:sp>
            <p:nvSpPr>
              <p:cNvPr id="63542" name="Line 21"/>
              <p:cNvSpPr>
                <a:spLocks noChangeShapeType="1"/>
              </p:cNvSpPr>
              <p:nvPr/>
            </p:nvSpPr>
            <p:spPr bwMode="auto">
              <a:xfrm flipV="1">
                <a:off x="2844679" y="4725144"/>
                <a:ext cx="252464" cy="895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43" name="Rectangle 22"/>
              <p:cNvSpPr>
                <a:spLocks noChangeArrowheads="1"/>
              </p:cNvSpPr>
              <p:nvPr/>
            </p:nvSpPr>
            <p:spPr bwMode="auto">
              <a:xfrm>
                <a:off x="3139424" y="4162003"/>
                <a:ext cx="504825" cy="287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</p:grpSp>
        <p:sp>
          <p:nvSpPr>
            <p:cNvPr id="63527" name="Rectangle 22"/>
            <p:cNvSpPr>
              <a:spLocks noChangeArrowheads="1"/>
            </p:cNvSpPr>
            <p:nvPr/>
          </p:nvSpPr>
          <p:spPr bwMode="auto">
            <a:xfrm>
              <a:off x="2214546" y="4786328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  <p:sp>
          <p:nvSpPr>
            <p:cNvPr id="63528" name="Oval 10"/>
            <p:cNvSpPr>
              <a:spLocks noChangeArrowheads="1"/>
            </p:cNvSpPr>
            <p:nvPr/>
          </p:nvSpPr>
          <p:spPr bwMode="auto">
            <a:xfrm>
              <a:off x="3346982" y="4240252"/>
              <a:ext cx="439200" cy="4032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</a:p>
          </p:txBody>
        </p:sp>
        <p:sp>
          <p:nvSpPr>
            <p:cNvPr id="63529" name="Oval 10"/>
            <p:cNvSpPr>
              <a:spLocks noChangeArrowheads="1"/>
            </p:cNvSpPr>
            <p:nvPr/>
          </p:nvSpPr>
          <p:spPr bwMode="auto">
            <a:xfrm>
              <a:off x="4561428" y="4240252"/>
              <a:ext cx="439200" cy="4032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</a:p>
          </p:txBody>
        </p:sp>
        <p:sp>
          <p:nvSpPr>
            <p:cNvPr id="63530" name="Rectangle 22"/>
            <p:cNvSpPr>
              <a:spLocks noChangeArrowheads="1"/>
            </p:cNvSpPr>
            <p:nvPr/>
          </p:nvSpPr>
          <p:spPr bwMode="auto">
            <a:xfrm>
              <a:off x="2519448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</a:p>
          </p:txBody>
        </p:sp>
        <p:sp>
          <p:nvSpPr>
            <p:cNvPr id="63531" name="Rectangle 22"/>
            <p:cNvSpPr>
              <a:spLocks noChangeArrowheads="1"/>
            </p:cNvSpPr>
            <p:nvPr/>
          </p:nvSpPr>
          <p:spPr bwMode="auto">
            <a:xfrm>
              <a:off x="3786182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  <p:sp>
          <p:nvSpPr>
            <p:cNvPr id="63532" name="Rectangle 22"/>
            <p:cNvSpPr>
              <a:spLocks noChangeArrowheads="1"/>
            </p:cNvSpPr>
            <p:nvPr/>
          </p:nvSpPr>
          <p:spPr bwMode="auto">
            <a:xfrm>
              <a:off x="4948340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  <p:sp>
          <p:nvSpPr>
            <p:cNvPr id="63533" name="Freeform 11"/>
            <p:cNvSpPr>
              <a:spLocks/>
            </p:cNvSpPr>
            <p:nvPr/>
          </p:nvSpPr>
          <p:spPr bwMode="auto">
            <a:xfrm flipH="1">
              <a:off x="1975065" y="3840019"/>
              <a:ext cx="534010" cy="429463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34" name="Freeform 11"/>
            <p:cNvSpPr>
              <a:spLocks/>
            </p:cNvSpPr>
            <p:nvPr/>
          </p:nvSpPr>
          <p:spPr bwMode="auto">
            <a:xfrm flipH="1" flipV="1">
              <a:off x="1991843" y="4627806"/>
              <a:ext cx="534010" cy="419104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3520" name="矩形 1"/>
          <p:cNvSpPr>
            <a:spLocks noChangeArrowheads="1"/>
          </p:cNvSpPr>
          <p:nvPr/>
        </p:nvSpPr>
        <p:spPr bwMode="auto">
          <a:xfrm>
            <a:off x="5643563" y="2003425"/>
            <a:ext cx="598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6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状态</a:t>
            </a:r>
          </a:p>
        </p:txBody>
      </p:sp>
      <p:sp>
        <p:nvSpPr>
          <p:cNvPr id="63521" name="矩形 36"/>
          <p:cNvSpPr>
            <a:spLocks noChangeArrowheads="1"/>
          </p:cNvSpPr>
          <p:nvPr/>
        </p:nvSpPr>
        <p:spPr bwMode="auto">
          <a:xfrm>
            <a:off x="6148388" y="1860550"/>
            <a:ext cx="59848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6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输入</a:t>
            </a:r>
          </a:p>
        </p:txBody>
      </p:sp>
      <p:cxnSp>
        <p:nvCxnSpPr>
          <p:cNvPr id="33" name="直接连接符 32"/>
          <p:cNvCxnSpPr/>
          <p:nvPr/>
        </p:nvCxnSpPr>
        <p:spPr bwMode="auto">
          <a:xfrm>
            <a:off x="5737225" y="1938338"/>
            <a:ext cx="896938" cy="3556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857250" y="3571875"/>
            <a:ext cx="4643438" cy="12858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500" b="1" dirty="0">
                <a:latin typeface="+mn-ea"/>
                <a:ea typeface="+mn-ea"/>
              </a:rPr>
              <a:t>如果转换函数没有给出对应于某个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状态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-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输入</a:t>
            </a:r>
            <a:r>
              <a:rPr lang="zh-CN" altLang="en-US" sz="2500" b="1" dirty="0">
                <a:latin typeface="+mn-ea"/>
                <a:ea typeface="+mn-ea"/>
              </a:rPr>
              <a:t>对的信息，就把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Ø</a:t>
            </a:r>
            <a:r>
              <a:rPr lang="zh-CN" altLang="en-US" sz="2500" b="1" dirty="0">
                <a:latin typeface="+mn-ea"/>
                <a:ea typeface="+mn-ea"/>
              </a:rPr>
              <a:t>放入相应的表项中</a:t>
            </a:r>
          </a:p>
        </p:txBody>
      </p:sp>
      <p:sp>
        <p:nvSpPr>
          <p:cNvPr id="35" name="矩形 34"/>
          <p:cNvSpPr/>
          <p:nvPr/>
        </p:nvSpPr>
        <p:spPr>
          <a:xfrm>
            <a:off x="6208713" y="3502025"/>
            <a:ext cx="300037" cy="2301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30000"/>
              </a:spcBef>
              <a:defRPr/>
            </a:pPr>
            <a:r>
              <a:rPr lang="zh-CN" altLang="en-US" sz="9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●</a:t>
            </a:r>
          </a:p>
        </p:txBody>
      </p:sp>
      <p:sp>
        <p:nvSpPr>
          <p:cNvPr id="63525" name="内容占位符 2"/>
          <p:cNvSpPr>
            <a:spLocks noGrp="1"/>
          </p:cNvSpPr>
          <p:nvPr>
            <p:ph idx="1"/>
          </p:nvPr>
        </p:nvSpPr>
        <p:spPr>
          <a:xfrm>
            <a:off x="357188" y="928688"/>
            <a:ext cx="8429625" cy="642937"/>
          </a:xfrm>
        </p:spPr>
        <p:txBody>
          <a:bodyPr/>
          <a:lstStyle/>
          <a:p>
            <a:pPr marL="0" indent="0" algn="ctr" eaLnBrk="1" hangingPunct="1">
              <a:spcBef>
                <a:spcPct val="3000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M </a:t>
            </a:r>
            <a:r>
              <a:rPr lang="en-US" altLang="zh-CN" sz="2500" b="1">
                <a:solidFill>
                  <a:schemeClr val="tx1"/>
                </a:solidFill>
                <a:ea typeface="楷体_GB2312"/>
                <a:cs typeface="楷体_GB2312"/>
              </a:rPr>
              <a:t>= ( 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S</a:t>
            </a:r>
            <a:r>
              <a:rPr lang="en-US" altLang="zh-CN" sz="2500" b="1">
                <a:solidFill>
                  <a:schemeClr val="tx1"/>
                </a:solidFill>
                <a:ea typeface="楷体_GB2312"/>
                <a:cs typeface="楷体_GB2312"/>
              </a:rPr>
              <a:t>，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Σ </a:t>
            </a:r>
            <a:r>
              <a:rPr lang="en-US" altLang="zh-CN" sz="2500" b="1">
                <a:solidFill>
                  <a:schemeClr val="tx1"/>
                </a:solidFill>
                <a:ea typeface="楷体_GB2312"/>
                <a:cs typeface="楷体_GB2312"/>
              </a:rPr>
              <a:t>，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δ</a:t>
            </a:r>
            <a:r>
              <a:rPr lang="en-US" altLang="zh-CN" sz="2500" b="1">
                <a:solidFill>
                  <a:schemeClr val="tx1"/>
                </a:solidFill>
                <a:ea typeface="楷体_GB2312"/>
                <a:cs typeface="楷体_GB2312"/>
              </a:rPr>
              <a:t>，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s</a:t>
            </a:r>
            <a:r>
              <a:rPr lang="en-US" altLang="zh-CN" sz="2500" b="1" i="1" baseline="-30000">
                <a:solidFill>
                  <a:schemeClr val="tx1"/>
                </a:solidFill>
                <a:ea typeface="楷体_GB2312"/>
                <a:cs typeface="楷体_GB2312"/>
              </a:rPr>
              <a:t>0</a:t>
            </a:r>
            <a:r>
              <a:rPr lang="en-US" altLang="zh-CN" sz="2500" b="1">
                <a:solidFill>
                  <a:schemeClr val="tx1"/>
                </a:solidFill>
                <a:ea typeface="楷体_GB2312"/>
                <a:cs typeface="楷体_GB2312"/>
              </a:rPr>
              <a:t>，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F </a:t>
            </a:r>
            <a:r>
              <a:rPr lang="en-US" altLang="zh-CN" sz="2500" b="1">
                <a:solidFill>
                  <a:schemeClr val="tx1"/>
                </a:solidFill>
                <a:ea typeface="楷体_GB2312"/>
                <a:cs typeface="楷体_GB2312"/>
              </a:rPr>
              <a:t>)</a:t>
            </a:r>
            <a:endParaRPr lang="zh-CN" altLang="en-US" sz="2500" b="1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内容占位符 2"/>
          <p:cNvSpPr>
            <a:spLocks noGrp="1"/>
          </p:cNvSpPr>
          <p:nvPr>
            <p:ph idx="1"/>
          </p:nvPr>
        </p:nvSpPr>
        <p:spPr>
          <a:xfrm>
            <a:off x="428625" y="1276350"/>
            <a:ext cx="8320088" cy="2735263"/>
          </a:xfrm>
        </p:spPr>
        <p:txBody>
          <a:bodyPr/>
          <a:lstStyle/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</a:rPr>
              <a:t>对任何</a:t>
            </a:r>
            <a:r>
              <a:rPr lang="en-US" altLang="zh-CN" sz="2800" b="1" dirty="0">
                <a:solidFill>
                  <a:schemeClr val="tx1"/>
                </a:solidFill>
              </a:rPr>
              <a:t>NFA </a:t>
            </a:r>
            <a:r>
              <a:rPr lang="en-US" altLang="zh-CN" sz="2800" b="1" i="1" dirty="0">
                <a:solidFill>
                  <a:schemeClr val="tx1"/>
                </a:solidFill>
              </a:rPr>
              <a:t>N</a:t>
            </a:r>
            <a:r>
              <a:rPr lang="zh-CN" altLang="en-US" sz="2800" b="1" dirty="0">
                <a:solidFill>
                  <a:schemeClr val="tx1"/>
                </a:solidFill>
              </a:rPr>
              <a:t>，存在定义同一语言的</a:t>
            </a:r>
            <a:r>
              <a:rPr lang="en-US" altLang="zh-CN" sz="2800" b="1" dirty="0">
                <a:solidFill>
                  <a:schemeClr val="tx1"/>
                </a:solidFill>
              </a:rPr>
              <a:t>DFA </a:t>
            </a:r>
            <a:r>
              <a:rPr lang="en-US" altLang="zh-CN" sz="2800" b="1" i="1" dirty="0">
                <a:solidFill>
                  <a:schemeClr val="tx1"/>
                </a:solidFill>
              </a:rPr>
              <a:t>D</a:t>
            </a:r>
            <a:endParaRPr lang="en-US" altLang="zh-CN" sz="2800" b="1" i="1" dirty="0">
              <a:solidFill>
                <a:srgbClr val="FF0000"/>
              </a:solidFill>
            </a:endParaRPr>
          </a:p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</a:rPr>
              <a:t>对任何确定的</a:t>
            </a:r>
            <a:r>
              <a:rPr lang="en-US" altLang="zh-CN" sz="2800" b="1" dirty="0">
                <a:solidFill>
                  <a:schemeClr val="tx1"/>
                </a:solidFill>
              </a:rPr>
              <a:t>DFA </a:t>
            </a:r>
            <a:r>
              <a:rPr lang="en-US" altLang="zh-CN" sz="2800" b="1" i="1" dirty="0">
                <a:solidFill>
                  <a:schemeClr val="tx1"/>
                </a:solidFill>
              </a:rPr>
              <a:t>D </a:t>
            </a:r>
            <a:r>
              <a:rPr lang="zh-CN" altLang="en-US" sz="2800" b="1" dirty="0">
                <a:solidFill>
                  <a:schemeClr val="tx1"/>
                </a:solidFill>
              </a:rPr>
              <a:t>，存在定义同一语言的</a:t>
            </a:r>
            <a:r>
              <a:rPr lang="en-US" altLang="zh-CN" sz="2800" b="1" dirty="0">
                <a:solidFill>
                  <a:schemeClr val="tx1"/>
                </a:solidFill>
              </a:rPr>
              <a:t>NFA </a:t>
            </a:r>
            <a:r>
              <a:rPr lang="en-US" altLang="zh-CN" sz="2800" b="1" i="1" dirty="0">
                <a:solidFill>
                  <a:schemeClr val="tx1"/>
                </a:solidFill>
              </a:rPr>
              <a:t>N</a:t>
            </a:r>
            <a:endParaRPr lang="en-US" altLang="zh-CN" sz="2800" b="1" i="1" dirty="0">
              <a:solidFill>
                <a:srgbClr val="FF0000"/>
              </a:solidFill>
            </a:endParaRPr>
          </a:p>
          <a:p>
            <a:pPr eaLnBrk="1" hangingPunct="1">
              <a:buClrTx/>
              <a:buFont typeface="Wingdings" panose="05000000000000000000" pitchFamily="2" charset="2"/>
              <a:buChar char="Ø"/>
            </a:pPr>
            <a:endParaRPr lang="en-US" altLang="zh-CN" sz="3000" b="1" dirty="0">
              <a:solidFill>
                <a:schemeClr val="tx1"/>
              </a:solidFill>
            </a:endParaRPr>
          </a:p>
          <a:p>
            <a:pPr eaLnBrk="1" hangingPunct="1"/>
            <a:endParaRPr lang="en-US" altLang="zh-CN" b="1" dirty="0"/>
          </a:p>
          <a:p>
            <a:pPr eaLnBrk="1" hangingPunct="1"/>
            <a:endParaRPr lang="en-US" altLang="zh-CN" b="1" dirty="0"/>
          </a:p>
          <a:p>
            <a:pPr eaLnBrk="1" hangingPunct="1"/>
            <a:endParaRPr lang="en-US" altLang="zh-CN" b="1" dirty="0"/>
          </a:p>
          <a:p>
            <a:pPr eaLnBrk="1" hangingPunct="1"/>
            <a:endParaRPr lang="en-US" altLang="zh-CN" b="1" dirty="0"/>
          </a:p>
          <a:p>
            <a:pPr eaLnBrk="1" hangingPunct="1"/>
            <a:endParaRPr lang="en-US" altLang="zh-CN" b="1" dirty="0"/>
          </a:p>
          <a:p>
            <a:pPr eaLnBrk="1" hangingPunct="1"/>
            <a:endParaRPr lang="en-US" altLang="zh-CN" b="1" dirty="0"/>
          </a:p>
          <a:p>
            <a:pPr algn="ctr" eaLnBrk="1" hangingPunct="1">
              <a:buFont typeface="Symbol" panose="05050102010706020507" pitchFamily="18" charset="2"/>
              <a:buNone/>
            </a:pPr>
            <a:endParaRPr lang="en-US" altLang="zh-CN" sz="2000" b="1" i="1" dirty="0"/>
          </a:p>
          <a:p>
            <a:pPr lvl="1" eaLnBrk="1" hangingPunct="1"/>
            <a:endParaRPr lang="en-US" altLang="zh-CN" sz="1800" b="1" dirty="0"/>
          </a:p>
          <a:p>
            <a:pPr eaLnBrk="1" hangingPunct="1">
              <a:buFont typeface="Symbol" panose="05050102010706020507" pitchFamily="18" charset="2"/>
              <a:buNone/>
            </a:pPr>
            <a:endParaRPr lang="en-US" altLang="zh-CN" b="1" dirty="0"/>
          </a:p>
        </p:txBody>
      </p:sp>
      <p:sp>
        <p:nvSpPr>
          <p:cNvPr id="37892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i="1" dirty="0">
                <a:solidFill>
                  <a:schemeClr val="tx1"/>
                </a:solidFill>
              </a:rPr>
              <a:t>DFA</a:t>
            </a:r>
            <a:r>
              <a:rPr lang="zh-CN" altLang="en-US" sz="3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3000" i="1" dirty="0">
                <a:solidFill>
                  <a:schemeClr val="tx1"/>
                </a:solidFill>
              </a:rPr>
              <a:t>NFA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的等价性</a:t>
            </a:r>
          </a:p>
        </p:txBody>
      </p:sp>
      <p:grpSp>
        <p:nvGrpSpPr>
          <p:cNvPr id="65540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1" name="五边形 10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5542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内容占位符 2"/>
          <p:cNvSpPr>
            <a:spLocks noGrp="1"/>
          </p:cNvSpPr>
          <p:nvPr>
            <p:ph idx="1"/>
          </p:nvPr>
        </p:nvSpPr>
        <p:spPr>
          <a:xfrm>
            <a:off x="428625" y="785813"/>
            <a:ext cx="5927725" cy="3225800"/>
          </a:xfrm>
        </p:spPr>
        <p:txBody>
          <a:bodyPr/>
          <a:lstStyle/>
          <a:p>
            <a:pPr marL="0" indent="0" eaLnBrk="1" hangingPunct="1">
              <a:buNone/>
            </a:pPr>
            <a:endParaRPr lang="en-US" altLang="zh-CN" b="1" dirty="0"/>
          </a:p>
          <a:p>
            <a:pPr eaLnBrk="1" hangingPunct="1"/>
            <a:endParaRPr lang="en-US" altLang="zh-CN" b="1" dirty="0"/>
          </a:p>
          <a:p>
            <a:pPr eaLnBrk="1" hangingPunct="1"/>
            <a:endParaRPr lang="en-US" altLang="zh-CN" b="1" dirty="0"/>
          </a:p>
          <a:p>
            <a:pPr eaLnBrk="1" hangingPunct="1"/>
            <a:endParaRPr lang="en-US" altLang="zh-CN" b="1" dirty="0"/>
          </a:p>
          <a:p>
            <a:pPr eaLnBrk="1" hangingPunct="1"/>
            <a:endParaRPr lang="en-US" altLang="zh-CN" b="1" dirty="0"/>
          </a:p>
          <a:p>
            <a:pPr eaLnBrk="1" hangingPunct="1"/>
            <a:endParaRPr lang="en-US" altLang="zh-CN" b="1" dirty="0"/>
          </a:p>
          <a:p>
            <a:pPr algn="ctr" eaLnBrk="1" hangingPunct="1">
              <a:buFont typeface="Symbol" panose="05050102010706020507" pitchFamily="18" charset="2"/>
              <a:buNone/>
            </a:pPr>
            <a:endParaRPr lang="en-US" altLang="zh-CN" sz="2000" b="1" i="1" dirty="0"/>
          </a:p>
          <a:p>
            <a:pPr lvl="1" eaLnBrk="1" hangingPunct="1"/>
            <a:endParaRPr lang="en-US" altLang="zh-CN" sz="1800" b="1" dirty="0"/>
          </a:p>
          <a:p>
            <a:pPr eaLnBrk="1" hangingPunct="1">
              <a:buFont typeface="Symbol" panose="05050102010706020507" pitchFamily="18" charset="2"/>
              <a:buNone/>
            </a:pPr>
            <a:endParaRPr lang="en-US" altLang="zh-CN" b="1" dirty="0"/>
          </a:p>
        </p:txBody>
      </p:sp>
      <p:sp>
        <p:nvSpPr>
          <p:cNvPr id="37892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dirty="0">
                <a:solidFill>
                  <a:schemeClr val="tx1"/>
                </a:solidFill>
              </a:rPr>
              <a:t>例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1438" y="1797050"/>
            <a:ext cx="935037" cy="3460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sz="2500" b="1" i="1" dirty="0">
                <a:solidFill>
                  <a:srgbClr val="FF0000"/>
                </a:solidFill>
                <a:latin typeface="Times New Roman" pitchFamily="18" charset="0"/>
              </a:rPr>
              <a:t>NFA</a:t>
            </a:r>
            <a:endParaRPr lang="zh-CN" altLang="en-US" sz="2500" b="1" i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1438" y="3292475"/>
            <a:ext cx="933450" cy="344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sz="2500" b="1" i="1" dirty="0">
                <a:solidFill>
                  <a:srgbClr val="FF0000"/>
                </a:solidFill>
                <a:latin typeface="Times New Roman" pitchFamily="18" charset="0"/>
              </a:rPr>
              <a:t>DFA</a:t>
            </a:r>
            <a:endParaRPr lang="zh-CN" altLang="en-US" sz="2500" b="1" i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1428750" y="4483100"/>
            <a:ext cx="1900238" cy="4762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2500" b="1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CN" sz="2500" b="1" dirty="0">
                <a:latin typeface="Times New Roman" pitchFamily="18" charset="0"/>
                <a:cs typeface="Times New Roman" pitchFamily="18" charset="0"/>
              </a:rPr>
              <a:t> = (</a:t>
            </a:r>
            <a:r>
              <a:rPr lang="en-US" altLang="zh-CN" sz="2500" b="1" i="1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500" b="1" dirty="0" err="1"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 altLang="zh-CN" sz="2500" b="1" i="1" dirty="0" err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CN" sz="2500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zh-CN" sz="2500" b="1" baseline="30000" dirty="0"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altLang="zh-CN" sz="2500" b="1" i="1" dirty="0" err="1">
                <a:latin typeface="Times New Roman" pitchFamily="18" charset="0"/>
                <a:cs typeface="Times New Roman" pitchFamily="18" charset="0"/>
              </a:rPr>
              <a:t>abb</a:t>
            </a:r>
            <a:endParaRPr lang="zh-CN" altLang="en-US" sz="25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67591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1" name="五边形 10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7644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5" name="组合 11"/>
          <p:cNvGrpSpPr>
            <a:grpSpLocks/>
          </p:cNvGrpSpPr>
          <p:nvPr/>
        </p:nvGrpSpPr>
        <p:grpSpPr bwMode="auto">
          <a:xfrm>
            <a:off x="863600" y="1214438"/>
            <a:ext cx="5500688" cy="1506537"/>
            <a:chOff x="928659" y="3675785"/>
            <a:chExt cx="5500722" cy="1506709"/>
          </a:xfrm>
        </p:grpSpPr>
        <p:grpSp>
          <p:nvGrpSpPr>
            <p:cNvPr id="67625" name="组合 9"/>
            <p:cNvGrpSpPr>
              <a:grpSpLocks/>
            </p:cNvGrpSpPr>
            <p:nvPr/>
          </p:nvGrpSpPr>
          <p:grpSpPr bwMode="auto">
            <a:xfrm>
              <a:off x="928659" y="3675785"/>
              <a:ext cx="5500722" cy="1090002"/>
              <a:chOff x="2339752" y="4162003"/>
              <a:chExt cx="3622043" cy="790575"/>
            </a:xfrm>
          </p:grpSpPr>
          <p:sp>
            <p:nvSpPr>
              <p:cNvPr id="67634" name="Oval 10"/>
              <p:cNvSpPr>
                <a:spLocks noChangeArrowheads="1"/>
              </p:cNvSpPr>
              <p:nvPr/>
            </p:nvSpPr>
            <p:spPr bwMode="auto">
              <a:xfrm>
                <a:off x="3097415" y="4576104"/>
                <a:ext cx="289198" cy="2924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latin typeface="Times New Roman" panose="02020603050405020304" pitchFamily="18" charset="0"/>
                    <a:ea typeface="楷体_GB2312"/>
                    <a:cs typeface="楷体_GB2312"/>
                  </a:rPr>
                  <a:t>0</a:t>
                </a:r>
              </a:p>
            </p:txBody>
          </p:sp>
          <p:sp>
            <p:nvSpPr>
              <p:cNvPr id="67635" name="Line 13"/>
              <p:cNvSpPr>
                <a:spLocks noChangeShapeType="1"/>
              </p:cNvSpPr>
              <p:nvPr/>
            </p:nvSpPr>
            <p:spPr bwMode="auto">
              <a:xfrm>
                <a:off x="3419690" y="4731545"/>
                <a:ext cx="5048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636" name="Line 16"/>
              <p:cNvSpPr>
                <a:spLocks noChangeShapeType="1"/>
              </p:cNvSpPr>
              <p:nvPr/>
            </p:nvSpPr>
            <p:spPr bwMode="auto">
              <a:xfrm>
                <a:off x="4221333" y="4726809"/>
                <a:ext cx="5048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637" name="Line 21"/>
              <p:cNvSpPr>
                <a:spLocks noChangeShapeType="1"/>
              </p:cNvSpPr>
              <p:nvPr/>
            </p:nvSpPr>
            <p:spPr bwMode="auto">
              <a:xfrm>
                <a:off x="5021004" y="4723834"/>
                <a:ext cx="5048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638" name="Oval 23"/>
              <p:cNvSpPr>
                <a:spLocks noChangeArrowheads="1"/>
              </p:cNvSpPr>
              <p:nvPr/>
            </p:nvSpPr>
            <p:spPr bwMode="auto">
              <a:xfrm>
                <a:off x="5594506" y="4572591"/>
                <a:ext cx="289198" cy="2924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latin typeface="Times New Roman" panose="02020603050405020304" pitchFamily="18" charset="0"/>
                    <a:ea typeface="楷体_GB2312"/>
                    <a:cs typeface="楷体_GB2312"/>
                  </a:rPr>
                  <a:t>3</a:t>
                </a:r>
              </a:p>
            </p:txBody>
          </p:sp>
          <p:sp>
            <p:nvSpPr>
              <p:cNvPr id="67639" name="Oval 39"/>
              <p:cNvSpPr>
                <a:spLocks noChangeArrowheads="1"/>
              </p:cNvSpPr>
              <p:nvPr/>
            </p:nvSpPr>
            <p:spPr bwMode="auto">
              <a:xfrm>
                <a:off x="5521481" y="4501154"/>
                <a:ext cx="440314" cy="45142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7640" name="Rectangle 22"/>
              <p:cNvSpPr>
                <a:spLocks noChangeArrowheads="1"/>
              </p:cNvSpPr>
              <p:nvPr/>
            </p:nvSpPr>
            <p:spPr bwMode="auto">
              <a:xfrm>
                <a:off x="2339752" y="4581913"/>
                <a:ext cx="504927" cy="2872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start</a:t>
                </a:r>
              </a:p>
            </p:txBody>
          </p:sp>
          <p:sp>
            <p:nvSpPr>
              <p:cNvPr id="67641" name="Line 21"/>
              <p:cNvSpPr>
                <a:spLocks noChangeShapeType="1"/>
              </p:cNvSpPr>
              <p:nvPr/>
            </p:nvSpPr>
            <p:spPr bwMode="auto">
              <a:xfrm flipV="1">
                <a:off x="2844679" y="4725144"/>
                <a:ext cx="252464" cy="895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642" name="Rectangle 22"/>
              <p:cNvSpPr>
                <a:spLocks noChangeArrowheads="1"/>
              </p:cNvSpPr>
              <p:nvPr/>
            </p:nvSpPr>
            <p:spPr bwMode="auto">
              <a:xfrm>
                <a:off x="3139424" y="4162003"/>
                <a:ext cx="504825" cy="287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</p:grpSp>
        <p:sp>
          <p:nvSpPr>
            <p:cNvPr id="67626" name="Rectangle 22"/>
            <p:cNvSpPr>
              <a:spLocks noChangeArrowheads="1"/>
            </p:cNvSpPr>
            <p:nvPr/>
          </p:nvSpPr>
          <p:spPr bwMode="auto">
            <a:xfrm>
              <a:off x="2214546" y="4786328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  <p:sp>
          <p:nvSpPr>
            <p:cNvPr id="67627" name="Oval 10"/>
            <p:cNvSpPr>
              <a:spLocks noChangeArrowheads="1"/>
            </p:cNvSpPr>
            <p:nvPr/>
          </p:nvSpPr>
          <p:spPr bwMode="auto">
            <a:xfrm>
              <a:off x="3346982" y="4240252"/>
              <a:ext cx="439200" cy="4032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</a:p>
          </p:txBody>
        </p:sp>
        <p:sp>
          <p:nvSpPr>
            <p:cNvPr id="67628" name="Oval 10"/>
            <p:cNvSpPr>
              <a:spLocks noChangeArrowheads="1"/>
            </p:cNvSpPr>
            <p:nvPr/>
          </p:nvSpPr>
          <p:spPr bwMode="auto">
            <a:xfrm>
              <a:off x="4561428" y="4240252"/>
              <a:ext cx="439200" cy="4032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</a:p>
          </p:txBody>
        </p:sp>
        <p:sp>
          <p:nvSpPr>
            <p:cNvPr id="67629" name="Rectangle 22"/>
            <p:cNvSpPr>
              <a:spLocks noChangeArrowheads="1"/>
            </p:cNvSpPr>
            <p:nvPr/>
          </p:nvSpPr>
          <p:spPr bwMode="auto">
            <a:xfrm>
              <a:off x="2519448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</a:p>
          </p:txBody>
        </p:sp>
        <p:sp>
          <p:nvSpPr>
            <p:cNvPr id="67630" name="Rectangle 22"/>
            <p:cNvSpPr>
              <a:spLocks noChangeArrowheads="1"/>
            </p:cNvSpPr>
            <p:nvPr/>
          </p:nvSpPr>
          <p:spPr bwMode="auto">
            <a:xfrm>
              <a:off x="3786182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  <p:sp>
          <p:nvSpPr>
            <p:cNvPr id="67631" name="Rectangle 22"/>
            <p:cNvSpPr>
              <a:spLocks noChangeArrowheads="1"/>
            </p:cNvSpPr>
            <p:nvPr/>
          </p:nvSpPr>
          <p:spPr bwMode="auto">
            <a:xfrm>
              <a:off x="4948340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  <p:sp>
          <p:nvSpPr>
            <p:cNvPr id="67632" name="Freeform 11"/>
            <p:cNvSpPr>
              <a:spLocks/>
            </p:cNvSpPr>
            <p:nvPr/>
          </p:nvSpPr>
          <p:spPr bwMode="auto">
            <a:xfrm flipH="1">
              <a:off x="1983454" y="3831629"/>
              <a:ext cx="534010" cy="429463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33" name="Freeform 11"/>
            <p:cNvSpPr>
              <a:spLocks/>
            </p:cNvSpPr>
            <p:nvPr/>
          </p:nvSpPr>
          <p:spPr bwMode="auto">
            <a:xfrm flipH="1" flipV="1">
              <a:off x="1991843" y="4619416"/>
              <a:ext cx="534010" cy="419104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组合 30"/>
          <p:cNvGrpSpPr>
            <a:grpSpLocks/>
          </p:cNvGrpSpPr>
          <p:nvPr/>
        </p:nvGrpSpPr>
        <p:grpSpPr bwMode="auto">
          <a:xfrm>
            <a:off x="863600" y="2428875"/>
            <a:ext cx="5500688" cy="2000250"/>
            <a:chOff x="3500427" y="2928940"/>
            <a:chExt cx="5500722" cy="2000264"/>
          </a:xfrm>
        </p:grpSpPr>
        <p:grpSp>
          <p:nvGrpSpPr>
            <p:cNvPr id="67599" name="组合 35"/>
            <p:cNvGrpSpPr>
              <a:grpSpLocks/>
            </p:cNvGrpSpPr>
            <p:nvPr/>
          </p:nvGrpSpPr>
          <p:grpSpPr bwMode="auto">
            <a:xfrm>
              <a:off x="3500427" y="2928940"/>
              <a:ext cx="5500722" cy="1928826"/>
              <a:chOff x="3500427" y="2928940"/>
              <a:chExt cx="5500722" cy="1928826"/>
            </a:xfrm>
          </p:grpSpPr>
          <p:grpSp>
            <p:nvGrpSpPr>
              <p:cNvPr id="67602" name="组合 10"/>
              <p:cNvGrpSpPr>
                <a:grpSpLocks/>
              </p:cNvGrpSpPr>
              <p:nvPr/>
            </p:nvGrpSpPr>
            <p:grpSpPr bwMode="auto">
              <a:xfrm>
                <a:off x="3500427" y="3175719"/>
                <a:ext cx="5500722" cy="1348737"/>
                <a:chOff x="928659" y="3675785"/>
                <a:chExt cx="5500722" cy="1348737"/>
              </a:xfrm>
            </p:grpSpPr>
            <p:grpSp>
              <p:nvGrpSpPr>
                <p:cNvPr id="67608" name="组合 9"/>
                <p:cNvGrpSpPr>
                  <a:grpSpLocks/>
                </p:cNvGrpSpPr>
                <p:nvPr/>
              </p:nvGrpSpPr>
              <p:grpSpPr bwMode="auto">
                <a:xfrm>
                  <a:off x="928659" y="3675785"/>
                  <a:ext cx="5500722" cy="1090002"/>
                  <a:chOff x="2339752" y="4162003"/>
                  <a:chExt cx="3622043" cy="790575"/>
                </a:xfrm>
              </p:grpSpPr>
              <p:sp>
                <p:nvSpPr>
                  <p:cNvPr id="67616" name="Oval 10"/>
                  <p:cNvSpPr>
                    <a:spLocks noChangeArrowheads="1"/>
                  </p:cNvSpPr>
                  <p:nvPr/>
                </p:nvSpPr>
                <p:spPr bwMode="auto">
                  <a:xfrm>
                    <a:off x="3097415" y="4576104"/>
                    <a:ext cx="289198" cy="292440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sz="2000" b="1">
                        <a:latin typeface="Times New Roman" panose="02020603050405020304" pitchFamily="18" charset="0"/>
                        <a:ea typeface="楷体_GB2312"/>
                        <a:cs typeface="楷体_GB2312"/>
                      </a:rPr>
                      <a:t>0</a:t>
                    </a:r>
                  </a:p>
                </p:txBody>
              </p:sp>
              <p:sp>
                <p:nvSpPr>
                  <p:cNvPr id="67617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3419690" y="4731545"/>
                    <a:ext cx="504825" cy="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7618" name="Line 16"/>
                  <p:cNvSpPr>
                    <a:spLocks noChangeShapeType="1"/>
                  </p:cNvSpPr>
                  <p:nvPr/>
                </p:nvSpPr>
                <p:spPr bwMode="auto">
                  <a:xfrm>
                    <a:off x="4221333" y="4726809"/>
                    <a:ext cx="504825" cy="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7619" name="Line 21"/>
                  <p:cNvSpPr>
                    <a:spLocks noChangeShapeType="1"/>
                  </p:cNvSpPr>
                  <p:nvPr/>
                </p:nvSpPr>
                <p:spPr bwMode="auto">
                  <a:xfrm>
                    <a:off x="5021004" y="4723834"/>
                    <a:ext cx="504825" cy="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7620" name="Oval 23"/>
                  <p:cNvSpPr>
                    <a:spLocks noChangeArrowheads="1"/>
                  </p:cNvSpPr>
                  <p:nvPr/>
                </p:nvSpPr>
                <p:spPr bwMode="auto">
                  <a:xfrm>
                    <a:off x="5594506" y="4572591"/>
                    <a:ext cx="289198" cy="292440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sz="2000" b="1">
                        <a:latin typeface="Times New Roman" panose="02020603050405020304" pitchFamily="18" charset="0"/>
                        <a:ea typeface="楷体_GB2312"/>
                        <a:cs typeface="楷体_GB2312"/>
                      </a:rPr>
                      <a:t>3</a:t>
                    </a:r>
                  </a:p>
                </p:txBody>
              </p:sp>
              <p:sp>
                <p:nvSpPr>
                  <p:cNvPr id="67621" name="Oval 39"/>
                  <p:cNvSpPr>
                    <a:spLocks noChangeArrowheads="1"/>
                  </p:cNvSpPr>
                  <p:nvPr/>
                </p:nvSpPr>
                <p:spPr bwMode="auto">
                  <a:xfrm>
                    <a:off x="5521481" y="4501154"/>
                    <a:ext cx="440314" cy="451424"/>
                  </a:xfrm>
                  <a:prstGeom prst="ellips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 i="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7622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2339752" y="4581913"/>
                    <a:ext cx="504927" cy="28724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b="1" i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_GB2312"/>
                        <a:cs typeface="楷体_GB2312"/>
                      </a:rPr>
                      <a:t>start</a:t>
                    </a:r>
                  </a:p>
                </p:txBody>
              </p:sp>
              <p:sp>
                <p:nvSpPr>
                  <p:cNvPr id="67623" name="Line 2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4679" y="4725144"/>
                    <a:ext cx="252464" cy="8957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7624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3139424" y="4162003"/>
                    <a:ext cx="504825" cy="28733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b="1" i="1">
                        <a:latin typeface="Times New Roman" panose="02020603050405020304" pitchFamily="18" charset="0"/>
                        <a:ea typeface="楷体_GB2312"/>
                        <a:cs typeface="楷体_GB2312"/>
                      </a:rPr>
                      <a:t>b</a:t>
                    </a:r>
                  </a:p>
                </p:txBody>
              </p:sp>
            </p:grpSp>
            <p:sp>
              <p:nvSpPr>
                <p:cNvPr id="67609" name="Oval 10"/>
                <p:cNvSpPr>
                  <a:spLocks noChangeArrowheads="1"/>
                </p:cNvSpPr>
                <p:nvPr/>
              </p:nvSpPr>
              <p:spPr bwMode="auto">
                <a:xfrm>
                  <a:off x="3346982" y="4240252"/>
                  <a:ext cx="439200" cy="403200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>
                      <a:latin typeface="Times New Roman" panose="02020603050405020304" pitchFamily="18" charset="0"/>
                      <a:ea typeface="楷体_GB2312"/>
                      <a:cs typeface="楷体_GB2312"/>
                    </a:rPr>
                    <a:t>1</a:t>
                  </a:r>
                </a:p>
              </p:txBody>
            </p:sp>
            <p:sp>
              <p:nvSpPr>
                <p:cNvPr id="67610" name="Oval 10"/>
                <p:cNvSpPr>
                  <a:spLocks noChangeArrowheads="1"/>
                </p:cNvSpPr>
                <p:nvPr/>
              </p:nvSpPr>
              <p:spPr bwMode="auto">
                <a:xfrm>
                  <a:off x="4561428" y="4240252"/>
                  <a:ext cx="439200" cy="403200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>
                      <a:latin typeface="Times New Roman" panose="02020603050405020304" pitchFamily="18" charset="0"/>
                      <a:ea typeface="楷体_GB2312"/>
                      <a:cs typeface="楷体_GB2312"/>
                    </a:rPr>
                    <a:t>2</a:t>
                  </a:r>
                </a:p>
              </p:txBody>
            </p:sp>
            <p:sp>
              <p:nvSpPr>
                <p:cNvPr id="67611" name="Rectangle 22"/>
                <p:cNvSpPr>
                  <a:spLocks noChangeArrowheads="1"/>
                </p:cNvSpPr>
                <p:nvPr/>
              </p:nvSpPr>
              <p:spPr bwMode="auto">
                <a:xfrm>
                  <a:off x="2519448" y="4104410"/>
                  <a:ext cx="766668" cy="3961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 i="1">
                      <a:latin typeface="Times New Roman" panose="02020603050405020304" pitchFamily="18" charset="0"/>
                      <a:ea typeface="楷体_GB2312"/>
                      <a:cs typeface="楷体_GB2312"/>
                    </a:rPr>
                    <a:t>a</a:t>
                  </a:r>
                </a:p>
              </p:txBody>
            </p:sp>
            <p:sp>
              <p:nvSpPr>
                <p:cNvPr id="67612" name="Rectangle 22"/>
                <p:cNvSpPr>
                  <a:spLocks noChangeArrowheads="1"/>
                </p:cNvSpPr>
                <p:nvPr/>
              </p:nvSpPr>
              <p:spPr bwMode="auto">
                <a:xfrm>
                  <a:off x="3786182" y="4104410"/>
                  <a:ext cx="766668" cy="3961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 i="1">
                      <a:latin typeface="Times New Roman" panose="02020603050405020304" pitchFamily="18" charset="0"/>
                      <a:ea typeface="楷体_GB2312"/>
                      <a:cs typeface="楷体_GB2312"/>
                    </a:rPr>
                    <a:t>b</a:t>
                  </a:r>
                </a:p>
              </p:txBody>
            </p:sp>
            <p:sp>
              <p:nvSpPr>
                <p:cNvPr id="67613" name="Rectangle 22"/>
                <p:cNvSpPr>
                  <a:spLocks noChangeArrowheads="1"/>
                </p:cNvSpPr>
                <p:nvPr/>
              </p:nvSpPr>
              <p:spPr bwMode="auto">
                <a:xfrm>
                  <a:off x="4948340" y="4104410"/>
                  <a:ext cx="766668" cy="3961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 i="1">
                      <a:latin typeface="Times New Roman" panose="02020603050405020304" pitchFamily="18" charset="0"/>
                      <a:ea typeface="楷体_GB2312"/>
                      <a:cs typeface="楷体_GB2312"/>
                    </a:rPr>
                    <a:t>b</a:t>
                  </a:r>
                </a:p>
              </p:txBody>
            </p:sp>
            <p:sp>
              <p:nvSpPr>
                <p:cNvPr id="67614" name="Freeform 11"/>
                <p:cNvSpPr>
                  <a:spLocks/>
                </p:cNvSpPr>
                <p:nvPr/>
              </p:nvSpPr>
              <p:spPr bwMode="auto">
                <a:xfrm flipH="1">
                  <a:off x="1983454" y="3840021"/>
                  <a:ext cx="534010" cy="429463"/>
                </a:xfrm>
                <a:custGeom>
                  <a:avLst/>
                  <a:gdLst>
                    <a:gd name="T0" fmla="*/ 2147483646 w 241"/>
                    <a:gd name="T1" fmla="*/ 2147483646 h 189"/>
                    <a:gd name="T2" fmla="*/ 2147483646 w 241"/>
                    <a:gd name="T3" fmla="*/ 2147483646 h 189"/>
                    <a:gd name="T4" fmla="*/ 2147483646 w 241"/>
                    <a:gd name="T5" fmla="*/ 2147483646 h 189"/>
                    <a:gd name="T6" fmla="*/ 2147483646 w 241"/>
                    <a:gd name="T7" fmla="*/ 2147483646 h 189"/>
                    <a:gd name="T8" fmla="*/ 2147483646 w 241"/>
                    <a:gd name="T9" fmla="*/ 2147483646 h 18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1"/>
                    <a:gd name="T16" fmla="*/ 0 h 189"/>
                    <a:gd name="T17" fmla="*/ 241 w 241"/>
                    <a:gd name="T18" fmla="*/ 189 h 18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1" h="189">
                      <a:moveTo>
                        <a:pt x="52" y="189"/>
                      </a:moveTo>
                      <a:cubicBezTo>
                        <a:pt x="26" y="181"/>
                        <a:pt x="0" y="173"/>
                        <a:pt x="7" y="143"/>
                      </a:cubicBezTo>
                      <a:cubicBezTo>
                        <a:pt x="14" y="113"/>
                        <a:pt x="59" y="14"/>
                        <a:pt x="97" y="7"/>
                      </a:cubicBezTo>
                      <a:cubicBezTo>
                        <a:pt x="135" y="0"/>
                        <a:pt x="225" y="68"/>
                        <a:pt x="233" y="98"/>
                      </a:cubicBezTo>
                      <a:cubicBezTo>
                        <a:pt x="241" y="128"/>
                        <a:pt x="192" y="158"/>
                        <a:pt x="143" y="189"/>
                      </a:cubicBezTo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7615" name="Freeform 11"/>
                <p:cNvSpPr>
                  <a:spLocks/>
                </p:cNvSpPr>
                <p:nvPr/>
              </p:nvSpPr>
              <p:spPr bwMode="auto">
                <a:xfrm rot="966700" flipH="1" flipV="1">
                  <a:off x="3119468" y="4605418"/>
                  <a:ext cx="534010" cy="419104"/>
                </a:xfrm>
                <a:custGeom>
                  <a:avLst/>
                  <a:gdLst>
                    <a:gd name="T0" fmla="*/ 2147483646 w 241"/>
                    <a:gd name="T1" fmla="*/ 2147483646 h 189"/>
                    <a:gd name="T2" fmla="*/ 2147483646 w 241"/>
                    <a:gd name="T3" fmla="*/ 2147483646 h 189"/>
                    <a:gd name="T4" fmla="*/ 2147483646 w 241"/>
                    <a:gd name="T5" fmla="*/ 2147483646 h 189"/>
                    <a:gd name="T6" fmla="*/ 2147483646 w 241"/>
                    <a:gd name="T7" fmla="*/ 2147483646 h 189"/>
                    <a:gd name="T8" fmla="*/ 2147483646 w 241"/>
                    <a:gd name="T9" fmla="*/ 2147483646 h 18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1"/>
                    <a:gd name="T16" fmla="*/ 0 h 189"/>
                    <a:gd name="T17" fmla="*/ 241 w 241"/>
                    <a:gd name="T18" fmla="*/ 189 h 18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1" h="189">
                      <a:moveTo>
                        <a:pt x="52" y="189"/>
                      </a:moveTo>
                      <a:cubicBezTo>
                        <a:pt x="26" y="181"/>
                        <a:pt x="0" y="173"/>
                        <a:pt x="7" y="143"/>
                      </a:cubicBezTo>
                      <a:cubicBezTo>
                        <a:pt x="14" y="113"/>
                        <a:pt x="59" y="14"/>
                        <a:pt x="97" y="7"/>
                      </a:cubicBezTo>
                      <a:cubicBezTo>
                        <a:pt x="135" y="0"/>
                        <a:pt x="225" y="68"/>
                        <a:pt x="233" y="98"/>
                      </a:cubicBezTo>
                      <a:cubicBezTo>
                        <a:pt x="241" y="128"/>
                        <a:pt x="192" y="158"/>
                        <a:pt x="143" y="189"/>
                      </a:cubicBezTo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6" name="任意多边形 35"/>
              <p:cNvSpPr/>
              <p:nvPr/>
            </p:nvSpPr>
            <p:spPr bwMode="auto">
              <a:xfrm rot="21323228" flipH="1" flipV="1">
                <a:off x="5057775" y="3330581"/>
                <a:ext cx="3429021" cy="500065"/>
              </a:xfrm>
              <a:custGeom>
                <a:avLst/>
                <a:gdLst>
                  <a:gd name="connsiteX0" fmla="*/ 0 w 1669143"/>
                  <a:gd name="connsiteY0" fmla="*/ 0 h 349055"/>
                  <a:gd name="connsiteX1" fmla="*/ 870857 w 1669143"/>
                  <a:gd name="connsiteY1" fmla="*/ 348343 h 349055"/>
                  <a:gd name="connsiteX2" fmla="*/ 1669143 w 1669143"/>
                  <a:gd name="connsiteY2" fmla="*/ 72571 h 349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69143" h="349055">
                    <a:moveTo>
                      <a:pt x="0" y="0"/>
                    </a:moveTo>
                    <a:cubicBezTo>
                      <a:pt x="296333" y="168124"/>
                      <a:pt x="592667" y="336248"/>
                      <a:pt x="870857" y="348343"/>
                    </a:cubicBezTo>
                    <a:cubicBezTo>
                      <a:pt x="1149047" y="360438"/>
                      <a:pt x="1409095" y="216504"/>
                      <a:pt x="1669143" y="72571"/>
                    </a:cubicBezTo>
                  </a:path>
                </a:pathLst>
              </a:cu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67604" name="Rectangle 22"/>
              <p:cNvSpPr>
                <a:spLocks noChangeArrowheads="1"/>
              </p:cNvSpPr>
              <p:nvPr/>
            </p:nvSpPr>
            <p:spPr bwMode="auto">
              <a:xfrm>
                <a:off x="6357950" y="2928940"/>
                <a:ext cx="766668" cy="3961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</a:p>
            </p:txBody>
          </p:sp>
          <p:sp>
            <p:nvSpPr>
              <p:cNvPr id="38" name="任意多边形 37"/>
              <p:cNvSpPr/>
              <p:nvPr/>
            </p:nvSpPr>
            <p:spPr bwMode="auto">
              <a:xfrm rot="278702" flipH="1">
                <a:off x="6230944" y="4130686"/>
                <a:ext cx="2278077" cy="488953"/>
              </a:xfrm>
              <a:custGeom>
                <a:avLst/>
                <a:gdLst>
                  <a:gd name="connsiteX0" fmla="*/ 0 w 1669143"/>
                  <a:gd name="connsiteY0" fmla="*/ 0 h 349055"/>
                  <a:gd name="connsiteX1" fmla="*/ 870857 w 1669143"/>
                  <a:gd name="connsiteY1" fmla="*/ 348343 h 349055"/>
                  <a:gd name="connsiteX2" fmla="*/ 1669143 w 1669143"/>
                  <a:gd name="connsiteY2" fmla="*/ 72571 h 349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69143" h="349055">
                    <a:moveTo>
                      <a:pt x="0" y="0"/>
                    </a:moveTo>
                    <a:cubicBezTo>
                      <a:pt x="296333" y="168124"/>
                      <a:pt x="592667" y="336248"/>
                      <a:pt x="870857" y="348343"/>
                    </a:cubicBezTo>
                    <a:cubicBezTo>
                      <a:pt x="1149047" y="360438"/>
                      <a:pt x="1409095" y="216504"/>
                      <a:pt x="1669143" y="72571"/>
                    </a:cubicBezTo>
                  </a:path>
                </a:pathLst>
              </a:cu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39" name="任意多边形 38"/>
              <p:cNvSpPr/>
              <p:nvPr/>
            </p:nvSpPr>
            <p:spPr bwMode="auto">
              <a:xfrm rot="278702" flipH="1">
                <a:off x="6345245" y="4011622"/>
                <a:ext cx="823918" cy="184151"/>
              </a:xfrm>
              <a:custGeom>
                <a:avLst/>
                <a:gdLst>
                  <a:gd name="connsiteX0" fmla="*/ 0 w 1669143"/>
                  <a:gd name="connsiteY0" fmla="*/ 0 h 349055"/>
                  <a:gd name="connsiteX1" fmla="*/ 870857 w 1669143"/>
                  <a:gd name="connsiteY1" fmla="*/ 348343 h 349055"/>
                  <a:gd name="connsiteX2" fmla="*/ 1669143 w 1669143"/>
                  <a:gd name="connsiteY2" fmla="*/ 72571 h 349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69143" h="349055">
                    <a:moveTo>
                      <a:pt x="0" y="0"/>
                    </a:moveTo>
                    <a:cubicBezTo>
                      <a:pt x="296333" y="168124"/>
                      <a:pt x="592667" y="336248"/>
                      <a:pt x="870857" y="348343"/>
                    </a:cubicBezTo>
                    <a:cubicBezTo>
                      <a:pt x="1149047" y="360438"/>
                      <a:pt x="1409095" y="216504"/>
                      <a:pt x="1669143" y="72571"/>
                    </a:cubicBezTo>
                  </a:path>
                </a:pathLst>
              </a:cu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67607" name="Rectangle 22"/>
              <p:cNvSpPr>
                <a:spLocks noChangeArrowheads="1"/>
              </p:cNvSpPr>
              <p:nvPr/>
            </p:nvSpPr>
            <p:spPr bwMode="auto">
              <a:xfrm>
                <a:off x="5591282" y="4461600"/>
                <a:ext cx="766668" cy="3961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</p:grpSp>
        <p:sp>
          <p:nvSpPr>
            <p:cNvPr id="67600" name="Rectangle 22"/>
            <p:cNvSpPr>
              <a:spLocks noChangeArrowheads="1"/>
            </p:cNvSpPr>
            <p:nvPr/>
          </p:nvSpPr>
          <p:spPr bwMode="auto">
            <a:xfrm>
              <a:off x="6591414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</a:p>
          </p:txBody>
        </p:sp>
        <p:sp>
          <p:nvSpPr>
            <p:cNvPr id="67601" name="Rectangle 22"/>
            <p:cNvSpPr>
              <a:spLocks noChangeArrowheads="1"/>
            </p:cNvSpPr>
            <p:nvPr/>
          </p:nvSpPr>
          <p:spPr bwMode="auto">
            <a:xfrm>
              <a:off x="7072330" y="4533038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</a:p>
          </p:txBody>
        </p:sp>
      </p:grpSp>
      <p:sp>
        <p:nvSpPr>
          <p:cNvPr id="3" name="矩形 2"/>
          <p:cNvSpPr/>
          <p:nvPr/>
        </p:nvSpPr>
        <p:spPr>
          <a:xfrm>
            <a:off x="3643313" y="4483100"/>
            <a:ext cx="4429125" cy="4778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500" b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                      正则表达式 ⇔ </a:t>
            </a:r>
            <a:r>
              <a:rPr lang="en-US" altLang="zh-CN" sz="2500" b="1" i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FA</a:t>
            </a:r>
            <a:endParaRPr lang="zh-CN" altLang="en-US" sz="2500" i="1">
              <a:latin typeface="Times New Roman" pitchFamily="18" charset="0"/>
              <a:ea typeface="华文楷体" pitchFamily="2" charset="-122"/>
              <a:cs typeface="Times New Roman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408738" y="2786063"/>
            <a:ext cx="2554287" cy="70788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状态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0123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都可以遇到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或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endParaRPr lang="zh-CN" altLang="en-US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6408738" y="3814763"/>
            <a:ext cx="2554287" cy="4000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状态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：串以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abb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结尾</a:t>
            </a:r>
            <a:endParaRPr lang="zh-CN" altLang="en-US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3643313" y="4486275"/>
            <a:ext cx="1928812" cy="4762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5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正则文法 </a:t>
            </a:r>
            <a:r>
              <a:rPr lang="zh-CN" altLang="en-US" sz="2500" b="1" dirty="0"/>
              <a:t>⇔</a:t>
            </a:r>
            <a:endParaRPr lang="zh-CN" altLang="en-US" sz="2500" b="1" i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78A46BE5-1400-4F56-BA80-4C457B154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6286" y="1749576"/>
            <a:ext cx="1900238" cy="4762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2500" b="1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CN" sz="2500" b="1" dirty="0">
                <a:latin typeface="Times New Roman" pitchFamily="18" charset="0"/>
                <a:cs typeface="Times New Roman" pitchFamily="18" charset="0"/>
              </a:rPr>
              <a:t> = (</a:t>
            </a:r>
            <a:r>
              <a:rPr lang="en-US" altLang="zh-CN" sz="2500" b="1" i="1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500" b="1" dirty="0" err="1"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 altLang="zh-CN" sz="2500" b="1" i="1" dirty="0" err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CN" sz="2500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zh-CN" sz="2500" b="1" baseline="30000" dirty="0"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altLang="zh-CN" sz="2500" b="1" i="1" dirty="0" err="1">
                <a:latin typeface="Times New Roman" pitchFamily="18" charset="0"/>
                <a:cs typeface="Times New Roman" pitchFamily="18" charset="0"/>
              </a:rPr>
              <a:t>abb</a:t>
            </a:r>
            <a:endParaRPr lang="zh-CN" altLang="en-US" sz="25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9" grpId="0" animBg="1"/>
      <p:bldP spid="3" grpId="0" animBg="1"/>
      <p:bldP spid="7" grpId="0" animBg="1"/>
      <p:bldP spid="61" grpId="0" animBg="1"/>
      <p:bldP spid="62" grpId="0"/>
      <p:bldP spid="6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带</a:t>
            </a:r>
            <a:r>
              <a:rPr lang="zh-CN" altLang="en-US" sz="3000" spc="-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有“</a:t>
            </a:r>
            <a:r>
              <a:rPr lang="en-US" altLang="zh-CN" sz="3000" i="1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ε</a:t>
            </a:r>
            <a:r>
              <a:rPr lang="en-US" altLang="zh-CN" sz="3000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-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边</a:t>
            </a:r>
            <a:r>
              <a:rPr lang="zh-CN" altLang="en-US" sz="3000" spc="-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”的 </a:t>
            </a:r>
            <a:r>
              <a:rPr lang="en-US" altLang="zh-CN" sz="30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NFA</a:t>
            </a:r>
            <a:endParaRPr lang="zh-CN" altLang="en-US" sz="3000" i="1" dirty="0">
              <a:solidFill>
                <a:schemeClr val="tx1"/>
              </a:solidFill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2" name="组合 4"/>
          <p:cNvGrpSpPr>
            <a:grpSpLocks/>
          </p:cNvGrpSpPr>
          <p:nvPr/>
        </p:nvGrpSpPr>
        <p:grpSpPr bwMode="auto">
          <a:xfrm>
            <a:off x="1358900" y="3714750"/>
            <a:ext cx="3921125" cy="1211263"/>
            <a:chOff x="2571750" y="3090863"/>
            <a:chExt cx="3282950" cy="1047750"/>
          </a:xfrm>
        </p:grpSpPr>
        <p:sp>
          <p:nvSpPr>
            <p:cNvPr id="70666" name="Oval 10"/>
            <p:cNvSpPr>
              <a:spLocks noChangeArrowheads="1"/>
            </p:cNvSpPr>
            <p:nvPr/>
          </p:nvSpPr>
          <p:spPr bwMode="auto">
            <a:xfrm>
              <a:off x="3620434" y="3707429"/>
              <a:ext cx="361523" cy="35977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</a:p>
          </p:txBody>
        </p:sp>
        <p:sp>
          <p:nvSpPr>
            <p:cNvPr id="69643" name="Freeform 11"/>
            <p:cNvSpPr>
              <a:spLocks/>
            </p:cNvSpPr>
            <p:nvPr/>
          </p:nvSpPr>
          <p:spPr bwMode="auto">
            <a:xfrm>
              <a:off x="3631046" y="3421288"/>
              <a:ext cx="382588" cy="300038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44" name="Rectangle 12"/>
            <p:cNvSpPr>
              <a:spLocks noChangeArrowheads="1"/>
            </p:cNvSpPr>
            <p:nvPr/>
          </p:nvSpPr>
          <p:spPr bwMode="auto">
            <a:xfrm>
              <a:off x="3548063" y="3130550"/>
              <a:ext cx="504825" cy="287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  <a:ea typeface="楷体_GB2312"/>
                  <a:cs typeface="楷体_GB2312"/>
                </a:rPr>
                <a:t>0</a:t>
              </a:r>
            </a:p>
          </p:txBody>
        </p:sp>
        <p:sp>
          <p:nvSpPr>
            <p:cNvPr id="69645" name="Line 13"/>
            <p:cNvSpPr>
              <a:spLocks noChangeShapeType="1"/>
            </p:cNvSpPr>
            <p:nvPr/>
          </p:nvSpPr>
          <p:spPr bwMode="auto">
            <a:xfrm>
              <a:off x="3979863" y="3922713"/>
              <a:ext cx="5048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46" name="Rectangle 14"/>
            <p:cNvSpPr>
              <a:spLocks noChangeArrowheads="1"/>
            </p:cNvSpPr>
            <p:nvPr/>
          </p:nvSpPr>
          <p:spPr bwMode="auto">
            <a:xfrm>
              <a:off x="3979863" y="3489325"/>
              <a:ext cx="504825" cy="287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ε</a:t>
              </a:r>
            </a:p>
          </p:txBody>
        </p:sp>
        <p:sp>
          <p:nvSpPr>
            <p:cNvPr id="70671" name="Oval 15"/>
            <p:cNvSpPr>
              <a:spLocks noChangeArrowheads="1"/>
            </p:cNvSpPr>
            <p:nvPr/>
          </p:nvSpPr>
          <p:spPr bwMode="auto">
            <a:xfrm>
              <a:off x="4484368" y="3707429"/>
              <a:ext cx="360194" cy="35977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  <p:sp>
          <p:nvSpPr>
            <p:cNvPr id="69648" name="Line 16"/>
            <p:cNvSpPr>
              <a:spLocks noChangeShapeType="1"/>
            </p:cNvSpPr>
            <p:nvPr/>
          </p:nvSpPr>
          <p:spPr bwMode="auto">
            <a:xfrm>
              <a:off x="4843463" y="3922713"/>
              <a:ext cx="5048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49" name="Rectangle 17"/>
            <p:cNvSpPr>
              <a:spLocks noChangeArrowheads="1"/>
            </p:cNvSpPr>
            <p:nvPr/>
          </p:nvSpPr>
          <p:spPr bwMode="auto">
            <a:xfrm>
              <a:off x="4843463" y="3562350"/>
              <a:ext cx="504825" cy="287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ε</a:t>
              </a:r>
            </a:p>
          </p:txBody>
        </p:sp>
        <p:sp>
          <p:nvSpPr>
            <p:cNvPr id="70674" name="Oval 18"/>
            <p:cNvSpPr>
              <a:spLocks noChangeArrowheads="1"/>
            </p:cNvSpPr>
            <p:nvPr/>
          </p:nvSpPr>
          <p:spPr bwMode="auto">
            <a:xfrm>
              <a:off x="5421404" y="3707429"/>
              <a:ext cx="360195" cy="35977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C</a:t>
              </a:r>
            </a:p>
          </p:txBody>
        </p:sp>
        <p:sp>
          <p:nvSpPr>
            <p:cNvPr id="69651" name="Freeform 19"/>
            <p:cNvSpPr>
              <a:spLocks/>
            </p:cNvSpPr>
            <p:nvPr/>
          </p:nvSpPr>
          <p:spPr bwMode="auto">
            <a:xfrm>
              <a:off x="4494646" y="3412445"/>
              <a:ext cx="382588" cy="300037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52" name="Rectangle 20"/>
            <p:cNvSpPr>
              <a:spLocks noChangeArrowheads="1"/>
            </p:cNvSpPr>
            <p:nvPr/>
          </p:nvSpPr>
          <p:spPr bwMode="auto">
            <a:xfrm>
              <a:off x="4411663" y="3128963"/>
              <a:ext cx="504825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</a:p>
          </p:txBody>
        </p:sp>
        <p:sp>
          <p:nvSpPr>
            <p:cNvPr id="69653" name="Line 21"/>
            <p:cNvSpPr>
              <a:spLocks noChangeShapeType="1"/>
            </p:cNvSpPr>
            <p:nvPr/>
          </p:nvSpPr>
          <p:spPr bwMode="auto">
            <a:xfrm>
              <a:off x="3105150" y="3910013"/>
              <a:ext cx="5048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54" name="Rectangle 22"/>
            <p:cNvSpPr>
              <a:spLocks noChangeArrowheads="1"/>
            </p:cNvSpPr>
            <p:nvPr/>
          </p:nvSpPr>
          <p:spPr bwMode="auto">
            <a:xfrm>
              <a:off x="2571750" y="3722688"/>
              <a:ext cx="504825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sp>
          <p:nvSpPr>
            <p:cNvPr id="69655" name="Freeform 30"/>
            <p:cNvSpPr>
              <a:spLocks/>
            </p:cNvSpPr>
            <p:nvPr/>
          </p:nvSpPr>
          <p:spPr bwMode="auto">
            <a:xfrm>
              <a:off x="5439883" y="3338062"/>
              <a:ext cx="382587" cy="300037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56" name="Rectangle 31"/>
            <p:cNvSpPr>
              <a:spLocks noChangeArrowheads="1"/>
            </p:cNvSpPr>
            <p:nvPr/>
          </p:nvSpPr>
          <p:spPr bwMode="auto">
            <a:xfrm>
              <a:off x="5349875" y="3090863"/>
              <a:ext cx="504825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</a:p>
          </p:txBody>
        </p:sp>
        <p:sp>
          <p:nvSpPr>
            <p:cNvPr id="69657" name="Oval 39"/>
            <p:cNvSpPr>
              <a:spLocks noChangeArrowheads="1"/>
            </p:cNvSpPr>
            <p:nvPr/>
          </p:nvSpPr>
          <p:spPr bwMode="auto">
            <a:xfrm>
              <a:off x="5348288" y="3635375"/>
              <a:ext cx="503237" cy="50323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2" name="矩形 21"/>
          <p:cNvSpPr/>
          <p:nvPr/>
        </p:nvSpPr>
        <p:spPr>
          <a:xfrm>
            <a:off x="1042988" y="4010025"/>
            <a:ext cx="3652837" cy="9128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 altLang="zh-CN" sz="2400" dirty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  <a:p>
            <a:pPr eaLnBrk="1" hangingPunct="1">
              <a:defRPr/>
            </a:pPr>
            <a:endParaRPr lang="en-US" altLang="zh-CN" sz="2400" dirty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  <a:p>
            <a:pPr eaLnBrk="1" hangingPunct="1">
              <a:defRPr/>
            </a:pPr>
            <a:endParaRPr lang="en-US" altLang="zh-CN" sz="2400" dirty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</p:txBody>
      </p:sp>
      <p:grpSp>
        <p:nvGrpSpPr>
          <p:cNvPr id="69637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24" name="五边形 23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9641" name="五边形 24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6" name="内容占位符 2"/>
          <p:cNvSpPr txBox="1">
            <a:spLocks/>
          </p:cNvSpPr>
          <p:nvPr/>
        </p:nvSpPr>
        <p:spPr bwMode="auto">
          <a:xfrm>
            <a:off x="179388" y="714375"/>
            <a:ext cx="8856662" cy="320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fontAlgn="auto" hangingPunct="1">
              <a:spcBef>
                <a:spcPct val="30000"/>
              </a:spcBef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</a:rPr>
              <a:t>M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</a:rPr>
              <a:t>= (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</a:rPr>
              <a:t>Σ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</a:rPr>
              <a:t>δ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 sz="2500" b="1" i="1" baseline="-30000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</a:rPr>
              <a:t>F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  <a:p>
            <a:pPr marL="274320" indent="-274320" eaLnBrk="1" fontAlgn="auto" hangingPunct="1">
              <a:spcBef>
                <a:spcPct val="2000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en-US" altLang="zh-CN" sz="2400" b="1" i="1" dirty="0">
                <a:latin typeface="Times New Roman" panose="02020603050405020304" pitchFamily="18" charset="0"/>
                <a:ea typeface="+mn-ea"/>
              </a:rPr>
              <a:t>S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：有穷状态集</a:t>
            </a:r>
            <a:endParaRPr lang="en-US" altLang="zh-CN" sz="2400" b="1" dirty="0">
              <a:latin typeface="Times New Roman" panose="02020603050405020304" pitchFamily="18" charset="0"/>
              <a:ea typeface="+mn-ea"/>
            </a:endParaRPr>
          </a:p>
          <a:p>
            <a:pPr marL="274320" indent="-274320" eaLnBrk="1" fontAlgn="auto" hangingPunct="1">
              <a:spcBef>
                <a:spcPct val="2000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el-GR" altLang="zh-CN" sz="2400" b="1" i="1" dirty="0">
                <a:latin typeface="Times New Roman" panose="02020603050405020304" pitchFamily="18" charset="0"/>
                <a:ea typeface="+mn-ea"/>
              </a:rPr>
              <a:t>Σ</a:t>
            </a:r>
            <a:r>
              <a:rPr lang="zh-CN" altLang="el-GR" sz="2400" b="1" dirty="0">
                <a:latin typeface="Times New Roman" panose="02020603050405020304" pitchFamily="18" charset="0"/>
                <a:ea typeface="+mn-ea"/>
              </a:rPr>
              <a:t>：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输入符号集合，即输入字母表。假设</a:t>
            </a:r>
            <a:r>
              <a:rPr lang="el-GR" altLang="zh-CN" sz="2400" b="1" i="1" dirty="0">
                <a:latin typeface="Times New Roman" panose="02020603050405020304" pitchFamily="18" charset="0"/>
                <a:ea typeface="+mn-ea"/>
              </a:rPr>
              <a:t>ε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不是</a:t>
            </a:r>
            <a:r>
              <a:rPr lang="el-GR" altLang="zh-CN" sz="2400" b="1" i="1" dirty="0">
                <a:latin typeface="Times New Roman" panose="02020603050405020304" pitchFamily="18" charset="0"/>
                <a:ea typeface="+mn-ea"/>
              </a:rPr>
              <a:t>Σ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中的元素</a:t>
            </a:r>
          </a:p>
          <a:p>
            <a:pPr marL="274320" indent="-274320" eaLnBrk="1" fontAlgn="auto" hangingPunct="1">
              <a:spcBef>
                <a:spcPct val="2000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el-GR" altLang="zh-CN" sz="2400" b="1" dirty="0">
                <a:latin typeface="Times New Roman" panose="02020603050405020304" pitchFamily="18" charset="0"/>
                <a:ea typeface="+mn-ea"/>
              </a:rPr>
              <a:t>δ</a:t>
            </a:r>
            <a:r>
              <a:rPr lang="zh-CN" altLang="el-GR" sz="2400" b="1" dirty="0">
                <a:latin typeface="Times New Roman" panose="02020603050405020304" pitchFamily="18" charset="0"/>
                <a:ea typeface="+mn-ea"/>
              </a:rPr>
              <a:t>：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将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</a:rPr>
              <a:t>S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</a:rPr>
              <a:t>×</a:t>
            </a:r>
            <a:r>
              <a:rPr lang="en-US" altLang="zh-CN" sz="24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Σ</a:t>
            </a: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∪{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ε</a:t>
            </a: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}</a:t>
            </a:r>
            <a:r>
              <a:rPr lang="en-US" altLang="zh-CN" sz="24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映射到</a:t>
            </a:r>
            <a:r>
              <a:rPr lang="en-US" altLang="zh-CN" sz="24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400" b="1" i="1" baseline="30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的转换函数。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400" b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∈</a:t>
            </a:r>
            <a:r>
              <a:rPr lang="en-US" altLang="zh-CN" sz="24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,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a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∈</a:t>
            </a:r>
            <a:r>
              <a:rPr lang="el-GR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Σ</a:t>
            </a: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∪{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ε</a:t>
            </a: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}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,</a:t>
            </a:r>
            <a:r>
              <a:rPr lang="el-GR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l-GR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δ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4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</a:t>
            </a:r>
            <a:r>
              <a:rPr lang="en-US" altLang="zh-CN" sz="2400" b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,</a:t>
            </a:r>
            <a:r>
              <a:rPr lang="en-US" altLang="zh-CN" sz="24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表示从状态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出发，沿着标记为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的边所能到达的状态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集合</a:t>
            </a:r>
            <a:endParaRPr lang="en-US" altLang="zh-CN" sz="2400" b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274320" indent="-274320" eaLnBrk="1" fontAlgn="auto" hangingPunct="1">
              <a:spcBef>
                <a:spcPct val="2000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en-US" altLang="zh-CN" sz="2400" b="1" i="1" dirty="0">
                <a:latin typeface="Times New Roman" panose="02020603050405020304" pitchFamily="18" charset="0"/>
                <a:ea typeface="+mn-ea"/>
              </a:rPr>
              <a:t>s</a:t>
            </a:r>
            <a:r>
              <a:rPr lang="en-US" altLang="zh-CN" sz="2400" b="1" i="1" baseline="-25000" dirty="0">
                <a:latin typeface="Times New Roman" panose="02020603050405020304" pitchFamily="18" charset="0"/>
                <a:ea typeface="+mn-ea"/>
              </a:rPr>
              <a:t>0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：开始状态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</a:rPr>
              <a:t>(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或初始状态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，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</a:rPr>
              <a:t>s</a:t>
            </a:r>
            <a:r>
              <a:rPr lang="en-US" altLang="zh-CN" sz="2400" b="1" i="1" baseline="-25000" dirty="0">
                <a:latin typeface="Times New Roman" panose="02020603050405020304" pitchFamily="18" charset="0"/>
                <a:ea typeface="+mn-ea"/>
              </a:rPr>
              <a:t>0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</a:rPr>
              <a:t>∈ 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</a:rPr>
              <a:t>S</a:t>
            </a:r>
            <a:endParaRPr lang="en-US" altLang="zh-CN" sz="2400" b="1" dirty="0">
              <a:latin typeface="Times New Roman" panose="02020603050405020304" pitchFamily="18" charset="0"/>
              <a:ea typeface="+mn-ea"/>
            </a:endParaRPr>
          </a:p>
          <a:p>
            <a:pPr marL="274320" indent="-274320" eaLnBrk="1" fontAlgn="auto" hangingPunct="1">
              <a:spcBef>
                <a:spcPct val="2000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en-US" altLang="zh-CN" sz="2400" b="1" i="1" dirty="0">
                <a:latin typeface="Times New Roman" panose="02020603050405020304" pitchFamily="18" charset="0"/>
                <a:ea typeface="+mn-ea"/>
              </a:rPr>
              <a:t>F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：接收状态（或终止状态）集合，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</a:rPr>
              <a:t>⊆ 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</a:rPr>
              <a:t>S</a:t>
            </a:r>
            <a:endParaRPr lang="zh-CN" altLang="en-US" sz="2400" b="1" dirty="0"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715000" y="4357688"/>
            <a:ext cx="1455738" cy="47783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5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0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zh-CN" altLang="en-US" sz="2500" b="1" baseline="30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0213" y="868363"/>
            <a:ext cx="5927725" cy="631825"/>
          </a:xfrm>
        </p:spPr>
        <p:txBody>
          <a:bodyPr/>
          <a:lstStyle/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3000" b="1">
                <a:solidFill>
                  <a:schemeClr val="tx1"/>
                </a:solidFill>
              </a:rPr>
              <a:t>例</a:t>
            </a:r>
          </a:p>
        </p:txBody>
      </p:sp>
      <p:sp>
        <p:nvSpPr>
          <p:cNvPr id="39939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带有和不带</a:t>
            </a:r>
            <a:r>
              <a:rPr lang="zh-CN" altLang="en-US" sz="3000" spc="-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有“</a:t>
            </a:r>
            <a:r>
              <a:rPr lang="en-US" altLang="zh-CN" sz="3000" i="1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ε</a:t>
            </a:r>
            <a:r>
              <a:rPr lang="en-US" altLang="zh-CN" sz="3000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-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边</a:t>
            </a:r>
            <a:r>
              <a:rPr lang="zh-CN" altLang="en-US" sz="3000" spc="-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”的 </a:t>
            </a:r>
            <a:r>
              <a:rPr lang="en-US" altLang="zh-CN" sz="30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NFA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的等价性</a:t>
            </a:r>
          </a:p>
        </p:txBody>
      </p:sp>
      <p:grpSp>
        <p:nvGrpSpPr>
          <p:cNvPr id="2" name="组合 48"/>
          <p:cNvGrpSpPr>
            <a:grpSpLocks/>
          </p:cNvGrpSpPr>
          <p:nvPr/>
        </p:nvGrpSpPr>
        <p:grpSpPr bwMode="auto">
          <a:xfrm>
            <a:off x="642938" y="1303338"/>
            <a:ext cx="5297487" cy="1500187"/>
            <a:chOff x="2202490" y="1071552"/>
            <a:chExt cx="5298468" cy="1500198"/>
          </a:xfrm>
        </p:grpSpPr>
        <p:grpSp>
          <p:nvGrpSpPr>
            <p:cNvPr id="71715" name="组合 46"/>
            <p:cNvGrpSpPr>
              <a:grpSpLocks/>
            </p:cNvGrpSpPr>
            <p:nvPr/>
          </p:nvGrpSpPr>
          <p:grpSpPr bwMode="auto">
            <a:xfrm>
              <a:off x="2857488" y="1071552"/>
              <a:ext cx="4643470" cy="1500198"/>
              <a:chOff x="1902792" y="2139945"/>
              <a:chExt cx="3305782" cy="785812"/>
            </a:xfrm>
          </p:grpSpPr>
          <p:sp>
            <p:nvSpPr>
              <p:cNvPr id="72741" name="Oval 10"/>
              <p:cNvSpPr>
                <a:spLocks noChangeArrowheads="1"/>
              </p:cNvSpPr>
              <p:nvPr/>
            </p:nvSpPr>
            <p:spPr bwMode="auto">
              <a:xfrm>
                <a:off x="2974937" y="2602285"/>
                <a:ext cx="360593" cy="270253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  <p:sp>
            <p:nvSpPr>
              <p:cNvPr id="71718" name="Freeform 11"/>
              <p:cNvSpPr>
                <a:spLocks/>
              </p:cNvSpPr>
              <p:nvPr/>
            </p:nvSpPr>
            <p:spPr bwMode="auto">
              <a:xfrm>
                <a:off x="2993843" y="2381447"/>
                <a:ext cx="382702" cy="224957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19" name="Rectangle 12"/>
              <p:cNvSpPr>
                <a:spLocks noChangeArrowheads="1"/>
              </p:cNvSpPr>
              <p:nvPr/>
            </p:nvSpPr>
            <p:spPr bwMode="auto">
              <a:xfrm>
                <a:off x="2902045" y="2169950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0</a:t>
                </a:r>
              </a:p>
            </p:txBody>
          </p:sp>
          <p:sp>
            <p:nvSpPr>
              <p:cNvPr id="71720" name="Line 13"/>
              <p:cNvSpPr>
                <a:spLocks noChangeShapeType="1"/>
              </p:cNvSpPr>
              <p:nvPr/>
            </p:nvSpPr>
            <p:spPr bwMode="auto">
              <a:xfrm>
                <a:off x="3333974" y="2763883"/>
                <a:ext cx="50497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21" name="Rectangle 14"/>
              <p:cNvSpPr>
                <a:spLocks noChangeArrowheads="1"/>
              </p:cNvSpPr>
              <p:nvPr/>
            </p:nvSpPr>
            <p:spPr bwMode="auto">
              <a:xfrm>
                <a:off x="3333974" y="2438946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ε</a:t>
                </a:r>
              </a:p>
            </p:txBody>
          </p:sp>
          <p:sp>
            <p:nvSpPr>
              <p:cNvPr id="72746" name="Oval 15"/>
              <p:cNvSpPr>
                <a:spLocks noChangeArrowheads="1"/>
              </p:cNvSpPr>
              <p:nvPr/>
            </p:nvSpPr>
            <p:spPr bwMode="auto">
              <a:xfrm>
                <a:off x="3839680" y="2602285"/>
                <a:ext cx="359462" cy="270253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</a:p>
            </p:txBody>
          </p:sp>
          <p:sp>
            <p:nvSpPr>
              <p:cNvPr id="71723" name="Line 16"/>
              <p:cNvSpPr>
                <a:spLocks noChangeShapeType="1"/>
              </p:cNvSpPr>
              <p:nvPr/>
            </p:nvSpPr>
            <p:spPr bwMode="auto">
              <a:xfrm>
                <a:off x="4197831" y="2763883"/>
                <a:ext cx="50497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24" name="Rectangle 17"/>
              <p:cNvSpPr>
                <a:spLocks noChangeArrowheads="1"/>
              </p:cNvSpPr>
              <p:nvPr/>
            </p:nvSpPr>
            <p:spPr bwMode="auto">
              <a:xfrm>
                <a:off x="4197831" y="2493697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ε</a:t>
                </a:r>
              </a:p>
            </p:txBody>
          </p:sp>
          <p:sp>
            <p:nvSpPr>
              <p:cNvPr id="72749" name="Oval 18"/>
              <p:cNvSpPr>
                <a:spLocks noChangeArrowheads="1"/>
              </p:cNvSpPr>
              <p:nvPr/>
            </p:nvSpPr>
            <p:spPr bwMode="auto">
              <a:xfrm>
                <a:off x="4775638" y="2602285"/>
                <a:ext cx="360592" cy="270253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C</a:t>
                </a:r>
              </a:p>
            </p:txBody>
          </p:sp>
          <p:sp>
            <p:nvSpPr>
              <p:cNvPr id="71726" name="Freeform 19"/>
              <p:cNvSpPr>
                <a:spLocks/>
              </p:cNvSpPr>
              <p:nvPr/>
            </p:nvSpPr>
            <p:spPr bwMode="auto">
              <a:xfrm>
                <a:off x="3863673" y="2384650"/>
                <a:ext cx="382702" cy="224957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27" name="Rectangle 20"/>
              <p:cNvSpPr>
                <a:spLocks noChangeArrowheads="1"/>
              </p:cNvSpPr>
              <p:nvPr/>
            </p:nvSpPr>
            <p:spPr bwMode="auto">
              <a:xfrm>
                <a:off x="3765903" y="2168759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1</a:t>
                </a:r>
              </a:p>
            </p:txBody>
          </p:sp>
          <p:sp>
            <p:nvSpPr>
              <p:cNvPr id="71728" name="Line 21"/>
              <p:cNvSpPr>
                <a:spLocks noChangeShapeType="1"/>
              </p:cNvSpPr>
              <p:nvPr/>
            </p:nvSpPr>
            <p:spPr bwMode="auto">
              <a:xfrm>
                <a:off x="2459001" y="2754361"/>
                <a:ext cx="50497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29" name="Rectangle 22"/>
              <p:cNvSpPr>
                <a:spLocks noChangeArrowheads="1"/>
              </p:cNvSpPr>
              <p:nvPr/>
            </p:nvSpPr>
            <p:spPr bwMode="auto">
              <a:xfrm>
                <a:off x="1902792" y="2623406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start</a:t>
                </a:r>
              </a:p>
            </p:txBody>
          </p:sp>
          <p:sp>
            <p:nvSpPr>
              <p:cNvPr id="71730" name="Freeform 30"/>
              <p:cNvSpPr>
                <a:spLocks/>
              </p:cNvSpPr>
              <p:nvPr/>
            </p:nvSpPr>
            <p:spPr bwMode="auto">
              <a:xfrm>
                <a:off x="4777477" y="2329471"/>
                <a:ext cx="382702" cy="224957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31" name="Rectangle 31"/>
              <p:cNvSpPr>
                <a:spLocks noChangeArrowheads="1"/>
              </p:cNvSpPr>
              <p:nvPr/>
            </p:nvSpPr>
            <p:spPr bwMode="auto">
              <a:xfrm>
                <a:off x="4703599" y="2139945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2</a:t>
                </a:r>
              </a:p>
            </p:txBody>
          </p:sp>
          <p:sp>
            <p:nvSpPr>
              <p:cNvPr id="71732" name="Oval 39"/>
              <p:cNvSpPr>
                <a:spLocks noChangeArrowheads="1"/>
              </p:cNvSpPr>
              <p:nvPr/>
            </p:nvSpPr>
            <p:spPr bwMode="auto">
              <a:xfrm>
                <a:off x="4702807" y="2548448"/>
                <a:ext cx="503388" cy="377309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9" name="矩形 38"/>
            <p:cNvSpPr/>
            <p:nvPr/>
          </p:nvSpPr>
          <p:spPr bwMode="auto">
            <a:xfrm>
              <a:off x="2202490" y="1349366"/>
              <a:ext cx="2014910" cy="34449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带“</a:t>
              </a:r>
              <a:r>
                <a:rPr lang="en-US" altLang="zh-CN" sz="2400" b="1" i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ε</a:t>
              </a:r>
              <a:r>
                <a:rPr lang="en-US" altLang="zh-CN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-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边”</a:t>
              </a:r>
              <a:endParaRPr lang="zh-CN" altLang="en-US" sz="2400" b="1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9" name="组合 49"/>
          <p:cNvGrpSpPr>
            <a:grpSpLocks/>
          </p:cNvGrpSpPr>
          <p:nvPr/>
        </p:nvGrpSpPr>
        <p:grpSpPr bwMode="auto">
          <a:xfrm>
            <a:off x="587375" y="3089275"/>
            <a:ext cx="5424488" cy="1785938"/>
            <a:chOff x="2147659" y="2857502"/>
            <a:chExt cx="5424737" cy="1785950"/>
          </a:xfrm>
        </p:grpSpPr>
        <p:sp>
          <p:nvSpPr>
            <p:cNvPr id="41" name="矩形 40"/>
            <p:cNvSpPr/>
            <p:nvPr/>
          </p:nvSpPr>
          <p:spPr bwMode="auto">
            <a:xfrm>
              <a:off x="2147659" y="3211517"/>
              <a:ext cx="2014630" cy="3460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不带“</a:t>
              </a:r>
              <a:r>
                <a:rPr lang="en-US" altLang="zh-CN" sz="2400" b="1" i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ε</a:t>
              </a:r>
              <a:r>
                <a:rPr lang="en-US" altLang="zh-CN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-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边”</a:t>
              </a:r>
              <a:endParaRPr lang="zh-CN" altLang="en-US" sz="2400" b="1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grpSp>
          <p:nvGrpSpPr>
            <p:cNvPr id="71694" name="组合 47"/>
            <p:cNvGrpSpPr>
              <a:grpSpLocks/>
            </p:cNvGrpSpPr>
            <p:nvPr/>
          </p:nvGrpSpPr>
          <p:grpSpPr bwMode="auto">
            <a:xfrm>
              <a:off x="2928926" y="2857502"/>
              <a:ext cx="4643470" cy="1785950"/>
              <a:chOff x="2101129" y="3446463"/>
              <a:chExt cx="3596409" cy="1020762"/>
            </a:xfrm>
          </p:grpSpPr>
          <p:sp>
            <p:nvSpPr>
              <p:cNvPr id="72719" name="Oval 10"/>
              <p:cNvSpPr>
                <a:spLocks noChangeArrowheads="1"/>
              </p:cNvSpPr>
              <p:nvPr/>
            </p:nvSpPr>
            <p:spPr bwMode="auto">
              <a:xfrm>
                <a:off x="3249425" y="3929170"/>
                <a:ext cx="360270" cy="270388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  <p:sp>
            <p:nvSpPr>
              <p:cNvPr id="71696" name="Freeform 11"/>
              <p:cNvSpPr>
                <a:spLocks/>
              </p:cNvSpPr>
              <p:nvPr/>
            </p:nvSpPr>
            <p:spPr bwMode="auto">
              <a:xfrm>
                <a:off x="3264097" y="3653662"/>
                <a:ext cx="382665" cy="225061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697" name="Rectangle 12"/>
              <p:cNvSpPr>
                <a:spLocks noChangeArrowheads="1"/>
              </p:cNvSpPr>
              <p:nvPr/>
            </p:nvSpPr>
            <p:spPr bwMode="auto">
              <a:xfrm>
                <a:off x="3176182" y="3446463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0</a:t>
                </a:r>
              </a:p>
            </p:txBody>
          </p:sp>
          <p:sp>
            <p:nvSpPr>
              <p:cNvPr id="71698" name="Line 13"/>
              <p:cNvSpPr>
                <a:spLocks noChangeShapeType="1"/>
              </p:cNvSpPr>
              <p:nvPr/>
            </p:nvSpPr>
            <p:spPr bwMode="auto">
              <a:xfrm>
                <a:off x="3681083" y="4091527"/>
                <a:ext cx="50492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699" name="Rectangle 14"/>
              <p:cNvSpPr>
                <a:spLocks noChangeArrowheads="1"/>
              </p:cNvSpPr>
              <p:nvPr/>
            </p:nvSpPr>
            <p:spPr bwMode="auto">
              <a:xfrm>
                <a:off x="3649579" y="3890737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0,1</a:t>
                </a:r>
              </a:p>
            </p:txBody>
          </p:sp>
          <p:sp>
            <p:nvSpPr>
              <p:cNvPr id="72724" name="Oval 15"/>
              <p:cNvSpPr>
                <a:spLocks noChangeArrowheads="1"/>
              </p:cNvSpPr>
              <p:nvPr/>
            </p:nvSpPr>
            <p:spPr bwMode="auto">
              <a:xfrm>
                <a:off x="4265066" y="3939151"/>
                <a:ext cx="360270" cy="269481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</a:p>
            </p:txBody>
          </p:sp>
          <p:sp>
            <p:nvSpPr>
              <p:cNvPr id="71701" name="Line 16"/>
              <p:cNvSpPr>
                <a:spLocks noChangeShapeType="1"/>
              </p:cNvSpPr>
              <p:nvPr/>
            </p:nvSpPr>
            <p:spPr bwMode="auto">
              <a:xfrm>
                <a:off x="4686893" y="4100652"/>
                <a:ext cx="50492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02" name="Rectangle 17"/>
              <p:cNvSpPr>
                <a:spLocks noChangeArrowheads="1"/>
              </p:cNvSpPr>
              <p:nvPr/>
            </p:nvSpPr>
            <p:spPr bwMode="auto">
              <a:xfrm>
                <a:off x="4686893" y="3890737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1,2</a:t>
                </a:r>
              </a:p>
            </p:txBody>
          </p:sp>
          <p:sp>
            <p:nvSpPr>
              <p:cNvPr id="72727" name="Oval 18"/>
              <p:cNvSpPr>
                <a:spLocks noChangeArrowheads="1"/>
              </p:cNvSpPr>
              <p:nvPr/>
            </p:nvSpPr>
            <p:spPr bwMode="auto">
              <a:xfrm>
                <a:off x="5264723" y="3939151"/>
                <a:ext cx="360269" cy="269481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C</a:t>
                </a:r>
              </a:p>
            </p:txBody>
          </p:sp>
          <p:sp>
            <p:nvSpPr>
              <p:cNvPr id="71704" name="Freeform 19"/>
              <p:cNvSpPr>
                <a:spLocks/>
              </p:cNvSpPr>
              <p:nvPr/>
            </p:nvSpPr>
            <p:spPr bwMode="auto">
              <a:xfrm>
                <a:off x="4280204" y="3666392"/>
                <a:ext cx="382665" cy="225061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05" name="Rectangle 20"/>
              <p:cNvSpPr>
                <a:spLocks noChangeArrowheads="1"/>
              </p:cNvSpPr>
              <p:nvPr/>
            </p:nvSpPr>
            <p:spPr bwMode="auto">
              <a:xfrm>
                <a:off x="4192289" y="3454397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1</a:t>
                </a:r>
              </a:p>
            </p:txBody>
          </p:sp>
          <p:sp>
            <p:nvSpPr>
              <p:cNvPr id="71706" name="Line 21"/>
              <p:cNvSpPr>
                <a:spLocks noChangeShapeType="1"/>
              </p:cNvSpPr>
              <p:nvPr/>
            </p:nvSpPr>
            <p:spPr bwMode="auto">
              <a:xfrm>
                <a:off x="2671242" y="4072538"/>
                <a:ext cx="50492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07" name="Rectangle 22"/>
              <p:cNvSpPr>
                <a:spLocks noChangeArrowheads="1"/>
              </p:cNvSpPr>
              <p:nvPr/>
            </p:nvSpPr>
            <p:spPr bwMode="auto">
              <a:xfrm>
                <a:off x="2101129" y="3938703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start</a:t>
                </a:r>
              </a:p>
            </p:txBody>
          </p:sp>
          <p:sp>
            <p:nvSpPr>
              <p:cNvPr id="71708" name="Freeform 30"/>
              <p:cNvSpPr>
                <a:spLocks/>
              </p:cNvSpPr>
              <p:nvPr/>
            </p:nvSpPr>
            <p:spPr bwMode="auto">
              <a:xfrm>
                <a:off x="5280528" y="3669239"/>
                <a:ext cx="382665" cy="225061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09" name="Rectangle 31"/>
              <p:cNvSpPr>
                <a:spLocks noChangeArrowheads="1"/>
              </p:cNvSpPr>
              <p:nvPr/>
            </p:nvSpPr>
            <p:spPr bwMode="auto">
              <a:xfrm>
                <a:off x="5192612" y="3476424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2</a:t>
                </a:r>
              </a:p>
            </p:txBody>
          </p:sp>
          <p:sp>
            <p:nvSpPr>
              <p:cNvPr id="71710" name="Oval 39"/>
              <p:cNvSpPr>
                <a:spLocks noChangeArrowheads="1"/>
              </p:cNvSpPr>
              <p:nvPr/>
            </p:nvSpPr>
            <p:spPr bwMode="auto">
              <a:xfrm>
                <a:off x="5191820" y="3885117"/>
                <a:ext cx="503339" cy="37748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任意多边形 4"/>
              <p:cNvSpPr/>
              <p:nvPr/>
            </p:nvSpPr>
            <p:spPr bwMode="auto">
              <a:xfrm>
                <a:off x="3490425" y="4240389"/>
                <a:ext cx="1993165" cy="226836"/>
              </a:xfrm>
              <a:custGeom>
                <a:avLst/>
                <a:gdLst>
                  <a:gd name="connsiteX0" fmla="*/ 0 w 1669143"/>
                  <a:gd name="connsiteY0" fmla="*/ 0 h 349055"/>
                  <a:gd name="connsiteX1" fmla="*/ 870857 w 1669143"/>
                  <a:gd name="connsiteY1" fmla="*/ 348343 h 349055"/>
                  <a:gd name="connsiteX2" fmla="*/ 1669143 w 1669143"/>
                  <a:gd name="connsiteY2" fmla="*/ 72571 h 349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69143" h="349055">
                    <a:moveTo>
                      <a:pt x="0" y="0"/>
                    </a:moveTo>
                    <a:cubicBezTo>
                      <a:pt x="296333" y="168124"/>
                      <a:pt x="592667" y="336248"/>
                      <a:pt x="870857" y="348343"/>
                    </a:cubicBezTo>
                    <a:cubicBezTo>
                      <a:pt x="1149047" y="360438"/>
                      <a:pt x="1409095" y="216504"/>
                      <a:pt x="1669143" y="72571"/>
                    </a:cubicBezTo>
                  </a:path>
                </a:pathLst>
              </a:cu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71712" name="Rectangle 17"/>
              <p:cNvSpPr>
                <a:spLocks noChangeArrowheads="1"/>
              </p:cNvSpPr>
              <p:nvPr/>
            </p:nvSpPr>
            <p:spPr bwMode="auto">
              <a:xfrm>
                <a:off x="4234142" y="4251690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0,1,2</a:t>
                </a:r>
              </a:p>
            </p:txBody>
          </p:sp>
          <p:sp>
            <p:nvSpPr>
              <p:cNvPr id="71713" name="Oval 39"/>
              <p:cNvSpPr>
                <a:spLocks noChangeArrowheads="1"/>
              </p:cNvSpPr>
              <p:nvPr/>
            </p:nvSpPr>
            <p:spPr bwMode="auto">
              <a:xfrm>
                <a:off x="3177770" y="3874205"/>
                <a:ext cx="503339" cy="37748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1714" name="Oval 39"/>
              <p:cNvSpPr>
                <a:spLocks noChangeArrowheads="1"/>
              </p:cNvSpPr>
              <p:nvPr/>
            </p:nvSpPr>
            <p:spPr bwMode="auto">
              <a:xfrm>
                <a:off x="4193877" y="3885117"/>
                <a:ext cx="503339" cy="37748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71686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45" name="五边形 4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71692" name="五边形 45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4" name="矩形 3"/>
          <p:cNvSpPr/>
          <p:nvPr/>
        </p:nvSpPr>
        <p:spPr>
          <a:xfrm>
            <a:off x="6318250" y="3071813"/>
            <a:ext cx="1627188" cy="47783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状态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endParaRPr lang="zh-CN" altLang="en-US" sz="2500" b="1" baseline="300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318249" y="3651870"/>
            <a:ext cx="2533149" cy="4770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状态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|0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endParaRPr lang="zh-CN" altLang="en-US" sz="2500" b="1" baseline="300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318250" y="4217887"/>
            <a:ext cx="2533149" cy="86177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状态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|</a:t>
            </a:r>
            <a:endParaRPr lang="zh-CN" altLang="en-US" sz="2500" b="1" baseline="300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|0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endParaRPr lang="zh-CN" altLang="en-US" sz="2500" b="1" baseline="300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6300788" y="2143125"/>
            <a:ext cx="1455737" cy="47783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5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0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zh-CN" altLang="en-US" sz="2500" b="1" baseline="30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0686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内容占位符 2"/>
          <p:cNvSpPr>
            <a:spLocks noGrp="1"/>
          </p:cNvSpPr>
          <p:nvPr>
            <p:ph idx="1"/>
          </p:nvPr>
        </p:nvSpPr>
        <p:spPr>
          <a:xfrm>
            <a:off x="409575" y="714375"/>
            <a:ext cx="8520113" cy="1928813"/>
          </a:xfrm>
        </p:spPr>
        <p:txBody>
          <a:bodyPr/>
          <a:lstStyle/>
          <a:p>
            <a:pPr eaLnBrk="1" hangingPunct="1"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输入：以文件结束符</a:t>
            </a:r>
            <a:r>
              <a:rPr lang="en-US" altLang="zh-CN" sz="2500" b="1" dirty="0" err="1">
                <a:solidFill>
                  <a:schemeClr val="tx1"/>
                </a:solidFill>
              </a:rPr>
              <a:t>eof</a:t>
            </a:r>
            <a:r>
              <a:rPr lang="zh-CN" altLang="en-US" sz="2500" b="1" dirty="0">
                <a:solidFill>
                  <a:schemeClr val="tx1"/>
                </a:solidFill>
              </a:rPr>
              <a:t>结尾的字符串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x</a:t>
            </a:r>
            <a:r>
              <a:rPr lang="zh-CN" altLang="en-US" sz="2500" b="1" dirty="0">
                <a:solidFill>
                  <a:schemeClr val="tx1"/>
                </a:solidFill>
              </a:rPr>
              <a:t>。</a:t>
            </a:r>
            <a:r>
              <a:rPr lang="en-US" altLang="zh-CN" sz="2500" b="1" i="1" dirty="0">
                <a:solidFill>
                  <a:schemeClr val="tx1"/>
                </a:solidFill>
              </a:rPr>
              <a:t>DFA D</a:t>
            </a:r>
            <a:r>
              <a:rPr lang="en-US" altLang="zh-CN" sz="2500" b="1" dirty="0">
                <a:solidFill>
                  <a:schemeClr val="tx1"/>
                </a:solidFill>
              </a:rPr>
              <a:t> </a:t>
            </a:r>
            <a:r>
              <a:rPr lang="zh-CN" altLang="en-US" sz="2500" b="1" dirty="0">
                <a:solidFill>
                  <a:schemeClr val="tx1"/>
                </a:solidFill>
              </a:rPr>
              <a:t>的开始状态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</a:t>
            </a:r>
            <a:r>
              <a:rPr lang="en-US" altLang="zh-CN" sz="2500" b="1" i="1" baseline="-2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0</a:t>
            </a:r>
            <a:r>
              <a:rPr lang="zh-CN" altLang="en-US" sz="2500" b="1" dirty="0">
                <a:solidFill>
                  <a:schemeClr val="tx1"/>
                </a:solidFill>
              </a:rPr>
              <a:t>，接收状态集 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</a:t>
            </a:r>
            <a:r>
              <a:rPr lang="zh-CN" altLang="en-US" sz="2500" b="1" dirty="0">
                <a:solidFill>
                  <a:schemeClr val="tx1"/>
                </a:solidFill>
              </a:rPr>
              <a:t>，转换函数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move</a:t>
            </a:r>
            <a:r>
              <a:rPr lang="zh-CN" altLang="en-US" sz="2500" b="1" dirty="0">
                <a:solidFill>
                  <a:schemeClr val="tx1"/>
                </a:solidFill>
              </a:rPr>
              <a:t>。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eaLnBrk="1" hangingPunct="1"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输出：如果 </a:t>
            </a:r>
            <a:r>
              <a:rPr lang="en-US" altLang="zh-CN" sz="2500" b="1" i="1" dirty="0">
                <a:solidFill>
                  <a:schemeClr val="tx1"/>
                </a:solidFill>
              </a:rPr>
              <a:t>D</a:t>
            </a:r>
            <a:r>
              <a:rPr lang="zh-CN" altLang="en-US" sz="2500" b="1" dirty="0">
                <a:solidFill>
                  <a:schemeClr val="tx1"/>
                </a:solidFill>
              </a:rPr>
              <a:t>接收 </a:t>
            </a:r>
            <a:r>
              <a:rPr lang="en-US" altLang="zh-CN" sz="2500" b="1" i="1" dirty="0">
                <a:solidFill>
                  <a:schemeClr val="tx1"/>
                </a:solidFill>
              </a:rPr>
              <a:t>x</a:t>
            </a:r>
            <a:r>
              <a:rPr lang="zh-CN" altLang="en-US" sz="2500" b="1" dirty="0">
                <a:solidFill>
                  <a:schemeClr val="tx1"/>
                </a:solidFill>
              </a:rPr>
              <a:t>，则回答“</a:t>
            </a:r>
            <a:r>
              <a:rPr lang="en-US" altLang="zh-CN" sz="2500" b="1" i="1" dirty="0">
                <a:solidFill>
                  <a:schemeClr val="tx1"/>
                </a:solidFill>
              </a:rPr>
              <a:t>yes</a:t>
            </a:r>
            <a:r>
              <a:rPr lang="en-US" altLang="zh-CN" sz="2500" b="1" dirty="0">
                <a:solidFill>
                  <a:schemeClr val="tx1"/>
                </a:solidFill>
              </a:rPr>
              <a:t>”</a:t>
            </a:r>
            <a:r>
              <a:rPr lang="zh-CN" altLang="en-US" sz="2500" b="1" dirty="0">
                <a:solidFill>
                  <a:schemeClr val="tx1"/>
                </a:solidFill>
              </a:rPr>
              <a:t>，否则回答“</a:t>
            </a:r>
            <a:r>
              <a:rPr lang="en-US" altLang="zh-CN" sz="2500" b="1" i="1" dirty="0">
                <a:solidFill>
                  <a:schemeClr val="tx1"/>
                </a:solidFill>
              </a:rPr>
              <a:t>no</a:t>
            </a:r>
            <a:r>
              <a:rPr lang="en-US" altLang="zh-CN" sz="2500" b="1" dirty="0">
                <a:solidFill>
                  <a:schemeClr val="tx1"/>
                </a:solidFill>
              </a:rPr>
              <a:t>”</a:t>
            </a:r>
            <a:r>
              <a:rPr lang="zh-CN" altLang="en-US" sz="2500" b="1" dirty="0">
                <a:solidFill>
                  <a:schemeClr val="tx1"/>
                </a:solidFill>
              </a:rPr>
              <a:t>。</a:t>
            </a:r>
          </a:p>
          <a:p>
            <a:pPr eaLnBrk="1" hangingPunct="1"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方法：将下述算法应用于输入串 </a:t>
            </a:r>
            <a:r>
              <a:rPr lang="en-US" altLang="zh-CN" sz="2500" b="1" i="1" dirty="0">
                <a:solidFill>
                  <a:schemeClr val="tx1"/>
                </a:solidFill>
              </a:rPr>
              <a:t>x</a:t>
            </a:r>
            <a:r>
              <a:rPr lang="zh-CN" altLang="en-US" sz="2500" b="1" dirty="0">
                <a:solidFill>
                  <a:schemeClr val="tx1"/>
                </a:solidFill>
              </a:rPr>
              <a:t>。 </a:t>
            </a:r>
          </a:p>
        </p:txBody>
      </p:sp>
      <p:sp>
        <p:nvSpPr>
          <p:cNvPr id="40963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DFA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是否接受输入符号串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x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的算法实现</a:t>
            </a:r>
          </a:p>
        </p:txBody>
      </p:sp>
      <p:grpSp>
        <p:nvGrpSpPr>
          <p:cNvPr id="73732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73736" name="五边形 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8" name="内容占位符 2"/>
          <p:cNvSpPr txBox="1">
            <a:spLocks/>
          </p:cNvSpPr>
          <p:nvPr/>
        </p:nvSpPr>
        <p:spPr bwMode="auto">
          <a:xfrm>
            <a:off x="571500" y="2500313"/>
            <a:ext cx="3295650" cy="2428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marL="273050" marR="0" lvl="0" indent="-273050" algn="l" defTabSz="914400" rtl="0" eaLnBrk="1" fontAlgn="base" latinLnBrk="0" hangingPunct="1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s =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s</a:t>
            </a:r>
            <a:r>
              <a:rPr kumimoji="0" lang="en-US" altLang="zh-CN" sz="22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0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2200" b="1" i="1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 = </a:t>
            </a:r>
            <a:r>
              <a:rPr kumimoji="0" lang="en-US" altLang="zh-CN" sz="2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nextCha</a:t>
            </a:r>
            <a:r>
              <a:rPr kumimoji="0" lang="en-US" altLang="zh-CN" sz="2200" b="1" i="1" u="none" strike="noStrike" kern="1200" cap="none" spc="-30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</a:t>
            </a:r>
            <a:r>
              <a:rPr kumimoji="0" lang="zh-CN" altLang="en-US" sz="22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（）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</a:p>
          <a:p>
            <a:pPr marL="273050" marR="0" lvl="0" indent="-273050" algn="l" defTabSz="914400" rtl="0" eaLnBrk="1" fontAlgn="base" latinLnBrk="0" hangingPunct="1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whil</a:t>
            </a:r>
            <a:r>
              <a:rPr kumimoji="0" lang="en-US" altLang="zh-CN" sz="22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e</a:t>
            </a:r>
            <a:r>
              <a:rPr kumimoji="0" lang="zh-CN" altLang="en-US" sz="22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 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!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</a:t>
            </a:r>
            <a:r>
              <a:rPr kumimoji="0" lang="en-US" altLang="zh-CN" sz="2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eof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200" b="1" i="0" u="none" strike="noStrike" kern="1200" cap="none" spc="-10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）｛</a:t>
            </a:r>
            <a:endParaRPr kumimoji="0" lang="en-US" altLang="zh-CN" sz="2200" b="1" i="0" u="none" strike="noStrike" kern="1200" cap="none" spc="-10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s = move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 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 , c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 ;</a:t>
            </a:r>
            <a:endParaRPr kumimoji="0" lang="en-US" altLang="zh-CN" sz="22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18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c = </a:t>
            </a:r>
            <a:r>
              <a:rPr kumimoji="0" lang="en-US" altLang="zh-CN" sz="2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nextChar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 ) ;</a:t>
            </a:r>
          </a:p>
          <a:p>
            <a:pPr marL="273050" marR="0" lvl="0" indent="-273050" algn="l" defTabSz="914400" rtl="0" eaLnBrk="1" fontAlgn="base" latinLnBrk="0" hangingPunct="1">
              <a:lnSpc>
                <a:spcPts val="18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zh-CN" altLang="en-US" sz="22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｝</a:t>
            </a:r>
            <a:endParaRPr kumimoji="0" lang="en-US" altLang="zh-CN" sz="22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18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if (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在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中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 return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“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yes</a:t>
            </a:r>
            <a:r>
              <a:rPr kumimoji="0" lang="zh-CN" altLang="en-US" sz="22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”</a:t>
            </a:r>
            <a:r>
              <a:rPr kumimoji="0" lang="en-US" altLang="zh-CN" sz="22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;</a:t>
            </a:r>
          </a:p>
          <a:p>
            <a:pPr marL="273050" marR="0" lvl="0" indent="-273050" algn="l" defTabSz="914400" rtl="0" eaLnBrk="1" fontAlgn="base" latinLnBrk="0" hangingPunct="1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else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return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“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no</a:t>
            </a:r>
            <a:r>
              <a:rPr kumimoji="0" lang="zh-CN" altLang="en-US" sz="22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”</a:t>
            </a:r>
            <a:r>
              <a:rPr kumimoji="0" lang="en-US" altLang="zh-CN" sz="22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;</a:t>
            </a:r>
            <a:endParaRPr kumimoji="0" lang="zh-CN" altLang="en-US" sz="22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华文楷体" panose="02010600040101010101" pitchFamily="2" charset="-122"/>
              <a:cs typeface="Times New Roman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071938" y="3024188"/>
            <a:ext cx="4573587" cy="15478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函数</a:t>
            </a:r>
            <a:r>
              <a:rPr kumimoji="0" lang="en-US" altLang="zh-CN" sz="22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nextChar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 )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返回输入串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的下一个符号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函数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move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表示从状态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出发，沿着标记为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的边所能到达的状态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3.5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从正则表达式到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DFA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949325" y="2881313"/>
            <a:ext cx="865188" cy="3984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华文楷体" panose="02010600040101010101" pitchFamily="2" charset="-122"/>
                <a:cs typeface="+mn-cs"/>
              </a:rPr>
              <a:t>RE</a:t>
            </a:r>
            <a:endParaRPr kumimoji="0" lang="zh-CN" altLang="en-US" sz="2500" b="1" i="1" u="none" strike="noStrike" kern="1200" cap="none" spc="0" normalizeH="0" baseline="0" noProof="0" dirty="0">
              <a:ln>
                <a:noFill/>
              </a:ln>
              <a:solidFill>
                <a:srgbClr val="073E87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6229350" y="2881313"/>
            <a:ext cx="863600" cy="4000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华文楷体" panose="02010600040101010101" pitchFamily="2" charset="-122"/>
                <a:cs typeface="+mn-cs"/>
              </a:rPr>
              <a:t>DFA</a:t>
            </a:r>
            <a:endParaRPr kumimoji="0" lang="zh-CN" altLang="en-US" sz="2500" b="1" i="1" u="none" strike="noStrike" kern="1200" cap="none" spc="0" normalizeH="0" baseline="0" noProof="0" dirty="0">
              <a:ln>
                <a:noFill/>
              </a:ln>
              <a:solidFill>
                <a:srgbClr val="073E87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79877" name="矩形 8"/>
          <p:cNvSpPr>
            <a:spLocks noChangeArrowheads="1"/>
          </p:cNvSpPr>
          <p:nvPr/>
        </p:nvSpPr>
        <p:spPr bwMode="auto">
          <a:xfrm>
            <a:off x="323850" y="3379788"/>
            <a:ext cx="1693863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 </a:t>
            </a:r>
            <a:r>
              <a:rPr kumimoji="0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 </a:t>
            </a:r>
            <a:r>
              <a:rPr kumimoji="0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a|b</a:t>
            </a:r>
            <a:r>
              <a:rPr kumimoji="0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)*</a:t>
            </a:r>
            <a:r>
              <a:rPr kumimoji="0" lang="en-US" altLang="zh-CN" sz="2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abb</a:t>
            </a:r>
          </a:p>
        </p:txBody>
      </p:sp>
      <p:cxnSp>
        <p:nvCxnSpPr>
          <p:cNvPr id="13" name="直接箭头连接符 12"/>
          <p:cNvCxnSpPr>
            <a:stCxn id="4" idx="3"/>
            <a:endCxn id="8" idx="1"/>
          </p:cNvCxnSpPr>
          <p:nvPr/>
        </p:nvCxnSpPr>
        <p:spPr>
          <a:xfrm>
            <a:off x="1814513" y="3081338"/>
            <a:ext cx="441483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879" name="组合 4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6" name="五边形 1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9887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79880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5075" y="3336925"/>
            <a:ext cx="4978400" cy="168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组合 6"/>
          <p:cNvGrpSpPr>
            <a:grpSpLocks/>
          </p:cNvGrpSpPr>
          <p:nvPr/>
        </p:nvGrpSpPr>
        <p:grpSpPr bwMode="auto">
          <a:xfrm>
            <a:off x="1427163" y="771525"/>
            <a:ext cx="5232400" cy="2157413"/>
            <a:chOff x="1426741" y="771550"/>
            <a:chExt cx="5233491" cy="2157389"/>
          </a:xfrm>
        </p:grpSpPr>
        <p:sp>
          <p:nvSpPr>
            <p:cNvPr id="6" name="矩形 5"/>
            <p:cNvSpPr/>
            <p:nvPr/>
          </p:nvSpPr>
          <p:spPr bwMode="auto">
            <a:xfrm>
              <a:off x="3563962" y="2146310"/>
              <a:ext cx="863780" cy="40004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500" b="1" i="1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itchFamily="18" charset="0"/>
                  <a:ea typeface="华文楷体" panose="02010600040101010101" pitchFamily="2" charset="-122"/>
                  <a:cs typeface="+mn-cs"/>
                </a:rPr>
                <a:t>NFA</a:t>
              </a:r>
              <a:endParaRPr kumimoji="0" lang="zh-CN" altLang="en-US" sz="25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华文楷体" panose="02010600040101010101" pitchFamily="2" charset="-122"/>
                <a:cs typeface="+mn-cs"/>
              </a:endParaRPr>
            </a:p>
          </p:txBody>
        </p:sp>
        <p:cxnSp>
          <p:nvCxnSpPr>
            <p:cNvPr id="19" name="直接箭头连接符 18"/>
            <p:cNvCxnSpPr>
              <a:endCxn id="6" idx="1"/>
            </p:cNvCxnSpPr>
            <p:nvPr/>
          </p:nvCxnSpPr>
          <p:spPr>
            <a:xfrm flipV="1">
              <a:off x="1777651" y="2346332"/>
              <a:ext cx="1786310" cy="511169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>
              <a:stCxn id="6" idx="3"/>
            </p:cNvCxnSpPr>
            <p:nvPr/>
          </p:nvCxnSpPr>
          <p:spPr>
            <a:xfrm>
              <a:off x="4427742" y="2346332"/>
              <a:ext cx="1787898" cy="582607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9885" name="图片 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6741" y="771550"/>
              <a:ext cx="5233491" cy="1314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内容占位符 2"/>
          <p:cNvSpPr>
            <a:spLocks noGrp="1"/>
          </p:cNvSpPr>
          <p:nvPr>
            <p:ph idx="1"/>
          </p:nvPr>
        </p:nvSpPr>
        <p:spPr>
          <a:xfrm>
            <a:off x="428625" y="1000125"/>
            <a:ext cx="7700963" cy="3225800"/>
          </a:xfrm>
        </p:spPr>
        <p:txBody>
          <a:bodyPr/>
          <a:lstStyle/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</a:rPr>
              <a:t> </a:t>
            </a:r>
            <a:r>
              <a:rPr lang="en-US" altLang="zh-CN" sz="2800" b="1" i="1" dirty="0">
                <a:solidFill>
                  <a:srgbClr val="FF0000"/>
                </a:solidFill>
                <a:ea typeface="楷体_GB2312"/>
                <a:cs typeface="楷体_GB2312"/>
              </a:rPr>
              <a:t>ε</a:t>
            </a:r>
            <a:r>
              <a:rPr lang="zh-CN" altLang="en-US" sz="2800" b="1" dirty="0">
                <a:solidFill>
                  <a:schemeClr val="tx1"/>
                </a:solidFill>
              </a:rPr>
              <a:t>对应的</a:t>
            </a:r>
            <a:r>
              <a:rPr lang="en-US" altLang="zh-CN" sz="2800" b="1" i="1" dirty="0">
                <a:solidFill>
                  <a:schemeClr val="tx1"/>
                </a:solidFill>
              </a:rPr>
              <a:t>NFA</a:t>
            </a:r>
          </a:p>
          <a:p>
            <a:pPr eaLnBrk="1" hangingPunct="1">
              <a:buFont typeface="Symbol" panose="05050102010706020507" pitchFamily="18" charset="2"/>
              <a:buNone/>
            </a:pPr>
            <a:endParaRPr lang="en-US" altLang="zh-CN" sz="2800" b="1" dirty="0">
              <a:solidFill>
                <a:schemeClr val="tx1"/>
              </a:solidFill>
            </a:endParaRPr>
          </a:p>
          <a:p>
            <a:pPr eaLnBrk="1" hangingPunct="1">
              <a:buFont typeface="Symbol" panose="05050102010706020507" pitchFamily="18" charset="2"/>
              <a:buNone/>
            </a:pPr>
            <a:endParaRPr lang="en-US" altLang="zh-CN" sz="2800" b="1" dirty="0">
              <a:solidFill>
                <a:schemeClr val="tx1"/>
              </a:solidFill>
            </a:endParaRPr>
          </a:p>
          <a:p>
            <a:pPr eaLnBrk="1" hangingPunct="1">
              <a:buFont typeface="Symbol" panose="05050102010706020507" pitchFamily="18" charset="2"/>
              <a:buNone/>
            </a:pPr>
            <a:endParaRPr lang="en-US" altLang="zh-CN" sz="2800" b="1" dirty="0">
              <a:solidFill>
                <a:schemeClr val="tx1"/>
              </a:solidFill>
            </a:endParaRPr>
          </a:p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</a:rPr>
              <a:t>字母表</a:t>
            </a:r>
            <a:r>
              <a:rPr lang="en-US" altLang="zh-CN" sz="2800" b="1" i="1" dirty="0">
                <a:solidFill>
                  <a:schemeClr val="tx1"/>
                </a:solidFill>
              </a:rPr>
              <a:t>Σ</a:t>
            </a:r>
            <a:r>
              <a:rPr lang="zh-CN" altLang="en-US" sz="2800" b="1" dirty="0">
                <a:solidFill>
                  <a:schemeClr val="tx1"/>
                </a:solidFill>
              </a:rPr>
              <a:t>中符号</a:t>
            </a:r>
            <a:r>
              <a:rPr lang="en-US" altLang="zh-CN" sz="2800" b="1" i="1" dirty="0">
                <a:solidFill>
                  <a:srgbClr val="FF0000"/>
                </a:solidFill>
              </a:rPr>
              <a:t>a</a:t>
            </a:r>
            <a:r>
              <a:rPr lang="zh-CN" altLang="en-US" sz="2800" b="1" dirty="0">
                <a:solidFill>
                  <a:schemeClr val="tx1"/>
                </a:solidFill>
              </a:rPr>
              <a:t>对应的</a:t>
            </a:r>
            <a:r>
              <a:rPr lang="en-US" altLang="zh-CN" sz="2800" b="1" i="1" dirty="0">
                <a:solidFill>
                  <a:schemeClr val="tx1"/>
                </a:solidFill>
              </a:rPr>
              <a:t>NFA</a:t>
            </a:r>
          </a:p>
        </p:txBody>
      </p:sp>
      <p:sp>
        <p:nvSpPr>
          <p:cNvPr id="52228" name="标题 3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根据</a:t>
            </a:r>
            <a:r>
              <a:rPr lang="en-US" altLang="zh-CN" sz="3000" i="1" dirty="0">
                <a:solidFill>
                  <a:prstClr val="black"/>
                </a:solidFill>
                <a:ea typeface="微软雅黑" pitchFamily="34" charset="-122"/>
                <a:cs typeface="Times New Roman" pitchFamily="18" charset="0"/>
              </a:rPr>
              <a:t>RE </a:t>
            </a:r>
            <a:r>
              <a:rPr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构造</a:t>
            </a:r>
            <a:r>
              <a:rPr lang="en-US" altLang="zh-CN" sz="3000" i="1" dirty="0">
                <a:solidFill>
                  <a:prstClr val="black"/>
                </a:solidFill>
                <a:ea typeface="微软雅黑" pitchFamily="34" charset="-122"/>
                <a:cs typeface="Times New Roman" pitchFamily="18" charset="0"/>
              </a:rPr>
              <a:t>NFA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1244600" y="1812925"/>
            <a:ext cx="3338513" cy="830263"/>
            <a:chOff x="3131840" y="3373964"/>
            <a:chExt cx="3026835" cy="731068"/>
          </a:xfrm>
        </p:grpSpPr>
        <p:sp>
          <p:nvSpPr>
            <p:cNvPr id="81936" name="Oval 10"/>
            <p:cNvSpPr>
              <a:spLocks noChangeArrowheads="1"/>
            </p:cNvSpPr>
            <p:nvPr/>
          </p:nvSpPr>
          <p:spPr bwMode="auto">
            <a:xfrm>
              <a:off x="4164103" y="3504029"/>
              <a:ext cx="559721" cy="520564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5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q</a:t>
              </a:r>
              <a:r>
                <a:rPr kumimoji="0" lang="en-US" altLang="zh-CN" sz="2500" b="1" i="1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0</a:t>
              </a:r>
            </a:p>
          </p:txBody>
        </p:sp>
        <p:sp>
          <p:nvSpPr>
            <p:cNvPr id="81937" name="Line 13"/>
            <p:cNvSpPr>
              <a:spLocks noChangeShapeType="1"/>
            </p:cNvSpPr>
            <p:nvPr/>
          </p:nvSpPr>
          <p:spPr bwMode="auto">
            <a:xfrm>
              <a:off x="4723825" y="3768596"/>
              <a:ext cx="6596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1938" name="Rectangle 14"/>
            <p:cNvSpPr>
              <a:spLocks noChangeArrowheads="1"/>
            </p:cNvSpPr>
            <p:nvPr/>
          </p:nvSpPr>
          <p:spPr bwMode="auto">
            <a:xfrm>
              <a:off x="4711933" y="3373964"/>
              <a:ext cx="659634" cy="4150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5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ε</a:t>
              </a:r>
              <a:endPara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81939" name="Oval 15"/>
            <p:cNvSpPr>
              <a:spLocks noChangeArrowheads="1"/>
            </p:cNvSpPr>
            <p:nvPr/>
          </p:nvSpPr>
          <p:spPr bwMode="auto">
            <a:xfrm>
              <a:off x="5481833" y="3494665"/>
              <a:ext cx="566843" cy="52056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5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q</a:t>
              </a:r>
              <a:r>
                <a:rPr kumimoji="0" lang="en-US" altLang="zh-CN" sz="2500" b="1" i="1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f</a:t>
              </a:r>
            </a:p>
          </p:txBody>
        </p:sp>
        <p:sp>
          <p:nvSpPr>
            <p:cNvPr id="81940" name="Rectangle 22"/>
            <p:cNvSpPr>
              <a:spLocks noChangeArrowheads="1"/>
            </p:cNvSpPr>
            <p:nvPr/>
          </p:nvSpPr>
          <p:spPr bwMode="auto">
            <a:xfrm>
              <a:off x="3131840" y="3538847"/>
              <a:ext cx="659767" cy="4149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5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sp>
          <p:nvSpPr>
            <p:cNvPr id="81941" name="Line 21"/>
            <p:cNvSpPr>
              <a:spLocks noChangeShapeType="1"/>
            </p:cNvSpPr>
            <p:nvPr/>
          </p:nvSpPr>
          <p:spPr bwMode="auto">
            <a:xfrm flipV="1">
              <a:off x="3791607" y="3766199"/>
              <a:ext cx="3298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1942" name="Oval 39"/>
            <p:cNvSpPr>
              <a:spLocks noChangeArrowheads="1"/>
            </p:cNvSpPr>
            <p:nvPr/>
          </p:nvSpPr>
          <p:spPr bwMode="auto">
            <a:xfrm>
              <a:off x="5371567" y="3378077"/>
              <a:ext cx="787108" cy="72695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组合 27"/>
          <p:cNvGrpSpPr>
            <a:grpSpLocks/>
          </p:cNvGrpSpPr>
          <p:nvPr/>
        </p:nvGrpSpPr>
        <p:grpSpPr bwMode="auto">
          <a:xfrm>
            <a:off x="1339850" y="3643313"/>
            <a:ext cx="3294063" cy="857250"/>
            <a:chOff x="3227737" y="3199654"/>
            <a:chExt cx="3293528" cy="1144483"/>
          </a:xfrm>
        </p:grpSpPr>
        <p:sp>
          <p:nvSpPr>
            <p:cNvPr id="81929" name="Oval 10"/>
            <p:cNvSpPr>
              <a:spLocks noChangeArrowheads="1"/>
            </p:cNvSpPr>
            <p:nvPr/>
          </p:nvSpPr>
          <p:spPr bwMode="auto">
            <a:xfrm>
              <a:off x="4367793" y="3428987"/>
              <a:ext cx="591326" cy="70620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5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q</a:t>
              </a:r>
              <a:r>
                <a:rPr kumimoji="0" lang="en-US" altLang="zh-CN" sz="2500" b="1" i="1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0</a:t>
              </a:r>
            </a:p>
          </p:txBody>
        </p:sp>
        <p:sp>
          <p:nvSpPr>
            <p:cNvPr id="81930" name="Line 13"/>
            <p:cNvSpPr>
              <a:spLocks noChangeShapeType="1"/>
            </p:cNvSpPr>
            <p:nvPr/>
          </p:nvSpPr>
          <p:spPr bwMode="auto">
            <a:xfrm>
              <a:off x="4959119" y="3768594"/>
              <a:ext cx="6596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1931" name="Rectangle 14"/>
            <p:cNvSpPr>
              <a:spLocks noChangeArrowheads="1"/>
            </p:cNvSpPr>
            <p:nvPr/>
          </p:nvSpPr>
          <p:spPr bwMode="auto">
            <a:xfrm>
              <a:off x="4887678" y="3199654"/>
              <a:ext cx="659634" cy="4150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5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  <a:endPara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1932" name="Oval 15"/>
            <p:cNvSpPr>
              <a:spLocks noChangeArrowheads="1"/>
            </p:cNvSpPr>
            <p:nvPr/>
          </p:nvSpPr>
          <p:spPr bwMode="auto">
            <a:xfrm>
              <a:off x="5756606" y="3403932"/>
              <a:ext cx="643043" cy="79204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5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q</a:t>
              </a:r>
              <a:r>
                <a:rPr kumimoji="0" lang="en-US" altLang="zh-CN" sz="2500" b="1" i="1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f</a:t>
              </a:r>
            </a:p>
          </p:txBody>
        </p:sp>
        <p:sp>
          <p:nvSpPr>
            <p:cNvPr id="81933" name="Rectangle 22"/>
            <p:cNvSpPr>
              <a:spLocks noChangeArrowheads="1"/>
            </p:cNvSpPr>
            <p:nvPr/>
          </p:nvSpPr>
          <p:spPr bwMode="auto">
            <a:xfrm>
              <a:off x="3227737" y="3559290"/>
              <a:ext cx="659767" cy="414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5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sp>
          <p:nvSpPr>
            <p:cNvPr id="81934" name="Line 21"/>
            <p:cNvSpPr>
              <a:spLocks noChangeShapeType="1"/>
            </p:cNvSpPr>
            <p:nvPr/>
          </p:nvSpPr>
          <p:spPr bwMode="auto">
            <a:xfrm flipV="1">
              <a:off x="3986266" y="3766195"/>
              <a:ext cx="3298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1935" name="Oval 39"/>
            <p:cNvSpPr>
              <a:spLocks noChangeArrowheads="1"/>
            </p:cNvSpPr>
            <p:nvPr/>
          </p:nvSpPr>
          <p:spPr bwMode="auto">
            <a:xfrm>
              <a:off x="5644622" y="3254746"/>
              <a:ext cx="876643" cy="108939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1926" name="组合 4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22" name="五边形 21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1928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/>
          <p:cNvSpPr/>
          <p:nvPr/>
        </p:nvSpPr>
        <p:spPr>
          <a:xfrm>
            <a:off x="3913188" y="508000"/>
            <a:ext cx="4835525" cy="9683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529411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571500"/>
            <a:ext cx="3614265" cy="4794250"/>
          </a:xfrm>
        </p:spPr>
        <p:txBody>
          <a:bodyPr rtlCol="0"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en-US" altLang="zh-CN" sz="3000" b="1" i="1" dirty="0">
                <a:solidFill>
                  <a:schemeClr val="tx1"/>
                </a:solidFill>
                <a:ea typeface="楷体_GB2312"/>
                <a:cs typeface="楷体_GB2312"/>
              </a:rPr>
              <a:t>r </a:t>
            </a:r>
            <a:r>
              <a:rPr lang="en-US" altLang="zh-CN" sz="3000" b="1" dirty="0">
                <a:solidFill>
                  <a:schemeClr val="tx1"/>
                </a:solidFill>
                <a:ea typeface="楷体_GB2312"/>
                <a:cs typeface="楷体_GB2312"/>
              </a:rPr>
              <a:t>= </a:t>
            </a:r>
            <a:r>
              <a:rPr lang="en-US" altLang="zh-CN" sz="3000" b="1" i="1" dirty="0">
                <a:solidFill>
                  <a:schemeClr val="tx1"/>
                </a:solidFill>
                <a:ea typeface="楷体_GB2312"/>
                <a:cs typeface="楷体_GB2312"/>
              </a:rPr>
              <a:t>r</a:t>
            </a:r>
            <a:r>
              <a:rPr lang="en-US" altLang="zh-CN" sz="30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1</a:t>
            </a:r>
            <a:r>
              <a:rPr lang="en-US" altLang="zh-CN" sz="3000" b="1" i="1" dirty="0">
                <a:solidFill>
                  <a:schemeClr val="tx1"/>
                </a:solidFill>
                <a:ea typeface="楷体_GB2312"/>
                <a:cs typeface="楷体_GB2312"/>
              </a:rPr>
              <a:t>r</a:t>
            </a:r>
            <a:r>
              <a:rPr lang="en-US" altLang="zh-CN" sz="30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2</a:t>
            </a:r>
            <a:r>
              <a:rPr lang="zh-CN" altLang="en-US" sz="2800" b="1" dirty="0">
                <a:solidFill>
                  <a:prstClr val="black"/>
                </a:solidFill>
              </a:rPr>
              <a:t>对应的</a:t>
            </a:r>
            <a:r>
              <a:rPr lang="en-US" altLang="zh-CN" sz="2800" b="1" i="1" dirty="0">
                <a:solidFill>
                  <a:prstClr val="black"/>
                </a:solidFill>
              </a:rPr>
              <a:t>NFA</a:t>
            </a:r>
            <a:endParaRPr lang="en-US" altLang="zh-CN" sz="3000" b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marL="0" indent="0" eaLnBrk="1" fontAlgn="auto" hangingPunct="1">
              <a:spcAft>
                <a:spcPts val="0"/>
              </a:spcAft>
              <a:buFont typeface="Symbol" panose="05050102010706020507" pitchFamily="18" charset="2"/>
              <a:buNone/>
              <a:defRPr/>
            </a:pPr>
            <a:endParaRPr lang="en-US" altLang="zh-CN" sz="3000" b="1" i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marL="274320" indent="-274320" eaLnBrk="1" fontAlgn="auto" hangingPunct="1"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endParaRPr lang="en-US" altLang="zh-CN" sz="3000" b="1" i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marL="274320" indent="-274320" eaLnBrk="1" fontAlgn="auto" hangingPunct="1"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en-US" altLang="zh-CN" sz="3000" b="1" i="1" dirty="0">
                <a:solidFill>
                  <a:schemeClr val="tx1"/>
                </a:solidFill>
                <a:ea typeface="楷体_GB2312"/>
                <a:cs typeface="楷体_GB2312"/>
              </a:rPr>
              <a:t>r </a:t>
            </a:r>
            <a:r>
              <a:rPr lang="en-US" altLang="zh-CN" sz="3000" b="1" dirty="0">
                <a:solidFill>
                  <a:schemeClr val="tx1"/>
                </a:solidFill>
                <a:ea typeface="楷体_GB2312"/>
                <a:cs typeface="楷体_GB2312"/>
              </a:rPr>
              <a:t>= </a:t>
            </a:r>
            <a:r>
              <a:rPr lang="en-US" altLang="zh-CN" sz="3000" b="1" i="1" dirty="0">
                <a:solidFill>
                  <a:schemeClr val="tx1"/>
                </a:solidFill>
                <a:ea typeface="楷体_GB2312"/>
                <a:cs typeface="楷体_GB2312"/>
              </a:rPr>
              <a:t>r</a:t>
            </a:r>
            <a:r>
              <a:rPr lang="en-US" altLang="zh-CN" sz="30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1</a:t>
            </a:r>
            <a:r>
              <a:rPr lang="en-US" altLang="zh-CN" sz="3000" b="1" i="1" dirty="0">
                <a:solidFill>
                  <a:schemeClr val="tx1"/>
                </a:solidFill>
                <a:ea typeface="楷体_GB2312"/>
                <a:cs typeface="楷体_GB2312"/>
              </a:rPr>
              <a:t>|r</a:t>
            </a:r>
            <a:r>
              <a:rPr lang="en-US" altLang="zh-CN" sz="30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2</a:t>
            </a:r>
            <a:r>
              <a:rPr lang="zh-CN" altLang="en-US" sz="2800" b="1" dirty="0">
                <a:solidFill>
                  <a:prstClr val="black"/>
                </a:solidFill>
              </a:rPr>
              <a:t>对应的</a:t>
            </a:r>
            <a:r>
              <a:rPr lang="en-US" altLang="zh-CN" sz="2800" b="1" i="1" dirty="0">
                <a:solidFill>
                  <a:prstClr val="black"/>
                </a:solidFill>
              </a:rPr>
              <a:t>NFA</a:t>
            </a:r>
            <a:endParaRPr lang="en-US" altLang="zh-CN" sz="3000" b="1" i="1" baseline="-25000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marL="0" indent="0" eaLnBrk="1" fontAlgn="auto" hangingPunct="1">
              <a:spcAft>
                <a:spcPts val="0"/>
              </a:spcAft>
              <a:buFont typeface="Symbol" panose="05050102010706020507" pitchFamily="18" charset="2"/>
              <a:buNone/>
              <a:defRPr/>
            </a:pPr>
            <a:endParaRPr lang="en-US" altLang="zh-CN" sz="3000" b="1" i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marL="0" indent="0" eaLnBrk="1" fontAlgn="auto" hangingPunct="1">
              <a:spcAft>
                <a:spcPts val="0"/>
              </a:spcAft>
              <a:buFont typeface="Symbol" panose="05050102010706020507" pitchFamily="18" charset="2"/>
              <a:buNone/>
              <a:defRPr/>
            </a:pPr>
            <a:endParaRPr lang="en-US" altLang="zh-CN" sz="3000" b="1" i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marL="274320" indent="-274320" eaLnBrk="1" fontAlgn="auto" hangingPunct="1"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en-US" altLang="zh-CN" sz="3000" b="1" i="1" dirty="0">
                <a:solidFill>
                  <a:schemeClr val="tx1"/>
                </a:solidFill>
                <a:ea typeface="楷体_GB2312"/>
                <a:cs typeface="楷体_GB2312"/>
              </a:rPr>
              <a:t>r </a:t>
            </a:r>
            <a:r>
              <a:rPr lang="en-US" altLang="zh-CN" sz="3000" b="1" dirty="0">
                <a:solidFill>
                  <a:schemeClr val="tx1"/>
                </a:solidFill>
                <a:ea typeface="楷体_GB2312"/>
                <a:cs typeface="楷体_GB2312"/>
              </a:rPr>
              <a:t>= (</a:t>
            </a:r>
            <a:r>
              <a:rPr lang="en-US" altLang="zh-CN" sz="3000" b="1" i="1" dirty="0">
                <a:solidFill>
                  <a:schemeClr val="tx1"/>
                </a:solidFill>
                <a:ea typeface="楷体_GB2312"/>
                <a:cs typeface="楷体_GB2312"/>
              </a:rPr>
              <a:t>r</a:t>
            </a:r>
            <a:r>
              <a:rPr lang="en-US" altLang="zh-CN" sz="30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1</a:t>
            </a:r>
            <a:r>
              <a:rPr lang="en-US" altLang="zh-CN" sz="3000" b="1" dirty="0">
                <a:solidFill>
                  <a:schemeClr val="tx1"/>
                </a:solidFill>
                <a:ea typeface="楷体_GB2312"/>
                <a:cs typeface="楷体_GB2312"/>
              </a:rPr>
              <a:t>)</a:t>
            </a:r>
            <a:r>
              <a:rPr lang="zh-CN" altLang="en-US" sz="3000" b="1" baseline="30000" dirty="0">
                <a:solidFill>
                  <a:schemeClr val="tx1"/>
                </a:solidFill>
                <a:ea typeface="楷体_GB2312"/>
                <a:cs typeface="楷体_GB2312"/>
              </a:rPr>
              <a:t>*</a:t>
            </a:r>
            <a:r>
              <a:rPr lang="zh-CN" altLang="en-US" sz="2800" b="1" dirty="0">
                <a:solidFill>
                  <a:prstClr val="black"/>
                </a:solidFill>
              </a:rPr>
              <a:t>对应的</a:t>
            </a:r>
            <a:r>
              <a:rPr lang="en-US" altLang="zh-CN" sz="2800" b="1" i="1" dirty="0">
                <a:solidFill>
                  <a:prstClr val="black"/>
                </a:solidFill>
              </a:rPr>
              <a:t>NFA</a:t>
            </a:r>
            <a:endParaRPr lang="en-US" altLang="zh-CN" sz="3000" b="1" baseline="-25000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lvl="1" indent="-274320" eaLnBrk="1" fontAlgn="auto" hangingPunct="1">
              <a:spcAft>
                <a:spcPts val="0"/>
              </a:spcAft>
              <a:defRPr/>
            </a:pPr>
            <a:endParaRPr lang="en-US" altLang="zh-CN" sz="2400" baseline="-25000" dirty="0">
              <a:ea typeface="楷体_GB2312"/>
              <a:cs typeface="楷体_GB2312"/>
            </a:endParaRPr>
          </a:p>
        </p:txBody>
      </p:sp>
      <p:grpSp>
        <p:nvGrpSpPr>
          <p:cNvPr id="83972" name="组合 4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3" name="五边形 12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4006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83973" name="组合 25"/>
          <p:cNvGrpSpPr>
            <a:grpSpLocks/>
          </p:cNvGrpSpPr>
          <p:nvPr/>
        </p:nvGrpSpPr>
        <p:grpSpPr bwMode="auto">
          <a:xfrm>
            <a:off x="3924300" y="573088"/>
            <a:ext cx="4694238" cy="855662"/>
            <a:chOff x="2805123" y="71420"/>
            <a:chExt cx="4693620" cy="856108"/>
          </a:xfrm>
        </p:grpSpPr>
        <p:grpSp>
          <p:nvGrpSpPr>
            <p:cNvPr id="83994" name="组合 14"/>
            <p:cNvGrpSpPr>
              <a:grpSpLocks/>
            </p:cNvGrpSpPr>
            <p:nvPr/>
          </p:nvGrpSpPr>
          <p:grpSpPr bwMode="auto">
            <a:xfrm>
              <a:off x="2805123" y="71421"/>
              <a:ext cx="4693620" cy="856107"/>
              <a:chOff x="3131840" y="3373964"/>
              <a:chExt cx="4255438" cy="753824"/>
            </a:xfrm>
          </p:grpSpPr>
          <p:sp>
            <p:nvSpPr>
              <p:cNvPr id="83998" name="Oval 10"/>
              <p:cNvSpPr>
                <a:spLocks noChangeArrowheads="1"/>
              </p:cNvSpPr>
              <p:nvPr/>
            </p:nvSpPr>
            <p:spPr bwMode="auto">
              <a:xfrm>
                <a:off x="4164103" y="3504029"/>
                <a:ext cx="559721" cy="52056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b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5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q</a:t>
                </a:r>
                <a:r>
                  <a:rPr kumimoji="0" lang="en-US" altLang="zh-CN" sz="2500" b="1" i="0" u="none" strike="noStrike" kern="1200" cap="none" spc="0" normalizeH="0" baseline="-2500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0</a:t>
                </a:r>
              </a:p>
            </p:txBody>
          </p:sp>
          <p:sp>
            <p:nvSpPr>
              <p:cNvPr id="83999" name="Line 13"/>
              <p:cNvSpPr>
                <a:spLocks noChangeShapeType="1"/>
              </p:cNvSpPr>
              <p:nvPr/>
            </p:nvSpPr>
            <p:spPr bwMode="auto">
              <a:xfrm>
                <a:off x="4723825" y="3768596"/>
                <a:ext cx="65963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4000" name="Rectangle 14"/>
              <p:cNvSpPr>
                <a:spLocks noChangeArrowheads="1"/>
              </p:cNvSpPr>
              <p:nvPr/>
            </p:nvSpPr>
            <p:spPr bwMode="auto">
              <a:xfrm>
                <a:off x="4711933" y="3373964"/>
                <a:ext cx="659634" cy="4150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5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r</a:t>
                </a:r>
                <a:r>
                  <a:rPr kumimoji="0" lang="en-US" altLang="zh-CN" sz="2500" b="1" i="0" u="none" strike="noStrike" kern="1200" cap="none" spc="0" normalizeH="0" baseline="-2500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1</a:t>
                </a:r>
              </a:p>
            </p:txBody>
          </p:sp>
          <p:sp>
            <p:nvSpPr>
              <p:cNvPr id="84001" name="Rectangle 22"/>
              <p:cNvSpPr>
                <a:spLocks noChangeArrowheads="1"/>
              </p:cNvSpPr>
              <p:nvPr/>
            </p:nvSpPr>
            <p:spPr bwMode="auto">
              <a:xfrm>
                <a:off x="3131840" y="3538847"/>
                <a:ext cx="659767" cy="4149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5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start</a:t>
                </a:r>
              </a:p>
            </p:txBody>
          </p:sp>
          <p:sp>
            <p:nvSpPr>
              <p:cNvPr id="84002" name="Line 21"/>
              <p:cNvSpPr>
                <a:spLocks noChangeShapeType="1"/>
              </p:cNvSpPr>
              <p:nvPr/>
            </p:nvSpPr>
            <p:spPr bwMode="auto">
              <a:xfrm flipV="1">
                <a:off x="3791607" y="3766199"/>
                <a:ext cx="32988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4003" name="Oval 39"/>
              <p:cNvSpPr>
                <a:spLocks noChangeArrowheads="1"/>
              </p:cNvSpPr>
              <p:nvPr/>
            </p:nvSpPr>
            <p:spPr bwMode="auto">
              <a:xfrm>
                <a:off x="6600169" y="3400833"/>
                <a:ext cx="787109" cy="726955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4004" name="Oval 15"/>
              <p:cNvSpPr>
                <a:spLocks noChangeArrowheads="1"/>
              </p:cNvSpPr>
              <p:nvPr/>
            </p:nvSpPr>
            <p:spPr bwMode="auto">
              <a:xfrm>
                <a:off x="6722327" y="3504029"/>
                <a:ext cx="566844" cy="52056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b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5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q</a:t>
                </a:r>
                <a:r>
                  <a:rPr kumimoji="0" lang="en-US" altLang="zh-CN" sz="2500" b="1" i="1" u="none" strike="noStrike" kern="1200" cap="none" spc="0" normalizeH="0" baseline="-2500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f</a:t>
                </a:r>
              </a:p>
            </p:txBody>
          </p:sp>
        </p:grpSp>
        <p:sp>
          <p:nvSpPr>
            <p:cNvPr id="83995" name="Line 13"/>
            <p:cNvSpPr>
              <a:spLocks noChangeShapeType="1"/>
            </p:cNvSpPr>
            <p:nvPr/>
          </p:nvSpPr>
          <p:spPr bwMode="auto">
            <a:xfrm>
              <a:off x="5916144" y="519598"/>
              <a:ext cx="72755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3996" name="Rectangle 14"/>
            <p:cNvSpPr>
              <a:spLocks noChangeArrowheads="1"/>
            </p:cNvSpPr>
            <p:nvPr/>
          </p:nvSpPr>
          <p:spPr bwMode="auto">
            <a:xfrm>
              <a:off x="5903028" y="71420"/>
              <a:ext cx="727558" cy="471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5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r</a:t>
              </a:r>
              <a:r>
                <a:rPr kumimoji="0" lang="en-US" altLang="zh-CN" sz="2500" b="1" i="0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</a:p>
          </p:txBody>
        </p:sp>
        <p:sp>
          <p:nvSpPr>
            <p:cNvPr id="83997" name="Oval 10"/>
            <p:cNvSpPr>
              <a:spLocks noChangeArrowheads="1"/>
            </p:cNvSpPr>
            <p:nvPr/>
          </p:nvSpPr>
          <p:spPr bwMode="auto">
            <a:xfrm>
              <a:off x="5298787" y="219133"/>
              <a:ext cx="617356" cy="59119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5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q</a:t>
              </a:r>
              <a:r>
                <a:rPr kumimoji="0" lang="en-US" altLang="zh-CN" sz="2500" b="1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</a:p>
          </p:txBody>
        </p:sp>
      </p:grpSp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3913188" y="1571625"/>
            <a:ext cx="4835525" cy="1614488"/>
            <a:chOff x="3912751" y="1813322"/>
            <a:chExt cx="4835713" cy="1614488"/>
          </a:xfrm>
        </p:grpSpPr>
        <p:sp>
          <p:nvSpPr>
            <p:cNvPr id="40" name="矩形 39"/>
            <p:cNvSpPr/>
            <p:nvPr/>
          </p:nvSpPr>
          <p:spPr>
            <a:xfrm>
              <a:off x="3912751" y="1892697"/>
              <a:ext cx="4835713" cy="153511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endParaRPr>
            </a:p>
          </p:txBody>
        </p:sp>
        <p:grpSp>
          <p:nvGrpSpPr>
            <p:cNvPr id="83984" name="组合 29"/>
            <p:cNvGrpSpPr>
              <a:grpSpLocks/>
            </p:cNvGrpSpPr>
            <p:nvPr/>
          </p:nvGrpSpPr>
          <p:grpSpPr bwMode="auto">
            <a:xfrm>
              <a:off x="4283968" y="2284743"/>
              <a:ext cx="4071937" cy="825635"/>
              <a:chOff x="3131840" y="3436867"/>
              <a:chExt cx="3691818" cy="726955"/>
            </a:xfrm>
          </p:grpSpPr>
          <p:sp>
            <p:nvSpPr>
              <p:cNvPr id="83989" name="Oval 10"/>
              <p:cNvSpPr>
                <a:spLocks noChangeArrowheads="1"/>
              </p:cNvSpPr>
              <p:nvPr/>
            </p:nvSpPr>
            <p:spPr bwMode="auto">
              <a:xfrm>
                <a:off x="4164103" y="3504029"/>
                <a:ext cx="559721" cy="52056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b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5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q</a:t>
                </a:r>
                <a:r>
                  <a:rPr kumimoji="0" lang="en-US" altLang="zh-CN" sz="2500" b="1" i="0" u="none" strike="noStrike" kern="1200" cap="none" spc="0" normalizeH="0" baseline="-2500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0</a:t>
                </a:r>
              </a:p>
            </p:txBody>
          </p:sp>
          <p:sp>
            <p:nvSpPr>
              <p:cNvPr id="83990" name="Rectangle 22"/>
              <p:cNvSpPr>
                <a:spLocks noChangeArrowheads="1"/>
              </p:cNvSpPr>
              <p:nvPr/>
            </p:nvSpPr>
            <p:spPr bwMode="auto">
              <a:xfrm>
                <a:off x="3131840" y="3538847"/>
                <a:ext cx="659767" cy="4149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5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start</a:t>
                </a:r>
              </a:p>
            </p:txBody>
          </p:sp>
          <p:sp>
            <p:nvSpPr>
              <p:cNvPr id="83991" name="Line 21"/>
              <p:cNvSpPr>
                <a:spLocks noChangeShapeType="1"/>
              </p:cNvSpPr>
              <p:nvPr/>
            </p:nvSpPr>
            <p:spPr bwMode="auto">
              <a:xfrm flipV="1">
                <a:off x="3791607" y="3766199"/>
                <a:ext cx="32988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3992" name="Oval 39"/>
              <p:cNvSpPr>
                <a:spLocks noChangeArrowheads="1"/>
              </p:cNvSpPr>
              <p:nvPr/>
            </p:nvSpPr>
            <p:spPr bwMode="auto">
              <a:xfrm>
                <a:off x="6036549" y="3436867"/>
                <a:ext cx="787109" cy="726955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993" name="Oval 15"/>
              <p:cNvSpPr>
                <a:spLocks noChangeArrowheads="1"/>
              </p:cNvSpPr>
              <p:nvPr/>
            </p:nvSpPr>
            <p:spPr bwMode="auto">
              <a:xfrm>
                <a:off x="6146815" y="3553455"/>
                <a:ext cx="566844" cy="520563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b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5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q</a:t>
                </a:r>
                <a:r>
                  <a:rPr kumimoji="0" lang="en-US" altLang="zh-CN" sz="2500" b="1" i="1" u="none" strike="noStrike" kern="1200" cap="none" spc="0" normalizeH="0" baseline="-2500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f</a:t>
                </a:r>
              </a:p>
            </p:txBody>
          </p:sp>
        </p:grpSp>
        <p:sp>
          <p:nvSpPr>
            <p:cNvPr id="38" name="任意多边形 37"/>
            <p:cNvSpPr/>
            <p:nvPr/>
          </p:nvSpPr>
          <p:spPr bwMode="auto">
            <a:xfrm flipV="1">
              <a:off x="6030558" y="2284810"/>
              <a:ext cx="1484370" cy="317500"/>
            </a:xfrm>
            <a:custGeom>
              <a:avLst/>
              <a:gdLst>
                <a:gd name="connsiteX0" fmla="*/ 0 w 1669143"/>
                <a:gd name="connsiteY0" fmla="*/ 0 h 349055"/>
                <a:gd name="connsiteX1" fmla="*/ 870857 w 1669143"/>
                <a:gd name="connsiteY1" fmla="*/ 348343 h 349055"/>
                <a:gd name="connsiteX2" fmla="*/ 1669143 w 1669143"/>
                <a:gd name="connsiteY2" fmla="*/ 72571 h 34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69143" h="349055">
                  <a:moveTo>
                    <a:pt x="0" y="0"/>
                  </a:moveTo>
                  <a:cubicBezTo>
                    <a:pt x="296333" y="168124"/>
                    <a:pt x="592667" y="336248"/>
                    <a:pt x="870857" y="348343"/>
                  </a:cubicBezTo>
                  <a:cubicBezTo>
                    <a:pt x="1149047" y="360438"/>
                    <a:pt x="1409095" y="216504"/>
                    <a:pt x="1669143" y="72571"/>
                  </a:cubicBezTo>
                </a:path>
              </a:pathLst>
            </a:cu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39" name="任意多边形 38"/>
            <p:cNvSpPr/>
            <p:nvPr/>
          </p:nvSpPr>
          <p:spPr bwMode="auto">
            <a:xfrm>
              <a:off x="6014683" y="2784872"/>
              <a:ext cx="1484370" cy="285750"/>
            </a:xfrm>
            <a:custGeom>
              <a:avLst/>
              <a:gdLst>
                <a:gd name="connsiteX0" fmla="*/ 0 w 1669143"/>
                <a:gd name="connsiteY0" fmla="*/ 0 h 349055"/>
                <a:gd name="connsiteX1" fmla="*/ 870857 w 1669143"/>
                <a:gd name="connsiteY1" fmla="*/ 348343 h 349055"/>
                <a:gd name="connsiteX2" fmla="*/ 1669143 w 1669143"/>
                <a:gd name="connsiteY2" fmla="*/ 72571 h 34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69143" h="349055">
                  <a:moveTo>
                    <a:pt x="0" y="0"/>
                  </a:moveTo>
                  <a:cubicBezTo>
                    <a:pt x="296333" y="168124"/>
                    <a:pt x="592667" y="336248"/>
                    <a:pt x="870857" y="348343"/>
                  </a:cubicBezTo>
                  <a:cubicBezTo>
                    <a:pt x="1149047" y="360438"/>
                    <a:pt x="1409095" y="216504"/>
                    <a:pt x="1669143" y="72571"/>
                  </a:cubicBezTo>
                </a:path>
              </a:pathLst>
            </a:cu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83987" name="Rectangle 14"/>
            <p:cNvSpPr>
              <a:spLocks noChangeArrowheads="1"/>
            </p:cNvSpPr>
            <p:nvPr/>
          </p:nvSpPr>
          <p:spPr bwMode="auto">
            <a:xfrm>
              <a:off x="6485353" y="1813322"/>
              <a:ext cx="727552" cy="47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5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r</a:t>
              </a:r>
              <a:r>
                <a:rPr kumimoji="0" lang="en-US" altLang="zh-CN" sz="2500" b="1" i="0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</a:p>
          </p:txBody>
        </p:sp>
        <p:sp>
          <p:nvSpPr>
            <p:cNvPr id="83988" name="Rectangle 14"/>
            <p:cNvSpPr>
              <a:spLocks noChangeArrowheads="1"/>
            </p:cNvSpPr>
            <p:nvPr/>
          </p:nvSpPr>
          <p:spPr bwMode="auto">
            <a:xfrm>
              <a:off x="6427092" y="2956389"/>
              <a:ext cx="727553" cy="47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5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r</a:t>
              </a:r>
              <a:r>
                <a:rPr kumimoji="0" lang="en-US" altLang="zh-CN" sz="2500" b="1" i="0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</a:p>
          </p:txBody>
        </p:sp>
      </p:grpSp>
      <p:grpSp>
        <p:nvGrpSpPr>
          <p:cNvPr id="7" name="组合 1"/>
          <p:cNvGrpSpPr>
            <a:grpSpLocks/>
          </p:cNvGrpSpPr>
          <p:nvPr/>
        </p:nvGrpSpPr>
        <p:grpSpPr bwMode="auto">
          <a:xfrm>
            <a:off x="3894138" y="3235325"/>
            <a:ext cx="4835525" cy="1693863"/>
            <a:chOff x="3894138" y="3363913"/>
            <a:chExt cx="4835525" cy="1693862"/>
          </a:xfrm>
        </p:grpSpPr>
        <p:sp>
          <p:nvSpPr>
            <p:cNvPr id="41" name="矩形 40"/>
            <p:cNvSpPr/>
            <p:nvPr/>
          </p:nvSpPr>
          <p:spPr bwMode="auto">
            <a:xfrm>
              <a:off x="3894138" y="3500438"/>
              <a:ext cx="4835525" cy="155733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83977" name="Oval 39"/>
            <p:cNvSpPr>
              <a:spLocks noChangeArrowheads="1"/>
            </p:cNvSpPr>
            <p:nvPr/>
          </p:nvSpPr>
          <p:spPr bwMode="auto">
            <a:xfrm>
              <a:off x="5789656" y="4181067"/>
              <a:ext cx="867642" cy="82526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3978" name="Freeform 11"/>
            <p:cNvSpPr>
              <a:spLocks/>
            </p:cNvSpPr>
            <p:nvPr/>
          </p:nvSpPr>
          <p:spPr bwMode="auto">
            <a:xfrm>
              <a:off x="6005219" y="3792369"/>
              <a:ext cx="499770" cy="383294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3979" name="Rectangle 14"/>
            <p:cNvSpPr>
              <a:spLocks noChangeArrowheads="1"/>
            </p:cNvSpPr>
            <p:nvPr/>
          </p:nvSpPr>
          <p:spPr bwMode="auto">
            <a:xfrm>
              <a:off x="5932448" y="3363913"/>
              <a:ext cx="727125" cy="471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5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r</a:t>
              </a:r>
              <a:r>
                <a:rPr kumimoji="0" lang="en-US" altLang="zh-CN" sz="2500" b="1" i="0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</a:p>
          </p:txBody>
        </p:sp>
        <p:sp>
          <p:nvSpPr>
            <p:cNvPr id="83980" name="Oval 15"/>
            <p:cNvSpPr>
              <a:spLocks noChangeArrowheads="1"/>
            </p:cNvSpPr>
            <p:nvPr/>
          </p:nvSpPr>
          <p:spPr bwMode="auto">
            <a:xfrm>
              <a:off x="5911205" y="4313420"/>
              <a:ext cx="624841" cy="59095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5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q</a:t>
              </a:r>
              <a:r>
                <a:rPr kumimoji="0" lang="en-US" altLang="zh-CN" sz="2500" b="1" i="0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0</a:t>
              </a:r>
            </a:p>
          </p:txBody>
        </p:sp>
        <p:sp>
          <p:nvSpPr>
            <p:cNvPr id="83981" name="Rectangle 22"/>
            <p:cNvSpPr>
              <a:spLocks noChangeArrowheads="1"/>
            </p:cNvSpPr>
            <p:nvPr/>
          </p:nvSpPr>
          <p:spPr bwMode="auto">
            <a:xfrm>
              <a:off x="4705350" y="4300538"/>
              <a:ext cx="72707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5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sp>
          <p:nvSpPr>
            <p:cNvPr id="83982" name="Line 21"/>
            <p:cNvSpPr>
              <a:spLocks noChangeShapeType="1"/>
            </p:cNvSpPr>
            <p:nvPr/>
          </p:nvSpPr>
          <p:spPr bwMode="auto">
            <a:xfrm flipV="1">
              <a:off x="5432425" y="4557713"/>
              <a:ext cx="363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4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3000" spc="300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:</a:t>
            </a:r>
            <a:r>
              <a:rPr lang="en-US" altLang="zh-CN" sz="3000" i="1" spc="300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3000" spc="300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=(</a:t>
            </a:r>
            <a:r>
              <a:rPr lang="en-US" altLang="zh-CN" sz="3000" i="1" spc="300" dirty="0" err="1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3000" spc="300" dirty="0" err="1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3000" i="1" spc="300" dirty="0" err="1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3000" spc="300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3000" spc="300" baseline="30000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*</a:t>
            </a:r>
            <a:r>
              <a:rPr lang="en-US" altLang="zh-CN" sz="3000" i="1" dirty="0" err="1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abb</a:t>
            </a:r>
            <a:r>
              <a:rPr lang="en-US" altLang="zh-CN" sz="3000" i="1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3000" spc="300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对应的</a:t>
            </a:r>
            <a:r>
              <a:rPr lang="en-US" altLang="zh-CN" sz="3000" i="1" spc="300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NFA</a:t>
            </a:r>
            <a:endParaRPr lang="zh-CN" altLang="en-US" sz="3000" i="1" spc="300" dirty="0">
              <a:solidFill>
                <a:schemeClr val="tx1"/>
              </a:solidFill>
              <a:ea typeface="微软雅黑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86019" name="组合 4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9" name="五边形 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086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" name="组合 16"/>
          <p:cNvGrpSpPr>
            <a:grpSpLocks/>
          </p:cNvGrpSpPr>
          <p:nvPr/>
        </p:nvGrpSpPr>
        <p:grpSpPr bwMode="auto">
          <a:xfrm>
            <a:off x="2555875" y="928688"/>
            <a:ext cx="3529013" cy="469900"/>
            <a:chOff x="2555776" y="1071397"/>
            <a:chExt cx="3528392" cy="470323"/>
          </a:xfrm>
        </p:grpSpPr>
        <p:sp>
          <p:nvSpPr>
            <p:cNvPr id="86078" name="Oval 10"/>
            <p:cNvSpPr>
              <a:spLocks noChangeArrowheads="1"/>
            </p:cNvSpPr>
            <p:nvPr/>
          </p:nvSpPr>
          <p:spPr bwMode="auto">
            <a:xfrm>
              <a:off x="3545582" y="1323219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1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79" name="Line 13"/>
            <p:cNvSpPr>
              <a:spLocks noChangeShapeType="1"/>
            </p:cNvSpPr>
            <p:nvPr/>
          </p:nvSpPr>
          <p:spPr bwMode="auto">
            <a:xfrm flipV="1">
              <a:off x="3723173" y="1427598"/>
              <a:ext cx="2095310" cy="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080" name="Rectangle 14"/>
            <p:cNvSpPr>
              <a:spLocks noChangeArrowheads="1"/>
            </p:cNvSpPr>
            <p:nvPr/>
          </p:nvSpPr>
          <p:spPr bwMode="auto">
            <a:xfrm>
              <a:off x="4202197" y="1071397"/>
              <a:ext cx="990898" cy="310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(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a|b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)</a:t>
              </a:r>
              <a:r>
                <a:rPr kumimoji="0" lang="en-US" altLang="zh-CN" sz="2000" b="1" i="1" u="none" strike="noStrike" kern="1200" cap="none" spc="0" normalizeH="0" baseline="30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*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abb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81" name="Rectangle 22"/>
            <p:cNvSpPr>
              <a:spLocks noChangeArrowheads="1"/>
            </p:cNvSpPr>
            <p:nvPr/>
          </p:nvSpPr>
          <p:spPr bwMode="auto">
            <a:xfrm>
              <a:off x="2555776" y="1211578"/>
              <a:ext cx="659874" cy="310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sp>
          <p:nvSpPr>
            <p:cNvPr id="86082" name="Line 21"/>
            <p:cNvSpPr>
              <a:spLocks noChangeShapeType="1"/>
            </p:cNvSpPr>
            <p:nvPr/>
          </p:nvSpPr>
          <p:spPr bwMode="auto">
            <a:xfrm flipV="1">
              <a:off x="3173743" y="1427602"/>
              <a:ext cx="3299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083" name="Oval 10"/>
            <p:cNvSpPr>
              <a:spLocks noChangeArrowheads="1"/>
            </p:cNvSpPr>
            <p:nvPr/>
          </p:nvSpPr>
          <p:spPr bwMode="auto">
            <a:xfrm>
              <a:off x="5818483" y="1262281"/>
              <a:ext cx="265685" cy="27943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400" b="1" i="1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84" name="Oval 10"/>
            <p:cNvSpPr>
              <a:spLocks noChangeArrowheads="1"/>
            </p:cNvSpPr>
            <p:nvPr/>
          </p:nvSpPr>
          <p:spPr bwMode="auto">
            <a:xfrm>
              <a:off x="5871165" y="1315243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1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</p:grpSp>
      <p:grpSp>
        <p:nvGrpSpPr>
          <p:cNvPr id="6" name="组合 12"/>
          <p:cNvGrpSpPr>
            <a:grpSpLocks/>
          </p:cNvGrpSpPr>
          <p:nvPr/>
        </p:nvGrpSpPr>
        <p:grpSpPr bwMode="auto">
          <a:xfrm>
            <a:off x="2555875" y="1882775"/>
            <a:ext cx="3529013" cy="614363"/>
            <a:chOff x="2267744" y="2026119"/>
            <a:chExt cx="3528392" cy="614476"/>
          </a:xfrm>
        </p:grpSpPr>
        <p:sp>
          <p:nvSpPr>
            <p:cNvPr id="86061" name="Rectangle 14"/>
            <p:cNvSpPr>
              <a:spLocks noChangeArrowheads="1"/>
            </p:cNvSpPr>
            <p:nvPr/>
          </p:nvSpPr>
          <p:spPr bwMode="auto">
            <a:xfrm>
              <a:off x="2329494" y="2329691"/>
              <a:ext cx="659741" cy="310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62" name="Rectangle 22"/>
            <p:cNvSpPr>
              <a:spLocks noChangeArrowheads="1"/>
            </p:cNvSpPr>
            <p:nvPr/>
          </p:nvSpPr>
          <p:spPr bwMode="auto">
            <a:xfrm>
              <a:off x="2267744" y="2159796"/>
              <a:ext cx="659874" cy="310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sp>
          <p:nvSpPr>
            <p:cNvPr id="86063" name="Line 21"/>
            <p:cNvSpPr>
              <a:spLocks noChangeShapeType="1"/>
            </p:cNvSpPr>
            <p:nvPr/>
          </p:nvSpPr>
          <p:spPr bwMode="auto">
            <a:xfrm flipV="1">
              <a:off x="2885711" y="2357977"/>
              <a:ext cx="3299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064" name="Rectangle 14"/>
            <p:cNvSpPr>
              <a:spLocks noChangeArrowheads="1"/>
            </p:cNvSpPr>
            <p:nvPr/>
          </p:nvSpPr>
          <p:spPr bwMode="auto">
            <a:xfrm>
              <a:off x="4079744" y="2026119"/>
              <a:ext cx="659741" cy="310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65" name="Line 21"/>
            <p:cNvSpPr>
              <a:spLocks noChangeShapeType="1"/>
            </p:cNvSpPr>
            <p:nvPr/>
          </p:nvSpPr>
          <p:spPr bwMode="auto">
            <a:xfrm flipV="1">
              <a:off x="4253863" y="2354203"/>
              <a:ext cx="3299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066" name="Rectangle 14"/>
            <p:cNvSpPr>
              <a:spLocks noChangeArrowheads="1"/>
            </p:cNvSpPr>
            <p:nvPr/>
          </p:nvSpPr>
          <p:spPr bwMode="auto">
            <a:xfrm>
              <a:off x="4583800" y="2039611"/>
              <a:ext cx="659741" cy="310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67" name="Line 21"/>
            <p:cNvSpPr>
              <a:spLocks noChangeShapeType="1"/>
            </p:cNvSpPr>
            <p:nvPr/>
          </p:nvSpPr>
          <p:spPr bwMode="auto">
            <a:xfrm flipV="1">
              <a:off x="4757919" y="2367695"/>
              <a:ext cx="3299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068" name="Rectangle 14"/>
            <p:cNvSpPr>
              <a:spLocks noChangeArrowheads="1"/>
            </p:cNvSpPr>
            <p:nvPr/>
          </p:nvSpPr>
          <p:spPr bwMode="auto">
            <a:xfrm>
              <a:off x="5087856" y="2035618"/>
              <a:ext cx="659741" cy="310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69" name="Line 21"/>
            <p:cNvSpPr>
              <a:spLocks noChangeShapeType="1"/>
            </p:cNvSpPr>
            <p:nvPr/>
          </p:nvSpPr>
          <p:spPr bwMode="auto">
            <a:xfrm flipV="1">
              <a:off x="5261975" y="2363702"/>
              <a:ext cx="3299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070" name="Rectangle 14"/>
            <p:cNvSpPr>
              <a:spLocks noChangeArrowheads="1"/>
            </p:cNvSpPr>
            <p:nvPr/>
          </p:nvSpPr>
          <p:spPr bwMode="auto">
            <a:xfrm>
              <a:off x="3420003" y="2027387"/>
              <a:ext cx="659741" cy="310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 (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a|b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)</a:t>
              </a:r>
              <a:r>
                <a:rPr kumimoji="0" lang="en-US" altLang="zh-CN" sz="2000" b="1" i="1" u="none" strike="noStrike" kern="1200" cap="none" spc="0" normalizeH="0" baseline="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*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71" name="Line 21"/>
            <p:cNvSpPr>
              <a:spLocks noChangeShapeType="1"/>
            </p:cNvSpPr>
            <p:nvPr/>
          </p:nvSpPr>
          <p:spPr bwMode="auto">
            <a:xfrm>
              <a:off x="3446031" y="2350515"/>
              <a:ext cx="6499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072" name="Oval 10"/>
            <p:cNvSpPr>
              <a:spLocks noChangeArrowheads="1"/>
            </p:cNvSpPr>
            <p:nvPr/>
          </p:nvSpPr>
          <p:spPr bwMode="auto">
            <a:xfrm>
              <a:off x="3256530" y="2259323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1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73" name="Oval 10"/>
            <p:cNvSpPr>
              <a:spLocks noChangeArrowheads="1"/>
            </p:cNvSpPr>
            <p:nvPr/>
          </p:nvSpPr>
          <p:spPr bwMode="auto">
            <a:xfrm>
              <a:off x="4079744" y="2259323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1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74" name="Oval 10"/>
            <p:cNvSpPr>
              <a:spLocks noChangeArrowheads="1"/>
            </p:cNvSpPr>
            <p:nvPr/>
          </p:nvSpPr>
          <p:spPr bwMode="auto">
            <a:xfrm>
              <a:off x="4583800" y="2259323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1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75" name="Oval 10"/>
            <p:cNvSpPr>
              <a:spLocks noChangeArrowheads="1"/>
            </p:cNvSpPr>
            <p:nvPr/>
          </p:nvSpPr>
          <p:spPr bwMode="auto">
            <a:xfrm>
              <a:off x="5087856" y="2259323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1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76" name="Oval 10"/>
            <p:cNvSpPr>
              <a:spLocks noChangeArrowheads="1"/>
            </p:cNvSpPr>
            <p:nvPr/>
          </p:nvSpPr>
          <p:spPr bwMode="auto">
            <a:xfrm>
              <a:off x="5530451" y="2220303"/>
              <a:ext cx="265685" cy="27943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400" b="1" i="1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77" name="Oval 10"/>
            <p:cNvSpPr>
              <a:spLocks noChangeArrowheads="1"/>
            </p:cNvSpPr>
            <p:nvPr/>
          </p:nvSpPr>
          <p:spPr bwMode="auto">
            <a:xfrm>
              <a:off x="5571333" y="2273265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1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</p:grpSp>
      <p:grpSp>
        <p:nvGrpSpPr>
          <p:cNvPr id="8" name="组合 9"/>
          <p:cNvGrpSpPr>
            <a:grpSpLocks/>
          </p:cNvGrpSpPr>
          <p:nvPr/>
        </p:nvGrpSpPr>
        <p:grpSpPr bwMode="auto">
          <a:xfrm>
            <a:off x="3065463" y="2719388"/>
            <a:ext cx="3090862" cy="941387"/>
            <a:chOff x="3115617" y="2862915"/>
            <a:chExt cx="3090220" cy="940947"/>
          </a:xfrm>
        </p:grpSpPr>
        <p:sp>
          <p:nvSpPr>
            <p:cNvPr id="86045" name="Rectangle 14"/>
            <p:cNvSpPr>
              <a:spLocks noChangeArrowheads="1"/>
            </p:cNvSpPr>
            <p:nvPr/>
          </p:nvSpPr>
          <p:spPr bwMode="auto">
            <a:xfrm>
              <a:off x="3177367" y="3492958"/>
              <a:ext cx="659741" cy="310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46" name="Rectangle 22"/>
            <p:cNvSpPr>
              <a:spLocks noChangeArrowheads="1"/>
            </p:cNvSpPr>
            <p:nvPr/>
          </p:nvSpPr>
          <p:spPr bwMode="auto">
            <a:xfrm>
              <a:off x="3115617" y="3323063"/>
              <a:ext cx="659874" cy="310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sp>
          <p:nvSpPr>
            <p:cNvPr id="86047" name="Line 21"/>
            <p:cNvSpPr>
              <a:spLocks noChangeShapeType="1"/>
            </p:cNvSpPr>
            <p:nvPr/>
          </p:nvSpPr>
          <p:spPr bwMode="auto">
            <a:xfrm flipV="1">
              <a:off x="3733584" y="3517579"/>
              <a:ext cx="3299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048" name="Rectangle 14"/>
            <p:cNvSpPr>
              <a:spLocks noChangeArrowheads="1"/>
            </p:cNvSpPr>
            <p:nvPr/>
          </p:nvSpPr>
          <p:spPr bwMode="auto">
            <a:xfrm>
              <a:off x="4439784" y="3189386"/>
              <a:ext cx="659741" cy="310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49" name="Rectangle 14"/>
            <p:cNvSpPr>
              <a:spLocks noChangeArrowheads="1"/>
            </p:cNvSpPr>
            <p:nvPr/>
          </p:nvSpPr>
          <p:spPr bwMode="auto">
            <a:xfrm>
              <a:off x="4943840" y="3202878"/>
              <a:ext cx="659741" cy="310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50" name="Line 21"/>
            <p:cNvSpPr>
              <a:spLocks noChangeShapeType="1"/>
            </p:cNvSpPr>
            <p:nvPr/>
          </p:nvSpPr>
          <p:spPr bwMode="auto">
            <a:xfrm flipV="1">
              <a:off x="5117959" y="3530962"/>
              <a:ext cx="3299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051" name="Rectangle 14"/>
            <p:cNvSpPr>
              <a:spLocks noChangeArrowheads="1"/>
            </p:cNvSpPr>
            <p:nvPr/>
          </p:nvSpPr>
          <p:spPr bwMode="auto">
            <a:xfrm>
              <a:off x="5447896" y="3198885"/>
              <a:ext cx="659741" cy="310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52" name="Line 21"/>
            <p:cNvSpPr>
              <a:spLocks noChangeShapeType="1"/>
            </p:cNvSpPr>
            <p:nvPr/>
          </p:nvSpPr>
          <p:spPr bwMode="auto">
            <a:xfrm flipV="1">
              <a:off x="5622015" y="3526969"/>
              <a:ext cx="3299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053" name="Rectangle 14"/>
            <p:cNvSpPr>
              <a:spLocks noChangeArrowheads="1"/>
            </p:cNvSpPr>
            <p:nvPr/>
          </p:nvSpPr>
          <p:spPr bwMode="auto">
            <a:xfrm>
              <a:off x="3835828" y="2862915"/>
              <a:ext cx="659741" cy="310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 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a|b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54" name="Line 21"/>
            <p:cNvSpPr>
              <a:spLocks noChangeShapeType="1"/>
            </p:cNvSpPr>
            <p:nvPr/>
          </p:nvSpPr>
          <p:spPr bwMode="auto">
            <a:xfrm>
              <a:off x="4293904" y="3513782"/>
              <a:ext cx="6499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055" name="Oval 10"/>
            <p:cNvSpPr>
              <a:spLocks noChangeArrowheads="1"/>
            </p:cNvSpPr>
            <p:nvPr/>
          </p:nvSpPr>
          <p:spPr bwMode="auto">
            <a:xfrm>
              <a:off x="4104403" y="3422590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1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56" name="Oval 10"/>
            <p:cNvSpPr>
              <a:spLocks noChangeArrowheads="1"/>
            </p:cNvSpPr>
            <p:nvPr/>
          </p:nvSpPr>
          <p:spPr bwMode="auto">
            <a:xfrm>
              <a:off x="4943840" y="3422590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1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57" name="Oval 10"/>
            <p:cNvSpPr>
              <a:spLocks noChangeArrowheads="1"/>
            </p:cNvSpPr>
            <p:nvPr/>
          </p:nvSpPr>
          <p:spPr bwMode="auto">
            <a:xfrm>
              <a:off x="5447896" y="3422590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1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3" name="任意多边形 2"/>
            <p:cNvSpPr/>
            <p:nvPr/>
          </p:nvSpPr>
          <p:spPr>
            <a:xfrm>
              <a:off x="3955230" y="3189787"/>
              <a:ext cx="442821" cy="271335"/>
            </a:xfrm>
            <a:custGeom>
              <a:avLst/>
              <a:gdLst>
                <a:gd name="connsiteX0" fmla="*/ 212698 w 602308"/>
                <a:gd name="connsiteY0" fmla="*/ 462993 h 462993"/>
                <a:gd name="connsiteX1" fmla="*/ 2491 w 602308"/>
                <a:gd name="connsiteY1" fmla="*/ 168704 h 462993"/>
                <a:gd name="connsiteX2" fmla="*/ 338822 w 602308"/>
                <a:gd name="connsiteY2" fmla="*/ 538 h 462993"/>
                <a:gd name="connsiteX3" fmla="*/ 601581 w 602308"/>
                <a:gd name="connsiteY3" fmla="*/ 221255 h 462993"/>
                <a:gd name="connsiteX4" fmla="*/ 401884 w 602308"/>
                <a:gd name="connsiteY4" fmla="*/ 441973 h 462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2308" h="462993">
                  <a:moveTo>
                    <a:pt x="212698" y="462993"/>
                  </a:moveTo>
                  <a:cubicBezTo>
                    <a:pt x="97084" y="354386"/>
                    <a:pt x="-18530" y="245780"/>
                    <a:pt x="2491" y="168704"/>
                  </a:cubicBezTo>
                  <a:cubicBezTo>
                    <a:pt x="23512" y="91628"/>
                    <a:pt x="238974" y="-8221"/>
                    <a:pt x="338822" y="538"/>
                  </a:cubicBezTo>
                  <a:cubicBezTo>
                    <a:pt x="438670" y="9296"/>
                    <a:pt x="591071" y="147683"/>
                    <a:pt x="601581" y="221255"/>
                  </a:cubicBezTo>
                  <a:cubicBezTo>
                    <a:pt x="612091" y="294827"/>
                    <a:pt x="506987" y="368400"/>
                    <a:pt x="401884" y="441973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86059" name="Oval 10"/>
            <p:cNvSpPr>
              <a:spLocks noChangeArrowheads="1"/>
            </p:cNvSpPr>
            <p:nvPr/>
          </p:nvSpPr>
          <p:spPr bwMode="auto">
            <a:xfrm>
              <a:off x="5940152" y="3372431"/>
              <a:ext cx="265685" cy="27943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400" b="1" i="1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60" name="Oval 10"/>
            <p:cNvSpPr>
              <a:spLocks noChangeArrowheads="1"/>
            </p:cNvSpPr>
            <p:nvPr/>
          </p:nvSpPr>
          <p:spPr bwMode="auto">
            <a:xfrm>
              <a:off x="5981034" y="3425393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1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</p:grpSp>
      <p:grpSp>
        <p:nvGrpSpPr>
          <p:cNvPr id="10" name="组合 7"/>
          <p:cNvGrpSpPr>
            <a:grpSpLocks/>
          </p:cNvGrpSpPr>
          <p:nvPr/>
        </p:nvGrpSpPr>
        <p:grpSpPr bwMode="auto">
          <a:xfrm>
            <a:off x="3065463" y="3656013"/>
            <a:ext cx="3062287" cy="1293812"/>
            <a:chOff x="3143640" y="3799019"/>
            <a:chExt cx="3062197" cy="1293011"/>
          </a:xfrm>
        </p:grpSpPr>
        <p:sp>
          <p:nvSpPr>
            <p:cNvPr id="86027" name="Rectangle 14"/>
            <p:cNvSpPr>
              <a:spLocks noChangeArrowheads="1"/>
            </p:cNvSpPr>
            <p:nvPr/>
          </p:nvSpPr>
          <p:spPr bwMode="auto">
            <a:xfrm>
              <a:off x="3205390" y="4429062"/>
              <a:ext cx="659741" cy="310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28" name="Rectangle 22"/>
            <p:cNvSpPr>
              <a:spLocks noChangeArrowheads="1"/>
            </p:cNvSpPr>
            <p:nvPr/>
          </p:nvSpPr>
          <p:spPr bwMode="auto">
            <a:xfrm>
              <a:off x="3143640" y="4259167"/>
              <a:ext cx="659874" cy="310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sp>
          <p:nvSpPr>
            <p:cNvPr id="86029" name="Line 21"/>
            <p:cNvSpPr>
              <a:spLocks noChangeShapeType="1"/>
            </p:cNvSpPr>
            <p:nvPr/>
          </p:nvSpPr>
          <p:spPr bwMode="auto">
            <a:xfrm flipV="1">
              <a:off x="3761607" y="4445657"/>
              <a:ext cx="3299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030" name="Rectangle 14"/>
            <p:cNvSpPr>
              <a:spLocks noChangeArrowheads="1"/>
            </p:cNvSpPr>
            <p:nvPr/>
          </p:nvSpPr>
          <p:spPr bwMode="auto">
            <a:xfrm>
              <a:off x="4467807" y="4125490"/>
              <a:ext cx="659741" cy="310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31" name="Rectangle 14"/>
            <p:cNvSpPr>
              <a:spLocks noChangeArrowheads="1"/>
            </p:cNvSpPr>
            <p:nvPr/>
          </p:nvSpPr>
          <p:spPr bwMode="auto">
            <a:xfrm>
              <a:off x="4971863" y="4138982"/>
              <a:ext cx="659741" cy="310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32" name="Line 21"/>
            <p:cNvSpPr>
              <a:spLocks noChangeShapeType="1"/>
            </p:cNvSpPr>
            <p:nvPr/>
          </p:nvSpPr>
          <p:spPr bwMode="auto">
            <a:xfrm flipV="1">
              <a:off x="5145982" y="4467066"/>
              <a:ext cx="3299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033" name="Rectangle 14"/>
            <p:cNvSpPr>
              <a:spLocks noChangeArrowheads="1"/>
            </p:cNvSpPr>
            <p:nvPr/>
          </p:nvSpPr>
          <p:spPr bwMode="auto">
            <a:xfrm>
              <a:off x="5475919" y="4134989"/>
              <a:ext cx="659741" cy="310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34" name="Line 21"/>
            <p:cNvSpPr>
              <a:spLocks noChangeShapeType="1"/>
            </p:cNvSpPr>
            <p:nvPr/>
          </p:nvSpPr>
          <p:spPr bwMode="auto">
            <a:xfrm flipV="1">
              <a:off x="5650038" y="4463073"/>
              <a:ext cx="3299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035" name="Rectangle 14"/>
            <p:cNvSpPr>
              <a:spLocks noChangeArrowheads="1"/>
            </p:cNvSpPr>
            <p:nvPr/>
          </p:nvSpPr>
          <p:spPr bwMode="auto">
            <a:xfrm>
              <a:off x="3863851" y="3799019"/>
              <a:ext cx="659741" cy="310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 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36" name="Line 21"/>
            <p:cNvSpPr>
              <a:spLocks noChangeShapeType="1"/>
            </p:cNvSpPr>
            <p:nvPr/>
          </p:nvSpPr>
          <p:spPr bwMode="auto">
            <a:xfrm>
              <a:off x="4321927" y="4449886"/>
              <a:ext cx="6499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037" name="Oval 10"/>
            <p:cNvSpPr>
              <a:spLocks noChangeArrowheads="1"/>
            </p:cNvSpPr>
            <p:nvPr/>
          </p:nvSpPr>
          <p:spPr bwMode="auto">
            <a:xfrm>
              <a:off x="4132426" y="4358694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1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38" name="Oval 10"/>
            <p:cNvSpPr>
              <a:spLocks noChangeArrowheads="1"/>
            </p:cNvSpPr>
            <p:nvPr/>
          </p:nvSpPr>
          <p:spPr bwMode="auto">
            <a:xfrm>
              <a:off x="4971863" y="4358694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1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39" name="Oval 10"/>
            <p:cNvSpPr>
              <a:spLocks noChangeArrowheads="1"/>
            </p:cNvSpPr>
            <p:nvPr/>
          </p:nvSpPr>
          <p:spPr bwMode="auto">
            <a:xfrm>
              <a:off x="5475919" y="4358694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1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173" name="任意多边形 172"/>
            <p:cNvSpPr/>
            <p:nvPr/>
          </p:nvSpPr>
          <p:spPr>
            <a:xfrm>
              <a:off x="3991340" y="4125842"/>
              <a:ext cx="442899" cy="271294"/>
            </a:xfrm>
            <a:custGeom>
              <a:avLst/>
              <a:gdLst>
                <a:gd name="connsiteX0" fmla="*/ 212698 w 602308"/>
                <a:gd name="connsiteY0" fmla="*/ 462993 h 462993"/>
                <a:gd name="connsiteX1" fmla="*/ 2491 w 602308"/>
                <a:gd name="connsiteY1" fmla="*/ 168704 h 462993"/>
                <a:gd name="connsiteX2" fmla="*/ 338822 w 602308"/>
                <a:gd name="connsiteY2" fmla="*/ 538 h 462993"/>
                <a:gd name="connsiteX3" fmla="*/ 601581 w 602308"/>
                <a:gd name="connsiteY3" fmla="*/ 221255 h 462993"/>
                <a:gd name="connsiteX4" fmla="*/ 401884 w 602308"/>
                <a:gd name="connsiteY4" fmla="*/ 441973 h 462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2308" h="462993">
                  <a:moveTo>
                    <a:pt x="212698" y="462993"/>
                  </a:moveTo>
                  <a:cubicBezTo>
                    <a:pt x="97084" y="354386"/>
                    <a:pt x="-18530" y="245780"/>
                    <a:pt x="2491" y="168704"/>
                  </a:cubicBezTo>
                  <a:cubicBezTo>
                    <a:pt x="23512" y="91628"/>
                    <a:pt x="238974" y="-8221"/>
                    <a:pt x="338822" y="538"/>
                  </a:cubicBezTo>
                  <a:cubicBezTo>
                    <a:pt x="438670" y="9296"/>
                    <a:pt x="591071" y="147683"/>
                    <a:pt x="601581" y="221255"/>
                  </a:cubicBezTo>
                  <a:cubicBezTo>
                    <a:pt x="612091" y="294827"/>
                    <a:pt x="506987" y="368400"/>
                    <a:pt x="401884" y="441973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4" name="任意多边形 3"/>
            <p:cNvSpPr/>
            <p:nvPr/>
          </p:nvSpPr>
          <p:spPr>
            <a:xfrm>
              <a:off x="4013564" y="4508192"/>
              <a:ext cx="419088" cy="266535"/>
            </a:xfrm>
            <a:custGeom>
              <a:avLst/>
              <a:gdLst>
                <a:gd name="connsiteX0" fmla="*/ 120338 w 418828"/>
                <a:gd name="connsiteY0" fmla="*/ 0 h 266168"/>
                <a:gd name="connsiteX1" fmla="*/ 3380 w 418828"/>
                <a:gd name="connsiteY1" fmla="*/ 127591 h 266168"/>
                <a:gd name="connsiteX2" fmla="*/ 237296 w 418828"/>
                <a:gd name="connsiteY2" fmla="*/ 265814 h 266168"/>
                <a:gd name="connsiteX3" fmla="*/ 418049 w 418828"/>
                <a:gd name="connsiteY3" fmla="*/ 85060 h 266168"/>
                <a:gd name="connsiteX4" fmla="*/ 290459 w 418828"/>
                <a:gd name="connsiteY4" fmla="*/ 0 h 266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828" h="266168">
                  <a:moveTo>
                    <a:pt x="120338" y="0"/>
                  </a:moveTo>
                  <a:cubicBezTo>
                    <a:pt x="52112" y="41644"/>
                    <a:pt x="-16113" y="83289"/>
                    <a:pt x="3380" y="127591"/>
                  </a:cubicBezTo>
                  <a:cubicBezTo>
                    <a:pt x="22873" y="171893"/>
                    <a:pt x="168185" y="272902"/>
                    <a:pt x="237296" y="265814"/>
                  </a:cubicBezTo>
                  <a:cubicBezTo>
                    <a:pt x="306407" y="258726"/>
                    <a:pt x="409189" y="129362"/>
                    <a:pt x="418049" y="85060"/>
                  </a:cubicBezTo>
                  <a:cubicBezTo>
                    <a:pt x="426910" y="40758"/>
                    <a:pt x="358684" y="20379"/>
                    <a:pt x="290459" y="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86042" name="Rectangle 14"/>
            <p:cNvSpPr>
              <a:spLocks noChangeArrowheads="1"/>
            </p:cNvSpPr>
            <p:nvPr/>
          </p:nvSpPr>
          <p:spPr bwMode="auto">
            <a:xfrm>
              <a:off x="3898552" y="4781126"/>
              <a:ext cx="659741" cy="310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43" name="Oval 10"/>
            <p:cNvSpPr>
              <a:spLocks noChangeArrowheads="1"/>
            </p:cNvSpPr>
            <p:nvPr/>
          </p:nvSpPr>
          <p:spPr bwMode="auto">
            <a:xfrm>
              <a:off x="5940152" y="4308535"/>
              <a:ext cx="265685" cy="27943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400" b="1" i="1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44" name="Oval 10"/>
            <p:cNvSpPr>
              <a:spLocks noChangeArrowheads="1"/>
            </p:cNvSpPr>
            <p:nvPr/>
          </p:nvSpPr>
          <p:spPr bwMode="auto">
            <a:xfrm>
              <a:off x="5981034" y="4361497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1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</p:grpSp>
      <p:sp>
        <p:nvSpPr>
          <p:cNvPr id="18" name="下箭头 17"/>
          <p:cNvSpPr/>
          <p:nvPr/>
        </p:nvSpPr>
        <p:spPr>
          <a:xfrm>
            <a:off x="4384675" y="1492250"/>
            <a:ext cx="334963" cy="215900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81" name="下箭头 180"/>
          <p:cNvSpPr/>
          <p:nvPr/>
        </p:nvSpPr>
        <p:spPr>
          <a:xfrm>
            <a:off x="4379913" y="2644775"/>
            <a:ext cx="336550" cy="215900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82" name="下箭头 181"/>
          <p:cNvSpPr/>
          <p:nvPr/>
        </p:nvSpPr>
        <p:spPr>
          <a:xfrm>
            <a:off x="4379913" y="3652838"/>
            <a:ext cx="336550" cy="215900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1" grpId="0" animBg="1"/>
      <p:bldP spid="18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Grp="1" noChangeArrowheads="1"/>
          </p:cNvSpPr>
          <p:nvPr>
            <p:ph idx="1"/>
          </p:nvPr>
        </p:nvSpPr>
        <p:spPr>
          <a:xfrm>
            <a:off x="442913" y="1336675"/>
            <a:ext cx="1485900" cy="917575"/>
          </a:xfrm>
        </p:spPr>
        <p:txBody>
          <a:bodyPr/>
          <a:lstStyle/>
          <a:p>
            <a:pPr eaLnBrk="1" hangingPunct="1">
              <a:buClrTx/>
              <a:buFont typeface="Wingdings" pitchFamily="2" charset="2"/>
              <a:buChar char="Ø"/>
              <a:defRPr/>
            </a:pPr>
            <a:r>
              <a:rPr lang="zh-CN" altLang="en-US" sz="3000" b="1" dirty="0">
                <a:solidFill>
                  <a:schemeClr val="tx1"/>
                </a:solidFill>
                <a:latin typeface="+mn-ea"/>
              </a:rPr>
              <a:t>例</a:t>
            </a:r>
            <a:r>
              <a:rPr lang="en-US" altLang="zh-CN" sz="3000" b="1" dirty="0">
                <a:solidFill>
                  <a:schemeClr val="tx1"/>
                </a:solidFill>
                <a:latin typeface="+mn-ea"/>
              </a:rPr>
              <a:t>1</a:t>
            </a:r>
            <a:endParaRPr lang="zh-CN" altLang="en-US" sz="3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3.6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从</a:t>
            </a:r>
            <a:r>
              <a:rPr lang="en-US" altLang="zh-CN" sz="3000" i="1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NFA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到</a:t>
            </a:r>
            <a:r>
              <a:rPr lang="en-US" altLang="zh-CN" sz="3000" i="1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DFA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的转换</a:t>
            </a:r>
          </a:p>
        </p:txBody>
      </p:sp>
      <p:sp>
        <p:nvSpPr>
          <p:cNvPr id="92164" name="Rectangle 48"/>
          <p:cNvSpPr>
            <a:spLocks noChangeArrowheads="1"/>
          </p:cNvSpPr>
          <p:nvPr/>
        </p:nvSpPr>
        <p:spPr bwMode="auto">
          <a:xfrm>
            <a:off x="1897063" y="1406525"/>
            <a:ext cx="647700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NFA</a:t>
            </a:r>
            <a:r>
              <a:rPr kumimoji="0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：</a:t>
            </a:r>
          </a:p>
        </p:txBody>
      </p:sp>
      <p:grpSp>
        <p:nvGrpSpPr>
          <p:cNvPr id="2" name="组合 6"/>
          <p:cNvGrpSpPr>
            <a:grpSpLocks/>
          </p:cNvGrpSpPr>
          <p:nvPr/>
        </p:nvGrpSpPr>
        <p:grpSpPr bwMode="auto">
          <a:xfrm>
            <a:off x="6193654" y="2213298"/>
            <a:ext cx="504825" cy="500062"/>
            <a:chOff x="4107105" y="3856684"/>
            <a:chExt cx="504760" cy="500915"/>
          </a:xfrm>
        </p:grpSpPr>
        <p:sp>
          <p:nvSpPr>
            <p:cNvPr id="92254" name="Freeform 19"/>
            <p:cNvSpPr>
              <a:spLocks/>
            </p:cNvSpPr>
            <p:nvPr/>
          </p:nvSpPr>
          <p:spPr bwMode="auto">
            <a:xfrm>
              <a:off x="4168999" y="4132397"/>
              <a:ext cx="382539" cy="225202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55" name="Rectangle 20"/>
            <p:cNvSpPr>
              <a:spLocks noChangeArrowheads="1"/>
            </p:cNvSpPr>
            <p:nvPr/>
          </p:nvSpPr>
          <p:spPr bwMode="auto">
            <a:xfrm>
              <a:off x="4107105" y="3856684"/>
              <a:ext cx="504760" cy="2156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</p:grpSp>
      <p:grpSp>
        <p:nvGrpSpPr>
          <p:cNvPr id="3" name="组合 8"/>
          <p:cNvGrpSpPr>
            <a:grpSpLocks/>
          </p:cNvGrpSpPr>
          <p:nvPr/>
        </p:nvGrpSpPr>
        <p:grpSpPr bwMode="auto">
          <a:xfrm>
            <a:off x="7336654" y="2211710"/>
            <a:ext cx="504825" cy="512763"/>
            <a:chOff x="5261066" y="3856540"/>
            <a:chExt cx="504760" cy="512424"/>
          </a:xfrm>
        </p:grpSpPr>
        <p:sp>
          <p:nvSpPr>
            <p:cNvPr id="92252" name="Freeform 30"/>
            <p:cNvSpPr>
              <a:spLocks/>
            </p:cNvSpPr>
            <p:nvPr/>
          </p:nvSpPr>
          <p:spPr bwMode="auto">
            <a:xfrm>
              <a:off x="5311865" y="4143762"/>
              <a:ext cx="382538" cy="225202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53" name="Rectangle 31"/>
            <p:cNvSpPr>
              <a:spLocks noChangeArrowheads="1"/>
            </p:cNvSpPr>
            <p:nvPr/>
          </p:nvSpPr>
          <p:spPr bwMode="auto">
            <a:xfrm>
              <a:off x="5261066" y="3856540"/>
              <a:ext cx="504760" cy="2156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c</a:t>
              </a:r>
            </a:p>
          </p:txBody>
        </p:sp>
      </p:grp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4336279" y="2656210"/>
            <a:ext cx="1273175" cy="592138"/>
            <a:chOff x="2207112" y="4300037"/>
            <a:chExt cx="1272994" cy="593390"/>
          </a:xfrm>
        </p:grpSpPr>
        <p:sp>
          <p:nvSpPr>
            <p:cNvPr id="92249" name="Line 13"/>
            <p:cNvSpPr>
              <a:spLocks noChangeShapeType="1"/>
            </p:cNvSpPr>
            <p:nvPr/>
          </p:nvSpPr>
          <p:spPr bwMode="auto">
            <a:xfrm>
              <a:off x="2207112" y="4624137"/>
              <a:ext cx="6492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50" name="Rectangle 14"/>
            <p:cNvSpPr>
              <a:spLocks noChangeArrowheads="1"/>
            </p:cNvSpPr>
            <p:nvPr/>
          </p:nvSpPr>
          <p:spPr bwMode="auto">
            <a:xfrm>
              <a:off x="2235683" y="4300037"/>
              <a:ext cx="504760" cy="2156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</a:p>
          </p:txBody>
        </p:sp>
        <p:sp>
          <p:nvSpPr>
            <p:cNvPr id="9" name="Oval 10"/>
            <p:cNvSpPr>
              <a:spLocks noChangeArrowheads="1"/>
            </p:cNvSpPr>
            <p:nvPr/>
          </p:nvSpPr>
          <p:spPr bwMode="auto">
            <a:xfrm>
              <a:off x="2873767" y="4357308"/>
              <a:ext cx="606339" cy="53611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A,B</a:t>
              </a:r>
            </a:p>
          </p:txBody>
        </p:sp>
      </p:grpSp>
      <p:grpSp>
        <p:nvGrpSpPr>
          <p:cNvPr id="5" name="组合 5"/>
          <p:cNvGrpSpPr>
            <a:grpSpLocks/>
          </p:cNvGrpSpPr>
          <p:nvPr/>
        </p:nvGrpSpPr>
        <p:grpSpPr bwMode="auto">
          <a:xfrm>
            <a:off x="5622154" y="2641923"/>
            <a:ext cx="1092200" cy="606425"/>
            <a:chOff x="3530916" y="4286990"/>
            <a:chExt cx="1092050" cy="606437"/>
          </a:xfrm>
        </p:grpSpPr>
        <p:sp>
          <p:nvSpPr>
            <p:cNvPr id="92246" name="Line 16"/>
            <p:cNvSpPr>
              <a:spLocks noChangeShapeType="1"/>
            </p:cNvSpPr>
            <p:nvPr/>
          </p:nvSpPr>
          <p:spPr bwMode="auto">
            <a:xfrm>
              <a:off x="3530916" y="4624137"/>
              <a:ext cx="5047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47" name="Rectangle 17"/>
            <p:cNvSpPr>
              <a:spLocks noChangeArrowheads="1"/>
            </p:cNvSpPr>
            <p:nvPr/>
          </p:nvSpPr>
          <p:spPr bwMode="auto">
            <a:xfrm>
              <a:off x="3530916" y="4286990"/>
              <a:ext cx="504760" cy="2156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  <p:sp>
          <p:nvSpPr>
            <p:cNvPr id="11" name="Oval 10"/>
            <p:cNvSpPr>
              <a:spLocks noChangeArrowheads="1"/>
            </p:cNvSpPr>
            <p:nvPr/>
          </p:nvSpPr>
          <p:spPr bwMode="auto">
            <a:xfrm>
              <a:off x="4035672" y="4358428"/>
              <a:ext cx="587294" cy="53499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B,C</a:t>
              </a:r>
            </a:p>
          </p:txBody>
        </p:sp>
      </p:grpSp>
      <p:grpSp>
        <p:nvGrpSpPr>
          <p:cNvPr id="6" name="组合 7"/>
          <p:cNvGrpSpPr>
            <a:grpSpLocks/>
          </p:cNvGrpSpPr>
          <p:nvPr/>
        </p:nvGrpSpPr>
        <p:grpSpPr bwMode="auto">
          <a:xfrm>
            <a:off x="6714354" y="2641923"/>
            <a:ext cx="1154112" cy="714375"/>
            <a:chOff x="4683290" y="4287071"/>
            <a:chExt cx="1153963" cy="713504"/>
          </a:xfrm>
        </p:grpSpPr>
        <p:sp>
          <p:nvSpPr>
            <p:cNvPr id="92242" name="Line 21"/>
            <p:cNvSpPr>
              <a:spLocks noChangeShapeType="1"/>
            </p:cNvSpPr>
            <p:nvPr/>
          </p:nvSpPr>
          <p:spPr bwMode="auto">
            <a:xfrm>
              <a:off x="4692816" y="4636053"/>
              <a:ext cx="5047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43" name="Rectangle 22"/>
            <p:cNvSpPr>
              <a:spLocks noChangeArrowheads="1"/>
            </p:cNvSpPr>
            <p:nvPr/>
          </p:nvSpPr>
          <p:spPr bwMode="auto">
            <a:xfrm>
              <a:off x="4683290" y="4287071"/>
              <a:ext cx="504760" cy="2156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c</a:t>
              </a:r>
            </a:p>
          </p:txBody>
        </p:sp>
        <p:sp>
          <p:nvSpPr>
            <p:cNvPr id="92236" name="Oval 10"/>
            <p:cNvSpPr>
              <a:spLocks noChangeArrowheads="1"/>
            </p:cNvSpPr>
            <p:nvPr/>
          </p:nvSpPr>
          <p:spPr bwMode="auto">
            <a:xfrm>
              <a:off x="5259478" y="4429772"/>
              <a:ext cx="506348" cy="49945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C,D</a:t>
              </a:r>
            </a:p>
          </p:txBody>
        </p:sp>
        <p:sp>
          <p:nvSpPr>
            <p:cNvPr id="92245" name="Oval 45"/>
            <p:cNvSpPr>
              <a:spLocks noChangeArrowheads="1"/>
            </p:cNvSpPr>
            <p:nvPr/>
          </p:nvSpPr>
          <p:spPr bwMode="auto">
            <a:xfrm>
              <a:off x="5188050" y="4358423"/>
              <a:ext cx="649203" cy="64215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" name="组合 4"/>
          <p:cNvGrpSpPr>
            <a:grpSpLocks/>
          </p:cNvGrpSpPr>
          <p:nvPr/>
        </p:nvGrpSpPr>
        <p:grpSpPr bwMode="auto">
          <a:xfrm>
            <a:off x="5050654" y="2213298"/>
            <a:ext cx="504825" cy="503237"/>
            <a:chOff x="2883300" y="3904377"/>
            <a:chExt cx="504760" cy="504090"/>
          </a:xfrm>
        </p:grpSpPr>
        <p:sp>
          <p:nvSpPr>
            <p:cNvPr id="92240" name="Freeform 19"/>
            <p:cNvSpPr>
              <a:spLocks/>
            </p:cNvSpPr>
            <p:nvPr/>
          </p:nvSpPr>
          <p:spPr bwMode="auto">
            <a:xfrm>
              <a:off x="2945205" y="4183265"/>
              <a:ext cx="382538" cy="225202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41" name="Rectangle 20"/>
            <p:cNvSpPr>
              <a:spLocks noChangeArrowheads="1"/>
            </p:cNvSpPr>
            <p:nvPr/>
          </p:nvSpPr>
          <p:spPr bwMode="auto">
            <a:xfrm>
              <a:off x="2883300" y="3904377"/>
              <a:ext cx="504760" cy="2156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</a:p>
          </p:txBody>
        </p:sp>
      </p:grpSp>
      <p:grpSp>
        <p:nvGrpSpPr>
          <p:cNvPr id="8" name="组合 1"/>
          <p:cNvGrpSpPr>
            <a:grpSpLocks/>
          </p:cNvGrpSpPr>
          <p:nvPr/>
        </p:nvGrpSpPr>
        <p:grpSpPr bwMode="auto">
          <a:xfrm>
            <a:off x="1907404" y="2713360"/>
            <a:ext cx="2428875" cy="509588"/>
            <a:chOff x="-306523" y="4358493"/>
            <a:chExt cx="2429448" cy="508720"/>
          </a:xfrm>
        </p:grpSpPr>
        <p:sp>
          <p:nvSpPr>
            <p:cNvPr id="12" name="Oval 10"/>
            <p:cNvSpPr>
              <a:spLocks noChangeArrowheads="1"/>
            </p:cNvSpPr>
            <p:nvPr/>
          </p:nvSpPr>
          <p:spPr bwMode="auto">
            <a:xfrm>
              <a:off x="1557642" y="4358493"/>
              <a:ext cx="565283" cy="50872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</a:p>
          </p:txBody>
        </p:sp>
        <p:sp>
          <p:nvSpPr>
            <p:cNvPr id="92237" name="Rectangle 49"/>
            <p:cNvSpPr>
              <a:spLocks noChangeArrowheads="1"/>
            </p:cNvSpPr>
            <p:nvPr/>
          </p:nvSpPr>
          <p:spPr bwMode="auto">
            <a:xfrm>
              <a:off x="-306523" y="4389589"/>
              <a:ext cx="647615" cy="378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DFA</a:t>
              </a:r>
              <a:r>
                <a:rPr kumimoji="0" lang="zh-CN" altLang="en-US" sz="3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：</a:t>
              </a:r>
            </a:p>
          </p:txBody>
        </p:sp>
        <p:sp>
          <p:nvSpPr>
            <p:cNvPr id="92238" name="Line 21"/>
            <p:cNvSpPr>
              <a:spLocks noChangeShapeType="1"/>
            </p:cNvSpPr>
            <p:nvPr/>
          </p:nvSpPr>
          <p:spPr bwMode="auto">
            <a:xfrm flipV="1">
              <a:off x="1276087" y="4629330"/>
              <a:ext cx="252431" cy="672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39" name="Rectangle 22"/>
            <p:cNvSpPr>
              <a:spLocks noChangeArrowheads="1"/>
            </p:cNvSpPr>
            <p:nvPr/>
          </p:nvSpPr>
          <p:spPr bwMode="auto">
            <a:xfrm>
              <a:off x="693838" y="4498273"/>
              <a:ext cx="504861" cy="2156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5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</p:grpSp>
      <p:grpSp>
        <p:nvGrpSpPr>
          <p:cNvPr id="92172" name="组合 56"/>
          <p:cNvGrpSpPr>
            <a:grpSpLocks/>
          </p:cNvGrpSpPr>
          <p:nvPr/>
        </p:nvGrpSpPr>
        <p:grpSpPr bwMode="auto">
          <a:xfrm>
            <a:off x="2754313" y="642938"/>
            <a:ext cx="5175250" cy="1285875"/>
            <a:chOff x="2338388" y="1193800"/>
            <a:chExt cx="3889375" cy="755650"/>
          </a:xfrm>
        </p:grpSpPr>
        <p:grpSp>
          <p:nvGrpSpPr>
            <p:cNvPr id="92216" name="Group 4"/>
            <p:cNvGrpSpPr>
              <a:grpSpLocks/>
            </p:cNvGrpSpPr>
            <p:nvPr/>
          </p:nvGrpSpPr>
          <p:grpSpPr bwMode="auto">
            <a:xfrm>
              <a:off x="3060700" y="1193800"/>
              <a:ext cx="3167063" cy="755650"/>
              <a:chOff x="1247" y="2478"/>
              <a:chExt cx="1995" cy="634"/>
            </a:xfrm>
          </p:grpSpPr>
          <p:sp>
            <p:nvSpPr>
              <p:cNvPr id="14" name="Oval 10"/>
              <p:cNvSpPr>
                <a:spLocks noChangeArrowheads="1"/>
              </p:cNvSpPr>
              <p:nvPr/>
            </p:nvSpPr>
            <p:spPr bwMode="auto">
              <a:xfrm>
                <a:off x="1293" y="2842"/>
                <a:ext cx="227" cy="22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  <p:sp>
            <p:nvSpPr>
              <p:cNvPr id="92220" name="Freeform 11"/>
              <p:cNvSpPr>
                <a:spLocks/>
              </p:cNvSpPr>
              <p:nvPr/>
            </p:nvSpPr>
            <p:spPr bwMode="auto">
              <a:xfrm>
                <a:off x="1310" y="2662"/>
                <a:ext cx="241" cy="189"/>
              </a:xfrm>
              <a:custGeom>
                <a:avLst/>
                <a:gdLst>
                  <a:gd name="T0" fmla="*/ 52 w 241"/>
                  <a:gd name="T1" fmla="*/ 189 h 189"/>
                  <a:gd name="T2" fmla="*/ 7 w 241"/>
                  <a:gd name="T3" fmla="*/ 143 h 189"/>
                  <a:gd name="T4" fmla="*/ 97 w 241"/>
                  <a:gd name="T5" fmla="*/ 7 h 189"/>
                  <a:gd name="T6" fmla="*/ 233 w 241"/>
                  <a:gd name="T7" fmla="*/ 98 h 189"/>
                  <a:gd name="T8" fmla="*/ 143 w 241"/>
                  <a:gd name="T9" fmla="*/ 189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2221" name="Rectangle 12"/>
              <p:cNvSpPr>
                <a:spLocks noChangeArrowheads="1"/>
              </p:cNvSpPr>
              <p:nvPr/>
            </p:nvSpPr>
            <p:spPr bwMode="auto">
              <a:xfrm>
                <a:off x="1247" y="2479"/>
                <a:ext cx="318" cy="1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  <p:sp>
            <p:nvSpPr>
              <p:cNvPr id="92222" name="Line 13"/>
              <p:cNvSpPr>
                <a:spLocks noChangeShapeType="1"/>
              </p:cNvSpPr>
              <p:nvPr/>
            </p:nvSpPr>
            <p:spPr bwMode="auto">
              <a:xfrm>
                <a:off x="1519" y="2978"/>
                <a:ext cx="31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2223" name="Rectangle 14"/>
              <p:cNvSpPr>
                <a:spLocks noChangeArrowheads="1"/>
              </p:cNvSpPr>
              <p:nvPr/>
            </p:nvSpPr>
            <p:spPr bwMode="auto">
              <a:xfrm>
                <a:off x="1519" y="2755"/>
                <a:ext cx="318" cy="1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  <p:sp>
            <p:nvSpPr>
              <p:cNvPr id="15" name="Oval 15"/>
              <p:cNvSpPr>
                <a:spLocks noChangeArrowheads="1"/>
              </p:cNvSpPr>
              <p:nvPr/>
            </p:nvSpPr>
            <p:spPr bwMode="auto">
              <a:xfrm>
                <a:off x="1837" y="2842"/>
                <a:ext cx="227" cy="22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</a:p>
            </p:txBody>
          </p:sp>
          <p:sp>
            <p:nvSpPr>
              <p:cNvPr id="92225" name="Line 16"/>
              <p:cNvSpPr>
                <a:spLocks noChangeShapeType="1"/>
              </p:cNvSpPr>
              <p:nvPr/>
            </p:nvSpPr>
            <p:spPr bwMode="auto">
              <a:xfrm>
                <a:off x="2063" y="2978"/>
                <a:ext cx="31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2226" name="Rectangle 17"/>
              <p:cNvSpPr>
                <a:spLocks noChangeArrowheads="1"/>
              </p:cNvSpPr>
              <p:nvPr/>
            </p:nvSpPr>
            <p:spPr bwMode="auto">
              <a:xfrm>
                <a:off x="2063" y="2751"/>
                <a:ext cx="318" cy="1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</a:p>
            </p:txBody>
          </p:sp>
          <p:sp>
            <p:nvSpPr>
              <p:cNvPr id="92219" name="Oval 18"/>
              <p:cNvSpPr>
                <a:spLocks noChangeArrowheads="1"/>
              </p:cNvSpPr>
              <p:nvPr/>
            </p:nvSpPr>
            <p:spPr bwMode="auto">
              <a:xfrm>
                <a:off x="2381" y="2842"/>
                <a:ext cx="227" cy="22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C</a:t>
                </a:r>
              </a:p>
            </p:txBody>
          </p:sp>
          <p:sp>
            <p:nvSpPr>
              <p:cNvPr id="92228" name="Freeform 19"/>
              <p:cNvSpPr>
                <a:spLocks/>
              </p:cNvSpPr>
              <p:nvPr/>
            </p:nvSpPr>
            <p:spPr bwMode="auto">
              <a:xfrm>
                <a:off x="1851" y="2657"/>
                <a:ext cx="241" cy="189"/>
              </a:xfrm>
              <a:custGeom>
                <a:avLst/>
                <a:gdLst>
                  <a:gd name="T0" fmla="*/ 52 w 241"/>
                  <a:gd name="T1" fmla="*/ 189 h 189"/>
                  <a:gd name="T2" fmla="*/ 7 w 241"/>
                  <a:gd name="T3" fmla="*/ 143 h 189"/>
                  <a:gd name="T4" fmla="*/ 97 w 241"/>
                  <a:gd name="T5" fmla="*/ 7 h 189"/>
                  <a:gd name="T6" fmla="*/ 233 w 241"/>
                  <a:gd name="T7" fmla="*/ 98 h 189"/>
                  <a:gd name="T8" fmla="*/ 143 w 241"/>
                  <a:gd name="T9" fmla="*/ 189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2229" name="Rectangle 20"/>
              <p:cNvSpPr>
                <a:spLocks noChangeArrowheads="1"/>
              </p:cNvSpPr>
              <p:nvPr/>
            </p:nvSpPr>
            <p:spPr bwMode="auto">
              <a:xfrm>
                <a:off x="1791" y="2478"/>
                <a:ext cx="318" cy="1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</a:p>
            </p:txBody>
          </p:sp>
          <p:sp>
            <p:nvSpPr>
              <p:cNvPr id="92230" name="Line 21"/>
              <p:cNvSpPr>
                <a:spLocks noChangeShapeType="1"/>
              </p:cNvSpPr>
              <p:nvPr/>
            </p:nvSpPr>
            <p:spPr bwMode="auto">
              <a:xfrm>
                <a:off x="2608" y="2978"/>
                <a:ext cx="31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2231" name="Rectangle 22"/>
              <p:cNvSpPr>
                <a:spLocks noChangeArrowheads="1"/>
              </p:cNvSpPr>
              <p:nvPr/>
            </p:nvSpPr>
            <p:spPr bwMode="auto">
              <a:xfrm>
                <a:off x="2608" y="2750"/>
                <a:ext cx="318" cy="1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c</a:t>
                </a:r>
              </a:p>
            </p:txBody>
          </p:sp>
          <p:sp>
            <p:nvSpPr>
              <p:cNvPr id="92224" name="Oval 23"/>
              <p:cNvSpPr>
                <a:spLocks noChangeArrowheads="1"/>
              </p:cNvSpPr>
              <p:nvPr/>
            </p:nvSpPr>
            <p:spPr bwMode="auto">
              <a:xfrm>
                <a:off x="2971" y="2840"/>
                <a:ext cx="227" cy="229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D</a:t>
                </a:r>
              </a:p>
            </p:txBody>
          </p:sp>
          <p:sp>
            <p:nvSpPr>
              <p:cNvPr id="92233" name="Freeform 30"/>
              <p:cNvSpPr>
                <a:spLocks/>
              </p:cNvSpPr>
              <p:nvPr/>
            </p:nvSpPr>
            <p:spPr bwMode="auto">
              <a:xfrm>
                <a:off x="2392" y="2662"/>
                <a:ext cx="241" cy="189"/>
              </a:xfrm>
              <a:custGeom>
                <a:avLst/>
                <a:gdLst>
                  <a:gd name="T0" fmla="*/ 52 w 241"/>
                  <a:gd name="T1" fmla="*/ 189 h 189"/>
                  <a:gd name="T2" fmla="*/ 7 w 241"/>
                  <a:gd name="T3" fmla="*/ 143 h 189"/>
                  <a:gd name="T4" fmla="*/ 97 w 241"/>
                  <a:gd name="T5" fmla="*/ 7 h 189"/>
                  <a:gd name="T6" fmla="*/ 233 w 241"/>
                  <a:gd name="T7" fmla="*/ 98 h 189"/>
                  <a:gd name="T8" fmla="*/ 143 w 241"/>
                  <a:gd name="T9" fmla="*/ 189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2234" name="Rectangle 31"/>
              <p:cNvSpPr>
                <a:spLocks noChangeArrowheads="1"/>
              </p:cNvSpPr>
              <p:nvPr/>
            </p:nvSpPr>
            <p:spPr bwMode="auto">
              <a:xfrm>
                <a:off x="2336" y="2478"/>
                <a:ext cx="318" cy="1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c</a:t>
                </a:r>
              </a:p>
            </p:txBody>
          </p:sp>
          <p:sp>
            <p:nvSpPr>
              <p:cNvPr id="92235" name="Oval 39"/>
              <p:cNvSpPr>
                <a:spLocks noChangeArrowheads="1"/>
              </p:cNvSpPr>
              <p:nvPr/>
            </p:nvSpPr>
            <p:spPr bwMode="auto">
              <a:xfrm>
                <a:off x="2925" y="2795"/>
                <a:ext cx="317" cy="317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2217" name="Rectangle 22"/>
            <p:cNvSpPr>
              <a:spLocks noChangeArrowheads="1"/>
            </p:cNvSpPr>
            <p:nvPr/>
          </p:nvSpPr>
          <p:spPr bwMode="auto">
            <a:xfrm>
              <a:off x="2338388" y="1658938"/>
              <a:ext cx="504825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5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sp>
          <p:nvSpPr>
            <p:cNvPr id="92218" name="Line 21"/>
            <p:cNvSpPr>
              <a:spLocks noChangeShapeType="1"/>
            </p:cNvSpPr>
            <p:nvPr/>
          </p:nvSpPr>
          <p:spPr bwMode="auto">
            <a:xfrm flipV="1">
              <a:off x="2843213" y="1765300"/>
              <a:ext cx="254000" cy="79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2173" name="组合 5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6" name="五边形 5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15" name="五边形 5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64" name="矩形 63"/>
          <p:cNvSpPr/>
          <p:nvPr/>
        </p:nvSpPr>
        <p:spPr>
          <a:xfrm>
            <a:off x="7387460" y="3527816"/>
            <a:ext cx="1489075" cy="4000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aa</a:t>
            </a:r>
            <a:r>
              <a:rPr kumimoji="0" lang="en-US" altLang="zh-CN" sz="20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bb</a:t>
            </a:r>
            <a:r>
              <a:rPr kumimoji="0" lang="en-US" altLang="zh-CN" sz="20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cc</a:t>
            </a:r>
            <a:r>
              <a:rPr kumimoji="0" lang="en-US" altLang="zh-CN" sz="20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endParaRPr kumimoji="0" lang="zh-CN" altLang="en-US" sz="2000" b="1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5" name="Group 18">
            <a:extLst>
              <a:ext uri="{FF2B5EF4-FFF2-40B4-BE49-F238E27FC236}">
                <a16:creationId xmlns:a16="http://schemas.microsoft.com/office/drawing/2014/main" id="{AB00628B-C4B8-451E-AA15-90B063BDE3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5576233"/>
              </p:ext>
            </p:extLst>
          </p:nvPr>
        </p:nvGraphicFramePr>
        <p:xfrm>
          <a:off x="3370816" y="3506787"/>
          <a:ext cx="3659187" cy="1563690"/>
        </p:xfrm>
        <a:graphic>
          <a:graphicData uri="http://schemas.openxmlformats.org/drawingml/2006/table">
            <a:tbl>
              <a:tblPr/>
              <a:tblGrid>
                <a:gridCol w="96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3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2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7" marR="91437" marT="34186" marB="341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a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7" marR="91437" marT="34186" marB="341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b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7" marR="91437" marT="34186" marB="341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c</a:t>
                      </a:r>
                      <a:endParaRPr kumimoji="0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7" marR="91437" marT="34186" marB="341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66" name="组合 11">
            <a:extLst>
              <a:ext uri="{FF2B5EF4-FFF2-40B4-BE49-F238E27FC236}">
                <a16:creationId xmlns:a16="http://schemas.microsoft.com/office/drawing/2014/main" id="{B63220E2-990A-4C78-AECE-3A02880097BD}"/>
              </a:ext>
            </a:extLst>
          </p:cNvPr>
          <p:cNvGrpSpPr>
            <a:grpSpLocks/>
          </p:cNvGrpSpPr>
          <p:nvPr/>
        </p:nvGrpSpPr>
        <p:grpSpPr bwMode="auto">
          <a:xfrm>
            <a:off x="1303862" y="3455512"/>
            <a:ext cx="3114965" cy="1624011"/>
            <a:chOff x="1350673" y="2171726"/>
            <a:chExt cx="3114965" cy="1624160"/>
          </a:xfrm>
        </p:grpSpPr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36B67414-89A7-477B-BCCE-CB3442C874B2}"/>
                </a:ext>
              </a:extLst>
            </p:cNvPr>
            <p:cNvSpPr/>
            <p:nvPr/>
          </p:nvSpPr>
          <p:spPr>
            <a:xfrm>
              <a:off x="1350673" y="2221781"/>
              <a:ext cx="1655763" cy="4858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itchFamily="49" charset="-122"/>
                  <a:ea typeface="楷体" pitchFamily="49" charset="-122"/>
                  <a:cs typeface="+mn-cs"/>
                </a:rPr>
                <a:t>转换表</a:t>
              </a:r>
            </a:p>
          </p:txBody>
        </p:sp>
        <p:sp>
          <p:nvSpPr>
            <p:cNvPr id="68" name="矩形 1">
              <a:extLst>
                <a:ext uri="{FF2B5EF4-FFF2-40B4-BE49-F238E27FC236}">
                  <a16:creationId xmlns:a16="http://schemas.microsoft.com/office/drawing/2014/main" id="{4396AF78-6830-4E7E-A968-C24125DF91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2325" y="2244421"/>
              <a:ext cx="598488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状态</a:t>
              </a:r>
            </a:p>
          </p:txBody>
        </p:sp>
        <p:sp>
          <p:nvSpPr>
            <p:cNvPr id="69" name="矩形 36">
              <a:extLst>
                <a:ext uri="{FF2B5EF4-FFF2-40B4-BE49-F238E27FC236}">
                  <a16:creationId xmlns:a16="http://schemas.microsoft.com/office/drawing/2014/main" id="{502AA435-20FB-4E16-988B-EB9572DA73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7150" y="2171726"/>
              <a:ext cx="598488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输入</a:t>
              </a:r>
            </a:p>
          </p:txBody>
        </p: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CB8B1EA8-2901-4A7C-83B3-88480C86CC07}"/>
                </a:ext>
              </a:extLst>
            </p:cNvPr>
            <p:cNvCxnSpPr/>
            <p:nvPr/>
          </p:nvCxnSpPr>
          <p:spPr bwMode="auto">
            <a:xfrm>
              <a:off x="3431157" y="2248517"/>
              <a:ext cx="930275" cy="26037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矩形 34">
              <a:extLst>
                <a:ext uri="{FF2B5EF4-FFF2-40B4-BE49-F238E27FC236}">
                  <a16:creationId xmlns:a16="http://schemas.microsoft.com/office/drawing/2014/main" id="{02951A9E-FEF6-480A-8C80-47BCBDD5C3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126" y="3565698"/>
              <a:ext cx="300038" cy="23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2D83F4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●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从带有</a:t>
            </a:r>
            <a:r>
              <a:rPr lang="en-US" altLang="zh-CN" sz="3200" i="1" dirty="0">
                <a:solidFill>
                  <a:srgbClr val="000000"/>
                </a:solidFill>
                <a:ea typeface="楷体_GB2312"/>
                <a:cs typeface="楷体_GB2312"/>
              </a:rPr>
              <a:t>ε</a:t>
            </a:r>
            <a:r>
              <a:rPr lang="en-US" altLang="zh-CN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边的</a:t>
            </a:r>
            <a:r>
              <a:rPr lang="en-US" altLang="zh-CN" sz="3000" i="1" spc="300" dirty="0">
                <a:solidFill>
                  <a:prstClr val="black"/>
                </a:solidFill>
                <a:ea typeface="微软雅黑" pitchFamily="34" charset="-122"/>
                <a:cs typeface="Times New Roman" pitchFamily="18" charset="0"/>
              </a:rPr>
              <a:t>NFA</a:t>
            </a:r>
            <a:r>
              <a:rPr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到</a:t>
            </a:r>
            <a:r>
              <a:rPr lang="en-US" altLang="zh-CN" sz="3000" i="1" spc="300" dirty="0">
                <a:solidFill>
                  <a:prstClr val="black"/>
                </a:solidFill>
                <a:ea typeface="微软雅黑" pitchFamily="34" charset="-122"/>
                <a:cs typeface="Times New Roman" pitchFamily="18" charset="0"/>
              </a:rPr>
              <a:t>DFA</a:t>
            </a:r>
            <a:r>
              <a:rPr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的转换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3187" name="Oval 10"/>
          <p:cNvSpPr>
            <a:spLocks noChangeArrowheads="1"/>
          </p:cNvSpPr>
          <p:nvPr/>
        </p:nvSpPr>
        <p:spPr bwMode="auto">
          <a:xfrm>
            <a:off x="2552700" y="1606550"/>
            <a:ext cx="376238" cy="32226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A</a:t>
            </a:r>
          </a:p>
        </p:txBody>
      </p:sp>
      <p:sp>
        <p:nvSpPr>
          <p:cNvPr id="94212" name="Freeform 11"/>
          <p:cNvSpPr>
            <a:spLocks/>
          </p:cNvSpPr>
          <p:nvPr/>
        </p:nvSpPr>
        <p:spPr bwMode="auto">
          <a:xfrm>
            <a:off x="2541588" y="1381125"/>
            <a:ext cx="382587" cy="225425"/>
          </a:xfrm>
          <a:custGeom>
            <a:avLst/>
            <a:gdLst>
              <a:gd name="T0" fmla="*/ 2147483646 w 241"/>
              <a:gd name="T1" fmla="*/ 2147483646 h 189"/>
              <a:gd name="T2" fmla="*/ 2147483646 w 241"/>
              <a:gd name="T3" fmla="*/ 2147483646 h 189"/>
              <a:gd name="T4" fmla="*/ 2147483646 w 241"/>
              <a:gd name="T5" fmla="*/ 2147483646 h 189"/>
              <a:gd name="T6" fmla="*/ 2147483646 w 241"/>
              <a:gd name="T7" fmla="*/ 2147483646 h 189"/>
              <a:gd name="T8" fmla="*/ 2147483646 w 241"/>
              <a:gd name="T9" fmla="*/ 2147483646 h 18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1"/>
              <a:gd name="T16" fmla="*/ 0 h 189"/>
              <a:gd name="T17" fmla="*/ 241 w 241"/>
              <a:gd name="T18" fmla="*/ 189 h 18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1" h="189">
                <a:moveTo>
                  <a:pt x="52" y="189"/>
                </a:moveTo>
                <a:cubicBezTo>
                  <a:pt x="26" y="181"/>
                  <a:pt x="0" y="173"/>
                  <a:pt x="7" y="143"/>
                </a:cubicBezTo>
                <a:cubicBezTo>
                  <a:pt x="14" y="113"/>
                  <a:pt x="59" y="14"/>
                  <a:pt x="97" y="7"/>
                </a:cubicBezTo>
                <a:cubicBezTo>
                  <a:pt x="135" y="0"/>
                  <a:pt x="225" y="68"/>
                  <a:pt x="233" y="98"/>
                </a:cubicBezTo>
                <a:cubicBezTo>
                  <a:pt x="241" y="128"/>
                  <a:pt x="192" y="158"/>
                  <a:pt x="143" y="189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4213" name="Rectangle 12"/>
          <p:cNvSpPr>
            <a:spLocks noChangeArrowheads="1"/>
          </p:cNvSpPr>
          <p:nvPr/>
        </p:nvSpPr>
        <p:spPr bwMode="auto">
          <a:xfrm>
            <a:off x="2479675" y="1143000"/>
            <a:ext cx="5048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0</a:t>
            </a:r>
          </a:p>
        </p:txBody>
      </p:sp>
      <p:sp>
        <p:nvSpPr>
          <p:cNvPr id="94214" name="Line 13"/>
          <p:cNvSpPr>
            <a:spLocks noChangeShapeType="1"/>
          </p:cNvSpPr>
          <p:nvPr/>
        </p:nvSpPr>
        <p:spPr bwMode="auto">
          <a:xfrm>
            <a:off x="2911475" y="1768475"/>
            <a:ext cx="5048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4215" name="Rectangle 14"/>
          <p:cNvSpPr>
            <a:spLocks noChangeArrowheads="1"/>
          </p:cNvSpPr>
          <p:nvPr/>
        </p:nvSpPr>
        <p:spPr bwMode="auto">
          <a:xfrm>
            <a:off x="2911475" y="1444625"/>
            <a:ext cx="504825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ε</a:t>
            </a:r>
          </a:p>
        </p:txBody>
      </p:sp>
      <p:sp>
        <p:nvSpPr>
          <p:cNvPr id="93192" name="Oval 15"/>
          <p:cNvSpPr>
            <a:spLocks noChangeArrowheads="1"/>
          </p:cNvSpPr>
          <p:nvPr/>
        </p:nvSpPr>
        <p:spPr bwMode="auto">
          <a:xfrm>
            <a:off x="3416300" y="1606550"/>
            <a:ext cx="369888" cy="32226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</a:p>
        </p:txBody>
      </p:sp>
      <p:sp>
        <p:nvSpPr>
          <p:cNvPr id="94217" name="Line 16"/>
          <p:cNvSpPr>
            <a:spLocks noChangeShapeType="1"/>
          </p:cNvSpPr>
          <p:nvPr/>
        </p:nvSpPr>
        <p:spPr bwMode="auto">
          <a:xfrm>
            <a:off x="3775075" y="1768475"/>
            <a:ext cx="5048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4218" name="Rectangle 17"/>
          <p:cNvSpPr>
            <a:spLocks noChangeArrowheads="1"/>
          </p:cNvSpPr>
          <p:nvPr/>
        </p:nvSpPr>
        <p:spPr bwMode="auto">
          <a:xfrm>
            <a:off x="3775075" y="1498600"/>
            <a:ext cx="504825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ε</a:t>
            </a:r>
          </a:p>
        </p:txBody>
      </p:sp>
      <p:sp>
        <p:nvSpPr>
          <p:cNvPr id="93195" name="Oval 18"/>
          <p:cNvSpPr>
            <a:spLocks noChangeArrowheads="1"/>
          </p:cNvSpPr>
          <p:nvPr/>
        </p:nvSpPr>
        <p:spPr bwMode="auto">
          <a:xfrm>
            <a:off x="4352925" y="1606550"/>
            <a:ext cx="361950" cy="32226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C</a:t>
            </a:r>
          </a:p>
        </p:txBody>
      </p:sp>
      <p:sp>
        <p:nvSpPr>
          <p:cNvPr id="94220" name="Freeform 19"/>
          <p:cNvSpPr>
            <a:spLocks/>
          </p:cNvSpPr>
          <p:nvPr/>
        </p:nvSpPr>
        <p:spPr bwMode="auto">
          <a:xfrm>
            <a:off x="3405188" y="1381125"/>
            <a:ext cx="382587" cy="223838"/>
          </a:xfrm>
          <a:custGeom>
            <a:avLst/>
            <a:gdLst>
              <a:gd name="T0" fmla="*/ 2147483646 w 241"/>
              <a:gd name="T1" fmla="*/ 2147483646 h 189"/>
              <a:gd name="T2" fmla="*/ 2147483646 w 241"/>
              <a:gd name="T3" fmla="*/ 2147483646 h 189"/>
              <a:gd name="T4" fmla="*/ 2147483646 w 241"/>
              <a:gd name="T5" fmla="*/ 2147483646 h 189"/>
              <a:gd name="T6" fmla="*/ 2147483646 w 241"/>
              <a:gd name="T7" fmla="*/ 2147483646 h 189"/>
              <a:gd name="T8" fmla="*/ 2147483646 w 241"/>
              <a:gd name="T9" fmla="*/ 2147483646 h 18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1"/>
              <a:gd name="T16" fmla="*/ 0 h 189"/>
              <a:gd name="T17" fmla="*/ 241 w 241"/>
              <a:gd name="T18" fmla="*/ 189 h 18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1" h="189">
                <a:moveTo>
                  <a:pt x="52" y="189"/>
                </a:moveTo>
                <a:cubicBezTo>
                  <a:pt x="26" y="181"/>
                  <a:pt x="0" y="173"/>
                  <a:pt x="7" y="143"/>
                </a:cubicBezTo>
                <a:cubicBezTo>
                  <a:pt x="14" y="113"/>
                  <a:pt x="59" y="14"/>
                  <a:pt x="97" y="7"/>
                </a:cubicBezTo>
                <a:cubicBezTo>
                  <a:pt x="135" y="0"/>
                  <a:pt x="225" y="68"/>
                  <a:pt x="233" y="98"/>
                </a:cubicBezTo>
                <a:cubicBezTo>
                  <a:pt x="241" y="128"/>
                  <a:pt x="192" y="158"/>
                  <a:pt x="143" y="189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4221" name="Rectangle 20"/>
          <p:cNvSpPr>
            <a:spLocks noChangeArrowheads="1"/>
          </p:cNvSpPr>
          <p:nvPr/>
        </p:nvSpPr>
        <p:spPr bwMode="auto">
          <a:xfrm>
            <a:off x="3343275" y="1143000"/>
            <a:ext cx="5048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1</a:t>
            </a:r>
          </a:p>
        </p:txBody>
      </p:sp>
      <p:sp>
        <p:nvSpPr>
          <p:cNvPr id="94222" name="Line 21"/>
          <p:cNvSpPr>
            <a:spLocks noChangeShapeType="1"/>
          </p:cNvSpPr>
          <p:nvPr/>
        </p:nvSpPr>
        <p:spPr bwMode="auto">
          <a:xfrm>
            <a:off x="2036763" y="1758950"/>
            <a:ext cx="5048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4223" name="Rectangle 22"/>
          <p:cNvSpPr>
            <a:spLocks noChangeArrowheads="1"/>
          </p:cNvSpPr>
          <p:nvPr/>
        </p:nvSpPr>
        <p:spPr bwMode="auto">
          <a:xfrm>
            <a:off x="1479550" y="1627188"/>
            <a:ext cx="5064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start</a:t>
            </a:r>
          </a:p>
        </p:txBody>
      </p:sp>
      <p:sp>
        <p:nvSpPr>
          <p:cNvPr id="94224" name="Freeform 30"/>
          <p:cNvSpPr>
            <a:spLocks/>
          </p:cNvSpPr>
          <p:nvPr/>
        </p:nvSpPr>
        <p:spPr bwMode="auto">
          <a:xfrm>
            <a:off x="4343400" y="1346200"/>
            <a:ext cx="382588" cy="225425"/>
          </a:xfrm>
          <a:custGeom>
            <a:avLst/>
            <a:gdLst>
              <a:gd name="T0" fmla="*/ 2147483646 w 241"/>
              <a:gd name="T1" fmla="*/ 2147483646 h 189"/>
              <a:gd name="T2" fmla="*/ 2147483646 w 241"/>
              <a:gd name="T3" fmla="*/ 2147483646 h 189"/>
              <a:gd name="T4" fmla="*/ 2147483646 w 241"/>
              <a:gd name="T5" fmla="*/ 2147483646 h 189"/>
              <a:gd name="T6" fmla="*/ 2147483646 w 241"/>
              <a:gd name="T7" fmla="*/ 2147483646 h 189"/>
              <a:gd name="T8" fmla="*/ 2147483646 w 241"/>
              <a:gd name="T9" fmla="*/ 2147483646 h 18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1"/>
              <a:gd name="T16" fmla="*/ 0 h 189"/>
              <a:gd name="T17" fmla="*/ 241 w 241"/>
              <a:gd name="T18" fmla="*/ 189 h 18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1" h="189">
                <a:moveTo>
                  <a:pt x="52" y="189"/>
                </a:moveTo>
                <a:cubicBezTo>
                  <a:pt x="26" y="181"/>
                  <a:pt x="0" y="173"/>
                  <a:pt x="7" y="143"/>
                </a:cubicBezTo>
                <a:cubicBezTo>
                  <a:pt x="14" y="113"/>
                  <a:pt x="59" y="14"/>
                  <a:pt x="97" y="7"/>
                </a:cubicBezTo>
                <a:cubicBezTo>
                  <a:pt x="135" y="0"/>
                  <a:pt x="225" y="68"/>
                  <a:pt x="233" y="98"/>
                </a:cubicBezTo>
                <a:cubicBezTo>
                  <a:pt x="241" y="128"/>
                  <a:pt x="192" y="158"/>
                  <a:pt x="143" y="189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4225" name="Rectangle 31"/>
          <p:cNvSpPr>
            <a:spLocks noChangeArrowheads="1"/>
          </p:cNvSpPr>
          <p:nvPr/>
        </p:nvSpPr>
        <p:spPr bwMode="auto">
          <a:xfrm>
            <a:off x="4281488" y="1071563"/>
            <a:ext cx="5048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2</a:t>
            </a:r>
          </a:p>
        </p:txBody>
      </p:sp>
      <p:sp>
        <p:nvSpPr>
          <p:cNvPr id="94226" name="Oval 39"/>
          <p:cNvSpPr>
            <a:spLocks noChangeArrowheads="1"/>
          </p:cNvSpPr>
          <p:nvPr/>
        </p:nvSpPr>
        <p:spPr bwMode="auto">
          <a:xfrm>
            <a:off x="4279900" y="1552575"/>
            <a:ext cx="506413" cy="44767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4227" name="Rectangle 48"/>
          <p:cNvSpPr>
            <a:spLocks noChangeArrowheads="1"/>
          </p:cNvSpPr>
          <p:nvPr/>
        </p:nvSpPr>
        <p:spPr bwMode="auto">
          <a:xfrm>
            <a:off x="611188" y="1549400"/>
            <a:ext cx="647700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NFA</a:t>
            </a: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：</a:t>
            </a:r>
          </a:p>
        </p:txBody>
      </p:sp>
      <p:grpSp>
        <p:nvGrpSpPr>
          <p:cNvPr id="94228" name="组合 4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46" name="五边形 4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4292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54" name="Group 18"/>
          <p:cNvGraphicFramePr>
            <a:graphicFrameLocks noGrp="1"/>
          </p:cNvGraphicFramePr>
          <p:nvPr/>
        </p:nvGraphicFramePr>
        <p:xfrm>
          <a:off x="5005388" y="1187450"/>
          <a:ext cx="3711575" cy="1584342"/>
        </p:xfrm>
        <a:graphic>
          <a:graphicData uri="http://schemas.openxmlformats.org/drawingml/2006/table">
            <a:tbl>
              <a:tblPr/>
              <a:tblGrid>
                <a:gridCol w="1020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04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32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1" marR="91431" marT="34227" marB="342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0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1" marR="91431" marT="34227" marB="342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1" marR="91431" marT="34227" marB="342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2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1" marR="91431" marT="34227" marB="342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69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A,B,C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B,C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69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B,C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69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zh-CN" altLang="en-US" sz="22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" name="组合 1"/>
          <p:cNvGrpSpPr>
            <a:grpSpLocks/>
          </p:cNvGrpSpPr>
          <p:nvPr/>
        </p:nvGrpSpPr>
        <p:grpSpPr bwMode="auto">
          <a:xfrm>
            <a:off x="4932363" y="771525"/>
            <a:ext cx="2855912" cy="1944688"/>
            <a:chOff x="4932363" y="771525"/>
            <a:chExt cx="2855912" cy="1943896"/>
          </a:xfrm>
        </p:grpSpPr>
        <p:sp>
          <p:nvSpPr>
            <p:cNvPr id="53" name="矩形 52"/>
            <p:cNvSpPr/>
            <p:nvPr/>
          </p:nvSpPr>
          <p:spPr>
            <a:xfrm>
              <a:off x="6132513" y="771525"/>
              <a:ext cx="1655762" cy="4855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itchFamily="49" charset="-122"/>
                  <a:ea typeface="楷体" pitchFamily="49" charset="-122"/>
                  <a:cs typeface="+mn-cs"/>
                </a:rPr>
                <a:t>转换表</a:t>
              </a:r>
            </a:p>
          </p:txBody>
        </p:sp>
        <p:sp>
          <p:nvSpPr>
            <p:cNvPr id="94287" name="矩形 1"/>
            <p:cNvSpPr>
              <a:spLocks noChangeArrowheads="1"/>
            </p:cNvSpPr>
            <p:nvPr/>
          </p:nvSpPr>
          <p:spPr bwMode="auto">
            <a:xfrm>
              <a:off x="4932363" y="1266825"/>
              <a:ext cx="598487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状态</a:t>
              </a:r>
            </a:p>
          </p:txBody>
        </p:sp>
        <p:sp>
          <p:nvSpPr>
            <p:cNvPr id="94288" name="矩形 36"/>
            <p:cNvSpPr>
              <a:spLocks noChangeArrowheads="1"/>
            </p:cNvSpPr>
            <p:nvPr/>
          </p:nvSpPr>
          <p:spPr bwMode="auto">
            <a:xfrm>
              <a:off x="5437188" y="1123950"/>
              <a:ext cx="598487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输入</a:t>
              </a:r>
            </a:p>
          </p:txBody>
        </p:sp>
        <p:cxnSp>
          <p:nvCxnSpPr>
            <p:cNvPr id="58" name="直接连接符 57"/>
            <p:cNvCxnSpPr/>
            <p:nvPr/>
          </p:nvCxnSpPr>
          <p:spPr bwMode="auto">
            <a:xfrm>
              <a:off x="5026025" y="1201563"/>
              <a:ext cx="982663" cy="36656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290" name="矩形 34"/>
            <p:cNvSpPr>
              <a:spLocks noChangeArrowheads="1"/>
            </p:cNvSpPr>
            <p:nvPr/>
          </p:nvSpPr>
          <p:spPr bwMode="auto">
            <a:xfrm>
              <a:off x="5586412" y="2485233"/>
              <a:ext cx="300038" cy="23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2D83F4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●</a:t>
              </a:r>
            </a:p>
          </p:txBody>
        </p:sp>
      </p:grpSp>
      <p:grpSp>
        <p:nvGrpSpPr>
          <p:cNvPr id="4" name="组合 6"/>
          <p:cNvGrpSpPr>
            <a:grpSpLocks/>
          </p:cNvGrpSpPr>
          <p:nvPr/>
        </p:nvGrpSpPr>
        <p:grpSpPr bwMode="auto">
          <a:xfrm>
            <a:off x="3960813" y="2662238"/>
            <a:ext cx="504825" cy="571500"/>
            <a:chOff x="3779226" y="2644461"/>
            <a:chExt cx="504895" cy="569978"/>
          </a:xfrm>
        </p:grpSpPr>
        <p:sp>
          <p:nvSpPr>
            <p:cNvPr id="94284" name="Freeform 19"/>
            <p:cNvSpPr>
              <a:spLocks/>
            </p:cNvSpPr>
            <p:nvPr/>
          </p:nvSpPr>
          <p:spPr bwMode="auto">
            <a:xfrm>
              <a:off x="3791918" y="2888287"/>
              <a:ext cx="450907" cy="326152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4285" name="Rectangle 20"/>
            <p:cNvSpPr>
              <a:spLocks noChangeArrowheads="1"/>
            </p:cNvSpPr>
            <p:nvPr/>
          </p:nvSpPr>
          <p:spPr bwMode="auto">
            <a:xfrm>
              <a:off x="3779226" y="2644461"/>
              <a:ext cx="504895" cy="2155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</a:p>
          </p:txBody>
        </p:sp>
      </p:grpSp>
      <p:grpSp>
        <p:nvGrpSpPr>
          <p:cNvPr id="5" name="组合 8"/>
          <p:cNvGrpSpPr>
            <a:grpSpLocks/>
          </p:cNvGrpSpPr>
          <p:nvPr/>
        </p:nvGrpSpPr>
        <p:grpSpPr bwMode="auto">
          <a:xfrm>
            <a:off x="4152900" y="3868738"/>
            <a:ext cx="504825" cy="431800"/>
            <a:chOff x="3971340" y="3849824"/>
            <a:chExt cx="504895" cy="432007"/>
          </a:xfrm>
        </p:grpSpPr>
        <p:sp>
          <p:nvSpPr>
            <p:cNvPr id="94282" name="Line 21"/>
            <p:cNvSpPr>
              <a:spLocks noChangeShapeType="1"/>
            </p:cNvSpPr>
            <p:nvPr/>
          </p:nvSpPr>
          <p:spPr bwMode="auto">
            <a:xfrm>
              <a:off x="4006267" y="3849824"/>
              <a:ext cx="795" cy="43200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4283" name="Rectangle 22"/>
            <p:cNvSpPr>
              <a:spLocks noChangeArrowheads="1"/>
            </p:cNvSpPr>
            <p:nvPr/>
          </p:nvSpPr>
          <p:spPr bwMode="auto">
            <a:xfrm>
              <a:off x="3971340" y="3915906"/>
              <a:ext cx="504895" cy="2155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</a:p>
          </p:txBody>
        </p:sp>
      </p:grpSp>
      <p:grpSp>
        <p:nvGrpSpPr>
          <p:cNvPr id="6" name="组合 4"/>
          <p:cNvGrpSpPr>
            <a:grpSpLocks/>
          </p:cNvGrpSpPr>
          <p:nvPr/>
        </p:nvGrpSpPr>
        <p:grpSpPr bwMode="auto">
          <a:xfrm>
            <a:off x="2705100" y="2876550"/>
            <a:ext cx="625475" cy="646113"/>
            <a:chOff x="2555093" y="3201582"/>
            <a:chExt cx="504895" cy="432234"/>
          </a:xfrm>
        </p:grpSpPr>
        <p:sp>
          <p:nvSpPr>
            <p:cNvPr id="94280" name="Freeform 19"/>
            <p:cNvSpPr>
              <a:spLocks/>
            </p:cNvSpPr>
            <p:nvPr/>
          </p:nvSpPr>
          <p:spPr bwMode="auto">
            <a:xfrm>
              <a:off x="2617015" y="3408769"/>
              <a:ext cx="382641" cy="225047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4281" name="Rectangle 20"/>
            <p:cNvSpPr>
              <a:spLocks noChangeArrowheads="1"/>
            </p:cNvSpPr>
            <p:nvPr/>
          </p:nvSpPr>
          <p:spPr bwMode="auto">
            <a:xfrm>
              <a:off x="2555093" y="3201582"/>
              <a:ext cx="504895" cy="2155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0</a:t>
              </a:r>
            </a:p>
          </p:txBody>
        </p:sp>
      </p:grpSp>
      <p:grpSp>
        <p:nvGrpSpPr>
          <p:cNvPr id="7" name="组合 7"/>
          <p:cNvGrpSpPr>
            <a:grpSpLocks/>
          </p:cNvGrpSpPr>
          <p:nvPr/>
        </p:nvGrpSpPr>
        <p:grpSpPr bwMode="auto">
          <a:xfrm>
            <a:off x="3255963" y="4160838"/>
            <a:ext cx="1431925" cy="858837"/>
            <a:chOff x="3074028" y="4142627"/>
            <a:chExt cx="1432843" cy="858892"/>
          </a:xfrm>
        </p:grpSpPr>
        <p:sp>
          <p:nvSpPr>
            <p:cNvPr id="94276" name="Line 13"/>
            <p:cNvSpPr>
              <a:spLocks noChangeShapeType="1"/>
            </p:cNvSpPr>
            <p:nvPr/>
          </p:nvSpPr>
          <p:spPr bwMode="auto">
            <a:xfrm>
              <a:off x="3074028" y="4184781"/>
              <a:ext cx="646660" cy="3880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4277" name="Rectangle 14"/>
            <p:cNvSpPr>
              <a:spLocks noChangeArrowheads="1"/>
            </p:cNvSpPr>
            <p:nvPr/>
          </p:nvSpPr>
          <p:spPr bwMode="auto">
            <a:xfrm>
              <a:off x="3203355" y="4142627"/>
              <a:ext cx="504895" cy="2155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</a:p>
          </p:txBody>
        </p:sp>
        <p:sp>
          <p:nvSpPr>
            <p:cNvPr id="49" name="Oval 10"/>
            <p:cNvSpPr>
              <a:spLocks noChangeArrowheads="1"/>
            </p:cNvSpPr>
            <p:nvPr/>
          </p:nvSpPr>
          <p:spPr bwMode="auto">
            <a:xfrm>
              <a:off x="3769799" y="4347427"/>
              <a:ext cx="654469" cy="593763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C</a:t>
              </a:r>
            </a:p>
          </p:txBody>
        </p:sp>
        <p:sp>
          <p:nvSpPr>
            <p:cNvPr id="94279" name="Oval 45"/>
            <p:cNvSpPr>
              <a:spLocks noChangeArrowheads="1"/>
            </p:cNvSpPr>
            <p:nvPr/>
          </p:nvSpPr>
          <p:spPr bwMode="auto">
            <a:xfrm>
              <a:off x="3708249" y="4281832"/>
              <a:ext cx="798622" cy="71968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组合 50"/>
          <p:cNvGrpSpPr>
            <a:grpSpLocks/>
          </p:cNvGrpSpPr>
          <p:nvPr/>
        </p:nvGrpSpPr>
        <p:grpSpPr bwMode="auto">
          <a:xfrm>
            <a:off x="3330575" y="3233738"/>
            <a:ext cx="1214438" cy="635000"/>
            <a:chOff x="3148893" y="3214350"/>
            <a:chExt cx="1214502" cy="635476"/>
          </a:xfrm>
        </p:grpSpPr>
        <p:sp>
          <p:nvSpPr>
            <p:cNvPr id="94272" name="Line 16"/>
            <p:cNvSpPr>
              <a:spLocks noChangeShapeType="1"/>
            </p:cNvSpPr>
            <p:nvPr/>
          </p:nvSpPr>
          <p:spPr bwMode="auto">
            <a:xfrm flipV="1">
              <a:off x="3211936" y="3571810"/>
              <a:ext cx="428651" cy="2163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4273" name="Rectangle 17"/>
            <p:cNvSpPr>
              <a:spLocks noChangeArrowheads="1"/>
            </p:cNvSpPr>
            <p:nvPr/>
          </p:nvSpPr>
          <p:spPr bwMode="auto">
            <a:xfrm>
              <a:off x="3148893" y="3428827"/>
              <a:ext cx="504896" cy="2155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</a:p>
          </p:txBody>
        </p:sp>
        <p:sp>
          <p:nvSpPr>
            <p:cNvPr id="56" name="Oval 10"/>
            <p:cNvSpPr>
              <a:spLocks noChangeArrowheads="1"/>
            </p:cNvSpPr>
            <p:nvPr/>
          </p:nvSpPr>
          <p:spPr bwMode="auto">
            <a:xfrm>
              <a:off x="3707722" y="3274720"/>
              <a:ext cx="584231" cy="50838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B,C</a:t>
              </a:r>
            </a:p>
          </p:txBody>
        </p:sp>
        <p:sp>
          <p:nvSpPr>
            <p:cNvPr id="94275" name="Oval 45"/>
            <p:cNvSpPr>
              <a:spLocks noChangeArrowheads="1"/>
            </p:cNvSpPr>
            <p:nvPr/>
          </p:nvSpPr>
          <p:spPr bwMode="auto">
            <a:xfrm>
              <a:off x="3636217" y="3214350"/>
              <a:ext cx="727178" cy="6354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组合 3"/>
          <p:cNvGrpSpPr>
            <a:grpSpLocks/>
          </p:cNvGrpSpPr>
          <p:nvPr/>
        </p:nvGrpSpPr>
        <p:grpSpPr bwMode="auto">
          <a:xfrm>
            <a:off x="611188" y="3519488"/>
            <a:ext cx="2790825" cy="795337"/>
            <a:chOff x="429513" y="3500297"/>
            <a:chExt cx="2791268" cy="795949"/>
          </a:xfrm>
        </p:grpSpPr>
        <p:sp>
          <p:nvSpPr>
            <p:cNvPr id="66" name="Oval 10"/>
            <p:cNvSpPr>
              <a:spLocks noChangeArrowheads="1"/>
            </p:cNvSpPr>
            <p:nvPr/>
          </p:nvSpPr>
          <p:spPr bwMode="auto">
            <a:xfrm>
              <a:off x="2412615" y="3565434"/>
              <a:ext cx="736717" cy="67044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A,B,C</a:t>
              </a:r>
            </a:p>
          </p:txBody>
        </p:sp>
        <p:sp>
          <p:nvSpPr>
            <p:cNvPr id="94268" name="Rectangle 49"/>
            <p:cNvSpPr>
              <a:spLocks noChangeArrowheads="1"/>
            </p:cNvSpPr>
            <p:nvPr/>
          </p:nvSpPr>
          <p:spPr bwMode="auto">
            <a:xfrm>
              <a:off x="429513" y="3687770"/>
              <a:ext cx="647790" cy="378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5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DFA</a:t>
              </a:r>
              <a:r>
                <a:rPr kumimoji="0" lang="zh-CN" altLang="en-US" sz="25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：</a:t>
              </a:r>
            </a:p>
          </p:txBody>
        </p:sp>
        <p:sp>
          <p:nvSpPr>
            <p:cNvPr id="94269" name="Line 21"/>
            <p:cNvSpPr>
              <a:spLocks noChangeShapeType="1"/>
            </p:cNvSpPr>
            <p:nvPr/>
          </p:nvSpPr>
          <p:spPr bwMode="auto">
            <a:xfrm>
              <a:off x="1863245" y="3929249"/>
              <a:ext cx="47476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4270" name="Rectangle 22"/>
            <p:cNvSpPr>
              <a:spLocks noChangeArrowheads="1"/>
            </p:cNvSpPr>
            <p:nvPr/>
          </p:nvSpPr>
          <p:spPr bwMode="auto">
            <a:xfrm>
              <a:off x="1286798" y="3786267"/>
              <a:ext cx="504997" cy="2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5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sp>
          <p:nvSpPr>
            <p:cNvPr id="94271" name="Oval 45"/>
            <p:cNvSpPr>
              <a:spLocks noChangeArrowheads="1"/>
            </p:cNvSpPr>
            <p:nvPr/>
          </p:nvSpPr>
          <p:spPr bwMode="auto">
            <a:xfrm>
              <a:off x="2339866" y="3500297"/>
              <a:ext cx="880915" cy="79594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4673600" y="4371975"/>
            <a:ext cx="728663" cy="334963"/>
            <a:chOff x="4491980" y="4353718"/>
            <a:chExt cx="728663" cy="334963"/>
          </a:xfrm>
        </p:grpSpPr>
        <p:sp>
          <p:nvSpPr>
            <p:cNvPr id="72" name="任意多边形 71"/>
            <p:cNvSpPr/>
            <p:nvPr/>
          </p:nvSpPr>
          <p:spPr bwMode="auto">
            <a:xfrm>
              <a:off x="4491980" y="4353718"/>
              <a:ext cx="377825" cy="334963"/>
            </a:xfrm>
            <a:custGeom>
              <a:avLst/>
              <a:gdLst>
                <a:gd name="connsiteX0" fmla="*/ 0 w 377422"/>
                <a:gd name="connsiteY0" fmla="*/ 194866 h 446352"/>
                <a:gd name="connsiteX1" fmla="*/ 232229 w 377422"/>
                <a:gd name="connsiteY1" fmla="*/ 6180 h 446352"/>
                <a:gd name="connsiteX2" fmla="*/ 377372 w 377422"/>
                <a:gd name="connsiteY2" fmla="*/ 398066 h 446352"/>
                <a:gd name="connsiteX3" fmla="*/ 217715 w 377422"/>
                <a:gd name="connsiteY3" fmla="*/ 441609 h 446352"/>
                <a:gd name="connsiteX4" fmla="*/ 29029 w 377422"/>
                <a:gd name="connsiteY4" fmla="*/ 412580 h 446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7422" h="446352">
                  <a:moveTo>
                    <a:pt x="0" y="194866"/>
                  </a:moveTo>
                  <a:cubicBezTo>
                    <a:pt x="84667" y="83589"/>
                    <a:pt x="169334" y="-27687"/>
                    <a:pt x="232229" y="6180"/>
                  </a:cubicBezTo>
                  <a:cubicBezTo>
                    <a:pt x="295124" y="40047"/>
                    <a:pt x="379791" y="325495"/>
                    <a:pt x="377372" y="398066"/>
                  </a:cubicBezTo>
                  <a:cubicBezTo>
                    <a:pt x="374953" y="470637"/>
                    <a:pt x="275772" y="439190"/>
                    <a:pt x="217715" y="441609"/>
                  </a:cubicBezTo>
                  <a:cubicBezTo>
                    <a:pt x="159658" y="444028"/>
                    <a:pt x="94343" y="428304"/>
                    <a:pt x="29029" y="412580"/>
                  </a:cubicBezTo>
                </a:path>
              </a:pathLst>
            </a:cu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94266" name="Rectangle 31"/>
            <p:cNvSpPr>
              <a:spLocks noChangeArrowheads="1"/>
            </p:cNvSpPr>
            <p:nvPr/>
          </p:nvSpPr>
          <p:spPr bwMode="auto">
            <a:xfrm>
              <a:off x="4715738" y="4390344"/>
              <a:ext cx="504905" cy="2155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</a:p>
          </p:txBody>
        </p:sp>
      </p:grpSp>
      <p:sp>
        <p:nvSpPr>
          <p:cNvPr id="74" name="矩形 73"/>
          <p:cNvSpPr/>
          <p:nvPr/>
        </p:nvSpPr>
        <p:spPr>
          <a:xfrm>
            <a:off x="1306513" y="2527300"/>
            <a:ext cx="982662" cy="3683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=0</a:t>
            </a:r>
            <a:r>
              <a:rPr kumimoji="0" lang="en-US" altLang="zh-CN" sz="18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18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endParaRPr kumimoji="0" lang="zh-CN" altLang="en-US" sz="18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内容占位符 1"/>
          <p:cNvSpPr>
            <a:spLocks noGrp="1"/>
          </p:cNvSpPr>
          <p:nvPr>
            <p:ph idx="1"/>
          </p:nvPr>
        </p:nvSpPr>
        <p:spPr>
          <a:xfrm>
            <a:off x="501650" y="731838"/>
            <a:ext cx="8142288" cy="4071937"/>
          </a:xfrm>
        </p:spPr>
        <p:txBody>
          <a:bodyPr/>
          <a:lstStyle/>
          <a:p>
            <a:pPr eaLnBrk="1" hangingPunct="1">
              <a:lnSpc>
                <a:spcPts val="16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输入：</a:t>
            </a:r>
            <a:r>
              <a:rPr lang="en-US" altLang="zh-CN" sz="2000" b="1" i="1" dirty="0">
                <a:solidFill>
                  <a:schemeClr val="tx1"/>
                </a:solidFill>
              </a:rPr>
              <a:t>NFA </a:t>
            </a:r>
            <a:r>
              <a:rPr lang="en-US" altLang="zh-CN" sz="2000" b="1" i="1" dirty="0">
                <a:solidFill>
                  <a:srgbClr val="FF0000"/>
                </a:solidFill>
              </a:rPr>
              <a:t>N</a:t>
            </a:r>
          </a:p>
          <a:p>
            <a:pPr eaLnBrk="1" hangingPunct="1">
              <a:lnSpc>
                <a:spcPts val="16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输出：接收同样语言的</a:t>
            </a:r>
            <a:r>
              <a:rPr lang="en-US" altLang="zh-CN" sz="2000" b="1" i="1" dirty="0">
                <a:solidFill>
                  <a:schemeClr val="tx1"/>
                </a:solidFill>
              </a:rPr>
              <a:t>DFA </a:t>
            </a:r>
            <a:r>
              <a:rPr lang="en-US" altLang="zh-CN" sz="2000" b="1" i="1" dirty="0">
                <a:solidFill>
                  <a:srgbClr val="FF0000"/>
                </a:solidFill>
              </a:rPr>
              <a:t>D</a:t>
            </a:r>
          </a:p>
          <a:p>
            <a:pPr eaLnBrk="1" hangingPunct="1">
              <a:lnSpc>
                <a:spcPts val="16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方法：</a:t>
            </a:r>
            <a:r>
              <a:rPr lang="zh-CN" altLang="en-US" sz="1600" b="1" dirty="0">
                <a:solidFill>
                  <a:schemeClr val="tx1"/>
                </a:solidFill>
              </a:rPr>
              <a:t>一开始，</a:t>
            </a:r>
            <a:r>
              <a:rPr lang="en-US" altLang="zh-CN" sz="1600" b="1" i="1" dirty="0">
                <a:solidFill>
                  <a:schemeClr val="tx1"/>
                </a:solidFill>
                <a:ea typeface="楷体" pitchFamily="49" charset="-122"/>
              </a:rPr>
              <a:t>ε</a:t>
            </a:r>
            <a:r>
              <a:rPr lang="en-US" altLang="zh-CN" sz="1600" b="1" dirty="0">
                <a:solidFill>
                  <a:schemeClr val="tx1"/>
                </a:solidFill>
              </a:rPr>
              <a:t>-</a:t>
            </a:r>
            <a:r>
              <a:rPr lang="en-US" altLang="zh-CN" sz="1600" b="1" i="1" dirty="0">
                <a:solidFill>
                  <a:schemeClr val="tx1"/>
                </a:solidFill>
              </a:rPr>
              <a:t>closur</a:t>
            </a:r>
            <a:r>
              <a:rPr lang="en-US" altLang="zh-CN" sz="1600" b="1" i="1" spc="-500" dirty="0">
                <a:solidFill>
                  <a:schemeClr val="tx1"/>
                </a:solidFill>
              </a:rPr>
              <a:t>e  </a:t>
            </a:r>
            <a:r>
              <a:rPr lang="zh-CN" altLang="en-US" sz="1600" b="1" dirty="0">
                <a:solidFill>
                  <a:schemeClr val="tx1"/>
                </a:solidFill>
              </a:rPr>
              <a:t>（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楷体_GB2312"/>
              </a:rPr>
              <a:t> s</a:t>
            </a:r>
            <a:r>
              <a:rPr lang="en-US" altLang="zh-CN" sz="1600" b="1" i="1" baseline="-30000" dirty="0">
                <a:solidFill>
                  <a:schemeClr val="tx1"/>
                </a:solidFill>
                <a:ea typeface="楷体_GB2312"/>
                <a:cs typeface="楷体_GB2312"/>
              </a:rPr>
              <a:t>0 </a:t>
            </a:r>
            <a:r>
              <a:rPr lang="zh-CN" altLang="en-US" sz="1600" b="1" spc="-1000" dirty="0">
                <a:solidFill>
                  <a:schemeClr val="tx1"/>
                </a:solidFill>
              </a:rPr>
              <a:t>）   </a:t>
            </a:r>
            <a:r>
              <a:rPr lang="zh-CN" altLang="en-US" sz="1600" b="1" dirty="0">
                <a:solidFill>
                  <a:schemeClr val="tx1"/>
                </a:solidFill>
              </a:rPr>
              <a:t>是</a:t>
            </a:r>
            <a:r>
              <a:rPr lang="en-US" altLang="zh-CN" sz="1600" b="1" i="1" dirty="0" err="1">
                <a:solidFill>
                  <a:schemeClr val="tx1"/>
                </a:solidFill>
              </a:rPr>
              <a:t>Dstates</a:t>
            </a:r>
            <a:r>
              <a:rPr lang="en-US" altLang="zh-CN" sz="1600" b="1" i="1" dirty="0">
                <a:solidFill>
                  <a:schemeClr val="tx1"/>
                </a:solidFill>
              </a:rPr>
              <a:t> </a:t>
            </a:r>
            <a:r>
              <a:rPr lang="zh-CN" altLang="en-US" sz="1600" b="1" dirty="0">
                <a:solidFill>
                  <a:schemeClr val="tx1"/>
                </a:solidFill>
              </a:rPr>
              <a:t>中的唯一状态，且它未加标记；        </a:t>
            </a:r>
            <a:endParaRPr lang="en-US" altLang="zh-CN" sz="16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16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600" b="1" i="1" dirty="0">
                <a:solidFill>
                  <a:schemeClr val="tx1"/>
                </a:solidFill>
              </a:rPr>
              <a:t>                      </a:t>
            </a:r>
            <a:r>
              <a:rPr lang="en-US" altLang="zh-CN" sz="1600" b="1" dirty="0">
                <a:solidFill>
                  <a:schemeClr val="tx1"/>
                </a:solidFill>
              </a:rPr>
              <a:t>while</a:t>
            </a:r>
            <a:r>
              <a:rPr lang="zh-CN" altLang="en-US" sz="1600" b="1" dirty="0">
                <a:solidFill>
                  <a:schemeClr val="tx1"/>
                </a:solidFill>
              </a:rPr>
              <a:t>（在</a:t>
            </a:r>
            <a:r>
              <a:rPr lang="en-US" altLang="zh-CN" sz="1600" b="1" i="1" dirty="0" err="1">
                <a:solidFill>
                  <a:schemeClr val="tx1"/>
                </a:solidFill>
              </a:rPr>
              <a:t>Dstates</a:t>
            </a:r>
            <a:r>
              <a:rPr lang="zh-CN" altLang="en-US" sz="1600" b="1" dirty="0">
                <a:solidFill>
                  <a:schemeClr val="tx1"/>
                </a:solidFill>
              </a:rPr>
              <a:t>中有一个未标记状态</a:t>
            </a:r>
            <a:r>
              <a:rPr lang="en-US" altLang="zh-CN" sz="1600" b="1" i="1" dirty="0">
                <a:solidFill>
                  <a:schemeClr val="tx1"/>
                </a:solidFill>
              </a:rPr>
              <a:t>T </a:t>
            </a:r>
            <a:r>
              <a:rPr lang="zh-CN" altLang="en-US" sz="1600" b="1" spc="-1500" dirty="0">
                <a:solidFill>
                  <a:schemeClr val="tx1"/>
                </a:solidFill>
              </a:rPr>
              <a:t>）  ｛</a:t>
            </a:r>
            <a:endParaRPr lang="en-US" altLang="zh-CN" sz="1600" b="1" spc="-1500" dirty="0">
              <a:solidFill>
                <a:schemeClr val="tx1"/>
              </a:solidFill>
            </a:endParaRPr>
          </a:p>
          <a:p>
            <a:pPr eaLnBrk="1" hangingPunct="1">
              <a:lnSpc>
                <a:spcPts val="1600"/>
              </a:lnSpc>
              <a:buClrTx/>
              <a:buFont typeface="Symbol" panose="05050102010706020507" pitchFamily="18" charset="2"/>
              <a:buNone/>
              <a:defRPr/>
            </a:pPr>
            <a:r>
              <a:rPr lang="zh-CN" altLang="en-US" sz="1600" b="1" dirty="0">
                <a:solidFill>
                  <a:schemeClr val="tx1"/>
                </a:solidFill>
              </a:rPr>
              <a:t>                                   给</a:t>
            </a:r>
            <a:r>
              <a:rPr lang="en-US" altLang="zh-CN" sz="1600" b="1" i="1" dirty="0">
                <a:solidFill>
                  <a:schemeClr val="tx1"/>
                </a:solidFill>
              </a:rPr>
              <a:t>T</a:t>
            </a:r>
            <a:r>
              <a:rPr lang="zh-CN" altLang="en-US" sz="1600" b="1" dirty="0">
                <a:solidFill>
                  <a:schemeClr val="tx1"/>
                </a:solidFill>
              </a:rPr>
              <a:t>加上标记；</a:t>
            </a:r>
            <a:endParaRPr lang="en-US" altLang="zh-CN" sz="16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16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600" b="1" i="1" dirty="0">
                <a:solidFill>
                  <a:schemeClr val="tx1"/>
                </a:solidFill>
              </a:rPr>
              <a:t>                                    </a:t>
            </a:r>
            <a:r>
              <a:rPr lang="en-US" altLang="zh-CN" sz="1600" b="1" dirty="0">
                <a:solidFill>
                  <a:schemeClr val="tx1"/>
                </a:solidFill>
              </a:rPr>
              <a:t>for</a:t>
            </a:r>
            <a:r>
              <a:rPr lang="zh-CN" altLang="en-US" sz="1600" b="1" dirty="0">
                <a:solidFill>
                  <a:schemeClr val="tx1"/>
                </a:solidFill>
              </a:rPr>
              <a:t>（每个输入符号</a:t>
            </a:r>
            <a:r>
              <a:rPr lang="en-US" altLang="zh-CN" sz="1600" b="1" i="1" dirty="0">
                <a:solidFill>
                  <a:schemeClr val="tx1"/>
                </a:solidFill>
              </a:rPr>
              <a:t>a</a:t>
            </a:r>
            <a:r>
              <a:rPr lang="zh-CN" altLang="en-US" sz="1600" b="1" spc="-1500" dirty="0">
                <a:solidFill>
                  <a:schemeClr val="tx1"/>
                </a:solidFill>
              </a:rPr>
              <a:t> ）  ｛</a:t>
            </a:r>
            <a:endParaRPr lang="en-US" altLang="zh-CN" sz="16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16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</a:rPr>
              <a:t>                                              </a:t>
            </a:r>
            <a:r>
              <a:rPr lang="en-US" altLang="zh-CN" sz="1600" b="1" i="1" dirty="0">
                <a:solidFill>
                  <a:schemeClr val="tx1"/>
                </a:solidFill>
              </a:rPr>
              <a:t>U </a:t>
            </a:r>
            <a:r>
              <a:rPr lang="en-US" altLang="zh-CN" sz="1600" b="1" dirty="0">
                <a:solidFill>
                  <a:schemeClr val="tx1"/>
                </a:solidFill>
              </a:rPr>
              <a:t>= </a:t>
            </a:r>
            <a:r>
              <a:rPr lang="en-US" altLang="zh-CN" sz="1600" b="1" i="1" dirty="0">
                <a:solidFill>
                  <a:schemeClr val="tx1"/>
                </a:solidFill>
                <a:ea typeface="楷体" pitchFamily="49" charset="-122"/>
              </a:rPr>
              <a:t>ε-closure</a:t>
            </a: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(</a:t>
            </a:r>
            <a:r>
              <a:rPr lang="en-US" altLang="zh-CN" sz="1600" b="1" i="1" dirty="0">
                <a:solidFill>
                  <a:schemeClr val="tx1"/>
                </a:solidFill>
                <a:ea typeface="楷体" pitchFamily="49" charset="-122"/>
              </a:rPr>
              <a:t>move</a:t>
            </a: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(</a:t>
            </a:r>
            <a:r>
              <a:rPr lang="en-US" altLang="zh-CN" sz="1600" b="1" i="1" dirty="0">
                <a:solidFill>
                  <a:schemeClr val="tx1"/>
                </a:solidFill>
                <a:ea typeface="楷体" pitchFamily="49" charset="-122"/>
              </a:rPr>
              <a:t>T</a:t>
            </a: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, </a:t>
            </a:r>
            <a:r>
              <a:rPr lang="en-US" altLang="zh-CN" sz="1600" b="1" i="1" dirty="0">
                <a:solidFill>
                  <a:schemeClr val="tx1"/>
                </a:solidFill>
                <a:ea typeface="楷体" pitchFamily="49" charset="-122"/>
              </a:rPr>
              <a:t>a</a:t>
            </a: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));</a:t>
            </a:r>
          </a:p>
          <a:p>
            <a:pPr eaLnBrk="1" hangingPunct="1">
              <a:lnSpc>
                <a:spcPts val="16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                                              if</a:t>
            </a:r>
            <a:r>
              <a:rPr lang="en-US" altLang="zh-CN" sz="1600" b="1" i="1" dirty="0">
                <a:solidFill>
                  <a:schemeClr val="tx1"/>
                </a:solidFill>
                <a:ea typeface="楷体" pitchFamily="49" charset="-122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( </a:t>
            </a:r>
            <a:r>
              <a:rPr lang="en-US" altLang="zh-CN" sz="1600" b="1" i="1" dirty="0">
                <a:solidFill>
                  <a:schemeClr val="tx1"/>
                </a:solidFill>
                <a:ea typeface="楷体" pitchFamily="49" charset="-122"/>
              </a:rPr>
              <a:t>U</a:t>
            </a:r>
            <a:r>
              <a:rPr lang="zh-CN" altLang="en-US" sz="1600" b="1" dirty="0">
                <a:solidFill>
                  <a:schemeClr val="tx1"/>
                </a:solidFill>
                <a:ea typeface="楷体" pitchFamily="49" charset="-122"/>
              </a:rPr>
              <a:t>不在</a:t>
            </a:r>
            <a:r>
              <a:rPr lang="en-US" altLang="zh-CN" sz="1600" b="1" i="1" dirty="0" err="1">
                <a:solidFill>
                  <a:schemeClr val="tx1"/>
                </a:solidFill>
                <a:ea typeface="楷体" pitchFamily="49" charset="-122"/>
              </a:rPr>
              <a:t>Dstates</a:t>
            </a:r>
            <a:r>
              <a:rPr lang="zh-CN" altLang="en-US" sz="1600" b="1" dirty="0">
                <a:solidFill>
                  <a:schemeClr val="tx1"/>
                </a:solidFill>
                <a:ea typeface="楷体" pitchFamily="49" charset="-122"/>
              </a:rPr>
              <a:t>中</a:t>
            </a: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)</a:t>
            </a:r>
          </a:p>
          <a:p>
            <a:pPr eaLnBrk="1" hangingPunct="1">
              <a:lnSpc>
                <a:spcPts val="16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                                                           </a:t>
            </a:r>
            <a:r>
              <a:rPr lang="zh-CN" altLang="en-US" sz="1600" b="1" dirty="0">
                <a:solidFill>
                  <a:schemeClr val="tx1"/>
                </a:solidFill>
                <a:ea typeface="楷体" pitchFamily="49" charset="-122"/>
              </a:rPr>
              <a:t>将</a:t>
            </a:r>
            <a:r>
              <a:rPr lang="en-US" altLang="zh-CN" sz="1600" b="1" i="1" dirty="0">
                <a:solidFill>
                  <a:schemeClr val="tx1"/>
                </a:solidFill>
                <a:ea typeface="楷体" pitchFamily="49" charset="-122"/>
              </a:rPr>
              <a:t>U</a:t>
            </a:r>
            <a:r>
              <a:rPr lang="zh-CN" altLang="en-US" sz="1600" b="1" dirty="0">
                <a:solidFill>
                  <a:schemeClr val="tx1"/>
                </a:solidFill>
                <a:ea typeface="楷体" pitchFamily="49" charset="-122"/>
              </a:rPr>
              <a:t>加入到</a:t>
            </a:r>
            <a:r>
              <a:rPr lang="en-US" altLang="zh-CN" sz="1600" b="1" i="1" dirty="0" err="1">
                <a:solidFill>
                  <a:schemeClr val="tx1"/>
                </a:solidFill>
                <a:ea typeface="楷体" pitchFamily="49" charset="-122"/>
              </a:rPr>
              <a:t>Dstates</a:t>
            </a:r>
            <a:r>
              <a:rPr lang="zh-CN" altLang="en-US" sz="1600" b="1" dirty="0">
                <a:solidFill>
                  <a:schemeClr val="tx1"/>
                </a:solidFill>
                <a:ea typeface="楷体" pitchFamily="49" charset="-122"/>
              </a:rPr>
              <a:t>中，且不加标记；</a:t>
            </a:r>
            <a:endParaRPr lang="en-US" altLang="zh-CN" sz="1600" b="1" dirty="0">
              <a:solidFill>
                <a:schemeClr val="tx1"/>
              </a:solidFill>
              <a:ea typeface="楷体" pitchFamily="49" charset="-122"/>
            </a:endParaRPr>
          </a:p>
          <a:p>
            <a:pPr eaLnBrk="1" hangingPunct="1">
              <a:lnSpc>
                <a:spcPts val="16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                                              </a:t>
            </a:r>
            <a:r>
              <a:rPr lang="en-US" altLang="zh-CN" sz="1600" b="1" i="1" dirty="0" err="1">
                <a:solidFill>
                  <a:schemeClr val="tx1"/>
                </a:solidFill>
                <a:ea typeface="楷体" pitchFamily="49" charset="-122"/>
              </a:rPr>
              <a:t>Dtran</a:t>
            </a: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[</a:t>
            </a:r>
            <a:r>
              <a:rPr lang="en-US" altLang="zh-CN" sz="1600" b="1" i="1" dirty="0">
                <a:solidFill>
                  <a:schemeClr val="tx1"/>
                </a:solidFill>
                <a:ea typeface="楷体" pitchFamily="49" charset="-122"/>
              </a:rPr>
              <a:t>T</a:t>
            </a: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, </a:t>
            </a:r>
            <a:r>
              <a:rPr lang="en-US" altLang="zh-CN" sz="1600" b="1" i="1" dirty="0">
                <a:solidFill>
                  <a:schemeClr val="tx1"/>
                </a:solidFill>
                <a:ea typeface="楷体" pitchFamily="49" charset="-122"/>
              </a:rPr>
              <a:t>a</a:t>
            </a: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]=</a:t>
            </a:r>
            <a:r>
              <a:rPr lang="en-US" altLang="zh-CN" sz="1600" b="1" i="1" dirty="0">
                <a:solidFill>
                  <a:schemeClr val="tx1"/>
                </a:solidFill>
                <a:ea typeface="楷体" pitchFamily="49" charset="-122"/>
              </a:rPr>
              <a:t>U </a:t>
            </a: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;</a:t>
            </a:r>
          </a:p>
          <a:p>
            <a:pPr eaLnBrk="1" hangingPunct="1">
              <a:lnSpc>
                <a:spcPts val="16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                                    }</a:t>
            </a:r>
          </a:p>
          <a:p>
            <a:pPr eaLnBrk="1" hangingPunct="1">
              <a:lnSpc>
                <a:spcPts val="16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                       }</a:t>
            </a:r>
            <a:endParaRPr lang="en-US" altLang="zh-CN" sz="1800" b="1" dirty="0">
              <a:solidFill>
                <a:schemeClr val="tx1"/>
              </a:solidFill>
              <a:ea typeface="楷体" pitchFamily="49" charset="-122"/>
            </a:endParaRPr>
          </a:p>
        </p:txBody>
      </p:sp>
      <p:sp>
        <p:nvSpPr>
          <p:cNvPr id="46083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子集构造</a:t>
            </a:r>
            <a:r>
              <a:rPr lang="zh-CN" altLang="en-US" sz="3000" spc="-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法</a:t>
            </a:r>
            <a:r>
              <a:rPr lang="zh-CN" altLang="en-US" sz="2500" spc="-300" dirty="0">
                <a:solidFill>
                  <a:schemeClr val="tx1"/>
                </a:solidFill>
                <a:latin typeface="+mn-ea"/>
                <a:ea typeface="+mn-ea"/>
                <a:cs typeface="Times New Roman" pitchFamily="18" charset="0"/>
              </a:rPr>
              <a:t>（</a:t>
            </a:r>
            <a:r>
              <a:rPr lang="en-US" altLang="zh-CN" sz="2500" spc="-300" dirty="0">
                <a:solidFill>
                  <a:schemeClr val="tx1"/>
                </a:solidFill>
                <a:cs typeface="Times New Roman" pitchFamily="18" charset="0"/>
              </a:rPr>
              <a:t>  </a:t>
            </a:r>
            <a:r>
              <a:rPr lang="en-US" altLang="zh-CN" sz="2500" i="1" dirty="0">
                <a:solidFill>
                  <a:schemeClr val="tx1"/>
                </a:solidFill>
                <a:cs typeface="Times New Roman" pitchFamily="18" charset="0"/>
              </a:rPr>
              <a:t>subset construction</a:t>
            </a:r>
            <a:r>
              <a:rPr lang="zh-CN" altLang="en-US" sz="2500" dirty="0">
                <a:solidFill>
                  <a:schemeClr val="tx1"/>
                </a:solidFill>
                <a:latin typeface="+mn-ea"/>
                <a:ea typeface="+mn-ea"/>
                <a:cs typeface="Times New Roman" pitchFamily="18" charset="0"/>
              </a:rPr>
              <a:t>）</a:t>
            </a:r>
          </a:p>
        </p:txBody>
      </p:sp>
      <p:grpSp>
        <p:nvGrpSpPr>
          <p:cNvPr id="96260" name="组合 4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6279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11" name="Group 18"/>
          <p:cNvGraphicFramePr>
            <a:graphicFrameLocks noGrp="1"/>
          </p:cNvGraphicFramePr>
          <p:nvPr/>
        </p:nvGraphicFramePr>
        <p:xfrm>
          <a:off x="468313" y="3784600"/>
          <a:ext cx="8424862" cy="1250952"/>
        </p:xfrm>
        <a:graphic>
          <a:graphicData uri="http://schemas.openxmlformats.org/drawingml/2006/table">
            <a:tbl>
              <a:tblPr/>
              <a:tblGrid>
                <a:gridCol w="1335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8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操作</a:t>
                      </a:r>
                    </a:p>
                  </a:txBody>
                  <a:tcPr marL="91439" marR="91439" marT="34346" marB="3434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描述</a:t>
                      </a:r>
                    </a:p>
                  </a:txBody>
                  <a:tcPr marL="91439" marR="91439" marT="34346" marB="3434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ε-closure 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 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327" marB="343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能够从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NFA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的状态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开始只通过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ε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转换到达的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NFA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状态集合</a:t>
                      </a:r>
                      <a:endParaRPr kumimoji="0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327" marB="343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ε-closure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327" marB="343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能够从</a:t>
                      </a: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T 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中的某个</a:t>
                      </a: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NFA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状态 </a:t>
                      </a: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开始只通过</a:t>
                      </a: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ε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转换到达的</a:t>
                      </a: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NFA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状态集合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即</a:t>
                      </a:r>
                      <a:r>
                        <a:rPr kumimoji="0" lang="en-US" altLang="zh-CN" sz="1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U</a:t>
                      </a:r>
                      <a:r>
                        <a:rPr kumimoji="0" lang="en-US" altLang="zh-CN" sz="1400" b="1" i="1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s∈T</a:t>
                      </a:r>
                      <a:r>
                        <a:rPr kumimoji="0" lang="en-US" altLang="zh-CN" sz="1400" b="1" i="1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ε-closure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327" marB="3432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move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 , a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327" marB="343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能够从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T 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中的某个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状态 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出发通过标号为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的转换到达的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NFA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状态的集合</a:t>
                      </a:r>
                      <a:endParaRPr kumimoji="0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327" marB="343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5631AF8F-1B68-EF57-9B8E-08B78C90E58C}"/>
              </a:ext>
            </a:extLst>
          </p:cNvPr>
          <p:cNvSpPr txBox="1"/>
          <p:nvPr/>
        </p:nvSpPr>
        <p:spPr>
          <a:xfrm>
            <a:off x="6660231" y="285750"/>
            <a:ext cx="2232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书</a:t>
            </a:r>
            <a:r>
              <a:rPr kumimoji="0" lang="en-US" altLang="zh-CN" sz="2400" b="0" i="0" u="none" strike="noStrike" kern="1200" cap="none" spc="3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P94-96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b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</a:b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3.21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为正则表达式</a:t>
            </a:r>
            <a:r>
              <a:rPr lang="en-US" altLang="zh-CN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r=(</a:t>
            </a:r>
            <a:r>
              <a:rPr lang="en-US" altLang="zh-CN" sz="3000" spc="300" dirty="0" err="1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a|b</a:t>
            </a:r>
            <a:r>
              <a:rPr lang="en-US" altLang="zh-CN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)*</a:t>
            </a:r>
            <a:r>
              <a:rPr lang="en-US" altLang="zh-CN" sz="3000" spc="300" dirty="0" err="1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abb</a:t>
            </a:r>
            <a:r>
              <a:rPr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构造一个</a:t>
            </a:r>
            <a:r>
              <a:rPr lang="en-US" altLang="zh-CN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NFA</a:t>
            </a:r>
            <a:r>
              <a:rPr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，并转换为最小化的</a:t>
            </a:r>
            <a:r>
              <a:rPr lang="en-US" altLang="zh-CN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DFA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94228" name="组合 44"/>
          <p:cNvGrpSpPr>
            <a:grpSpLocks/>
          </p:cNvGrpSpPr>
          <p:nvPr/>
        </p:nvGrpSpPr>
        <p:grpSpPr bwMode="auto">
          <a:xfrm>
            <a:off x="29754" y="15875"/>
            <a:ext cx="755650" cy="431800"/>
            <a:chOff x="-786" y="195486"/>
            <a:chExt cx="756363" cy="432048"/>
          </a:xfrm>
        </p:grpSpPr>
        <p:sp>
          <p:nvSpPr>
            <p:cNvPr id="46" name="五边形 4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4292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611560" y="1347614"/>
            <a:ext cx="72008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书上给了一个比较复杂的画图和构造方案：</a:t>
            </a:r>
            <a:endParaRPr kumimoji="0" lang="en-US" altLang="zh-CN" sz="2400" b="0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24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P100 </a:t>
            </a:r>
            <a:r>
              <a:rPr kumimoji="0" lang="zh-CN" altLang="en-US" sz="24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两个正则表达式的并，串联，闭包</a:t>
            </a:r>
            <a:endParaRPr kumimoji="0" lang="en-US" altLang="zh-CN" sz="2400" b="0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24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P94 </a:t>
            </a:r>
            <a:r>
              <a:rPr kumimoji="0" lang="zh-CN" altLang="en-US" sz="24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子集构造法构造</a:t>
            </a:r>
            <a:r>
              <a:rPr kumimoji="0" lang="en-US" altLang="zh-CN" sz="24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DFA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24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P96 </a:t>
            </a:r>
            <a:r>
              <a:rPr kumimoji="0" lang="zh-CN" altLang="en-US" sz="24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最小化</a:t>
            </a:r>
            <a:r>
              <a:rPr kumimoji="0" lang="en-US" altLang="zh-CN" sz="24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DFA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zh-CN" sz="2400" b="0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我们课堂上给出最简化的方案：</a:t>
            </a:r>
            <a:endParaRPr kumimoji="0" lang="en-US" altLang="zh-CN" sz="2400" b="0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3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   </a:t>
            </a:r>
            <a:endParaRPr kumimoji="0" lang="zh-CN" altLang="en-US" sz="24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6851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B66788-EA24-4652-9675-844FC5108B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AA60CE8-98A2-40B8-B1D7-2AE6BDB60C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7861DCA-81C3-49E3-B7D7-6ADB322986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2139"/>
            <a:ext cx="9144000" cy="383922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B9D89AE-2A13-81B6-D19F-F9A35C83CF44}"/>
              </a:ext>
            </a:extLst>
          </p:cNvPr>
          <p:cNvSpPr txBox="1"/>
          <p:nvPr/>
        </p:nvSpPr>
        <p:spPr>
          <a:xfrm>
            <a:off x="4355976" y="3410768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400" b="1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Dtran</a:t>
            </a:r>
            <a:r>
              <a:rPr kumimoji="0" lang="en-US" altLang="zh-CN" sz="2400" b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</a:t>
            </a:r>
            <a:r>
              <a:rPr kumimoji="0" lang="en-US" altLang="zh-CN" sz="2400" b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T,a</a:t>
            </a:r>
            <a:r>
              <a:rPr kumimoji="0" lang="en-US" altLang="zh-CN" sz="2400" b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]=</a:t>
            </a: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ε-closure 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move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 , a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))</a:t>
            </a:r>
            <a:endParaRPr kumimoji="0" lang="zh-CN" altLang="en-US" sz="2400" b="1" i="1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9130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B66788-EA24-4652-9675-844FC5108B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AA60CE8-98A2-40B8-B1D7-2AE6BDB60C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7861DCA-81C3-49E3-B7D7-6ADB322986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2139"/>
            <a:ext cx="9144000" cy="3839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3314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标题 1"/>
          <p:cNvSpPr>
            <a:spLocks noGrp="1"/>
          </p:cNvSpPr>
          <p:nvPr>
            <p:ph type="title"/>
          </p:nvPr>
        </p:nvSpPr>
        <p:spPr>
          <a:xfrm>
            <a:off x="755650" y="214313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计算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l-GR" altLang="zh-CN" sz="3000" i="1" dirty="0">
                <a:solidFill>
                  <a:schemeClr val="tx1"/>
                </a:solidFill>
              </a:rPr>
              <a:t>ε-</a:t>
            </a:r>
            <a:r>
              <a:rPr lang="en-US" altLang="zh-CN" sz="3000" i="1" dirty="0">
                <a:solidFill>
                  <a:schemeClr val="tx1"/>
                </a:solidFill>
              </a:rPr>
              <a:t>closure </a:t>
            </a:r>
            <a:r>
              <a:rPr lang="en-US" altLang="zh-CN" sz="3000" dirty="0">
                <a:solidFill>
                  <a:schemeClr val="tx1"/>
                </a:solidFill>
              </a:rPr>
              <a:t>(</a:t>
            </a:r>
            <a:r>
              <a:rPr lang="en-US" altLang="zh-CN" sz="3000" i="1" spc="-150" dirty="0">
                <a:solidFill>
                  <a:schemeClr val="tx1"/>
                </a:solidFill>
              </a:rPr>
              <a:t>T </a:t>
            </a:r>
            <a:r>
              <a:rPr lang="en-US" altLang="zh-CN" sz="3000" spc="-150" dirty="0">
                <a:solidFill>
                  <a:schemeClr val="tx1"/>
                </a:solidFill>
              </a:rPr>
              <a:t>)</a:t>
            </a:r>
            <a:endParaRPr lang="zh-CN" altLang="en-US" sz="3000" spc="-150" dirty="0">
              <a:solidFill>
                <a:schemeClr val="tx1"/>
              </a:solidFill>
            </a:endParaRPr>
          </a:p>
        </p:txBody>
      </p:sp>
      <p:grpSp>
        <p:nvGrpSpPr>
          <p:cNvPr id="98307" name="组合 4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8310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8" name="内容占位符 1"/>
          <p:cNvSpPr>
            <a:spLocks noGrp="1"/>
          </p:cNvSpPr>
          <p:nvPr>
            <p:ph idx="1"/>
          </p:nvPr>
        </p:nvSpPr>
        <p:spPr>
          <a:xfrm>
            <a:off x="357188" y="928688"/>
            <a:ext cx="8499475" cy="4071937"/>
          </a:xfrm>
        </p:spPr>
        <p:txBody>
          <a:bodyPr/>
          <a:lstStyle/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zh-CN" altLang="en-US" sz="1900" b="1" dirty="0">
                <a:solidFill>
                  <a:schemeClr val="tx1"/>
                </a:solidFill>
              </a:rPr>
              <a:t>将</a:t>
            </a:r>
            <a:r>
              <a:rPr lang="en-US" altLang="zh-CN" sz="1900" b="1" i="1" dirty="0">
                <a:solidFill>
                  <a:schemeClr val="tx1"/>
                </a:solidFill>
              </a:rPr>
              <a:t>T</a:t>
            </a:r>
            <a:r>
              <a:rPr lang="zh-CN" altLang="en-US" sz="1900" b="1" dirty="0">
                <a:solidFill>
                  <a:schemeClr val="tx1"/>
                </a:solidFill>
              </a:rPr>
              <a:t>的所有状态压入</a:t>
            </a:r>
            <a:r>
              <a:rPr lang="en-US" altLang="zh-CN" sz="1900" b="1" i="1" dirty="0">
                <a:solidFill>
                  <a:schemeClr val="tx1"/>
                </a:solidFill>
              </a:rPr>
              <a:t>stack</a:t>
            </a:r>
            <a:r>
              <a:rPr lang="zh-CN" altLang="en-US" sz="1900" b="1" dirty="0">
                <a:solidFill>
                  <a:schemeClr val="tx1"/>
                </a:solidFill>
              </a:rPr>
              <a:t>中；</a:t>
            </a:r>
            <a:endParaRPr lang="en-US" altLang="zh-CN" sz="19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zh-CN" altLang="en-US" sz="1900" b="1" dirty="0">
                <a:solidFill>
                  <a:schemeClr val="tx1"/>
                </a:solidFill>
              </a:rPr>
              <a:t>将</a:t>
            </a:r>
            <a:r>
              <a:rPr lang="en-US" altLang="zh-CN" sz="1900" b="1" i="1" dirty="0">
                <a:solidFill>
                  <a:schemeClr val="tx1"/>
                </a:solidFill>
                <a:ea typeface="楷体" pitchFamily="49" charset="-122"/>
              </a:rPr>
              <a:t>ε</a:t>
            </a:r>
            <a:r>
              <a:rPr lang="en-US" altLang="zh-CN" sz="1900" b="1" dirty="0">
                <a:solidFill>
                  <a:schemeClr val="tx1"/>
                </a:solidFill>
              </a:rPr>
              <a:t>-</a:t>
            </a:r>
            <a:r>
              <a:rPr lang="en-US" altLang="zh-CN" sz="1900" b="1" i="1" dirty="0">
                <a:solidFill>
                  <a:schemeClr val="tx1"/>
                </a:solidFill>
              </a:rPr>
              <a:t>closur</a:t>
            </a:r>
            <a:r>
              <a:rPr lang="en-US" altLang="zh-CN" sz="1900" b="1" i="1" spc="-500" dirty="0">
                <a:solidFill>
                  <a:schemeClr val="tx1"/>
                </a:solidFill>
              </a:rPr>
              <a:t>e  </a:t>
            </a:r>
            <a:r>
              <a:rPr lang="zh-CN" altLang="en-US" sz="1900" b="1" dirty="0">
                <a:solidFill>
                  <a:schemeClr val="tx1"/>
                </a:solidFill>
              </a:rPr>
              <a:t>（</a:t>
            </a:r>
            <a:r>
              <a:rPr lang="en-US" altLang="zh-CN" sz="1900" b="1" i="1" dirty="0">
                <a:solidFill>
                  <a:schemeClr val="tx1"/>
                </a:solidFill>
                <a:ea typeface="楷体_GB2312"/>
                <a:cs typeface="楷体_GB2312"/>
              </a:rPr>
              <a:t>T </a:t>
            </a:r>
            <a:r>
              <a:rPr lang="zh-CN" altLang="en-US" sz="1900" b="1" spc="-1000" dirty="0">
                <a:solidFill>
                  <a:schemeClr val="tx1"/>
                </a:solidFill>
              </a:rPr>
              <a:t>）   </a:t>
            </a:r>
            <a:r>
              <a:rPr lang="zh-CN" altLang="en-US" sz="1900" b="1" dirty="0">
                <a:solidFill>
                  <a:schemeClr val="tx1"/>
                </a:solidFill>
              </a:rPr>
              <a:t>初始化为 </a:t>
            </a:r>
            <a:r>
              <a:rPr lang="en-US" altLang="zh-CN" sz="1900" b="1" i="1" dirty="0">
                <a:solidFill>
                  <a:schemeClr val="tx1"/>
                </a:solidFill>
                <a:ea typeface="楷体_GB2312"/>
                <a:cs typeface="楷体_GB2312"/>
              </a:rPr>
              <a:t>T </a:t>
            </a:r>
            <a:r>
              <a:rPr lang="zh-CN" altLang="en-US" sz="1900" b="1" dirty="0">
                <a:solidFill>
                  <a:schemeClr val="tx1"/>
                </a:solidFill>
              </a:rPr>
              <a:t>；</a:t>
            </a:r>
            <a:endParaRPr lang="en-US" altLang="zh-CN" sz="19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900" b="1" i="1" dirty="0">
                <a:solidFill>
                  <a:schemeClr val="tx1"/>
                </a:solidFill>
              </a:rPr>
              <a:t> </a:t>
            </a:r>
            <a:r>
              <a:rPr lang="en-US" altLang="zh-CN" sz="1900" b="1" dirty="0">
                <a:solidFill>
                  <a:schemeClr val="tx1"/>
                </a:solidFill>
              </a:rPr>
              <a:t>while</a:t>
            </a:r>
            <a:r>
              <a:rPr lang="zh-CN" altLang="en-US" sz="1900" b="1" dirty="0">
                <a:solidFill>
                  <a:schemeClr val="tx1"/>
                </a:solidFill>
              </a:rPr>
              <a:t>（</a:t>
            </a:r>
            <a:r>
              <a:rPr lang="en-US" altLang="zh-CN" sz="1900" b="1" i="1" dirty="0">
                <a:solidFill>
                  <a:schemeClr val="tx1"/>
                </a:solidFill>
              </a:rPr>
              <a:t>stack</a:t>
            </a:r>
            <a:r>
              <a:rPr lang="zh-CN" altLang="en-US" sz="1900" b="1" dirty="0">
                <a:solidFill>
                  <a:schemeClr val="tx1"/>
                </a:solidFill>
              </a:rPr>
              <a:t>非空</a:t>
            </a:r>
            <a:r>
              <a:rPr lang="zh-CN" altLang="en-US" sz="1900" b="1" spc="-1000" dirty="0">
                <a:solidFill>
                  <a:schemeClr val="tx1"/>
                </a:solidFill>
              </a:rPr>
              <a:t>）｛</a:t>
            </a:r>
            <a:endParaRPr lang="en-US" altLang="zh-CN" sz="1900" b="1" spc="-1000" dirty="0">
              <a:solidFill>
                <a:schemeClr val="tx1"/>
              </a:solidFill>
            </a:endParaRP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zh-CN" altLang="en-US" sz="1900" b="1" dirty="0">
                <a:solidFill>
                  <a:schemeClr val="tx1"/>
                </a:solidFill>
              </a:rPr>
              <a:t>             将栈顶元素 </a:t>
            </a:r>
            <a:r>
              <a:rPr lang="en-US" altLang="zh-CN" sz="1900" b="1" i="1" dirty="0">
                <a:solidFill>
                  <a:schemeClr val="tx1"/>
                </a:solidFill>
              </a:rPr>
              <a:t>t </a:t>
            </a:r>
            <a:r>
              <a:rPr lang="zh-CN" altLang="en-US" sz="1900" b="1" dirty="0">
                <a:solidFill>
                  <a:schemeClr val="tx1"/>
                </a:solidFill>
              </a:rPr>
              <a:t>给弹出栈中；</a:t>
            </a:r>
            <a:endParaRPr lang="en-US" altLang="zh-CN" sz="19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900" b="1" i="1" dirty="0">
                <a:solidFill>
                  <a:schemeClr val="tx1"/>
                </a:solidFill>
              </a:rPr>
              <a:t>              </a:t>
            </a:r>
            <a:r>
              <a:rPr lang="en-US" altLang="zh-CN" sz="1900" b="1" dirty="0">
                <a:solidFill>
                  <a:schemeClr val="tx1"/>
                </a:solidFill>
              </a:rPr>
              <a:t>for</a:t>
            </a:r>
            <a:r>
              <a:rPr lang="zh-CN" altLang="en-US" sz="1900" b="1" dirty="0">
                <a:solidFill>
                  <a:schemeClr val="tx1"/>
                </a:solidFill>
              </a:rPr>
              <a:t>（每个满足如下条件的</a:t>
            </a:r>
            <a:r>
              <a:rPr lang="en-US" altLang="zh-CN" sz="1900" b="1" i="1" dirty="0">
                <a:solidFill>
                  <a:schemeClr val="tx1"/>
                </a:solidFill>
              </a:rPr>
              <a:t>u</a:t>
            </a:r>
            <a:r>
              <a:rPr lang="zh-CN" altLang="en-US" sz="1900" b="1" dirty="0">
                <a:solidFill>
                  <a:schemeClr val="tx1"/>
                </a:solidFill>
              </a:rPr>
              <a:t> ：从</a:t>
            </a:r>
            <a:r>
              <a:rPr lang="en-US" altLang="zh-CN" sz="1900" b="1" i="1" dirty="0">
                <a:solidFill>
                  <a:schemeClr val="tx1"/>
                </a:solidFill>
              </a:rPr>
              <a:t>t</a:t>
            </a:r>
            <a:r>
              <a:rPr lang="zh-CN" altLang="en-US" sz="1900" b="1" dirty="0">
                <a:solidFill>
                  <a:schemeClr val="tx1"/>
                </a:solidFill>
              </a:rPr>
              <a:t>出发有一个标号为</a:t>
            </a:r>
            <a:r>
              <a:rPr lang="en-US" altLang="zh-CN" sz="1900" b="1" i="1" dirty="0">
                <a:solidFill>
                  <a:schemeClr val="tx1"/>
                </a:solidFill>
                <a:ea typeface="楷体" pitchFamily="49" charset="-122"/>
              </a:rPr>
              <a:t>ε</a:t>
            </a:r>
            <a:r>
              <a:rPr lang="zh-CN" altLang="en-US" sz="1900" b="1" dirty="0">
                <a:solidFill>
                  <a:schemeClr val="tx1"/>
                </a:solidFill>
              </a:rPr>
              <a:t>的转换到达状态</a:t>
            </a:r>
            <a:r>
              <a:rPr lang="en-US" altLang="zh-CN" sz="1900" b="1" i="1" dirty="0">
                <a:solidFill>
                  <a:schemeClr val="tx1"/>
                </a:solidFill>
              </a:rPr>
              <a:t>u</a:t>
            </a:r>
            <a:r>
              <a:rPr lang="en-US" altLang="zh-CN" sz="1900" b="1" dirty="0">
                <a:solidFill>
                  <a:schemeClr val="tx1"/>
                </a:solidFill>
              </a:rPr>
              <a:t>)</a:t>
            </a: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900" b="1" i="1" dirty="0">
                <a:solidFill>
                  <a:schemeClr val="tx1"/>
                </a:solidFill>
                <a:ea typeface="楷体" pitchFamily="49" charset="-122"/>
              </a:rPr>
              <a:t>                        </a:t>
            </a:r>
            <a:r>
              <a:rPr lang="en-US" altLang="zh-CN" sz="1900" b="1" dirty="0">
                <a:solidFill>
                  <a:schemeClr val="tx1"/>
                </a:solidFill>
                <a:ea typeface="楷体" pitchFamily="49" charset="-122"/>
              </a:rPr>
              <a:t>if</a:t>
            </a:r>
            <a:r>
              <a:rPr lang="en-US" altLang="zh-CN" sz="1900" b="1" i="1" dirty="0">
                <a:solidFill>
                  <a:schemeClr val="tx1"/>
                </a:solidFill>
                <a:ea typeface="楷体" pitchFamily="49" charset="-122"/>
              </a:rPr>
              <a:t> </a:t>
            </a:r>
            <a:r>
              <a:rPr lang="en-US" altLang="zh-CN" sz="1900" b="1" dirty="0">
                <a:solidFill>
                  <a:schemeClr val="tx1"/>
                </a:solidFill>
                <a:ea typeface="楷体" pitchFamily="49" charset="-122"/>
              </a:rPr>
              <a:t>( </a:t>
            </a:r>
            <a:r>
              <a:rPr lang="en-US" altLang="zh-CN" sz="1900" b="1" i="1" dirty="0">
                <a:solidFill>
                  <a:schemeClr val="tx1"/>
                </a:solidFill>
                <a:ea typeface="楷体" pitchFamily="49" charset="-122"/>
              </a:rPr>
              <a:t>u</a:t>
            </a:r>
            <a:r>
              <a:rPr lang="zh-CN" altLang="en-US" sz="1900" b="1" dirty="0">
                <a:solidFill>
                  <a:schemeClr val="tx1"/>
                </a:solidFill>
                <a:ea typeface="楷体" pitchFamily="49" charset="-122"/>
              </a:rPr>
              <a:t>不在</a:t>
            </a:r>
            <a:r>
              <a:rPr lang="en-US" altLang="zh-CN" sz="1900" b="1" i="1" dirty="0">
                <a:solidFill>
                  <a:schemeClr val="tx1"/>
                </a:solidFill>
                <a:ea typeface="楷体" pitchFamily="49" charset="-122"/>
              </a:rPr>
              <a:t>ε</a:t>
            </a:r>
            <a:r>
              <a:rPr lang="en-US" altLang="zh-CN" sz="1900" b="1" dirty="0">
                <a:solidFill>
                  <a:schemeClr val="tx1"/>
                </a:solidFill>
              </a:rPr>
              <a:t>-</a:t>
            </a:r>
            <a:r>
              <a:rPr lang="en-US" altLang="zh-CN" sz="1900" b="1" i="1" dirty="0">
                <a:solidFill>
                  <a:schemeClr val="tx1"/>
                </a:solidFill>
              </a:rPr>
              <a:t>closur</a:t>
            </a:r>
            <a:r>
              <a:rPr lang="en-US" altLang="zh-CN" sz="1900" b="1" i="1" spc="-500" dirty="0">
                <a:solidFill>
                  <a:schemeClr val="tx1"/>
                </a:solidFill>
              </a:rPr>
              <a:t>e  </a:t>
            </a:r>
            <a:r>
              <a:rPr lang="zh-CN" altLang="en-US" sz="1900" b="1" dirty="0">
                <a:solidFill>
                  <a:schemeClr val="tx1"/>
                </a:solidFill>
              </a:rPr>
              <a:t>（</a:t>
            </a:r>
            <a:r>
              <a:rPr lang="en-US" altLang="zh-CN" sz="1900" b="1" i="1" dirty="0">
                <a:solidFill>
                  <a:schemeClr val="tx1"/>
                </a:solidFill>
                <a:ea typeface="楷体_GB2312"/>
                <a:cs typeface="楷体_GB2312"/>
              </a:rPr>
              <a:t>T </a:t>
            </a:r>
            <a:r>
              <a:rPr lang="zh-CN" altLang="en-US" sz="1900" b="1" spc="-1000" dirty="0">
                <a:solidFill>
                  <a:schemeClr val="tx1"/>
                </a:solidFill>
              </a:rPr>
              <a:t>）</a:t>
            </a:r>
            <a:r>
              <a:rPr lang="zh-CN" altLang="en-US" sz="1900" b="1" dirty="0">
                <a:solidFill>
                  <a:schemeClr val="tx1"/>
                </a:solidFill>
                <a:ea typeface="楷体" pitchFamily="49" charset="-122"/>
              </a:rPr>
              <a:t>中</a:t>
            </a:r>
            <a:r>
              <a:rPr lang="zh-CN" altLang="en-US" sz="1900" b="1" spc="-1000" dirty="0">
                <a:solidFill>
                  <a:schemeClr val="tx1"/>
                </a:solidFill>
              </a:rPr>
              <a:t>）｛</a:t>
            </a:r>
            <a:endParaRPr lang="en-US" altLang="zh-CN" sz="1900" b="1" dirty="0">
              <a:solidFill>
                <a:schemeClr val="tx1"/>
              </a:solidFill>
              <a:ea typeface="楷体" pitchFamily="49" charset="-122"/>
            </a:endParaRP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zh-CN" altLang="en-US" sz="1900" b="1" dirty="0">
                <a:solidFill>
                  <a:schemeClr val="tx1"/>
                </a:solidFill>
                <a:ea typeface="楷体" pitchFamily="49" charset="-122"/>
              </a:rPr>
              <a:t>                                     将</a:t>
            </a:r>
            <a:r>
              <a:rPr lang="en-US" altLang="zh-CN" sz="1900" b="1" i="1" dirty="0">
                <a:solidFill>
                  <a:schemeClr val="tx1"/>
                </a:solidFill>
                <a:ea typeface="楷体" pitchFamily="49" charset="-122"/>
              </a:rPr>
              <a:t>u</a:t>
            </a:r>
            <a:r>
              <a:rPr lang="zh-CN" altLang="en-US" sz="1900" b="1" dirty="0">
                <a:solidFill>
                  <a:schemeClr val="tx1"/>
                </a:solidFill>
                <a:ea typeface="楷体" pitchFamily="49" charset="-122"/>
              </a:rPr>
              <a:t>加入到</a:t>
            </a:r>
            <a:r>
              <a:rPr lang="en-US" altLang="zh-CN" sz="1900" b="1" i="1" dirty="0">
                <a:solidFill>
                  <a:schemeClr val="tx1"/>
                </a:solidFill>
                <a:ea typeface="楷体" pitchFamily="49" charset="-122"/>
              </a:rPr>
              <a:t>ε</a:t>
            </a:r>
            <a:r>
              <a:rPr lang="en-US" altLang="zh-CN" sz="1900" b="1" dirty="0">
                <a:solidFill>
                  <a:schemeClr val="tx1"/>
                </a:solidFill>
              </a:rPr>
              <a:t>-</a:t>
            </a:r>
            <a:r>
              <a:rPr lang="en-US" altLang="zh-CN" sz="1900" b="1" i="1" dirty="0">
                <a:solidFill>
                  <a:schemeClr val="tx1"/>
                </a:solidFill>
              </a:rPr>
              <a:t>closur</a:t>
            </a:r>
            <a:r>
              <a:rPr lang="en-US" altLang="zh-CN" sz="1900" b="1" i="1" spc="-500" dirty="0">
                <a:solidFill>
                  <a:schemeClr val="tx1"/>
                </a:solidFill>
              </a:rPr>
              <a:t>e  </a:t>
            </a:r>
            <a:r>
              <a:rPr lang="zh-CN" altLang="en-US" sz="1900" b="1" dirty="0">
                <a:solidFill>
                  <a:schemeClr val="tx1"/>
                </a:solidFill>
              </a:rPr>
              <a:t>（</a:t>
            </a:r>
            <a:r>
              <a:rPr lang="en-US" altLang="zh-CN" sz="1900" b="1" i="1" dirty="0">
                <a:solidFill>
                  <a:schemeClr val="tx1"/>
                </a:solidFill>
                <a:ea typeface="楷体_GB2312"/>
                <a:cs typeface="楷体_GB2312"/>
              </a:rPr>
              <a:t>T </a:t>
            </a:r>
            <a:r>
              <a:rPr lang="zh-CN" altLang="en-US" sz="1900" b="1" spc="-1000" dirty="0">
                <a:solidFill>
                  <a:schemeClr val="tx1"/>
                </a:solidFill>
              </a:rPr>
              <a:t>）</a:t>
            </a:r>
            <a:r>
              <a:rPr lang="zh-CN" altLang="en-US" sz="1900" b="1" dirty="0">
                <a:solidFill>
                  <a:schemeClr val="tx1"/>
                </a:solidFill>
                <a:ea typeface="楷体" pitchFamily="49" charset="-122"/>
              </a:rPr>
              <a:t>中；</a:t>
            </a:r>
            <a:endParaRPr lang="en-US" altLang="zh-CN" sz="1900" b="1" dirty="0">
              <a:solidFill>
                <a:schemeClr val="tx1"/>
              </a:solidFill>
              <a:ea typeface="楷体" pitchFamily="49" charset="-122"/>
            </a:endParaRP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900" b="1" dirty="0">
                <a:solidFill>
                  <a:schemeClr val="tx1"/>
                </a:solidFill>
                <a:ea typeface="楷体" pitchFamily="49" charset="-122"/>
              </a:rPr>
              <a:t>                                     </a:t>
            </a:r>
            <a:r>
              <a:rPr lang="zh-CN" altLang="en-US" sz="1900" b="1" dirty="0">
                <a:solidFill>
                  <a:schemeClr val="tx1"/>
                </a:solidFill>
                <a:ea typeface="楷体" pitchFamily="49" charset="-122"/>
              </a:rPr>
              <a:t>将</a:t>
            </a:r>
            <a:r>
              <a:rPr lang="en-US" altLang="zh-CN" sz="1900" b="1" i="1" dirty="0">
                <a:solidFill>
                  <a:schemeClr val="tx1"/>
                </a:solidFill>
                <a:ea typeface="楷体" pitchFamily="49" charset="-122"/>
              </a:rPr>
              <a:t>u</a:t>
            </a:r>
            <a:r>
              <a:rPr lang="zh-CN" altLang="en-US" sz="1900" b="1" dirty="0">
                <a:solidFill>
                  <a:schemeClr val="tx1"/>
                </a:solidFill>
              </a:rPr>
              <a:t>压入栈中</a:t>
            </a:r>
            <a:r>
              <a:rPr lang="en-US" altLang="zh-CN" sz="1900" b="1" dirty="0">
                <a:solidFill>
                  <a:schemeClr val="tx1"/>
                </a:solidFill>
                <a:ea typeface="楷体" pitchFamily="49" charset="-122"/>
              </a:rPr>
              <a:t>;</a:t>
            </a: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900" b="1" dirty="0">
                <a:solidFill>
                  <a:schemeClr val="tx1"/>
                </a:solidFill>
                <a:ea typeface="楷体" pitchFamily="49" charset="-122"/>
              </a:rPr>
              <a:t>                         }</a:t>
            </a: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900" b="1" dirty="0">
                <a:solidFill>
                  <a:schemeClr val="tx1"/>
                </a:solidFill>
                <a:ea typeface="楷体" pitchFamily="49" charset="-122"/>
              </a:rPr>
              <a:t>}</a:t>
            </a: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ea typeface="楷体" pitchFamily="49" charset="-122"/>
              </a:rPr>
              <a:t>                 </a:t>
            </a: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endParaRPr lang="zh-CN" altLang="en-US" sz="2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3763" y="30923"/>
            <a:ext cx="5487851" cy="248969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5976" y="1635646"/>
            <a:ext cx="4620170" cy="333901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 flipH="1">
            <a:off x="5076056" y="4636106"/>
            <a:ext cx="144016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3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5563120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标题 1"/>
          <p:cNvSpPr>
            <a:spLocks noGrp="1"/>
          </p:cNvSpPr>
          <p:nvPr>
            <p:ph type="title"/>
          </p:nvPr>
        </p:nvSpPr>
        <p:spPr>
          <a:xfrm>
            <a:off x="755650" y="214313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先复习书本：</a:t>
            </a:r>
            <a:endParaRPr lang="zh-CN" altLang="en-US" sz="3000" spc="-150" dirty="0">
              <a:solidFill>
                <a:schemeClr val="tx1"/>
              </a:solidFill>
            </a:endParaRPr>
          </a:p>
        </p:txBody>
      </p:sp>
      <p:grpSp>
        <p:nvGrpSpPr>
          <p:cNvPr id="98307" name="组合 4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8310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8" name="内容占位符 1"/>
          <p:cNvSpPr>
            <a:spLocks noGrp="1"/>
          </p:cNvSpPr>
          <p:nvPr>
            <p:ph idx="1"/>
          </p:nvPr>
        </p:nvSpPr>
        <p:spPr>
          <a:xfrm>
            <a:off x="357188" y="928688"/>
            <a:ext cx="8499475" cy="1026889"/>
          </a:xfrm>
        </p:spPr>
        <p:txBody>
          <a:bodyPr/>
          <a:lstStyle/>
          <a:p>
            <a:pPr marL="457200" indent="-457200" eaLnBrk="1" hangingPunct="1">
              <a:lnSpc>
                <a:spcPts val="2500"/>
              </a:lnSpc>
              <a:buClrTx/>
              <a:buFont typeface="Symbol" panose="05050102010706020507" pitchFamily="18" charset="2"/>
              <a:buAutoNum type="arabicPeriod"/>
              <a:defRPr/>
            </a:pPr>
            <a:r>
              <a:rPr lang="zh-CN" altLang="en-US" sz="2800" b="1" dirty="0">
                <a:solidFill>
                  <a:srgbClr val="0000FF"/>
                </a:solidFill>
                <a:ea typeface="楷体" pitchFamily="49" charset="-122"/>
              </a:rPr>
              <a:t>蓝书</a:t>
            </a:r>
            <a:r>
              <a:rPr lang="en-US" altLang="zh-CN" sz="2800" b="1" dirty="0">
                <a:solidFill>
                  <a:srgbClr val="0000FF"/>
                </a:solidFill>
                <a:ea typeface="楷体" pitchFamily="49" charset="-122"/>
              </a:rPr>
              <a:t>P99-101 </a:t>
            </a:r>
            <a:r>
              <a:rPr lang="zh-CN" altLang="en-US" sz="2800" b="1" dirty="0">
                <a:solidFill>
                  <a:srgbClr val="0000FF"/>
                </a:solidFill>
                <a:ea typeface="楷体" pitchFamily="49" charset="-122"/>
              </a:rPr>
              <a:t>算法</a:t>
            </a:r>
            <a:r>
              <a:rPr lang="en-US" altLang="zh-CN" sz="2800" b="1" dirty="0">
                <a:solidFill>
                  <a:srgbClr val="0000FF"/>
                </a:solidFill>
                <a:ea typeface="楷体" pitchFamily="49" charset="-122"/>
              </a:rPr>
              <a:t>3.25</a:t>
            </a:r>
            <a:r>
              <a:rPr lang="zh-CN" altLang="en-US" sz="2800" b="1" dirty="0">
                <a:solidFill>
                  <a:srgbClr val="0000FF"/>
                </a:solidFill>
                <a:ea typeface="楷体" pitchFamily="49" charset="-122"/>
              </a:rPr>
              <a:t>和例</a:t>
            </a:r>
            <a:r>
              <a:rPr lang="en-US" altLang="zh-CN" sz="2800" b="1" dirty="0">
                <a:solidFill>
                  <a:srgbClr val="0000FF"/>
                </a:solidFill>
                <a:ea typeface="楷体" pitchFamily="49" charset="-122"/>
              </a:rPr>
              <a:t>3.26 </a:t>
            </a:r>
            <a:r>
              <a:rPr lang="en-US" altLang="zh-CN" sz="2800" b="1" dirty="0">
                <a:solidFill>
                  <a:schemeClr val="tx1"/>
                </a:solidFill>
                <a:ea typeface="楷体" pitchFamily="49" charset="-122"/>
              </a:rPr>
              <a:t>/ </a:t>
            </a:r>
            <a:r>
              <a:rPr lang="zh-CN" altLang="en-US" sz="2800" b="1" dirty="0">
                <a:solidFill>
                  <a:schemeClr val="tx1"/>
                </a:solidFill>
                <a:ea typeface="楷体" pitchFamily="49" charset="-122"/>
              </a:rPr>
              <a:t>电子书</a:t>
            </a:r>
            <a:r>
              <a:rPr lang="en-US" altLang="zh-CN" sz="2800" b="1" dirty="0">
                <a:solidFill>
                  <a:schemeClr val="tx1"/>
                </a:solidFill>
                <a:ea typeface="楷体" pitchFamily="49" charset="-122"/>
              </a:rPr>
              <a:t>P100-102 </a:t>
            </a:r>
            <a:r>
              <a:rPr lang="zh-CN" altLang="en-US" sz="2800" b="1" dirty="0">
                <a:solidFill>
                  <a:schemeClr val="tx1"/>
                </a:solidFill>
                <a:ea typeface="楷体" pitchFamily="49" charset="-122"/>
              </a:rPr>
              <a:t>算法</a:t>
            </a:r>
            <a:r>
              <a:rPr lang="en-US" altLang="zh-CN" sz="2800" b="1" dirty="0">
                <a:solidFill>
                  <a:schemeClr val="tx1"/>
                </a:solidFill>
                <a:ea typeface="楷体" pitchFamily="49" charset="-122"/>
              </a:rPr>
              <a:t>3.23</a:t>
            </a:r>
            <a:r>
              <a:rPr lang="zh-CN" altLang="en-US" sz="2800" b="1" dirty="0">
                <a:solidFill>
                  <a:schemeClr val="tx1"/>
                </a:solidFill>
                <a:ea typeface="楷体" pitchFamily="49" charset="-122"/>
              </a:rPr>
              <a:t>和</a:t>
            </a:r>
            <a:r>
              <a:rPr lang="en-US" altLang="zh-CN" sz="2800" b="1" dirty="0">
                <a:solidFill>
                  <a:schemeClr val="tx1"/>
                </a:solidFill>
                <a:ea typeface="楷体" pitchFamily="49" charset="-122"/>
              </a:rPr>
              <a:t>3.24</a:t>
            </a:r>
          </a:p>
          <a:p>
            <a:pPr marL="457200" indent="-457200" eaLnBrk="1" hangingPunct="1">
              <a:lnSpc>
                <a:spcPts val="2500"/>
              </a:lnSpc>
              <a:buClrTx/>
              <a:buFont typeface="Symbol" panose="05050102010706020507" pitchFamily="18" charset="2"/>
              <a:buAutoNum type="arabicPeriod"/>
              <a:defRPr/>
            </a:pPr>
            <a:r>
              <a:rPr lang="zh-CN" altLang="en-US" sz="2800" b="1" dirty="0">
                <a:solidFill>
                  <a:srgbClr val="0000FF"/>
                </a:solidFill>
                <a:ea typeface="楷体" pitchFamily="49" charset="-122"/>
              </a:rPr>
              <a:t>蓝书</a:t>
            </a:r>
            <a:r>
              <a:rPr lang="en-US" altLang="zh-CN" sz="2800" b="1" dirty="0">
                <a:solidFill>
                  <a:srgbClr val="0000FF"/>
                </a:solidFill>
                <a:ea typeface="楷体" pitchFamily="49" charset="-122"/>
              </a:rPr>
              <a:t>P94-96</a:t>
            </a:r>
            <a:r>
              <a:rPr lang="zh-CN" altLang="en-US" sz="2800" b="1" dirty="0">
                <a:solidFill>
                  <a:srgbClr val="0000FF"/>
                </a:solidFill>
                <a:ea typeface="楷体" pitchFamily="49" charset="-122"/>
              </a:rPr>
              <a:t>的算法</a:t>
            </a:r>
            <a:r>
              <a:rPr lang="en-US" altLang="zh-CN" sz="2800" b="1" dirty="0">
                <a:solidFill>
                  <a:srgbClr val="0000FF"/>
                </a:solidFill>
                <a:ea typeface="楷体" pitchFamily="49" charset="-122"/>
              </a:rPr>
              <a:t>3.20</a:t>
            </a:r>
            <a:r>
              <a:rPr lang="zh-CN" altLang="en-US" sz="2800" b="1" dirty="0">
                <a:solidFill>
                  <a:srgbClr val="0000FF"/>
                </a:solidFill>
                <a:ea typeface="楷体" pitchFamily="49" charset="-122"/>
              </a:rPr>
              <a:t>和例</a:t>
            </a:r>
            <a:r>
              <a:rPr lang="en-US" altLang="zh-CN" sz="2800" b="1" dirty="0">
                <a:solidFill>
                  <a:srgbClr val="0000FF"/>
                </a:solidFill>
                <a:ea typeface="楷体" pitchFamily="49" charset="-122"/>
              </a:rPr>
              <a:t>3.21</a:t>
            </a:r>
            <a:r>
              <a:rPr lang="zh-CN" altLang="en-US" sz="2800" b="1" dirty="0">
                <a:solidFill>
                  <a:srgbClr val="0000FF"/>
                </a:solidFill>
                <a:ea typeface="楷体" pitchFamily="49" charset="-122"/>
              </a:rPr>
              <a:t>和例</a:t>
            </a:r>
            <a:r>
              <a:rPr lang="en-US" altLang="zh-CN" sz="2800" b="1" dirty="0">
                <a:solidFill>
                  <a:srgbClr val="0000FF"/>
                </a:solidFill>
                <a:ea typeface="楷体" pitchFamily="49" charset="-122"/>
              </a:rPr>
              <a:t>3.24 </a:t>
            </a:r>
            <a:r>
              <a:rPr lang="en-US" altLang="zh-CN" sz="2800" b="1" dirty="0">
                <a:solidFill>
                  <a:schemeClr val="tx1"/>
                </a:solidFill>
                <a:ea typeface="楷体" pitchFamily="49" charset="-122"/>
              </a:rPr>
              <a:t>/ </a:t>
            </a:r>
            <a:r>
              <a:rPr lang="zh-CN" altLang="en-US" sz="2800" b="1" dirty="0">
                <a:solidFill>
                  <a:schemeClr val="tx1"/>
                </a:solidFill>
                <a:ea typeface="楷体" pitchFamily="49" charset="-122"/>
              </a:rPr>
              <a:t>电子书</a:t>
            </a:r>
            <a:r>
              <a:rPr lang="en-US" altLang="zh-CN" sz="2800" b="1" dirty="0">
                <a:solidFill>
                  <a:schemeClr val="tx1"/>
                </a:solidFill>
                <a:ea typeface="楷体" pitchFamily="49" charset="-122"/>
              </a:rPr>
              <a:t>P97-98 </a:t>
            </a:r>
            <a:r>
              <a:rPr lang="zh-CN" altLang="en-US" sz="2800" b="1" dirty="0">
                <a:solidFill>
                  <a:schemeClr val="tx1"/>
                </a:solidFill>
                <a:ea typeface="楷体" pitchFamily="49" charset="-122"/>
              </a:rPr>
              <a:t>算法</a:t>
            </a:r>
            <a:r>
              <a:rPr lang="en-US" altLang="zh-CN" sz="2800" b="1" dirty="0">
                <a:solidFill>
                  <a:schemeClr val="tx1"/>
                </a:solidFill>
                <a:ea typeface="楷体" pitchFamily="49" charset="-122"/>
              </a:rPr>
              <a:t>3.20</a:t>
            </a:r>
            <a:r>
              <a:rPr lang="zh-CN" altLang="en-US" sz="2800" b="1" dirty="0">
                <a:solidFill>
                  <a:schemeClr val="tx1"/>
                </a:solidFill>
                <a:ea typeface="楷体" pitchFamily="49" charset="-122"/>
              </a:rPr>
              <a:t>和例</a:t>
            </a:r>
            <a:r>
              <a:rPr lang="en-US" altLang="zh-CN" sz="2800" b="1" dirty="0">
                <a:solidFill>
                  <a:schemeClr val="tx1"/>
                </a:solidFill>
                <a:ea typeface="楷体" pitchFamily="49" charset="-122"/>
              </a:rPr>
              <a:t>3.21</a:t>
            </a:r>
            <a:r>
              <a:rPr lang="zh-CN" altLang="en-US" sz="2800" b="1" dirty="0">
                <a:solidFill>
                  <a:schemeClr val="tx1"/>
                </a:solidFill>
                <a:ea typeface="楷体" pitchFamily="49" charset="-122"/>
              </a:rPr>
              <a:t>和例</a:t>
            </a:r>
            <a:r>
              <a:rPr lang="en-US" altLang="zh-CN" sz="2800" b="1" dirty="0">
                <a:solidFill>
                  <a:schemeClr val="tx1"/>
                </a:solidFill>
                <a:ea typeface="楷体" pitchFamily="49" charset="-122"/>
              </a:rPr>
              <a:t>3.24 </a:t>
            </a:r>
          </a:p>
          <a:p>
            <a:pPr marL="457200" indent="-457200" eaLnBrk="1" hangingPunct="1">
              <a:lnSpc>
                <a:spcPts val="2500"/>
              </a:lnSpc>
              <a:buClrTx/>
              <a:buFont typeface="Symbol" panose="05050102010706020507" pitchFamily="18" charset="2"/>
              <a:buAutoNum type="arabicPeriod"/>
              <a:defRPr/>
            </a:pPr>
            <a:endParaRPr lang="en-US" altLang="zh-CN" sz="2800" b="1" dirty="0">
              <a:solidFill>
                <a:schemeClr val="tx1"/>
              </a:solidFill>
              <a:ea typeface="楷体" pitchFamily="49" charset="-122"/>
            </a:endParaRPr>
          </a:p>
          <a:p>
            <a:pPr marL="457200" indent="-457200" eaLnBrk="1" hangingPunct="1">
              <a:lnSpc>
                <a:spcPts val="2500"/>
              </a:lnSpc>
              <a:buClrTx/>
              <a:buFont typeface="Symbol" panose="05050102010706020507" pitchFamily="18" charset="2"/>
              <a:buAutoNum type="arabicPeriod"/>
              <a:defRPr/>
            </a:pPr>
            <a:endParaRPr lang="en-US" altLang="zh-CN" sz="2800" b="1" dirty="0">
              <a:solidFill>
                <a:schemeClr val="tx1"/>
              </a:solidFill>
              <a:ea typeface="楷体" pitchFamily="49" charset="-122"/>
            </a:endParaRP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endParaRPr lang="zh-CN" altLang="en-US" sz="2200" b="1" dirty="0">
              <a:solidFill>
                <a:schemeClr val="tx1"/>
              </a:solidFill>
            </a:endParaRPr>
          </a:p>
        </p:txBody>
      </p:sp>
      <p:grpSp>
        <p:nvGrpSpPr>
          <p:cNvPr id="7" name="组合 44"/>
          <p:cNvGrpSpPr>
            <a:grpSpLocks/>
          </p:cNvGrpSpPr>
          <p:nvPr/>
        </p:nvGrpSpPr>
        <p:grpSpPr bwMode="auto">
          <a:xfrm>
            <a:off x="21010" y="2499990"/>
            <a:ext cx="755650" cy="431800"/>
            <a:chOff x="-786" y="195486"/>
            <a:chExt cx="756363" cy="432048"/>
          </a:xfrm>
        </p:grpSpPr>
        <p:sp>
          <p:nvSpPr>
            <p:cNvPr id="9" name="五边形 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0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11" name="标题 1"/>
          <p:cNvSpPr txBox="1">
            <a:spLocks/>
          </p:cNvSpPr>
          <p:nvPr/>
        </p:nvSpPr>
        <p:spPr bwMode="auto">
          <a:xfrm>
            <a:off x="776660" y="2552452"/>
            <a:ext cx="7931150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 baseline="0">
                <a:solidFill>
                  <a:srgbClr val="FFFF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然后完成作业：</a:t>
            </a:r>
          </a:p>
        </p:txBody>
      </p:sp>
      <p:sp>
        <p:nvSpPr>
          <p:cNvPr id="12" name="内容占位符 1"/>
          <p:cNvSpPr txBox="1">
            <a:spLocks/>
          </p:cNvSpPr>
          <p:nvPr/>
        </p:nvSpPr>
        <p:spPr bwMode="auto">
          <a:xfrm>
            <a:off x="327100" y="3161184"/>
            <a:ext cx="8499475" cy="1426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576263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8556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4620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lnSpc>
                <a:spcPts val="2500"/>
              </a:lnSpc>
              <a:buClrTx/>
              <a:buNone/>
              <a:defRPr/>
            </a:pPr>
            <a:r>
              <a:rPr lang="zh-CN" altLang="en-US" sz="2800" b="1" dirty="0">
                <a:solidFill>
                  <a:srgbClr val="0000FF"/>
                </a:solidFill>
                <a:ea typeface="楷体" pitchFamily="49" charset="-122"/>
              </a:rPr>
              <a:t>蓝书</a:t>
            </a:r>
            <a:r>
              <a:rPr lang="en-US" altLang="zh-CN" sz="2800" b="1" dirty="0">
                <a:solidFill>
                  <a:srgbClr val="0000FF"/>
                </a:solidFill>
                <a:ea typeface="楷体" pitchFamily="49" charset="-122"/>
              </a:rPr>
              <a:t>P103 </a:t>
            </a:r>
            <a:r>
              <a:rPr lang="zh-CN" altLang="en-US" sz="2800" b="1" dirty="0">
                <a:solidFill>
                  <a:srgbClr val="0000FF"/>
                </a:solidFill>
                <a:ea typeface="楷体" pitchFamily="49" charset="-122"/>
              </a:rPr>
              <a:t>练习</a:t>
            </a:r>
            <a:r>
              <a:rPr lang="en-US" altLang="zh-CN" sz="2800" b="1" dirty="0">
                <a:solidFill>
                  <a:srgbClr val="0000FF"/>
                </a:solidFill>
                <a:ea typeface="楷体" pitchFamily="49" charset="-122"/>
              </a:rPr>
              <a:t>3.6.1</a:t>
            </a:r>
            <a:r>
              <a:rPr lang="zh-CN" altLang="en-US" sz="2800" b="1" dirty="0">
                <a:solidFill>
                  <a:srgbClr val="0000FF"/>
                </a:solidFill>
                <a:ea typeface="楷体" pitchFamily="49" charset="-122"/>
              </a:rPr>
              <a:t>的</a:t>
            </a:r>
            <a:r>
              <a:rPr lang="en-US" altLang="zh-CN" sz="2800" b="1" dirty="0">
                <a:solidFill>
                  <a:srgbClr val="0000FF"/>
                </a:solidFill>
                <a:ea typeface="楷体" pitchFamily="49" charset="-122"/>
              </a:rPr>
              <a:t>1)</a:t>
            </a:r>
            <a:r>
              <a:rPr lang="zh-CN" altLang="en-US" sz="2800" b="1" dirty="0">
                <a:solidFill>
                  <a:srgbClr val="0000FF"/>
                </a:solidFill>
                <a:ea typeface="楷体" pitchFamily="49" charset="-122"/>
              </a:rPr>
              <a:t>和</a:t>
            </a:r>
            <a:r>
              <a:rPr lang="en-US" altLang="zh-CN" sz="2800" b="1" dirty="0">
                <a:solidFill>
                  <a:srgbClr val="0000FF"/>
                </a:solidFill>
                <a:ea typeface="楷体" pitchFamily="49" charset="-122"/>
              </a:rPr>
              <a:t>3 ) </a:t>
            </a:r>
            <a:r>
              <a:rPr lang="zh-CN" altLang="en-US" sz="2800" b="1" dirty="0">
                <a:solidFill>
                  <a:srgbClr val="0000FF"/>
                </a:solidFill>
                <a:ea typeface="楷体" pitchFamily="49" charset="-122"/>
              </a:rPr>
              <a:t>并且最小化</a:t>
            </a:r>
            <a:r>
              <a:rPr lang="en-US" altLang="zh-CN" sz="2800" b="1" dirty="0">
                <a:solidFill>
                  <a:srgbClr val="0000FF"/>
                </a:solidFill>
                <a:ea typeface="楷体" pitchFamily="49" charset="-122"/>
              </a:rPr>
              <a:t>DFA</a:t>
            </a:r>
            <a:r>
              <a:rPr lang="zh-CN" altLang="en-US" sz="2800" b="1" dirty="0">
                <a:solidFill>
                  <a:srgbClr val="0000FF"/>
                </a:solidFill>
                <a:ea typeface="楷体" pitchFamily="49" charset="-122"/>
              </a:rPr>
              <a:t>，</a:t>
            </a:r>
            <a:endParaRPr lang="en-US" altLang="zh-CN" sz="2800" b="1" dirty="0">
              <a:solidFill>
                <a:srgbClr val="0000FF"/>
              </a:solidFill>
              <a:ea typeface="楷体" pitchFamily="49" charset="-122"/>
            </a:endParaRPr>
          </a:p>
          <a:p>
            <a:pPr marL="0" indent="0" eaLnBrk="1" hangingPunct="1">
              <a:lnSpc>
                <a:spcPts val="2500"/>
              </a:lnSpc>
              <a:buClrTx/>
              <a:buNone/>
              <a:defRPr/>
            </a:pPr>
            <a:r>
              <a:rPr lang="en-US" altLang="zh-CN" sz="2800" b="1" dirty="0">
                <a:solidFill>
                  <a:srgbClr val="0000FF"/>
                </a:solidFill>
                <a:ea typeface="楷体" pitchFamily="49" charset="-122"/>
              </a:rPr>
              <a:t>+</a:t>
            </a:r>
            <a:r>
              <a:rPr lang="zh-CN" altLang="en-US" sz="2800" b="1" dirty="0">
                <a:solidFill>
                  <a:srgbClr val="0000FF"/>
                </a:solidFill>
                <a:ea typeface="楷体" pitchFamily="49" charset="-122"/>
              </a:rPr>
              <a:t>练习</a:t>
            </a:r>
            <a:r>
              <a:rPr lang="en-US" altLang="zh-CN" sz="2800" b="1" dirty="0">
                <a:solidFill>
                  <a:srgbClr val="0000FF"/>
                </a:solidFill>
                <a:ea typeface="楷体" pitchFamily="49" charset="-122"/>
              </a:rPr>
              <a:t>3.6.3</a:t>
            </a:r>
            <a:r>
              <a:rPr lang="zh-CN" altLang="en-US" sz="2800" b="1" dirty="0">
                <a:solidFill>
                  <a:srgbClr val="0000FF"/>
                </a:solidFill>
                <a:ea typeface="楷体" pitchFamily="49" charset="-122"/>
              </a:rPr>
              <a:t>的</a:t>
            </a:r>
            <a:r>
              <a:rPr lang="en-US" altLang="zh-CN" sz="2800" b="1" dirty="0">
                <a:solidFill>
                  <a:srgbClr val="0000FF"/>
                </a:solidFill>
                <a:ea typeface="楷体" pitchFamily="49" charset="-122"/>
              </a:rPr>
              <a:t>2)</a:t>
            </a:r>
            <a:r>
              <a:rPr lang="zh-CN" altLang="en-US" sz="2800" b="1" dirty="0">
                <a:solidFill>
                  <a:srgbClr val="0000FF"/>
                </a:solidFill>
                <a:ea typeface="楷体" pitchFamily="49" charset="-122"/>
              </a:rPr>
              <a:t>和</a:t>
            </a:r>
            <a:r>
              <a:rPr lang="en-US" altLang="zh-CN" sz="2800" b="1" dirty="0">
                <a:solidFill>
                  <a:srgbClr val="0000FF"/>
                </a:solidFill>
                <a:ea typeface="楷体" pitchFamily="49" charset="-122"/>
              </a:rPr>
              <a:t>3) </a:t>
            </a:r>
            <a:r>
              <a:rPr lang="zh-CN" altLang="en-US" sz="2800" b="1" dirty="0">
                <a:solidFill>
                  <a:srgbClr val="0000FF"/>
                </a:solidFill>
                <a:ea typeface="楷体" pitchFamily="49" charset="-122"/>
              </a:rPr>
              <a:t>并且最小化</a:t>
            </a:r>
            <a:r>
              <a:rPr lang="en-US" altLang="zh-CN" sz="2800" b="1" dirty="0">
                <a:solidFill>
                  <a:srgbClr val="0000FF"/>
                </a:solidFill>
                <a:ea typeface="楷体" pitchFamily="49" charset="-122"/>
              </a:rPr>
              <a:t>DFA</a:t>
            </a:r>
            <a:r>
              <a:rPr lang="zh-CN" altLang="en-US" sz="2800" b="1" dirty="0">
                <a:solidFill>
                  <a:srgbClr val="0000FF"/>
                </a:solidFill>
                <a:ea typeface="楷体" pitchFamily="49" charset="-122"/>
              </a:rPr>
              <a:t>。</a:t>
            </a:r>
            <a:endParaRPr lang="en-US" altLang="zh-CN" sz="2800" b="1" dirty="0">
              <a:solidFill>
                <a:schemeClr val="tx1"/>
              </a:solidFill>
              <a:ea typeface="楷体" pitchFamily="49" charset="-122"/>
            </a:endParaRPr>
          </a:p>
          <a:p>
            <a:pPr marL="0" indent="0" eaLnBrk="1" hangingPunct="1">
              <a:lnSpc>
                <a:spcPts val="2500"/>
              </a:lnSpc>
              <a:buClrTx/>
              <a:buNone/>
              <a:defRPr/>
            </a:pPr>
            <a:r>
              <a:rPr lang="zh-CN" altLang="en-US" sz="2800" b="1" dirty="0">
                <a:solidFill>
                  <a:schemeClr val="tx1"/>
                </a:solidFill>
                <a:ea typeface="楷体" pitchFamily="49" charset="-122"/>
              </a:rPr>
              <a:t>      电子书</a:t>
            </a:r>
            <a:r>
              <a:rPr lang="en-US" altLang="zh-CN" sz="2800" b="1" dirty="0">
                <a:solidFill>
                  <a:schemeClr val="tx1"/>
                </a:solidFill>
                <a:ea typeface="楷体" pitchFamily="49" charset="-122"/>
              </a:rPr>
              <a:t>P105 </a:t>
            </a:r>
            <a:r>
              <a:rPr lang="zh-CN" altLang="en-US" sz="2800" b="1" dirty="0">
                <a:solidFill>
                  <a:schemeClr val="tx1"/>
                </a:solidFill>
                <a:ea typeface="楷体" pitchFamily="49" charset="-122"/>
              </a:rPr>
              <a:t>练习</a:t>
            </a:r>
            <a:r>
              <a:rPr lang="en-US" altLang="zh-CN" sz="2800" b="1" dirty="0">
                <a:solidFill>
                  <a:schemeClr val="tx1"/>
                </a:solidFill>
                <a:ea typeface="楷体" pitchFamily="49" charset="-122"/>
              </a:rPr>
              <a:t>3.7.1</a:t>
            </a:r>
            <a:r>
              <a:rPr lang="zh-CN" altLang="en-US" sz="2800" b="1" dirty="0">
                <a:solidFill>
                  <a:schemeClr val="tx1"/>
                </a:solidFill>
                <a:ea typeface="楷体" pitchFamily="49" charset="-122"/>
              </a:rPr>
              <a:t>的</a:t>
            </a:r>
            <a:r>
              <a:rPr lang="en-US" altLang="zh-CN" sz="2800" b="1" dirty="0">
                <a:solidFill>
                  <a:schemeClr val="tx1"/>
                </a:solidFill>
                <a:ea typeface="楷体" pitchFamily="49" charset="-122"/>
              </a:rPr>
              <a:t>1)</a:t>
            </a:r>
            <a:r>
              <a:rPr lang="zh-CN" altLang="en-US" sz="2800" b="1" dirty="0">
                <a:solidFill>
                  <a:schemeClr val="tx1"/>
                </a:solidFill>
                <a:ea typeface="楷体" pitchFamily="49" charset="-122"/>
              </a:rPr>
              <a:t>和</a:t>
            </a:r>
            <a:r>
              <a:rPr lang="en-US" altLang="zh-CN" sz="2800" b="1" dirty="0">
                <a:solidFill>
                  <a:schemeClr val="tx1"/>
                </a:solidFill>
                <a:ea typeface="楷体" pitchFamily="49" charset="-122"/>
              </a:rPr>
              <a:t>3 ) +</a:t>
            </a:r>
            <a:r>
              <a:rPr lang="zh-CN" altLang="en-US" sz="2800" b="1" dirty="0">
                <a:solidFill>
                  <a:schemeClr val="tx1"/>
                </a:solidFill>
                <a:ea typeface="楷体" pitchFamily="49" charset="-122"/>
              </a:rPr>
              <a:t>练习</a:t>
            </a:r>
            <a:r>
              <a:rPr lang="en-US" altLang="zh-CN" sz="2800" b="1" dirty="0">
                <a:solidFill>
                  <a:schemeClr val="tx1"/>
                </a:solidFill>
                <a:ea typeface="楷体" pitchFamily="49" charset="-122"/>
              </a:rPr>
              <a:t>3.7.3</a:t>
            </a:r>
            <a:r>
              <a:rPr lang="zh-CN" altLang="en-US" sz="2800" b="1" dirty="0">
                <a:solidFill>
                  <a:schemeClr val="tx1"/>
                </a:solidFill>
                <a:ea typeface="楷体" pitchFamily="49" charset="-122"/>
              </a:rPr>
              <a:t>的</a:t>
            </a:r>
            <a:r>
              <a:rPr lang="en-US" altLang="zh-CN" sz="2800" b="1" dirty="0">
                <a:solidFill>
                  <a:schemeClr val="tx1"/>
                </a:solidFill>
                <a:ea typeface="楷体" pitchFamily="49" charset="-122"/>
              </a:rPr>
              <a:t>2 )</a:t>
            </a:r>
            <a:r>
              <a:rPr lang="zh-CN" altLang="en-US" sz="2800" b="1" dirty="0">
                <a:solidFill>
                  <a:schemeClr val="tx1"/>
                </a:solidFill>
                <a:ea typeface="楷体" pitchFamily="49" charset="-122"/>
              </a:rPr>
              <a:t>和</a:t>
            </a:r>
            <a:r>
              <a:rPr lang="en-US" altLang="zh-CN" sz="2800" b="1" dirty="0">
                <a:solidFill>
                  <a:schemeClr val="tx1"/>
                </a:solidFill>
                <a:ea typeface="楷体" pitchFamily="49" charset="-122"/>
              </a:rPr>
              <a:t>3)</a:t>
            </a:r>
            <a:r>
              <a:rPr lang="zh-CN" altLang="en-US" sz="2800" b="1" dirty="0">
                <a:solidFill>
                  <a:schemeClr val="tx1"/>
                </a:solidFill>
                <a:ea typeface="楷体" pitchFamily="49" charset="-122"/>
              </a:rPr>
              <a:t>并且最下化</a:t>
            </a:r>
            <a:r>
              <a:rPr lang="en-US" altLang="zh-CN" sz="2800" b="1" dirty="0">
                <a:solidFill>
                  <a:schemeClr val="tx1"/>
                </a:solidFill>
                <a:ea typeface="楷体" pitchFamily="49" charset="-122"/>
              </a:rPr>
              <a:t>DFA                </a:t>
            </a: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endParaRPr lang="zh-CN" altLang="en-US" sz="2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1587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B66788-EA24-4652-9675-844FC5108B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AA60CE8-98A2-40B8-B1D7-2AE6BDB60C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7861DCA-81C3-49E3-B7D7-6ADB322986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2139"/>
            <a:ext cx="9144000" cy="383922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92595D81-21B9-43C5-B6BA-D5881E5D02A4}"/>
                  </a:ext>
                </a:extLst>
              </p14:cNvPr>
              <p14:cNvContentPartPr/>
              <p14:nvPr/>
            </p14:nvContentPartPr>
            <p14:xfrm>
              <a:off x="544680" y="60480"/>
              <a:ext cx="3688920" cy="109728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92595D81-21B9-43C5-B6BA-D5881E5D02A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5320" y="51120"/>
                <a:ext cx="3707640" cy="11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7C6E2657-D686-497C-B83E-236B3BA233FF}"/>
                  </a:ext>
                </a:extLst>
              </p14:cNvPr>
              <p14:cNvContentPartPr/>
              <p14:nvPr/>
            </p14:nvContentPartPr>
            <p14:xfrm>
              <a:off x="5309280" y="214200"/>
              <a:ext cx="3701880" cy="359208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7C6E2657-D686-497C-B83E-236B3BA233F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99920" y="204840"/>
                <a:ext cx="3720600" cy="361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35AAD6BF-525C-46C5-A2FA-8B5BB811512E}"/>
                  </a:ext>
                </a:extLst>
              </p14:cNvPr>
              <p14:cNvContentPartPr/>
              <p14:nvPr/>
            </p14:nvContentPartPr>
            <p14:xfrm>
              <a:off x="307800" y="2671920"/>
              <a:ext cx="4325040" cy="197352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35AAD6BF-525C-46C5-A2FA-8B5BB811512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98440" y="2662560"/>
                <a:ext cx="4343760" cy="199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55304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B66788-EA24-4652-9675-844FC5108B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AA60CE8-98A2-40B8-B1D7-2AE6BDB60C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7861DCA-81C3-49E3-B7D7-6ADB322986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2139"/>
            <a:ext cx="9144000" cy="383922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F5C92465-E233-43E3-A768-ADACECDD0128}"/>
                  </a:ext>
                </a:extLst>
              </p14:cNvPr>
              <p14:cNvContentPartPr/>
              <p14:nvPr/>
            </p14:nvContentPartPr>
            <p14:xfrm>
              <a:off x="5200560" y="455760"/>
              <a:ext cx="3488040" cy="336744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F5C92465-E233-43E3-A768-ADACECDD012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91200" y="446400"/>
                <a:ext cx="3506760" cy="338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BDEBA30F-2665-4AAC-8CA7-59F98286C387}"/>
                  </a:ext>
                </a:extLst>
              </p14:cNvPr>
              <p14:cNvContentPartPr/>
              <p14:nvPr/>
            </p14:nvContentPartPr>
            <p14:xfrm>
              <a:off x="231840" y="2874960"/>
              <a:ext cx="3805560" cy="126720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BDEBA30F-2665-4AAC-8CA7-59F98286C38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2480" y="2865600"/>
                <a:ext cx="3824280" cy="128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BD0883F2-E425-47F4-9DE5-01DAC86B3496}"/>
                  </a:ext>
                </a:extLst>
              </p14:cNvPr>
              <p14:cNvContentPartPr/>
              <p14:nvPr/>
            </p14:nvContentPartPr>
            <p14:xfrm>
              <a:off x="303120" y="461880"/>
              <a:ext cx="1754640" cy="194976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BD0883F2-E425-47F4-9DE5-01DAC86B349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93760" y="452520"/>
                <a:ext cx="1773360" cy="196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945048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0213" y="868363"/>
            <a:ext cx="5927725" cy="631825"/>
          </a:xfrm>
        </p:spPr>
        <p:txBody>
          <a:bodyPr/>
          <a:lstStyle/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3000" b="1">
                <a:solidFill>
                  <a:schemeClr val="tx1"/>
                </a:solidFill>
              </a:rPr>
              <a:t>例</a:t>
            </a:r>
          </a:p>
        </p:txBody>
      </p:sp>
      <p:sp>
        <p:nvSpPr>
          <p:cNvPr id="39939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带有和不带</a:t>
            </a:r>
            <a:r>
              <a:rPr lang="zh-CN" altLang="en-US" sz="3000" spc="-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有“</a:t>
            </a:r>
            <a:r>
              <a:rPr lang="en-US" altLang="zh-CN" sz="3000" i="1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ε</a:t>
            </a:r>
            <a:r>
              <a:rPr lang="en-US" altLang="zh-CN" sz="3000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-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边</a:t>
            </a:r>
            <a:r>
              <a:rPr lang="zh-CN" altLang="en-US" sz="3000" spc="-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”的 </a:t>
            </a:r>
            <a:r>
              <a:rPr lang="en-US" altLang="zh-CN" sz="30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NFA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的等价性</a:t>
            </a:r>
          </a:p>
        </p:txBody>
      </p:sp>
      <p:grpSp>
        <p:nvGrpSpPr>
          <p:cNvPr id="2" name="组合 48"/>
          <p:cNvGrpSpPr>
            <a:grpSpLocks/>
          </p:cNvGrpSpPr>
          <p:nvPr/>
        </p:nvGrpSpPr>
        <p:grpSpPr bwMode="auto">
          <a:xfrm>
            <a:off x="642938" y="1303338"/>
            <a:ext cx="5297487" cy="1500187"/>
            <a:chOff x="2202490" y="1071552"/>
            <a:chExt cx="5298468" cy="1500198"/>
          </a:xfrm>
        </p:grpSpPr>
        <p:grpSp>
          <p:nvGrpSpPr>
            <p:cNvPr id="71715" name="组合 46"/>
            <p:cNvGrpSpPr>
              <a:grpSpLocks/>
            </p:cNvGrpSpPr>
            <p:nvPr/>
          </p:nvGrpSpPr>
          <p:grpSpPr bwMode="auto">
            <a:xfrm>
              <a:off x="2857488" y="1071552"/>
              <a:ext cx="4643470" cy="1500198"/>
              <a:chOff x="1902792" y="2139945"/>
              <a:chExt cx="3305782" cy="785812"/>
            </a:xfrm>
          </p:grpSpPr>
          <p:sp>
            <p:nvSpPr>
              <p:cNvPr id="72741" name="Oval 10"/>
              <p:cNvSpPr>
                <a:spLocks noChangeArrowheads="1"/>
              </p:cNvSpPr>
              <p:nvPr/>
            </p:nvSpPr>
            <p:spPr bwMode="auto">
              <a:xfrm>
                <a:off x="2974937" y="2602285"/>
                <a:ext cx="360593" cy="270253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  <p:sp>
            <p:nvSpPr>
              <p:cNvPr id="71718" name="Freeform 11"/>
              <p:cNvSpPr>
                <a:spLocks/>
              </p:cNvSpPr>
              <p:nvPr/>
            </p:nvSpPr>
            <p:spPr bwMode="auto">
              <a:xfrm>
                <a:off x="2993843" y="2381447"/>
                <a:ext cx="382702" cy="224957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19" name="Rectangle 12"/>
              <p:cNvSpPr>
                <a:spLocks noChangeArrowheads="1"/>
              </p:cNvSpPr>
              <p:nvPr/>
            </p:nvSpPr>
            <p:spPr bwMode="auto">
              <a:xfrm>
                <a:off x="2902045" y="2169950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0</a:t>
                </a:r>
              </a:p>
            </p:txBody>
          </p:sp>
          <p:sp>
            <p:nvSpPr>
              <p:cNvPr id="71720" name="Line 13"/>
              <p:cNvSpPr>
                <a:spLocks noChangeShapeType="1"/>
              </p:cNvSpPr>
              <p:nvPr/>
            </p:nvSpPr>
            <p:spPr bwMode="auto">
              <a:xfrm>
                <a:off x="3333974" y="2763883"/>
                <a:ext cx="50497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21" name="Rectangle 14"/>
              <p:cNvSpPr>
                <a:spLocks noChangeArrowheads="1"/>
              </p:cNvSpPr>
              <p:nvPr/>
            </p:nvSpPr>
            <p:spPr bwMode="auto">
              <a:xfrm>
                <a:off x="3333974" y="2438946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ε</a:t>
                </a:r>
              </a:p>
            </p:txBody>
          </p:sp>
          <p:sp>
            <p:nvSpPr>
              <p:cNvPr id="72746" name="Oval 15"/>
              <p:cNvSpPr>
                <a:spLocks noChangeArrowheads="1"/>
              </p:cNvSpPr>
              <p:nvPr/>
            </p:nvSpPr>
            <p:spPr bwMode="auto">
              <a:xfrm>
                <a:off x="3839680" y="2602285"/>
                <a:ext cx="359462" cy="270253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</a:p>
            </p:txBody>
          </p:sp>
          <p:sp>
            <p:nvSpPr>
              <p:cNvPr id="71723" name="Line 16"/>
              <p:cNvSpPr>
                <a:spLocks noChangeShapeType="1"/>
              </p:cNvSpPr>
              <p:nvPr/>
            </p:nvSpPr>
            <p:spPr bwMode="auto">
              <a:xfrm>
                <a:off x="4197831" y="2763883"/>
                <a:ext cx="50497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24" name="Rectangle 17"/>
              <p:cNvSpPr>
                <a:spLocks noChangeArrowheads="1"/>
              </p:cNvSpPr>
              <p:nvPr/>
            </p:nvSpPr>
            <p:spPr bwMode="auto">
              <a:xfrm>
                <a:off x="4197831" y="2493697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ε</a:t>
                </a:r>
              </a:p>
            </p:txBody>
          </p:sp>
          <p:sp>
            <p:nvSpPr>
              <p:cNvPr id="72749" name="Oval 18"/>
              <p:cNvSpPr>
                <a:spLocks noChangeArrowheads="1"/>
              </p:cNvSpPr>
              <p:nvPr/>
            </p:nvSpPr>
            <p:spPr bwMode="auto">
              <a:xfrm>
                <a:off x="4775638" y="2602285"/>
                <a:ext cx="360592" cy="270253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C</a:t>
                </a:r>
              </a:p>
            </p:txBody>
          </p:sp>
          <p:sp>
            <p:nvSpPr>
              <p:cNvPr id="71726" name="Freeform 19"/>
              <p:cNvSpPr>
                <a:spLocks/>
              </p:cNvSpPr>
              <p:nvPr/>
            </p:nvSpPr>
            <p:spPr bwMode="auto">
              <a:xfrm>
                <a:off x="3863673" y="2384650"/>
                <a:ext cx="382702" cy="224957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27" name="Rectangle 20"/>
              <p:cNvSpPr>
                <a:spLocks noChangeArrowheads="1"/>
              </p:cNvSpPr>
              <p:nvPr/>
            </p:nvSpPr>
            <p:spPr bwMode="auto">
              <a:xfrm>
                <a:off x="3765903" y="2168759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1</a:t>
                </a:r>
              </a:p>
            </p:txBody>
          </p:sp>
          <p:sp>
            <p:nvSpPr>
              <p:cNvPr id="71728" name="Line 21"/>
              <p:cNvSpPr>
                <a:spLocks noChangeShapeType="1"/>
              </p:cNvSpPr>
              <p:nvPr/>
            </p:nvSpPr>
            <p:spPr bwMode="auto">
              <a:xfrm>
                <a:off x="2459001" y="2754361"/>
                <a:ext cx="50497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29" name="Rectangle 22"/>
              <p:cNvSpPr>
                <a:spLocks noChangeArrowheads="1"/>
              </p:cNvSpPr>
              <p:nvPr/>
            </p:nvSpPr>
            <p:spPr bwMode="auto">
              <a:xfrm>
                <a:off x="1902792" y="2623406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start</a:t>
                </a:r>
              </a:p>
            </p:txBody>
          </p:sp>
          <p:sp>
            <p:nvSpPr>
              <p:cNvPr id="71730" name="Freeform 30"/>
              <p:cNvSpPr>
                <a:spLocks/>
              </p:cNvSpPr>
              <p:nvPr/>
            </p:nvSpPr>
            <p:spPr bwMode="auto">
              <a:xfrm>
                <a:off x="4777477" y="2329471"/>
                <a:ext cx="382702" cy="224957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31" name="Rectangle 31"/>
              <p:cNvSpPr>
                <a:spLocks noChangeArrowheads="1"/>
              </p:cNvSpPr>
              <p:nvPr/>
            </p:nvSpPr>
            <p:spPr bwMode="auto">
              <a:xfrm>
                <a:off x="4703599" y="2139945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2</a:t>
                </a:r>
              </a:p>
            </p:txBody>
          </p:sp>
          <p:sp>
            <p:nvSpPr>
              <p:cNvPr id="71732" name="Oval 39"/>
              <p:cNvSpPr>
                <a:spLocks noChangeArrowheads="1"/>
              </p:cNvSpPr>
              <p:nvPr/>
            </p:nvSpPr>
            <p:spPr bwMode="auto">
              <a:xfrm>
                <a:off x="4702807" y="2548448"/>
                <a:ext cx="503388" cy="377309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9" name="矩形 38"/>
            <p:cNvSpPr/>
            <p:nvPr/>
          </p:nvSpPr>
          <p:spPr bwMode="auto">
            <a:xfrm>
              <a:off x="2202490" y="1349366"/>
              <a:ext cx="2014910" cy="34449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带“</a:t>
              </a:r>
              <a:r>
                <a:rPr lang="en-US" altLang="zh-CN" sz="2400" b="1" i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ε</a:t>
              </a:r>
              <a:r>
                <a:rPr lang="en-US" altLang="zh-CN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-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边”</a:t>
              </a:r>
              <a:endParaRPr lang="zh-CN" altLang="en-US" sz="2400" b="1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9" name="组合 49"/>
          <p:cNvGrpSpPr>
            <a:grpSpLocks/>
          </p:cNvGrpSpPr>
          <p:nvPr/>
        </p:nvGrpSpPr>
        <p:grpSpPr bwMode="auto">
          <a:xfrm>
            <a:off x="587375" y="3089275"/>
            <a:ext cx="5424488" cy="1785938"/>
            <a:chOff x="2147659" y="2857502"/>
            <a:chExt cx="5424737" cy="1785950"/>
          </a:xfrm>
        </p:grpSpPr>
        <p:sp>
          <p:nvSpPr>
            <p:cNvPr id="41" name="矩形 40"/>
            <p:cNvSpPr/>
            <p:nvPr/>
          </p:nvSpPr>
          <p:spPr bwMode="auto">
            <a:xfrm>
              <a:off x="2147659" y="3211517"/>
              <a:ext cx="2014630" cy="3460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不带“</a:t>
              </a:r>
              <a:r>
                <a:rPr lang="en-US" altLang="zh-CN" sz="2400" b="1" i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ε</a:t>
              </a:r>
              <a:r>
                <a:rPr lang="en-US" altLang="zh-CN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-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边”</a:t>
              </a:r>
              <a:endParaRPr lang="zh-CN" altLang="en-US" sz="2400" b="1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grpSp>
          <p:nvGrpSpPr>
            <p:cNvPr id="71694" name="组合 47"/>
            <p:cNvGrpSpPr>
              <a:grpSpLocks/>
            </p:cNvGrpSpPr>
            <p:nvPr/>
          </p:nvGrpSpPr>
          <p:grpSpPr bwMode="auto">
            <a:xfrm>
              <a:off x="2928926" y="2857502"/>
              <a:ext cx="4643470" cy="1785950"/>
              <a:chOff x="2101129" y="3446463"/>
              <a:chExt cx="3596409" cy="1020762"/>
            </a:xfrm>
          </p:grpSpPr>
          <p:sp>
            <p:nvSpPr>
              <p:cNvPr id="72719" name="Oval 10"/>
              <p:cNvSpPr>
                <a:spLocks noChangeArrowheads="1"/>
              </p:cNvSpPr>
              <p:nvPr/>
            </p:nvSpPr>
            <p:spPr bwMode="auto">
              <a:xfrm>
                <a:off x="3249425" y="3929170"/>
                <a:ext cx="360270" cy="270388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  <p:sp>
            <p:nvSpPr>
              <p:cNvPr id="71696" name="Freeform 11"/>
              <p:cNvSpPr>
                <a:spLocks/>
              </p:cNvSpPr>
              <p:nvPr/>
            </p:nvSpPr>
            <p:spPr bwMode="auto">
              <a:xfrm>
                <a:off x="3264097" y="3653662"/>
                <a:ext cx="382665" cy="225061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697" name="Rectangle 12"/>
              <p:cNvSpPr>
                <a:spLocks noChangeArrowheads="1"/>
              </p:cNvSpPr>
              <p:nvPr/>
            </p:nvSpPr>
            <p:spPr bwMode="auto">
              <a:xfrm>
                <a:off x="3176182" y="3446463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0</a:t>
                </a:r>
              </a:p>
            </p:txBody>
          </p:sp>
          <p:sp>
            <p:nvSpPr>
              <p:cNvPr id="71698" name="Line 13"/>
              <p:cNvSpPr>
                <a:spLocks noChangeShapeType="1"/>
              </p:cNvSpPr>
              <p:nvPr/>
            </p:nvSpPr>
            <p:spPr bwMode="auto">
              <a:xfrm>
                <a:off x="3681083" y="4091527"/>
                <a:ext cx="50492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699" name="Rectangle 14"/>
              <p:cNvSpPr>
                <a:spLocks noChangeArrowheads="1"/>
              </p:cNvSpPr>
              <p:nvPr/>
            </p:nvSpPr>
            <p:spPr bwMode="auto">
              <a:xfrm>
                <a:off x="3649579" y="3890737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0,1</a:t>
                </a:r>
              </a:p>
            </p:txBody>
          </p:sp>
          <p:sp>
            <p:nvSpPr>
              <p:cNvPr id="72724" name="Oval 15"/>
              <p:cNvSpPr>
                <a:spLocks noChangeArrowheads="1"/>
              </p:cNvSpPr>
              <p:nvPr/>
            </p:nvSpPr>
            <p:spPr bwMode="auto">
              <a:xfrm>
                <a:off x="4265066" y="3939151"/>
                <a:ext cx="360270" cy="269481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</a:p>
            </p:txBody>
          </p:sp>
          <p:sp>
            <p:nvSpPr>
              <p:cNvPr id="71701" name="Line 16"/>
              <p:cNvSpPr>
                <a:spLocks noChangeShapeType="1"/>
              </p:cNvSpPr>
              <p:nvPr/>
            </p:nvSpPr>
            <p:spPr bwMode="auto">
              <a:xfrm>
                <a:off x="4686893" y="4100652"/>
                <a:ext cx="50492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02" name="Rectangle 17"/>
              <p:cNvSpPr>
                <a:spLocks noChangeArrowheads="1"/>
              </p:cNvSpPr>
              <p:nvPr/>
            </p:nvSpPr>
            <p:spPr bwMode="auto">
              <a:xfrm>
                <a:off x="4686893" y="3890737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1,2</a:t>
                </a:r>
              </a:p>
            </p:txBody>
          </p:sp>
          <p:sp>
            <p:nvSpPr>
              <p:cNvPr id="72727" name="Oval 18"/>
              <p:cNvSpPr>
                <a:spLocks noChangeArrowheads="1"/>
              </p:cNvSpPr>
              <p:nvPr/>
            </p:nvSpPr>
            <p:spPr bwMode="auto">
              <a:xfrm>
                <a:off x="5264723" y="3939151"/>
                <a:ext cx="360269" cy="269481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C</a:t>
                </a:r>
              </a:p>
            </p:txBody>
          </p:sp>
          <p:sp>
            <p:nvSpPr>
              <p:cNvPr id="71704" name="Freeform 19"/>
              <p:cNvSpPr>
                <a:spLocks/>
              </p:cNvSpPr>
              <p:nvPr/>
            </p:nvSpPr>
            <p:spPr bwMode="auto">
              <a:xfrm>
                <a:off x="4280204" y="3666392"/>
                <a:ext cx="382665" cy="225061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05" name="Rectangle 20"/>
              <p:cNvSpPr>
                <a:spLocks noChangeArrowheads="1"/>
              </p:cNvSpPr>
              <p:nvPr/>
            </p:nvSpPr>
            <p:spPr bwMode="auto">
              <a:xfrm>
                <a:off x="4192289" y="3454397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1</a:t>
                </a:r>
              </a:p>
            </p:txBody>
          </p:sp>
          <p:sp>
            <p:nvSpPr>
              <p:cNvPr id="71706" name="Line 21"/>
              <p:cNvSpPr>
                <a:spLocks noChangeShapeType="1"/>
              </p:cNvSpPr>
              <p:nvPr/>
            </p:nvSpPr>
            <p:spPr bwMode="auto">
              <a:xfrm>
                <a:off x="2671242" y="4072538"/>
                <a:ext cx="50492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07" name="Rectangle 22"/>
              <p:cNvSpPr>
                <a:spLocks noChangeArrowheads="1"/>
              </p:cNvSpPr>
              <p:nvPr/>
            </p:nvSpPr>
            <p:spPr bwMode="auto">
              <a:xfrm>
                <a:off x="2101129" y="3938703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start</a:t>
                </a:r>
              </a:p>
            </p:txBody>
          </p:sp>
          <p:sp>
            <p:nvSpPr>
              <p:cNvPr id="71708" name="Freeform 30"/>
              <p:cNvSpPr>
                <a:spLocks/>
              </p:cNvSpPr>
              <p:nvPr/>
            </p:nvSpPr>
            <p:spPr bwMode="auto">
              <a:xfrm>
                <a:off x="5280528" y="3669239"/>
                <a:ext cx="382665" cy="225061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09" name="Rectangle 31"/>
              <p:cNvSpPr>
                <a:spLocks noChangeArrowheads="1"/>
              </p:cNvSpPr>
              <p:nvPr/>
            </p:nvSpPr>
            <p:spPr bwMode="auto">
              <a:xfrm>
                <a:off x="5192612" y="3476424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2</a:t>
                </a:r>
              </a:p>
            </p:txBody>
          </p:sp>
          <p:sp>
            <p:nvSpPr>
              <p:cNvPr id="71710" name="Oval 39"/>
              <p:cNvSpPr>
                <a:spLocks noChangeArrowheads="1"/>
              </p:cNvSpPr>
              <p:nvPr/>
            </p:nvSpPr>
            <p:spPr bwMode="auto">
              <a:xfrm>
                <a:off x="5191820" y="3885117"/>
                <a:ext cx="503339" cy="37748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任意多边形 4"/>
              <p:cNvSpPr/>
              <p:nvPr/>
            </p:nvSpPr>
            <p:spPr bwMode="auto">
              <a:xfrm>
                <a:off x="3490425" y="4240389"/>
                <a:ext cx="1993165" cy="226836"/>
              </a:xfrm>
              <a:custGeom>
                <a:avLst/>
                <a:gdLst>
                  <a:gd name="connsiteX0" fmla="*/ 0 w 1669143"/>
                  <a:gd name="connsiteY0" fmla="*/ 0 h 349055"/>
                  <a:gd name="connsiteX1" fmla="*/ 870857 w 1669143"/>
                  <a:gd name="connsiteY1" fmla="*/ 348343 h 349055"/>
                  <a:gd name="connsiteX2" fmla="*/ 1669143 w 1669143"/>
                  <a:gd name="connsiteY2" fmla="*/ 72571 h 349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69143" h="349055">
                    <a:moveTo>
                      <a:pt x="0" y="0"/>
                    </a:moveTo>
                    <a:cubicBezTo>
                      <a:pt x="296333" y="168124"/>
                      <a:pt x="592667" y="336248"/>
                      <a:pt x="870857" y="348343"/>
                    </a:cubicBezTo>
                    <a:cubicBezTo>
                      <a:pt x="1149047" y="360438"/>
                      <a:pt x="1409095" y="216504"/>
                      <a:pt x="1669143" y="72571"/>
                    </a:cubicBezTo>
                  </a:path>
                </a:pathLst>
              </a:cu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71712" name="Rectangle 17"/>
              <p:cNvSpPr>
                <a:spLocks noChangeArrowheads="1"/>
              </p:cNvSpPr>
              <p:nvPr/>
            </p:nvSpPr>
            <p:spPr bwMode="auto">
              <a:xfrm>
                <a:off x="4234142" y="4251690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0,1,2</a:t>
                </a:r>
              </a:p>
            </p:txBody>
          </p:sp>
          <p:sp>
            <p:nvSpPr>
              <p:cNvPr id="71713" name="Oval 39"/>
              <p:cNvSpPr>
                <a:spLocks noChangeArrowheads="1"/>
              </p:cNvSpPr>
              <p:nvPr/>
            </p:nvSpPr>
            <p:spPr bwMode="auto">
              <a:xfrm>
                <a:off x="3177770" y="3874205"/>
                <a:ext cx="503339" cy="37748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1714" name="Oval 39"/>
              <p:cNvSpPr>
                <a:spLocks noChangeArrowheads="1"/>
              </p:cNvSpPr>
              <p:nvPr/>
            </p:nvSpPr>
            <p:spPr bwMode="auto">
              <a:xfrm>
                <a:off x="4193877" y="3885117"/>
                <a:ext cx="503339" cy="37748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71686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45" name="五边形 4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71692" name="五边形 45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4" name="矩形 3"/>
          <p:cNvSpPr/>
          <p:nvPr/>
        </p:nvSpPr>
        <p:spPr>
          <a:xfrm>
            <a:off x="6318250" y="2859782"/>
            <a:ext cx="1627188" cy="47783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状态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endParaRPr lang="zh-CN" altLang="en-US" sz="2500" b="1" baseline="300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318250" y="3363838"/>
            <a:ext cx="2585268" cy="84638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状态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4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除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ε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以外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318250" y="4245644"/>
            <a:ext cx="2585268" cy="4616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状态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：？</a:t>
            </a:r>
            <a:endParaRPr lang="zh-CN" altLang="en-US" sz="2400" b="1" baseline="300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6300788" y="2143125"/>
            <a:ext cx="1455737" cy="47783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5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0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zh-CN" altLang="en-US" sz="2500" b="1" baseline="30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6229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5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Grp="1" noChangeArrowheads="1"/>
          </p:cNvSpPr>
          <p:nvPr>
            <p:ph idx="1"/>
          </p:nvPr>
        </p:nvSpPr>
        <p:spPr>
          <a:xfrm>
            <a:off x="442913" y="1336675"/>
            <a:ext cx="1485900" cy="917575"/>
          </a:xfrm>
        </p:spPr>
        <p:txBody>
          <a:bodyPr/>
          <a:lstStyle/>
          <a:p>
            <a:pPr eaLnBrk="1" hangingPunct="1">
              <a:buClrTx/>
              <a:buFont typeface="Wingdings" pitchFamily="2" charset="2"/>
              <a:buChar char="Ø"/>
              <a:defRPr/>
            </a:pPr>
            <a:r>
              <a:rPr lang="zh-CN" altLang="en-US" sz="3000" b="1" dirty="0">
                <a:solidFill>
                  <a:schemeClr val="tx1"/>
                </a:solidFill>
                <a:latin typeface="+mn-ea"/>
              </a:rPr>
              <a:t>例</a:t>
            </a:r>
            <a:r>
              <a:rPr lang="en-US" altLang="zh-CN" sz="3000" b="1" dirty="0">
                <a:solidFill>
                  <a:schemeClr val="tx1"/>
                </a:solidFill>
                <a:latin typeface="+mn-ea"/>
              </a:rPr>
              <a:t>1</a:t>
            </a:r>
            <a:endParaRPr lang="zh-CN" altLang="en-US" sz="3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3.6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从</a:t>
            </a:r>
            <a:r>
              <a:rPr lang="en-US" altLang="zh-CN" sz="3000" i="1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NFA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到</a:t>
            </a:r>
            <a:r>
              <a:rPr lang="en-US" altLang="zh-CN" sz="3000" i="1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DFA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的转换</a:t>
            </a:r>
          </a:p>
        </p:txBody>
      </p:sp>
      <p:sp>
        <p:nvSpPr>
          <p:cNvPr id="92164" name="Rectangle 48"/>
          <p:cNvSpPr>
            <a:spLocks noChangeArrowheads="1"/>
          </p:cNvSpPr>
          <p:nvPr/>
        </p:nvSpPr>
        <p:spPr bwMode="auto">
          <a:xfrm>
            <a:off x="1897063" y="1406525"/>
            <a:ext cx="647700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NFA</a:t>
            </a:r>
            <a:r>
              <a:rPr kumimoji="0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：</a:t>
            </a:r>
          </a:p>
        </p:txBody>
      </p:sp>
      <p:grpSp>
        <p:nvGrpSpPr>
          <p:cNvPr id="2" name="组合 6"/>
          <p:cNvGrpSpPr>
            <a:grpSpLocks/>
          </p:cNvGrpSpPr>
          <p:nvPr/>
        </p:nvGrpSpPr>
        <p:grpSpPr bwMode="auto">
          <a:xfrm>
            <a:off x="6215063" y="3859213"/>
            <a:ext cx="504825" cy="500062"/>
            <a:chOff x="4107105" y="3856684"/>
            <a:chExt cx="504760" cy="500915"/>
          </a:xfrm>
        </p:grpSpPr>
        <p:sp>
          <p:nvSpPr>
            <p:cNvPr id="92254" name="Freeform 19"/>
            <p:cNvSpPr>
              <a:spLocks/>
            </p:cNvSpPr>
            <p:nvPr/>
          </p:nvSpPr>
          <p:spPr bwMode="auto">
            <a:xfrm>
              <a:off x="4168999" y="4132397"/>
              <a:ext cx="382539" cy="225202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55" name="Rectangle 20"/>
            <p:cNvSpPr>
              <a:spLocks noChangeArrowheads="1"/>
            </p:cNvSpPr>
            <p:nvPr/>
          </p:nvSpPr>
          <p:spPr bwMode="auto">
            <a:xfrm>
              <a:off x="4107105" y="3856684"/>
              <a:ext cx="504760" cy="2156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</p:grpSp>
      <p:grpSp>
        <p:nvGrpSpPr>
          <p:cNvPr id="3" name="组合 8"/>
          <p:cNvGrpSpPr>
            <a:grpSpLocks/>
          </p:cNvGrpSpPr>
          <p:nvPr/>
        </p:nvGrpSpPr>
        <p:grpSpPr bwMode="auto">
          <a:xfrm>
            <a:off x="7358063" y="3857625"/>
            <a:ext cx="504825" cy="512763"/>
            <a:chOff x="5261066" y="3856540"/>
            <a:chExt cx="504760" cy="512424"/>
          </a:xfrm>
        </p:grpSpPr>
        <p:sp>
          <p:nvSpPr>
            <p:cNvPr id="92252" name="Freeform 30"/>
            <p:cNvSpPr>
              <a:spLocks/>
            </p:cNvSpPr>
            <p:nvPr/>
          </p:nvSpPr>
          <p:spPr bwMode="auto">
            <a:xfrm>
              <a:off x="5311865" y="4143762"/>
              <a:ext cx="382538" cy="225202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53" name="Rectangle 31"/>
            <p:cNvSpPr>
              <a:spLocks noChangeArrowheads="1"/>
            </p:cNvSpPr>
            <p:nvPr/>
          </p:nvSpPr>
          <p:spPr bwMode="auto">
            <a:xfrm>
              <a:off x="5261066" y="3856540"/>
              <a:ext cx="504760" cy="2156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c</a:t>
              </a:r>
            </a:p>
          </p:txBody>
        </p:sp>
      </p:grp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4357688" y="4302125"/>
            <a:ext cx="1273175" cy="592138"/>
            <a:chOff x="2207112" y="4300037"/>
            <a:chExt cx="1272994" cy="593390"/>
          </a:xfrm>
        </p:grpSpPr>
        <p:sp>
          <p:nvSpPr>
            <p:cNvPr id="92249" name="Line 13"/>
            <p:cNvSpPr>
              <a:spLocks noChangeShapeType="1"/>
            </p:cNvSpPr>
            <p:nvPr/>
          </p:nvSpPr>
          <p:spPr bwMode="auto">
            <a:xfrm>
              <a:off x="2207112" y="4624137"/>
              <a:ext cx="6492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50" name="Rectangle 14"/>
            <p:cNvSpPr>
              <a:spLocks noChangeArrowheads="1"/>
            </p:cNvSpPr>
            <p:nvPr/>
          </p:nvSpPr>
          <p:spPr bwMode="auto">
            <a:xfrm>
              <a:off x="2235683" y="4300037"/>
              <a:ext cx="504760" cy="2156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</a:p>
          </p:txBody>
        </p:sp>
        <p:sp>
          <p:nvSpPr>
            <p:cNvPr id="9" name="Oval 10"/>
            <p:cNvSpPr>
              <a:spLocks noChangeArrowheads="1"/>
            </p:cNvSpPr>
            <p:nvPr/>
          </p:nvSpPr>
          <p:spPr bwMode="auto">
            <a:xfrm>
              <a:off x="2873767" y="4357308"/>
              <a:ext cx="606339" cy="53611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A,B</a:t>
              </a:r>
            </a:p>
          </p:txBody>
        </p:sp>
      </p:grpSp>
      <p:grpSp>
        <p:nvGrpSpPr>
          <p:cNvPr id="5" name="组合 5"/>
          <p:cNvGrpSpPr>
            <a:grpSpLocks/>
          </p:cNvGrpSpPr>
          <p:nvPr/>
        </p:nvGrpSpPr>
        <p:grpSpPr bwMode="auto">
          <a:xfrm>
            <a:off x="5643563" y="4287838"/>
            <a:ext cx="1092200" cy="606425"/>
            <a:chOff x="3530916" y="4286990"/>
            <a:chExt cx="1092050" cy="606437"/>
          </a:xfrm>
        </p:grpSpPr>
        <p:sp>
          <p:nvSpPr>
            <p:cNvPr id="92246" name="Line 16"/>
            <p:cNvSpPr>
              <a:spLocks noChangeShapeType="1"/>
            </p:cNvSpPr>
            <p:nvPr/>
          </p:nvSpPr>
          <p:spPr bwMode="auto">
            <a:xfrm>
              <a:off x="3530916" y="4624137"/>
              <a:ext cx="5047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47" name="Rectangle 17"/>
            <p:cNvSpPr>
              <a:spLocks noChangeArrowheads="1"/>
            </p:cNvSpPr>
            <p:nvPr/>
          </p:nvSpPr>
          <p:spPr bwMode="auto">
            <a:xfrm>
              <a:off x="3530916" y="4286990"/>
              <a:ext cx="504760" cy="2156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  <p:sp>
          <p:nvSpPr>
            <p:cNvPr id="11" name="Oval 10"/>
            <p:cNvSpPr>
              <a:spLocks noChangeArrowheads="1"/>
            </p:cNvSpPr>
            <p:nvPr/>
          </p:nvSpPr>
          <p:spPr bwMode="auto">
            <a:xfrm>
              <a:off x="4035672" y="4358428"/>
              <a:ext cx="587294" cy="53499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B,C</a:t>
              </a:r>
            </a:p>
          </p:txBody>
        </p:sp>
      </p:grpSp>
      <p:grpSp>
        <p:nvGrpSpPr>
          <p:cNvPr id="6" name="组合 7"/>
          <p:cNvGrpSpPr>
            <a:grpSpLocks/>
          </p:cNvGrpSpPr>
          <p:nvPr/>
        </p:nvGrpSpPr>
        <p:grpSpPr bwMode="auto">
          <a:xfrm>
            <a:off x="6735763" y="4287838"/>
            <a:ext cx="1154112" cy="714375"/>
            <a:chOff x="4683290" y="4287071"/>
            <a:chExt cx="1153963" cy="713504"/>
          </a:xfrm>
        </p:grpSpPr>
        <p:sp>
          <p:nvSpPr>
            <p:cNvPr id="92242" name="Line 21"/>
            <p:cNvSpPr>
              <a:spLocks noChangeShapeType="1"/>
            </p:cNvSpPr>
            <p:nvPr/>
          </p:nvSpPr>
          <p:spPr bwMode="auto">
            <a:xfrm>
              <a:off x="4692816" y="4636053"/>
              <a:ext cx="5047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43" name="Rectangle 22"/>
            <p:cNvSpPr>
              <a:spLocks noChangeArrowheads="1"/>
            </p:cNvSpPr>
            <p:nvPr/>
          </p:nvSpPr>
          <p:spPr bwMode="auto">
            <a:xfrm>
              <a:off x="4683290" y="4287071"/>
              <a:ext cx="504760" cy="2156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c</a:t>
              </a:r>
            </a:p>
          </p:txBody>
        </p:sp>
        <p:sp>
          <p:nvSpPr>
            <p:cNvPr id="92236" name="Oval 10"/>
            <p:cNvSpPr>
              <a:spLocks noChangeArrowheads="1"/>
            </p:cNvSpPr>
            <p:nvPr/>
          </p:nvSpPr>
          <p:spPr bwMode="auto">
            <a:xfrm>
              <a:off x="5259478" y="4429772"/>
              <a:ext cx="506348" cy="49945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C,D</a:t>
              </a:r>
            </a:p>
          </p:txBody>
        </p:sp>
        <p:sp>
          <p:nvSpPr>
            <p:cNvPr id="92245" name="Oval 45"/>
            <p:cNvSpPr>
              <a:spLocks noChangeArrowheads="1"/>
            </p:cNvSpPr>
            <p:nvPr/>
          </p:nvSpPr>
          <p:spPr bwMode="auto">
            <a:xfrm>
              <a:off x="5188050" y="4358423"/>
              <a:ext cx="649203" cy="64215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" name="组合 4"/>
          <p:cNvGrpSpPr>
            <a:grpSpLocks/>
          </p:cNvGrpSpPr>
          <p:nvPr/>
        </p:nvGrpSpPr>
        <p:grpSpPr bwMode="auto">
          <a:xfrm>
            <a:off x="5072063" y="3859213"/>
            <a:ext cx="504825" cy="503237"/>
            <a:chOff x="2883300" y="3904377"/>
            <a:chExt cx="504760" cy="504090"/>
          </a:xfrm>
        </p:grpSpPr>
        <p:sp>
          <p:nvSpPr>
            <p:cNvPr id="92240" name="Freeform 19"/>
            <p:cNvSpPr>
              <a:spLocks/>
            </p:cNvSpPr>
            <p:nvPr/>
          </p:nvSpPr>
          <p:spPr bwMode="auto">
            <a:xfrm>
              <a:off x="2945205" y="4183265"/>
              <a:ext cx="382538" cy="225202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41" name="Rectangle 20"/>
            <p:cNvSpPr>
              <a:spLocks noChangeArrowheads="1"/>
            </p:cNvSpPr>
            <p:nvPr/>
          </p:nvSpPr>
          <p:spPr bwMode="auto">
            <a:xfrm>
              <a:off x="2883300" y="3904377"/>
              <a:ext cx="504760" cy="2156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</a:p>
          </p:txBody>
        </p:sp>
      </p:grpSp>
      <p:grpSp>
        <p:nvGrpSpPr>
          <p:cNvPr id="8" name="组合 1"/>
          <p:cNvGrpSpPr>
            <a:grpSpLocks/>
          </p:cNvGrpSpPr>
          <p:nvPr/>
        </p:nvGrpSpPr>
        <p:grpSpPr bwMode="auto">
          <a:xfrm>
            <a:off x="1928813" y="4359275"/>
            <a:ext cx="2428875" cy="509588"/>
            <a:chOff x="-306523" y="4358493"/>
            <a:chExt cx="2429448" cy="508720"/>
          </a:xfrm>
        </p:grpSpPr>
        <p:sp>
          <p:nvSpPr>
            <p:cNvPr id="12" name="Oval 10"/>
            <p:cNvSpPr>
              <a:spLocks noChangeArrowheads="1"/>
            </p:cNvSpPr>
            <p:nvPr/>
          </p:nvSpPr>
          <p:spPr bwMode="auto">
            <a:xfrm>
              <a:off x="1557642" y="4358493"/>
              <a:ext cx="565283" cy="50872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</a:p>
          </p:txBody>
        </p:sp>
        <p:sp>
          <p:nvSpPr>
            <p:cNvPr id="92237" name="Rectangle 49"/>
            <p:cNvSpPr>
              <a:spLocks noChangeArrowheads="1"/>
            </p:cNvSpPr>
            <p:nvPr/>
          </p:nvSpPr>
          <p:spPr bwMode="auto">
            <a:xfrm>
              <a:off x="-306523" y="4389589"/>
              <a:ext cx="647615" cy="378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DFA</a:t>
              </a:r>
              <a:r>
                <a:rPr kumimoji="0" lang="zh-CN" altLang="en-US" sz="3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：</a:t>
              </a:r>
            </a:p>
          </p:txBody>
        </p:sp>
        <p:sp>
          <p:nvSpPr>
            <p:cNvPr id="92238" name="Line 21"/>
            <p:cNvSpPr>
              <a:spLocks noChangeShapeType="1"/>
            </p:cNvSpPr>
            <p:nvPr/>
          </p:nvSpPr>
          <p:spPr bwMode="auto">
            <a:xfrm flipV="1">
              <a:off x="1276087" y="4629330"/>
              <a:ext cx="252431" cy="672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39" name="Rectangle 22"/>
            <p:cNvSpPr>
              <a:spLocks noChangeArrowheads="1"/>
            </p:cNvSpPr>
            <p:nvPr/>
          </p:nvSpPr>
          <p:spPr bwMode="auto">
            <a:xfrm>
              <a:off x="693838" y="4498273"/>
              <a:ext cx="504861" cy="2156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5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</p:grpSp>
      <p:grpSp>
        <p:nvGrpSpPr>
          <p:cNvPr id="92172" name="组合 56"/>
          <p:cNvGrpSpPr>
            <a:grpSpLocks/>
          </p:cNvGrpSpPr>
          <p:nvPr/>
        </p:nvGrpSpPr>
        <p:grpSpPr bwMode="auto">
          <a:xfrm>
            <a:off x="2754313" y="642938"/>
            <a:ext cx="5175250" cy="1285875"/>
            <a:chOff x="2338388" y="1193800"/>
            <a:chExt cx="3889375" cy="755650"/>
          </a:xfrm>
        </p:grpSpPr>
        <p:grpSp>
          <p:nvGrpSpPr>
            <p:cNvPr id="92216" name="Group 4"/>
            <p:cNvGrpSpPr>
              <a:grpSpLocks/>
            </p:cNvGrpSpPr>
            <p:nvPr/>
          </p:nvGrpSpPr>
          <p:grpSpPr bwMode="auto">
            <a:xfrm>
              <a:off x="3060700" y="1193800"/>
              <a:ext cx="3167063" cy="755650"/>
              <a:chOff x="1247" y="2478"/>
              <a:chExt cx="1995" cy="634"/>
            </a:xfrm>
          </p:grpSpPr>
          <p:sp>
            <p:nvSpPr>
              <p:cNvPr id="14" name="Oval 10"/>
              <p:cNvSpPr>
                <a:spLocks noChangeArrowheads="1"/>
              </p:cNvSpPr>
              <p:nvPr/>
            </p:nvSpPr>
            <p:spPr bwMode="auto">
              <a:xfrm>
                <a:off x="1293" y="2842"/>
                <a:ext cx="227" cy="22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  <p:sp>
            <p:nvSpPr>
              <p:cNvPr id="92220" name="Freeform 11"/>
              <p:cNvSpPr>
                <a:spLocks/>
              </p:cNvSpPr>
              <p:nvPr/>
            </p:nvSpPr>
            <p:spPr bwMode="auto">
              <a:xfrm>
                <a:off x="1310" y="2662"/>
                <a:ext cx="241" cy="189"/>
              </a:xfrm>
              <a:custGeom>
                <a:avLst/>
                <a:gdLst>
                  <a:gd name="T0" fmla="*/ 52 w 241"/>
                  <a:gd name="T1" fmla="*/ 189 h 189"/>
                  <a:gd name="T2" fmla="*/ 7 w 241"/>
                  <a:gd name="T3" fmla="*/ 143 h 189"/>
                  <a:gd name="T4" fmla="*/ 97 w 241"/>
                  <a:gd name="T5" fmla="*/ 7 h 189"/>
                  <a:gd name="T6" fmla="*/ 233 w 241"/>
                  <a:gd name="T7" fmla="*/ 98 h 189"/>
                  <a:gd name="T8" fmla="*/ 143 w 241"/>
                  <a:gd name="T9" fmla="*/ 189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2221" name="Rectangle 12"/>
              <p:cNvSpPr>
                <a:spLocks noChangeArrowheads="1"/>
              </p:cNvSpPr>
              <p:nvPr/>
            </p:nvSpPr>
            <p:spPr bwMode="auto">
              <a:xfrm>
                <a:off x="1247" y="2479"/>
                <a:ext cx="318" cy="1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  <p:sp>
            <p:nvSpPr>
              <p:cNvPr id="92222" name="Line 13"/>
              <p:cNvSpPr>
                <a:spLocks noChangeShapeType="1"/>
              </p:cNvSpPr>
              <p:nvPr/>
            </p:nvSpPr>
            <p:spPr bwMode="auto">
              <a:xfrm>
                <a:off x="1519" y="2978"/>
                <a:ext cx="31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2223" name="Rectangle 14"/>
              <p:cNvSpPr>
                <a:spLocks noChangeArrowheads="1"/>
              </p:cNvSpPr>
              <p:nvPr/>
            </p:nvSpPr>
            <p:spPr bwMode="auto">
              <a:xfrm>
                <a:off x="1519" y="2755"/>
                <a:ext cx="318" cy="1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  <p:sp>
            <p:nvSpPr>
              <p:cNvPr id="15" name="Oval 15"/>
              <p:cNvSpPr>
                <a:spLocks noChangeArrowheads="1"/>
              </p:cNvSpPr>
              <p:nvPr/>
            </p:nvSpPr>
            <p:spPr bwMode="auto">
              <a:xfrm>
                <a:off x="1837" y="2842"/>
                <a:ext cx="227" cy="22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</a:p>
            </p:txBody>
          </p:sp>
          <p:sp>
            <p:nvSpPr>
              <p:cNvPr id="92225" name="Line 16"/>
              <p:cNvSpPr>
                <a:spLocks noChangeShapeType="1"/>
              </p:cNvSpPr>
              <p:nvPr/>
            </p:nvSpPr>
            <p:spPr bwMode="auto">
              <a:xfrm>
                <a:off x="2063" y="2978"/>
                <a:ext cx="31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2226" name="Rectangle 17"/>
              <p:cNvSpPr>
                <a:spLocks noChangeArrowheads="1"/>
              </p:cNvSpPr>
              <p:nvPr/>
            </p:nvSpPr>
            <p:spPr bwMode="auto">
              <a:xfrm>
                <a:off x="2063" y="2751"/>
                <a:ext cx="318" cy="1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</a:p>
            </p:txBody>
          </p:sp>
          <p:sp>
            <p:nvSpPr>
              <p:cNvPr id="92219" name="Oval 18"/>
              <p:cNvSpPr>
                <a:spLocks noChangeArrowheads="1"/>
              </p:cNvSpPr>
              <p:nvPr/>
            </p:nvSpPr>
            <p:spPr bwMode="auto">
              <a:xfrm>
                <a:off x="2381" y="2842"/>
                <a:ext cx="227" cy="22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C</a:t>
                </a:r>
              </a:p>
            </p:txBody>
          </p:sp>
          <p:sp>
            <p:nvSpPr>
              <p:cNvPr id="92228" name="Freeform 19"/>
              <p:cNvSpPr>
                <a:spLocks/>
              </p:cNvSpPr>
              <p:nvPr/>
            </p:nvSpPr>
            <p:spPr bwMode="auto">
              <a:xfrm>
                <a:off x="1851" y="2657"/>
                <a:ext cx="241" cy="189"/>
              </a:xfrm>
              <a:custGeom>
                <a:avLst/>
                <a:gdLst>
                  <a:gd name="T0" fmla="*/ 52 w 241"/>
                  <a:gd name="T1" fmla="*/ 189 h 189"/>
                  <a:gd name="T2" fmla="*/ 7 w 241"/>
                  <a:gd name="T3" fmla="*/ 143 h 189"/>
                  <a:gd name="T4" fmla="*/ 97 w 241"/>
                  <a:gd name="T5" fmla="*/ 7 h 189"/>
                  <a:gd name="T6" fmla="*/ 233 w 241"/>
                  <a:gd name="T7" fmla="*/ 98 h 189"/>
                  <a:gd name="T8" fmla="*/ 143 w 241"/>
                  <a:gd name="T9" fmla="*/ 189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2229" name="Rectangle 20"/>
              <p:cNvSpPr>
                <a:spLocks noChangeArrowheads="1"/>
              </p:cNvSpPr>
              <p:nvPr/>
            </p:nvSpPr>
            <p:spPr bwMode="auto">
              <a:xfrm>
                <a:off x="1791" y="2478"/>
                <a:ext cx="318" cy="1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</a:p>
            </p:txBody>
          </p:sp>
          <p:sp>
            <p:nvSpPr>
              <p:cNvPr id="92230" name="Line 21"/>
              <p:cNvSpPr>
                <a:spLocks noChangeShapeType="1"/>
              </p:cNvSpPr>
              <p:nvPr/>
            </p:nvSpPr>
            <p:spPr bwMode="auto">
              <a:xfrm>
                <a:off x="2608" y="2978"/>
                <a:ext cx="31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2231" name="Rectangle 22"/>
              <p:cNvSpPr>
                <a:spLocks noChangeArrowheads="1"/>
              </p:cNvSpPr>
              <p:nvPr/>
            </p:nvSpPr>
            <p:spPr bwMode="auto">
              <a:xfrm>
                <a:off x="2608" y="2750"/>
                <a:ext cx="318" cy="1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c</a:t>
                </a:r>
              </a:p>
            </p:txBody>
          </p:sp>
          <p:sp>
            <p:nvSpPr>
              <p:cNvPr id="92224" name="Oval 23"/>
              <p:cNvSpPr>
                <a:spLocks noChangeArrowheads="1"/>
              </p:cNvSpPr>
              <p:nvPr/>
            </p:nvSpPr>
            <p:spPr bwMode="auto">
              <a:xfrm>
                <a:off x="2971" y="2840"/>
                <a:ext cx="227" cy="229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D</a:t>
                </a:r>
              </a:p>
            </p:txBody>
          </p:sp>
          <p:sp>
            <p:nvSpPr>
              <p:cNvPr id="92233" name="Freeform 30"/>
              <p:cNvSpPr>
                <a:spLocks/>
              </p:cNvSpPr>
              <p:nvPr/>
            </p:nvSpPr>
            <p:spPr bwMode="auto">
              <a:xfrm>
                <a:off x="2392" y="2662"/>
                <a:ext cx="241" cy="189"/>
              </a:xfrm>
              <a:custGeom>
                <a:avLst/>
                <a:gdLst>
                  <a:gd name="T0" fmla="*/ 52 w 241"/>
                  <a:gd name="T1" fmla="*/ 189 h 189"/>
                  <a:gd name="T2" fmla="*/ 7 w 241"/>
                  <a:gd name="T3" fmla="*/ 143 h 189"/>
                  <a:gd name="T4" fmla="*/ 97 w 241"/>
                  <a:gd name="T5" fmla="*/ 7 h 189"/>
                  <a:gd name="T6" fmla="*/ 233 w 241"/>
                  <a:gd name="T7" fmla="*/ 98 h 189"/>
                  <a:gd name="T8" fmla="*/ 143 w 241"/>
                  <a:gd name="T9" fmla="*/ 189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2234" name="Rectangle 31"/>
              <p:cNvSpPr>
                <a:spLocks noChangeArrowheads="1"/>
              </p:cNvSpPr>
              <p:nvPr/>
            </p:nvSpPr>
            <p:spPr bwMode="auto">
              <a:xfrm>
                <a:off x="2336" y="2478"/>
                <a:ext cx="318" cy="1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c</a:t>
                </a:r>
              </a:p>
            </p:txBody>
          </p:sp>
          <p:sp>
            <p:nvSpPr>
              <p:cNvPr id="92235" name="Oval 39"/>
              <p:cNvSpPr>
                <a:spLocks noChangeArrowheads="1"/>
              </p:cNvSpPr>
              <p:nvPr/>
            </p:nvSpPr>
            <p:spPr bwMode="auto">
              <a:xfrm>
                <a:off x="2925" y="2795"/>
                <a:ext cx="317" cy="317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2217" name="Rectangle 22"/>
            <p:cNvSpPr>
              <a:spLocks noChangeArrowheads="1"/>
            </p:cNvSpPr>
            <p:nvPr/>
          </p:nvSpPr>
          <p:spPr bwMode="auto">
            <a:xfrm>
              <a:off x="2338388" y="1658938"/>
              <a:ext cx="504825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5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sp>
          <p:nvSpPr>
            <p:cNvPr id="92218" name="Line 21"/>
            <p:cNvSpPr>
              <a:spLocks noChangeShapeType="1"/>
            </p:cNvSpPr>
            <p:nvPr/>
          </p:nvSpPr>
          <p:spPr bwMode="auto">
            <a:xfrm flipV="1">
              <a:off x="2843213" y="1765300"/>
              <a:ext cx="254000" cy="79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2173" name="组合 5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6" name="五边形 5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15" name="五边形 5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59" name="Group 18"/>
          <p:cNvGraphicFramePr>
            <a:graphicFrameLocks noGrp="1"/>
          </p:cNvGraphicFramePr>
          <p:nvPr/>
        </p:nvGraphicFramePr>
        <p:xfrm>
          <a:off x="3484563" y="2235200"/>
          <a:ext cx="3659187" cy="1563690"/>
        </p:xfrm>
        <a:graphic>
          <a:graphicData uri="http://schemas.openxmlformats.org/drawingml/2006/table">
            <a:tbl>
              <a:tblPr/>
              <a:tblGrid>
                <a:gridCol w="96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3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2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7" marR="91437" marT="34186" marB="341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a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7" marR="91437" marT="34186" marB="341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b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7" marR="91437" marT="34186" marB="341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c</a:t>
                      </a:r>
                      <a:endParaRPr kumimoji="0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7" marR="91437" marT="34186" marB="341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3" name="组合 11"/>
          <p:cNvGrpSpPr>
            <a:grpSpLocks/>
          </p:cNvGrpSpPr>
          <p:nvPr/>
        </p:nvGrpSpPr>
        <p:grpSpPr bwMode="auto">
          <a:xfrm>
            <a:off x="3413125" y="1785938"/>
            <a:ext cx="2801938" cy="2009775"/>
            <a:chOff x="3362325" y="1785927"/>
            <a:chExt cx="2801938" cy="2009959"/>
          </a:xfrm>
        </p:grpSpPr>
        <p:sp>
          <p:nvSpPr>
            <p:cNvPr id="58" name="矩形 57"/>
            <p:cNvSpPr/>
            <p:nvPr/>
          </p:nvSpPr>
          <p:spPr>
            <a:xfrm>
              <a:off x="4508500" y="1785927"/>
              <a:ext cx="1655763" cy="4858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itchFamily="49" charset="-122"/>
                  <a:ea typeface="楷体" pitchFamily="49" charset="-122"/>
                  <a:cs typeface="+mn-cs"/>
                </a:rPr>
                <a:t>转换表</a:t>
              </a:r>
            </a:p>
          </p:txBody>
        </p:sp>
        <p:sp>
          <p:nvSpPr>
            <p:cNvPr id="92210" name="矩形 1"/>
            <p:cNvSpPr>
              <a:spLocks noChangeArrowheads="1"/>
            </p:cNvSpPr>
            <p:nvPr/>
          </p:nvSpPr>
          <p:spPr bwMode="auto">
            <a:xfrm>
              <a:off x="3362325" y="2294829"/>
              <a:ext cx="598488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状态</a:t>
              </a:r>
            </a:p>
          </p:txBody>
        </p:sp>
        <p:sp>
          <p:nvSpPr>
            <p:cNvPr id="92211" name="矩形 36"/>
            <p:cNvSpPr>
              <a:spLocks noChangeArrowheads="1"/>
            </p:cNvSpPr>
            <p:nvPr/>
          </p:nvSpPr>
          <p:spPr bwMode="auto">
            <a:xfrm>
              <a:off x="3867150" y="2171726"/>
              <a:ext cx="598488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输入</a:t>
              </a:r>
            </a:p>
          </p:txBody>
        </p:sp>
        <p:cxnSp>
          <p:nvCxnSpPr>
            <p:cNvPr id="62" name="直接连接符 61"/>
            <p:cNvCxnSpPr/>
            <p:nvPr/>
          </p:nvCxnSpPr>
          <p:spPr bwMode="auto">
            <a:xfrm>
              <a:off x="3455988" y="2289210"/>
              <a:ext cx="930275" cy="26037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213" name="矩形 34"/>
            <p:cNvSpPr>
              <a:spLocks noChangeArrowheads="1"/>
            </p:cNvSpPr>
            <p:nvPr/>
          </p:nvSpPr>
          <p:spPr bwMode="auto">
            <a:xfrm>
              <a:off x="3971126" y="3565698"/>
              <a:ext cx="300038" cy="23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2D83F4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●</a:t>
              </a:r>
            </a:p>
          </p:txBody>
        </p:sp>
      </p:grpSp>
      <p:sp>
        <p:nvSpPr>
          <p:cNvPr id="64" name="矩形 63"/>
          <p:cNvSpPr/>
          <p:nvPr/>
        </p:nvSpPr>
        <p:spPr>
          <a:xfrm>
            <a:off x="7345363" y="2754313"/>
            <a:ext cx="1489075" cy="4000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aa</a:t>
            </a:r>
            <a:r>
              <a:rPr kumimoji="0" lang="en-US" altLang="zh-CN" sz="20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bb</a:t>
            </a:r>
            <a:r>
              <a:rPr kumimoji="0" lang="en-US" altLang="zh-CN" sz="20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cc</a:t>
            </a:r>
            <a:r>
              <a:rPr kumimoji="0" lang="en-US" altLang="zh-CN" sz="20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endParaRPr kumimoji="0" lang="zh-CN" altLang="en-US" sz="2000" b="1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542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Grp="1" noChangeArrowheads="1"/>
          </p:cNvSpPr>
          <p:nvPr>
            <p:ph idx="1"/>
          </p:nvPr>
        </p:nvSpPr>
        <p:spPr>
          <a:xfrm>
            <a:off x="442913" y="1336675"/>
            <a:ext cx="1485900" cy="917575"/>
          </a:xfrm>
        </p:spPr>
        <p:txBody>
          <a:bodyPr/>
          <a:lstStyle/>
          <a:p>
            <a:pPr eaLnBrk="1" hangingPunct="1">
              <a:buClrTx/>
              <a:buFont typeface="Wingdings" pitchFamily="2" charset="2"/>
              <a:buChar char="Ø"/>
              <a:defRPr/>
            </a:pPr>
            <a:r>
              <a:rPr lang="zh-CN" altLang="en-US" sz="3000" b="1" dirty="0">
                <a:solidFill>
                  <a:schemeClr val="tx1"/>
                </a:solidFill>
                <a:latin typeface="+mn-ea"/>
              </a:rPr>
              <a:t>例</a:t>
            </a:r>
            <a:r>
              <a:rPr lang="en-US" altLang="zh-CN" sz="3000" b="1" dirty="0">
                <a:solidFill>
                  <a:schemeClr val="tx1"/>
                </a:solidFill>
                <a:latin typeface="+mn-ea"/>
              </a:rPr>
              <a:t>1</a:t>
            </a:r>
            <a:endParaRPr lang="zh-CN" altLang="en-US" sz="3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3.6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从</a:t>
            </a:r>
            <a:r>
              <a:rPr lang="en-US" altLang="zh-CN" sz="3000" i="1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NFA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到</a:t>
            </a:r>
            <a:r>
              <a:rPr lang="en-US" altLang="zh-CN" sz="3000" i="1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DFA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的转换</a:t>
            </a:r>
          </a:p>
        </p:txBody>
      </p:sp>
      <p:sp>
        <p:nvSpPr>
          <p:cNvPr id="92164" name="Rectangle 48"/>
          <p:cNvSpPr>
            <a:spLocks noChangeArrowheads="1"/>
          </p:cNvSpPr>
          <p:nvPr/>
        </p:nvSpPr>
        <p:spPr bwMode="auto">
          <a:xfrm>
            <a:off x="1897063" y="1406525"/>
            <a:ext cx="647700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NFA</a:t>
            </a:r>
            <a:r>
              <a:rPr kumimoji="0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：</a:t>
            </a:r>
          </a:p>
        </p:txBody>
      </p:sp>
      <p:grpSp>
        <p:nvGrpSpPr>
          <p:cNvPr id="2" name="组合 6"/>
          <p:cNvGrpSpPr>
            <a:grpSpLocks/>
          </p:cNvGrpSpPr>
          <p:nvPr/>
        </p:nvGrpSpPr>
        <p:grpSpPr bwMode="auto">
          <a:xfrm>
            <a:off x="6215063" y="3859213"/>
            <a:ext cx="504825" cy="500062"/>
            <a:chOff x="4107105" y="3856684"/>
            <a:chExt cx="504760" cy="500915"/>
          </a:xfrm>
        </p:grpSpPr>
        <p:sp>
          <p:nvSpPr>
            <p:cNvPr id="92254" name="Freeform 19"/>
            <p:cNvSpPr>
              <a:spLocks/>
            </p:cNvSpPr>
            <p:nvPr/>
          </p:nvSpPr>
          <p:spPr bwMode="auto">
            <a:xfrm>
              <a:off x="4168999" y="4132397"/>
              <a:ext cx="382539" cy="225202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55" name="Rectangle 20"/>
            <p:cNvSpPr>
              <a:spLocks noChangeArrowheads="1"/>
            </p:cNvSpPr>
            <p:nvPr/>
          </p:nvSpPr>
          <p:spPr bwMode="auto">
            <a:xfrm>
              <a:off x="4107105" y="3856684"/>
              <a:ext cx="504760" cy="2156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</p:grpSp>
      <p:grpSp>
        <p:nvGrpSpPr>
          <p:cNvPr id="3" name="组合 8"/>
          <p:cNvGrpSpPr>
            <a:grpSpLocks/>
          </p:cNvGrpSpPr>
          <p:nvPr/>
        </p:nvGrpSpPr>
        <p:grpSpPr bwMode="auto">
          <a:xfrm>
            <a:off x="7358063" y="3857625"/>
            <a:ext cx="504825" cy="512763"/>
            <a:chOff x="5261066" y="3856540"/>
            <a:chExt cx="504760" cy="512424"/>
          </a:xfrm>
        </p:grpSpPr>
        <p:sp>
          <p:nvSpPr>
            <p:cNvPr id="92252" name="Freeform 30"/>
            <p:cNvSpPr>
              <a:spLocks/>
            </p:cNvSpPr>
            <p:nvPr/>
          </p:nvSpPr>
          <p:spPr bwMode="auto">
            <a:xfrm>
              <a:off x="5311865" y="4143762"/>
              <a:ext cx="382538" cy="225202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53" name="Rectangle 31"/>
            <p:cNvSpPr>
              <a:spLocks noChangeArrowheads="1"/>
            </p:cNvSpPr>
            <p:nvPr/>
          </p:nvSpPr>
          <p:spPr bwMode="auto">
            <a:xfrm>
              <a:off x="5261066" y="3856540"/>
              <a:ext cx="504760" cy="2156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c</a:t>
              </a:r>
            </a:p>
          </p:txBody>
        </p:sp>
      </p:grp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4357688" y="4302125"/>
            <a:ext cx="1273175" cy="592138"/>
            <a:chOff x="2207112" y="4300037"/>
            <a:chExt cx="1272994" cy="593390"/>
          </a:xfrm>
        </p:grpSpPr>
        <p:sp>
          <p:nvSpPr>
            <p:cNvPr id="92249" name="Line 13"/>
            <p:cNvSpPr>
              <a:spLocks noChangeShapeType="1"/>
            </p:cNvSpPr>
            <p:nvPr/>
          </p:nvSpPr>
          <p:spPr bwMode="auto">
            <a:xfrm>
              <a:off x="2207112" y="4624137"/>
              <a:ext cx="6492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50" name="Rectangle 14"/>
            <p:cNvSpPr>
              <a:spLocks noChangeArrowheads="1"/>
            </p:cNvSpPr>
            <p:nvPr/>
          </p:nvSpPr>
          <p:spPr bwMode="auto">
            <a:xfrm>
              <a:off x="2235683" y="4300037"/>
              <a:ext cx="504760" cy="2156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</a:p>
          </p:txBody>
        </p:sp>
        <p:sp>
          <p:nvSpPr>
            <p:cNvPr id="9" name="Oval 10"/>
            <p:cNvSpPr>
              <a:spLocks noChangeArrowheads="1"/>
            </p:cNvSpPr>
            <p:nvPr/>
          </p:nvSpPr>
          <p:spPr bwMode="auto">
            <a:xfrm>
              <a:off x="2873767" y="4357308"/>
              <a:ext cx="606339" cy="53611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A,B</a:t>
              </a:r>
            </a:p>
          </p:txBody>
        </p:sp>
      </p:grpSp>
      <p:grpSp>
        <p:nvGrpSpPr>
          <p:cNvPr id="5" name="组合 5"/>
          <p:cNvGrpSpPr>
            <a:grpSpLocks/>
          </p:cNvGrpSpPr>
          <p:nvPr/>
        </p:nvGrpSpPr>
        <p:grpSpPr bwMode="auto">
          <a:xfrm>
            <a:off x="5643563" y="4287838"/>
            <a:ext cx="1092200" cy="606425"/>
            <a:chOff x="3530916" y="4286990"/>
            <a:chExt cx="1092050" cy="606437"/>
          </a:xfrm>
        </p:grpSpPr>
        <p:sp>
          <p:nvSpPr>
            <p:cNvPr id="92246" name="Line 16"/>
            <p:cNvSpPr>
              <a:spLocks noChangeShapeType="1"/>
            </p:cNvSpPr>
            <p:nvPr/>
          </p:nvSpPr>
          <p:spPr bwMode="auto">
            <a:xfrm>
              <a:off x="3530916" y="4624137"/>
              <a:ext cx="5047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47" name="Rectangle 17"/>
            <p:cNvSpPr>
              <a:spLocks noChangeArrowheads="1"/>
            </p:cNvSpPr>
            <p:nvPr/>
          </p:nvSpPr>
          <p:spPr bwMode="auto">
            <a:xfrm>
              <a:off x="3530916" y="4286990"/>
              <a:ext cx="504760" cy="2156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  <p:sp>
          <p:nvSpPr>
            <p:cNvPr id="11" name="Oval 10"/>
            <p:cNvSpPr>
              <a:spLocks noChangeArrowheads="1"/>
            </p:cNvSpPr>
            <p:nvPr/>
          </p:nvSpPr>
          <p:spPr bwMode="auto">
            <a:xfrm>
              <a:off x="4035672" y="4358428"/>
              <a:ext cx="587294" cy="53499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B,C</a:t>
              </a:r>
            </a:p>
          </p:txBody>
        </p:sp>
      </p:grpSp>
      <p:grpSp>
        <p:nvGrpSpPr>
          <p:cNvPr id="6" name="组合 7"/>
          <p:cNvGrpSpPr>
            <a:grpSpLocks/>
          </p:cNvGrpSpPr>
          <p:nvPr/>
        </p:nvGrpSpPr>
        <p:grpSpPr bwMode="auto">
          <a:xfrm>
            <a:off x="6735763" y="4287838"/>
            <a:ext cx="1154112" cy="714375"/>
            <a:chOff x="4683290" y="4287071"/>
            <a:chExt cx="1153963" cy="713504"/>
          </a:xfrm>
        </p:grpSpPr>
        <p:sp>
          <p:nvSpPr>
            <p:cNvPr id="92242" name="Line 21"/>
            <p:cNvSpPr>
              <a:spLocks noChangeShapeType="1"/>
            </p:cNvSpPr>
            <p:nvPr/>
          </p:nvSpPr>
          <p:spPr bwMode="auto">
            <a:xfrm>
              <a:off x="4692816" y="4636053"/>
              <a:ext cx="5047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43" name="Rectangle 22"/>
            <p:cNvSpPr>
              <a:spLocks noChangeArrowheads="1"/>
            </p:cNvSpPr>
            <p:nvPr/>
          </p:nvSpPr>
          <p:spPr bwMode="auto">
            <a:xfrm>
              <a:off x="4683290" y="4287071"/>
              <a:ext cx="504760" cy="2156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c</a:t>
              </a:r>
            </a:p>
          </p:txBody>
        </p:sp>
        <p:sp>
          <p:nvSpPr>
            <p:cNvPr id="92236" name="Oval 10"/>
            <p:cNvSpPr>
              <a:spLocks noChangeArrowheads="1"/>
            </p:cNvSpPr>
            <p:nvPr/>
          </p:nvSpPr>
          <p:spPr bwMode="auto">
            <a:xfrm>
              <a:off x="5259478" y="4429772"/>
              <a:ext cx="506348" cy="49945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C,D</a:t>
              </a:r>
            </a:p>
          </p:txBody>
        </p:sp>
        <p:sp>
          <p:nvSpPr>
            <p:cNvPr id="92245" name="Oval 45"/>
            <p:cNvSpPr>
              <a:spLocks noChangeArrowheads="1"/>
            </p:cNvSpPr>
            <p:nvPr/>
          </p:nvSpPr>
          <p:spPr bwMode="auto">
            <a:xfrm>
              <a:off x="5188050" y="4358423"/>
              <a:ext cx="649203" cy="64215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" name="组合 4"/>
          <p:cNvGrpSpPr>
            <a:grpSpLocks/>
          </p:cNvGrpSpPr>
          <p:nvPr/>
        </p:nvGrpSpPr>
        <p:grpSpPr bwMode="auto">
          <a:xfrm>
            <a:off x="5072063" y="3859213"/>
            <a:ext cx="504825" cy="503237"/>
            <a:chOff x="2883300" y="3904377"/>
            <a:chExt cx="504760" cy="504090"/>
          </a:xfrm>
        </p:grpSpPr>
        <p:sp>
          <p:nvSpPr>
            <p:cNvPr id="92240" name="Freeform 19"/>
            <p:cNvSpPr>
              <a:spLocks/>
            </p:cNvSpPr>
            <p:nvPr/>
          </p:nvSpPr>
          <p:spPr bwMode="auto">
            <a:xfrm>
              <a:off x="2945205" y="4183265"/>
              <a:ext cx="382538" cy="225202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41" name="Rectangle 20"/>
            <p:cNvSpPr>
              <a:spLocks noChangeArrowheads="1"/>
            </p:cNvSpPr>
            <p:nvPr/>
          </p:nvSpPr>
          <p:spPr bwMode="auto">
            <a:xfrm>
              <a:off x="2883300" y="3904377"/>
              <a:ext cx="504760" cy="2156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</a:p>
          </p:txBody>
        </p:sp>
      </p:grpSp>
      <p:grpSp>
        <p:nvGrpSpPr>
          <p:cNvPr id="8" name="组合 1"/>
          <p:cNvGrpSpPr>
            <a:grpSpLocks/>
          </p:cNvGrpSpPr>
          <p:nvPr/>
        </p:nvGrpSpPr>
        <p:grpSpPr bwMode="auto">
          <a:xfrm>
            <a:off x="1928813" y="4359275"/>
            <a:ext cx="2428875" cy="509588"/>
            <a:chOff x="-306523" y="4358493"/>
            <a:chExt cx="2429448" cy="508720"/>
          </a:xfrm>
        </p:grpSpPr>
        <p:sp>
          <p:nvSpPr>
            <p:cNvPr id="12" name="Oval 10"/>
            <p:cNvSpPr>
              <a:spLocks noChangeArrowheads="1"/>
            </p:cNvSpPr>
            <p:nvPr/>
          </p:nvSpPr>
          <p:spPr bwMode="auto">
            <a:xfrm>
              <a:off x="1557642" y="4358493"/>
              <a:ext cx="565283" cy="50872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</a:p>
          </p:txBody>
        </p:sp>
        <p:sp>
          <p:nvSpPr>
            <p:cNvPr id="92237" name="Rectangle 49"/>
            <p:cNvSpPr>
              <a:spLocks noChangeArrowheads="1"/>
            </p:cNvSpPr>
            <p:nvPr/>
          </p:nvSpPr>
          <p:spPr bwMode="auto">
            <a:xfrm>
              <a:off x="-306523" y="4389589"/>
              <a:ext cx="647615" cy="378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DFA</a:t>
              </a:r>
              <a:r>
                <a:rPr kumimoji="0" lang="zh-CN" altLang="en-US" sz="3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：</a:t>
              </a:r>
            </a:p>
          </p:txBody>
        </p:sp>
        <p:sp>
          <p:nvSpPr>
            <p:cNvPr id="92238" name="Line 21"/>
            <p:cNvSpPr>
              <a:spLocks noChangeShapeType="1"/>
            </p:cNvSpPr>
            <p:nvPr/>
          </p:nvSpPr>
          <p:spPr bwMode="auto">
            <a:xfrm flipV="1">
              <a:off x="1276087" y="4629330"/>
              <a:ext cx="252431" cy="672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39" name="Rectangle 22"/>
            <p:cNvSpPr>
              <a:spLocks noChangeArrowheads="1"/>
            </p:cNvSpPr>
            <p:nvPr/>
          </p:nvSpPr>
          <p:spPr bwMode="auto">
            <a:xfrm>
              <a:off x="693838" y="4498273"/>
              <a:ext cx="504861" cy="2156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5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</p:grpSp>
      <p:grpSp>
        <p:nvGrpSpPr>
          <p:cNvPr id="92172" name="组合 56"/>
          <p:cNvGrpSpPr>
            <a:grpSpLocks/>
          </p:cNvGrpSpPr>
          <p:nvPr/>
        </p:nvGrpSpPr>
        <p:grpSpPr bwMode="auto">
          <a:xfrm>
            <a:off x="2754313" y="642938"/>
            <a:ext cx="5175250" cy="1285875"/>
            <a:chOff x="2338388" y="1193800"/>
            <a:chExt cx="3889375" cy="755650"/>
          </a:xfrm>
        </p:grpSpPr>
        <p:grpSp>
          <p:nvGrpSpPr>
            <p:cNvPr id="92216" name="Group 4"/>
            <p:cNvGrpSpPr>
              <a:grpSpLocks/>
            </p:cNvGrpSpPr>
            <p:nvPr/>
          </p:nvGrpSpPr>
          <p:grpSpPr bwMode="auto">
            <a:xfrm>
              <a:off x="3060700" y="1193800"/>
              <a:ext cx="3167063" cy="755650"/>
              <a:chOff x="1247" y="2478"/>
              <a:chExt cx="1995" cy="634"/>
            </a:xfrm>
          </p:grpSpPr>
          <p:sp>
            <p:nvSpPr>
              <p:cNvPr id="14" name="Oval 10"/>
              <p:cNvSpPr>
                <a:spLocks noChangeArrowheads="1"/>
              </p:cNvSpPr>
              <p:nvPr/>
            </p:nvSpPr>
            <p:spPr bwMode="auto">
              <a:xfrm>
                <a:off x="1293" y="2842"/>
                <a:ext cx="227" cy="22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  <p:sp>
            <p:nvSpPr>
              <p:cNvPr id="92220" name="Freeform 11"/>
              <p:cNvSpPr>
                <a:spLocks/>
              </p:cNvSpPr>
              <p:nvPr/>
            </p:nvSpPr>
            <p:spPr bwMode="auto">
              <a:xfrm>
                <a:off x="1310" y="2662"/>
                <a:ext cx="241" cy="189"/>
              </a:xfrm>
              <a:custGeom>
                <a:avLst/>
                <a:gdLst>
                  <a:gd name="T0" fmla="*/ 52 w 241"/>
                  <a:gd name="T1" fmla="*/ 189 h 189"/>
                  <a:gd name="T2" fmla="*/ 7 w 241"/>
                  <a:gd name="T3" fmla="*/ 143 h 189"/>
                  <a:gd name="T4" fmla="*/ 97 w 241"/>
                  <a:gd name="T5" fmla="*/ 7 h 189"/>
                  <a:gd name="T6" fmla="*/ 233 w 241"/>
                  <a:gd name="T7" fmla="*/ 98 h 189"/>
                  <a:gd name="T8" fmla="*/ 143 w 241"/>
                  <a:gd name="T9" fmla="*/ 189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2221" name="Rectangle 12"/>
              <p:cNvSpPr>
                <a:spLocks noChangeArrowheads="1"/>
              </p:cNvSpPr>
              <p:nvPr/>
            </p:nvSpPr>
            <p:spPr bwMode="auto">
              <a:xfrm>
                <a:off x="1247" y="2479"/>
                <a:ext cx="318" cy="1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  <p:sp>
            <p:nvSpPr>
              <p:cNvPr id="92222" name="Line 13"/>
              <p:cNvSpPr>
                <a:spLocks noChangeShapeType="1"/>
              </p:cNvSpPr>
              <p:nvPr/>
            </p:nvSpPr>
            <p:spPr bwMode="auto">
              <a:xfrm>
                <a:off x="1519" y="2978"/>
                <a:ext cx="31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2223" name="Rectangle 14"/>
              <p:cNvSpPr>
                <a:spLocks noChangeArrowheads="1"/>
              </p:cNvSpPr>
              <p:nvPr/>
            </p:nvSpPr>
            <p:spPr bwMode="auto">
              <a:xfrm>
                <a:off x="1519" y="2755"/>
                <a:ext cx="318" cy="1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  <p:sp>
            <p:nvSpPr>
              <p:cNvPr id="15" name="Oval 15"/>
              <p:cNvSpPr>
                <a:spLocks noChangeArrowheads="1"/>
              </p:cNvSpPr>
              <p:nvPr/>
            </p:nvSpPr>
            <p:spPr bwMode="auto">
              <a:xfrm>
                <a:off x="1837" y="2842"/>
                <a:ext cx="227" cy="22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</a:p>
            </p:txBody>
          </p:sp>
          <p:sp>
            <p:nvSpPr>
              <p:cNvPr id="92225" name="Line 16"/>
              <p:cNvSpPr>
                <a:spLocks noChangeShapeType="1"/>
              </p:cNvSpPr>
              <p:nvPr/>
            </p:nvSpPr>
            <p:spPr bwMode="auto">
              <a:xfrm>
                <a:off x="2063" y="2978"/>
                <a:ext cx="31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2226" name="Rectangle 17"/>
              <p:cNvSpPr>
                <a:spLocks noChangeArrowheads="1"/>
              </p:cNvSpPr>
              <p:nvPr/>
            </p:nvSpPr>
            <p:spPr bwMode="auto">
              <a:xfrm>
                <a:off x="2063" y="2751"/>
                <a:ext cx="318" cy="1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</a:p>
            </p:txBody>
          </p:sp>
          <p:sp>
            <p:nvSpPr>
              <p:cNvPr id="92219" name="Oval 18"/>
              <p:cNvSpPr>
                <a:spLocks noChangeArrowheads="1"/>
              </p:cNvSpPr>
              <p:nvPr/>
            </p:nvSpPr>
            <p:spPr bwMode="auto">
              <a:xfrm>
                <a:off x="2381" y="2842"/>
                <a:ext cx="227" cy="22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C</a:t>
                </a:r>
              </a:p>
            </p:txBody>
          </p:sp>
          <p:sp>
            <p:nvSpPr>
              <p:cNvPr id="92228" name="Freeform 19"/>
              <p:cNvSpPr>
                <a:spLocks/>
              </p:cNvSpPr>
              <p:nvPr/>
            </p:nvSpPr>
            <p:spPr bwMode="auto">
              <a:xfrm>
                <a:off x="1851" y="2657"/>
                <a:ext cx="241" cy="189"/>
              </a:xfrm>
              <a:custGeom>
                <a:avLst/>
                <a:gdLst>
                  <a:gd name="T0" fmla="*/ 52 w 241"/>
                  <a:gd name="T1" fmla="*/ 189 h 189"/>
                  <a:gd name="T2" fmla="*/ 7 w 241"/>
                  <a:gd name="T3" fmla="*/ 143 h 189"/>
                  <a:gd name="T4" fmla="*/ 97 w 241"/>
                  <a:gd name="T5" fmla="*/ 7 h 189"/>
                  <a:gd name="T6" fmla="*/ 233 w 241"/>
                  <a:gd name="T7" fmla="*/ 98 h 189"/>
                  <a:gd name="T8" fmla="*/ 143 w 241"/>
                  <a:gd name="T9" fmla="*/ 189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2229" name="Rectangle 20"/>
              <p:cNvSpPr>
                <a:spLocks noChangeArrowheads="1"/>
              </p:cNvSpPr>
              <p:nvPr/>
            </p:nvSpPr>
            <p:spPr bwMode="auto">
              <a:xfrm>
                <a:off x="1791" y="2478"/>
                <a:ext cx="318" cy="1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</a:p>
            </p:txBody>
          </p:sp>
          <p:sp>
            <p:nvSpPr>
              <p:cNvPr id="92230" name="Line 21"/>
              <p:cNvSpPr>
                <a:spLocks noChangeShapeType="1"/>
              </p:cNvSpPr>
              <p:nvPr/>
            </p:nvSpPr>
            <p:spPr bwMode="auto">
              <a:xfrm>
                <a:off x="2608" y="2978"/>
                <a:ext cx="31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2231" name="Rectangle 22"/>
              <p:cNvSpPr>
                <a:spLocks noChangeArrowheads="1"/>
              </p:cNvSpPr>
              <p:nvPr/>
            </p:nvSpPr>
            <p:spPr bwMode="auto">
              <a:xfrm>
                <a:off x="2608" y="2750"/>
                <a:ext cx="318" cy="1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c</a:t>
                </a:r>
              </a:p>
            </p:txBody>
          </p:sp>
          <p:sp>
            <p:nvSpPr>
              <p:cNvPr id="92224" name="Oval 23"/>
              <p:cNvSpPr>
                <a:spLocks noChangeArrowheads="1"/>
              </p:cNvSpPr>
              <p:nvPr/>
            </p:nvSpPr>
            <p:spPr bwMode="auto">
              <a:xfrm>
                <a:off x="2971" y="2840"/>
                <a:ext cx="227" cy="229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D</a:t>
                </a:r>
              </a:p>
            </p:txBody>
          </p:sp>
          <p:sp>
            <p:nvSpPr>
              <p:cNvPr id="92233" name="Freeform 30"/>
              <p:cNvSpPr>
                <a:spLocks/>
              </p:cNvSpPr>
              <p:nvPr/>
            </p:nvSpPr>
            <p:spPr bwMode="auto">
              <a:xfrm>
                <a:off x="2392" y="2662"/>
                <a:ext cx="241" cy="189"/>
              </a:xfrm>
              <a:custGeom>
                <a:avLst/>
                <a:gdLst>
                  <a:gd name="T0" fmla="*/ 52 w 241"/>
                  <a:gd name="T1" fmla="*/ 189 h 189"/>
                  <a:gd name="T2" fmla="*/ 7 w 241"/>
                  <a:gd name="T3" fmla="*/ 143 h 189"/>
                  <a:gd name="T4" fmla="*/ 97 w 241"/>
                  <a:gd name="T5" fmla="*/ 7 h 189"/>
                  <a:gd name="T6" fmla="*/ 233 w 241"/>
                  <a:gd name="T7" fmla="*/ 98 h 189"/>
                  <a:gd name="T8" fmla="*/ 143 w 241"/>
                  <a:gd name="T9" fmla="*/ 189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2234" name="Rectangle 31"/>
              <p:cNvSpPr>
                <a:spLocks noChangeArrowheads="1"/>
              </p:cNvSpPr>
              <p:nvPr/>
            </p:nvSpPr>
            <p:spPr bwMode="auto">
              <a:xfrm>
                <a:off x="2336" y="2478"/>
                <a:ext cx="318" cy="1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c</a:t>
                </a:r>
              </a:p>
            </p:txBody>
          </p:sp>
          <p:sp>
            <p:nvSpPr>
              <p:cNvPr id="92235" name="Oval 39"/>
              <p:cNvSpPr>
                <a:spLocks noChangeArrowheads="1"/>
              </p:cNvSpPr>
              <p:nvPr/>
            </p:nvSpPr>
            <p:spPr bwMode="auto">
              <a:xfrm>
                <a:off x="2925" y="2795"/>
                <a:ext cx="317" cy="317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2217" name="Rectangle 22"/>
            <p:cNvSpPr>
              <a:spLocks noChangeArrowheads="1"/>
            </p:cNvSpPr>
            <p:nvPr/>
          </p:nvSpPr>
          <p:spPr bwMode="auto">
            <a:xfrm>
              <a:off x="2338388" y="1658938"/>
              <a:ext cx="504825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5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sp>
          <p:nvSpPr>
            <p:cNvPr id="92218" name="Line 21"/>
            <p:cNvSpPr>
              <a:spLocks noChangeShapeType="1"/>
            </p:cNvSpPr>
            <p:nvPr/>
          </p:nvSpPr>
          <p:spPr bwMode="auto">
            <a:xfrm flipV="1">
              <a:off x="2843213" y="1765300"/>
              <a:ext cx="254000" cy="79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2173" name="组合 5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6" name="五边形 5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15" name="五边形 5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59" name="Group 18"/>
          <p:cNvGraphicFramePr>
            <a:graphicFrameLocks noGrp="1"/>
          </p:cNvGraphicFramePr>
          <p:nvPr/>
        </p:nvGraphicFramePr>
        <p:xfrm>
          <a:off x="3484563" y="2235200"/>
          <a:ext cx="3659187" cy="1563690"/>
        </p:xfrm>
        <a:graphic>
          <a:graphicData uri="http://schemas.openxmlformats.org/drawingml/2006/table">
            <a:tbl>
              <a:tblPr/>
              <a:tblGrid>
                <a:gridCol w="96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3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2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7" marR="91437" marT="34186" marB="341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a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7" marR="91437" marT="34186" marB="341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b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7" marR="91437" marT="34186" marB="341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c</a:t>
                      </a:r>
                      <a:endParaRPr kumimoji="0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7" marR="91437" marT="34186" marB="341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3" name="组合 11"/>
          <p:cNvGrpSpPr>
            <a:grpSpLocks/>
          </p:cNvGrpSpPr>
          <p:nvPr/>
        </p:nvGrpSpPr>
        <p:grpSpPr bwMode="auto">
          <a:xfrm>
            <a:off x="3413125" y="1785938"/>
            <a:ext cx="2801938" cy="2009775"/>
            <a:chOff x="3362325" y="1785927"/>
            <a:chExt cx="2801938" cy="2009959"/>
          </a:xfrm>
        </p:grpSpPr>
        <p:sp>
          <p:nvSpPr>
            <p:cNvPr id="58" name="矩形 57"/>
            <p:cNvSpPr/>
            <p:nvPr/>
          </p:nvSpPr>
          <p:spPr>
            <a:xfrm>
              <a:off x="4508500" y="1785927"/>
              <a:ext cx="1655763" cy="4858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itchFamily="49" charset="-122"/>
                  <a:ea typeface="楷体" pitchFamily="49" charset="-122"/>
                  <a:cs typeface="+mn-cs"/>
                </a:rPr>
                <a:t>转换表</a:t>
              </a:r>
            </a:p>
          </p:txBody>
        </p:sp>
        <p:sp>
          <p:nvSpPr>
            <p:cNvPr id="92210" name="矩形 1"/>
            <p:cNvSpPr>
              <a:spLocks noChangeArrowheads="1"/>
            </p:cNvSpPr>
            <p:nvPr/>
          </p:nvSpPr>
          <p:spPr bwMode="auto">
            <a:xfrm>
              <a:off x="3362325" y="2294829"/>
              <a:ext cx="598488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状态</a:t>
              </a:r>
            </a:p>
          </p:txBody>
        </p:sp>
        <p:sp>
          <p:nvSpPr>
            <p:cNvPr id="92211" name="矩形 36"/>
            <p:cNvSpPr>
              <a:spLocks noChangeArrowheads="1"/>
            </p:cNvSpPr>
            <p:nvPr/>
          </p:nvSpPr>
          <p:spPr bwMode="auto">
            <a:xfrm>
              <a:off x="3867150" y="2171726"/>
              <a:ext cx="598488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输入</a:t>
              </a:r>
            </a:p>
          </p:txBody>
        </p:sp>
        <p:cxnSp>
          <p:nvCxnSpPr>
            <p:cNvPr id="62" name="直接连接符 61"/>
            <p:cNvCxnSpPr/>
            <p:nvPr/>
          </p:nvCxnSpPr>
          <p:spPr bwMode="auto">
            <a:xfrm>
              <a:off x="3455988" y="2289210"/>
              <a:ext cx="930275" cy="26037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213" name="矩形 34"/>
            <p:cNvSpPr>
              <a:spLocks noChangeArrowheads="1"/>
            </p:cNvSpPr>
            <p:nvPr/>
          </p:nvSpPr>
          <p:spPr bwMode="auto">
            <a:xfrm>
              <a:off x="3971126" y="3565698"/>
              <a:ext cx="300038" cy="23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2D83F4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●</a:t>
              </a:r>
            </a:p>
          </p:txBody>
        </p:sp>
      </p:grpSp>
      <p:sp>
        <p:nvSpPr>
          <p:cNvPr id="64" name="矩形 63"/>
          <p:cNvSpPr/>
          <p:nvPr/>
        </p:nvSpPr>
        <p:spPr>
          <a:xfrm>
            <a:off x="7345363" y="2754313"/>
            <a:ext cx="1489075" cy="4000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aa</a:t>
            </a:r>
            <a:r>
              <a:rPr kumimoji="0" lang="en-US" altLang="zh-CN" sz="20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bb</a:t>
            </a:r>
            <a:r>
              <a:rPr kumimoji="0" lang="en-US" altLang="zh-CN" sz="20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cc</a:t>
            </a:r>
            <a:r>
              <a:rPr kumimoji="0" lang="en-US" altLang="zh-CN" sz="20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endParaRPr kumimoji="0" lang="zh-CN" altLang="en-US" sz="2000" b="1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803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20900</TotalTime>
  <Words>3391</Words>
  <Application>Microsoft Office PowerPoint</Application>
  <PresentationFormat>全屏显示(16:9)</PresentationFormat>
  <Paragraphs>741</Paragraphs>
  <Slides>48</Slides>
  <Notes>48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48</vt:i4>
      </vt:variant>
    </vt:vector>
  </HeadingPairs>
  <TitlesOfParts>
    <vt:vector size="62" baseType="lpstr">
      <vt:lpstr>华文楷体</vt:lpstr>
      <vt:lpstr>楷体</vt:lpstr>
      <vt:lpstr>楷体_GB2312</vt:lpstr>
      <vt:lpstr>宋体</vt:lpstr>
      <vt:lpstr>微软雅黑</vt:lpstr>
      <vt:lpstr>Arial</vt:lpstr>
      <vt:lpstr>Calibri</vt:lpstr>
      <vt:lpstr>Candara</vt:lpstr>
      <vt:lpstr>Symbol</vt:lpstr>
      <vt:lpstr>Tahoma</vt:lpstr>
      <vt:lpstr>Times New Roman</vt:lpstr>
      <vt:lpstr>Wingdings</vt:lpstr>
      <vt:lpstr>波形</vt:lpstr>
      <vt:lpstr>1_波形</vt:lpstr>
      <vt:lpstr>PowerPoint 演示文稿</vt:lpstr>
      <vt:lpstr>内容回顾</vt:lpstr>
      <vt:lpstr>主要内容</vt:lpstr>
      <vt:lpstr>3.1 正则表达式</vt:lpstr>
      <vt:lpstr>正则表达式的递归定义</vt:lpstr>
      <vt:lpstr>例</vt:lpstr>
      <vt:lpstr>例：C语言无符号整数的RE</vt:lpstr>
      <vt:lpstr>正则语言</vt:lpstr>
      <vt:lpstr>RE的代数定律</vt:lpstr>
      <vt:lpstr>正则文法与正则表达式等价</vt:lpstr>
      <vt:lpstr>3.2 正则定义（  Regular Definition）</vt:lpstr>
      <vt:lpstr>例1</vt:lpstr>
      <vt:lpstr>例2</vt:lpstr>
      <vt:lpstr>3.3 有穷自动机 </vt:lpstr>
      <vt:lpstr>FA的典型例子</vt:lpstr>
      <vt:lpstr>PowerPoint 演示文稿</vt:lpstr>
      <vt:lpstr>PowerPoint 演示文稿</vt:lpstr>
      <vt:lpstr>PowerPoint 演示文稿</vt:lpstr>
      <vt:lpstr>FA定义（接 收）的 语言</vt:lpstr>
      <vt:lpstr> 最长子串匹配原则(Longest String Matching Principle)</vt:lpstr>
      <vt:lpstr>3.4 有穷自动机的分类</vt:lpstr>
      <vt:lpstr>确定的有穷自动机 (DFA) </vt:lpstr>
      <vt:lpstr>例：一个DFA</vt:lpstr>
      <vt:lpstr>非确定的有穷自动机(NFA) </vt:lpstr>
      <vt:lpstr>PowerPoint 演示文稿</vt:lpstr>
      <vt:lpstr>DFA和NFA的等价性</vt:lpstr>
      <vt:lpstr>例</vt:lpstr>
      <vt:lpstr>带有“ε-边”的 NFA</vt:lpstr>
      <vt:lpstr>带有和不带有“ε-边”的 NFA 的等价性</vt:lpstr>
      <vt:lpstr>DFA是否接受输入符号串x的算法实现</vt:lpstr>
      <vt:lpstr>3.5 从正则表达式到DFA</vt:lpstr>
      <vt:lpstr>根据RE 构造NFA</vt:lpstr>
      <vt:lpstr>PowerPoint 演示文稿</vt:lpstr>
      <vt:lpstr>例:r=(a|b)*abb 对应的NFA</vt:lpstr>
      <vt:lpstr>3.6 从NFA到DFA的转换</vt:lpstr>
      <vt:lpstr>例2：从带有ε-边的NFA到DFA的转换</vt:lpstr>
      <vt:lpstr>子集构造法（  subset construction）</vt:lpstr>
      <vt:lpstr> 例3.21：为正则表达式r=(a|b)*abb构造一个NFA，并转换为最小化的DFA</vt:lpstr>
      <vt:lpstr>PowerPoint 演示文稿</vt:lpstr>
      <vt:lpstr>PowerPoint 演示文稿</vt:lpstr>
      <vt:lpstr>计算 ε-closure (T )</vt:lpstr>
      <vt:lpstr>PowerPoint 演示文稿</vt:lpstr>
      <vt:lpstr>先复习书本：</vt:lpstr>
      <vt:lpstr>PowerPoint 演示文稿</vt:lpstr>
      <vt:lpstr>PowerPoint 演示文稿</vt:lpstr>
      <vt:lpstr>带有和不带有“ε-边”的 NFA 的等价性</vt:lpstr>
      <vt:lpstr>3.6 从NFA到DFA的转换</vt:lpstr>
      <vt:lpstr>3.6 从NFA到DFA的转换</vt:lpstr>
    </vt:vector>
  </TitlesOfParts>
  <Company>HIT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编译原理</dc:title>
  <dc:creator>jsx</dc:creator>
  <cp:lastModifiedBy>凌 妙根</cp:lastModifiedBy>
  <cp:revision>1381</cp:revision>
  <cp:lastPrinted>2017-09-13T06:25:29Z</cp:lastPrinted>
  <dcterms:created xsi:type="dcterms:W3CDTF">2003-07-09T14:46:46Z</dcterms:created>
  <dcterms:modified xsi:type="dcterms:W3CDTF">2025-09-21T16:29:54Z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5</vt:i4>
  </property>
</Properties>
</file>