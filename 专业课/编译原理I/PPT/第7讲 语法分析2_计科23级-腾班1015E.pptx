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7640" r:id="rId2"/>
    <p:sldMasterId id="2147487643" r:id="rId3"/>
    <p:sldMasterId id="2147488877" r:id="rId4"/>
  </p:sldMasterIdLst>
  <p:notesMasterIdLst>
    <p:notesMasterId r:id="rId46"/>
  </p:notesMasterIdLst>
  <p:handoutMasterIdLst>
    <p:handoutMasterId r:id="rId47"/>
  </p:handoutMasterIdLst>
  <p:sldIdLst>
    <p:sldId id="1142" r:id="rId5"/>
    <p:sldId id="1164" r:id="rId6"/>
    <p:sldId id="1171" r:id="rId7"/>
    <p:sldId id="1172" r:id="rId8"/>
    <p:sldId id="1173" r:id="rId9"/>
    <p:sldId id="1174" r:id="rId10"/>
    <p:sldId id="1166" r:id="rId11"/>
    <p:sldId id="1175" r:id="rId12"/>
    <p:sldId id="1168" r:id="rId13"/>
    <p:sldId id="1169" r:id="rId14"/>
    <p:sldId id="1170" r:id="rId15"/>
    <p:sldId id="1108" r:id="rId16"/>
    <p:sldId id="1109" r:id="rId17"/>
    <p:sldId id="1110" r:id="rId18"/>
    <p:sldId id="1111" r:id="rId19"/>
    <p:sldId id="1112" r:id="rId20"/>
    <p:sldId id="1176" r:id="rId21"/>
    <p:sldId id="1113" r:id="rId22"/>
    <p:sldId id="1145" r:id="rId23"/>
    <p:sldId id="1146" r:id="rId24"/>
    <p:sldId id="1147" r:id="rId25"/>
    <p:sldId id="1148" r:id="rId26"/>
    <p:sldId id="1149" r:id="rId27"/>
    <p:sldId id="1150" r:id="rId28"/>
    <p:sldId id="1151" r:id="rId29"/>
    <p:sldId id="1152" r:id="rId30"/>
    <p:sldId id="1153" r:id="rId31"/>
    <p:sldId id="1154" r:id="rId32"/>
    <p:sldId id="1155" r:id="rId33"/>
    <p:sldId id="1156" r:id="rId34"/>
    <p:sldId id="1157" r:id="rId35"/>
    <p:sldId id="1158" r:id="rId36"/>
    <p:sldId id="1159" r:id="rId37"/>
    <p:sldId id="1160" r:id="rId38"/>
    <p:sldId id="1161" r:id="rId39"/>
    <p:sldId id="1162" r:id="rId40"/>
    <p:sldId id="1163" r:id="rId41"/>
    <p:sldId id="1140" r:id="rId42"/>
    <p:sldId id="1165" r:id="rId43"/>
    <p:sldId id="1103" r:id="rId44"/>
    <p:sldId id="1177" r:id="rId45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FF"/>
    <a:srgbClr val="FF00FF"/>
    <a:srgbClr val="008000"/>
    <a:srgbClr val="FFCCCC"/>
    <a:srgbClr val="FF6600"/>
    <a:srgbClr val="00A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62217" autoAdjust="0"/>
  </p:normalViewPr>
  <p:slideViewPr>
    <p:cSldViewPr>
      <p:cViewPr varScale="1">
        <p:scale>
          <a:sx n="106" d="100"/>
          <a:sy n="106" d="100"/>
        </p:scale>
        <p:origin x="1734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D554987-3338-42E6-9CAB-7AE44C5736C1}" type="datetimeFigureOut">
              <a:rPr lang="zh-CN" altLang="en-US"/>
              <a:pPr>
                <a:defRPr/>
              </a:pPr>
              <a:t>2025/10/23</a:t>
            </a:fld>
            <a:endParaRPr lang="en-US" altLang="zh-CN"/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7D28DC-06ED-4800-806A-A157D585B7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969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fld id="{7BF71847-79C7-44F5-92B4-C2B42FCD21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8228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C7173F4-8972-4525-92C4-4B20B30A7ED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27077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1F9CE0-F86E-4CCA-B547-4040891BA489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67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E55DDF-35C2-46E9-9D29-B6052AE9AF79}" type="slidenum">
              <a:rPr lang="zh-CN" altLang="en-US" smtClean="0">
                <a:solidFill>
                  <a:srgbClr val="000000"/>
                </a:solidFill>
              </a:rPr>
              <a:pPr/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5212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3C0681-A32D-45ED-AFD9-34AABB67125B}" type="slidenum">
              <a:rPr lang="zh-CN" altLang="en-US" smtClean="0">
                <a:solidFill>
                  <a:srgbClr val="000000"/>
                </a:solidFill>
              </a:rPr>
              <a:pPr/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8451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EA7BABD-CEC0-4716-AA30-DF1093BD2E80}" type="slidenum">
              <a:rPr lang="zh-CN" altLang="en-US" smtClean="0">
                <a:solidFill>
                  <a:srgbClr val="000000"/>
                </a:solidFill>
              </a:rPr>
              <a:pPr/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830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521B56-AD6C-4096-90E8-74C2EED6575A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680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EFEB73-78D7-4E50-9A32-C10F0333843E}" type="slidenum">
              <a:rPr lang="zh-CN" altLang="en-US" smtClean="0">
                <a:solidFill>
                  <a:srgbClr val="000000"/>
                </a:solidFill>
              </a:rPr>
              <a:pPr/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093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521B56-AD6C-4096-90E8-74C2EED6575A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393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172FCD-D621-4AED-A110-152D38721203}" type="slidenum">
              <a:rPr lang="zh-CN" altLang="en-US" smtClean="0">
                <a:solidFill>
                  <a:srgbClr val="000000"/>
                </a:solidFill>
              </a:rPr>
              <a:pPr/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464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C54A671-74C1-4203-B5E4-883237131077}" type="slidenum">
              <a:rPr lang="zh-CN" altLang="en-US" smtClean="0">
                <a:solidFill>
                  <a:srgbClr val="000000"/>
                </a:solidFill>
              </a:rPr>
              <a:pPr/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764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0320E9E-7D44-4417-A5AD-74A48B55A653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716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CC37947-0641-4612-A065-B3E04F5BDB7A}" type="slidenum">
              <a:rPr lang="zh-CN" altLang="en-US" smtClean="0">
                <a:solidFill>
                  <a:srgbClr val="000000"/>
                </a:solidFill>
              </a:rPr>
              <a:pPr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4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36FDAB8-C722-4B0D-AD2A-4F28E8A61BD8}" type="slidenum">
              <a:rPr lang="zh-CN" altLang="en-US" smtClean="0">
                <a:solidFill>
                  <a:srgbClr val="000000"/>
                </a:solidFill>
              </a:rPr>
              <a:pPr/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54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971825-513D-4028-B30B-A74B345F0CE8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8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DA4814-4026-48E4-A7C4-09F9EC146FD6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381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A1401B4-A6F5-4D57-B205-26D91BBD6FFD}" type="slidenum">
              <a:rPr lang="zh-CN" altLang="en-US" smtClean="0">
                <a:solidFill>
                  <a:srgbClr val="000000"/>
                </a:solidFill>
              </a:rPr>
              <a:pPr/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618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172FCD-D621-4AED-A110-152D38721203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583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12EA74A-87DE-434A-AFFF-FA33FA73A291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7776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77E77C-D522-4D4D-A969-4132489CEFBB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2550" y="752475"/>
            <a:ext cx="6602413" cy="3714750"/>
          </a:xfrm>
          <a:ln w="12700" cap="flat">
            <a:solidFill>
              <a:schemeClr val="tx1"/>
            </a:solidFill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078" tIns="48038" rIns="96078" bIns="48038"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013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556DD2-730B-446F-BD19-FBB2A6C3B324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8092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4DCA57-83B1-48FD-95EC-0D9A2FE402DC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548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E2ABDB-D2C0-42CD-A5CC-52BF1D93B6C7}" type="slidenum">
              <a:rPr lang="zh-CN" altLang="en-US" smtClean="0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88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DD1265-13E9-4383-8EE8-27421BDA2854}" type="slidenum">
              <a:rPr lang="zh-CN" altLang="en-US" smtClean="0">
                <a:solidFill>
                  <a:srgbClr val="000000"/>
                </a:solidFill>
              </a:rPr>
              <a:pPr/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093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B45F38-D5A1-46DC-BE83-45C69B1C3ABF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18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71ACB6-009C-4B8E-B8EF-364BBC8A2725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44061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A9921C-83E0-495E-82EB-9C82E7D8D39F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721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87F783F-705B-4DF9-B946-02B2B6B24900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235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6F7B1D-98F0-467C-A2FA-BB8D71C2CD49}" type="slidenum">
              <a:rPr lang="zh-CN" altLang="en-US" smtClean="0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764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5843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AC82AB-D7DA-482B-BD4D-5BE768C09109}" type="slidenum">
              <a:rPr lang="zh-CN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58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DD5CF3C-BD3A-4CDC-B82F-8008D307E1E0}" type="slidenum">
              <a:rPr lang="zh-CN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747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C9D215-9062-47A6-83D1-A0BBF882656F}" type="slidenum">
              <a:rPr lang="zh-CN" altLang="en-US" smtClean="0">
                <a:solidFill>
                  <a:srgbClr val="000000"/>
                </a:solidFill>
              </a:rPr>
              <a:pPr/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1692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F4C8B7-79AB-4728-974C-81CA0E580BE5}" type="slidenum">
              <a:rPr lang="zh-CN" altLang="en-US" smtClean="0">
                <a:solidFill>
                  <a:srgbClr val="000000"/>
                </a:solidFill>
              </a:rPr>
              <a:pPr/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85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135EA6-48F4-4864-9F0D-5F784DC83C3C}" type="slidenum">
              <a:rPr lang="zh-CN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163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B39840-F8BA-413A-8F9F-2B6AF1C903B7}" type="slidenum">
              <a:rPr lang="zh-CN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0606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55F75E-1D7A-4440-ADE9-8FA14276D1FE}" type="slidenum">
              <a:rPr lang="zh-CN" altLang="en-US" smtClean="0">
                <a:solidFill>
                  <a:srgbClr val="000000"/>
                </a:solidFill>
              </a:rPr>
              <a:pPr/>
              <a:t>37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06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71847-79C7-44F5-92B4-C2B42FCD2148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7918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71847-79C7-44F5-92B4-C2B42FCD2148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6713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693CE8-7D8A-42AF-8512-DDB63F176C2D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0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922D6-BC67-4B67-B50D-D1E9FC3174A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398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16CFF-C97E-4920-BA3D-0CC70EB508F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56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994EC-C325-410F-8029-7708EC5B0EA9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068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60F09-31E0-4A8B-BDB9-E5B40ED5B73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270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37BF4-8616-49F4-A2AC-9E7AC35E94B5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029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D519E-69FF-4FC4-B697-A6389818FA3D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42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2D287-C3C9-4FAB-93F4-21D750BDC4D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144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F8E37-9FE7-4E1B-AA2A-E275881C973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163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03B3B-03E6-4BF4-9567-01A828FB189F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300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37352-4844-41AC-84BC-642391DD65C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285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75E37-06FA-4AB0-997A-EB1D8DF971E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1030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5" name="Freeform 14"/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18"/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22"/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8" name="Freeform 26"/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 useBgFill="1">
          <p:nvSpPr>
            <p:cNvPr id="9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D992F-0635-4CD6-83E4-FA06FBCB91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231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A2A92-16E6-4A36-83B6-DE99E66FBF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7116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8E07564-EFFB-44D5-8743-0BDC936E26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9945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24750" y="311150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8A51980-B712-4EEF-BBE4-6BC80657857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2467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21B1B572-8028-4407-B89D-91EFC8CCED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534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B67AA23-347C-4C63-8CFB-DE6B28A52D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239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43C130-763D-46C0-93E2-90CEFDCEAE8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974" r:id="rId1"/>
    <p:sldLayoutId id="2147488975" r:id="rId2"/>
    <p:sldLayoutId id="2147488976" r:id="rId3"/>
    <p:sldLayoutId id="2147488977" r:id="rId4"/>
    <p:sldLayoutId id="2147488978" r:id="rId5"/>
    <p:sldLayoutId id="2147488979" r:id="rId6"/>
    <p:sldLayoutId id="2147488980" r:id="rId7"/>
    <p:sldLayoutId id="2147488981" r:id="rId8"/>
    <p:sldLayoutId id="2147488982" r:id="rId9"/>
    <p:sldLayoutId id="2147488983" r:id="rId10"/>
    <p:sldLayoutId id="214748898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BFFECF4-D393-46C9-A92E-C888CB3E751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987" r:id="rId1"/>
    <p:sldLayoutId id="214748898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BC28FAE2-3600-4842-A663-0B4B489F1D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988" r:id="rId1"/>
    <p:sldLayoutId id="214748898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9C1CAB1B-FE4F-4B20-BAC0-1DD2514D44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990" r:id="rId1"/>
    <p:sldLayoutId id="21474889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0"/>
            <a:ext cx="84074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788" y="174466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2" name="Rectangle 2"/>
          <p:cNvSpPr txBox="1">
            <a:spLocks noChangeArrowheads="1"/>
          </p:cNvSpPr>
          <p:nvPr/>
        </p:nvSpPr>
        <p:spPr bwMode="auto">
          <a:xfrm>
            <a:off x="5651500" y="2038350"/>
            <a:ext cx="3590925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5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南信大计软院</a:t>
            </a:r>
            <a:endParaRPr lang="en-US" altLang="zh-CN" sz="28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凌妙根</a:t>
            </a:r>
            <a:endParaRPr lang="en-US" altLang="zh-CN" sz="24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2025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0113" y="1008063"/>
            <a:ext cx="582930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语法分析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       自顶向下分析概述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D031B7-656D-43CC-9C9E-0765FE0F431E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8610049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</a:rPr>
              <a:t>自顶向下分析的推导方式？</a:t>
            </a:r>
            <a:endParaRPr lang="en-US" altLang="zh-CN" sz="3600" dirty="0">
              <a:latin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</a:rPr>
              <a:t>想要实现预测分析，文法一般需要解决</a:t>
            </a:r>
            <a:endParaRPr lang="en-US" altLang="zh-CN" sz="3600" dirty="0">
              <a:latin typeface="+mn-ea"/>
            </a:endParaRPr>
          </a:p>
          <a:p>
            <a:pPr>
              <a:defRPr/>
            </a:pPr>
            <a:r>
              <a:rPr lang="zh-CN" altLang="en-US" sz="3600" dirty="0">
                <a:latin typeface="+mn-ea"/>
              </a:rPr>
              <a:t>哪</a:t>
            </a:r>
            <a:r>
              <a:rPr lang="en-US" altLang="zh-CN" sz="3600" dirty="0">
                <a:latin typeface="+mn-ea"/>
              </a:rPr>
              <a:t>2</a:t>
            </a:r>
            <a:r>
              <a:rPr lang="zh-CN" altLang="en-US" sz="3600" dirty="0">
                <a:latin typeface="+mn-ea"/>
              </a:rPr>
              <a:t>个问题？</a:t>
            </a:r>
            <a:endParaRPr lang="en-US" altLang="zh-CN" sz="3600" dirty="0">
              <a:latin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</a:rPr>
              <a:t>如何消除直接和间接左递归？</a:t>
            </a:r>
            <a:endParaRPr lang="en-US" altLang="zh-CN" sz="3600" dirty="0">
              <a:latin typeface="+mn-ea"/>
            </a:endParaRPr>
          </a:p>
          <a:p>
            <a:pPr>
              <a:defRPr/>
            </a:pPr>
            <a:endParaRPr lang="en-US" altLang="zh-CN" sz="3600" dirty="0">
              <a:latin typeface="+mn-ea"/>
            </a:endParaRPr>
          </a:p>
          <a:p>
            <a:pPr>
              <a:defRPr/>
            </a:pPr>
            <a:r>
              <a:rPr lang="en-US" altLang="zh-CN" sz="3600" dirty="0">
                <a:latin typeface="+mn-ea"/>
              </a:rPr>
              <a:t>	</a:t>
            </a:r>
            <a:endParaRPr lang="en-US" altLang="zh-CN" sz="2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6388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6389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5F44CA2-35F7-453F-B634-5B68C38D0FF6}" type="slidenum">
              <a:rPr lang="zh-CN" altLang="en-US" smtClean="0">
                <a:solidFill>
                  <a:srgbClr val="073E87"/>
                </a:solidFill>
                <a:ea typeface="楷体_GB2312"/>
                <a:cs typeface="楷体_GB2312"/>
              </a:rPr>
              <a:pPr/>
              <a:t>2</a:t>
            </a:fld>
            <a:endParaRPr lang="en-US" altLang="zh-CN">
              <a:solidFill>
                <a:srgbClr val="073E87"/>
              </a:solidFill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1018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/>
          </p:cNvSpPr>
          <p:nvPr/>
        </p:nvSpPr>
        <p:spPr bwMode="auto">
          <a:xfrm>
            <a:off x="4510088" y="4471988"/>
            <a:ext cx="2714625" cy="412750"/>
          </a:xfrm>
          <a:prstGeom prst="borderCallout2">
            <a:avLst>
              <a:gd name="adj1" fmla="val 48542"/>
              <a:gd name="adj2" fmla="val -1053"/>
              <a:gd name="adj3" fmla="val 48700"/>
              <a:gd name="adj4" fmla="val -7649"/>
              <a:gd name="adj5" fmla="val -25800"/>
              <a:gd name="adj6" fmla="val -26993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2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r>
              <a:rPr lang="zh-CN" altLang="en-US" sz="22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不含</a:t>
            </a:r>
            <a:r>
              <a:rPr lang="el-GR" altLang="zh-CN" sz="2200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zh-CN" altLang="en-US" sz="22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产生式</a:t>
            </a:r>
          </a:p>
          <a:p>
            <a:pPr algn="ctr" eaLnBrk="1" hangingPunct="1">
              <a:defRPr/>
            </a:pPr>
            <a:endParaRPr lang="zh-CN" altLang="en-US" sz="2200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930275"/>
            <a:ext cx="8720137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预测分析法的工作过程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从文法开始符号出发，在每一步推导过程中根据当前句型的最左非终结符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和当前输入符号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，选择正确的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产生式。为保证分析的确定性，选出的候选式必须是唯一的。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文法（简单的确定性文法，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Korenjak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Hopcroft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1966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）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3200"/>
              </a:lnSpc>
              <a:defRPr/>
            </a:pPr>
            <a:endParaRPr lang="en-US" altLang="zh-CN" sz="2000" dirty="0">
              <a:cs typeface="Times New Roman" pitchFamily="18" charset="0"/>
            </a:endParaRP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39688"/>
            <a:ext cx="7931150" cy="3714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 LL(1)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</a:p>
        </p:txBody>
      </p:sp>
      <p:sp>
        <p:nvSpPr>
          <p:cNvPr id="3" name="云形标注 2"/>
          <p:cNvSpPr/>
          <p:nvPr/>
        </p:nvSpPr>
        <p:spPr>
          <a:xfrm>
            <a:off x="3249613" y="157163"/>
            <a:ext cx="5645150" cy="1046162"/>
          </a:xfrm>
          <a:prstGeom prst="cloudCallout">
            <a:avLst>
              <a:gd name="adj1" fmla="val -38335"/>
              <a:gd name="adj2" fmla="val 65851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假如允许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2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_</a:t>
            </a:r>
            <a:r>
              <a:rPr lang="zh-CN" altLang="en-US" sz="22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r>
              <a:rPr lang="zh-CN" altLang="en-US" sz="22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包含</a:t>
            </a:r>
            <a:r>
              <a:rPr lang="el-GR" altLang="zh-CN" sz="22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zh-CN" altLang="en-US" sz="22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产生式</a:t>
            </a:r>
            <a:r>
              <a:rPr lang="zh-CN" altLang="en-US" sz="22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，将会产生什么问题？</a:t>
            </a:r>
          </a:p>
        </p:txBody>
      </p:sp>
      <p:sp>
        <p:nvSpPr>
          <p:cNvPr id="7" name="矩形 6"/>
          <p:cNvSpPr/>
          <p:nvPr/>
        </p:nvSpPr>
        <p:spPr>
          <a:xfrm>
            <a:off x="844550" y="3262313"/>
            <a:ext cx="668020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每个产生式的右部都以</a:t>
            </a:r>
            <a:r>
              <a:rPr lang="zh-CN" altLang="en-US" sz="24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终结符（不包含</a:t>
            </a:r>
            <a:r>
              <a:rPr lang="el-GR" altLang="zh-CN" sz="2400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zh-CN" altLang="en-US" sz="24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开始</a:t>
            </a:r>
          </a:p>
        </p:txBody>
      </p:sp>
      <p:sp>
        <p:nvSpPr>
          <p:cNvPr id="8" name="矩形 7"/>
          <p:cNvSpPr/>
          <p:nvPr/>
        </p:nvSpPr>
        <p:spPr>
          <a:xfrm>
            <a:off x="827088" y="3765550"/>
            <a:ext cx="6697662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同一非终结符的各个候选式的</a:t>
            </a:r>
            <a:r>
              <a:rPr lang="zh-CN" altLang="en-US" sz="24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首终结符</a:t>
            </a: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都不同</a:t>
            </a:r>
          </a:p>
        </p:txBody>
      </p:sp>
      <p:sp>
        <p:nvSpPr>
          <p:cNvPr id="5530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DD55A68-8ED2-4FDF-B2CF-5A2BABD8A34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684213" y="411163"/>
            <a:ext cx="793115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S_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</a:p>
        </p:txBody>
      </p:sp>
    </p:spTree>
    <p:extLst>
      <p:ext uri="{BB962C8B-B14F-4D97-AF65-F5344CB8AC3E}">
        <p14:creationId xmlns:p14="http://schemas.microsoft.com/office/powerpoint/2010/main" val="315950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867" grpId="0"/>
      <p:bldP spid="3" grpId="0" animBg="1"/>
      <p:bldP spid="7" grpId="0" animBg="1"/>
      <p:bldP spid="8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54438" y="1379538"/>
            <a:ext cx="4103687" cy="1620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796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754438" y="714375"/>
            <a:ext cx="4103687" cy="665163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输入</a:t>
            </a: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	 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 d a</a:t>
            </a:r>
          </a:p>
          <a:p>
            <a:pPr eaLnBrk="1" hangingPunct="1">
              <a:defRPr/>
            </a:pPr>
            <a:endParaRPr lang="en-US" altLang="zh-CN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推导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defRPr/>
            </a:pPr>
            <a:endParaRPr lang="zh-CN" altLang="en-US" i="1" dirty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963" y="714375"/>
            <a:ext cx="2928937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10659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714375"/>
            <a:ext cx="7643812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endParaRPr lang="en-US" altLang="zh-CN" sz="6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什么时候使用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产生式？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如果当前某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非终结符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与当前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输入符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不匹配时，若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存在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，可以通过检查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是否可以出现在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的后面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，来决定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是否使用产生式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（若文法中无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，则应报错）</a:t>
            </a: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10663" name="Line 7"/>
          <p:cNvSpPr>
            <a:spLocks noChangeShapeType="1"/>
          </p:cNvSpPr>
          <p:nvPr/>
        </p:nvSpPr>
        <p:spPr bwMode="auto">
          <a:xfrm flipV="1">
            <a:off x="5122863" y="1108075"/>
            <a:ext cx="0" cy="1635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0664" name="Line 8"/>
          <p:cNvSpPr>
            <a:spLocks noChangeShapeType="1"/>
          </p:cNvSpPr>
          <p:nvPr/>
        </p:nvSpPr>
        <p:spPr bwMode="auto">
          <a:xfrm flipV="1">
            <a:off x="5338763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0665" name="Line 9"/>
          <p:cNvSpPr>
            <a:spLocks noChangeShapeType="1"/>
          </p:cNvSpPr>
          <p:nvPr/>
        </p:nvSpPr>
        <p:spPr bwMode="auto">
          <a:xfrm flipV="1">
            <a:off x="5572125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7354" name="矩形 2"/>
          <p:cNvSpPr>
            <a:spLocks noChangeArrowheads="1"/>
          </p:cNvSpPr>
          <p:nvPr/>
        </p:nvSpPr>
        <p:spPr bwMode="auto">
          <a:xfrm>
            <a:off x="1825625" y="714375"/>
            <a:ext cx="1728788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→ aBC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bC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dB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c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a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 → e</a:t>
            </a: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4929188" y="1400175"/>
            <a:ext cx="17272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prstClr val="blac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</a:t>
            </a:r>
            <a:endParaRPr lang="zh-CN" altLang="en-US" sz="2000" b="1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508750" y="714375"/>
            <a:ext cx="8080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i="1">
                <a:solidFill>
                  <a:prstClr val="black"/>
                </a:solidFill>
                <a:latin typeface="Times New Roman" panose="02020603050405020304" pitchFamily="18" charset="0"/>
              </a:rPr>
              <a:t>a d e</a:t>
            </a:r>
            <a:endParaRPr lang="zh-CN" altLang="en-US" sz="2500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auto">
          <a:xfrm flipV="1">
            <a:off x="6683375" y="1125538"/>
            <a:ext cx="0" cy="1635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 flipV="1">
            <a:off x="6899275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V="1">
            <a:off x="7143750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 bwMode="auto">
          <a:xfrm>
            <a:off x="6489700" y="1400175"/>
            <a:ext cx="1154113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i="1">
                <a:solidFill>
                  <a:prstClr val="blac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</p:txBody>
      </p:sp>
      <p:sp>
        <p:nvSpPr>
          <p:cNvPr id="18" name="矩形 17"/>
          <p:cNvSpPr/>
          <p:nvPr/>
        </p:nvSpPr>
        <p:spPr>
          <a:xfrm>
            <a:off x="827088" y="3081338"/>
            <a:ext cx="3835400" cy="349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可以紧跟 </a:t>
            </a:r>
            <a:r>
              <a:rPr lang="en-US" altLang="zh-CN" b="1" i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后面出现的终结符：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lang="zh-CN" altLang="en-US" sz="2800" b="1" i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36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CE5A3-87DC-4EC8-BA42-DD10A68D347B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1069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3796" grpId="0" build="p" animBg="1"/>
      <p:bldP spid="710663" grpId="0" animBg="1"/>
      <p:bldP spid="710664" grpId="0" animBg="1"/>
      <p:bldP spid="710665" grpId="0" animBg="1"/>
      <p:bldP spid="4" grpId="0"/>
      <p:bldP spid="19" grpId="0" animBg="1"/>
      <p:bldP spid="20" grpId="0" animBg="1"/>
      <p:bldP spid="21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584200"/>
            <a:ext cx="8543925" cy="3284538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非终结符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的后继符号集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可能在某个句型中紧跟在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后边的终结符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的集合，记为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)={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αA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α,β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dB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(4)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(5)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(6)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{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</a:t>
            </a:r>
            <a:endParaRPr lang="zh-CN" altLang="en-US" sz="22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200" dirty="0">
              <a:cs typeface="Times New Roman" panose="02020603050405020304" pitchFamily="18" charset="0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536577" y="2284413"/>
            <a:ext cx="1595718" cy="1584325"/>
            <a:chOff x="3610053" y="4108709"/>
            <a:chExt cx="1595537" cy="2114221"/>
          </a:xfrm>
        </p:grpSpPr>
        <p:sp>
          <p:nvSpPr>
            <p:cNvPr id="38918" name="Rectangle 8"/>
            <p:cNvSpPr>
              <a:spLocks noChangeArrowheads="1"/>
            </p:cNvSpPr>
            <p:nvPr/>
          </p:nvSpPr>
          <p:spPr bwMode="auto">
            <a:xfrm>
              <a:off x="4251610" y="4108709"/>
              <a:ext cx="953980" cy="2114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输入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d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{ </a:t>
              </a: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a</a:t>
              </a: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, </a:t>
              </a: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c</a:t>
              </a: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}</a:t>
              </a:r>
            </a:p>
          </p:txBody>
        </p:sp>
        <p:sp>
          <p:nvSpPr>
            <p:cNvPr id="38919" name="Line 9"/>
            <p:cNvSpPr>
              <a:spLocks noChangeShapeType="1"/>
            </p:cNvSpPr>
            <p:nvPr/>
          </p:nvSpPr>
          <p:spPr bwMode="auto">
            <a:xfrm flipH="1">
              <a:off x="3611640" y="4870228"/>
              <a:ext cx="649214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920" name="Line 10"/>
            <p:cNvSpPr>
              <a:spLocks noChangeShapeType="1"/>
            </p:cNvSpPr>
            <p:nvPr/>
          </p:nvSpPr>
          <p:spPr bwMode="auto">
            <a:xfrm flipH="1" flipV="1">
              <a:off x="3611640" y="5442211"/>
              <a:ext cx="647626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921" name="Line 11"/>
            <p:cNvSpPr>
              <a:spLocks noChangeShapeType="1"/>
            </p:cNvSpPr>
            <p:nvPr/>
          </p:nvSpPr>
          <p:spPr bwMode="auto">
            <a:xfrm flipH="1" flipV="1">
              <a:off x="3610053" y="5918865"/>
              <a:ext cx="649213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3891855" y="2373313"/>
            <a:ext cx="5000625" cy="841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是某个句型的最右符号，</a:t>
            </a:r>
            <a:endParaRPr lang="en-US" altLang="zh-CN" sz="22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则将结束符“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”添加到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endParaRPr lang="zh-CN" altLang="en-US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1CC6F1-87AD-452D-B886-3032FA2FEBC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9301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917575"/>
            <a:ext cx="848677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的可选集是指可以选用该产生式进行推导时对应的输入符号的集合，记为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)=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产生式的可选集</a:t>
            </a:r>
          </a:p>
        </p:txBody>
      </p:sp>
      <p:sp>
        <p:nvSpPr>
          <p:cNvPr id="614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6C141A-836F-4F2B-A44D-B7DBCF41530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6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8234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714375"/>
            <a:ext cx="8558213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非终结符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的后继符号集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可能在某个句型中紧跟在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后边的终结符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的集合，记为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)={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α,β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dB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(4)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(5)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(6)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{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</a:t>
            </a:r>
            <a:endParaRPr lang="zh-CN" altLang="en-US" sz="22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200" dirty="0">
              <a:cs typeface="Times New Roman" panose="02020603050405020304" pitchFamily="18" charset="0"/>
            </a:endParaRPr>
          </a:p>
        </p:txBody>
      </p:sp>
      <p:sp>
        <p:nvSpPr>
          <p:cNvPr id="38915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非终结符的后继符号集</a:t>
            </a: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357438" y="2286000"/>
            <a:ext cx="1603375" cy="1584325"/>
            <a:chOff x="3610053" y="4107583"/>
            <a:chExt cx="1603193" cy="2114221"/>
          </a:xfrm>
        </p:grpSpPr>
        <p:sp>
          <p:nvSpPr>
            <p:cNvPr id="38918" name="Rectangle 8"/>
            <p:cNvSpPr>
              <a:spLocks noChangeArrowheads="1"/>
            </p:cNvSpPr>
            <p:nvPr/>
          </p:nvSpPr>
          <p:spPr bwMode="auto">
            <a:xfrm>
              <a:off x="4259266" y="4107583"/>
              <a:ext cx="953980" cy="2114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输入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d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{ </a:t>
              </a: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a</a:t>
              </a: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, </a:t>
              </a:r>
              <a:r>
                <a:rPr lang="en-US" altLang="zh-CN" sz="22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c</a:t>
              </a:r>
              <a:r>
                <a:rPr lang="en-US" altLang="zh-CN" sz="2200" b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}</a:t>
              </a:r>
            </a:p>
          </p:txBody>
        </p:sp>
        <p:sp>
          <p:nvSpPr>
            <p:cNvPr id="38919" name="Line 9"/>
            <p:cNvSpPr>
              <a:spLocks noChangeShapeType="1"/>
            </p:cNvSpPr>
            <p:nvPr/>
          </p:nvSpPr>
          <p:spPr bwMode="auto">
            <a:xfrm flipH="1">
              <a:off x="3611640" y="4870228"/>
              <a:ext cx="649214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920" name="Line 10"/>
            <p:cNvSpPr>
              <a:spLocks noChangeShapeType="1"/>
            </p:cNvSpPr>
            <p:nvPr/>
          </p:nvSpPr>
          <p:spPr bwMode="auto">
            <a:xfrm flipH="1" flipV="1">
              <a:off x="3611640" y="5442211"/>
              <a:ext cx="647626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921" name="Line 11"/>
            <p:cNvSpPr>
              <a:spLocks noChangeShapeType="1"/>
            </p:cNvSpPr>
            <p:nvPr/>
          </p:nvSpPr>
          <p:spPr bwMode="auto">
            <a:xfrm flipH="1" flipV="1">
              <a:off x="3610053" y="5918865"/>
              <a:ext cx="649213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3786188" y="2373313"/>
            <a:ext cx="5000625" cy="841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是某个句型的的最右符号，</a:t>
            </a:r>
            <a:endParaRPr lang="en-US" altLang="zh-CN" sz="22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则将结束符“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”添加到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endParaRPr lang="zh-CN" altLang="en-US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5B80C4-94BA-410F-BB2B-67BD250D1EAD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2914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917575"/>
            <a:ext cx="848677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的可选集是指可以选用该产生式进行推导时对应的输入符号的集合，记为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)=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每个产生式的右部或为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，或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以终结符开始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具有相同左部的产生式有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不相交的可选集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产生式的可选集</a:t>
            </a:r>
          </a:p>
        </p:txBody>
      </p:sp>
      <p:sp>
        <p:nvSpPr>
          <p:cNvPr id="5" name="线形标注 2 4"/>
          <p:cNvSpPr/>
          <p:nvPr/>
        </p:nvSpPr>
        <p:spPr>
          <a:xfrm>
            <a:off x="2428875" y="4298950"/>
            <a:ext cx="6103938" cy="487363"/>
          </a:xfrm>
          <a:prstGeom prst="borderCallout2">
            <a:avLst>
              <a:gd name="adj1" fmla="val 18750"/>
              <a:gd name="adj2" fmla="val -2697"/>
              <a:gd name="adj3" fmla="val 12794"/>
              <a:gd name="adj4" fmla="val -10657"/>
              <a:gd name="adj5" fmla="val -23306"/>
              <a:gd name="adj6" fmla="val -13591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CN" sz="25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文法不含右部以</a:t>
            </a:r>
            <a:r>
              <a:rPr lang="zh-CN" altLang="en-US" sz="25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非终结符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打头的产生式</a:t>
            </a:r>
            <a:endParaRPr lang="zh-CN" altLang="en-US" sz="25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14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6C141A-836F-4F2B-A44D-B7DBCF41530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7551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15413" cy="3009504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串首终结符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串首第一个符号，并且是终结符。简称首终结符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给定一个文法符号串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串首终结符集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被定义为可以从</a:t>
            </a:r>
            <a:r>
              <a:rPr lang="el-GR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推导出的所有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串首终结符</a:t>
            </a:r>
            <a:r>
              <a:rPr lang="zh-CN" altLang="en-US" sz="2500" b="1" dirty="0">
                <a:solidFill>
                  <a:schemeClr val="tx1"/>
                </a:solidFill>
              </a:rPr>
              <a:t>构成的集合。</a:t>
            </a:r>
            <a:r>
              <a:rPr lang="zh-CN" altLang="en-US" sz="2500" b="1" dirty="0">
                <a:solidFill>
                  <a:srgbClr val="2D83F4"/>
                </a:solidFill>
              </a:rPr>
              <a:t>如果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α </a:t>
            </a:r>
            <a:r>
              <a:rPr lang="en-US" altLang="zh-CN" sz="2500" b="1" dirty="0">
                <a:solidFill>
                  <a:srgbClr val="2D83F4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500" b="1" baseline="30000" dirty="0">
                <a:solidFill>
                  <a:srgbClr val="2D83F4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rgbClr val="2D83F4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 dirty="0">
                <a:solidFill>
                  <a:srgbClr val="2D83F4"/>
                </a:solidFill>
              </a:rPr>
              <a:t>，那么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 dirty="0">
                <a:solidFill>
                  <a:srgbClr val="2D83F4"/>
                </a:solidFill>
              </a:rPr>
              <a:t>也在</a:t>
            </a:r>
            <a:r>
              <a:rPr lang="en-US" altLang="zh-CN" sz="2500" b="1" i="1" dirty="0">
                <a:solidFill>
                  <a:srgbClr val="2D83F4"/>
                </a:solidFill>
              </a:rPr>
              <a:t>FIRST</a:t>
            </a:r>
            <a:r>
              <a:rPr lang="en-US" altLang="zh-CN" sz="2500" b="1" dirty="0">
                <a:solidFill>
                  <a:srgbClr val="2D83F4"/>
                </a:solidFill>
              </a:rPr>
              <a:t>(</a:t>
            </a:r>
            <a:r>
              <a:rPr lang="en-US" altLang="zh-CN" sz="2500" b="1" i="1" dirty="0">
                <a:solidFill>
                  <a:srgbClr val="2D83F4"/>
                </a:solidFill>
              </a:rPr>
              <a:t>α</a:t>
            </a:r>
            <a:r>
              <a:rPr lang="en-US" altLang="zh-CN" sz="2500" b="1" dirty="0">
                <a:solidFill>
                  <a:srgbClr val="2D83F4"/>
                </a:solidFill>
              </a:rPr>
              <a:t>)</a:t>
            </a:r>
            <a:r>
              <a:rPr lang="zh-CN" altLang="en-US" sz="2500" b="1" dirty="0">
                <a:solidFill>
                  <a:srgbClr val="2D83F4"/>
                </a:solidFill>
              </a:rPr>
              <a:t>中</a:t>
            </a:r>
            <a:r>
              <a:rPr lang="en-US" altLang="zh-CN" sz="2500" b="1" dirty="0">
                <a:solidFill>
                  <a:srgbClr val="2D83F4"/>
                </a:solidFill>
              </a:rPr>
              <a:t>(</a:t>
            </a:r>
            <a:r>
              <a:rPr lang="zh-CN" altLang="en-US" sz="2500" b="1" dirty="0">
                <a:solidFill>
                  <a:srgbClr val="2D83F4"/>
                </a:solidFill>
              </a:rPr>
              <a:t>特例</a:t>
            </a:r>
            <a:r>
              <a:rPr lang="en-US" altLang="zh-CN" sz="2500" b="1" dirty="0">
                <a:solidFill>
                  <a:srgbClr val="2D83F4"/>
                </a:solidFill>
              </a:rPr>
              <a:t>)</a:t>
            </a:r>
            <a:r>
              <a:rPr lang="zh-CN" altLang="en-US" sz="2500" b="1" dirty="0">
                <a:solidFill>
                  <a:srgbClr val="2D83F4"/>
                </a:solidFill>
              </a:rPr>
              <a:t>，即</a:t>
            </a:r>
            <a:endParaRPr lang="en-US" altLang="zh-CN" sz="2500" b="1" dirty="0">
              <a:solidFill>
                <a:srgbClr val="2D83F4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sym typeface="Symbol" panose="05050102010706020507" pitchFamily="18" charset="2"/>
              </a:rPr>
              <a:t>对于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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)={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|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aβ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}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；</a:t>
            </a:r>
            <a:endParaRPr lang="en-US" altLang="zh-CN" sz="2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zh-CN" altLang="en-US" sz="2500" b="1" dirty="0">
                <a:solidFill>
                  <a:schemeClr val="tx1"/>
                </a:solidFill>
              </a:rPr>
              <a:t>的可选集</a:t>
            </a:r>
            <a:r>
              <a:rPr lang="en-US" altLang="zh-CN" sz="2500" b="1" i="1" dirty="0">
                <a:solidFill>
                  <a:schemeClr val="tx1"/>
                </a:solidFill>
              </a:rPr>
              <a:t>SELECT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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000" b="1" dirty="0">
                <a:solidFill>
                  <a:schemeClr val="tx1"/>
                </a:solidFill>
              </a:rPr>
              <a:t> 那么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)=(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)-{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} )∪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FOLLOW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eaLnBrk="1" hangingPunct="1"/>
            <a:endParaRPr lang="zh-CN" altLang="en-US" sz="2500" dirty="0">
              <a:solidFill>
                <a:schemeClr val="tx1"/>
              </a:solidFill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串首终结符集</a:t>
            </a: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A71565-8274-4F03-A681-8A81270989C7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8128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的，当且仅当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的任意两个具有相同左部的产生式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→ α | β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满足下面的条件：</a:t>
            </a: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不存在终结符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使得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都能够推导出以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开头的串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至多有一个能推导出</a:t>
            </a:r>
            <a:r>
              <a:rPr lang="en-US" altLang="zh-CN" sz="2500" b="1" i="1" dirty="0">
                <a:solidFill>
                  <a:schemeClr val="tx1"/>
                </a:solidFill>
                <a:latin typeface="+mn-ea"/>
                <a:cs typeface="楷体_GB2312"/>
              </a:rPr>
              <a:t>ε 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lnSpc>
                <a:spcPts val="33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</p:txBody>
      </p:sp>
      <p:sp>
        <p:nvSpPr>
          <p:cNvPr id="4198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1406525" y="3810000"/>
            <a:ext cx="6665913" cy="476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>
              <a:spcBef>
                <a:spcPct val="30000"/>
              </a:spcBef>
              <a:defRPr/>
            </a:pP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同一非终结符的各个产生式的可选集互不相交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2214563" y="4429125"/>
            <a:ext cx="4924425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文法构造预测分析器</a:t>
            </a:r>
          </a:p>
        </p:txBody>
      </p:sp>
      <p:sp>
        <p:nvSpPr>
          <p:cNvPr id="26630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9785DB4-5450-43F0-B14D-C19AC7CA002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7" name="文本框 3"/>
          <p:cNvSpPr txBox="1">
            <a:spLocks noChangeArrowheads="1"/>
          </p:cNvSpPr>
          <p:nvPr/>
        </p:nvSpPr>
        <p:spPr bwMode="auto">
          <a:xfrm>
            <a:off x="144463" y="3609974"/>
            <a:ext cx="154721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/>
              <a:t>为了保证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 等价于</a:t>
            </a:r>
          </a:p>
        </p:txBody>
      </p:sp>
      <p:sp>
        <p:nvSpPr>
          <p:cNvPr id="8" name="右箭头 7"/>
          <p:cNvSpPr/>
          <p:nvPr/>
        </p:nvSpPr>
        <p:spPr>
          <a:xfrm>
            <a:off x="287338" y="3941763"/>
            <a:ext cx="936625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22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00013" y="3749675"/>
            <a:ext cx="8929687" cy="1246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第一个“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从左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向右扫描输入</a:t>
            </a:r>
          </a:p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第二个“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表示产生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最左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推导</a:t>
            </a:r>
          </a:p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“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表示在每一步中只需要向前看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一个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输入符号来决定语法分析动作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的，当且仅当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的任意两个具有相同左部的产生式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→ α | β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满足下面的条件：</a:t>
            </a: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不存在终结符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使得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itchFamily="18" charset="0"/>
              </a:rPr>
              <a:t>α 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和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都能够推导出以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开头的串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至多有一个能推导出</a:t>
            </a:r>
            <a:r>
              <a:rPr lang="en-US" altLang="zh-CN" sz="2500" b="1" i="1" dirty="0">
                <a:solidFill>
                  <a:schemeClr val="tx1"/>
                </a:solidFill>
                <a:latin typeface="+mn-ea"/>
                <a:cs typeface="楷体_GB2312"/>
              </a:rPr>
              <a:t>ε 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lnSpc>
                <a:spcPts val="33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</p:txBody>
      </p:sp>
      <p:sp>
        <p:nvSpPr>
          <p:cNvPr id="2867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090252-13DC-4EF6-9739-F5C1357E6A1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48064" y="3972659"/>
            <a:ext cx="4055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与产生式生成的第一个符号匹配？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V="1">
            <a:off x="5076056" y="4372769"/>
            <a:ext cx="288032" cy="21520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4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611188" y="91122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计算文法符号</a:t>
            </a:r>
            <a:r>
              <a:rPr lang="en-US" altLang="zh-CN" sz="3000" i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FIRST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 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内容占位符 1"/>
          <p:cNvSpPr>
            <a:spLocks noGrp="1"/>
          </p:cNvSpPr>
          <p:nvPr>
            <p:ph idx="1"/>
          </p:nvPr>
        </p:nvSpPr>
        <p:spPr>
          <a:xfrm>
            <a:off x="863600" y="2355850"/>
            <a:ext cx="8280400" cy="2481263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+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FT 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T'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*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FT '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(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)|id		</a:t>
            </a:r>
            <a:endParaRPr kumimoji="1" lang="en-US" altLang="zh-CN" sz="25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007100" y="3316288"/>
            <a:ext cx="4460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473825" y="3284538"/>
            <a:ext cx="31591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022975" y="4233863"/>
            <a:ext cx="4254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6481763" y="4162425"/>
            <a:ext cx="3968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967413" y="3730625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   id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967413" y="4665663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967413" y="2827338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   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22663" y="2806700"/>
            <a:ext cx="4730750" cy="269240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E'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T'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 = {		</a:t>
            </a:r>
            <a:r>
              <a:rPr kumimoji="1" lang="en-US" altLang="zh-CN" sz="25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 </a:t>
            </a: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en-US" altLang="zh-CN" sz="2000" b="1" dirty="0">
              <a:solidFill>
                <a:srgbClr val="073E87"/>
              </a:solidFill>
              <a:latin typeface="Times New Roman" panose="02020603050405020304" pitchFamily="18" charset="0"/>
              <a:ea typeface="华文楷体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388" y="1417638"/>
            <a:ext cx="8858250" cy="9382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6263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FIRST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spc="-3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以从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推导出的所有</a:t>
            </a:r>
            <a:r>
              <a:rPr lang="zh-CN" altLang="en-US" sz="25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串首终结符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构成的集合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5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zh-CN" altLang="en-US" sz="25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lang="zh-CN" altLang="en-US" sz="2500" b="1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539750" y="-60325"/>
            <a:ext cx="692308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000" b="1" spc="300" dirty="0">
                <a:latin typeface="微软雅黑" pitchFamily="34" charset="-122"/>
                <a:ea typeface="微软雅黑" pitchFamily="34" charset="-122"/>
              </a:rPr>
              <a:t> 3. </a:t>
            </a:r>
            <a:r>
              <a:rPr lang="en-US" altLang="zh-CN" sz="3000" b="1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</a:rPr>
              <a:t>集和</a:t>
            </a:r>
            <a:r>
              <a:rPr lang="en-US" altLang="zh-CN" sz="3000" b="1" dirty="0">
                <a:latin typeface="微软雅黑" pitchFamily="34" charset="-122"/>
                <a:ea typeface="微软雅黑" pitchFamily="34" charset="-122"/>
              </a:rPr>
              <a:t>FOLLOW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</a:rPr>
              <a:t>集的计算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336550" y="714375"/>
            <a:ext cx="85217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不断应用下列规则，直到没有新的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终结符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可以被加入到任何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集合中为止</a:t>
            </a:r>
            <a:endParaRPr lang="en-US" altLang="zh-CN" sz="28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是一个终结符，那么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{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是一个非终结符，且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</a:t>
            </a:r>
            <a:r>
              <a:rPr lang="en-US" altLang="zh-CN" sz="2400" b="1" i="1" dirty="0">
                <a:solidFill>
                  <a:schemeClr val="tx1"/>
                </a:solidFill>
                <a:cs typeface="Tahoma" panose="020B0604030504040204" pitchFamily="34" charset="0"/>
              </a:rPr>
              <a:t>≥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1)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，那么如果对于某个</a:t>
            </a:r>
            <a:r>
              <a:rPr lang="en-US" altLang="zh-CN" sz="24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 中且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在所有的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</a:rPr>
              <a:t>) , … , 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i-1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即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...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>
                <a:solidFill>
                  <a:schemeClr val="tx1"/>
                </a:solidFill>
              </a:rPr>
              <a:t> )</a:t>
            </a:r>
            <a:r>
              <a:rPr lang="zh-CN" altLang="en-US" sz="2400" b="1" dirty="0">
                <a:solidFill>
                  <a:schemeClr val="tx1"/>
                </a:solidFill>
              </a:rPr>
              <a:t>，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就把</a:t>
            </a:r>
            <a:r>
              <a:rPr lang="en-US" altLang="zh-CN" sz="2400" b="1" i="1" dirty="0">
                <a:solidFill>
                  <a:schemeClr val="tx1"/>
                </a:solidFill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中。如果对于所有的 </a:t>
            </a:r>
            <a:r>
              <a:rPr lang="en-US" altLang="zh-CN" sz="2400" b="1" i="1" dirty="0">
                <a:solidFill>
                  <a:schemeClr val="tx1"/>
                </a:solidFill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</a:rPr>
              <a:t> = 1,2, . . . , </a:t>
            </a:r>
            <a:r>
              <a:rPr lang="en-US" altLang="zh-CN" sz="2400" b="1" i="1" dirty="0">
                <a:solidFill>
                  <a:schemeClr val="tx1"/>
                </a:solidFill>
              </a:rPr>
              <a:t>k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，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在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中，那么将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</a:rPr>
              <a:t>) </a:t>
            </a: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</a:rPr>
              <a:t>，那么将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</a:t>
            </a:r>
          </a:p>
          <a:p>
            <a:pPr eaLnBrk="1" hangingPunct="1">
              <a:lnSpc>
                <a:spcPts val="3500"/>
              </a:lnSpc>
              <a:defRPr/>
            </a:pPr>
            <a:endParaRPr lang="zh-CN" altLang="en-US" sz="2500" dirty="0"/>
          </a:p>
        </p:txBody>
      </p:sp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算法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572500" cy="3225800"/>
          </a:xfrm>
        </p:spPr>
        <p:txBody>
          <a:bodyPr/>
          <a:lstStyle/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向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加入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中所有的非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如果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中，再加入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中的所有非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符号；如果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和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中，再加入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3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中的所有非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符号，以此类推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最后，如果对所有的</a:t>
            </a:r>
            <a:r>
              <a:rPr lang="en-US" altLang="zh-CN" sz="2500" b="1" i="1">
                <a:solidFill>
                  <a:schemeClr val="tx1"/>
                </a:solidFill>
              </a:rPr>
              <a:t>i</a:t>
            </a:r>
            <a:r>
              <a:rPr lang="zh-CN" altLang="en-US" sz="2500" b="1">
                <a:solidFill>
                  <a:schemeClr val="tx1"/>
                </a:solidFill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都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中，那么将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加入到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…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>
                <a:solidFill>
                  <a:schemeClr val="tx1"/>
                </a:solidFill>
              </a:rPr>
              <a:t>) </a:t>
            </a:r>
            <a:r>
              <a:rPr lang="zh-CN" altLang="en-US" sz="2500" b="1">
                <a:solidFill>
                  <a:schemeClr val="tx1"/>
                </a:solidFill>
              </a:rPr>
              <a:t>中</a:t>
            </a:r>
          </a:p>
        </p:txBody>
      </p:sp>
      <p:sp>
        <p:nvSpPr>
          <p:cNvPr id="4813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计算串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3000" i="1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i="1" spc="300" baseline="-25000" dirty="0" err="1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FIRST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集合</a:t>
            </a:r>
            <a:endParaRPr lang="zh-CN" altLang="en-US" sz="3000" i="1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计算非终结符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FOLLOW</a:t>
            </a:r>
            <a:r>
              <a:rPr lang="en-US" altLang="zh-CN" sz="3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3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188" y="928688"/>
            <a:ext cx="8429625" cy="11779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：可能在某个句型中紧跟在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后边的</a:t>
            </a:r>
            <a:r>
              <a:rPr lang="zh-CN" altLang="en-US" sz="20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终结符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的集合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)={a|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β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a∈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α,β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en-US" altLang="zh-CN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2000" dirty="0">
              <a:solidFill>
                <a:prstClr val="black"/>
              </a:solidFill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是某个句型的的最右符号，则将结束符“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$”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添加到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2875" y="2143125"/>
            <a:ext cx="3386138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lang="zh-CN" altLang="en-US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3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	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E'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→ +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TE'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|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	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→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FT'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	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④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T' 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*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FT' 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|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	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⑤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→ (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| id	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14375" y="3000375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14375" y="3429000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14375" y="3857625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14375" y="4286250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4375" y="4714875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5507038" y="2571750"/>
            <a:ext cx="427990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 {	        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)= {	     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 {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       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= {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       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{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   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858125" y="2593975"/>
            <a:ext cx="33178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endParaRPr lang="zh-CN" altLang="en-US" sz="2300" b="1">
              <a:solidFill>
                <a:srgbClr val="FF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8216900" y="2593975"/>
            <a:ext cx="28257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lang="zh-CN" altLang="en-US" sz="23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7715250" y="3429000"/>
            <a:ext cx="49847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+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8358188" y="3857625"/>
            <a:ext cx="3556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8094663" y="3429000"/>
            <a:ext cx="4064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$</a:t>
            </a:r>
            <a:r>
              <a:rPr lang="en-US" altLang="zh-CN" sz="23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8196263" y="3000375"/>
            <a:ext cx="3556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7858125" y="3022600"/>
            <a:ext cx="4064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$</a:t>
            </a:r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8059738" y="4289425"/>
            <a:ext cx="72231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+  </a:t>
            </a:r>
            <a:r>
              <a:rPr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$</a:t>
            </a:r>
            <a:r>
              <a:rPr lang="en-US" altLang="zh-CN" sz="23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7793038" y="4340225"/>
            <a:ext cx="4064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8650288" y="4268788"/>
            <a:ext cx="3556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7786688" y="3857625"/>
            <a:ext cx="72231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+  </a:t>
            </a:r>
            <a:r>
              <a:rPr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$</a:t>
            </a:r>
            <a:r>
              <a:rPr lang="en-US" altLang="zh-CN" sz="23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8358188" y="3411538"/>
            <a:ext cx="2825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3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lang="zh-CN" altLang="en-US" sz="2300" b="1">
              <a:solidFill>
                <a:srgbClr val="000000"/>
              </a:solidFill>
            </a:endParaRPr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2424113" y="2571750"/>
            <a:ext cx="3576637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 = {  (   id 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{  + 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 = {  (  id  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= {  * 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 = {  (  id } </a:t>
            </a:r>
          </a:p>
        </p:txBody>
      </p:sp>
      <p:sp>
        <p:nvSpPr>
          <p:cNvPr id="2" name="椭圆 1"/>
          <p:cNvSpPr/>
          <p:nvPr/>
        </p:nvSpPr>
        <p:spPr>
          <a:xfrm>
            <a:off x="4500563" y="3040063"/>
            <a:ext cx="431800" cy="38893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495800" y="3857625"/>
            <a:ext cx="431800" cy="38893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 nodeType="clickPar">
                      <p:stCondLst>
                        <p:cond delay="indefinite"/>
                      </p:stCondLst>
                      <p:childTnLst>
                        <p:par>
                          <p:cTn id="2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 nodeType="clickPar">
                      <p:stCondLst>
                        <p:cond delay="indefinite"/>
                      </p:stCondLst>
                      <p:childTnLst>
                        <p:par>
                          <p:cTn id="3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2" grpId="0" animBg="1"/>
      <p:bldP spid="2" grpId="1" animBg="1"/>
      <p:bldP spid="35" grpId="0" animBg="1"/>
      <p:bldP spid="3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428625" y="714375"/>
            <a:ext cx="8415338" cy="3225800"/>
          </a:xfrm>
        </p:spPr>
        <p:txBody>
          <a:bodyPr/>
          <a:lstStyle/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$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放入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中，其中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是开始符号，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$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是输入右端的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结束标记</a:t>
            </a:r>
            <a:endParaRPr lang="en-US" altLang="zh-CN" sz="28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然后不断应用下列规则，直到没有新的终结符可以被加入到任何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集合中为止</a:t>
            </a: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如果存在一个产生式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αBβ</a:t>
            </a: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</a:rPr>
              <a:t>，那么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β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除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之外</a:t>
            </a:r>
            <a:r>
              <a:rPr lang="zh-CN" altLang="en-US" sz="2400" b="1" dirty="0">
                <a:solidFill>
                  <a:schemeClr val="tx1"/>
                </a:solidFill>
              </a:rPr>
              <a:t>的所有符号都在</a:t>
            </a:r>
            <a:r>
              <a:rPr lang="en-US" altLang="zh-CN" sz="2400" b="1" i="1" dirty="0">
                <a:solidFill>
                  <a:schemeClr val="tx1"/>
                </a:solidFill>
              </a:rPr>
              <a:t>FOLLOW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B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如果存在一个产生式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αB</a:t>
            </a:r>
            <a:r>
              <a:rPr lang="zh-CN" altLang="en-US" sz="2400" b="1" dirty="0">
                <a:solidFill>
                  <a:schemeClr val="tx1"/>
                </a:solidFill>
              </a:rPr>
              <a:t>，或存在产生式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αBβ</a:t>
            </a:r>
            <a:r>
              <a:rPr lang="zh-CN" altLang="en-US" sz="2400" b="1" dirty="0">
                <a:solidFill>
                  <a:schemeClr val="tx1"/>
                </a:solidFill>
              </a:rPr>
              <a:t>且</a:t>
            </a:r>
            <a:r>
              <a:rPr lang="en-US" altLang="zh-CN" sz="2400" b="1" i="1" dirty="0">
                <a:solidFill>
                  <a:schemeClr val="tx1"/>
                </a:solidFill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β </a:t>
            </a:r>
            <a:r>
              <a:rPr lang="en-US" altLang="zh-CN" sz="2400" b="1" dirty="0">
                <a:solidFill>
                  <a:schemeClr val="tx1"/>
                </a:solidFill>
              </a:rPr>
              <a:t>) </a:t>
            </a:r>
            <a:r>
              <a:rPr lang="zh-CN" altLang="en-US" sz="2400" b="1" dirty="0">
                <a:solidFill>
                  <a:schemeClr val="tx1"/>
                </a:solidFill>
              </a:rPr>
              <a:t>包含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</a:rPr>
              <a:t>，那么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i="1" dirty="0">
                <a:solidFill>
                  <a:schemeClr val="tx1"/>
                </a:solidFill>
              </a:rPr>
              <a:t>FOLLOW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A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中的所有符号都在</a:t>
            </a:r>
            <a:r>
              <a:rPr lang="en-US" altLang="zh-CN" sz="2400" b="1" i="1" dirty="0">
                <a:solidFill>
                  <a:schemeClr val="tx1"/>
                </a:solidFill>
              </a:rPr>
              <a:t>FOLLOW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B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</a:t>
            </a:r>
          </a:p>
        </p:txBody>
      </p:sp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算法</a:t>
            </a:r>
            <a:endParaRPr lang="zh-CN" altLang="en-US" sz="3000" i="1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37637" cy="3009504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产生式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zh-CN" altLang="en-US" sz="2800" b="1" dirty="0">
                <a:solidFill>
                  <a:schemeClr val="tx1"/>
                </a:solidFill>
              </a:rPr>
              <a:t>的可选集</a:t>
            </a:r>
            <a:r>
              <a:rPr lang="en-US" altLang="zh-CN" sz="2800" b="1" i="1" dirty="0">
                <a:solidFill>
                  <a:schemeClr val="tx1"/>
                </a:solidFill>
              </a:rPr>
              <a:t>SELECT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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400" b="1" dirty="0">
                <a:solidFill>
                  <a:schemeClr val="tx1"/>
                </a:solidFill>
              </a:rPr>
              <a:t> 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)=(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)-{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} )∪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FOLLOW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eaLnBrk="1" hangingPunct="1"/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A71565-8274-4F03-A681-8A81270989C7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34D7EF-2E39-A106-6AF3-31D41710D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例：表达式文法各产生式的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3162343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例：表达式文法各产生式的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4064000" y="1241425"/>
            <a:ext cx="2436813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E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'→ +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'→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 → *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 →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(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 </a:t>
            </a:r>
            <a:r>
              <a:rPr kumimoji="1"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id</a:t>
            </a:r>
          </a:p>
        </p:txBody>
      </p:sp>
      <p:sp>
        <p:nvSpPr>
          <p:cNvPr id="731180" name="Text Box 44"/>
          <p:cNvSpPr txBox="1">
            <a:spLocks noChangeArrowheads="1"/>
          </p:cNvSpPr>
          <p:nvPr/>
        </p:nvSpPr>
        <p:spPr bwMode="auto">
          <a:xfrm>
            <a:off x="6143625" y="1230313"/>
            <a:ext cx="3457575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(1)=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{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id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(2)= {  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(3)= {  </a:t>
            </a:r>
            <a:r>
              <a:rPr lang="en-US" altLang="zh-CN" sz="22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kumimoji="1"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(4)= {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id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(5)= {  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(6)= { </a:t>
            </a:r>
            <a:r>
              <a:rPr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) </a:t>
            </a:r>
            <a:r>
              <a:rPr lang="en-US" altLang="zh-CN" sz="22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(7)= {  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(8)= {   </a:t>
            </a:r>
            <a:r>
              <a:rPr kumimoji="1" lang="en-US" altLang="zh-CN" sz="2200" b="1">
                <a:solidFill>
                  <a:srgbClr val="008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 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642938" y="3873500"/>
            <a:ext cx="3214687" cy="428625"/>
          </a:xfrm>
          <a:prstGeom prst="wedgeRoundRectCallout">
            <a:avLst>
              <a:gd name="adj1" fmla="val -2851"/>
              <a:gd name="adj2" fmla="val -91964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表达式文法是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LL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graphicFrame>
        <p:nvGraphicFramePr>
          <p:cNvPr id="10" name="Group 18"/>
          <p:cNvGraphicFramePr>
            <a:graphicFrameLocks noGrp="1"/>
          </p:cNvGraphicFramePr>
          <p:nvPr/>
        </p:nvGraphicFramePr>
        <p:xfrm>
          <a:off x="285750" y="1516063"/>
          <a:ext cx="3714751" cy="2071689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FIRST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(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FOLLOW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(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E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E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+ 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T</a:t>
                      </a:r>
                      <a:endParaRPr kumimoji="1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T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* 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 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预测分析表</a:t>
            </a: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3203575" y="123825"/>
          <a:ext cx="3214687" cy="2568575"/>
        </p:xfrm>
        <a:graphic>
          <a:graphicData uri="http://schemas.openxmlformats.org/drawingml/2006/table">
            <a:tbl>
              <a:tblPr/>
              <a:tblGrid>
                <a:gridCol w="64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/>
                        <a:ea typeface="楷体_GB2312"/>
                        <a:cs typeface="楷体_GB231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产生式</a:t>
                      </a: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SELECT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  id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+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$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)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  id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*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4" marB="3430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+ ) $ 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id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571500" y="2786063"/>
          <a:ext cx="8001000" cy="2263777"/>
        </p:xfrm>
        <a:graphic>
          <a:graphicData uri="http://schemas.openxmlformats.org/drawingml/2006/table">
            <a:tbl>
              <a:tblPr/>
              <a:tblGrid>
                <a:gridCol w="13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715963" y="1000125"/>
            <a:ext cx="59277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递归的预测分析法</a:t>
            </a: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非递归的预测分析法</a:t>
            </a:r>
          </a:p>
        </p:txBody>
      </p:sp>
      <p:sp>
        <p:nvSpPr>
          <p:cNvPr id="532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文法的分析方法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0183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递归的预测分析法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642938"/>
            <a:ext cx="8135938" cy="3225800"/>
          </a:xfrm>
        </p:spPr>
        <p:txBody>
          <a:bodyPr/>
          <a:lstStyle/>
          <a:p>
            <a:pPr marL="273050"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递归的预测分析法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是指：在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递归下降分析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中，编写每个非终结符对应的过程时，根据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预测分析表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进行产生式的选择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04452" name="内容占位符 1"/>
          <p:cNvSpPr txBox="1">
            <a:spLocks/>
          </p:cNvSpPr>
          <p:nvPr/>
        </p:nvSpPr>
        <p:spPr bwMode="auto">
          <a:xfrm>
            <a:off x="2174875" y="1851025"/>
            <a:ext cx="4643438" cy="2592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void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) {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选择一个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产生式，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A →X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 …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for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= 1 to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) {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if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是一个非终结符号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调用过程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) ; </a:t>
            </a:r>
            <a:endParaRPr lang="en-US" altLang="zh-CN" b="1" i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else  if (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等于当前的输入符号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     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读入下一个输入符号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else /*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发生了一个错误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*/ 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}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51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4149" name="Rectangle 5"/>
          <p:cNvSpPr>
            <a:spLocks noChangeArrowheads="1"/>
          </p:cNvSpPr>
          <p:nvPr/>
        </p:nvSpPr>
        <p:spPr bwMode="auto">
          <a:xfrm>
            <a:off x="4500563" y="1203325"/>
            <a:ext cx="4357687" cy="28686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program DESCENT;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begin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PROGRAM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  <a:r>
              <a:rPr lang="en-US" altLang="zh-CN" sz="22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if</a:t>
            </a:r>
            <a:r>
              <a:rPr lang="en-US" altLang="zh-CN" sz="2200" b="1" dirty="0">
                <a:solidFill>
                  <a:srgbClr val="C6E7FC">
                    <a:lumMod val="50000"/>
                  </a:srgbClr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TOKEN≠’$’ </a:t>
            </a:r>
            <a:r>
              <a:rPr lang="en-US" altLang="zh-CN" sz="22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74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1" grpId="0" animBg="1"/>
      <p:bldP spid="774149" grpId="0" animBg="1"/>
      <p:bldP spid="77414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6198" name="Rectangle 6"/>
          <p:cNvSpPr>
            <a:spLocks noChangeArrowheads="1"/>
          </p:cNvSpPr>
          <p:nvPr/>
        </p:nvSpPr>
        <p:spPr bwMode="auto">
          <a:xfrm>
            <a:off x="4356100" y="1058863"/>
            <a:ext cx="3930650" cy="4013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procedure PROGRAM(TOKEN);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begin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	  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if </a:t>
            </a:r>
            <a:r>
              <a:rPr lang="en-US" altLang="zh-CN" sz="14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TOKEN≠’program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’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DECLIST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4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5EAEFF"/>
                </a:solidFill>
                <a:latin typeface="Times New Roman" pitchFamily="18" charset="0"/>
                <a:ea typeface="楷体_GB2312"/>
                <a:cs typeface="楷体_GB2312"/>
              </a:rPr>
              <a:t>	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    if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TOKEN≠’:’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</a:t>
            </a:r>
            <a:r>
              <a:rPr lang="en-US" altLang="zh-CN" sz="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 </a:t>
            </a:r>
            <a:endParaRPr lang="en-US" altLang="zh-CN" sz="400" b="1" dirty="0">
              <a:solidFill>
                <a:prstClr val="black"/>
              </a:solidFill>
              <a:latin typeface="Times New Roman" pitchFamily="18" charset="0"/>
              <a:ea typeface="楷体_GB2312"/>
              <a:cs typeface="楷体_GB2312"/>
            </a:endParaRP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TYPE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5EAEFF"/>
                </a:solidFill>
                <a:latin typeface="Times New Roman" pitchFamily="18" charset="0"/>
                <a:ea typeface="楷体_GB2312"/>
                <a:cs typeface="楷体_GB2312"/>
              </a:rPr>
              <a:t>	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    if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TOKEN≠’;’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STLIST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if </a:t>
            </a:r>
            <a:r>
              <a:rPr lang="en-US" altLang="zh-CN" sz="14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TOKEN≠’end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’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end	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	</a:t>
            </a:r>
          </a:p>
        </p:txBody>
      </p:sp>
      <p:sp>
        <p:nvSpPr>
          <p:cNvPr id="6" name="Line 45"/>
          <p:cNvSpPr>
            <a:spLocks noChangeShapeType="1"/>
          </p:cNvSpPr>
          <p:nvPr/>
        </p:nvSpPr>
        <p:spPr bwMode="auto">
          <a:xfrm rot="10800000" flipV="1">
            <a:off x="2916238" y="5461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45"/>
          <p:cNvSpPr>
            <a:spLocks noChangeShapeType="1"/>
          </p:cNvSpPr>
          <p:nvPr/>
        </p:nvSpPr>
        <p:spPr bwMode="auto">
          <a:xfrm rot="5400000" flipV="1">
            <a:off x="4856163" y="142875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45"/>
          <p:cNvSpPr>
            <a:spLocks noChangeShapeType="1"/>
          </p:cNvSpPr>
          <p:nvPr/>
        </p:nvSpPr>
        <p:spPr bwMode="auto">
          <a:xfrm rot="10800000" flipV="1">
            <a:off x="3995738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45"/>
          <p:cNvSpPr>
            <a:spLocks noChangeShapeType="1"/>
          </p:cNvSpPr>
          <p:nvPr/>
        </p:nvSpPr>
        <p:spPr bwMode="auto">
          <a:xfrm rot="10800000" flipV="1">
            <a:off x="4716463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5"/>
          <p:cNvSpPr>
            <a:spLocks noChangeShapeType="1"/>
          </p:cNvSpPr>
          <p:nvPr/>
        </p:nvSpPr>
        <p:spPr bwMode="auto">
          <a:xfrm rot="10800000" flipV="1">
            <a:off x="5148263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5"/>
          <p:cNvSpPr>
            <a:spLocks noChangeShapeType="1"/>
          </p:cNvSpPr>
          <p:nvPr/>
        </p:nvSpPr>
        <p:spPr bwMode="auto">
          <a:xfrm rot="10800000" flipV="1">
            <a:off x="5724525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5"/>
          <p:cNvSpPr>
            <a:spLocks noChangeShapeType="1"/>
          </p:cNvSpPr>
          <p:nvPr/>
        </p:nvSpPr>
        <p:spPr bwMode="auto">
          <a:xfrm rot="10800000" flipV="1">
            <a:off x="6300788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45"/>
          <p:cNvSpPr>
            <a:spLocks noChangeShapeType="1"/>
          </p:cNvSpPr>
          <p:nvPr/>
        </p:nvSpPr>
        <p:spPr bwMode="auto">
          <a:xfrm rot="10800000" flipV="1">
            <a:off x="7092950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rot="5400000" flipV="1">
            <a:off x="4851401" y="207645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45"/>
          <p:cNvSpPr>
            <a:spLocks noChangeShapeType="1"/>
          </p:cNvSpPr>
          <p:nvPr/>
        </p:nvSpPr>
        <p:spPr bwMode="auto">
          <a:xfrm rot="5400000" flipV="1">
            <a:off x="4851401" y="2436812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5"/>
          <p:cNvSpPr>
            <a:spLocks noChangeShapeType="1"/>
          </p:cNvSpPr>
          <p:nvPr/>
        </p:nvSpPr>
        <p:spPr bwMode="auto">
          <a:xfrm rot="5400000" flipV="1">
            <a:off x="4851401" y="301307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45"/>
          <p:cNvSpPr>
            <a:spLocks noChangeShapeType="1"/>
          </p:cNvSpPr>
          <p:nvPr/>
        </p:nvSpPr>
        <p:spPr bwMode="auto">
          <a:xfrm rot="5400000" flipV="1">
            <a:off x="4851401" y="3589337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5"/>
          <p:cNvSpPr>
            <a:spLocks noChangeShapeType="1"/>
          </p:cNvSpPr>
          <p:nvPr/>
        </p:nvSpPr>
        <p:spPr bwMode="auto">
          <a:xfrm rot="5400000" flipV="1">
            <a:off x="4851401" y="41656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5"/>
          <p:cNvSpPr>
            <a:spLocks noChangeShapeType="1"/>
          </p:cNvSpPr>
          <p:nvPr/>
        </p:nvSpPr>
        <p:spPr bwMode="auto">
          <a:xfrm rot="5400000" flipV="1">
            <a:off x="4851401" y="45974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8" grpId="0" animBg="1"/>
      <p:bldP spid="776198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777222" name="Rectangle 6"/>
          <p:cNvSpPr>
            <a:spLocks noChangeArrowheads="1"/>
          </p:cNvSpPr>
          <p:nvPr/>
        </p:nvSpPr>
        <p:spPr bwMode="auto">
          <a:xfrm>
            <a:off x="4140200" y="1922463"/>
            <a:ext cx="4437063" cy="2616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procedure DECLIST(TOKEN);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if 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TOKEN≠’id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GETNEXT(TOKEN);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DECLISTN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2" grpId="0" animBg="1"/>
      <p:bldP spid="77722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295910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78246" name="Rectangle 6"/>
          <p:cNvSpPr>
            <a:spLocks noChangeArrowheads="1"/>
          </p:cNvSpPr>
          <p:nvPr/>
        </p:nvSpPr>
        <p:spPr bwMode="auto">
          <a:xfrm>
            <a:off x="4356100" y="1058863"/>
            <a:ext cx="4573588" cy="39814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DECLISTN(TOKEN);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if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 =‘,’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begin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5EAEFF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if </a:t>
            </a:r>
            <a:r>
              <a:rPr lang="en-US" altLang="zh-CN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TOKEN≠’id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DECLISTN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end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else  if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TOKEN≠’:’ 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	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6" grpId="0" animBg="1"/>
      <p:bldP spid="77824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0419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79270" name="Rectangle 6"/>
          <p:cNvSpPr>
            <a:spLocks noChangeArrowheads="1"/>
          </p:cNvSpPr>
          <p:nvPr/>
        </p:nvSpPr>
        <p:spPr bwMode="auto">
          <a:xfrm>
            <a:off x="3851275" y="2001838"/>
            <a:ext cx="4935538" cy="2730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STLIST(TOKEN);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TOKEN≠’s’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7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STLISTN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70" grpId="0" animBg="1"/>
      <p:bldP spid="77927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80294" name="Rectangle 6"/>
          <p:cNvSpPr>
            <a:spLocks noChangeArrowheads="1"/>
          </p:cNvSpPr>
          <p:nvPr/>
        </p:nvSpPr>
        <p:spPr bwMode="auto">
          <a:xfrm>
            <a:off x="4284663" y="1149350"/>
            <a:ext cx="4464050" cy="3851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STLISTN(TOKEN);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TOKEN =‘;’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begin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TOKEN≠’s’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STLISTN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	 end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else  if </a:t>
            </a:r>
            <a:r>
              <a:rPr lang="en-US" altLang="zh-CN" sz="16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TOKEN≠’end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	</a:t>
            </a: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2469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4" grpId="0" animBg="1"/>
      <p:bldP spid="78029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959225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3924300" y="2932113"/>
            <a:ext cx="4895850" cy="19256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TYPE(TOKEN);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TOKEN≠’real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and TOKEN≠’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	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/>
          <p:cNvSpPr>
            <a:spLocks noGrp="1"/>
          </p:cNvSpPr>
          <p:nvPr>
            <p:ph idx="1"/>
          </p:nvPr>
        </p:nvSpPr>
        <p:spPr>
          <a:xfrm>
            <a:off x="430213" y="742950"/>
            <a:ext cx="8256587" cy="12573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非递归的预测分析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不需要</a:t>
            </a:r>
            <a:r>
              <a:rPr lang="zh-CN" altLang="en-US" b="1" dirty="0">
                <a:solidFill>
                  <a:schemeClr val="tx1"/>
                </a:solidFill>
              </a:rPr>
              <a:t>为每个非终结符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编写递归下降过程</a:t>
            </a:r>
            <a:r>
              <a:rPr lang="zh-CN" altLang="en-US" b="1" dirty="0">
                <a:solidFill>
                  <a:schemeClr val="tx1"/>
                </a:solidFill>
              </a:rPr>
              <a:t>，而是根据预测分析表构造一个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自动机</a:t>
            </a:r>
            <a:r>
              <a:rPr lang="zh-CN" altLang="en-US" b="1" dirty="0">
                <a:solidFill>
                  <a:schemeClr val="tx1"/>
                </a:solidFill>
              </a:rPr>
              <a:t>，也叫</a:t>
            </a:r>
            <a:r>
              <a:rPr lang="zh-CN" altLang="en-US" b="1" dirty="0">
                <a:solidFill>
                  <a:srgbClr val="FF0000"/>
                </a:solidFill>
              </a:rPr>
              <a:t>表驱动的预测分析</a:t>
            </a:r>
          </a:p>
        </p:txBody>
      </p:sp>
      <p:sp>
        <p:nvSpPr>
          <p:cNvPr id="665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非递归的预测分析法</a:t>
            </a:r>
          </a:p>
        </p:txBody>
      </p:sp>
      <p:grpSp>
        <p:nvGrpSpPr>
          <p:cNvPr id="4" name="组合 66571"/>
          <p:cNvGrpSpPr>
            <a:grpSpLocks/>
          </p:cNvGrpSpPr>
          <p:nvPr/>
        </p:nvGrpSpPr>
        <p:grpSpPr bwMode="auto">
          <a:xfrm>
            <a:off x="1982788" y="1928813"/>
            <a:ext cx="6446837" cy="2990850"/>
            <a:chOff x="1313694" y="2067694"/>
            <a:chExt cx="6448201" cy="2989811"/>
          </a:xfrm>
        </p:grpSpPr>
        <p:sp>
          <p:nvSpPr>
            <p:cNvPr id="2" name="矩形 1"/>
            <p:cNvSpPr/>
            <p:nvPr/>
          </p:nvSpPr>
          <p:spPr>
            <a:xfrm>
              <a:off x="1313694" y="2067694"/>
              <a:ext cx="6448201" cy="29898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44" name="TextBox 10"/>
            <p:cNvSpPr txBox="1">
              <a:spLocks noChangeArrowheads="1"/>
            </p:cNvSpPr>
            <p:nvPr/>
          </p:nvSpPr>
          <p:spPr bwMode="auto"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ts val="2000"/>
                </a:lnSpc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  +  b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>
                <a:solidFill>
                  <a:srgbClr val="000000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rot="-360000" flipV="1">
              <a:off x="4563994" y="2732625"/>
              <a:ext cx="320743" cy="374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46" name="TextBox 20"/>
            <p:cNvSpPr txBox="1">
              <a:spLocks noChangeArrowheads="1"/>
            </p:cNvSpPr>
            <p:nvPr/>
          </p:nvSpPr>
          <p:spPr bwMode="auto">
            <a:xfrm>
              <a:off x="3957440" y="3107145"/>
              <a:ext cx="1213107" cy="7077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预测分析程序</a:t>
              </a:r>
            </a:p>
          </p:txBody>
        </p:sp>
        <p:sp>
          <p:nvSpPr>
            <p:cNvPr id="65547" name="TextBox 8"/>
            <p:cNvSpPr txBox="1">
              <a:spLocks noChangeArrowheads="1"/>
            </p:cNvSpPr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输入</a:t>
              </a:r>
            </a:p>
          </p:txBody>
        </p:sp>
        <p:sp>
          <p:nvSpPr>
            <p:cNvPr id="27" name="等腰三角形 26"/>
            <p:cNvSpPr/>
            <p:nvPr/>
          </p:nvSpPr>
          <p:spPr bwMode="auto">
            <a:xfrm rot="2100000">
              <a:off x="4792642" y="2577104"/>
              <a:ext cx="134967" cy="2634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49" name="TextBox 27"/>
            <p:cNvSpPr txBox="1">
              <a:spLocks noChangeArrowheads="1"/>
            </p:cNvSpPr>
            <p:nvPr/>
          </p:nvSpPr>
          <p:spPr bwMode="auto">
            <a:xfrm>
              <a:off x="3957440" y="4167226"/>
              <a:ext cx="1213107" cy="70936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预测</a:t>
              </a:r>
              <a:endParaRPr lang="en-US" altLang="zh-CN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分析表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</a:t>
              </a:r>
              <a:endParaRPr lang="zh-CN" altLang="en-US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9" name="直接连接符 28"/>
            <p:cNvCxnSpPr>
              <a:endCxn id="65549" idx="0"/>
            </p:cNvCxnSpPr>
            <p:nvPr/>
          </p:nvCxnSpPr>
          <p:spPr bwMode="auto">
            <a:xfrm rot="5400000">
              <a:off x="4408493" y="3975206"/>
              <a:ext cx="3840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等腰三角形 31"/>
            <p:cNvSpPr/>
            <p:nvPr/>
          </p:nvSpPr>
          <p:spPr bwMode="auto">
            <a:xfrm rot="10800000">
              <a:off x="4540177" y="4013293"/>
              <a:ext cx="134966" cy="1428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5170547" y="3478491"/>
              <a:ext cx="10717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>
              <a:off x="2885652" y="3488012"/>
              <a:ext cx="10717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等腰三角形 35"/>
            <p:cNvSpPr/>
            <p:nvPr/>
          </p:nvSpPr>
          <p:spPr bwMode="auto">
            <a:xfrm rot="5400000">
              <a:off x="6054215" y="3349081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 bwMode="auto">
            <a:xfrm rot="16200000">
              <a:off x="2919827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56" name="TextBox 37"/>
            <p:cNvSpPr txBox="1">
              <a:spLocks noChangeArrowheads="1"/>
            </p:cNvSpPr>
            <p:nvPr/>
          </p:nvSpPr>
          <p:spPr bwMode="auto">
            <a:xfrm>
              <a:off x="1313694" y="3262666"/>
              <a:ext cx="1071789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栈</a:t>
              </a:r>
            </a:p>
          </p:txBody>
        </p:sp>
        <p:sp>
          <p:nvSpPr>
            <p:cNvPr id="65557" name="TextBox 38"/>
            <p:cNvSpPr txBox="1">
              <a:spLocks noChangeArrowheads="1"/>
            </p:cNvSpPr>
            <p:nvPr/>
          </p:nvSpPr>
          <p:spPr bwMode="auto">
            <a:xfrm>
              <a:off x="6170883" y="3251558"/>
              <a:ext cx="1071790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输出</a:t>
              </a:r>
            </a:p>
          </p:txBody>
        </p:sp>
        <p:sp>
          <p:nvSpPr>
            <p:cNvPr id="65558" name="TextBox 10"/>
            <p:cNvSpPr txBox="1">
              <a:spLocks noChangeArrowheads="1"/>
            </p:cNvSpPr>
            <p:nvPr/>
          </p:nvSpPr>
          <p:spPr bwMode="auto">
            <a:xfrm>
              <a:off x="2242376" y="3316889"/>
              <a:ext cx="571501" cy="1631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H="1" flipV="1">
              <a:off x="2242577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 flipH="1" flipV="1">
              <a:off x="2242577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H="1" flipV="1">
              <a:off x="2242577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69863" y="3794125"/>
            <a:ext cx="2544762" cy="777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30000"/>
              </a:spcBef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下推自动机</a:t>
            </a:r>
            <a:endParaRPr lang="en-US" altLang="zh-CN" sz="25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 eaLnBrk="1" hangingPunct="1">
              <a:spcBef>
                <a:spcPct val="30000"/>
              </a:spcBef>
              <a:defRPr/>
            </a:pPr>
            <a:r>
              <a:rPr lang="en-US" altLang="zh-CN" sz="1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(</a:t>
            </a:r>
            <a:r>
              <a:rPr lang="en-US" altLang="zh-CN" sz="15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Push Down Automata, PDA</a:t>
            </a:r>
            <a:r>
              <a:rPr lang="en-US" altLang="zh-CN" sz="1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</a:p>
        </p:txBody>
      </p:sp>
      <p:sp>
        <p:nvSpPr>
          <p:cNvPr id="66569" name="矩形 66568"/>
          <p:cNvSpPr/>
          <p:nvPr/>
        </p:nvSpPr>
        <p:spPr>
          <a:xfrm>
            <a:off x="6213475" y="4038600"/>
            <a:ext cx="25019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≥1}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656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735234" name="Rectangle 2"/>
          <p:cNvSpPr>
            <a:spLocks noGrp="1" noChangeArrowheads="1"/>
          </p:cNvSpPr>
          <p:nvPr>
            <p:ph idx="1"/>
          </p:nvPr>
        </p:nvSpPr>
        <p:spPr>
          <a:xfrm>
            <a:off x="5219700" y="71438"/>
            <a:ext cx="4465638" cy="56372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栈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剩余输入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输出</a:t>
            </a:r>
          </a:p>
          <a:p>
            <a:pPr marL="342900" lvl="2" indent="-342900" eaLnBrk="1" hangingPunct="1">
              <a:lnSpc>
                <a:spcPct val="90000"/>
              </a:lnSpc>
              <a:buSzPct val="60000"/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 $ 	</a:t>
            </a:r>
          </a:p>
          <a:p>
            <a:pPr marL="342900" lvl="2" indent="-342900" eaLnBrk="1" hangingPunct="1">
              <a:lnSpc>
                <a:spcPct val="90000"/>
              </a:lnSpc>
              <a:buSzPct val="60000"/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+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→+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    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*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→*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  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kumimoji="1"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  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          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          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$ 	                     $    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93366"/>
              </p:ext>
            </p:extLst>
          </p:nvPr>
        </p:nvGraphicFramePr>
        <p:xfrm>
          <a:off x="171450" y="1232393"/>
          <a:ext cx="4986338" cy="2203453"/>
        </p:xfrm>
        <a:graphic>
          <a:graphicData uri="http://schemas.openxmlformats.org/drawingml/2006/table">
            <a:tbl>
              <a:tblPr/>
              <a:tblGrid>
                <a:gridCol w="5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649" name="矩形 17"/>
          <p:cNvSpPr>
            <a:spLocks noChangeArrowheads="1"/>
          </p:cNvSpPr>
          <p:nvPr/>
        </p:nvSpPr>
        <p:spPr bwMode="auto">
          <a:xfrm>
            <a:off x="250825" y="1868488"/>
            <a:ext cx="5113338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      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                                         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</a:t>
            </a:r>
            <a:endParaRPr kumimoji="1" lang="zh-CN" altLang="en-US" sz="1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>
                <a:solidFill>
                  <a:srgbClr val="000000"/>
                </a:solidFill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T'                         T'→ε         T'→*FT' 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F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(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1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50" name="矩形 2"/>
          <p:cNvSpPr>
            <a:spLocks noChangeArrowheads="1"/>
          </p:cNvSpPr>
          <p:nvPr/>
        </p:nvSpPr>
        <p:spPr bwMode="auto">
          <a:xfrm>
            <a:off x="158750" y="1273668"/>
            <a:ext cx="595313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D04093-750C-AE3A-F664-364FEE921BA9}"/>
              </a:ext>
            </a:extLst>
          </p:cNvPr>
          <p:cNvSpPr txBox="1"/>
          <p:nvPr/>
        </p:nvSpPr>
        <p:spPr>
          <a:xfrm>
            <a:off x="100572" y="734106"/>
            <a:ext cx="4843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输入符号串：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id+id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*id 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4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内容占位符 2"/>
          <p:cNvSpPr>
            <a:spLocks noGrp="1"/>
          </p:cNvSpPr>
          <p:nvPr>
            <p:ph idx="1"/>
          </p:nvPr>
        </p:nvSpPr>
        <p:spPr>
          <a:xfrm>
            <a:off x="142875" y="642938"/>
            <a:ext cx="871537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输入：一个串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和文法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的分析表</a:t>
            </a:r>
            <a:r>
              <a:rPr lang="en-US" altLang="zh-CN" sz="18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endParaRPr lang="en-US" altLang="zh-CN" sz="1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输出：如果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18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G </a:t>
            </a:r>
            <a:r>
              <a:rPr lang="en-US" altLang="zh-CN" sz="18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中，输出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的最左推导；否则给出错误指示</a:t>
            </a:r>
            <a:endParaRPr lang="en-US" altLang="zh-CN" sz="1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方法：最初，语法分析器的格局如下：输入缓冲区中是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en-US" altLang="zh-CN" sz="1800" b="1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的开始符号位于栈顶，其下面是</a:t>
            </a:r>
            <a:r>
              <a:rPr lang="en-US" altLang="zh-CN" sz="1800" b="1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。下面的程序使用预测分析表</a:t>
            </a:r>
            <a:r>
              <a:rPr lang="en-US" altLang="zh-CN" sz="1800" b="1" i="1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sz="1800" b="1">
                <a:solidFill>
                  <a:schemeClr val="tx1"/>
                </a:solidFill>
                <a:cs typeface="Times New Roman" panose="02020603050405020304" pitchFamily="18" charset="0"/>
              </a:rPr>
              <a:t>生成了处理这个输入的预测分析过程</a:t>
            </a:r>
          </a:p>
        </p:txBody>
      </p:sp>
      <p:sp>
        <p:nvSpPr>
          <p:cNvPr id="696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表驱动的预测分析法</a:t>
            </a: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896938" y="2000250"/>
            <a:ext cx="7318375" cy="3000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设置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使它指向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的第一个符号，其中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是输入指针；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栈顶符号；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while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≠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＄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｛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/*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栈非空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*/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等于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所指向的符号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执行栈的弹出操作，将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向前移动一个位置；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是一个终结符号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error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) ;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是一个报错条目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error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) ;          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 =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｛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输出产生式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弹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出栈顶符号；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压入栈中，其中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位于栈顶。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}</a:t>
            </a: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栈顶符号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                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endParaRPr lang="zh-CN" altLang="en-US" sz="1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828022"/>
              </p:ext>
            </p:extLst>
          </p:nvPr>
        </p:nvGraphicFramePr>
        <p:xfrm>
          <a:off x="1285875" y="1285875"/>
          <a:ext cx="6572251" cy="2163590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递归的预测分析法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非递归的预测分析法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0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较大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主控程序规模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直观性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较好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较差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效率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较低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分析时间大约正比于待分析程序的长度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递归的预测分析法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vs.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非递归的预测分析法</a:t>
            </a:r>
          </a:p>
        </p:txBody>
      </p:sp>
      <p:sp>
        <p:nvSpPr>
          <p:cNvPr id="2" name="笑脸 1"/>
          <p:cNvSpPr/>
          <p:nvPr/>
        </p:nvSpPr>
        <p:spPr>
          <a:xfrm>
            <a:off x="4356100" y="2498725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笑脸 4"/>
          <p:cNvSpPr/>
          <p:nvPr/>
        </p:nvSpPr>
        <p:spPr>
          <a:xfrm>
            <a:off x="7069138" y="1923678"/>
            <a:ext cx="287337" cy="217487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笑脸 5"/>
          <p:cNvSpPr/>
          <p:nvPr/>
        </p:nvSpPr>
        <p:spPr>
          <a:xfrm>
            <a:off x="7356475" y="3143250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14375"/>
            <a:ext cx="89154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1）构造文法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2）改造文法：消除二义性、消除左递归、消除回溯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3）求每个变量的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</a:t>
            </a: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集和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集，从而</a:t>
            </a:r>
            <a:r>
              <a:rPr lang="zh-CN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求得每个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 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候选式的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SELECT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集</a:t>
            </a:r>
            <a:endParaRPr lang="zh-CN" altLang="zh-CN" sz="25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4）检查是不是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(1)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文法。若是，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构造预测分析表</a:t>
            </a: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5）对于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递归的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预测分析，根据预测分析表为每一个非终结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符编写一个过程；对于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非递归的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预测分析，实现表驱动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的预测分析算法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zh-CN" altLang="en-US" sz="28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预测分析法实现步骤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917575"/>
            <a:ext cx="7907338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两种情况下可以检测到错误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栈顶的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</a:rPr>
              <a:t>终结符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和当前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</a:rPr>
              <a:t>输入符号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不匹配</a:t>
            </a:r>
            <a:endParaRPr lang="en-US" altLang="zh-CN" sz="25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栈顶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非终结符</a:t>
            </a:r>
            <a:r>
              <a:rPr lang="zh-CN" altLang="en-US" sz="2500" b="1" dirty="0">
                <a:solidFill>
                  <a:schemeClr val="tx1"/>
                </a:solidFill>
              </a:rPr>
              <a:t>与当前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zh-CN" altLang="en-US" sz="2500" b="1" dirty="0">
                <a:solidFill>
                  <a:schemeClr val="tx1"/>
                </a:solidFill>
              </a:rPr>
              <a:t>在预测分析表对应项中的信息为空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714375"/>
            <a:ext cx="8267700" cy="4162425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恐慌模式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忽略输入中的一些符号，直到输入中出现由设计者选定的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同步词法单元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synchronizing token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</a:rPr>
              <a:t>集合中的某个词法单元</a:t>
            </a:r>
            <a:endParaRPr lang="en-US" altLang="zh-CN" sz="24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2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其效果依赖于</a:t>
            </a:r>
            <a:r>
              <a:rPr lang="zh-CN" altLang="en-US" b="1" dirty="0">
                <a:solidFill>
                  <a:srgbClr val="2D83F4"/>
                </a:solidFill>
              </a:rPr>
              <a:t>同步集合的选取</a:t>
            </a:r>
            <a:r>
              <a:rPr lang="zh-CN" altLang="en-US" b="1" dirty="0">
                <a:solidFill>
                  <a:schemeClr val="tx1"/>
                </a:solidFill>
              </a:rPr>
              <a:t>。集合的选取应该使得语法分析器能从实际遇到的错误中</a:t>
            </a:r>
            <a:r>
              <a:rPr lang="zh-CN" altLang="en-US" b="1" dirty="0">
                <a:solidFill>
                  <a:srgbClr val="2D83F4"/>
                </a:solidFill>
              </a:rPr>
              <a:t>快速恢复</a:t>
            </a:r>
            <a:endParaRPr lang="en-US" altLang="zh-CN" b="1" dirty="0">
              <a:solidFill>
                <a:srgbClr val="2D83F4"/>
              </a:solidFill>
            </a:endParaRPr>
          </a:p>
          <a:p>
            <a:pPr lvl="3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例如可以把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FOLLOW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中的所有终结符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放入非终结符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的同步记号集合</a:t>
            </a:r>
            <a:endParaRPr lang="en-US" altLang="zh-CN" b="1" dirty="0">
              <a:solidFill>
                <a:srgbClr val="2D83F4"/>
              </a:solidFill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如果终结符在栈顶而不能匹配，一个简单的办法就是弹出此终结符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endParaRPr lang="en-US" altLang="zh-CN" sz="2400" b="1" dirty="0">
              <a:solidFill>
                <a:srgbClr val="2D83F4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预测分析中的错误恢复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oup 18"/>
          <p:cNvGraphicFramePr>
            <a:graphicFrameLocks noGrp="1"/>
          </p:cNvGraphicFramePr>
          <p:nvPr/>
        </p:nvGraphicFramePr>
        <p:xfrm>
          <a:off x="6719888" y="722313"/>
          <a:ext cx="2119312" cy="1931988"/>
        </p:xfrm>
        <a:graphic>
          <a:graphicData uri="http://schemas.openxmlformats.org/drawingml/2006/table">
            <a:tbl>
              <a:tblPr/>
              <a:tblGrid>
                <a:gridCol w="62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2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7950" y="3217863"/>
            <a:ext cx="8928100" cy="1925637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分析表的使用方法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M[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]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是空，表示检测到错误，根据恐慌模式，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忽略输入符号</a:t>
            </a:r>
            <a:r>
              <a:rPr lang="en-US" altLang="zh-CN" sz="19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M[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]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19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synch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，则报错，弹出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栈顶的非终结符</a:t>
            </a:r>
            <a:r>
              <a:rPr lang="en-US" altLang="zh-CN" sz="19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，试图继续分析后面的语法成分</a:t>
            </a:r>
            <a:endParaRPr lang="zh-CN" altLang="en-US" sz="19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栈顶的终结符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和输入符号不匹配，则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弹出栈顶的终结符</a:t>
            </a:r>
            <a:endParaRPr lang="en-US" altLang="zh-CN" sz="19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377950" y="447675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959" name="矩形 18"/>
          <p:cNvSpPr>
            <a:spLocks noChangeArrowheads="1"/>
          </p:cNvSpPr>
          <p:nvPr/>
        </p:nvSpPr>
        <p:spPr bwMode="auto">
          <a:xfrm>
            <a:off x="1450975" y="1116013"/>
            <a:ext cx="511175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      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                                         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</a:t>
            </a:r>
            <a:endParaRPr kumimoji="1" lang="zh-CN" altLang="en-US" sz="1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>
                <a:solidFill>
                  <a:srgbClr val="000000"/>
                </a:solidFill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T'                         T'→ε          T'→*FT'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F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(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1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355" name="Rectangle 28"/>
          <p:cNvSpPr>
            <a:spLocks noChangeArrowheads="1"/>
          </p:cNvSpPr>
          <p:nvPr/>
        </p:nvSpPr>
        <p:spPr bwMode="auto">
          <a:xfrm>
            <a:off x="5911850" y="114935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6" name="Rectangle 29"/>
          <p:cNvSpPr>
            <a:spLocks noChangeArrowheads="1"/>
          </p:cNvSpPr>
          <p:nvPr/>
        </p:nvSpPr>
        <p:spPr bwMode="auto">
          <a:xfrm>
            <a:off x="5203825" y="1138238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7" name="Rectangle 30"/>
          <p:cNvSpPr>
            <a:spLocks noChangeArrowheads="1"/>
          </p:cNvSpPr>
          <p:nvPr/>
        </p:nvSpPr>
        <p:spPr bwMode="auto">
          <a:xfrm>
            <a:off x="2819400" y="1779588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8" name="Rectangle 31"/>
          <p:cNvSpPr>
            <a:spLocks noChangeArrowheads="1"/>
          </p:cNvSpPr>
          <p:nvPr/>
        </p:nvSpPr>
        <p:spPr bwMode="auto">
          <a:xfrm>
            <a:off x="5194300" y="177323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9" name="Rectangle 32"/>
          <p:cNvSpPr>
            <a:spLocks noChangeArrowheads="1"/>
          </p:cNvSpPr>
          <p:nvPr/>
        </p:nvSpPr>
        <p:spPr bwMode="auto">
          <a:xfrm>
            <a:off x="5911850" y="177323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0" name="Rectangle 33"/>
          <p:cNvSpPr>
            <a:spLocks noChangeArrowheads="1"/>
          </p:cNvSpPr>
          <p:nvPr/>
        </p:nvSpPr>
        <p:spPr bwMode="auto">
          <a:xfrm>
            <a:off x="2819400" y="23622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1" name="Rectangle 34"/>
          <p:cNvSpPr>
            <a:spLocks noChangeArrowheads="1"/>
          </p:cNvSpPr>
          <p:nvPr/>
        </p:nvSpPr>
        <p:spPr bwMode="auto">
          <a:xfrm>
            <a:off x="3681413" y="23622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2" name="Rectangle 35"/>
          <p:cNvSpPr>
            <a:spLocks noChangeArrowheads="1"/>
          </p:cNvSpPr>
          <p:nvPr/>
        </p:nvSpPr>
        <p:spPr bwMode="auto">
          <a:xfrm>
            <a:off x="5199063" y="235108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3" name="Rectangle 36"/>
          <p:cNvSpPr>
            <a:spLocks noChangeArrowheads="1"/>
          </p:cNvSpPr>
          <p:nvPr/>
        </p:nvSpPr>
        <p:spPr bwMode="auto">
          <a:xfrm>
            <a:off x="5913438" y="235108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79969" name="矩形 30"/>
          <p:cNvSpPr>
            <a:spLocks noChangeArrowheads="1"/>
          </p:cNvSpPr>
          <p:nvPr/>
        </p:nvSpPr>
        <p:spPr bwMode="auto">
          <a:xfrm>
            <a:off x="1357313" y="458788"/>
            <a:ext cx="59531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  <p:sp>
        <p:nvSpPr>
          <p:cNvPr id="3" name="矩形 2"/>
          <p:cNvSpPr/>
          <p:nvPr/>
        </p:nvSpPr>
        <p:spPr>
          <a:xfrm>
            <a:off x="1258888" y="2787650"/>
            <a:ext cx="73564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Synch</a:t>
            </a: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表示根据相应非终结符的</a:t>
            </a:r>
            <a:r>
              <a:rPr lang="en-US" altLang="zh-CN" sz="2000" b="1" i="1" dirty="0">
                <a:solidFill>
                  <a:srgbClr val="3333FF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FOLLOW</a:t>
            </a:r>
            <a:r>
              <a:rPr lang="zh-CN" altLang="en-US" sz="20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集</a:t>
            </a: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得到的同步词法单元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842125" y="776288"/>
            <a:ext cx="197485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FOLLOW(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55" grpId="0"/>
      <p:bldP spid="139356" grpId="0"/>
      <p:bldP spid="139357" grpId="0"/>
      <p:bldP spid="139358" grpId="0"/>
      <p:bldP spid="139359" grpId="0"/>
      <p:bldP spid="139360" grpId="0"/>
      <p:bldP spid="139361" grpId="0"/>
      <p:bldP spid="139362" grpId="0"/>
      <p:bldP spid="139363" grpId="0"/>
      <p:bldP spid="3" grpId="0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29250" y="176213"/>
            <a:ext cx="3883025" cy="47529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 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栈	  剩余输入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ignore 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*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error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E'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+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endParaRPr lang="en-US" altLang="zh-CN" sz="1800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28588" y="1563688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1983" name="组合 4"/>
          <p:cNvGrpSpPr>
            <a:grpSpLocks/>
          </p:cNvGrpSpPr>
          <p:nvPr/>
        </p:nvGrpSpPr>
        <p:grpSpPr bwMode="auto">
          <a:xfrm>
            <a:off x="200025" y="2232025"/>
            <a:ext cx="5113338" cy="1546225"/>
            <a:chOff x="395536" y="3558112"/>
            <a:chExt cx="5112568" cy="1547090"/>
          </a:xfrm>
        </p:grpSpPr>
        <p:sp>
          <p:nvSpPr>
            <p:cNvPr id="81985" name="矩形 17"/>
            <p:cNvSpPr>
              <a:spLocks noChangeArrowheads="1"/>
            </p:cNvSpPr>
            <p:nvPr/>
          </p:nvSpPr>
          <p:spPr bwMode="auto">
            <a:xfrm>
              <a:off x="395536" y="3558112"/>
              <a:ext cx="5112568" cy="154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       E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→TE'                                           </a:t>
              </a: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→TE'</a:t>
              </a:r>
              <a:endParaRPr kumimoji="1" lang="zh-CN" altLang="en-US" sz="14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E'                       E'→+TE'                                       E'→ε</a:t>
              </a:r>
              <a:r>
                <a:rPr lang="zh-CN" altLang="en-US" sz="1400">
                  <a:solidFill>
                    <a:srgbClr val="000000"/>
                  </a:solidFill>
                  <a:latin typeface="Candara" panose="020E0502030303020204" pitchFamily="34" charset="0"/>
                  <a:ea typeface="华文楷体" panose="02010600040101010101" pitchFamily="2" charset="-122"/>
                </a:rPr>
                <a:t>      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       T→FT'                                           T→FT'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T'                         T'→ε          T'→*FT'                  T'→ε      T'→ε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       F→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                       F→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 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1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86" name="Rectangle 28"/>
            <p:cNvSpPr>
              <a:spLocks noChangeArrowheads="1"/>
            </p:cNvSpPr>
            <p:nvPr/>
          </p:nvSpPr>
          <p:spPr bwMode="auto">
            <a:xfrm>
              <a:off x="4857748" y="3590486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7" name="Rectangle 29"/>
            <p:cNvSpPr>
              <a:spLocks noChangeArrowheads="1"/>
            </p:cNvSpPr>
            <p:nvPr/>
          </p:nvSpPr>
          <p:spPr bwMode="auto">
            <a:xfrm>
              <a:off x="4149654" y="3579862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8" name="Rectangle 30"/>
            <p:cNvSpPr>
              <a:spLocks noChangeArrowheads="1"/>
            </p:cNvSpPr>
            <p:nvPr/>
          </p:nvSpPr>
          <p:spPr bwMode="auto">
            <a:xfrm>
              <a:off x="1763688" y="4221924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9" name="Rectangle 31"/>
            <p:cNvSpPr>
              <a:spLocks noChangeArrowheads="1"/>
            </p:cNvSpPr>
            <p:nvPr/>
          </p:nvSpPr>
          <p:spPr bwMode="auto">
            <a:xfrm>
              <a:off x="4139952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0" name="Rectangle 32"/>
            <p:cNvSpPr>
              <a:spLocks noChangeArrowheads="1"/>
            </p:cNvSpPr>
            <p:nvPr/>
          </p:nvSpPr>
          <p:spPr bwMode="auto">
            <a:xfrm>
              <a:off x="4857748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1" name="Rectangle 33"/>
            <p:cNvSpPr>
              <a:spLocks noChangeArrowheads="1"/>
            </p:cNvSpPr>
            <p:nvPr/>
          </p:nvSpPr>
          <p:spPr bwMode="auto">
            <a:xfrm>
              <a:off x="1763688" y="480358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2" name="Rectangle 34"/>
            <p:cNvSpPr>
              <a:spLocks noChangeArrowheads="1"/>
            </p:cNvSpPr>
            <p:nvPr/>
          </p:nvSpPr>
          <p:spPr bwMode="auto">
            <a:xfrm>
              <a:off x="2627146" y="4804735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3" name="Rectangle 35"/>
            <p:cNvSpPr>
              <a:spLocks noChangeArrowheads="1"/>
            </p:cNvSpPr>
            <p:nvPr/>
          </p:nvSpPr>
          <p:spPr bwMode="auto">
            <a:xfrm>
              <a:off x="4144659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4" name="Rectangle 36"/>
            <p:cNvSpPr>
              <a:spLocks noChangeArrowheads="1"/>
            </p:cNvSpPr>
            <p:nvPr/>
          </p:nvSpPr>
          <p:spPr bwMode="auto">
            <a:xfrm>
              <a:off x="4859394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</p:grpSp>
      <p:sp>
        <p:nvSpPr>
          <p:cNvPr id="81984" name="矩形 2"/>
          <p:cNvSpPr>
            <a:spLocks noChangeArrowheads="1"/>
          </p:cNvSpPr>
          <p:nvPr/>
        </p:nvSpPr>
        <p:spPr bwMode="auto">
          <a:xfrm>
            <a:off x="107950" y="1574800"/>
            <a:ext cx="595313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/>
              <a:t>总结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计算机实现自顶向下分析</a:t>
            </a:r>
            <a:r>
              <a:rPr lang="en-US" altLang="zh-CN"/>
              <a:t> </a:t>
            </a:r>
            <a:r>
              <a:rPr lang="zh-CN" altLang="en-US"/>
              <a:t>？</a:t>
            </a:r>
            <a:endParaRPr lang="en-US" altLang="zh-CN"/>
          </a:p>
          <a:p>
            <a:r>
              <a:rPr lang="zh-CN" altLang="en-US"/>
              <a:t>递归下降分析法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文法转换：</a:t>
            </a:r>
            <a:endParaRPr lang="en-US" altLang="zh-CN"/>
          </a:p>
          <a:p>
            <a:r>
              <a:rPr lang="zh-CN" altLang="en-US"/>
              <a:t>提取左公因子和 消除递归</a:t>
            </a:r>
            <a:endParaRPr lang="en-US" altLang="zh-CN"/>
          </a:p>
          <a:p>
            <a:r>
              <a:rPr lang="en-US" altLang="zh-CN"/>
              <a:t>3. LL(1)</a:t>
            </a:r>
            <a:r>
              <a:rPr lang="zh-CN" altLang="en-US"/>
              <a:t>文法的</a:t>
            </a:r>
            <a:r>
              <a:rPr lang="en-US" altLang="zh-CN"/>
              <a:t>First</a:t>
            </a:r>
            <a:r>
              <a:rPr lang="zh-CN" altLang="en-US"/>
              <a:t>集和</a:t>
            </a:r>
            <a:r>
              <a:rPr lang="en-US" altLang="zh-CN"/>
              <a:t>Select</a:t>
            </a:r>
            <a:r>
              <a:rPr lang="zh-CN" altLang="en-US"/>
              <a:t>集</a:t>
            </a: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C34A71-C284-444D-B771-8A88B94855EF}" type="slidenum">
              <a:rPr lang="zh-CN" altLang="en-US" sz="14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073AAC-24C3-45BD-859A-FCC2F254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958850"/>
            <a:ext cx="7931224" cy="3225800"/>
          </a:xfrm>
        </p:spPr>
        <p:txBody>
          <a:bodyPr/>
          <a:lstStyle/>
          <a:p>
            <a:r>
              <a:rPr lang="zh-CN" altLang="en-US" sz="3600" dirty="0"/>
              <a:t>练习</a:t>
            </a:r>
            <a:r>
              <a:rPr lang="en-US" altLang="zh-CN" sz="3600" dirty="0"/>
              <a:t>4.2.1</a:t>
            </a:r>
            <a:r>
              <a:rPr lang="zh-CN" altLang="en-US" sz="3600" dirty="0"/>
              <a:t>、</a:t>
            </a:r>
            <a:r>
              <a:rPr lang="en-US" altLang="zh-CN" sz="3600" dirty="0"/>
              <a:t>4.3.1</a:t>
            </a:r>
            <a:r>
              <a:rPr lang="zh-CN" altLang="en-US" sz="3600" dirty="0"/>
              <a:t>、</a:t>
            </a:r>
            <a:r>
              <a:rPr lang="en-US" altLang="zh-CN" sz="3600" dirty="0"/>
              <a:t>4.3.2</a:t>
            </a: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）和</a:t>
            </a:r>
            <a:r>
              <a:rPr lang="en-US" altLang="zh-CN" sz="3600" dirty="0"/>
              <a:t>4.4.1</a:t>
            </a: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）（</a:t>
            </a:r>
            <a:r>
              <a:rPr lang="en-US" altLang="zh-CN" sz="3600" dirty="0"/>
              <a:t>3</a:t>
            </a:r>
            <a:r>
              <a:rPr lang="zh-CN" altLang="en-US" sz="3600" dirty="0"/>
              <a:t>）（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FB32E24-F95C-4C6A-BB97-723F123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作业：</a:t>
            </a:r>
          </a:p>
        </p:txBody>
      </p:sp>
    </p:spTree>
    <p:extLst>
      <p:ext uri="{BB962C8B-B14F-4D97-AF65-F5344CB8AC3E}">
        <p14:creationId xmlns:p14="http://schemas.microsoft.com/office/powerpoint/2010/main" val="1200330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849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932419-0883-4622-AD5E-F0B0D2B85F2B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0B1D42-DA67-AA11-B9BF-3D65B40ED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637F7A2-F64C-C0F7-6DDC-1EA45DA1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389484-3C6D-A697-8963-7E03A013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51980-B712-4EEF-BBE4-6BC80657857E}" type="slidenum">
              <a:rPr lang="zh-CN" altLang="en-US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59433" name="矩形 1"/>
          <p:cNvSpPr>
            <a:spLocks noChangeArrowheads="1"/>
          </p:cNvSpPr>
          <p:nvPr/>
        </p:nvSpPr>
        <p:spPr bwMode="auto">
          <a:xfrm>
            <a:off x="250825" y="3714750"/>
            <a:ext cx="4714875" cy="10541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是至今为止已经匹配完成的输入部分，那么栈中保存的文法符号序列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lm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wα</a:t>
            </a:r>
            <a:endParaRPr lang="zh-CN" altLang="en-US" sz="2000" b="1" i="1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3" grpId="0" animBg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33331</TotalTime>
  <Words>5080</Words>
  <Application>Microsoft Office PowerPoint</Application>
  <PresentationFormat>全屏显示(16:9)</PresentationFormat>
  <Paragraphs>690</Paragraphs>
  <Slides>41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Monotype Sorts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自定义设计方案</vt:lpstr>
      <vt:lpstr>波形</vt:lpstr>
      <vt:lpstr>1_波形</vt:lpstr>
      <vt:lpstr>2_波形</vt:lpstr>
      <vt:lpstr>PowerPoint 演示文稿</vt:lpstr>
      <vt:lpstr>内容回顾</vt:lpstr>
      <vt:lpstr>3. LL(1)文法</vt:lpstr>
      <vt:lpstr>例</vt:lpstr>
      <vt:lpstr>PowerPoint 演示文稿</vt:lpstr>
      <vt:lpstr>产生式的可选集</vt:lpstr>
      <vt:lpstr>非终结符的后继符号集</vt:lpstr>
      <vt:lpstr>产生式的可选集</vt:lpstr>
      <vt:lpstr>串首终结符集</vt:lpstr>
      <vt:lpstr>LL(1)文法</vt:lpstr>
      <vt:lpstr>LL(1)文法</vt:lpstr>
      <vt:lpstr>计算文法符号X的FIRST(X )</vt:lpstr>
      <vt:lpstr>算法</vt:lpstr>
      <vt:lpstr>计算串X1X2 …Xn的FIRST 集合</vt:lpstr>
      <vt:lpstr>计算非终结符A的FOLLOW(A)</vt:lpstr>
      <vt:lpstr>算法</vt:lpstr>
      <vt:lpstr>例：表达式文法各产生式的SELECT 集</vt:lpstr>
      <vt:lpstr>例：表达式文法各产生式的SELECT 集</vt:lpstr>
      <vt:lpstr>预测分析表</vt:lpstr>
      <vt:lpstr>LL(1)文法的分析方法</vt:lpstr>
      <vt:lpstr>4. 递归的预测分析法</vt:lpstr>
      <vt:lpstr>例</vt:lpstr>
      <vt:lpstr>例</vt:lpstr>
      <vt:lpstr>例</vt:lpstr>
      <vt:lpstr>例</vt:lpstr>
      <vt:lpstr>例</vt:lpstr>
      <vt:lpstr>例</vt:lpstr>
      <vt:lpstr>例</vt:lpstr>
      <vt:lpstr>5. 非递归的预测分析法</vt:lpstr>
      <vt:lpstr>例</vt:lpstr>
      <vt:lpstr>表驱动的预测分析法</vt:lpstr>
      <vt:lpstr>递归的预测分析法vs.非递归的预测分析法</vt:lpstr>
      <vt:lpstr>预测分析法实现步骤</vt:lpstr>
      <vt:lpstr>6. 预测分析中的错误检测</vt:lpstr>
      <vt:lpstr>预测分析中的错误恢复</vt:lpstr>
      <vt:lpstr>例</vt:lpstr>
      <vt:lpstr>PowerPoint 演示文稿</vt:lpstr>
      <vt:lpstr>总结</vt:lpstr>
      <vt:lpstr>作业：</vt:lpstr>
      <vt:lpstr>PowerPoint 演示文稿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妙根 凌</cp:lastModifiedBy>
  <cp:revision>1954</cp:revision>
  <cp:lastPrinted>2019-03-03T08:55:32Z</cp:lastPrinted>
  <dcterms:created xsi:type="dcterms:W3CDTF">2003-07-09T14:46:46Z</dcterms:created>
  <dcterms:modified xsi:type="dcterms:W3CDTF">2025-10-22T17:50:33Z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